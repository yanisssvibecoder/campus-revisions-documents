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9.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0.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4.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5.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0.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21.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2.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23.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26.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27.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8.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29.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31.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32.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33.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34.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35.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3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37.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38.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notesSlides/notesSlide3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40.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41.xml" ContentType="application/vnd.openxmlformats-officedocument.presentationml.notesSlid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42.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43.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44.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tags/tag1440.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7"/>
  </p:notesMasterIdLst>
  <p:handoutMasterIdLst>
    <p:handoutMasterId r:id="rId48"/>
  </p:handoutMasterIdLst>
  <p:sldIdLst>
    <p:sldId id="483" r:id="rId2"/>
    <p:sldId id="258" r:id="rId3"/>
    <p:sldId id="484" r:id="rId4"/>
    <p:sldId id="485" r:id="rId5"/>
    <p:sldId id="292" r:id="rId6"/>
    <p:sldId id="959" r:id="rId7"/>
    <p:sldId id="454" r:id="rId8"/>
    <p:sldId id="262" r:id="rId9"/>
    <p:sldId id="523" r:id="rId10"/>
    <p:sldId id="447" r:id="rId11"/>
    <p:sldId id="265" r:id="rId12"/>
    <p:sldId id="455" r:id="rId13"/>
    <p:sldId id="955" r:id="rId14"/>
    <p:sldId id="956" r:id="rId15"/>
    <p:sldId id="966" r:id="rId16"/>
    <p:sldId id="469" r:id="rId17"/>
    <p:sldId id="1478" r:id="rId18"/>
    <p:sldId id="1479" r:id="rId19"/>
    <p:sldId id="1473" r:id="rId20"/>
    <p:sldId id="526" r:id="rId21"/>
    <p:sldId id="1476" r:id="rId22"/>
    <p:sldId id="1477" r:id="rId23"/>
    <p:sldId id="527" r:id="rId24"/>
    <p:sldId id="1465" r:id="rId25"/>
    <p:sldId id="1480" r:id="rId26"/>
    <p:sldId id="525" r:id="rId27"/>
    <p:sldId id="2767" r:id="rId28"/>
    <p:sldId id="490" r:id="rId29"/>
    <p:sldId id="2766" r:id="rId30"/>
    <p:sldId id="261" r:id="rId31"/>
    <p:sldId id="470" r:id="rId32"/>
    <p:sldId id="514" r:id="rId33"/>
    <p:sldId id="516" r:id="rId34"/>
    <p:sldId id="958" r:id="rId35"/>
    <p:sldId id="518" r:id="rId36"/>
    <p:sldId id="505" r:id="rId37"/>
    <p:sldId id="475" r:id="rId38"/>
    <p:sldId id="1460" r:id="rId39"/>
    <p:sldId id="429" r:id="rId40"/>
    <p:sldId id="456" r:id="rId41"/>
    <p:sldId id="269" r:id="rId42"/>
    <p:sldId id="462" r:id="rId43"/>
    <p:sldId id="1463" r:id="rId44"/>
    <p:sldId id="290" r:id="rId45"/>
    <p:sldId id="1457" r:id="rId46"/>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éance 6" id="{29F2F948-010D-4051-BD4E-77C7EB96EF33}">
          <p14:sldIdLst>
            <p14:sldId id="483"/>
            <p14:sldId id="258"/>
            <p14:sldId id="484"/>
            <p14:sldId id="485"/>
            <p14:sldId id="292"/>
            <p14:sldId id="959"/>
            <p14:sldId id="454"/>
            <p14:sldId id="262"/>
            <p14:sldId id="523"/>
            <p14:sldId id="447"/>
            <p14:sldId id="265"/>
            <p14:sldId id="455"/>
            <p14:sldId id="955"/>
            <p14:sldId id="956"/>
            <p14:sldId id="966"/>
            <p14:sldId id="469"/>
            <p14:sldId id="1478"/>
            <p14:sldId id="1479"/>
            <p14:sldId id="1473"/>
            <p14:sldId id="526"/>
            <p14:sldId id="1476"/>
            <p14:sldId id="1477"/>
            <p14:sldId id="527"/>
            <p14:sldId id="1465"/>
            <p14:sldId id="1480"/>
            <p14:sldId id="525"/>
            <p14:sldId id="2767"/>
            <p14:sldId id="490"/>
            <p14:sldId id="2766"/>
            <p14:sldId id="261"/>
            <p14:sldId id="470"/>
            <p14:sldId id="514"/>
            <p14:sldId id="516"/>
            <p14:sldId id="958"/>
            <p14:sldId id="518"/>
            <p14:sldId id="505"/>
            <p14:sldId id="475"/>
            <p14:sldId id="1460"/>
            <p14:sldId id="429"/>
            <p14:sldId id="456"/>
            <p14:sldId id="269"/>
            <p14:sldId id="462"/>
            <p14:sldId id="1463"/>
            <p14:sldId id="290"/>
            <p14:sldId id="145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0B87E3-A2EA-47CD-FCC0-CF7D499A439E}" name="Katherine Dooling" initials="KD" userId="S::katherine.dooling@hec.ca::899682fa-3a3e-4e2f-bb63-3b35aa7662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odie allain" initials="ea" lastIdx="2" clrIdx="0">
    <p:extLst>
      <p:ext uri="{19B8F6BF-5375-455C-9EA6-DF929625EA0E}">
        <p15:presenceInfo xmlns:p15="http://schemas.microsoft.com/office/powerpoint/2012/main" userId="S::elodie.allain@hec.ca::2b943744-3621-400b-bbf1-9af4902ca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421" autoAdjust="0"/>
    <p:restoredTop sz="63680" autoAdjust="0"/>
  </p:normalViewPr>
  <p:slideViewPr>
    <p:cSldViewPr snapToGrid="0">
      <p:cViewPr varScale="1">
        <p:scale>
          <a:sx n="70" d="100"/>
          <a:sy n="70" d="100"/>
        </p:scale>
        <p:origin x="1356" y="72"/>
      </p:cViewPr>
      <p:guideLst/>
    </p:cSldViewPr>
  </p:slideViewPr>
  <p:notesTextViewPr>
    <p:cViewPr>
      <p:scale>
        <a:sx n="1" d="1"/>
        <a:sy n="1" d="1"/>
      </p:scale>
      <p:origin x="0" y="0"/>
    </p:cViewPr>
  </p:notesTextViewPr>
  <p:notesViewPr>
    <p:cSldViewPr snapToGrid="0">
      <p:cViewPr varScale="1">
        <p:scale>
          <a:sx n="75" d="100"/>
          <a:sy n="75" d="100"/>
        </p:scale>
        <p:origin x="105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echa Philion" userId="0f598feb-c4c0-4dda-b2c1-17de97a01329" providerId="ADAL" clId="{E7AA05E6-2E3A-4936-92BE-EF366E7850A9}"/>
    <pc:docChg chg="custSel delSld modSld modSection">
      <pc:chgData name="Loecha Philion" userId="0f598feb-c4c0-4dda-b2c1-17de97a01329" providerId="ADAL" clId="{E7AA05E6-2E3A-4936-92BE-EF366E7850A9}" dt="2026-09-17T18:52:46.285" v="33" actId="478"/>
      <pc:docMkLst>
        <pc:docMk/>
      </pc:docMkLst>
      <pc:sldChg chg="modNotesTx">
        <pc:chgData name="Loecha Philion" userId="0f598feb-c4c0-4dda-b2c1-17de97a01329" providerId="ADAL" clId="{E7AA05E6-2E3A-4936-92BE-EF366E7850A9}" dt="2026-09-17T18:44:24.670" v="23" actId="6549"/>
        <pc:sldMkLst>
          <pc:docMk/>
          <pc:sldMk cId="1863762853" sldId="261"/>
        </pc:sldMkLst>
      </pc:sldChg>
      <pc:sldChg chg="modNotesTx">
        <pc:chgData name="Loecha Philion" userId="0f598feb-c4c0-4dda-b2c1-17de97a01329" providerId="ADAL" clId="{E7AA05E6-2E3A-4936-92BE-EF366E7850A9}" dt="2026-09-17T18:43:01.010" v="3" actId="6549"/>
        <pc:sldMkLst>
          <pc:docMk/>
          <pc:sldMk cId="170151428" sldId="262"/>
        </pc:sldMkLst>
      </pc:sldChg>
      <pc:sldChg chg="modNotesTx">
        <pc:chgData name="Loecha Philion" userId="0f598feb-c4c0-4dda-b2c1-17de97a01329" providerId="ADAL" clId="{E7AA05E6-2E3A-4936-92BE-EF366E7850A9}" dt="2026-09-17T18:51:57.260" v="29" actId="6549"/>
        <pc:sldMkLst>
          <pc:docMk/>
          <pc:sldMk cId="1339048689" sldId="269"/>
        </pc:sldMkLst>
      </pc:sldChg>
      <pc:sldChg chg="modNotesTx">
        <pc:chgData name="Loecha Philion" userId="0f598feb-c4c0-4dda-b2c1-17de97a01329" providerId="ADAL" clId="{E7AA05E6-2E3A-4936-92BE-EF366E7850A9}" dt="2026-09-17T18:51:47.631" v="27" actId="6549"/>
        <pc:sldMkLst>
          <pc:docMk/>
          <pc:sldMk cId="1523160863" sldId="429"/>
        </pc:sldMkLst>
      </pc:sldChg>
      <pc:sldChg chg="modNotesTx">
        <pc:chgData name="Loecha Philion" userId="0f598feb-c4c0-4dda-b2c1-17de97a01329" providerId="ADAL" clId="{E7AA05E6-2E3A-4936-92BE-EF366E7850A9}" dt="2026-09-17T18:43:11.681" v="8" actId="6549"/>
        <pc:sldMkLst>
          <pc:docMk/>
          <pc:sldMk cId="292483725" sldId="447"/>
        </pc:sldMkLst>
      </pc:sldChg>
      <pc:sldChg chg="modNotesTx">
        <pc:chgData name="Loecha Philion" userId="0f598feb-c4c0-4dda-b2c1-17de97a01329" providerId="ADAL" clId="{E7AA05E6-2E3A-4936-92BE-EF366E7850A9}" dt="2026-09-17T18:42:58.545" v="2" actId="6549"/>
        <pc:sldMkLst>
          <pc:docMk/>
          <pc:sldMk cId="74219830" sldId="454"/>
        </pc:sldMkLst>
      </pc:sldChg>
      <pc:sldChg chg="modNotesTx">
        <pc:chgData name="Loecha Philion" userId="0f598feb-c4c0-4dda-b2c1-17de97a01329" providerId="ADAL" clId="{E7AA05E6-2E3A-4936-92BE-EF366E7850A9}" dt="2026-09-17T18:43:17.221" v="10" actId="6549"/>
        <pc:sldMkLst>
          <pc:docMk/>
          <pc:sldMk cId="604288212" sldId="455"/>
        </pc:sldMkLst>
      </pc:sldChg>
      <pc:sldChg chg="modNotesTx">
        <pc:chgData name="Loecha Philion" userId="0f598feb-c4c0-4dda-b2c1-17de97a01329" providerId="ADAL" clId="{E7AA05E6-2E3A-4936-92BE-EF366E7850A9}" dt="2026-09-17T18:51:53.270" v="28" actId="6549"/>
        <pc:sldMkLst>
          <pc:docMk/>
          <pc:sldMk cId="1473574102" sldId="456"/>
        </pc:sldMkLst>
      </pc:sldChg>
      <pc:sldChg chg="modNotesTx">
        <pc:chgData name="Loecha Philion" userId="0f598feb-c4c0-4dda-b2c1-17de97a01329" providerId="ADAL" clId="{E7AA05E6-2E3A-4936-92BE-EF366E7850A9}" dt="2026-09-17T18:52:05.569" v="31" actId="6549"/>
        <pc:sldMkLst>
          <pc:docMk/>
          <pc:sldMk cId="1943033032" sldId="462"/>
        </pc:sldMkLst>
      </pc:sldChg>
      <pc:sldChg chg="modNotesTx">
        <pc:chgData name="Loecha Philion" userId="0f598feb-c4c0-4dda-b2c1-17de97a01329" providerId="ADAL" clId="{E7AA05E6-2E3A-4936-92BE-EF366E7850A9}" dt="2026-09-17T18:43:31.049" v="14" actId="6549"/>
        <pc:sldMkLst>
          <pc:docMk/>
          <pc:sldMk cId="2144155538" sldId="469"/>
        </pc:sldMkLst>
      </pc:sldChg>
      <pc:sldChg chg="modNotesTx">
        <pc:chgData name="Loecha Philion" userId="0f598feb-c4c0-4dda-b2c1-17de97a01329" providerId="ADAL" clId="{E7AA05E6-2E3A-4936-92BE-EF366E7850A9}" dt="2026-09-17T18:44:39.434" v="26" actId="6549"/>
        <pc:sldMkLst>
          <pc:docMk/>
          <pc:sldMk cId="1542531038" sldId="475"/>
        </pc:sldMkLst>
      </pc:sldChg>
      <pc:sldChg chg="delSp mod modNotesTx">
        <pc:chgData name="Loecha Philion" userId="0f598feb-c4c0-4dda-b2c1-17de97a01329" providerId="ADAL" clId="{E7AA05E6-2E3A-4936-92BE-EF366E7850A9}" dt="2026-09-17T18:52:46.285" v="33" actId="478"/>
        <pc:sldMkLst>
          <pc:docMk/>
          <pc:sldMk cId="2151440412" sldId="483"/>
        </pc:sldMkLst>
        <pc:picChg chg="del">
          <ac:chgData name="Loecha Philion" userId="0f598feb-c4c0-4dda-b2c1-17de97a01329" providerId="ADAL" clId="{E7AA05E6-2E3A-4936-92BE-EF366E7850A9}" dt="2026-09-17T18:52:46.285" v="33" actId="478"/>
          <ac:picMkLst>
            <pc:docMk/>
            <pc:sldMk cId="2151440412" sldId="483"/>
            <ac:picMk id="4" creationId="{70F3C878-B96E-4D5A-B0DA-CEEE814779D7}"/>
          </ac:picMkLst>
        </pc:picChg>
      </pc:sldChg>
      <pc:sldChg chg="modNotesTx">
        <pc:chgData name="Loecha Philion" userId="0f598feb-c4c0-4dda-b2c1-17de97a01329" providerId="ADAL" clId="{E7AA05E6-2E3A-4936-92BE-EF366E7850A9}" dt="2026-09-17T18:42:52.800" v="1" actId="6549"/>
        <pc:sldMkLst>
          <pc:docMk/>
          <pc:sldMk cId="3986596831" sldId="484"/>
        </pc:sldMkLst>
      </pc:sldChg>
      <pc:sldChg chg="modNotesTx">
        <pc:chgData name="Loecha Philion" userId="0f598feb-c4c0-4dda-b2c1-17de97a01329" providerId="ADAL" clId="{E7AA05E6-2E3A-4936-92BE-EF366E7850A9}" dt="2026-09-17T18:44:35.767" v="25" actId="6549"/>
        <pc:sldMkLst>
          <pc:docMk/>
          <pc:sldMk cId="1443399041" sldId="505"/>
        </pc:sldMkLst>
      </pc:sldChg>
      <pc:sldChg chg="modNotesTx">
        <pc:chgData name="Loecha Philion" userId="0f598feb-c4c0-4dda-b2c1-17de97a01329" providerId="ADAL" clId="{E7AA05E6-2E3A-4936-92BE-EF366E7850A9}" dt="2026-09-17T18:52:29.939" v="32" actId="6549"/>
        <pc:sldMkLst>
          <pc:docMk/>
          <pc:sldMk cId="1087777106" sldId="527"/>
        </pc:sldMkLst>
      </pc:sldChg>
      <pc:sldChg chg="modNotesTx">
        <pc:chgData name="Loecha Philion" userId="0f598feb-c4c0-4dda-b2c1-17de97a01329" providerId="ADAL" clId="{E7AA05E6-2E3A-4936-92BE-EF366E7850A9}" dt="2026-09-17T18:43:21.309" v="11" actId="6549"/>
        <pc:sldMkLst>
          <pc:docMk/>
          <pc:sldMk cId="2386233252" sldId="956"/>
        </pc:sldMkLst>
      </pc:sldChg>
      <pc:sldChg chg="del">
        <pc:chgData name="Loecha Philion" userId="0f598feb-c4c0-4dda-b2c1-17de97a01329" providerId="ADAL" clId="{E7AA05E6-2E3A-4936-92BE-EF366E7850A9}" dt="2026-09-17T18:43:06.331" v="5" actId="47"/>
        <pc:sldMkLst>
          <pc:docMk/>
          <pc:sldMk cId="471252264" sldId="1459"/>
        </pc:sldMkLst>
      </pc:sldChg>
      <pc:sldChg chg="modNotesTx">
        <pc:chgData name="Loecha Philion" userId="0f598feb-c4c0-4dda-b2c1-17de97a01329" providerId="ADAL" clId="{E7AA05E6-2E3A-4936-92BE-EF366E7850A9}" dt="2026-09-17T18:52:03.351" v="30" actId="6549"/>
        <pc:sldMkLst>
          <pc:docMk/>
          <pc:sldMk cId="790997678" sldId="1463"/>
        </pc:sldMkLst>
      </pc:sldChg>
      <pc:sldChg chg="modNotesTx">
        <pc:chgData name="Loecha Philion" userId="0f598feb-c4c0-4dda-b2c1-17de97a01329" providerId="ADAL" clId="{E7AA05E6-2E3A-4936-92BE-EF366E7850A9}" dt="2026-09-17T18:44:03.324" v="19" actId="6549"/>
        <pc:sldMkLst>
          <pc:docMk/>
          <pc:sldMk cId="1594081225" sldId="1465"/>
        </pc:sldMkLst>
      </pc:sldChg>
      <pc:sldChg chg="modNotesTx">
        <pc:chgData name="Loecha Philion" userId="0f598feb-c4c0-4dda-b2c1-17de97a01329" providerId="ADAL" clId="{E7AA05E6-2E3A-4936-92BE-EF366E7850A9}" dt="2026-09-17T18:43:43.026" v="17" actId="6549"/>
        <pc:sldMkLst>
          <pc:docMk/>
          <pc:sldMk cId="2845674474" sldId="1473"/>
        </pc:sldMkLst>
      </pc:sldChg>
      <pc:sldChg chg="del">
        <pc:chgData name="Loecha Philion" userId="0f598feb-c4c0-4dda-b2c1-17de97a01329" providerId="ADAL" clId="{E7AA05E6-2E3A-4936-92BE-EF366E7850A9}" dt="2026-09-17T18:43:07.301" v="6" actId="47"/>
        <pc:sldMkLst>
          <pc:docMk/>
          <pc:sldMk cId="1053930187" sldId="1474"/>
        </pc:sldMkLst>
      </pc:sldChg>
      <pc:sldChg chg="del">
        <pc:chgData name="Loecha Philion" userId="0f598feb-c4c0-4dda-b2c1-17de97a01329" providerId="ADAL" clId="{E7AA05E6-2E3A-4936-92BE-EF366E7850A9}" dt="2026-09-17T18:43:22.961" v="12" actId="47"/>
        <pc:sldMkLst>
          <pc:docMk/>
          <pc:sldMk cId="584429739" sldId="1475"/>
        </pc:sldMkLst>
      </pc:sldChg>
      <pc:sldChg chg="modNotesTx">
        <pc:chgData name="Loecha Philion" userId="0f598feb-c4c0-4dda-b2c1-17de97a01329" providerId="ADAL" clId="{E7AA05E6-2E3A-4936-92BE-EF366E7850A9}" dt="2026-09-17T18:43:55.355" v="18" actId="6549"/>
        <pc:sldMkLst>
          <pc:docMk/>
          <pc:sldMk cId="1809189156" sldId="1477"/>
        </pc:sldMkLst>
      </pc:sldChg>
      <pc:sldChg chg="modNotesTx">
        <pc:chgData name="Loecha Philion" userId="0f598feb-c4c0-4dda-b2c1-17de97a01329" providerId="ADAL" clId="{E7AA05E6-2E3A-4936-92BE-EF366E7850A9}" dt="2026-09-17T18:43:35.435" v="15" actId="6549"/>
        <pc:sldMkLst>
          <pc:docMk/>
          <pc:sldMk cId="775275877" sldId="1478"/>
        </pc:sldMkLst>
      </pc:sldChg>
      <pc:sldChg chg="modNotesTx">
        <pc:chgData name="Loecha Philion" userId="0f598feb-c4c0-4dda-b2c1-17de97a01329" providerId="ADAL" clId="{E7AA05E6-2E3A-4936-92BE-EF366E7850A9}" dt="2026-09-17T18:43:38.764" v="16" actId="6549"/>
        <pc:sldMkLst>
          <pc:docMk/>
          <pc:sldMk cId="4294390332" sldId="1479"/>
        </pc:sldMkLst>
      </pc:sldChg>
      <pc:sldChg chg="modNotesTx">
        <pc:chgData name="Loecha Philion" userId="0f598feb-c4c0-4dda-b2c1-17de97a01329" providerId="ADAL" clId="{E7AA05E6-2E3A-4936-92BE-EF366E7850A9}" dt="2026-09-17T18:44:07.073" v="20" actId="6549"/>
        <pc:sldMkLst>
          <pc:docMk/>
          <pc:sldMk cId="536351616" sldId="1480"/>
        </pc:sldMkLst>
      </pc:sldChg>
      <pc:sldChg chg="modNotesTx">
        <pc:chgData name="Loecha Philion" userId="0f598feb-c4c0-4dda-b2c1-17de97a01329" providerId="ADAL" clId="{E7AA05E6-2E3A-4936-92BE-EF366E7850A9}" dt="2026-09-17T18:44:18.562" v="21" actId="6549"/>
        <pc:sldMkLst>
          <pc:docMk/>
          <pc:sldMk cId="2116179835" sldId="2766"/>
        </pc:sldMkLst>
      </pc:sldChg>
      <pc:sldChg chg="del">
        <pc:chgData name="Loecha Philion" userId="0f598feb-c4c0-4dda-b2c1-17de97a01329" providerId="ADAL" clId="{E7AA05E6-2E3A-4936-92BE-EF366E7850A9}" dt="2026-09-17T18:43:05.182" v="4" actId="47"/>
        <pc:sldMkLst>
          <pc:docMk/>
          <pc:sldMk cId="1893051442" sldId="276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6.xml.rels><?xml version="1.0" encoding="UTF-8" standalone="yes"?>
<Relationships xmlns="http://schemas.openxmlformats.org/package/2006/relationships"><Relationship Id="rId1"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7627D7-7FC6-447D-A549-CAD264903A04}"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11933FE8-1C0C-440F-878B-2DEF1EE2D0B8}">
      <dgm:prSet/>
      <dgm:spPr/>
      <dgm:t>
        <a:bodyPr/>
        <a:lstStyle/>
        <a:p>
          <a:pPr>
            <a:lnSpc>
              <a:spcPct val="100000"/>
            </a:lnSpc>
            <a:defRPr cap="all"/>
          </a:pPr>
          <a:r>
            <a:rPr lang="fr-CA" dirty="0"/>
            <a:t>Centre de coûts </a:t>
          </a:r>
          <a:endParaRPr lang="en-US" dirty="0"/>
        </a:p>
      </dgm:t>
    </dgm:pt>
    <dgm:pt modelId="{8D57EB76-1CE4-4E47-ABAD-72F4E490F5BE}" type="parTrans" cxnId="{CB1B942A-36E0-4664-8BDD-50F97704EFFB}">
      <dgm:prSet/>
      <dgm:spPr/>
      <dgm:t>
        <a:bodyPr/>
        <a:lstStyle/>
        <a:p>
          <a:endParaRPr lang="en-US"/>
        </a:p>
      </dgm:t>
    </dgm:pt>
    <dgm:pt modelId="{24A41C94-31CE-4A8C-BB94-006F0FDDD834}" type="sibTrans" cxnId="{CB1B942A-36E0-4664-8BDD-50F97704EFFB}">
      <dgm:prSet/>
      <dgm:spPr/>
      <dgm:t>
        <a:bodyPr/>
        <a:lstStyle/>
        <a:p>
          <a:endParaRPr lang="en-US"/>
        </a:p>
      </dgm:t>
    </dgm:pt>
    <dgm:pt modelId="{D30C8112-41C2-43DD-A10A-AFD7181C66CD}">
      <dgm:prSet/>
      <dgm:spPr/>
      <dgm:t>
        <a:bodyPr/>
        <a:lstStyle/>
        <a:p>
          <a:pPr>
            <a:lnSpc>
              <a:spcPct val="100000"/>
            </a:lnSpc>
            <a:defRPr cap="all"/>
          </a:pPr>
          <a:r>
            <a:rPr lang="fr-CA" dirty="0"/>
            <a:t>Centre de revenus</a:t>
          </a:r>
          <a:endParaRPr lang="en-US" dirty="0"/>
        </a:p>
      </dgm:t>
    </dgm:pt>
    <dgm:pt modelId="{CCF463AD-C284-44F5-ADF1-8F4717465943}" type="parTrans" cxnId="{59517E56-5F51-4366-B3A3-92C2F6F4C039}">
      <dgm:prSet/>
      <dgm:spPr/>
      <dgm:t>
        <a:bodyPr/>
        <a:lstStyle/>
        <a:p>
          <a:endParaRPr lang="en-US"/>
        </a:p>
      </dgm:t>
    </dgm:pt>
    <dgm:pt modelId="{024C68F8-9C28-4423-8EA9-130340F0552B}" type="sibTrans" cxnId="{59517E56-5F51-4366-B3A3-92C2F6F4C039}">
      <dgm:prSet/>
      <dgm:spPr/>
      <dgm:t>
        <a:bodyPr/>
        <a:lstStyle/>
        <a:p>
          <a:endParaRPr lang="en-US"/>
        </a:p>
      </dgm:t>
    </dgm:pt>
    <dgm:pt modelId="{87B788AA-52AE-4452-9DFB-92141B4E1327}">
      <dgm:prSet/>
      <dgm:spPr/>
      <dgm:t>
        <a:bodyPr/>
        <a:lstStyle/>
        <a:p>
          <a:pPr>
            <a:lnSpc>
              <a:spcPct val="100000"/>
            </a:lnSpc>
            <a:defRPr cap="all"/>
          </a:pPr>
          <a:r>
            <a:rPr lang="fr-CA" dirty="0"/>
            <a:t>Centre de profit </a:t>
          </a:r>
          <a:endParaRPr lang="en-US" dirty="0"/>
        </a:p>
      </dgm:t>
    </dgm:pt>
    <dgm:pt modelId="{50E70345-C7BB-4216-AA37-367D9F23F913}" type="parTrans" cxnId="{32BA9B01-51D6-4682-A4BF-0255CBE69766}">
      <dgm:prSet/>
      <dgm:spPr/>
      <dgm:t>
        <a:bodyPr/>
        <a:lstStyle/>
        <a:p>
          <a:endParaRPr lang="en-US"/>
        </a:p>
      </dgm:t>
    </dgm:pt>
    <dgm:pt modelId="{5546E94F-3A04-40F9-A27D-047CD9C6E388}" type="sibTrans" cxnId="{32BA9B01-51D6-4682-A4BF-0255CBE69766}">
      <dgm:prSet/>
      <dgm:spPr/>
      <dgm:t>
        <a:bodyPr/>
        <a:lstStyle/>
        <a:p>
          <a:endParaRPr lang="en-US"/>
        </a:p>
      </dgm:t>
    </dgm:pt>
    <dgm:pt modelId="{9488CD24-67C9-4FEE-AF18-72E7031A55BE}">
      <dgm:prSet/>
      <dgm:spPr/>
      <dgm:t>
        <a:bodyPr/>
        <a:lstStyle/>
        <a:p>
          <a:pPr>
            <a:lnSpc>
              <a:spcPct val="100000"/>
            </a:lnSpc>
            <a:defRPr cap="all"/>
          </a:pPr>
          <a:r>
            <a:rPr lang="fr-CA" dirty="0"/>
            <a:t>Centre d’investissements</a:t>
          </a:r>
          <a:endParaRPr lang="en-US" dirty="0"/>
        </a:p>
      </dgm:t>
    </dgm:pt>
    <dgm:pt modelId="{AFD7A9FF-9B93-49BD-9A29-31465D1A9704}" type="parTrans" cxnId="{C6D04803-8020-417C-828F-11C7257566BD}">
      <dgm:prSet/>
      <dgm:spPr/>
      <dgm:t>
        <a:bodyPr/>
        <a:lstStyle/>
        <a:p>
          <a:endParaRPr lang="en-US"/>
        </a:p>
      </dgm:t>
    </dgm:pt>
    <dgm:pt modelId="{26FC6A16-8F00-4F14-B8FE-79A56A72B6C9}" type="sibTrans" cxnId="{C6D04803-8020-417C-828F-11C7257566BD}">
      <dgm:prSet/>
      <dgm:spPr/>
      <dgm:t>
        <a:bodyPr/>
        <a:lstStyle/>
        <a:p>
          <a:endParaRPr lang="en-US"/>
        </a:p>
      </dgm:t>
    </dgm:pt>
    <dgm:pt modelId="{2EE94AD8-7D20-4439-9CF4-C70509092460}" type="pres">
      <dgm:prSet presAssocID="{F27627D7-7FC6-447D-A549-CAD264903A04}" presName="root" presStyleCnt="0">
        <dgm:presLayoutVars>
          <dgm:dir/>
          <dgm:resizeHandles val="exact"/>
        </dgm:presLayoutVars>
      </dgm:prSet>
      <dgm:spPr/>
    </dgm:pt>
    <dgm:pt modelId="{EEF4C16C-BBCA-421B-8558-280DC411594E}" type="pres">
      <dgm:prSet presAssocID="{11933FE8-1C0C-440F-878B-2DEF1EE2D0B8}" presName="compNode" presStyleCnt="0"/>
      <dgm:spPr/>
    </dgm:pt>
    <dgm:pt modelId="{5E329D2A-44C8-4F56-91B9-154283D40E72}" type="pres">
      <dgm:prSet presAssocID="{11933FE8-1C0C-440F-878B-2DEF1EE2D0B8}" presName="iconBgRect" presStyleLbl="bgShp" presStyleIdx="0" presStyleCnt="4"/>
      <dgm:spPr>
        <a:prstGeom prst="round2DiagRect">
          <a:avLst>
            <a:gd name="adj1" fmla="val 29727"/>
            <a:gd name="adj2" fmla="val 0"/>
          </a:avLst>
        </a:prstGeom>
      </dgm:spPr>
    </dgm:pt>
    <dgm:pt modelId="{AB944109-F5A7-42DC-B1B0-5CB3A9C73198}" type="pres">
      <dgm:prSet presAssocID="{11933FE8-1C0C-440F-878B-2DEF1EE2D0B8}"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aphique en radar"/>
        </a:ext>
      </dgm:extLst>
    </dgm:pt>
    <dgm:pt modelId="{4284C467-796A-4423-BF3A-BEC0472D021C}" type="pres">
      <dgm:prSet presAssocID="{11933FE8-1C0C-440F-878B-2DEF1EE2D0B8}" presName="spaceRect" presStyleCnt="0"/>
      <dgm:spPr/>
    </dgm:pt>
    <dgm:pt modelId="{F44FCA2E-27B9-4F2E-80F8-C324063714B1}" type="pres">
      <dgm:prSet presAssocID="{11933FE8-1C0C-440F-878B-2DEF1EE2D0B8}" presName="textRect" presStyleLbl="revTx" presStyleIdx="0" presStyleCnt="4" custLinFactNeighborY="-20820">
        <dgm:presLayoutVars>
          <dgm:chMax val="1"/>
          <dgm:chPref val="1"/>
        </dgm:presLayoutVars>
      </dgm:prSet>
      <dgm:spPr/>
    </dgm:pt>
    <dgm:pt modelId="{EC0465C5-A6D6-46CB-B80E-4467835BE614}" type="pres">
      <dgm:prSet presAssocID="{24A41C94-31CE-4A8C-BB94-006F0FDDD834}" presName="sibTrans" presStyleCnt="0"/>
      <dgm:spPr/>
    </dgm:pt>
    <dgm:pt modelId="{A5FF0279-4372-4912-91DF-2A2810C61853}" type="pres">
      <dgm:prSet presAssocID="{D30C8112-41C2-43DD-A10A-AFD7181C66CD}" presName="compNode" presStyleCnt="0"/>
      <dgm:spPr/>
    </dgm:pt>
    <dgm:pt modelId="{06CAD074-1ACA-4EFB-9ED4-1AB2F68CAA9E}" type="pres">
      <dgm:prSet presAssocID="{D30C8112-41C2-43DD-A10A-AFD7181C66CD}" presName="iconBgRect" presStyleLbl="bgShp" presStyleIdx="1" presStyleCnt="4"/>
      <dgm:spPr>
        <a:prstGeom prst="round2DiagRect">
          <a:avLst>
            <a:gd name="adj1" fmla="val 29727"/>
            <a:gd name="adj2" fmla="val 0"/>
          </a:avLst>
        </a:prstGeom>
      </dgm:spPr>
    </dgm:pt>
    <dgm:pt modelId="{D0963C85-AE88-4D60-96A0-2A1CA9A6861A}" type="pres">
      <dgm:prSet presAssocID="{D30C8112-41C2-43DD-A10A-AFD7181C66CD}"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riot de courses"/>
        </a:ext>
      </dgm:extLst>
    </dgm:pt>
    <dgm:pt modelId="{9BEFEA79-2ADB-42C3-9B79-DBB64F3C5A1C}" type="pres">
      <dgm:prSet presAssocID="{D30C8112-41C2-43DD-A10A-AFD7181C66CD}" presName="spaceRect" presStyleCnt="0"/>
      <dgm:spPr/>
    </dgm:pt>
    <dgm:pt modelId="{5B2C1CB2-35D8-477A-A437-73A5A24A8CF9}" type="pres">
      <dgm:prSet presAssocID="{D30C8112-41C2-43DD-A10A-AFD7181C66CD}" presName="textRect" presStyleLbl="revTx" presStyleIdx="1" presStyleCnt="4" custLinFactNeighborX="-573" custLinFactNeighborY="-23285">
        <dgm:presLayoutVars>
          <dgm:chMax val="1"/>
          <dgm:chPref val="1"/>
        </dgm:presLayoutVars>
      </dgm:prSet>
      <dgm:spPr/>
    </dgm:pt>
    <dgm:pt modelId="{B53BEAEC-59F6-4A54-9AED-68D4D2453D64}" type="pres">
      <dgm:prSet presAssocID="{024C68F8-9C28-4423-8EA9-130340F0552B}" presName="sibTrans" presStyleCnt="0"/>
      <dgm:spPr/>
    </dgm:pt>
    <dgm:pt modelId="{D3B413C9-6490-4135-ADB2-EA4CA02C59A0}" type="pres">
      <dgm:prSet presAssocID="{87B788AA-52AE-4452-9DFB-92141B4E1327}" presName="compNode" presStyleCnt="0"/>
      <dgm:spPr/>
    </dgm:pt>
    <dgm:pt modelId="{FCFBDE77-146E-459D-B4B8-C24BC3A08389}" type="pres">
      <dgm:prSet presAssocID="{87B788AA-52AE-4452-9DFB-92141B4E1327}" presName="iconBgRect" presStyleLbl="bgShp" presStyleIdx="2" presStyleCnt="4"/>
      <dgm:spPr>
        <a:prstGeom prst="round2DiagRect">
          <a:avLst>
            <a:gd name="adj1" fmla="val 29727"/>
            <a:gd name="adj2" fmla="val 0"/>
          </a:avLst>
        </a:prstGeom>
      </dgm:spPr>
    </dgm:pt>
    <dgm:pt modelId="{19C5E13B-773B-45EA-A4B2-A97BE365416C}" type="pres">
      <dgm:prSet presAssocID="{87B788AA-52AE-4452-9DFB-92141B4E1327}"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rgent"/>
        </a:ext>
      </dgm:extLst>
    </dgm:pt>
    <dgm:pt modelId="{1CB6727C-28E8-4158-8442-8514904E62E9}" type="pres">
      <dgm:prSet presAssocID="{87B788AA-52AE-4452-9DFB-92141B4E1327}" presName="spaceRect" presStyleCnt="0"/>
      <dgm:spPr/>
    </dgm:pt>
    <dgm:pt modelId="{67024226-3969-477C-B9A1-1CA084A66822}" type="pres">
      <dgm:prSet presAssocID="{87B788AA-52AE-4452-9DFB-92141B4E1327}" presName="textRect" presStyleLbl="revTx" presStyleIdx="2" presStyleCnt="4" custLinFactNeighborY="-12492">
        <dgm:presLayoutVars>
          <dgm:chMax val="1"/>
          <dgm:chPref val="1"/>
        </dgm:presLayoutVars>
      </dgm:prSet>
      <dgm:spPr/>
    </dgm:pt>
    <dgm:pt modelId="{BC057E85-155E-4F76-8557-1B43087822F5}" type="pres">
      <dgm:prSet presAssocID="{5546E94F-3A04-40F9-A27D-047CD9C6E388}" presName="sibTrans" presStyleCnt="0"/>
      <dgm:spPr/>
    </dgm:pt>
    <dgm:pt modelId="{B3C8EB18-F7A3-4043-BBB8-2E9150B560AC}" type="pres">
      <dgm:prSet presAssocID="{9488CD24-67C9-4FEE-AF18-72E7031A55BE}" presName="compNode" presStyleCnt="0"/>
      <dgm:spPr/>
    </dgm:pt>
    <dgm:pt modelId="{011445A1-6735-41F6-BD68-079977F519D8}" type="pres">
      <dgm:prSet presAssocID="{9488CD24-67C9-4FEE-AF18-72E7031A55BE}" presName="iconBgRect" presStyleLbl="bgShp" presStyleIdx="3" presStyleCnt="4"/>
      <dgm:spPr>
        <a:prstGeom prst="round2DiagRect">
          <a:avLst>
            <a:gd name="adj1" fmla="val 29727"/>
            <a:gd name="adj2" fmla="val 0"/>
          </a:avLst>
        </a:prstGeom>
      </dgm:spPr>
    </dgm:pt>
    <dgm:pt modelId="{2FBC95CE-9988-4027-AC78-F4430BA2B836}" type="pres">
      <dgm:prSet presAssocID="{9488CD24-67C9-4FEE-AF18-72E7031A55BE}" presName="iconRect" presStyleLbl="node1" presStyleIdx="3" presStyleCnt="4"/>
      <dgm:spPr>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me"/>
        </a:ext>
      </dgm:extLst>
    </dgm:pt>
    <dgm:pt modelId="{EA8A2DB9-FB84-4A18-BD80-DD8AD2C684EF}" type="pres">
      <dgm:prSet presAssocID="{9488CD24-67C9-4FEE-AF18-72E7031A55BE}" presName="spaceRect" presStyleCnt="0"/>
      <dgm:spPr/>
    </dgm:pt>
    <dgm:pt modelId="{414C94CB-201C-4771-B918-1C1A1BB73C98}" type="pres">
      <dgm:prSet presAssocID="{9488CD24-67C9-4FEE-AF18-72E7031A55BE}" presName="textRect" presStyleLbl="revTx" presStyleIdx="3" presStyleCnt="4" custLinFactNeighborX="1907" custLinFactNeighborY="-29228">
        <dgm:presLayoutVars>
          <dgm:chMax val="1"/>
          <dgm:chPref val="1"/>
        </dgm:presLayoutVars>
      </dgm:prSet>
      <dgm:spPr/>
    </dgm:pt>
  </dgm:ptLst>
  <dgm:cxnLst>
    <dgm:cxn modelId="{32BA9B01-51D6-4682-A4BF-0255CBE69766}" srcId="{F27627D7-7FC6-447D-A549-CAD264903A04}" destId="{87B788AA-52AE-4452-9DFB-92141B4E1327}" srcOrd="2" destOrd="0" parTransId="{50E70345-C7BB-4216-AA37-367D9F23F913}" sibTransId="{5546E94F-3A04-40F9-A27D-047CD9C6E388}"/>
    <dgm:cxn modelId="{C6D04803-8020-417C-828F-11C7257566BD}" srcId="{F27627D7-7FC6-447D-A549-CAD264903A04}" destId="{9488CD24-67C9-4FEE-AF18-72E7031A55BE}" srcOrd="3" destOrd="0" parTransId="{AFD7A9FF-9B93-49BD-9A29-31465D1A9704}" sibTransId="{26FC6A16-8F00-4F14-B8FE-79A56A72B6C9}"/>
    <dgm:cxn modelId="{BD0B4C23-A63C-48FF-A4F1-1B38402F21A1}" type="presOf" srcId="{9488CD24-67C9-4FEE-AF18-72E7031A55BE}" destId="{414C94CB-201C-4771-B918-1C1A1BB73C98}" srcOrd="0" destOrd="0" presId="urn:microsoft.com/office/officeart/2018/5/layout/IconLeafLabelList"/>
    <dgm:cxn modelId="{CB1B942A-36E0-4664-8BDD-50F97704EFFB}" srcId="{F27627D7-7FC6-447D-A549-CAD264903A04}" destId="{11933FE8-1C0C-440F-878B-2DEF1EE2D0B8}" srcOrd="0" destOrd="0" parTransId="{8D57EB76-1CE4-4E47-ABAD-72F4E490F5BE}" sibTransId="{24A41C94-31CE-4A8C-BB94-006F0FDDD834}"/>
    <dgm:cxn modelId="{C628353F-6552-40CF-B0FE-DE1BC90C48FA}" type="presOf" srcId="{11933FE8-1C0C-440F-878B-2DEF1EE2D0B8}" destId="{F44FCA2E-27B9-4F2E-80F8-C324063714B1}" srcOrd="0" destOrd="0" presId="urn:microsoft.com/office/officeart/2018/5/layout/IconLeafLabelList"/>
    <dgm:cxn modelId="{EF1B1B68-032D-484F-92E5-7105198014A3}" type="presOf" srcId="{87B788AA-52AE-4452-9DFB-92141B4E1327}" destId="{67024226-3969-477C-B9A1-1CA084A66822}" srcOrd="0" destOrd="0" presId="urn:microsoft.com/office/officeart/2018/5/layout/IconLeafLabelList"/>
    <dgm:cxn modelId="{8D25E169-EBF5-4E91-9A0F-6C7185ABA05F}" type="presOf" srcId="{F27627D7-7FC6-447D-A549-CAD264903A04}" destId="{2EE94AD8-7D20-4439-9CF4-C70509092460}" srcOrd="0" destOrd="0" presId="urn:microsoft.com/office/officeart/2018/5/layout/IconLeafLabelList"/>
    <dgm:cxn modelId="{59517E56-5F51-4366-B3A3-92C2F6F4C039}" srcId="{F27627D7-7FC6-447D-A549-CAD264903A04}" destId="{D30C8112-41C2-43DD-A10A-AFD7181C66CD}" srcOrd="1" destOrd="0" parTransId="{CCF463AD-C284-44F5-ADF1-8F4717465943}" sibTransId="{024C68F8-9C28-4423-8EA9-130340F0552B}"/>
    <dgm:cxn modelId="{999E0F88-F306-48CC-BAE3-3B62C0C2288D}" type="presOf" srcId="{D30C8112-41C2-43DD-A10A-AFD7181C66CD}" destId="{5B2C1CB2-35D8-477A-A437-73A5A24A8CF9}" srcOrd="0" destOrd="0" presId="urn:microsoft.com/office/officeart/2018/5/layout/IconLeafLabelList"/>
    <dgm:cxn modelId="{894F796F-5050-4973-AD49-2FDFB2AC661C}" type="presParOf" srcId="{2EE94AD8-7D20-4439-9CF4-C70509092460}" destId="{EEF4C16C-BBCA-421B-8558-280DC411594E}" srcOrd="0" destOrd="0" presId="urn:microsoft.com/office/officeart/2018/5/layout/IconLeafLabelList"/>
    <dgm:cxn modelId="{5FC7EA87-A73A-43AD-9A37-D96CFEA75A83}" type="presParOf" srcId="{EEF4C16C-BBCA-421B-8558-280DC411594E}" destId="{5E329D2A-44C8-4F56-91B9-154283D40E72}" srcOrd="0" destOrd="0" presId="urn:microsoft.com/office/officeart/2018/5/layout/IconLeafLabelList"/>
    <dgm:cxn modelId="{36971913-6B10-47C8-9BE3-FC74A0F72D6E}" type="presParOf" srcId="{EEF4C16C-BBCA-421B-8558-280DC411594E}" destId="{AB944109-F5A7-42DC-B1B0-5CB3A9C73198}" srcOrd="1" destOrd="0" presId="urn:microsoft.com/office/officeart/2018/5/layout/IconLeafLabelList"/>
    <dgm:cxn modelId="{6487AC2C-95A6-4F98-924F-8C0E17849523}" type="presParOf" srcId="{EEF4C16C-BBCA-421B-8558-280DC411594E}" destId="{4284C467-796A-4423-BF3A-BEC0472D021C}" srcOrd="2" destOrd="0" presId="urn:microsoft.com/office/officeart/2018/5/layout/IconLeafLabelList"/>
    <dgm:cxn modelId="{417F61E2-1E3C-431C-9991-37FFC67E350F}" type="presParOf" srcId="{EEF4C16C-BBCA-421B-8558-280DC411594E}" destId="{F44FCA2E-27B9-4F2E-80F8-C324063714B1}" srcOrd="3" destOrd="0" presId="urn:microsoft.com/office/officeart/2018/5/layout/IconLeafLabelList"/>
    <dgm:cxn modelId="{388B000E-1890-4A63-A94E-86041A4AE68B}" type="presParOf" srcId="{2EE94AD8-7D20-4439-9CF4-C70509092460}" destId="{EC0465C5-A6D6-46CB-B80E-4467835BE614}" srcOrd="1" destOrd="0" presId="urn:microsoft.com/office/officeart/2018/5/layout/IconLeafLabelList"/>
    <dgm:cxn modelId="{DB32963B-FE53-4F7E-89B6-C248137D794F}" type="presParOf" srcId="{2EE94AD8-7D20-4439-9CF4-C70509092460}" destId="{A5FF0279-4372-4912-91DF-2A2810C61853}" srcOrd="2" destOrd="0" presId="urn:microsoft.com/office/officeart/2018/5/layout/IconLeafLabelList"/>
    <dgm:cxn modelId="{043252F7-74A6-4852-BEDD-88C737BFA9E4}" type="presParOf" srcId="{A5FF0279-4372-4912-91DF-2A2810C61853}" destId="{06CAD074-1ACA-4EFB-9ED4-1AB2F68CAA9E}" srcOrd="0" destOrd="0" presId="urn:microsoft.com/office/officeart/2018/5/layout/IconLeafLabelList"/>
    <dgm:cxn modelId="{BD88F06C-EF00-4E37-8D17-68F0960C3471}" type="presParOf" srcId="{A5FF0279-4372-4912-91DF-2A2810C61853}" destId="{D0963C85-AE88-4D60-96A0-2A1CA9A6861A}" srcOrd="1" destOrd="0" presId="urn:microsoft.com/office/officeart/2018/5/layout/IconLeafLabelList"/>
    <dgm:cxn modelId="{24364E04-CCBB-42FE-AFAA-BC8A0104016D}" type="presParOf" srcId="{A5FF0279-4372-4912-91DF-2A2810C61853}" destId="{9BEFEA79-2ADB-42C3-9B79-DBB64F3C5A1C}" srcOrd="2" destOrd="0" presId="urn:microsoft.com/office/officeart/2018/5/layout/IconLeafLabelList"/>
    <dgm:cxn modelId="{8627481B-9611-4E8C-B9C9-0A500A58B879}" type="presParOf" srcId="{A5FF0279-4372-4912-91DF-2A2810C61853}" destId="{5B2C1CB2-35D8-477A-A437-73A5A24A8CF9}" srcOrd="3" destOrd="0" presId="urn:microsoft.com/office/officeart/2018/5/layout/IconLeafLabelList"/>
    <dgm:cxn modelId="{FA866D97-B639-44F0-82EC-9F78230606D8}" type="presParOf" srcId="{2EE94AD8-7D20-4439-9CF4-C70509092460}" destId="{B53BEAEC-59F6-4A54-9AED-68D4D2453D64}" srcOrd="3" destOrd="0" presId="urn:microsoft.com/office/officeart/2018/5/layout/IconLeafLabelList"/>
    <dgm:cxn modelId="{21E92E0B-8DA1-4DA5-9834-4D99D178A941}" type="presParOf" srcId="{2EE94AD8-7D20-4439-9CF4-C70509092460}" destId="{D3B413C9-6490-4135-ADB2-EA4CA02C59A0}" srcOrd="4" destOrd="0" presId="urn:microsoft.com/office/officeart/2018/5/layout/IconLeafLabelList"/>
    <dgm:cxn modelId="{1297A51B-8FD4-4481-8725-3E9877E97BF7}" type="presParOf" srcId="{D3B413C9-6490-4135-ADB2-EA4CA02C59A0}" destId="{FCFBDE77-146E-459D-B4B8-C24BC3A08389}" srcOrd="0" destOrd="0" presId="urn:microsoft.com/office/officeart/2018/5/layout/IconLeafLabelList"/>
    <dgm:cxn modelId="{FDD2C420-3ABE-410E-850E-3058C49D58C3}" type="presParOf" srcId="{D3B413C9-6490-4135-ADB2-EA4CA02C59A0}" destId="{19C5E13B-773B-45EA-A4B2-A97BE365416C}" srcOrd="1" destOrd="0" presId="urn:microsoft.com/office/officeart/2018/5/layout/IconLeafLabelList"/>
    <dgm:cxn modelId="{52E265FF-1EE0-4FEB-AD44-6F9003908253}" type="presParOf" srcId="{D3B413C9-6490-4135-ADB2-EA4CA02C59A0}" destId="{1CB6727C-28E8-4158-8442-8514904E62E9}" srcOrd="2" destOrd="0" presId="urn:microsoft.com/office/officeart/2018/5/layout/IconLeafLabelList"/>
    <dgm:cxn modelId="{BF2D4183-FFE4-4EC5-8C3E-72813170BA37}" type="presParOf" srcId="{D3B413C9-6490-4135-ADB2-EA4CA02C59A0}" destId="{67024226-3969-477C-B9A1-1CA084A66822}" srcOrd="3" destOrd="0" presId="urn:microsoft.com/office/officeart/2018/5/layout/IconLeafLabelList"/>
    <dgm:cxn modelId="{D6B835C1-6BB0-4812-9BE5-9B553CEA40A9}" type="presParOf" srcId="{2EE94AD8-7D20-4439-9CF4-C70509092460}" destId="{BC057E85-155E-4F76-8557-1B43087822F5}" srcOrd="5" destOrd="0" presId="urn:microsoft.com/office/officeart/2018/5/layout/IconLeafLabelList"/>
    <dgm:cxn modelId="{75795BD8-04B4-4C26-869B-9EC7C3FE17EE}" type="presParOf" srcId="{2EE94AD8-7D20-4439-9CF4-C70509092460}" destId="{B3C8EB18-F7A3-4043-BBB8-2E9150B560AC}" srcOrd="6" destOrd="0" presId="urn:microsoft.com/office/officeart/2018/5/layout/IconLeafLabelList"/>
    <dgm:cxn modelId="{732E0B6C-BCA2-44EE-B4B6-8091FAD57DBE}" type="presParOf" srcId="{B3C8EB18-F7A3-4043-BBB8-2E9150B560AC}" destId="{011445A1-6735-41F6-BD68-079977F519D8}" srcOrd="0" destOrd="0" presId="urn:microsoft.com/office/officeart/2018/5/layout/IconLeafLabelList"/>
    <dgm:cxn modelId="{0F720B95-B9E1-4841-B516-E12189BA5DCD}" type="presParOf" srcId="{B3C8EB18-F7A3-4043-BBB8-2E9150B560AC}" destId="{2FBC95CE-9988-4027-AC78-F4430BA2B836}" srcOrd="1" destOrd="0" presId="urn:microsoft.com/office/officeart/2018/5/layout/IconLeafLabelList"/>
    <dgm:cxn modelId="{9B9926F7-87B3-4E78-82A8-4B0834334F4C}" type="presParOf" srcId="{B3C8EB18-F7A3-4043-BBB8-2E9150B560AC}" destId="{EA8A2DB9-FB84-4A18-BD80-DD8AD2C684EF}" srcOrd="2" destOrd="0" presId="urn:microsoft.com/office/officeart/2018/5/layout/IconLeafLabelList"/>
    <dgm:cxn modelId="{D92F6CD6-4543-4C2B-908A-888F41BDD168}" type="presParOf" srcId="{B3C8EB18-F7A3-4043-BBB8-2E9150B560AC}" destId="{414C94CB-201C-4771-B918-1C1A1BB73C98}" srcOrd="3" destOrd="0" presId="urn:microsoft.com/office/officeart/2018/5/layout/IconLeafLabelList"/>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 qsCatId="simple" csTypeId="urn:microsoft.com/office/officeart/2005/8/colors/colorful3"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a:t>
          </a:r>
          <a:r>
            <a:rPr lang="fr-FR" b="1" i="1" dirty="0"/>
            <a:t>(après impôts)</a:t>
          </a:r>
          <a:endParaRPr lang="fr-CA" i="1" dirty="0"/>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DD820F43-6253-474E-AF47-45D1426EBA30}">
      <dgm:prSet phldrT="[Texte]">
        <dgm:style>
          <a:lnRef idx="2">
            <a:schemeClr val="accent6"/>
          </a:lnRef>
          <a:fillRef idx="1">
            <a:schemeClr val="lt1"/>
          </a:fillRef>
          <a:effectRef idx="0">
            <a:schemeClr val="accent6"/>
          </a:effectRef>
          <a:fontRef idx="minor">
            <a:schemeClr val="dk1"/>
          </a:fontRef>
        </dgm:style>
      </dgm:prSet>
      <dgm:spPr>
        <a:ln w="28575"/>
      </dgm:spPr>
      <dgm:t>
        <a:bodyPr/>
        <a:lstStyle/>
        <a:p>
          <a:r>
            <a:rPr lang="fr-CA"/>
            <a:t>Diversification</a:t>
          </a:r>
        </a:p>
      </dgm:t>
    </dgm:pt>
    <dgm:pt modelId="{2561962D-E784-B744-9592-6A554B124FB2}" type="parTrans" cxnId="{F5DE528B-5DF6-7741-A1CF-591584B4BF3C}">
      <dgm:prSet/>
      <dgm:spPr/>
      <dgm:t>
        <a:bodyPr/>
        <a:lstStyle/>
        <a:p>
          <a:endParaRPr lang="fr-CA"/>
        </a:p>
      </dgm:t>
    </dgm:pt>
    <dgm:pt modelId="{07FC12F4-0CE5-F54F-91BB-C9BDF13AFE51}" type="sibTrans" cxnId="{F5DE528B-5DF6-7741-A1CF-591584B4BF3C}">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a:t>Capitaux investis</a:t>
          </a:r>
          <a:endParaRPr lang="fr-CA"/>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A7F23F0C-914A-DC47-972E-8AE6DD10BE6E}">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Augmenter part de marché</a:t>
          </a:r>
        </a:p>
      </dgm:t>
    </dgm:pt>
    <dgm:pt modelId="{5063EEE2-ED50-B245-9298-A62AC513C023}" type="parTrans" cxnId="{36C8C4C9-FFE5-C743-8FBE-E2AE25342611}">
      <dgm:prSet/>
      <dgm:spPr/>
      <dgm:t>
        <a:bodyPr/>
        <a:lstStyle/>
        <a:p>
          <a:endParaRPr lang="fr-CA"/>
        </a:p>
      </dgm:t>
    </dgm:pt>
    <dgm:pt modelId="{D7DD7256-9F4E-8D46-B184-3664CE08D705}" type="sibTrans" cxnId="{36C8C4C9-FFE5-C743-8FBE-E2AE25342611}">
      <dgm:prSet/>
      <dgm:spPr/>
      <dgm:t>
        <a:bodyPr/>
        <a:lstStyle/>
        <a:p>
          <a:endParaRPr lang="fr-CA"/>
        </a:p>
      </dgm:t>
    </dgm:pt>
    <dgm:pt modelId="{06345512-099D-D046-8B7F-38E5AB54B832}">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Améliorer la productivité</a:t>
          </a:r>
        </a:p>
      </dgm:t>
    </dgm:pt>
    <dgm:pt modelId="{4B284075-BAB3-2141-A67C-A41C134D5F43}" type="parTrans" cxnId="{6AA996FD-2DBE-9C41-A5E4-C68065C89B53}">
      <dgm:prSet/>
      <dgm:spPr/>
      <dgm:t>
        <a:bodyPr/>
        <a:lstStyle/>
        <a:p>
          <a:endParaRPr lang="fr-CA"/>
        </a:p>
      </dgm:t>
    </dgm:pt>
    <dgm:pt modelId="{93D45003-F8A3-4E40-AD92-0E12B846B9E8}" type="sibTrans" cxnId="{6AA996FD-2DBE-9C41-A5E4-C68065C89B53}">
      <dgm:prSet/>
      <dgm:spPr/>
      <dgm:t>
        <a:bodyPr/>
        <a:lstStyle/>
        <a:p>
          <a:endParaRPr lang="fr-CA"/>
        </a:p>
      </dgm:t>
    </dgm:pt>
    <dgm:pt modelId="{ECBEDDB0-B23F-894F-B397-D37FEFF0F925}">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Réduction des coûts</a:t>
          </a:r>
        </a:p>
      </dgm:t>
    </dgm:pt>
    <dgm:pt modelId="{7C1534F3-080F-C745-B09B-47A69422669D}" type="parTrans" cxnId="{83AB70DF-7A20-F34E-A7B9-6CFC3B0A9985}">
      <dgm:prSet/>
      <dgm:spPr/>
      <dgm:t>
        <a:bodyPr/>
        <a:lstStyle/>
        <a:p>
          <a:endParaRPr lang="fr-CA"/>
        </a:p>
      </dgm:t>
    </dgm:pt>
    <dgm:pt modelId="{A5146A00-52CF-9E4F-B1B4-21B2B75CFC80}" type="sibTrans" cxnId="{83AB70DF-7A20-F34E-A7B9-6CFC3B0A9985}">
      <dgm:prSet/>
      <dgm:spPr/>
      <dgm:t>
        <a:bodyPr/>
        <a:lstStyle/>
        <a:p>
          <a:endParaRPr lang="fr-CA"/>
        </a:p>
      </dgm:t>
    </dgm:pt>
    <dgm:pt modelId="{2C302ED3-2B5B-2B42-83C6-49345356B997}">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Utilisation de la capacité de production</a:t>
          </a:r>
        </a:p>
      </dgm:t>
    </dgm:pt>
    <dgm:pt modelId="{BEDB392C-5E2F-5D41-8F7C-462005AB9D1A}" type="parTrans" cxnId="{B59B1A98-933F-A64F-9D91-16A1BED6784F}">
      <dgm:prSet/>
      <dgm:spPr/>
      <dgm:t>
        <a:bodyPr/>
        <a:lstStyle/>
        <a:p>
          <a:endParaRPr lang="fr-CA"/>
        </a:p>
      </dgm:t>
    </dgm:pt>
    <dgm:pt modelId="{4B808475-D3DC-2F47-B12A-9AC811EED394}" type="sibTrans" cxnId="{B59B1A98-933F-A64F-9D91-16A1BED6784F}">
      <dgm:prSet/>
      <dgm:spPr/>
      <dgm:t>
        <a:bodyPr/>
        <a:lstStyle/>
        <a:p>
          <a:endParaRPr lang="fr-CA"/>
        </a:p>
      </dgm:t>
    </dgm:pt>
    <dgm:pt modelId="{4DC4C71B-BE50-8844-ACA2-A2B4E7923259}">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Gestion des stocks</a:t>
          </a:r>
        </a:p>
      </dgm:t>
    </dgm:pt>
    <dgm:pt modelId="{F251C16A-CF42-F649-A6C0-249889457361}" type="parTrans" cxnId="{C1A84289-816E-0B44-8E7B-F50D92E6C765}">
      <dgm:prSet/>
      <dgm:spPr/>
      <dgm:t>
        <a:bodyPr/>
        <a:lstStyle/>
        <a:p>
          <a:endParaRPr lang="fr-CA"/>
        </a:p>
      </dgm:t>
    </dgm:pt>
    <dgm:pt modelId="{F84AC313-43F1-4D40-AF86-6744E4D50523}" type="sibTrans" cxnId="{C1A84289-816E-0B44-8E7B-F50D92E6C765}">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BF4D22EE-D9B3-0642-AA26-462999537FA3}" type="pres">
      <dgm:prSet presAssocID="{2561962D-E784-B744-9592-6A554B124FB2}" presName="conn2-1" presStyleLbl="parChTrans1D4" presStyleIdx="0" presStyleCnt="6"/>
      <dgm:spPr/>
    </dgm:pt>
    <dgm:pt modelId="{C5925D9E-6D75-AD40-AE48-48359B7AE061}" type="pres">
      <dgm:prSet presAssocID="{2561962D-E784-B744-9592-6A554B124FB2}" presName="connTx" presStyleLbl="parChTrans1D4" presStyleIdx="0" presStyleCnt="6"/>
      <dgm:spPr/>
    </dgm:pt>
    <dgm:pt modelId="{9FD8DC72-10A7-C744-9E96-37C2E757E3F3}" type="pres">
      <dgm:prSet presAssocID="{DD820F43-6253-474E-AF47-45D1426EBA30}" presName="root2" presStyleCnt="0"/>
      <dgm:spPr/>
    </dgm:pt>
    <dgm:pt modelId="{A89F919C-3797-504D-867F-1DFF84E22E7B}" type="pres">
      <dgm:prSet presAssocID="{DD820F43-6253-474E-AF47-45D1426EBA30}" presName="LevelTwoTextNode" presStyleLbl="node4" presStyleIdx="0" presStyleCnt="6" custScaleX="167760" custScaleY="73041" custLinFactNeighborY="14372">
        <dgm:presLayoutVars>
          <dgm:chPref val="3"/>
        </dgm:presLayoutVars>
      </dgm:prSet>
      <dgm:spPr/>
    </dgm:pt>
    <dgm:pt modelId="{373C953C-2735-6441-94A7-D07930DD2726}" type="pres">
      <dgm:prSet presAssocID="{DD820F43-6253-474E-AF47-45D1426EBA30}" presName="level3hierChild" presStyleCnt="0"/>
      <dgm:spPr/>
    </dgm:pt>
    <dgm:pt modelId="{6BD9C289-9FCF-CD4B-BC11-14794C2E8CCA}" type="pres">
      <dgm:prSet presAssocID="{5063EEE2-ED50-B245-9298-A62AC513C023}" presName="conn2-1" presStyleLbl="parChTrans1D4" presStyleIdx="1" presStyleCnt="6"/>
      <dgm:spPr/>
    </dgm:pt>
    <dgm:pt modelId="{C1F91425-004E-1243-9BF6-24B855DEAD1A}" type="pres">
      <dgm:prSet presAssocID="{5063EEE2-ED50-B245-9298-A62AC513C023}" presName="connTx" presStyleLbl="parChTrans1D4" presStyleIdx="1" presStyleCnt="6"/>
      <dgm:spPr/>
    </dgm:pt>
    <dgm:pt modelId="{BE9B5E16-268B-3840-A0A7-A8FC0D5B837A}" type="pres">
      <dgm:prSet presAssocID="{A7F23F0C-914A-DC47-972E-8AE6DD10BE6E}" presName="root2" presStyleCnt="0"/>
      <dgm:spPr/>
    </dgm:pt>
    <dgm:pt modelId="{028EE47D-6CAE-404B-953A-8C55D65FA791}" type="pres">
      <dgm:prSet presAssocID="{A7F23F0C-914A-DC47-972E-8AE6DD10BE6E}" presName="LevelTwoTextNode" presStyleLbl="node4" presStyleIdx="1" presStyleCnt="6" custScaleX="167760" custScaleY="69625" custLinFactNeighborY="14372">
        <dgm:presLayoutVars>
          <dgm:chPref val="3"/>
        </dgm:presLayoutVars>
      </dgm:prSet>
      <dgm:spPr/>
    </dgm:pt>
    <dgm:pt modelId="{422E48BF-B9CB-2D44-A955-A620BF51FA82}" type="pres">
      <dgm:prSet presAssocID="{A7F23F0C-914A-DC47-972E-8AE6DD10BE6E}"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85F365CE-8E1A-A649-9F56-C59D54017D8C}" type="pres">
      <dgm:prSet presAssocID="{4B284075-BAB3-2141-A67C-A41C134D5F43}" presName="conn2-1" presStyleLbl="parChTrans1D4" presStyleIdx="2" presStyleCnt="6"/>
      <dgm:spPr/>
    </dgm:pt>
    <dgm:pt modelId="{87B0D75A-45B5-6544-85C3-A0DE7A6657AC}" type="pres">
      <dgm:prSet presAssocID="{4B284075-BAB3-2141-A67C-A41C134D5F43}" presName="connTx" presStyleLbl="parChTrans1D4" presStyleIdx="2" presStyleCnt="6"/>
      <dgm:spPr/>
    </dgm:pt>
    <dgm:pt modelId="{2EA9D2DC-CCC3-AF40-A2CE-AED5B61E44E1}" type="pres">
      <dgm:prSet presAssocID="{06345512-099D-D046-8B7F-38E5AB54B832}" presName="root2" presStyleCnt="0"/>
      <dgm:spPr/>
    </dgm:pt>
    <dgm:pt modelId="{6359BCFC-FBBC-6D49-8075-E39696D179B0}" type="pres">
      <dgm:prSet presAssocID="{06345512-099D-D046-8B7F-38E5AB54B832}" presName="LevelTwoTextNode" presStyleLbl="node4" presStyleIdx="2" presStyleCnt="6" custScaleX="167760" custScaleY="65757" custLinFactNeighborY="14372">
        <dgm:presLayoutVars>
          <dgm:chPref val="3"/>
        </dgm:presLayoutVars>
      </dgm:prSet>
      <dgm:spPr/>
    </dgm:pt>
    <dgm:pt modelId="{97295B1C-52E8-A746-BCE0-483B0DA6FDCC}" type="pres">
      <dgm:prSet presAssocID="{06345512-099D-D046-8B7F-38E5AB54B832}" presName="level3hierChild" presStyleCnt="0"/>
      <dgm:spPr/>
    </dgm:pt>
    <dgm:pt modelId="{3A9BF594-A510-4C44-B145-B4ED5D571DFF}" type="pres">
      <dgm:prSet presAssocID="{7C1534F3-080F-C745-B09B-47A69422669D}" presName="conn2-1" presStyleLbl="parChTrans1D4" presStyleIdx="3" presStyleCnt="6"/>
      <dgm:spPr/>
    </dgm:pt>
    <dgm:pt modelId="{B9700821-E5AF-8B4C-8E53-4DAF53BFEB61}" type="pres">
      <dgm:prSet presAssocID="{7C1534F3-080F-C745-B09B-47A69422669D}" presName="connTx" presStyleLbl="parChTrans1D4" presStyleIdx="3" presStyleCnt="6"/>
      <dgm:spPr/>
    </dgm:pt>
    <dgm:pt modelId="{45B432E2-3B36-424A-A186-DF5B7DBB2C6D}" type="pres">
      <dgm:prSet presAssocID="{ECBEDDB0-B23F-894F-B397-D37FEFF0F925}" presName="root2" presStyleCnt="0"/>
      <dgm:spPr/>
    </dgm:pt>
    <dgm:pt modelId="{3863B1FE-EC90-2443-A8D6-F17D58ABB7F6}" type="pres">
      <dgm:prSet presAssocID="{ECBEDDB0-B23F-894F-B397-D37FEFF0F925}" presName="LevelTwoTextNode" presStyleLbl="node4" presStyleIdx="3" presStyleCnt="6" custScaleX="167760" custScaleY="61467" custLinFactNeighborY="14372">
        <dgm:presLayoutVars>
          <dgm:chPref val="3"/>
        </dgm:presLayoutVars>
      </dgm:prSet>
      <dgm:spPr/>
    </dgm:pt>
    <dgm:pt modelId="{3889D151-F22F-1348-8365-C8F8A07B8AC4}" type="pres">
      <dgm:prSet presAssocID="{ECBEDDB0-B23F-894F-B397-D37FEFF0F925}"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353674E-C868-0548-94E5-06C5CD0357BD}" type="pres">
      <dgm:prSet presAssocID="{BEDB392C-5E2F-5D41-8F7C-462005AB9D1A}" presName="conn2-1" presStyleLbl="parChTrans1D4" presStyleIdx="4" presStyleCnt="6"/>
      <dgm:spPr/>
    </dgm:pt>
    <dgm:pt modelId="{CA602E31-C957-754E-A9B5-9D688720C850}" type="pres">
      <dgm:prSet presAssocID="{BEDB392C-5E2F-5D41-8F7C-462005AB9D1A}" presName="connTx" presStyleLbl="parChTrans1D4" presStyleIdx="4" presStyleCnt="6"/>
      <dgm:spPr/>
    </dgm:pt>
    <dgm:pt modelId="{D4C86FEE-7526-1044-B906-D7CDBDEC3E80}" type="pres">
      <dgm:prSet presAssocID="{2C302ED3-2B5B-2B42-83C6-49345356B997}" presName="root2" presStyleCnt="0"/>
      <dgm:spPr/>
    </dgm:pt>
    <dgm:pt modelId="{2C87D59C-F0F0-C84D-AC74-4BC8E4ED6351}" type="pres">
      <dgm:prSet presAssocID="{2C302ED3-2B5B-2B42-83C6-49345356B997}" presName="LevelTwoTextNode" presStyleLbl="node4" presStyleIdx="4" presStyleCnt="6" custScaleX="167760" custScaleY="81048" custLinFactNeighborY="14372">
        <dgm:presLayoutVars>
          <dgm:chPref val="3"/>
        </dgm:presLayoutVars>
      </dgm:prSet>
      <dgm:spPr/>
    </dgm:pt>
    <dgm:pt modelId="{95BDFC77-8F61-924C-8F37-74D1314462C6}" type="pres">
      <dgm:prSet presAssocID="{2C302ED3-2B5B-2B42-83C6-49345356B997}"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 modelId="{F0072538-0564-B247-AC30-414090A4097C}" type="pres">
      <dgm:prSet presAssocID="{F251C16A-CF42-F649-A6C0-249889457361}" presName="conn2-1" presStyleLbl="parChTrans1D4" presStyleIdx="5" presStyleCnt="6"/>
      <dgm:spPr/>
    </dgm:pt>
    <dgm:pt modelId="{C989633C-B05B-7344-A9F4-D253F6C016D4}" type="pres">
      <dgm:prSet presAssocID="{F251C16A-CF42-F649-A6C0-249889457361}" presName="connTx" presStyleLbl="parChTrans1D4" presStyleIdx="5" presStyleCnt="6"/>
      <dgm:spPr/>
    </dgm:pt>
    <dgm:pt modelId="{C0E851FD-848F-6E4A-839F-74A17081D4FD}" type="pres">
      <dgm:prSet presAssocID="{4DC4C71B-BE50-8844-ACA2-A2B4E7923259}" presName="root2" presStyleCnt="0"/>
      <dgm:spPr/>
    </dgm:pt>
    <dgm:pt modelId="{DD6D8D49-C69F-E641-80F7-C269E589D30D}" type="pres">
      <dgm:prSet presAssocID="{4DC4C71B-BE50-8844-ACA2-A2B4E7923259}" presName="LevelTwoTextNode" presStyleLbl="node4" presStyleIdx="5" presStyleCnt="6" custScaleX="167760" custScaleY="61467">
        <dgm:presLayoutVars>
          <dgm:chPref val="3"/>
        </dgm:presLayoutVars>
      </dgm:prSet>
      <dgm:spPr/>
    </dgm:pt>
    <dgm:pt modelId="{96B91848-EE19-AC49-923E-9D6FB80885F4}" type="pres">
      <dgm:prSet presAssocID="{4DC4C71B-BE50-8844-ACA2-A2B4E7923259}"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E4246714-E05E-1241-95E2-902CC55F9C40}" type="presOf" srcId="{5063EEE2-ED50-B245-9298-A62AC513C023}" destId="{C1F91425-004E-1243-9BF6-24B855DEAD1A}" srcOrd="1"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BF24C026-DD66-0A47-95F6-6DDD40046836}" type="presOf" srcId="{5063EEE2-ED50-B245-9298-A62AC513C023}" destId="{6BD9C289-9FCF-CD4B-BC11-14794C2E8CCA}"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D7D0042C-303A-1A42-AE4B-9D039869FFD6}" type="presOf" srcId="{BEDB392C-5E2F-5D41-8F7C-462005AB9D1A}" destId="{CA602E31-C957-754E-A9B5-9D688720C850}" srcOrd="1" destOrd="0" presId="urn:microsoft.com/office/officeart/2005/8/layout/hierarchy2"/>
    <dgm:cxn modelId="{C8A14C2D-6A12-0040-B33A-88A4FB7FC093}" type="presOf" srcId="{2561962D-E784-B744-9592-6A554B124FB2}" destId="{BF4D22EE-D9B3-0642-AA26-462999537FA3}" srcOrd="0" destOrd="0" presId="urn:microsoft.com/office/officeart/2005/8/layout/hierarchy2"/>
    <dgm:cxn modelId="{7A521133-D906-9447-810B-FC471B0174F9}" type="presOf" srcId="{7C1534F3-080F-C745-B09B-47A69422669D}" destId="{B9700821-E5AF-8B4C-8E53-4DAF53BFEB61}" srcOrd="1" destOrd="0" presId="urn:microsoft.com/office/officeart/2005/8/layout/hierarchy2"/>
    <dgm:cxn modelId="{72370D34-1E6D-DC48-A302-D52A1C222160}" type="presOf" srcId="{4DC4C71B-BE50-8844-ACA2-A2B4E7923259}" destId="{DD6D8D49-C69F-E641-80F7-C269E589D30D}" srcOrd="0" destOrd="0" presId="urn:microsoft.com/office/officeart/2005/8/layout/hierarchy2"/>
    <dgm:cxn modelId="{B924DF3C-2FCB-0643-9CC7-DD2EA0B26325}" type="presOf" srcId="{4B284075-BAB3-2141-A67C-A41C134D5F43}" destId="{85F365CE-8E1A-A649-9F56-C59D54017D8C}" srcOrd="0"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1B920A3E-C4D3-5546-BBAE-67B35413CC4E}" type="presOf" srcId="{4B284075-BAB3-2141-A67C-A41C134D5F43}" destId="{87B0D75A-45B5-6544-85C3-A0DE7A6657AC}" srcOrd="1"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25A99C60-F948-B345-8C3F-9776C64D8756}" type="presOf" srcId="{F251C16A-CF42-F649-A6C0-249889457361}" destId="{F0072538-0564-B247-AC30-414090A4097C}" srcOrd="0" destOrd="0" presId="urn:microsoft.com/office/officeart/2005/8/layout/hierarchy2"/>
    <dgm:cxn modelId="{FDD9E065-C9CA-FD42-A623-8591463898A6}" type="presOf" srcId="{BEDB392C-5E2F-5D41-8F7C-462005AB9D1A}" destId="{0353674E-C868-0548-94E5-06C5CD0357BD}" srcOrd="0" destOrd="0" presId="urn:microsoft.com/office/officeart/2005/8/layout/hierarchy2"/>
    <dgm:cxn modelId="{D9F01C4B-8480-CE43-AA60-07ED8BD2028D}" type="presOf" srcId="{2C302ED3-2B5B-2B42-83C6-49345356B997}" destId="{2C87D59C-F0F0-C84D-AC74-4BC8E4ED6351}" srcOrd="0" destOrd="0" presId="urn:microsoft.com/office/officeart/2005/8/layout/hierarchy2"/>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0915DC83-7B5B-BD49-8213-E792B21EE633}" type="presOf" srcId="{ECBEDDB0-B23F-894F-B397-D37FEFF0F925}" destId="{3863B1FE-EC90-2443-A8D6-F17D58ABB7F6}" srcOrd="0" destOrd="0" presId="urn:microsoft.com/office/officeart/2005/8/layout/hierarchy2"/>
    <dgm:cxn modelId="{7D595386-1388-BE48-A6FF-2A1F6F72965F}" type="presOf" srcId="{06345512-099D-D046-8B7F-38E5AB54B832}" destId="{6359BCFC-FBBC-6D49-8075-E39696D179B0}" srcOrd="0" destOrd="0" presId="urn:microsoft.com/office/officeart/2005/8/layout/hierarchy2"/>
    <dgm:cxn modelId="{C1A84289-816E-0B44-8E7B-F50D92E6C765}" srcId="{70DFC164-EF4B-5049-A70D-64EAC74010BD}" destId="{4DC4C71B-BE50-8844-ACA2-A2B4E7923259}" srcOrd="0" destOrd="0" parTransId="{F251C16A-CF42-F649-A6C0-249889457361}" sibTransId="{F84AC313-43F1-4D40-AF86-6744E4D50523}"/>
    <dgm:cxn modelId="{F5DE528B-5DF6-7741-A1CF-591584B4BF3C}" srcId="{7461EE18-3D73-C04B-B625-331BCC780365}" destId="{DD820F43-6253-474E-AF47-45D1426EBA30}" srcOrd="0" destOrd="0" parTransId="{2561962D-E784-B744-9592-6A554B124FB2}" sibTransId="{07FC12F4-0CE5-F54F-91BB-C9BDF13AFE51}"/>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B59B1A98-933F-A64F-9D91-16A1BED6784F}" srcId="{F9BE275B-BFF1-B947-BC97-7765509673CC}" destId="{2C302ED3-2B5B-2B42-83C6-49345356B997}" srcOrd="0" destOrd="0" parTransId="{BEDB392C-5E2F-5D41-8F7C-462005AB9D1A}" sibTransId="{4B808475-D3DC-2F47-B12A-9AC811EED394}"/>
    <dgm:cxn modelId="{4DEA3699-00A5-9F4F-A02C-952166705C1E}" type="presOf" srcId="{2561962D-E784-B744-9592-6A554B124FB2}" destId="{C5925D9E-6D75-AD40-AE48-48359B7AE061}" srcOrd="1"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08500DB7-C05A-4C41-8368-39F31B0729F6}" type="presOf" srcId="{7C1534F3-080F-C745-B09B-47A69422669D}" destId="{3A9BF594-A510-4C44-B145-B4ED5D571DFF}" srcOrd="0" destOrd="0" presId="urn:microsoft.com/office/officeart/2005/8/layout/hierarchy2"/>
    <dgm:cxn modelId="{6FC06CBD-7B20-AF43-BA2E-2911EA83B044}" type="presOf" srcId="{F251C16A-CF42-F649-A6C0-249889457361}" destId="{C989633C-B05B-7344-A9F4-D253F6C016D4}" srcOrd="1"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36C8C4C9-FFE5-C743-8FBE-E2AE25342611}" srcId="{7461EE18-3D73-C04B-B625-331BCC780365}" destId="{A7F23F0C-914A-DC47-972E-8AE6DD10BE6E}" srcOrd="1" destOrd="0" parTransId="{5063EEE2-ED50-B245-9298-A62AC513C023}" sibTransId="{D7DD7256-9F4E-8D46-B184-3664CE08D705}"/>
    <dgm:cxn modelId="{B6898DCE-ABF7-1945-9880-1CF549D6D694}" type="presOf" srcId="{DD820F43-6253-474E-AF47-45D1426EBA30}" destId="{A89F919C-3797-504D-867F-1DFF84E22E7B}" srcOrd="0"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5688F5D9-DC24-D54A-B97F-9CD12C553F58}" type="presOf" srcId="{A7F23F0C-914A-DC47-972E-8AE6DD10BE6E}" destId="{028EE47D-6CAE-404B-953A-8C55D65FA791}"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83AB70DF-7A20-F34E-A7B9-6CFC3B0A9985}" srcId="{6BF1DD7D-9FF5-B84F-90DE-1EEC3DA34347}" destId="{ECBEDDB0-B23F-894F-B397-D37FEFF0F925}" srcOrd="1" destOrd="0" parTransId="{7C1534F3-080F-C745-B09B-47A69422669D}" sibTransId="{A5146A00-52CF-9E4F-B1B4-21B2B75CFC80}"/>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6AA996FD-2DBE-9C41-A5E4-C68065C89B53}" srcId="{6BF1DD7D-9FF5-B84F-90DE-1EEC3DA34347}" destId="{06345512-099D-D046-8B7F-38E5AB54B832}" srcOrd="0" destOrd="0" parTransId="{4B284075-BAB3-2141-A67C-A41C134D5F43}" sibTransId="{93D45003-F8A3-4E40-AD92-0E12B846B9E8}"/>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F64EE537-CDF4-9448-AB8A-D2310C9C5B5B}" type="presParOf" srcId="{417DFD69-66C4-8249-BAC6-0413C9B3EC23}" destId="{BF4D22EE-D9B3-0642-AA26-462999537FA3}" srcOrd="0" destOrd="0" presId="urn:microsoft.com/office/officeart/2005/8/layout/hierarchy2"/>
    <dgm:cxn modelId="{720FCC38-0B9D-3047-A4B5-20EB8155C02D}" type="presParOf" srcId="{BF4D22EE-D9B3-0642-AA26-462999537FA3}" destId="{C5925D9E-6D75-AD40-AE48-48359B7AE061}" srcOrd="0" destOrd="0" presId="urn:microsoft.com/office/officeart/2005/8/layout/hierarchy2"/>
    <dgm:cxn modelId="{CC0516CA-88C2-654A-9A52-D6692E022E42}" type="presParOf" srcId="{417DFD69-66C4-8249-BAC6-0413C9B3EC23}" destId="{9FD8DC72-10A7-C744-9E96-37C2E757E3F3}" srcOrd="1" destOrd="0" presId="urn:microsoft.com/office/officeart/2005/8/layout/hierarchy2"/>
    <dgm:cxn modelId="{1FBDD3B7-27FE-8443-B7A1-3DEAD6216837}" type="presParOf" srcId="{9FD8DC72-10A7-C744-9E96-37C2E757E3F3}" destId="{A89F919C-3797-504D-867F-1DFF84E22E7B}" srcOrd="0" destOrd="0" presId="urn:microsoft.com/office/officeart/2005/8/layout/hierarchy2"/>
    <dgm:cxn modelId="{A319CFB9-5477-F344-86F3-69CDE6569717}" type="presParOf" srcId="{9FD8DC72-10A7-C744-9E96-37C2E757E3F3}" destId="{373C953C-2735-6441-94A7-D07930DD2726}" srcOrd="1" destOrd="0" presId="urn:microsoft.com/office/officeart/2005/8/layout/hierarchy2"/>
    <dgm:cxn modelId="{7C8FF89A-6781-5B40-94B3-38834025A9B5}" type="presParOf" srcId="{417DFD69-66C4-8249-BAC6-0413C9B3EC23}" destId="{6BD9C289-9FCF-CD4B-BC11-14794C2E8CCA}" srcOrd="2" destOrd="0" presId="urn:microsoft.com/office/officeart/2005/8/layout/hierarchy2"/>
    <dgm:cxn modelId="{57D6BD09-4B74-4D49-8FFC-3EDA54583ABA}" type="presParOf" srcId="{6BD9C289-9FCF-CD4B-BC11-14794C2E8CCA}" destId="{C1F91425-004E-1243-9BF6-24B855DEAD1A}" srcOrd="0" destOrd="0" presId="urn:microsoft.com/office/officeart/2005/8/layout/hierarchy2"/>
    <dgm:cxn modelId="{239515F5-8754-CD4E-8C40-37009EB75894}" type="presParOf" srcId="{417DFD69-66C4-8249-BAC6-0413C9B3EC23}" destId="{BE9B5E16-268B-3840-A0A7-A8FC0D5B837A}" srcOrd="3" destOrd="0" presId="urn:microsoft.com/office/officeart/2005/8/layout/hierarchy2"/>
    <dgm:cxn modelId="{DA3C7EB0-79B0-FC4B-AF9F-174BFB1E81F7}" type="presParOf" srcId="{BE9B5E16-268B-3840-A0A7-A8FC0D5B837A}" destId="{028EE47D-6CAE-404B-953A-8C55D65FA791}" srcOrd="0" destOrd="0" presId="urn:microsoft.com/office/officeart/2005/8/layout/hierarchy2"/>
    <dgm:cxn modelId="{42FDDE47-716F-2F4D-8FB6-AF78CC5A53DC}" type="presParOf" srcId="{BE9B5E16-268B-3840-A0A7-A8FC0D5B837A}" destId="{422E48BF-B9CB-2D44-A955-A620BF51FA82}"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627FEC5C-2CDF-124E-A334-F930082E14DA}" type="presParOf" srcId="{9E5A17C4-B9E6-ED4D-9A69-D8DFB6285AEC}" destId="{85F365CE-8E1A-A649-9F56-C59D54017D8C}" srcOrd="0" destOrd="0" presId="urn:microsoft.com/office/officeart/2005/8/layout/hierarchy2"/>
    <dgm:cxn modelId="{269EE014-8C25-544D-BD61-EC9EC8FC0DFC}" type="presParOf" srcId="{85F365CE-8E1A-A649-9F56-C59D54017D8C}" destId="{87B0D75A-45B5-6544-85C3-A0DE7A6657AC}" srcOrd="0" destOrd="0" presId="urn:microsoft.com/office/officeart/2005/8/layout/hierarchy2"/>
    <dgm:cxn modelId="{375FF491-06FE-B14C-8E23-90D2CDD15C0E}" type="presParOf" srcId="{9E5A17C4-B9E6-ED4D-9A69-D8DFB6285AEC}" destId="{2EA9D2DC-CCC3-AF40-A2CE-AED5B61E44E1}" srcOrd="1" destOrd="0" presId="urn:microsoft.com/office/officeart/2005/8/layout/hierarchy2"/>
    <dgm:cxn modelId="{45AD22CA-54AC-BD4E-91A8-96DFD4638290}" type="presParOf" srcId="{2EA9D2DC-CCC3-AF40-A2CE-AED5B61E44E1}" destId="{6359BCFC-FBBC-6D49-8075-E39696D179B0}" srcOrd="0" destOrd="0" presId="urn:microsoft.com/office/officeart/2005/8/layout/hierarchy2"/>
    <dgm:cxn modelId="{AF502DC8-B7DA-1D4C-AACB-B7E80FD28E7B}" type="presParOf" srcId="{2EA9D2DC-CCC3-AF40-A2CE-AED5B61E44E1}" destId="{97295B1C-52E8-A746-BCE0-483B0DA6FDCC}" srcOrd="1" destOrd="0" presId="urn:microsoft.com/office/officeart/2005/8/layout/hierarchy2"/>
    <dgm:cxn modelId="{6062CA09-994B-A14F-907C-6A61CACE561E}" type="presParOf" srcId="{9E5A17C4-B9E6-ED4D-9A69-D8DFB6285AEC}" destId="{3A9BF594-A510-4C44-B145-B4ED5D571DFF}" srcOrd="2" destOrd="0" presId="urn:microsoft.com/office/officeart/2005/8/layout/hierarchy2"/>
    <dgm:cxn modelId="{E38D4B4A-D2C6-BA4B-947A-F38F45B442AE}" type="presParOf" srcId="{3A9BF594-A510-4C44-B145-B4ED5D571DFF}" destId="{B9700821-E5AF-8B4C-8E53-4DAF53BFEB61}" srcOrd="0" destOrd="0" presId="urn:microsoft.com/office/officeart/2005/8/layout/hierarchy2"/>
    <dgm:cxn modelId="{55CDC8D4-B3A9-2E49-8563-112AC968D7A1}" type="presParOf" srcId="{9E5A17C4-B9E6-ED4D-9A69-D8DFB6285AEC}" destId="{45B432E2-3B36-424A-A186-DF5B7DBB2C6D}" srcOrd="3" destOrd="0" presId="urn:microsoft.com/office/officeart/2005/8/layout/hierarchy2"/>
    <dgm:cxn modelId="{B035AEE4-F6F1-C646-B4D7-D145832B0574}" type="presParOf" srcId="{45B432E2-3B36-424A-A186-DF5B7DBB2C6D}" destId="{3863B1FE-EC90-2443-A8D6-F17D58ABB7F6}" srcOrd="0" destOrd="0" presId="urn:microsoft.com/office/officeart/2005/8/layout/hierarchy2"/>
    <dgm:cxn modelId="{45A21D25-08ED-3A42-84D4-EF7E4635AC6C}" type="presParOf" srcId="{45B432E2-3B36-424A-A186-DF5B7DBB2C6D}" destId="{3889D151-F22F-1348-8365-C8F8A07B8AC4}"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35A9EA3-4F75-6744-9CA7-3AC6E5D22D6A}" type="presParOf" srcId="{730941FB-5470-BF44-B766-9DC09B8A73D0}" destId="{0353674E-C868-0548-94E5-06C5CD0357BD}" srcOrd="0" destOrd="0" presId="urn:microsoft.com/office/officeart/2005/8/layout/hierarchy2"/>
    <dgm:cxn modelId="{A7127D5D-9D93-D245-8531-9CE9C96968E3}" type="presParOf" srcId="{0353674E-C868-0548-94E5-06C5CD0357BD}" destId="{CA602E31-C957-754E-A9B5-9D688720C850}" srcOrd="0" destOrd="0" presId="urn:microsoft.com/office/officeart/2005/8/layout/hierarchy2"/>
    <dgm:cxn modelId="{F6D318D8-F4DD-624A-89DD-902B160F0D9E}" type="presParOf" srcId="{730941FB-5470-BF44-B766-9DC09B8A73D0}" destId="{D4C86FEE-7526-1044-B906-D7CDBDEC3E80}" srcOrd="1" destOrd="0" presId="urn:microsoft.com/office/officeart/2005/8/layout/hierarchy2"/>
    <dgm:cxn modelId="{8822DBF8-816D-2B4E-868A-63B6B3203CA2}" type="presParOf" srcId="{D4C86FEE-7526-1044-B906-D7CDBDEC3E80}" destId="{2C87D59C-F0F0-C84D-AC74-4BC8E4ED6351}" srcOrd="0" destOrd="0" presId="urn:microsoft.com/office/officeart/2005/8/layout/hierarchy2"/>
    <dgm:cxn modelId="{C1365851-CA73-1B49-8661-0C30A859663A}" type="presParOf" srcId="{D4C86FEE-7526-1044-B906-D7CDBDEC3E80}" destId="{95BDFC77-8F61-924C-8F37-74D1314462C6}"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 modelId="{3E19A3DB-8870-6A4A-A19F-21901F889BC8}" type="presParOf" srcId="{5E77EB1B-0DB6-3D4D-8B34-41F5EDF6926C}" destId="{F0072538-0564-B247-AC30-414090A4097C}" srcOrd="0" destOrd="0" presId="urn:microsoft.com/office/officeart/2005/8/layout/hierarchy2"/>
    <dgm:cxn modelId="{37FB1CFE-ADA1-884E-BC85-D85E5DFEAFCB}" type="presParOf" srcId="{F0072538-0564-B247-AC30-414090A4097C}" destId="{C989633C-B05B-7344-A9F4-D253F6C016D4}" srcOrd="0" destOrd="0" presId="urn:microsoft.com/office/officeart/2005/8/layout/hierarchy2"/>
    <dgm:cxn modelId="{6965288B-CBD1-254B-A883-6E95CC586044}" type="presParOf" srcId="{5E77EB1B-0DB6-3D4D-8B34-41F5EDF6926C}" destId="{C0E851FD-848F-6E4A-839F-74A17081D4FD}" srcOrd="1" destOrd="0" presId="urn:microsoft.com/office/officeart/2005/8/layout/hierarchy2"/>
    <dgm:cxn modelId="{CAC754ED-1802-7540-AA81-5AA54386572F}" type="presParOf" srcId="{C0E851FD-848F-6E4A-839F-74A17081D4FD}" destId="{DD6D8D49-C69F-E641-80F7-C269E589D30D}" srcOrd="0" destOrd="0" presId="urn:microsoft.com/office/officeart/2005/8/layout/hierarchy2"/>
    <dgm:cxn modelId="{47725C58-01B6-9444-9DF7-92DA65294060}" type="presParOf" srcId="{C0E851FD-848F-6E4A-839F-74A17081D4FD}" destId="{96B91848-EE19-AC49-923E-9D6FB80885F4}"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 qsCatId="simple" csTypeId="urn:microsoft.com/office/officeart/2005/8/colors/colorful3"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prévu</a:t>
          </a:r>
        </a:p>
        <a:p>
          <a:r>
            <a:rPr lang="fr-CA" dirty="0"/>
            <a:t> </a:t>
          </a:r>
          <a:r>
            <a:rPr lang="fr-CA" b="1" dirty="0">
              <a:solidFill>
                <a:srgbClr val="7030A0"/>
              </a:solidFill>
            </a:rPr>
            <a:t>90 000 $</a:t>
          </a:r>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Capitaux investis</a:t>
          </a:r>
        </a:p>
        <a:p>
          <a:r>
            <a:rPr lang="fr-FR" b="1" dirty="0"/>
            <a:t>Budgétés</a:t>
          </a:r>
        </a:p>
        <a:p>
          <a:r>
            <a:rPr lang="fr-FR" b="1" dirty="0">
              <a:solidFill>
                <a:srgbClr val="7030A0"/>
              </a:solidFill>
            </a:rPr>
            <a:t>1 000 000 $</a:t>
          </a:r>
          <a:endParaRPr lang="fr-CA" dirty="0">
            <a:solidFill>
              <a:srgbClr val="7030A0"/>
            </a:solidFill>
          </a:endParaRPr>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custScaleY="199346">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custScaleY="168185">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 qsCatId="simple" csTypeId="urn:microsoft.com/office/officeart/2005/8/colors/colorful3"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prévu</a:t>
          </a:r>
        </a:p>
        <a:p>
          <a:r>
            <a:rPr lang="fr-CA" dirty="0"/>
            <a:t> </a:t>
          </a:r>
          <a:r>
            <a:rPr lang="fr-CA" b="1" dirty="0">
              <a:solidFill>
                <a:srgbClr val="7030A0"/>
              </a:solidFill>
            </a:rPr>
            <a:t>90 000 $</a:t>
          </a:r>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Capitaux investis</a:t>
          </a:r>
        </a:p>
        <a:p>
          <a:r>
            <a:rPr lang="fr-FR" b="1" dirty="0"/>
            <a:t>Budgétés</a:t>
          </a:r>
        </a:p>
        <a:p>
          <a:r>
            <a:rPr lang="fr-FR" b="1" dirty="0">
              <a:solidFill>
                <a:srgbClr val="7030A0"/>
              </a:solidFill>
            </a:rPr>
            <a:t>1 000 000 $</a:t>
          </a:r>
          <a:endParaRPr lang="fr-CA" dirty="0">
            <a:solidFill>
              <a:srgbClr val="7030A0"/>
            </a:solidFill>
          </a:endParaRPr>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custScaleY="199346">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custScaleY="168185">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 qsCatId="simple" csTypeId="urn:microsoft.com/office/officeart/2005/8/colors/colorful3"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prévu</a:t>
          </a:r>
        </a:p>
        <a:p>
          <a:r>
            <a:rPr lang="fr-CA" dirty="0"/>
            <a:t> </a:t>
          </a:r>
          <a:r>
            <a:rPr lang="fr-CA" b="1" dirty="0">
              <a:solidFill>
                <a:srgbClr val="7030A0"/>
              </a:solidFill>
            </a:rPr>
            <a:t>90 000 $</a:t>
          </a:r>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Capitaux investis</a:t>
          </a:r>
        </a:p>
        <a:p>
          <a:r>
            <a:rPr lang="fr-FR" b="1" dirty="0"/>
            <a:t>Budgétés</a:t>
          </a:r>
        </a:p>
        <a:p>
          <a:r>
            <a:rPr lang="fr-FR" b="1" dirty="0">
              <a:solidFill>
                <a:srgbClr val="7030A0"/>
              </a:solidFill>
            </a:rPr>
            <a:t>1 000 000 $</a:t>
          </a:r>
          <a:endParaRPr lang="fr-CA" dirty="0">
            <a:solidFill>
              <a:srgbClr val="7030A0"/>
            </a:solidFill>
          </a:endParaRPr>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custScaleY="199346">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custScaleY="168185">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AE4A68-BBE5-4626-8F10-19033BE53DA3}" type="doc">
      <dgm:prSet loTypeId="urn:microsoft.com/office/officeart/2005/8/layout/cycle5" loCatId="cycle" qsTypeId="urn:microsoft.com/office/officeart/2005/8/quickstyle/simple1" qsCatId="simple" csTypeId="urn:microsoft.com/office/officeart/2005/8/colors/accent3_1" csCatId="accent3" phldr="1"/>
      <dgm:spPr/>
      <dgm:t>
        <a:bodyPr/>
        <a:lstStyle/>
        <a:p>
          <a:endParaRPr lang="fr-CA"/>
        </a:p>
      </dgm:t>
    </dgm:pt>
    <dgm:pt modelId="{FE52BB90-1F6F-4B49-89DD-55E5409F898C}">
      <dgm:prSet phldrT="[Texte]"/>
      <dgm:spPr>
        <a:ln w="28575">
          <a:solidFill>
            <a:schemeClr val="accent3"/>
          </a:solidFill>
        </a:ln>
      </dgm:spPr>
      <dgm:t>
        <a:bodyPr/>
        <a:lstStyle/>
        <a:p>
          <a:r>
            <a:rPr lang="fr-CA"/>
            <a:t>Dimension  Financière</a:t>
          </a:r>
        </a:p>
      </dgm:t>
    </dgm:pt>
    <dgm:pt modelId="{EA49386E-22B4-443C-BDC3-B3889337702C}" type="parTrans" cxnId="{CD3702BA-411D-4F06-8344-F37E4B074696}">
      <dgm:prSet/>
      <dgm:spPr/>
      <dgm:t>
        <a:bodyPr/>
        <a:lstStyle/>
        <a:p>
          <a:endParaRPr lang="fr-CA"/>
        </a:p>
      </dgm:t>
    </dgm:pt>
    <dgm:pt modelId="{AEA42EFD-5FF1-4B3A-BBA1-4AB1CC5853A9}" type="sibTrans" cxnId="{CD3702BA-411D-4F06-8344-F37E4B074696}">
      <dgm:prSet/>
      <dgm:spPr>
        <a:ln w="57150">
          <a:headEnd type="triangle" w="med" len="med"/>
          <a:tailEnd type="triangle" w="med" len="med"/>
        </a:ln>
      </dgm:spPr>
      <dgm:t>
        <a:bodyPr/>
        <a:lstStyle/>
        <a:p>
          <a:endParaRPr lang="fr-CA"/>
        </a:p>
      </dgm:t>
    </dgm:pt>
    <dgm:pt modelId="{8A3E2399-C597-4151-967D-0987C2B2B5DB}">
      <dgm:prSet phldrT="[Texte]"/>
      <dgm:spPr>
        <a:ln w="28575">
          <a:solidFill>
            <a:schemeClr val="accent3"/>
          </a:solidFill>
        </a:ln>
      </dgm:spPr>
      <dgm:t>
        <a:bodyPr/>
        <a:lstStyle/>
        <a:p>
          <a:r>
            <a:rPr lang="fr-CA"/>
            <a:t>Dimension </a:t>
          </a:r>
        </a:p>
        <a:p>
          <a:r>
            <a:rPr lang="fr-CA"/>
            <a:t>Innovation et apprentissage</a:t>
          </a:r>
        </a:p>
      </dgm:t>
    </dgm:pt>
    <dgm:pt modelId="{E5948694-B7E4-46EE-858D-ED797431D43B}" type="parTrans" cxnId="{159BE68B-CC2A-431F-AC79-32996106E9EA}">
      <dgm:prSet/>
      <dgm:spPr/>
      <dgm:t>
        <a:bodyPr/>
        <a:lstStyle/>
        <a:p>
          <a:endParaRPr lang="fr-CA"/>
        </a:p>
      </dgm:t>
    </dgm:pt>
    <dgm:pt modelId="{85AE0A90-F4B5-454F-886C-310CE4DA5C4F}" type="sibTrans" cxnId="{159BE68B-CC2A-431F-AC79-32996106E9EA}">
      <dgm:prSet/>
      <dgm:spPr>
        <a:ln w="57150">
          <a:headEnd type="triangle" w="med" len="med"/>
          <a:tailEnd type="triangle" w="med" len="med"/>
        </a:ln>
      </dgm:spPr>
      <dgm:t>
        <a:bodyPr/>
        <a:lstStyle/>
        <a:p>
          <a:endParaRPr lang="fr-CA"/>
        </a:p>
      </dgm:t>
    </dgm:pt>
    <dgm:pt modelId="{F0673885-38EC-4BED-9438-2C39FFD41BE6}">
      <dgm:prSet phldrT="[Texte]"/>
      <dgm:spPr>
        <a:ln w="28575">
          <a:solidFill>
            <a:schemeClr val="accent3"/>
          </a:solidFill>
        </a:ln>
      </dgm:spPr>
      <dgm:t>
        <a:bodyPr/>
        <a:lstStyle/>
        <a:p>
          <a:pPr algn="r"/>
          <a:r>
            <a:rPr lang="fr-CA" dirty="0"/>
            <a:t>Dimension                                                   processus internes et employés</a:t>
          </a:r>
        </a:p>
      </dgm:t>
    </dgm:pt>
    <dgm:pt modelId="{E6F3F47E-F884-4DD7-B0A8-C749C4832923}" type="parTrans" cxnId="{1A43C521-1FED-4284-B571-BEA29E177B38}">
      <dgm:prSet/>
      <dgm:spPr/>
      <dgm:t>
        <a:bodyPr/>
        <a:lstStyle/>
        <a:p>
          <a:endParaRPr lang="fr-CA"/>
        </a:p>
      </dgm:t>
    </dgm:pt>
    <dgm:pt modelId="{60594A41-A105-463A-9CDB-FBEDF40D8317}" type="sibTrans" cxnId="{1A43C521-1FED-4284-B571-BEA29E177B38}">
      <dgm:prSet/>
      <dgm:spPr>
        <a:ln w="57150">
          <a:headEnd type="triangle" w="med" len="med"/>
          <a:tailEnd type="triangle" w="med" len="med"/>
        </a:ln>
      </dgm:spPr>
      <dgm:t>
        <a:bodyPr/>
        <a:lstStyle/>
        <a:p>
          <a:endParaRPr lang="fr-CA"/>
        </a:p>
      </dgm:t>
    </dgm:pt>
    <dgm:pt modelId="{7F0ADB6D-5079-4C00-9EBB-6B53B588041D}">
      <dgm:prSet phldrT="[Texte]"/>
      <dgm:spPr>
        <a:ln w="28575">
          <a:solidFill>
            <a:schemeClr val="accent3"/>
          </a:solidFill>
        </a:ln>
      </dgm:spPr>
      <dgm:t>
        <a:bodyPr/>
        <a:lstStyle/>
        <a:p>
          <a:pPr algn="r"/>
          <a:r>
            <a:rPr lang="fr-CA" dirty="0"/>
            <a:t>Dimension Client</a:t>
          </a:r>
        </a:p>
      </dgm:t>
    </dgm:pt>
    <dgm:pt modelId="{7CCB9133-8695-4C76-BB51-82552DA99751}" type="parTrans" cxnId="{D930C559-15CF-44C7-BE2D-EAFA2EAC2AF3}">
      <dgm:prSet/>
      <dgm:spPr/>
      <dgm:t>
        <a:bodyPr/>
        <a:lstStyle/>
        <a:p>
          <a:endParaRPr lang="fr-CA"/>
        </a:p>
      </dgm:t>
    </dgm:pt>
    <dgm:pt modelId="{A2F05B35-750B-42AF-A4ED-60E5112188EF}" type="sibTrans" cxnId="{D930C559-15CF-44C7-BE2D-EAFA2EAC2AF3}">
      <dgm:prSet/>
      <dgm:spPr>
        <a:ln w="57150">
          <a:headEnd type="triangle" w="med" len="med"/>
          <a:tailEnd type="triangle" w="med" len="med"/>
        </a:ln>
      </dgm:spPr>
      <dgm:t>
        <a:bodyPr/>
        <a:lstStyle/>
        <a:p>
          <a:endParaRPr lang="fr-CA"/>
        </a:p>
      </dgm:t>
    </dgm:pt>
    <dgm:pt modelId="{4E6FF98D-321D-40FE-B559-8D429F87201D}" type="pres">
      <dgm:prSet presAssocID="{AFAE4A68-BBE5-4626-8F10-19033BE53DA3}" presName="cycle" presStyleCnt="0">
        <dgm:presLayoutVars>
          <dgm:dir/>
          <dgm:resizeHandles val="exact"/>
        </dgm:presLayoutVars>
      </dgm:prSet>
      <dgm:spPr/>
    </dgm:pt>
    <dgm:pt modelId="{EFCECAA4-A535-43DC-AA44-36D7A52F4982}" type="pres">
      <dgm:prSet presAssocID="{FE52BB90-1F6F-4B49-89DD-55E5409F898C}" presName="node" presStyleLbl="node1" presStyleIdx="0" presStyleCnt="4" custScaleX="163146" custScaleY="100115" custRadScaleRad="90332" custRadScaleInc="-20865">
        <dgm:presLayoutVars>
          <dgm:bulletEnabled val="1"/>
        </dgm:presLayoutVars>
      </dgm:prSet>
      <dgm:spPr/>
    </dgm:pt>
    <dgm:pt modelId="{3C59D5D4-54A5-4D4C-BE24-04AF6B323E47}" type="pres">
      <dgm:prSet presAssocID="{FE52BB90-1F6F-4B49-89DD-55E5409F898C}" presName="spNode" presStyleCnt="0"/>
      <dgm:spPr/>
    </dgm:pt>
    <dgm:pt modelId="{339C4270-9DBD-48C6-BB9E-8F6FA8021825}" type="pres">
      <dgm:prSet presAssocID="{AEA42EFD-5FF1-4B3A-BBA1-4AB1CC5853A9}" presName="sibTrans" presStyleLbl="sibTrans1D1" presStyleIdx="0" presStyleCnt="4"/>
      <dgm:spPr/>
    </dgm:pt>
    <dgm:pt modelId="{754AEFBF-BF5B-4BF8-BA20-666AE5D119B6}" type="pres">
      <dgm:prSet presAssocID="{8A3E2399-C597-4151-967D-0987C2B2B5DB}" presName="node" presStyleLbl="node1" presStyleIdx="1" presStyleCnt="4" custScaleX="207921" custScaleY="137481" custRadScaleRad="165733" custRadScaleInc="-3583">
        <dgm:presLayoutVars>
          <dgm:bulletEnabled val="1"/>
        </dgm:presLayoutVars>
      </dgm:prSet>
      <dgm:spPr/>
    </dgm:pt>
    <dgm:pt modelId="{0B13B4C0-4ADE-41FD-82A2-24A31B6C37C8}" type="pres">
      <dgm:prSet presAssocID="{8A3E2399-C597-4151-967D-0987C2B2B5DB}" presName="spNode" presStyleCnt="0"/>
      <dgm:spPr/>
    </dgm:pt>
    <dgm:pt modelId="{118AE932-1345-475E-9031-5A2B23471C87}" type="pres">
      <dgm:prSet presAssocID="{85AE0A90-F4B5-454F-886C-310CE4DA5C4F}" presName="sibTrans" presStyleLbl="sibTrans1D1" presStyleIdx="1" presStyleCnt="4"/>
      <dgm:spPr/>
    </dgm:pt>
    <dgm:pt modelId="{9B2EAF18-24BB-4566-9487-DF6EA83278CA}" type="pres">
      <dgm:prSet presAssocID="{F0673885-38EC-4BED-9438-2C39FFD41BE6}" presName="node" presStyleLbl="node1" presStyleIdx="2" presStyleCnt="4" custScaleX="263780" custScaleY="118539" custRadScaleRad="102081" custRadScaleInc="-211">
        <dgm:presLayoutVars>
          <dgm:bulletEnabled val="1"/>
        </dgm:presLayoutVars>
      </dgm:prSet>
      <dgm:spPr/>
    </dgm:pt>
    <dgm:pt modelId="{8449E45B-2243-44F2-805A-B7E7FC758D25}" type="pres">
      <dgm:prSet presAssocID="{F0673885-38EC-4BED-9438-2C39FFD41BE6}" presName="spNode" presStyleCnt="0"/>
      <dgm:spPr/>
    </dgm:pt>
    <dgm:pt modelId="{6006BCE1-2966-4048-A304-6D473211ED52}" type="pres">
      <dgm:prSet presAssocID="{60594A41-A105-463A-9CDB-FBEDF40D8317}" presName="sibTrans" presStyleLbl="sibTrans1D1" presStyleIdx="2" presStyleCnt="4"/>
      <dgm:spPr/>
    </dgm:pt>
    <dgm:pt modelId="{9A5088A2-E7DE-4413-9101-5316C8EB15CA}" type="pres">
      <dgm:prSet presAssocID="{7F0ADB6D-5079-4C00-9EBB-6B53B588041D}" presName="node" presStyleLbl="node1" presStyleIdx="3" presStyleCnt="4" custScaleX="169277" custScaleY="97471" custRadScaleRad="165899" custRadScaleInc="3579">
        <dgm:presLayoutVars>
          <dgm:bulletEnabled val="1"/>
        </dgm:presLayoutVars>
      </dgm:prSet>
      <dgm:spPr/>
    </dgm:pt>
    <dgm:pt modelId="{A554A3EA-9419-403C-B274-8587ED002777}" type="pres">
      <dgm:prSet presAssocID="{7F0ADB6D-5079-4C00-9EBB-6B53B588041D}" presName="spNode" presStyleCnt="0"/>
      <dgm:spPr/>
    </dgm:pt>
    <dgm:pt modelId="{2B4E7DF4-7630-4CC5-9677-71C0AA5C8821}" type="pres">
      <dgm:prSet presAssocID="{A2F05B35-750B-42AF-A4ED-60E5112188EF}" presName="sibTrans" presStyleLbl="sibTrans1D1" presStyleIdx="3" presStyleCnt="4"/>
      <dgm:spPr/>
    </dgm:pt>
  </dgm:ptLst>
  <dgm:cxnLst>
    <dgm:cxn modelId="{2830D220-1AE5-4EB7-BA23-7736F809A140}" type="presOf" srcId="{AEA42EFD-5FF1-4B3A-BBA1-4AB1CC5853A9}" destId="{339C4270-9DBD-48C6-BB9E-8F6FA8021825}" srcOrd="0" destOrd="0" presId="urn:microsoft.com/office/officeart/2005/8/layout/cycle5"/>
    <dgm:cxn modelId="{1A43C521-1FED-4284-B571-BEA29E177B38}" srcId="{AFAE4A68-BBE5-4626-8F10-19033BE53DA3}" destId="{F0673885-38EC-4BED-9438-2C39FFD41BE6}" srcOrd="2" destOrd="0" parTransId="{E6F3F47E-F884-4DD7-B0A8-C749C4832923}" sibTransId="{60594A41-A105-463A-9CDB-FBEDF40D8317}"/>
    <dgm:cxn modelId="{07AB142D-395B-477D-81AD-C83DBDAFE4E2}" type="presOf" srcId="{60594A41-A105-463A-9CDB-FBEDF40D8317}" destId="{6006BCE1-2966-4048-A304-6D473211ED52}" srcOrd="0" destOrd="0" presId="urn:microsoft.com/office/officeart/2005/8/layout/cycle5"/>
    <dgm:cxn modelId="{252EB562-8B9E-40AC-AA91-7173F0EC7628}" type="presOf" srcId="{7F0ADB6D-5079-4C00-9EBB-6B53B588041D}" destId="{9A5088A2-E7DE-4413-9101-5316C8EB15CA}" srcOrd="0" destOrd="0" presId="urn:microsoft.com/office/officeart/2005/8/layout/cycle5"/>
    <dgm:cxn modelId="{D930C559-15CF-44C7-BE2D-EAFA2EAC2AF3}" srcId="{AFAE4A68-BBE5-4626-8F10-19033BE53DA3}" destId="{7F0ADB6D-5079-4C00-9EBB-6B53B588041D}" srcOrd="3" destOrd="0" parTransId="{7CCB9133-8695-4C76-BB51-82552DA99751}" sibTransId="{A2F05B35-750B-42AF-A4ED-60E5112188EF}"/>
    <dgm:cxn modelId="{54CB6D5A-5020-472A-AF7B-41EE8B8389A9}" type="presOf" srcId="{85AE0A90-F4B5-454F-886C-310CE4DA5C4F}" destId="{118AE932-1345-475E-9031-5A2B23471C87}" srcOrd="0" destOrd="0" presId="urn:microsoft.com/office/officeart/2005/8/layout/cycle5"/>
    <dgm:cxn modelId="{B9BC9C81-3428-4D4F-AC11-F972D9DBE9ED}" type="presOf" srcId="{8A3E2399-C597-4151-967D-0987C2B2B5DB}" destId="{754AEFBF-BF5B-4BF8-BA20-666AE5D119B6}" srcOrd="0" destOrd="0" presId="urn:microsoft.com/office/officeart/2005/8/layout/cycle5"/>
    <dgm:cxn modelId="{159BE68B-CC2A-431F-AC79-32996106E9EA}" srcId="{AFAE4A68-BBE5-4626-8F10-19033BE53DA3}" destId="{8A3E2399-C597-4151-967D-0987C2B2B5DB}" srcOrd="1" destOrd="0" parTransId="{E5948694-B7E4-46EE-858D-ED797431D43B}" sibTransId="{85AE0A90-F4B5-454F-886C-310CE4DA5C4F}"/>
    <dgm:cxn modelId="{CD3702BA-411D-4F06-8344-F37E4B074696}" srcId="{AFAE4A68-BBE5-4626-8F10-19033BE53DA3}" destId="{FE52BB90-1F6F-4B49-89DD-55E5409F898C}" srcOrd="0" destOrd="0" parTransId="{EA49386E-22B4-443C-BDC3-B3889337702C}" sibTransId="{AEA42EFD-5FF1-4B3A-BBA1-4AB1CC5853A9}"/>
    <dgm:cxn modelId="{00D4C6BD-18EF-4C64-86E4-436E9367F6FD}" type="presOf" srcId="{F0673885-38EC-4BED-9438-2C39FFD41BE6}" destId="{9B2EAF18-24BB-4566-9487-DF6EA83278CA}" srcOrd="0" destOrd="0" presId="urn:microsoft.com/office/officeart/2005/8/layout/cycle5"/>
    <dgm:cxn modelId="{33DFE0C3-4D17-4101-B7F4-69BA178CAF02}" type="presOf" srcId="{A2F05B35-750B-42AF-A4ED-60E5112188EF}" destId="{2B4E7DF4-7630-4CC5-9677-71C0AA5C8821}" srcOrd="0" destOrd="0" presId="urn:microsoft.com/office/officeart/2005/8/layout/cycle5"/>
    <dgm:cxn modelId="{01FE2ACE-58FB-4EA7-BABC-4078F79C8963}" type="presOf" srcId="{FE52BB90-1F6F-4B49-89DD-55E5409F898C}" destId="{EFCECAA4-A535-43DC-AA44-36D7A52F4982}" srcOrd="0" destOrd="0" presId="urn:microsoft.com/office/officeart/2005/8/layout/cycle5"/>
    <dgm:cxn modelId="{AC9085D8-F406-4EEA-A8BB-CC5E2E69F294}" type="presOf" srcId="{AFAE4A68-BBE5-4626-8F10-19033BE53DA3}" destId="{4E6FF98D-321D-40FE-B559-8D429F87201D}" srcOrd="0" destOrd="0" presId="urn:microsoft.com/office/officeart/2005/8/layout/cycle5"/>
    <dgm:cxn modelId="{A11E71F4-6B20-423F-A8AF-F8F0307C9AD7}" type="presParOf" srcId="{4E6FF98D-321D-40FE-B559-8D429F87201D}" destId="{EFCECAA4-A535-43DC-AA44-36D7A52F4982}" srcOrd="0" destOrd="0" presId="urn:microsoft.com/office/officeart/2005/8/layout/cycle5"/>
    <dgm:cxn modelId="{569C7BCC-AC4C-4861-982E-A704F91F6751}" type="presParOf" srcId="{4E6FF98D-321D-40FE-B559-8D429F87201D}" destId="{3C59D5D4-54A5-4D4C-BE24-04AF6B323E47}" srcOrd="1" destOrd="0" presId="urn:microsoft.com/office/officeart/2005/8/layout/cycle5"/>
    <dgm:cxn modelId="{3F9F8CE6-AC3C-4AF3-9213-C776FC018667}" type="presParOf" srcId="{4E6FF98D-321D-40FE-B559-8D429F87201D}" destId="{339C4270-9DBD-48C6-BB9E-8F6FA8021825}" srcOrd="2" destOrd="0" presId="urn:microsoft.com/office/officeart/2005/8/layout/cycle5"/>
    <dgm:cxn modelId="{B3825C84-5D4C-430B-9389-45BBAF9E0E3F}" type="presParOf" srcId="{4E6FF98D-321D-40FE-B559-8D429F87201D}" destId="{754AEFBF-BF5B-4BF8-BA20-666AE5D119B6}" srcOrd="3" destOrd="0" presId="urn:microsoft.com/office/officeart/2005/8/layout/cycle5"/>
    <dgm:cxn modelId="{21429801-8059-4BFD-8C6F-69446672A8C4}" type="presParOf" srcId="{4E6FF98D-321D-40FE-B559-8D429F87201D}" destId="{0B13B4C0-4ADE-41FD-82A2-24A31B6C37C8}" srcOrd="4" destOrd="0" presId="urn:microsoft.com/office/officeart/2005/8/layout/cycle5"/>
    <dgm:cxn modelId="{DFE9E76D-9A85-4ABD-8DB1-D5CA0FB1D887}" type="presParOf" srcId="{4E6FF98D-321D-40FE-B559-8D429F87201D}" destId="{118AE932-1345-475E-9031-5A2B23471C87}" srcOrd="5" destOrd="0" presId="urn:microsoft.com/office/officeart/2005/8/layout/cycle5"/>
    <dgm:cxn modelId="{89849C46-9B85-4014-87CB-19816653E2EE}" type="presParOf" srcId="{4E6FF98D-321D-40FE-B559-8D429F87201D}" destId="{9B2EAF18-24BB-4566-9487-DF6EA83278CA}" srcOrd="6" destOrd="0" presId="urn:microsoft.com/office/officeart/2005/8/layout/cycle5"/>
    <dgm:cxn modelId="{5A53A0D2-8267-40BC-9CA2-550E61E975F3}" type="presParOf" srcId="{4E6FF98D-321D-40FE-B559-8D429F87201D}" destId="{8449E45B-2243-44F2-805A-B7E7FC758D25}" srcOrd="7" destOrd="0" presId="urn:microsoft.com/office/officeart/2005/8/layout/cycle5"/>
    <dgm:cxn modelId="{92BF83E5-EE13-4FE6-8526-A3ACC8EFB92E}" type="presParOf" srcId="{4E6FF98D-321D-40FE-B559-8D429F87201D}" destId="{6006BCE1-2966-4048-A304-6D473211ED52}" srcOrd="8" destOrd="0" presId="urn:microsoft.com/office/officeart/2005/8/layout/cycle5"/>
    <dgm:cxn modelId="{FB4FEF1D-55BB-4D4A-A377-BFBB3361B695}" type="presParOf" srcId="{4E6FF98D-321D-40FE-B559-8D429F87201D}" destId="{9A5088A2-E7DE-4413-9101-5316C8EB15CA}" srcOrd="9" destOrd="0" presId="urn:microsoft.com/office/officeart/2005/8/layout/cycle5"/>
    <dgm:cxn modelId="{8EC9E5A1-DC37-4586-B1B1-D641262B4C4A}" type="presParOf" srcId="{4E6FF98D-321D-40FE-B559-8D429F87201D}" destId="{A554A3EA-9419-403C-B274-8587ED002777}" srcOrd="10" destOrd="0" presId="urn:microsoft.com/office/officeart/2005/8/layout/cycle5"/>
    <dgm:cxn modelId="{63A3F110-BCDC-42DF-B566-3DBBF4FAD15B}" type="presParOf" srcId="{4E6FF98D-321D-40FE-B559-8D429F87201D}" destId="{2B4E7DF4-7630-4CC5-9677-71C0AA5C8821}" srcOrd="11" destOrd="0" presId="urn:microsoft.com/office/officeart/2005/8/layout/cycle5"/>
  </dgm:cxnLst>
  <dgm:bg>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bg>
  <dgm:whole/>
  <dgm:extLst>
    <a:ext uri="http://schemas.microsoft.com/office/drawing/2008/diagram">
      <dsp:dataModelExt xmlns:dsp="http://schemas.microsoft.com/office/drawing/2008/diagram" relId="rId1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4EE3F27-8E3F-4F00-B620-5CB0342E09EE}" type="doc">
      <dgm:prSet loTypeId="urn:microsoft.com/office/officeart/2008/layout/LinedList" loCatId="list" qsTypeId="urn:microsoft.com/office/officeart/2005/8/quickstyle/simple4" qsCatId="simple" csTypeId="urn:microsoft.com/office/officeart/2005/8/colors/accent6_2" csCatId="accent6" phldr="1"/>
      <dgm:spPr/>
      <dgm:t>
        <a:bodyPr/>
        <a:lstStyle/>
        <a:p>
          <a:endParaRPr lang="en-US"/>
        </a:p>
      </dgm:t>
    </dgm:pt>
    <dgm:pt modelId="{E1FACE0F-1D76-4A75-95C9-900C7335F838}">
      <dgm:prSet/>
      <dgm:spPr/>
      <dgm:t>
        <a:bodyPr anchor="ctr"/>
        <a:lstStyle/>
        <a:p>
          <a:r>
            <a:rPr lang="fr-CA" noProof="0" dirty="0">
              <a:latin typeface="Calibri Light" panose="020F0302020204030204"/>
            </a:rPr>
            <a:t>La</a:t>
          </a:r>
          <a:r>
            <a:rPr lang="fr-CA" noProof="0" dirty="0"/>
            <a:t> proposition stratégique</a:t>
          </a:r>
          <a:r>
            <a:rPr lang="fr-CA" noProof="0" dirty="0">
              <a:latin typeface="Calibri Light" panose="020F0302020204030204"/>
            </a:rPr>
            <a:t> </a:t>
          </a:r>
          <a:r>
            <a:rPr lang="fr-CA" noProof="0" dirty="0"/>
            <a:t>de Biscuiteries de Montmagny</a:t>
          </a:r>
          <a:r>
            <a:rPr lang="fr-CA" noProof="0" dirty="0">
              <a:latin typeface="Calibri Light" panose="020F0302020204030204"/>
            </a:rPr>
            <a:t> </a:t>
          </a:r>
          <a:r>
            <a:rPr lang="fr-CA" noProof="0" dirty="0"/>
            <a:t>est formulée en ces termes : « Proposer des biscuits d’une qualité irréprochable et utilisant exclusivement des produits locaux afin d’offrir à nos clients une expérience gustative inégalée ».</a:t>
          </a:r>
        </a:p>
      </dgm:t>
    </dgm:pt>
    <dgm:pt modelId="{9C43572D-8073-42A7-A8F2-D63D8AFCE40F}" type="parTrans" cxnId="{D4F29ECE-8B8A-4531-BB77-B909418DEF0E}">
      <dgm:prSet/>
      <dgm:spPr/>
      <dgm:t>
        <a:bodyPr/>
        <a:lstStyle/>
        <a:p>
          <a:endParaRPr lang="en-US"/>
        </a:p>
      </dgm:t>
    </dgm:pt>
    <dgm:pt modelId="{BFA427CE-5585-411D-9E9F-9D3C2C6AB54A}" type="sibTrans" cxnId="{D4F29ECE-8B8A-4531-BB77-B909418DEF0E}">
      <dgm:prSet/>
      <dgm:spPr/>
      <dgm:t>
        <a:bodyPr/>
        <a:lstStyle/>
        <a:p>
          <a:endParaRPr lang="en-US"/>
        </a:p>
      </dgm:t>
    </dgm:pt>
    <dgm:pt modelId="{C157F255-4591-4E40-9AB3-FB3166C76501}">
      <dgm:prSet/>
      <dgm:spPr/>
      <dgm:t>
        <a:bodyPr anchor="ctr"/>
        <a:lstStyle/>
        <a:p>
          <a:r>
            <a:rPr lang="fr-CA" noProof="0" dirty="0"/>
            <a:t>La performance et la rémunération seront basées sur l’atteinte de cibles liées aux indicateurs de performance répertoriés dans le tableau de bord.</a:t>
          </a:r>
        </a:p>
      </dgm:t>
    </dgm:pt>
    <dgm:pt modelId="{2A41F7CD-A5FF-4B6A-87B5-8E1412785397}" type="parTrans" cxnId="{D0D054DA-4E96-42D5-AF86-D9BF9DAF7723}">
      <dgm:prSet/>
      <dgm:spPr/>
      <dgm:t>
        <a:bodyPr/>
        <a:lstStyle/>
        <a:p>
          <a:endParaRPr lang="en-US"/>
        </a:p>
      </dgm:t>
    </dgm:pt>
    <dgm:pt modelId="{0E3A1402-5874-4605-981C-BC2DB2E0109D}" type="sibTrans" cxnId="{D0D054DA-4E96-42D5-AF86-D9BF9DAF7723}">
      <dgm:prSet/>
      <dgm:spPr/>
      <dgm:t>
        <a:bodyPr/>
        <a:lstStyle/>
        <a:p>
          <a:endParaRPr lang="en-US"/>
        </a:p>
      </dgm:t>
    </dgm:pt>
    <dgm:pt modelId="{A1FC5987-CF2B-4F37-B029-06F4D0F42643}">
      <dgm:prSet/>
      <dgm:spPr/>
      <dgm:t>
        <a:bodyPr/>
        <a:lstStyle/>
        <a:p>
          <a:r>
            <a:rPr lang="fr-CA" b="1" noProof="0"/>
            <a:t>Identifier des lacunes dans le tableau de bord proposé en expliquant pourquoi vous considérez que ce sont des lacunes </a:t>
          </a:r>
          <a:endParaRPr lang="fr-CA" noProof="0"/>
        </a:p>
      </dgm:t>
    </dgm:pt>
    <dgm:pt modelId="{A351D17B-9561-4BB0-8E98-5FAA93AB2FA0}" type="parTrans" cxnId="{36BCC9CA-DE89-43F7-AA8A-F9DFAD73FB47}">
      <dgm:prSet/>
      <dgm:spPr/>
      <dgm:t>
        <a:bodyPr/>
        <a:lstStyle/>
        <a:p>
          <a:endParaRPr lang="en-US"/>
        </a:p>
      </dgm:t>
    </dgm:pt>
    <dgm:pt modelId="{8878199A-0A63-4B19-89A6-A4B0D5C711B9}" type="sibTrans" cxnId="{36BCC9CA-DE89-43F7-AA8A-F9DFAD73FB47}">
      <dgm:prSet/>
      <dgm:spPr/>
      <dgm:t>
        <a:bodyPr/>
        <a:lstStyle/>
        <a:p>
          <a:endParaRPr lang="en-US"/>
        </a:p>
      </dgm:t>
    </dgm:pt>
    <dgm:pt modelId="{C7EE7961-8881-49EA-96C8-F6036871AF11}">
      <dgm:prSet phldr="0"/>
      <dgm:spPr/>
      <dgm:t>
        <a:bodyPr anchor="ctr"/>
        <a:lstStyle/>
        <a:p>
          <a:r>
            <a:rPr lang="fr-CA" b="0" noProof="0"/>
            <a:t>Le tableau de bord développé par le directeur général  est présenté à la page suivante </a:t>
          </a:r>
          <a:endParaRPr lang="fr-CA" b="0" noProof="0">
            <a:latin typeface="Calibri Light" panose="020F0302020204030204"/>
          </a:endParaRPr>
        </a:p>
      </dgm:t>
    </dgm:pt>
    <dgm:pt modelId="{17109846-A83D-4EFA-8B26-3DAF1E46FF59}" type="parTrans" cxnId="{92131685-115E-4B49-9057-E1A9BD7EFEE8}">
      <dgm:prSet/>
      <dgm:spPr/>
      <dgm:t>
        <a:bodyPr/>
        <a:lstStyle/>
        <a:p>
          <a:endParaRPr lang="fr-CA"/>
        </a:p>
      </dgm:t>
    </dgm:pt>
    <dgm:pt modelId="{6E0D37C4-4C1A-450F-88B6-341F699277EE}" type="sibTrans" cxnId="{92131685-115E-4B49-9057-E1A9BD7EFEE8}">
      <dgm:prSet/>
      <dgm:spPr/>
      <dgm:t>
        <a:bodyPr/>
        <a:lstStyle/>
        <a:p>
          <a:endParaRPr lang="en-US"/>
        </a:p>
      </dgm:t>
    </dgm:pt>
    <dgm:pt modelId="{88608577-3225-438E-A9B2-4E8ACA8D7EFE}" type="pres">
      <dgm:prSet presAssocID="{54EE3F27-8E3F-4F00-B620-5CB0342E09EE}" presName="vert0" presStyleCnt="0">
        <dgm:presLayoutVars>
          <dgm:dir/>
          <dgm:animOne val="branch"/>
          <dgm:animLvl val="lvl"/>
        </dgm:presLayoutVars>
      </dgm:prSet>
      <dgm:spPr/>
    </dgm:pt>
    <dgm:pt modelId="{D07126B6-BA02-47E0-B12B-556E6C23F9FB}" type="pres">
      <dgm:prSet presAssocID="{E1FACE0F-1D76-4A75-95C9-900C7335F838}" presName="thickLine" presStyleLbl="alignNode1" presStyleIdx="0" presStyleCnt="4"/>
      <dgm:spPr/>
    </dgm:pt>
    <dgm:pt modelId="{85CEC4D7-26F2-46E8-BB6B-A6E423EC4971}" type="pres">
      <dgm:prSet presAssocID="{E1FACE0F-1D76-4A75-95C9-900C7335F838}" presName="horz1" presStyleCnt="0"/>
      <dgm:spPr/>
    </dgm:pt>
    <dgm:pt modelId="{EDCA6300-A7D4-4559-8FCE-F520AB84264C}" type="pres">
      <dgm:prSet presAssocID="{E1FACE0F-1D76-4A75-95C9-900C7335F838}" presName="tx1" presStyleLbl="revTx" presStyleIdx="0" presStyleCnt="4"/>
      <dgm:spPr/>
    </dgm:pt>
    <dgm:pt modelId="{C1772856-6D54-4141-889D-0FC97CEFC41F}" type="pres">
      <dgm:prSet presAssocID="{E1FACE0F-1D76-4A75-95C9-900C7335F838}" presName="vert1" presStyleCnt="0"/>
      <dgm:spPr/>
    </dgm:pt>
    <dgm:pt modelId="{4EC36AD7-1A3F-4703-816D-B0E06D2FA2F1}" type="pres">
      <dgm:prSet presAssocID="{C157F255-4591-4E40-9AB3-FB3166C76501}" presName="thickLine" presStyleLbl="alignNode1" presStyleIdx="1" presStyleCnt="4"/>
      <dgm:spPr/>
    </dgm:pt>
    <dgm:pt modelId="{5ACB9131-C555-44AE-B780-6AE42C17DA46}" type="pres">
      <dgm:prSet presAssocID="{C157F255-4591-4E40-9AB3-FB3166C76501}" presName="horz1" presStyleCnt="0"/>
      <dgm:spPr/>
    </dgm:pt>
    <dgm:pt modelId="{34CCD608-3F5C-4E49-BDF8-F22F063F84B6}" type="pres">
      <dgm:prSet presAssocID="{C157F255-4591-4E40-9AB3-FB3166C76501}" presName="tx1" presStyleLbl="revTx" presStyleIdx="1" presStyleCnt="4"/>
      <dgm:spPr/>
    </dgm:pt>
    <dgm:pt modelId="{69077AE8-0D0A-4A28-B557-7A8B8FC8A55D}" type="pres">
      <dgm:prSet presAssocID="{C157F255-4591-4E40-9AB3-FB3166C76501}" presName="vert1" presStyleCnt="0"/>
      <dgm:spPr/>
    </dgm:pt>
    <dgm:pt modelId="{49FC9D1E-9A3A-4329-B283-B2F5C246AEEB}" type="pres">
      <dgm:prSet presAssocID="{C7EE7961-8881-49EA-96C8-F6036871AF11}" presName="thickLine" presStyleLbl="alignNode1" presStyleIdx="2" presStyleCnt="4"/>
      <dgm:spPr/>
    </dgm:pt>
    <dgm:pt modelId="{428A43CC-2D67-4570-B5AF-0721D99D101A}" type="pres">
      <dgm:prSet presAssocID="{C7EE7961-8881-49EA-96C8-F6036871AF11}" presName="horz1" presStyleCnt="0"/>
      <dgm:spPr/>
    </dgm:pt>
    <dgm:pt modelId="{D595403E-896E-4D12-8BCE-AE1BF5632B16}" type="pres">
      <dgm:prSet presAssocID="{C7EE7961-8881-49EA-96C8-F6036871AF11}" presName="tx1" presStyleLbl="revTx" presStyleIdx="2" presStyleCnt="4"/>
      <dgm:spPr/>
    </dgm:pt>
    <dgm:pt modelId="{7F9CFD22-CAB2-4577-A4FB-5C133D23A76A}" type="pres">
      <dgm:prSet presAssocID="{C7EE7961-8881-49EA-96C8-F6036871AF11}" presName="vert1" presStyleCnt="0"/>
      <dgm:spPr/>
    </dgm:pt>
    <dgm:pt modelId="{67A0E5A9-1108-4F2A-AFC2-3DA02FDB3812}" type="pres">
      <dgm:prSet presAssocID="{A1FC5987-CF2B-4F37-B029-06F4D0F42643}" presName="thickLine" presStyleLbl="alignNode1" presStyleIdx="3" presStyleCnt="4"/>
      <dgm:spPr/>
    </dgm:pt>
    <dgm:pt modelId="{A051C882-0BE3-4FA1-BB44-BFF71C634D3F}" type="pres">
      <dgm:prSet presAssocID="{A1FC5987-CF2B-4F37-B029-06F4D0F42643}" presName="horz1" presStyleCnt="0"/>
      <dgm:spPr/>
    </dgm:pt>
    <dgm:pt modelId="{51B462EC-45BB-47A9-9E53-7715DF8D4EC3}" type="pres">
      <dgm:prSet presAssocID="{A1FC5987-CF2B-4F37-B029-06F4D0F42643}" presName="tx1" presStyleLbl="revTx" presStyleIdx="3" presStyleCnt="4"/>
      <dgm:spPr/>
    </dgm:pt>
    <dgm:pt modelId="{E34B020A-B996-4719-81A1-847B97718B29}" type="pres">
      <dgm:prSet presAssocID="{A1FC5987-CF2B-4F37-B029-06F4D0F42643}" presName="vert1" presStyleCnt="0"/>
      <dgm:spPr/>
    </dgm:pt>
  </dgm:ptLst>
  <dgm:cxnLst>
    <dgm:cxn modelId="{E331BA06-496C-4BA2-B305-A02B45CA711F}" type="presOf" srcId="{C157F255-4591-4E40-9AB3-FB3166C76501}" destId="{34CCD608-3F5C-4E49-BDF8-F22F063F84B6}" srcOrd="0" destOrd="0" presId="urn:microsoft.com/office/officeart/2008/layout/LinedList"/>
    <dgm:cxn modelId="{92131685-115E-4B49-9057-E1A9BD7EFEE8}" srcId="{54EE3F27-8E3F-4F00-B620-5CB0342E09EE}" destId="{C7EE7961-8881-49EA-96C8-F6036871AF11}" srcOrd="2" destOrd="0" parTransId="{17109846-A83D-4EFA-8B26-3DAF1E46FF59}" sibTransId="{6E0D37C4-4C1A-450F-88B6-341F699277EE}"/>
    <dgm:cxn modelId="{B87C15B1-5024-4A14-9E48-8E4E9FBC480E}" type="presOf" srcId="{A1FC5987-CF2B-4F37-B029-06F4D0F42643}" destId="{51B462EC-45BB-47A9-9E53-7715DF8D4EC3}" srcOrd="0" destOrd="0" presId="urn:microsoft.com/office/officeart/2008/layout/LinedList"/>
    <dgm:cxn modelId="{1B3DCDB4-50A6-4D5F-9E17-8BCFADFC8EBC}" type="presOf" srcId="{E1FACE0F-1D76-4A75-95C9-900C7335F838}" destId="{EDCA6300-A7D4-4559-8FCE-F520AB84264C}" srcOrd="0" destOrd="0" presId="urn:microsoft.com/office/officeart/2008/layout/LinedList"/>
    <dgm:cxn modelId="{0E74CFC9-1AE6-487A-9F5C-629131015639}" type="presOf" srcId="{C7EE7961-8881-49EA-96C8-F6036871AF11}" destId="{D595403E-896E-4D12-8BCE-AE1BF5632B16}" srcOrd="0" destOrd="0" presId="urn:microsoft.com/office/officeart/2008/layout/LinedList"/>
    <dgm:cxn modelId="{36BCC9CA-DE89-43F7-AA8A-F9DFAD73FB47}" srcId="{54EE3F27-8E3F-4F00-B620-5CB0342E09EE}" destId="{A1FC5987-CF2B-4F37-B029-06F4D0F42643}" srcOrd="3" destOrd="0" parTransId="{A351D17B-9561-4BB0-8E98-5FAA93AB2FA0}" sibTransId="{8878199A-0A63-4B19-89A6-A4B0D5C711B9}"/>
    <dgm:cxn modelId="{D4F29ECE-8B8A-4531-BB77-B909418DEF0E}" srcId="{54EE3F27-8E3F-4F00-B620-5CB0342E09EE}" destId="{E1FACE0F-1D76-4A75-95C9-900C7335F838}" srcOrd="0" destOrd="0" parTransId="{9C43572D-8073-42A7-A8F2-D63D8AFCE40F}" sibTransId="{BFA427CE-5585-411D-9E9F-9D3C2C6AB54A}"/>
    <dgm:cxn modelId="{D0D054DA-4E96-42D5-AF86-D9BF9DAF7723}" srcId="{54EE3F27-8E3F-4F00-B620-5CB0342E09EE}" destId="{C157F255-4591-4E40-9AB3-FB3166C76501}" srcOrd="1" destOrd="0" parTransId="{2A41F7CD-A5FF-4B6A-87B5-8E1412785397}" sibTransId="{0E3A1402-5874-4605-981C-BC2DB2E0109D}"/>
    <dgm:cxn modelId="{143524E2-9599-4AEA-B99B-A185C7C2C6E4}" type="presOf" srcId="{54EE3F27-8E3F-4F00-B620-5CB0342E09EE}" destId="{88608577-3225-438E-A9B2-4E8ACA8D7EFE}" srcOrd="0" destOrd="0" presId="urn:microsoft.com/office/officeart/2008/layout/LinedList"/>
    <dgm:cxn modelId="{DE11FDBC-7813-492E-9784-5DC3EE100D6E}" type="presParOf" srcId="{88608577-3225-438E-A9B2-4E8ACA8D7EFE}" destId="{D07126B6-BA02-47E0-B12B-556E6C23F9FB}" srcOrd="0" destOrd="0" presId="urn:microsoft.com/office/officeart/2008/layout/LinedList"/>
    <dgm:cxn modelId="{0AEC22DE-F191-46CF-A15E-CE4B6C93582C}" type="presParOf" srcId="{88608577-3225-438E-A9B2-4E8ACA8D7EFE}" destId="{85CEC4D7-26F2-46E8-BB6B-A6E423EC4971}" srcOrd="1" destOrd="0" presId="urn:microsoft.com/office/officeart/2008/layout/LinedList"/>
    <dgm:cxn modelId="{5C3104CA-F1A9-4114-BB81-10BD5948F732}" type="presParOf" srcId="{85CEC4D7-26F2-46E8-BB6B-A6E423EC4971}" destId="{EDCA6300-A7D4-4559-8FCE-F520AB84264C}" srcOrd="0" destOrd="0" presId="urn:microsoft.com/office/officeart/2008/layout/LinedList"/>
    <dgm:cxn modelId="{011F6D7D-0F56-4A66-B8CE-A58D387DD0A5}" type="presParOf" srcId="{85CEC4D7-26F2-46E8-BB6B-A6E423EC4971}" destId="{C1772856-6D54-4141-889D-0FC97CEFC41F}" srcOrd="1" destOrd="0" presId="urn:microsoft.com/office/officeart/2008/layout/LinedList"/>
    <dgm:cxn modelId="{609354B0-53AC-4E25-B790-035025B96794}" type="presParOf" srcId="{88608577-3225-438E-A9B2-4E8ACA8D7EFE}" destId="{4EC36AD7-1A3F-4703-816D-B0E06D2FA2F1}" srcOrd="2" destOrd="0" presId="urn:microsoft.com/office/officeart/2008/layout/LinedList"/>
    <dgm:cxn modelId="{CE5C00DE-887A-4C21-A788-DE8F87F0F313}" type="presParOf" srcId="{88608577-3225-438E-A9B2-4E8ACA8D7EFE}" destId="{5ACB9131-C555-44AE-B780-6AE42C17DA46}" srcOrd="3" destOrd="0" presId="urn:microsoft.com/office/officeart/2008/layout/LinedList"/>
    <dgm:cxn modelId="{CC9B08D6-49AE-4866-BD39-E06DBFCDE096}" type="presParOf" srcId="{5ACB9131-C555-44AE-B780-6AE42C17DA46}" destId="{34CCD608-3F5C-4E49-BDF8-F22F063F84B6}" srcOrd="0" destOrd="0" presId="urn:microsoft.com/office/officeart/2008/layout/LinedList"/>
    <dgm:cxn modelId="{9ACCF9EF-80B0-4E8A-9CD9-CF9AED9C3569}" type="presParOf" srcId="{5ACB9131-C555-44AE-B780-6AE42C17DA46}" destId="{69077AE8-0D0A-4A28-B557-7A8B8FC8A55D}" srcOrd="1" destOrd="0" presId="urn:microsoft.com/office/officeart/2008/layout/LinedList"/>
    <dgm:cxn modelId="{51255CEB-9DB2-4120-863A-F90DE8D17CA4}" type="presParOf" srcId="{88608577-3225-438E-A9B2-4E8ACA8D7EFE}" destId="{49FC9D1E-9A3A-4329-B283-B2F5C246AEEB}" srcOrd="4" destOrd="0" presId="urn:microsoft.com/office/officeart/2008/layout/LinedList"/>
    <dgm:cxn modelId="{3027A2B0-B12C-4977-A347-9825BC5084C4}" type="presParOf" srcId="{88608577-3225-438E-A9B2-4E8ACA8D7EFE}" destId="{428A43CC-2D67-4570-B5AF-0721D99D101A}" srcOrd="5" destOrd="0" presId="urn:microsoft.com/office/officeart/2008/layout/LinedList"/>
    <dgm:cxn modelId="{2C6146E5-DDEB-4108-A778-6AC79931DD7B}" type="presParOf" srcId="{428A43CC-2D67-4570-B5AF-0721D99D101A}" destId="{D595403E-896E-4D12-8BCE-AE1BF5632B16}" srcOrd="0" destOrd="0" presId="urn:microsoft.com/office/officeart/2008/layout/LinedList"/>
    <dgm:cxn modelId="{04669D21-12D8-47A6-902B-B0C40157A6C9}" type="presParOf" srcId="{428A43CC-2D67-4570-B5AF-0721D99D101A}" destId="{7F9CFD22-CAB2-4577-A4FB-5C133D23A76A}" srcOrd="1" destOrd="0" presId="urn:microsoft.com/office/officeart/2008/layout/LinedList"/>
    <dgm:cxn modelId="{7DD78B3D-3AC8-4E23-B9ED-7771120ED677}" type="presParOf" srcId="{88608577-3225-438E-A9B2-4E8ACA8D7EFE}" destId="{67A0E5A9-1108-4F2A-AFC2-3DA02FDB3812}" srcOrd="6" destOrd="0" presId="urn:microsoft.com/office/officeart/2008/layout/LinedList"/>
    <dgm:cxn modelId="{317D29CD-8E97-46FA-B11C-14F39A7E5084}" type="presParOf" srcId="{88608577-3225-438E-A9B2-4E8ACA8D7EFE}" destId="{A051C882-0BE3-4FA1-BB44-BFF71C634D3F}" srcOrd="7" destOrd="0" presId="urn:microsoft.com/office/officeart/2008/layout/LinedList"/>
    <dgm:cxn modelId="{8D30188F-CE9A-439F-B2FB-439A73CFC89B}" type="presParOf" srcId="{A051C882-0BE3-4FA1-BB44-BFF71C634D3F}" destId="{51B462EC-45BB-47A9-9E53-7715DF8D4EC3}" srcOrd="0" destOrd="0" presId="urn:microsoft.com/office/officeart/2008/layout/LinedList"/>
    <dgm:cxn modelId="{50419FD4-009D-43AE-B042-210DE027917A}" type="presParOf" srcId="{A051C882-0BE3-4FA1-BB44-BFF71C634D3F}" destId="{E34B020A-B996-4719-81A1-847B97718B29}" srcOrd="1"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FAE4A68-BBE5-4626-8F10-19033BE53DA3}" type="doc">
      <dgm:prSet loTypeId="urn:microsoft.com/office/officeart/2005/8/layout/cycle5" loCatId="cycle" qsTypeId="urn:microsoft.com/office/officeart/2005/8/quickstyle/simple1" qsCatId="simple" csTypeId="urn:microsoft.com/office/officeart/2005/8/colors/accent3_1" csCatId="accent3" phldr="1"/>
      <dgm:spPr/>
      <dgm:t>
        <a:bodyPr/>
        <a:lstStyle/>
        <a:p>
          <a:endParaRPr lang="fr-CA"/>
        </a:p>
      </dgm:t>
    </dgm:pt>
    <dgm:pt modelId="{FE52BB90-1F6F-4B49-89DD-55E5409F898C}">
      <dgm:prSet phldrT="[Texte]"/>
      <dgm:spPr>
        <a:ln w="28575">
          <a:solidFill>
            <a:schemeClr val="accent3"/>
          </a:solidFill>
        </a:ln>
      </dgm:spPr>
      <dgm:t>
        <a:bodyPr/>
        <a:lstStyle/>
        <a:p>
          <a:r>
            <a:rPr lang="fr-CA"/>
            <a:t>Dimension  Financière</a:t>
          </a:r>
        </a:p>
      </dgm:t>
    </dgm:pt>
    <dgm:pt modelId="{EA49386E-22B4-443C-BDC3-B3889337702C}" type="parTrans" cxnId="{CD3702BA-411D-4F06-8344-F37E4B074696}">
      <dgm:prSet/>
      <dgm:spPr/>
      <dgm:t>
        <a:bodyPr/>
        <a:lstStyle/>
        <a:p>
          <a:endParaRPr lang="fr-CA"/>
        </a:p>
      </dgm:t>
    </dgm:pt>
    <dgm:pt modelId="{AEA42EFD-5FF1-4B3A-BBA1-4AB1CC5853A9}" type="sibTrans" cxnId="{CD3702BA-411D-4F06-8344-F37E4B074696}">
      <dgm:prSet/>
      <dgm:spPr>
        <a:ln w="57150">
          <a:headEnd type="triangle" w="med" len="med"/>
          <a:tailEnd type="triangle" w="med" len="med"/>
        </a:ln>
      </dgm:spPr>
      <dgm:t>
        <a:bodyPr/>
        <a:lstStyle/>
        <a:p>
          <a:endParaRPr lang="fr-CA"/>
        </a:p>
      </dgm:t>
    </dgm:pt>
    <dgm:pt modelId="{8A3E2399-C597-4151-967D-0987C2B2B5DB}">
      <dgm:prSet phldrT="[Texte]"/>
      <dgm:spPr>
        <a:ln w="28575">
          <a:solidFill>
            <a:schemeClr val="accent3"/>
          </a:solidFill>
        </a:ln>
      </dgm:spPr>
      <dgm:t>
        <a:bodyPr/>
        <a:lstStyle/>
        <a:p>
          <a:r>
            <a:rPr lang="fr-CA"/>
            <a:t>Dimension </a:t>
          </a:r>
        </a:p>
        <a:p>
          <a:r>
            <a:rPr lang="fr-CA"/>
            <a:t>Innovation et apprentissage</a:t>
          </a:r>
        </a:p>
      </dgm:t>
    </dgm:pt>
    <dgm:pt modelId="{E5948694-B7E4-46EE-858D-ED797431D43B}" type="parTrans" cxnId="{159BE68B-CC2A-431F-AC79-32996106E9EA}">
      <dgm:prSet/>
      <dgm:spPr/>
      <dgm:t>
        <a:bodyPr/>
        <a:lstStyle/>
        <a:p>
          <a:endParaRPr lang="fr-CA"/>
        </a:p>
      </dgm:t>
    </dgm:pt>
    <dgm:pt modelId="{85AE0A90-F4B5-454F-886C-310CE4DA5C4F}" type="sibTrans" cxnId="{159BE68B-CC2A-431F-AC79-32996106E9EA}">
      <dgm:prSet/>
      <dgm:spPr>
        <a:ln w="57150">
          <a:headEnd type="triangle" w="med" len="med"/>
          <a:tailEnd type="triangle" w="med" len="med"/>
        </a:ln>
      </dgm:spPr>
      <dgm:t>
        <a:bodyPr/>
        <a:lstStyle/>
        <a:p>
          <a:endParaRPr lang="fr-CA"/>
        </a:p>
      </dgm:t>
    </dgm:pt>
    <dgm:pt modelId="{F0673885-38EC-4BED-9438-2C39FFD41BE6}">
      <dgm:prSet phldrT="[Texte]"/>
      <dgm:spPr>
        <a:ln w="28575">
          <a:solidFill>
            <a:schemeClr val="accent3"/>
          </a:solidFill>
        </a:ln>
      </dgm:spPr>
      <dgm:t>
        <a:bodyPr/>
        <a:lstStyle/>
        <a:p>
          <a:r>
            <a:rPr lang="fr-CA" dirty="0"/>
            <a:t>Dimension                                                   Processus internes et employés</a:t>
          </a:r>
        </a:p>
      </dgm:t>
    </dgm:pt>
    <dgm:pt modelId="{E6F3F47E-F884-4DD7-B0A8-C749C4832923}" type="parTrans" cxnId="{1A43C521-1FED-4284-B571-BEA29E177B38}">
      <dgm:prSet/>
      <dgm:spPr/>
      <dgm:t>
        <a:bodyPr/>
        <a:lstStyle/>
        <a:p>
          <a:endParaRPr lang="fr-CA"/>
        </a:p>
      </dgm:t>
    </dgm:pt>
    <dgm:pt modelId="{60594A41-A105-463A-9CDB-FBEDF40D8317}" type="sibTrans" cxnId="{1A43C521-1FED-4284-B571-BEA29E177B38}">
      <dgm:prSet/>
      <dgm:spPr>
        <a:ln w="57150">
          <a:headEnd type="triangle" w="med" len="med"/>
          <a:tailEnd type="triangle" w="med" len="med"/>
        </a:ln>
      </dgm:spPr>
      <dgm:t>
        <a:bodyPr/>
        <a:lstStyle/>
        <a:p>
          <a:endParaRPr lang="fr-CA"/>
        </a:p>
      </dgm:t>
    </dgm:pt>
    <dgm:pt modelId="{7F0ADB6D-5079-4C00-9EBB-6B53B588041D}">
      <dgm:prSet phldrT="[Texte]"/>
      <dgm:spPr>
        <a:ln w="28575">
          <a:solidFill>
            <a:schemeClr val="accent3"/>
          </a:solidFill>
        </a:ln>
      </dgm:spPr>
      <dgm:t>
        <a:bodyPr/>
        <a:lstStyle/>
        <a:p>
          <a:r>
            <a:rPr lang="fr-CA"/>
            <a:t>Dimension Client</a:t>
          </a:r>
        </a:p>
      </dgm:t>
    </dgm:pt>
    <dgm:pt modelId="{7CCB9133-8695-4C76-BB51-82552DA99751}" type="parTrans" cxnId="{D930C559-15CF-44C7-BE2D-EAFA2EAC2AF3}">
      <dgm:prSet/>
      <dgm:spPr/>
      <dgm:t>
        <a:bodyPr/>
        <a:lstStyle/>
        <a:p>
          <a:endParaRPr lang="fr-CA"/>
        </a:p>
      </dgm:t>
    </dgm:pt>
    <dgm:pt modelId="{A2F05B35-750B-42AF-A4ED-60E5112188EF}" type="sibTrans" cxnId="{D930C559-15CF-44C7-BE2D-EAFA2EAC2AF3}">
      <dgm:prSet/>
      <dgm:spPr>
        <a:ln w="57150">
          <a:headEnd type="triangle" w="med" len="med"/>
          <a:tailEnd type="triangle" w="med" len="med"/>
        </a:ln>
      </dgm:spPr>
      <dgm:t>
        <a:bodyPr/>
        <a:lstStyle/>
        <a:p>
          <a:endParaRPr lang="fr-CA"/>
        </a:p>
      </dgm:t>
    </dgm:pt>
    <dgm:pt modelId="{4E6FF98D-321D-40FE-B559-8D429F87201D}" type="pres">
      <dgm:prSet presAssocID="{AFAE4A68-BBE5-4626-8F10-19033BE53DA3}" presName="cycle" presStyleCnt="0">
        <dgm:presLayoutVars>
          <dgm:dir/>
          <dgm:resizeHandles val="exact"/>
        </dgm:presLayoutVars>
      </dgm:prSet>
      <dgm:spPr/>
    </dgm:pt>
    <dgm:pt modelId="{EFCECAA4-A535-43DC-AA44-36D7A52F4982}" type="pres">
      <dgm:prSet presAssocID="{FE52BB90-1F6F-4B49-89DD-55E5409F898C}" presName="node" presStyleLbl="node1" presStyleIdx="0" presStyleCnt="4" custScaleX="134811" custScaleY="100115" custRadScaleRad="92641" custRadScaleInc="0">
        <dgm:presLayoutVars>
          <dgm:bulletEnabled val="1"/>
        </dgm:presLayoutVars>
      </dgm:prSet>
      <dgm:spPr/>
    </dgm:pt>
    <dgm:pt modelId="{3C59D5D4-54A5-4D4C-BE24-04AF6B323E47}" type="pres">
      <dgm:prSet presAssocID="{FE52BB90-1F6F-4B49-89DD-55E5409F898C}" presName="spNode" presStyleCnt="0"/>
      <dgm:spPr/>
    </dgm:pt>
    <dgm:pt modelId="{339C4270-9DBD-48C6-BB9E-8F6FA8021825}" type="pres">
      <dgm:prSet presAssocID="{AEA42EFD-5FF1-4B3A-BBA1-4AB1CC5853A9}" presName="sibTrans" presStyleLbl="sibTrans1D1" presStyleIdx="0" presStyleCnt="4"/>
      <dgm:spPr/>
    </dgm:pt>
    <dgm:pt modelId="{754AEFBF-BF5B-4BF8-BA20-666AE5D119B6}" type="pres">
      <dgm:prSet presAssocID="{8A3E2399-C597-4151-967D-0987C2B2B5DB}" presName="node" presStyleLbl="node1" presStyleIdx="1" presStyleCnt="4" custScaleX="207921" custScaleY="114747" custRadScaleRad="165733" custRadScaleInc="-3583">
        <dgm:presLayoutVars>
          <dgm:bulletEnabled val="1"/>
        </dgm:presLayoutVars>
      </dgm:prSet>
      <dgm:spPr/>
    </dgm:pt>
    <dgm:pt modelId="{0B13B4C0-4ADE-41FD-82A2-24A31B6C37C8}" type="pres">
      <dgm:prSet presAssocID="{8A3E2399-C597-4151-967D-0987C2B2B5DB}" presName="spNode" presStyleCnt="0"/>
      <dgm:spPr/>
    </dgm:pt>
    <dgm:pt modelId="{118AE932-1345-475E-9031-5A2B23471C87}" type="pres">
      <dgm:prSet presAssocID="{85AE0A90-F4B5-454F-886C-310CE4DA5C4F}" presName="sibTrans" presStyleLbl="sibTrans1D1" presStyleIdx="1" presStyleCnt="4"/>
      <dgm:spPr/>
    </dgm:pt>
    <dgm:pt modelId="{9B2EAF18-24BB-4566-9487-DF6EA83278CA}" type="pres">
      <dgm:prSet presAssocID="{F0673885-38EC-4BED-9438-2C39FFD41BE6}" presName="node" presStyleLbl="node1" presStyleIdx="2" presStyleCnt="4" custScaleX="234504" custScaleY="81061" custRadScaleRad="83845" custRadScaleInc="4627">
        <dgm:presLayoutVars>
          <dgm:bulletEnabled val="1"/>
        </dgm:presLayoutVars>
      </dgm:prSet>
      <dgm:spPr/>
    </dgm:pt>
    <dgm:pt modelId="{8449E45B-2243-44F2-805A-B7E7FC758D25}" type="pres">
      <dgm:prSet presAssocID="{F0673885-38EC-4BED-9438-2C39FFD41BE6}" presName="spNode" presStyleCnt="0"/>
      <dgm:spPr/>
    </dgm:pt>
    <dgm:pt modelId="{6006BCE1-2966-4048-A304-6D473211ED52}" type="pres">
      <dgm:prSet presAssocID="{60594A41-A105-463A-9CDB-FBEDF40D8317}" presName="sibTrans" presStyleLbl="sibTrans1D1" presStyleIdx="2" presStyleCnt="4"/>
      <dgm:spPr/>
    </dgm:pt>
    <dgm:pt modelId="{9A5088A2-E7DE-4413-9101-5316C8EB15CA}" type="pres">
      <dgm:prSet presAssocID="{7F0ADB6D-5079-4C00-9EBB-6B53B588041D}" presName="node" presStyleLbl="node1" presStyleIdx="3" presStyleCnt="4" custScaleX="207436" custScaleY="97471" custRadScaleRad="165899" custRadScaleInc="3579">
        <dgm:presLayoutVars>
          <dgm:bulletEnabled val="1"/>
        </dgm:presLayoutVars>
      </dgm:prSet>
      <dgm:spPr/>
    </dgm:pt>
    <dgm:pt modelId="{A554A3EA-9419-403C-B274-8587ED002777}" type="pres">
      <dgm:prSet presAssocID="{7F0ADB6D-5079-4C00-9EBB-6B53B588041D}" presName="spNode" presStyleCnt="0"/>
      <dgm:spPr/>
    </dgm:pt>
    <dgm:pt modelId="{2B4E7DF4-7630-4CC5-9677-71C0AA5C8821}" type="pres">
      <dgm:prSet presAssocID="{A2F05B35-750B-42AF-A4ED-60E5112188EF}" presName="sibTrans" presStyleLbl="sibTrans1D1" presStyleIdx="3" presStyleCnt="4"/>
      <dgm:spPr/>
    </dgm:pt>
  </dgm:ptLst>
  <dgm:cxnLst>
    <dgm:cxn modelId="{2830D220-1AE5-4EB7-BA23-7736F809A140}" type="presOf" srcId="{AEA42EFD-5FF1-4B3A-BBA1-4AB1CC5853A9}" destId="{339C4270-9DBD-48C6-BB9E-8F6FA8021825}" srcOrd="0" destOrd="0" presId="urn:microsoft.com/office/officeart/2005/8/layout/cycle5"/>
    <dgm:cxn modelId="{1A43C521-1FED-4284-B571-BEA29E177B38}" srcId="{AFAE4A68-BBE5-4626-8F10-19033BE53DA3}" destId="{F0673885-38EC-4BED-9438-2C39FFD41BE6}" srcOrd="2" destOrd="0" parTransId="{E6F3F47E-F884-4DD7-B0A8-C749C4832923}" sibTransId="{60594A41-A105-463A-9CDB-FBEDF40D8317}"/>
    <dgm:cxn modelId="{07AB142D-395B-477D-81AD-C83DBDAFE4E2}" type="presOf" srcId="{60594A41-A105-463A-9CDB-FBEDF40D8317}" destId="{6006BCE1-2966-4048-A304-6D473211ED52}" srcOrd="0" destOrd="0" presId="urn:microsoft.com/office/officeart/2005/8/layout/cycle5"/>
    <dgm:cxn modelId="{252EB562-8B9E-40AC-AA91-7173F0EC7628}" type="presOf" srcId="{7F0ADB6D-5079-4C00-9EBB-6B53B588041D}" destId="{9A5088A2-E7DE-4413-9101-5316C8EB15CA}" srcOrd="0" destOrd="0" presId="urn:microsoft.com/office/officeart/2005/8/layout/cycle5"/>
    <dgm:cxn modelId="{D930C559-15CF-44C7-BE2D-EAFA2EAC2AF3}" srcId="{AFAE4A68-BBE5-4626-8F10-19033BE53DA3}" destId="{7F0ADB6D-5079-4C00-9EBB-6B53B588041D}" srcOrd="3" destOrd="0" parTransId="{7CCB9133-8695-4C76-BB51-82552DA99751}" sibTransId="{A2F05B35-750B-42AF-A4ED-60E5112188EF}"/>
    <dgm:cxn modelId="{54CB6D5A-5020-472A-AF7B-41EE8B8389A9}" type="presOf" srcId="{85AE0A90-F4B5-454F-886C-310CE4DA5C4F}" destId="{118AE932-1345-475E-9031-5A2B23471C87}" srcOrd="0" destOrd="0" presId="urn:microsoft.com/office/officeart/2005/8/layout/cycle5"/>
    <dgm:cxn modelId="{B9BC9C81-3428-4D4F-AC11-F972D9DBE9ED}" type="presOf" srcId="{8A3E2399-C597-4151-967D-0987C2B2B5DB}" destId="{754AEFBF-BF5B-4BF8-BA20-666AE5D119B6}" srcOrd="0" destOrd="0" presId="urn:microsoft.com/office/officeart/2005/8/layout/cycle5"/>
    <dgm:cxn modelId="{159BE68B-CC2A-431F-AC79-32996106E9EA}" srcId="{AFAE4A68-BBE5-4626-8F10-19033BE53DA3}" destId="{8A3E2399-C597-4151-967D-0987C2B2B5DB}" srcOrd="1" destOrd="0" parTransId="{E5948694-B7E4-46EE-858D-ED797431D43B}" sibTransId="{85AE0A90-F4B5-454F-886C-310CE4DA5C4F}"/>
    <dgm:cxn modelId="{CD3702BA-411D-4F06-8344-F37E4B074696}" srcId="{AFAE4A68-BBE5-4626-8F10-19033BE53DA3}" destId="{FE52BB90-1F6F-4B49-89DD-55E5409F898C}" srcOrd="0" destOrd="0" parTransId="{EA49386E-22B4-443C-BDC3-B3889337702C}" sibTransId="{AEA42EFD-5FF1-4B3A-BBA1-4AB1CC5853A9}"/>
    <dgm:cxn modelId="{00D4C6BD-18EF-4C64-86E4-436E9367F6FD}" type="presOf" srcId="{F0673885-38EC-4BED-9438-2C39FFD41BE6}" destId="{9B2EAF18-24BB-4566-9487-DF6EA83278CA}" srcOrd="0" destOrd="0" presId="urn:microsoft.com/office/officeart/2005/8/layout/cycle5"/>
    <dgm:cxn modelId="{33DFE0C3-4D17-4101-B7F4-69BA178CAF02}" type="presOf" srcId="{A2F05B35-750B-42AF-A4ED-60E5112188EF}" destId="{2B4E7DF4-7630-4CC5-9677-71C0AA5C8821}" srcOrd="0" destOrd="0" presId="urn:microsoft.com/office/officeart/2005/8/layout/cycle5"/>
    <dgm:cxn modelId="{01FE2ACE-58FB-4EA7-BABC-4078F79C8963}" type="presOf" srcId="{FE52BB90-1F6F-4B49-89DD-55E5409F898C}" destId="{EFCECAA4-A535-43DC-AA44-36D7A52F4982}" srcOrd="0" destOrd="0" presId="urn:microsoft.com/office/officeart/2005/8/layout/cycle5"/>
    <dgm:cxn modelId="{AC9085D8-F406-4EEA-A8BB-CC5E2E69F294}" type="presOf" srcId="{AFAE4A68-BBE5-4626-8F10-19033BE53DA3}" destId="{4E6FF98D-321D-40FE-B559-8D429F87201D}" srcOrd="0" destOrd="0" presId="urn:microsoft.com/office/officeart/2005/8/layout/cycle5"/>
    <dgm:cxn modelId="{A11E71F4-6B20-423F-A8AF-F8F0307C9AD7}" type="presParOf" srcId="{4E6FF98D-321D-40FE-B559-8D429F87201D}" destId="{EFCECAA4-A535-43DC-AA44-36D7A52F4982}" srcOrd="0" destOrd="0" presId="urn:microsoft.com/office/officeart/2005/8/layout/cycle5"/>
    <dgm:cxn modelId="{569C7BCC-AC4C-4861-982E-A704F91F6751}" type="presParOf" srcId="{4E6FF98D-321D-40FE-B559-8D429F87201D}" destId="{3C59D5D4-54A5-4D4C-BE24-04AF6B323E47}" srcOrd="1" destOrd="0" presId="urn:microsoft.com/office/officeart/2005/8/layout/cycle5"/>
    <dgm:cxn modelId="{3F9F8CE6-AC3C-4AF3-9213-C776FC018667}" type="presParOf" srcId="{4E6FF98D-321D-40FE-B559-8D429F87201D}" destId="{339C4270-9DBD-48C6-BB9E-8F6FA8021825}" srcOrd="2" destOrd="0" presId="urn:microsoft.com/office/officeart/2005/8/layout/cycle5"/>
    <dgm:cxn modelId="{B3825C84-5D4C-430B-9389-45BBAF9E0E3F}" type="presParOf" srcId="{4E6FF98D-321D-40FE-B559-8D429F87201D}" destId="{754AEFBF-BF5B-4BF8-BA20-666AE5D119B6}" srcOrd="3" destOrd="0" presId="urn:microsoft.com/office/officeart/2005/8/layout/cycle5"/>
    <dgm:cxn modelId="{21429801-8059-4BFD-8C6F-69446672A8C4}" type="presParOf" srcId="{4E6FF98D-321D-40FE-B559-8D429F87201D}" destId="{0B13B4C0-4ADE-41FD-82A2-24A31B6C37C8}" srcOrd="4" destOrd="0" presId="urn:microsoft.com/office/officeart/2005/8/layout/cycle5"/>
    <dgm:cxn modelId="{DFE9E76D-9A85-4ABD-8DB1-D5CA0FB1D887}" type="presParOf" srcId="{4E6FF98D-321D-40FE-B559-8D429F87201D}" destId="{118AE932-1345-475E-9031-5A2B23471C87}" srcOrd="5" destOrd="0" presId="urn:microsoft.com/office/officeart/2005/8/layout/cycle5"/>
    <dgm:cxn modelId="{89849C46-9B85-4014-87CB-19816653E2EE}" type="presParOf" srcId="{4E6FF98D-321D-40FE-B559-8D429F87201D}" destId="{9B2EAF18-24BB-4566-9487-DF6EA83278CA}" srcOrd="6" destOrd="0" presId="urn:microsoft.com/office/officeart/2005/8/layout/cycle5"/>
    <dgm:cxn modelId="{5A53A0D2-8267-40BC-9CA2-550E61E975F3}" type="presParOf" srcId="{4E6FF98D-321D-40FE-B559-8D429F87201D}" destId="{8449E45B-2243-44F2-805A-B7E7FC758D25}" srcOrd="7" destOrd="0" presId="urn:microsoft.com/office/officeart/2005/8/layout/cycle5"/>
    <dgm:cxn modelId="{92BF83E5-EE13-4FE6-8526-A3ACC8EFB92E}" type="presParOf" srcId="{4E6FF98D-321D-40FE-B559-8D429F87201D}" destId="{6006BCE1-2966-4048-A304-6D473211ED52}" srcOrd="8" destOrd="0" presId="urn:microsoft.com/office/officeart/2005/8/layout/cycle5"/>
    <dgm:cxn modelId="{FB4FEF1D-55BB-4D4A-A377-BFBB3361B695}" type="presParOf" srcId="{4E6FF98D-321D-40FE-B559-8D429F87201D}" destId="{9A5088A2-E7DE-4413-9101-5316C8EB15CA}" srcOrd="9" destOrd="0" presId="urn:microsoft.com/office/officeart/2005/8/layout/cycle5"/>
    <dgm:cxn modelId="{8EC9E5A1-DC37-4586-B1B1-D641262B4C4A}" type="presParOf" srcId="{4E6FF98D-321D-40FE-B559-8D429F87201D}" destId="{A554A3EA-9419-403C-B274-8587ED002777}" srcOrd="10" destOrd="0" presId="urn:microsoft.com/office/officeart/2005/8/layout/cycle5"/>
    <dgm:cxn modelId="{63A3F110-BCDC-42DF-B566-3DBBF4FAD15B}" type="presParOf" srcId="{4E6FF98D-321D-40FE-B559-8D429F87201D}" destId="{2B4E7DF4-7630-4CC5-9677-71C0AA5C8821}" srcOrd="11" destOrd="0" presId="urn:microsoft.com/office/officeart/2005/8/layout/cycle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29D2A-44C8-4F56-91B9-154283D40E72}">
      <dsp:nvSpPr>
        <dsp:cNvPr id="0" name=""/>
        <dsp:cNvSpPr/>
      </dsp:nvSpPr>
      <dsp:spPr>
        <a:xfrm>
          <a:off x="1518836" y="79548"/>
          <a:ext cx="1187853" cy="118785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944109-F5A7-42DC-B1B0-5CB3A9C73198}">
      <dsp:nvSpPr>
        <dsp:cNvPr id="0" name=""/>
        <dsp:cNvSpPr/>
      </dsp:nvSpPr>
      <dsp:spPr>
        <a:xfrm>
          <a:off x="1771985" y="332697"/>
          <a:ext cx="681555" cy="681555"/>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4FCA2E-27B9-4F2E-80F8-C324063714B1}">
      <dsp:nvSpPr>
        <dsp:cNvPr id="0" name=""/>
        <dsp:cNvSpPr/>
      </dsp:nvSpPr>
      <dsp:spPr>
        <a:xfrm>
          <a:off x="1139113" y="1487484"/>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de coûts </a:t>
          </a:r>
          <a:endParaRPr lang="en-US" sz="1800" kern="1200" dirty="0"/>
        </a:p>
      </dsp:txBody>
      <dsp:txXfrm>
        <a:off x="1139113" y="1487484"/>
        <a:ext cx="1947300" cy="720000"/>
      </dsp:txXfrm>
    </dsp:sp>
    <dsp:sp modelId="{06CAD074-1ACA-4EFB-9ED4-1AB2F68CAA9E}">
      <dsp:nvSpPr>
        <dsp:cNvPr id="0" name=""/>
        <dsp:cNvSpPr/>
      </dsp:nvSpPr>
      <dsp:spPr>
        <a:xfrm>
          <a:off x="3806914" y="79548"/>
          <a:ext cx="1187853" cy="1187853"/>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963C85-AE88-4D60-96A0-2A1CA9A6861A}">
      <dsp:nvSpPr>
        <dsp:cNvPr id="0" name=""/>
        <dsp:cNvSpPr/>
      </dsp:nvSpPr>
      <dsp:spPr>
        <a:xfrm>
          <a:off x="4060063" y="332697"/>
          <a:ext cx="681555" cy="681555"/>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2C1CB2-35D8-477A-A437-73A5A24A8CF9}">
      <dsp:nvSpPr>
        <dsp:cNvPr id="0" name=""/>
        <dsp:cNvSpPr/>
      </dsp:nvSpPr>
      <dsp:spPr>
        <a:xfrm>
          <a:off x="3416032" y="1469736"/>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de revenus</a:t>
          </a:r>
          <a:endParaRPr lang="en-US" sz="1800" kern="1200" dirty="0"/>
        </a:p>
      </dsp:txBody>
      <dsp:txXfrm>
        <a:off x="3416032" y="1469736"/>
        <a:ext cx="1947300" cy="720000"/>
      </dsp:txXfrm>
    </dsp:sp>
    <dsp:sp modelId="{FCFBDE77-146E-459D-B4B8-C24BC3A08389}">
      <dsp:nvSpPr>
        <dsp:cNvPr id="0" name=""/>
        <dsp:cNvSpPr/>
      </dsp:nvSpPr>
      <dsp:spPr>
        <a:xfrm>
          <a:off x="1518836" y="2844213"/>
          <a:ext cx="1187853" cy="1187853"/>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5E13B-773B-45EA-A4B2-A97BE365416C}">
      <dsp:nvSpPr>
        <dsp:cNvPr id="0" name=""/>
        <dsp:cNvSpPr/>
      </dsp:nvSpPr>
      <dsp:spPr>
        <a:xfrm>
          <a:off x="1771985" y="3097362"/>
          <a:ext cx="681555" cy="681555"/>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024226-3969-477C-B9A1-1CA084A66822}">
      <dsp:nvSpPr>
        <dsp:cNvPr id="0" name=""/>
        <dsp:cNvSpPr/>
      </dsp:nvSpPr>
      <dsp:spPr>
        <a:xfrm>
          <a:off x="1139113" y="4312111"/>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de profit </a:t>
          </a:r>
          <a:endParaRPr lang="en-US" sz="1800" kern="1200" dirty="0"/>
        </a:p>
      </dsp:txBody>
      <dsp:txXfrm>
        <a:off x="1139113" y="4312111"/>
        <a:ext cx="1947300" cy="720000"/>
      </dsp:txXfrm>
    </dsp:sp>
    <dsp:sp modelId="{011445A1-6735-41F6-BD68-079977F519D8}">
      <dsp:nvSpPr>
        <dsp:cNvPr id="0" name=""/>
        <dsp:cNvSpPr/>
      </dsp:nvSpPr>
      <dsp:spPr>
        <a:xfrm>
          <a:off x="3806914" y="2844213"/>
          <a:ext cx="1187853" cy="1187853"/>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BC95CE-9988-4027-AC78-F4430BA2B836}">
      <dsp:nvSpPr>
        <dsp:cNvPr id="0" name=""/>
        <dsp:cNvSpPr/>
      </dsp:nvSpPr>
      <dsp:spPr>
        <a:xfrm>
          <a:off x="4060063" y="3097362"/>
          <a:ext cx="681555" cy="681555"/>
        </a:xfrm>
        <a:prstGeom prst="rect">
          <a:avLst/>
        </a:prstGeom>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4C94CB-201C-4771-B918-1C1A1BB73C98}">
      <dsp:nvSpPr>
        <dsp:cNvPr id="0" name=""/>
        <dsp:cNvSpPr/>
      </dsp:nvSpPr>
      <dsp:spPr>
        <a:xfrm>
          <a:off x="3464325" y="4191612"/>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d’investissements</a:t>
          </a:r>
          <a:endParaRPr lang="en-US" sz="1800" kern="1200" dirty="0"/>
        </a:p>
      </dsp:txBody>
      <dsp:txXfrm>
        <a:off x="3464325" y="4191612"/>
        <a:ext cx="19473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1639" y="2371284"/>
          <a:ext cx="1941755" cy="970877"/>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0075" y="2399720"/>
        <a:ext cx="1884883" cy="914005"/>
      </dsp:txXfrm>
    </dsp:sp>
    <dsp:sp modelId="{A3432406-8111-884C-8060-41F209606CA2}">
      <dsp:nvSpPr>
        <dsp:cNvPr id="0" name=""/>
        <dsp:cNvSpPr/>
      </dsp:nvSpPr>
      <dsp:spPr>
        <a:xfrm rot="18124738">
          <a:off x="1600509" y="2219555"/>
          <a:ext cx="1462475" cy="35156"/>
        </a:xfrm>
        <a:custGeom>
          <a:avLst/>
          <a:gdLst/>
          <a:ahLst/>
          <a:cxnLst/>
          <a:rect l="0" t="0" r="0" b="0"/>
          <a:pathLst>
            <a:path>
              <a:moveTo>
                <a:pt x="0" y="17578"/>
              </a:moveTo>
              <a:lnTo>
                <a:pt x="1462475" y="175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95185" y="2200571"/>
        <a:ext cx="73123" cy="73123"/>
      </dsp:txXfrm>
    </dsp:sp>
    <dsp:sp modelId="{DD03E4B1-C7C8-804D-94F0-2EDEECF926F2}">
      <dsp:nvSpPr>
        <dsp:cNvPr id="0" name=""/>
        <dsp:cNvSpPr/>
      </dsp:nvSpPr>
      <dsp:spPr>
        <a:xfrm>
          <a:off x="2720098" y="1132104"/>
          <a:ext cx="1941755" cy="970877"/>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t>Résultat d</a:t>
          </a:r>
          <a:r>
            <a:rPr lang="fr-CA" sz="2100" b="1" kern="1200" dirty="0"/>
            <a:t>’</a:t>
          </a:r>
          <a:r>
            <a:rPr lang="fr-FR" sz="2100" b="1" kern="1200" dirty="0"/>
            <a:t>exploitation </a:t>
          </a:r>
          <a:r>
            <a:rPr lang="fr-FR" sz="2100" b="1" i="1" kern="1200" dirty="0"/>
            <a:t>(après impôts)</a:t>
          </a:r>
          <a:endParaRPr lang="fr-CA" sz="2100" i="1" kern="1200" dirty="0"/>
        </a:p>
      </dsp:txBody>
      <dsp:txXfrm>
        <a:off x="2748534" y="1160540"/>
        <a:ext cx="1884883" cy="914005"/>
      </dsp:txXfrm>
    </dsp:sp>
    <dsp:sp modelId="{F2E0EAE7-9DE8-8342-B67F-0F503558932B}">
      <dsp:nvSpPr>
        <dsp:cNvPr id="0" name=""/>
        <dsp:cNvSpPr/>
      </dsp:nvSpPr>
      <dsp:spPr>
        <a:xfrm rot="18847689">
          <a:off x="4492442" y="1199611"/>
          <a:ext cx="1115526" cy="35156"/>
        </a:xfrm>
        <a:custGeom>
          <a:avLst/>
          <a:gdLst/>
          <a:ahLst/>
          <a:cxnLst/>
          <a:rect l="0" t="0" r="0" b="0"/>
          <a:pathLst>
            <a:path>
              <a:moveTo>
                <a:pt x="0" y="17578"/>
              </a:moveTo>
              <a:lnTo>
                <a:pt x="1115526"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2316" y="1189301"/>
        <a:ext cx="55776" cy="55776"/>
      </dsp:txXfrm>
    </dsp:sp>
    <dsp:sp modelId="{178613B7-4E64-3E45-A05F-45BDBC338793}">
      <dsp:nvSpPr>
        <dsp:cNvPr id="0" name=""/>
        <dsp:cNvSpPr/>
      </dsp:nvSpPr>
      <dsp:spPr>
        <a:xfrm>
          <a:off x="5438556" y="441480"/>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Ventes</a:t>
          </a:r>
        </a:p>
      </dsp:txBody>
      <dsp:txXfrm>
        <a:off x="5460544" y="463468"/>
        <a:ext cx="1897779" cy="706735"/>
      </dsp:txXfrm>
    </dsp:sp>
    <dsp:sp modelId="{BF4D22EE-D9B3-0642-AA26-462999537FA3}">
      <dsp:nvSpPr>
        <dsp:cNvPr id="0" name=""/>
        <dsp:cNvSpPr/>
      </dsp:nvSpPr>
      <dsp:spPr>
        <a:xfrm rot="20444876">
          <a:off x="7357307" y="663623"/>
          <a:ext cx="822710" cy="35156"/>
        </a:xfrm>
        <a:custGeom>
          <a:avLst/>
          <a:gdLst/>
          <a:ahLst/>
          <a:cxnLst/>
          <a:rect l="0" t="0" r="0" b="0"/>
          <a:pathLst>
            <a:path>
              <a:moveTo>
                <a:pt x="0" y="17578"/>
              </a:moveTo>
              <a:lnTo>
                <a:pt x="822710"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8095" y="660634"/>
        <a:ext cx="41135" cy="41135"/>
      </dsp:txXfrm>
    </dsp:sp>
    <dsp:sp modelId="{A89F919C-3797-504D-867F-1DFF84E22E7B}">
      <dsp:nvSpPr>
        <dsp:cNvPr id="0" name=""/>
        <dsp:cNvSpPr/>
      </dsp:nvSpPr>
      <dsp:spPr>
        <a:xfrm>
          <a:off x="8157014" y="190998"/>
          <a:ext cx="3257489" cy="709138"/>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Diversification</a:t>
          </a:r>
        </a:p>
      </dsp:txBody>
      <dsp:txXfrm>
        <a:off x="8177784" y="211768"/>
        <a:ext cx="3215949" cy="667598"/>
      </dsp:txXfrm>
    </dsp:sp>
    <dsp:sp modelId="{6BD9C289-9FCF-CD4B-BC11-14794C2E8CCA}">
      <dsp:nvSpPr>
        <dsp:cNvPr id="0" name=""/>
        <dsp:cNvSpPr/>
      </dsp:nvSpPr>
      <dsp:spPr>
        <a:xfrm rot="2167556">
          <a:off x="7287865" y="1082717"/>
          <a:ext cx="961594" cy="35156"/>
        </a:xfrm>
        <a:custGeom>
          <a:avLst/>
          <a:gdLst/>
          <a:ahLst/>
          <a:cxnLst/>
          <a:rect l="0" t="0" r="0" b="0"/>
          <a:pathLst>
            <a:path>
              <a:moveTo>
                <a:pt x="0" y="17578"/>
              </a:moveTo>
              <a:lnTo>
                <a:pt x="961594"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4623" y="1076256"/>
        <a:ext cx="48079" cy="48079"/>
      </dsp:txXfrm>
    </dsp:sp>
    <dsp:sp modelId="{028EE47D-6CAE-404B-953A-8C55D65FA791}">
      <dsp:nvSpPr>
        <dsp:cNvPr id="0" name=""/>
        <dsp:cNvSpPr/>
      </dsp:nvSpPr>
      <dsp:spPr>
        <a:xfrm>
          <a:off x="8157014" y="1045769"/>
          <a:ext cx="3257489" cy="675973"/>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Augmenter part de marché</a:t>
          </a:r>
        </a:p>
      </dsp:txBody>
      <dsp:txXfrm>
        <a:off x="8176813" y="1065568"/>
        <a:ext cx="3217891" cy="636375"/>
      </dsp:txXfrm>
    </dsp:sp>
    <dsp:sp modelId="{A4D5A059-EE85-4B4B-800F-0D69888452A7}">
      <dsp:nvSpPr>
        <dsp:cNvPr id="0" name=""/>
        <dsp:cNvSpPr/>
      </dsp:nvSpPr>
      <dsp:spPr>
        <a:xfrm rot="2752311">
          <a:off x="4492442" y="2000318"/>
          <a:ext cx="1115526" cy="35156"/>
        </a:xfrm>
        <a:custGeom>
          <a:avLst/>
          <a:gdLst/>
          <a:ahLst/>
          <a:cxnLst/>
          <a:rect l="0" t="0" r="0" b="0"/>
          <a:pathLst>
            <a:path>
              <a:moveTo>
                <a:pt x="0" y="17578"/>
              </a:moveTo>
              <a:lnTo>
                <a:pt x="1115526"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2316" y="1990008"/>
        <a:ext cx="55776" cy="55776"/>
      </dsp:txXfrm>
    </dsp:sp>
    <dsp:sp modelId="{D36DB649-D54E-8F46-B0A6-7652D1D53674}">
      <dsp:nvSpPr>
        <dsp:cNvPr id="0" name=""/>
        <dsp:cNvSpPr/>
      </dsp:nvSpPr>
      <dsp:spPr>
        <a:xfrm>
          <a:off x="5438556" y="2042894"/>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ts val="0"/>
            </a:spcAft>
            <a:buNone/>
          </a:pPr>
          <a:r>
            <a:rPr lang="fr-CA" sz="2100" kern="1200"/>
            <a:t>Coûts </a:t>
          </a:r>
        </a:p>
        <a:p>
          <a:pPr marL="0" lvl="0" indent="0" algn="ctr" defTabSz="933450">
            <a:lnSpc>
              <a:spcPct val="90000"/>
            </a:lnSpc>
            <a:spcBef>
              <a:spcPct val="0"/>
            </a:spcBef>
            <a:spcAft>
              <a:spcPct val="35000"/>
            </a:spcAft>
            <a:buNone/>
          </a:pPr>
          <a:r>
            <a:rPr lang="fr-CA" sz="2100" kern="1200"/>
            <a:t>Variables et fixes</a:t>
          </a:r>
        </a:p>
      </dsp:txBody>
      <dsp:txXfrm>
        <a:off x="5460544" y="2064882"/>
        <a:ext cx="1897779" cy="706735"/>
      </dsp:txXfrm>
    </dsp:sp>
    <dsp:sp modelId="{85F365CE-8E1A-A649-9F56-C59D54017D8C}">
      <dsp:nvSpPr>
        <dsp:cNvPr id="0" name=""/>
        <dsp:cNvSpPr/>
      </dsp:nvSpPr>
      <dsp:spPr>
        <a:xfrm rot="20603508">
          <a:off x="7363405" y="2284839"/>
          <a:ext cx="810515" cy="35156"/>
        </a:xfrm>
        <a:custGeom>
          <a:avLst/>
          <a:gdLst/>
          <a:ahLst/>
          <a:cxnLst/>
          <a:rect l="0" t="0" r="0" b="0"/>
          <a:pathLst>
            <a:path>
              <a:moveTo>
                <a:pt x="0" y="17578"/>
              </a:moveTo>
              <a:lnTo>
                <a:pt x="810515"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8400" y="2282154"/>
        <a:ext cx="40525" cy="40525"/>
      </dsp:txXfrm>
    </dsp:sp>
    <dsp:sp modelId="{6359BCFC-FBBC-6D49-8075-E39696D179B0}">
      <dsp:nvSpPr>
        <dsp:cNvPr id="0" name=""/>
        <dsp:cNvSpPr/>
      </dsp:nvSpPr>
      <dsp:spPr>
        <a:xfrm>
          <a:off x="8157014" y="1867374"/>
          <a:ext cx="3257489" cy="638420"/>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Améliorer la productivité</a:t>
          </a:r>
        </a:p>
      </dsp:txBody>
      <dsp:txXfrm>
        <a:off x="8175713" y="1886073"/>
        <a:ext cx="3220091" cy="601022"/>
      </dsp:txXfrm>
    </dsp:sp>
    <dsp:sp modelId="{3A9BF594-A510-4C44-B145-B4ED5D571DFF}">
      <dsp:nvSpPr>
        <dsp:cNvPr id="0" name=""/>
        <dsp:cNvSpPr/>
      </dsp:nvSpPr>
      <dsp:spPr>
        <a:xfrm rot="2063220">
          <a:off x="7298072" y="2666452"/>
          <a:ext cx="941181" cy="35156"/>
        </a:xfrm>
        <a:custGeom>
          <a:avLst/>
          <a:gdLst/>
          <a:ahLst/>
          <a:cxnLst/>
          <a:rect l="0" t="0" r="0" b="0"/>
          <a:pathLst>
            <a:path>
              <a:moveTo>
                <a:pt x="0" y="17578"/>
              </a:moveTo>
              <a:lnTo>
                <a:pt x="941181"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5133" y="2660501"/>
        <a:ext cx="47059" cy="47059"/>
      </dsp:txXfrm>
    </dsp:sp>
    <dsp:sp modelId="{3863B1FE-EC90-2443-A8D6-F17D58ABB7F6}">
      <dsp:nvSpPr>
        <dsp:cNvPr id="0" name=""/>
        <dsp:cNvSpPr/>
      </dsp:nvSpPr>
      <dsp:spPr>
        <a:xfrm>
          <a:off x="8157014" y="2651426"/>
          <a:ext cx="3257489" cy="596769"/>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Réduction des coûts</a:t>
          </a:r>
        </a:p>
      </dsp:txBody>
      <dsp:txXfrm>
        <a:off x="8174493" y="2668905"/>
        <a:ext cx="3222531" cy="561811"/>
      </dsp:txXfrm>
    </dsp:sp>
    <dsp:sp modelId="{E4406B0D-CE27-9D43-9F9A-11C3EF1D695C}">
      <dsp:nvSpPr>
        <dsp:cNvPr id="0" name=""/>
        <dsp:cNvSpPr/>
      </dsp:nvSpPr>
      <dsp:spPr>
        <a:xfrm rot="3475262">
          <a:off x="1600509" y="3458735"/>
          <a:ext cx="1462475" cy="35156"/>
        </a:xfrm>
        <a:custGeom>
          <a:avLst/>
          <a:gdLst/>
          <a:ahLst/>
          <a:cxnLst/>
          <a:rect l="0" t="0" r="0" b="0"/>
          <a:pathLst>
            <a:path>
              <a:moveTo>
                <a:pt x="0" y="17578"/>
              </a:moveTo>
              <a:lnTo>
                <a:pt x="1462475" y="175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95185" y="3439751"/>
        <a:ext cx="73123" cy="73123"/>
      </dsp:txXfrm>
    </dsp:sp>
    <dsp:sp modelId="{BEED5D53-76E1-0944-B3BC-AD818A0AB431}">
      <dsp:nvSpPr>
        <dsp:cNvPr id="0" name=""/>
        <dsp:cNvSpPr/>
      </dsp:nvSpPr>
      <dsp:spPr>
        <a:xfrm>
          <a:off x="2720098" y="3610464"/>
          <a:ext cx="1941755" cy="970877"/>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a:t>Capitaux investis</a:t>
          </a:r>
          <a:endParaRPr lang="fr-CA" sz="2100" kern="1200"/>
        </a:p>
      </dsp:txBody>
      <dsp:txXfrm>
        <a:off x="2748534" y="3638900"/>
        <a:ext cx="1884883" cy="914005"/>
      </dsp:txXfrm>
    </dsp:sp>
    <dsp:sp modelId="{26EC6929-255B-D449-A6BB-FF156FC6203F}">
      <dsp:nvSpPr>
        <dsp:cNvPr id="0" name=""/>
        <dsp:cNvSpPr/>
      </dsp:nvSpPr>
      <dsp:spPr>
        <a:xfrm rot="19800855">
          <a:off x="4601840" y="3854239"/>
          <a:ext cx="896729" cy="35156"/>
        </a:xfrm>
        <a:custGeom>
          <a:avLst/>
          <a:gdLst/>
          <a:ahLst/>
          <a:cxnLst/>
          <a:rect l="0" t="0" r="0" b="0"/>
          <a:pathLst>
            <a:path>
              <a:moveTo>
                <a:pt x="0" y="17578"/>
              </a:moveTo>
              <a:lnTo>
                <a:pt x="896729"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7786" y="3849399"/>
        <a:ext cx="44836" cy="44836"/>
      </dsp:txXfrm>
    </dsp:sp>
    <dsp:sp modelId="{4039CDB2-D4E8-6047-91D8-4EDF08C3F132}">
      <dsp:nvSpPr>
        <dsp:cNvPr id="0" name=""/>
        <dsp:cNvSpPr/>
      </dsp:nvSpPr>
      <dsp:spPr>
        <a:xfrm>
          <a:off x="5438556" y="3272375"/>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Immobilisations</a:t>
          </a:r>
        </a:p>
      </dsp:txBody>
      <dsp:txXfrm>
        <a:off x="5460544" y="3294363"/>
        <a:ext cx="1897779" cy="706735"/>
      </dsp:txXfrm>
    </dsp:sp>
    <dsp:sp modelId="{0353674E-C868-0548-94E5-06C5CD0357BD}">
      <dsp:nvSpPr>
        <dsp:cNvPr id="0" name=""/>
        <dsp:cNvSpPr/>
      </dsp:nvSpPr>
      <dsp:spPr>
        <a:xfrm rot="611073">
          <a:off x="7374095" y="3699920"/>
          <a:ext cx="789136" cy="35156"/>
        </a:xfrm>
        <a:custGeom>
          <a:avLst/>
          <a:gdLst/>
          <a:ahLst/>
          <a:cxnLst/>
          <a:rect l="0" t="0" r="0" b="0"/>
          <a:pathLst>
            <a:path>
              <a:moveTo>
                <a:pt x="0" y="17578"/>
              </a:moveTo>
              <a:lnTo>
                <a:pt x="789136"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8934" y="3697770"/>
        <a:ext cx="39456" cy="39456"/>
      </dsp:txXfrm>
    </dsp:sp>
    <dsp:sp modelId="{2C87D59C-F0F0-C84D-AC74-4BC8E4ED6351}">
      <dsp:nvSpPr>
        <dsp:cNvPr id="0" name=""/>
        <dsp:cNvSpPr/>
      </dsp:nvSpPr>
      <dsp:spPr>
        <a:xfrm>
          <a:off x="8157014" y="3393827"/>
          <a:ext cx="3257489" cy="786877"/>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Utilisation de la capacité de production</a:t>
          </a:r>
        </a:p>
      </dsp:txBody>
      <dsp:txXfrm>
        <a:off x="8180061" y="3416874"/>
        <a:ext cx="3211395" cy="740783"/>
      </dsp:txXfrm>
    </dsp:sp>
    <dsp:sp modelId="{064FB03B-3B4C-8D4A-BCE2-C1406000B788}">
      <dsp:nvSpPr>
        <dsp:cNvPr id="0" name=""/>
        <dsp:cNvSpPr/>
      </dsp:nvSpPr>
      <dsp:spPr>
        <a:xfrm rot="1799145">
          <a:off x="4601840" y="4302411"/>
          <a:ext cx="896729" cy="35156"/>
        </a:xfrm>
        <a:custGeom>
          <a:avLst/>
          <a:gdLst/>
          <a:ahLst/>
          <a:cxnLst/>
          <a:rect l="0" t="0" r="0" b="0"/>
          <a:pathLst>
            <a:path>
              <a:moveTo>
                <a:pt x="0" y="17578"/>
              </a:moveTo>
              <a:lnTo>
                <a:pt x="896729"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7786" y="4297571"/>
        <a:ext cx="44836" cy="44836"/>
      </dsp:txXfrm>
    </dsp:sp>
    <dsp:sp modelId="{DF4B2534-1ACF-5E43-9E76-CA84F0017C3B}">
      <dsp:nvSpPr>
        <dsp:cNvPr id="0" name=""/>
        <dsp:cNvSpPr/>
      </dsp:nvSpPr>
      <dsp:spPr>
        <a:xfrm>
          <a:off x="5438556" y="4168719"/>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Stocks</a:t>
          </a:r>
        </a:p>
      </dsp:txBody>
      <dsp:txXfrm>
        <a:off x="5460544" y="4190707"/>
        <a:ext cx="1897779" cy="706735"/>
      </dsp:txXfrm>
    </dsp:sp>
    <dsp:sp modelId="{F0072538-0564-B247-AC30-414090A4097C}">
      <dsp:nvSpPr>
        <dsp:cNvPr id="0" name=""/>
        <dsp:cNvSpPr/>
      </dsp:nvSpPr>
      <dsp:spPr>
        <a:xfrm>
          <a:off x="7380312" y="4526497"/>
          <a:ext cx="776702" cy="35156"/>
        </a:xfrm>
        <a:custGeom>
          <a:avLst/>
          <a:gdLst/>
          <a:ahLst/>
          <a:cxnLst/>
          <a:rect l="0" t="0" r="0" b="0"/>
          <a:pathLst>
            <a:path>
              <a:moveTo>
                <a:pt x="0" y="17578"/>
              </a:moveTo>
              <a:lnTo>
                <a:pt x="776702"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9245" y="4524657"/>
        <a:ext cx="38835" cy="38835"/>
      </dsp:txXfrm>
    </dsp:sp>
    <dsp:sp modelId="{DD6D8D49-C69F-E641-80F7-C269E589D30D}">
      <dsp:nvSpPr>
        <dsp:cNvPr id="0" name=""/>
        <dsp:cNvSpPr/>
      </dsp:nvSpPr>
      <dsp:spPr>
        <a:xfrm>
          <a:off x="8157014" y="4245690"/>
          <a:ext cx="3257489" cy="596769"/>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Gestion des stocks</a:t>
          </a:r>
        </a:p>
      </dsp:txBody>
      <dsp:txXfrm>
        <a:off x="8174493" y="4263169"/>
        <a:ext cx="3222531" cy="5618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4539" y="2004408"/>
          <a:ext cx="1910202" cy="955101"/>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2513" y="2032382"/>
        <a:ext cx="1854254" cy="899153"/>
      </dsp:txXfrm>
    </dsp:sp>
    <dsp:sp modelId="{A3432406-8111-884C-8060-41F209606CA2}">
      <dsp:nvSpPr>
        <dsp:cNvPr id="0" name=""/>
        <dsp:cNvSpPr/>
      </dsp:nvSpPr>
      <dsp:spPr>
        <a:xfrm rot="18668104">
          <a:off x="1716029" y="2027265"/>
          <a:ext cx="1161506" cy="34584"/>
        </a:xfrm>
        <a:custGeom>
          <a:avLst/>
          <a:gdLst/>
          <a:ahLst/>
          <a:cxnLst/>
          <a:rect l="0" t="0" r="0" b="0"/>
          <a:pathLst>
            <a:path>
              <a:moveTo>
                <a:pt x="0" y="17292"/>
              </a:moveTo>
              <a:lnTo>
                <a:pt x="1161506"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7744" y="2015520"/>
        <a:ext cx="58075" cy="58075"/>
      </dsp:txXfrm>
    </dsp:sp>
    <dsp:sp modelId="{DD03E4B1-C7C8-804D-94F0-2EDEECF926F2}">
      <dsp:nvSpPr>
        <dsp:cNvPr id="0" name=""/>
        <dsp:cNvSpPr/>
      </dsp:nvSpPr>
      <dsp:spPr>
        <a:xfrm>
          <a:off x="2678822" y="655179"/>
          <a:ext cx="1910202" cy="1903955"/>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Résultat d</a:t>
          </a:r>
          <a:r>
            <a:rPr lang="fr-CA" sz="1800" b="1" kern="1200" dirty="0"/>
            <a:t>’</a:t>
          </a:r>
          <a:r>
            <a:rPr lang="fr-FR" sz="1800" b="1" kern="1200" dirty="0"/>
            <a:t>exploitation prévu</a:t>
          </a:r>
        </a:p>
        <a:p>
          <a:pPr marL="0" lvl="0" indent="0" algn="ctr" defTabSz="800100">
            <a:lnSpc>
              <a:spcPct val="90000"/>
            </a:lnSpc>
            <a:spcBef>
              <a:spcPct val="0"/>
            </a:spcBef>
            <a:spcAft>
              <a:spcPct val="35000"/>
            </a:spcAft>
            <a:buNone/>
          </a:pPr>
          <a:r>
            <a:rPr lang="fr-CA" sz="1800" kern="1200" dirty="0"/>
            <a:t> </a:t>
          </a:r>
          <a:r>
            <a:rPr lang="fr-CA" sz="1800" b="1" kern="1200" dirty="0">
              <a:solidFill>
                <a:srgbClr val="7030A0"/>
              </a:solidFill>
            </a:rPr>
            <a:t>90 000 $</a:t>
          </a:r>
        </a:p>
      </dsp:txBody>
      <dsp:txXfrm>
        <a:off x="2734587" y="710944"/>
        <a:ext cx="1798672" cy="1792425"/>
      </dsp:txXfrm>
    </dsp:sp>
    <dsp:sp modelId="{F2E0EAE7-9DE8-8342-B67F-0F503558932B}">
      <dsp:nvSpPr>
        <dsp:cNvPr id="0" name=""/>
        <dsp:cNvSpPr/>
      </dsp:nvSpPr>
      <dsp:spPr>
        <a:xfrm rot="19800855">
          <a:off x="4529986" y="1369420"/>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364659"/>
        <a:ext cx="44107" cy="44107"/>
      </dsp:txXfrm>
    </dsp:sp>
    <dsp:sp modelId="{178613B7-4E64-3E45-A05F-45BDBC338793}">
      <dsp:nvSpPr>
        <dsp:cNvPr id="0" name=""/>
        <dsp:cNvSpPr/>
      </dsp:nvSpPr>
      <dsp:spPr>
        <a:xfrm>
          <a:off x="5353106" y="79701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CA" sz="1800" kern="1200"/>
            <a:t>Ventes</a:t>
          </a:r>
        </a:p>
      </dsp:txBody>
      <dsp:txXfrm>
        <a:off x="5374736" y="818642"/>
        <a:ext cx="1866942" cy="695252"/>
      </dsp:txXfrm>
    </dsp:sp>
    <dsp:sp modelId="{A4D5A059-EE85-4B4B-800F-0D69888452A7}">
      <dsp:nvSpPr>
        <dsp:cNvPr id="0" name=""/>
        <dsp:cNvSpPr/>
      </dsp:nvSpPr>
      <dsp:spPr>
        <a:xfrm rot="1799145">
          <a:off x="4529986" y="1810309"/>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805548"/>
        <a:ext cx="44107" cy="44107"/>
      </dsp:txXfrm>
    </dsp:sp>
    <dsp:sp modelId="{D36DB649-D54E-8F46-B0A6-7652D1D53674}">
      <dsp:nvSpPr>
        <dsp:cNvPr id="0" name=""/>
        <dsp:cNvSpPr/>
      </dsp:nvSpPr>
      <dsp:spPr>
        <a:xfrm>
          <a:off x="5353106" y="1678790"/>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ts val="0"/>
            </a:spcAft>
            <a:buNone/>
          </a:pPr>
          <a:r>
            <a:rPr lang="fr-CA" sz="1800" kern="1200"/>
            <a:t>Coûts </a:t>
          </a:r>
        </a:p>
        <a:p>
          <a:pPr marL="0" lvl="0" indent="0" algn="ctr" defTabSz="800100">
            <a:lnSpc>
              <a:spcPct val="90000"/>
            </a:lnSpc>
            <a:spcBef>
              <a:spcPct val="0"/>
            </a:spcBef>
            <a:spcAft>
              <a:spcPct val="35000"/>
            </a:spcAft>
            <a:buNone/>
          </a:pPr>
          <a:r>
            <a:rPr lang="fr-CA" sz="1800" kern="1200"/>
            <a:t>Variables et fixes</a:t>
          </a:r>
        </a:p>
      </dsp:txBody>
      <dsp:txXfrm>
        <a:off x="5374736" y="1700420"/>
        <a:ext cx="1866942" cy="695252"/>
      </dsp:txXfrm>
    </dsp:sp>
    <dsp:sp modelId="{E4406B0D-CE27-9D43-9F9A-11C3EF1D695C}">
      <dsp:nvSpPr>
        <dsp:cNvPr id="0" name=""/>
        <dsp:cNvSpPr/>
      </dsp:nvSpPr>
      <dsp:spPr>
        <a:xfrm rot="3195615">
          <a:off x="1658112" y="2976471"/>
          <a:ext cx="1277340" cy="34584"/>
        </a:xfrm>
        <a:custGeom>
          <a:avLst/>
          <a:gdLst/>
          <a:ahLst/>
          <a:cxnLst/>
          <a:rect l="0" t="0" r="0" b="0"/>
          <a:pathLst>
            <a:path>
              <a:moveTo>
                <a:pt x="0" y="17292"/>
              </a:moveTo>
              <a:lnTo>
                <a:pt x="1277340"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4848" y="2961830"/>
        <a:ext cx="63867" cy="63867"/>
      </dsp:txXfrm>
    </dsp:sp>
    <dsp:sp modelId="{BEED5D53-76E1-0944-B3BC-AD818A0AB431}">
      <dsp:nvSpPr>
        <dsp:cNvPr id="0" name=""/>
        <dsp:cNvSpPr/>
      </dsp:nvSpPr>
      <dsp:spPr>
        <a:xfrm>
          <a:off x="2678822" y="2702401"/>
          <a:ext cx="1910202" cy="1606336"/>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b="1" kern="1200" dirty="0"/>
            <a:t>Capitaux investis</a:t>
          </a:r>
        </a:p>
        <a:p>
          <a:pPr marL="0" lvl="0" indent="0" algn="ctr" defTabSz="755650">
            <a:lnSpc>
              <a:spcPct val="90000"/>
            </a:lnSpc>
            <a:spcBef>
              <a:spcPct val="0"/>
            </a:spcBef>
            <a:spcAft>
              <a:spcPct val="35000"/>
            </a:spcAft>
            <a:buNone/>
          </a:pPr>
          <a:r>
            <a:rPr lang="fr-FR" sz="1700" b="1" kern="1200" dirty="0"/>
            <a:t>Budgétés</a:t>
          </a:r>
        </a:p>
        <a:p>
          <a:pPr marL="0" lvl="0" indent="0" algn="ctr" defTabSz="755650">
            <a:lnSpc>
              <a:spcPct val="90000"/>
            </a:lnSpc>
            <a:spcBef>
              <a:spcPct val="0"/>
            </a:spcBef>
            <a:spcAft>
              <a:spcPct val="35000"/>
            </a:spcAft>
            <a:buNone/>
          </a:pPr>
          <a:r>
            <a:rPr lang="fr-FR" sz="1700" b="1" kern="1200" dirty="0">
              <a:solidFill>
                <a:srgbClr val="7030A0"/>
              </a:solidFill>
            </a:rPr>
            <a:t>1 000 000 $</a:t>
          </a:r>
          <a:endParaRPr lang="fr-CA" sz="1700" kern="1200" dirty="0">
            <a:solidFill>
              <a:srgbClr val="7030A0"/>
            </a:solidFill>
          </a:endParaRPr>
        </a:p>
      </dsp:txBody>
      <dsp:txXfrm>
        <a:off x="2725870" y="2749449"/>
        <a:ext cx="1816106" cy="1512240"/>
      </dsp:txXfrm>
    </dsp:sp>
    <dsp:sp modelId="{26EC6929-255B-D449-A6BB-FF156FC6203F}">
      <dsp:nvSpPr>
        <dsp:cNvPr id="0" name=""/>
        <dsp:cNvSpPr/>
      </dsp:nvSpPr>
      <dsp:spPr>
        <a:xfrm rot="19800855">
          <a:off x="4529986" y="3267832"/>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263071"/>
        <a:ext cx="44107" cy="44107"/>
      </dsp:txXfrm>
    </dsp:sp>
    <dsp:sp modelId="{4039CDB2-D4E8-6047-91D8-4EDF08C3F132}">
      <dsp:nvSpPr>
        <dsp:cNvPr id="0" name=""/>
        <dsp:cNvSpPr/>
      </dsp:nvSpPr>
      <dsp:spPr>
        <a:xfrm>
          <a:off x="5353106" y="2695424"/>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Immobilisations</a:t>
          </a:r>
        </a:p>
      </dsp:txBody>
      <dsp:txXfrm>
        <a:off x="5374736" y="2717054"/>
        <a:ext cx="1866942" cy="695252"/>
      </dsp:txXfrm>
    </dsp:sp>
    <dsp:sp modelId="{064FB03B-3B4C-8D4A-BCE2-C1406000B788}">
      <dsp:nvSpPr>
        <dsp:cNvPr id="0" name=""/>
        <dsp:cNvSpPr/>
      </dsp:nvSpPr>
      <dsp:spPr>
        <a:xfrm rot="1799145">
          <a:off x="4529986" y="3708721"/>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703960"/>
        <a:ext cx="44107" cy="44107"/>
      </dsp:txXfrm>
    </dsp:sp>
    <dsp:sp modelId="{DF4B2534-1ACF-5E43-9E76-CA84F0017C3B}">
      <dsp:nvSpPr>
        <dsp:cNvPr id="0" name=""/>
        <dsp:cNvSpPr/>
      </dsp:nvSpPr>
      <dsp:spPr>
        <a:xfrm>
          <a:off x="5353106" y="357720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Stocks</a:t>
          </a:r>
        </a:p>
      </dsp:txBody>
      <dsp:txXfrm>
        <a:off x="5374736" y="3598832"/>
        <a:ext cx="1866942" cy="6952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4539" y="2004408"/>
          <a:ext cx="1910202" cy="955101"/>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2513" y="2032382"/>
        <a:ext cx="1854254" cy="899153"/>
      </dsp:txXfrm>
    </dsp:sp>
    <dsp:sp modelId="{A3432406-8111-884C-8060-41F209606CA2}">
      <dsp:nvSpPr>
        <dsp:cNvPr id="0" name=""/>
        <dsp:cNvSpPr/>
      </dsp:nvSpPr>
      <dsp:spPr>
        <a:xfrm rot="18668104">
          <a:off x="1716029" y="2027265"/>
          <a:ext cx="1161506" cy="34584"/>
        </a:xfrm>
        <a:custGeom>
          <a:avLst/>
          <a:gdLst/>
          <a:ahLst/>
          <a:cxnLst/>
          <a:rect l="0" t="0" r="0" b="0"/>
          <a:pathLst>
            <a:path>
              <a:moveTo>
                <a:pt x="0" y="17292"/>
              </a:moveTo>
              <a:lnTo>
                <a:pt x="1161506"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7744" y="2015520"/>
        <a:ext cx="58075" cy="58075"/>
      </dsp:txXfrm>
    </dsp:sp>
    <dsp:sp modelId="{DD03E4B1-C7C8-804D-94F0-2EDEECF926F2}">
      <dsp:nvSpPr>
        <dsp:cNvPr id="0" name=""/>
        <dsp:cNvSpPr/>
      </dsp:nvSpPr>
      <dsp:spPr>
        <a:xfrm>
          <a:off x="2678822" y="655179"/>
          <a:ext cx="1910202" cy="1903955"/>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Résultat d</a:t>
          </a:r>
          <a:r>
            <a:rPr lang="fr-CA" sz="1800" b="1" kern="1200" dirty="0"/>
            <a:t>’</a:t>
          </a:r>
          <a:r>
            <a:rPr lang="fr-FR" sz="1800" b="1" kern="1200" dirty="0"/>
            <a:t>exploitation prévu</a:t>
          </a:r>
        </a:p>
        <a:p>
          <a:pPr marL="0" lvl="0" indent="0" algn="ctr" defTabSz="800100">
            <a:lnSpc>
              <a:spcPct val="90000"/>
            </a:lnSpc>
            <a:spcBef>
              <a:spcPct val="0"/>
            </a:spcBef>
            <a:spcAft>
              <a:spcPct val="35000"/>
            </a:spcAft>
            <a:buNone/>
          </a:pPr>
          <a:r>
            <a:rPr lang="fr-CA" sz="1800" kern="1200" dirty="0"/>
            <a:t> </a:t>
          </a:r>
          <a:r>
            <a:rPr lang="fr-CA" sz="1800" b="1" kern="1200" dirty="0">
              <a:solidFill>
                <a:srgbClr val="7030A0"/>
              </a:solidFill>
            </a:rPr>
            <a:t>90 000 $</a:t>
          </a:r>
        </a:p>
      </dsp:txBody>
      <dsp:txXfrm>
        <a:off x="2734587" y="710944"/>
        <a:ext cx="1798672" cy="1792425"/>
      </dsp:txXfrm>
    </dsp:sp>
    <dsp:sp modelId="{F2E0EAE7-9DE8-8342-B67F-0F503558932B}">
      <dsp:nvSpPr>
        <dsp:cNvPr id="0" name=""/>
        <dsp:cNvSpPr/>
      </dsp:nvSpPr>
      <dsp:spPr>
        <a:xfrm rot="19800855">
          <a:off x="4529986" y="1369420"/>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364659"/>
        <a:ext cx="44107" cy="44107"/>
      </dsp:txXfrm>
    </dsp:sp>
    <dsp:sp modelId="{178613B7-4E64-3E45-A05F-45BDBC338793}">
      <dsp:nvSpPr>
        <dsp:cNvPr id="0" name=""/>
        <dsp:cNvSpPr/>
      </dsp:nvSpPr>
      <dsp:spPr>
        <a:xfrm>
          <a:off x="5353106" y="79701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CA" sz="1800" kern="1200"/>
            <a:t>Ventes</a:t>
          </a:r>
        </a:p>
      </dsp:txBody>
      <dsp:txXfrm>
        <a:off x="5374736" y="818642"/>
        <a:ext cx="1866942" cy="695252"/>
      </dsp:txXfrm>
    </dsp:sp>
    <dsp:sp modelId="{A4D5A059-EE85-4B4B-800F-0D69888452A7}">
      <dsp:nvSpPr>
        <dsp:cNvPr id="0" name=""/>
        <dsp:cNvSpPr/>
      </dsp:nvSpPr>
      <dsp:spPr>
        <a:xfrm rot="1799145">
          <a:off x="4529986" y="1810309"/>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805548"/>
        <a:ext cx="44107" cy="44107"/>
      </dsp:txXfrm>
    </dsp:sp>
    <dsp:sp modelId="{D36DB649-D54E-8F46-B0A6-7652D1D53674}">
      <dsp:nvSpPr>
        <dsp:cNvPr id="0" name=""/>
        <dsp:cNvSpPr/>
      </dsp:nvSpPr>
      <dsp:spPr>
        <a:xfrm>
          <a:off x="5353106" y="1678790"/>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ts val="0"/>
            </a:spcAft>
            <a:buNone/>
          </a:pPr>
          <a:r>
            <a:rPr lang="fr-CA" sz="1800" kern="1200"/>
            <a:t>Coûts </a:t>
          </a:r>
        </a:p>
        <a:p>
          <a:pPr marL="0" lvl="0" indent="0" algn="ctr" defTabSz="800100">
            <a:lnSpc>
              <a:spcPct val="90000"/>
            </a:lnSpc>
            <a:spcBef>
              <a:spcPct val="0"/>
            </a:spcBef>
            <a:spcAft>
              <a:spcPct val="35000"/>
            </a:spcAft>
            <a:buNone/>
          </a:pPr>
          <a:r>
            <a:rPr lang="fr-CA" sz="1800" kern="1200"/>
            <a:t>Variables et fixes</a:t>
          </a:r>
        </a:p>
      </dsp:txBody>
      <dsp:txXfrm>
        <a:off x="5374736" y="1700420"/>
        <a:ext cx="1866942" cy="695252"/>
      </dsp:txXfrm>
    </dsp:sp>
    <dsp:sp modelId="{E4406B0D-CE27-9D43-9F9A-11C3EF1D695C}">
      <dsp:nvSpPr>
        <dsp:cNvPr id="0" name=""/>
        <dsp:cNvSpPr/>
      </dsp:nvSpPr>
      <dsp:spPr>
        <a:xfrm rot="3195615">
          <a:off x="1658112" y="2976471"/>
          <a:ext cx="1277340" cy="34584"/>
        </a:xfrm>
        <a:custGeom>
          <a:avLst/>
          <a:gdLst/>
          <a:ahLst/>
          <a:cxnLst/>
          <a:rect l="0" t="0" r="0" b="0"/>
          <a:pathLst>
            <a:path>
              <a:moveTo>
                <a:pt x="0" y="17292"/>
              </a:moveTo>
              <a:lnTo>
                <a:pt x="1277340"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4848" y="2961830"/>
        <a:ext cx="63867" cy="63867"/>
      </dsp:txXfrm>
    </dsp:sp>
    <dsp:sp modelId="{BEED5D53-76E1-0944-B3BC-AD818A0AB431}">
      <dsp:nvSpPr>
        <dsp:cNvPr id="0" name=""/>
        <dsp:cNvSpPr/>
      </dsp:nvSpPr>
      <dsp:spPr>
        <a:xfrm>
          <a:off x="2678822" y="2702401"/>
          <a:ext cx="1910202" cy="1606336"/>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b="1" kern="1200" dirty="0"/>
            <a:t>Capitaux investis</a:t>
          </a:r>
        </a:p>
        <a:p>
          <a:pPr marL="0" lvl="0" indent="0" algn="ctr" defTabSz="755650">
            <a:lnSpc>
              <a:spcPct val="90000"/>
            </a:lnSpc>
            <a:spcBef>
              <a:spcPct val="0"/>
            </a:spcBef>
            <a:spcAft>
              <a:spcPct val="35000"/>
            </a:spcAft>
            <a:buNone/>
          </a:pPr>
          <a:r>
            <a:rPr lang="fr-FR" sz="1700" b="1" kern="1200" dirty="0"/>
            <a:t>Budgétés</a:t>
          </a:r>
        </a:p>
        <a:p>
          <a:pPr marL="0" lvl="0" indent="0" algn="ctr" defTabSz="755650">
            <a:lnSpc>
              <a:spcPct val="90000"/>
            </a:lnSpc>
            <a:spcBef>
              <a:spcPct val="0"/>
            </a:spcBef>
            <a:spcAft>
              <a:spcPct val="35000"/>
            </a:spcAft>
            <a:buNone/>
          </a:pPr>
          <a:r>
            <a:rPr lang="fr-FR" sz="1700" b="1" kern="1200" dirty="0">
              <a:solidFill>
                <a:srgbClr val="7030A0"/>
              </a:solidFill>
            </a:rPr>
            <a:t>1 000 000 $</a:t>
          </a:r>
          <a:endParaRPr lang="fr-CA" sz="1700" kern="1200" dirty="0">
            <a:solidFill>
              <a:srgbClr val="7030A0"/>
            </a:solidFill>
          </a:endParaRPr>
        </a:p>
      </dsp:txBody>
      <dsp:txXfrm>
        <a:off x="2725870" y="2749449"/>
        <a:ext cx="1816106" cy="1512240"/>
      </dsp:txXfrm>
    </dsp:sp>
    <dsp:sp modelId="{26EC6929-255B-D449-A6BB-FF156FC6203F}">
      <dsp:nvSpPr>
        <dsp:cNvPr id="0" name=""/>
        <dsp:cNvSpPr/>
      </dsp:nvSpPr>
      <dsp:spPr>
        <a:xfrm rot="19800855">
          <a:off x="4529986" y="3267832"/>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263071"/>
        <a:ext cx="44107" cy="44107"/>
      </dsp:txXfrm>
    </dsp:sp>
    <dsp:sp modelId="{4039CDB2-D4E8-6047-91D8-4EDF08C3F132}">
      <dsp:nvSpPr>
        <dsp:cNvPr id="0" name=""/>
        <dsp:cNvSpPr/>
      </dsp:nvSpPr>
      <dsp:spPr>
        <a:xfrm>
          <a:off x="5353106" y="2695424"/>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Immobilisations</a:t>
          </a:r>
        </a:p>
      </dsp:txBody>
      <dsp:txXfrm>
        <a:off x="5374736" y="2717054"/>
        <a:ext cx="1866942" cy="695252"/>
      </dsp:txXfrm>
    </dsp:sp>
    <dsp:sp modelId="{064FB03B-3B4C-8D4A-BCE2-C1406000B788}">
      <dsp:nvSpPr>
        <dsp:cNvPr id="0" name=""/>
        <dsp:cNvSpPr/>
      </dsp:nvSpPr>
      <dsp:spPr>
        <a:xfrm rot="1799145">
          <a:off x="4529986" y="3708721"/>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703960"/>
        <a:ext cx="44107" cy="44107"/>
      </dsp:txXfrm>
    </dsp:sp>
    <dsp:sp modelId="{DF4B2534-1ACF-5E43-9E76-CA84F0017C3B}">
      <dsp:nvSpPr>
        <dsp:cNvPr id="0" name=""/>
        <dsp:cNvSpPr/>
      </dsp:nvSpPr>
      <dsp:spPr>
        <a:xfrm>
          <a:off x="5353106" y="357720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Stocks</a:t>
          </a:r>
        </a:p>
      </dsp:txBody>
      <dsp:txXfrm>
        <a:off x="5374736" y="3598832"/>
        <a:ext cx="1866942" cy="6952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4539" y="2004408"/>
          <a:ext cx="1910202" cy="955101"/>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2513" y="2032382"/>
        <a:ext cx="1854254" cy="899153"/>
      </dsp:txXfrm>
    </dsp:sp>
    <dsp:sp modelId="{A3432406-8111-884C-8060-41F209606CA2}">
      <dsp:nvSpPr>
        <dsp:cNvPr id="0" name=""/>
        <dsp:cNvSpPr/>
      </dsp:nvSpPr>
      <dsp:spPr>
        <a:xfrm rot="18668104">
          <a:off x="1716029" y="2027265"/>
          <a:ext cx="1161506" cy="34584"/>
        </a:xfrm>
        <a:custGeom>
          <a:avLst/>
          <a:gdLst/>
          <a:ahLst/>
          <a:cxnLst/>
          <a:rect l="0" t="0" r="0" b="0"/>
          <a:pathLst>
            <a:path>
              <a:moveTo>
                <a:pt x="0" y="17292"/>
              </a:moveTo>
              <a:lnTo>
                <a:pt x="1161506"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7744" y="2015520"/>
        <a:ext cx="58075" cy="58075"/>
      </dsp:txXfrm>
    </dsp:sp>
    <dsp:sp modelId="{DD03E4B1-C7C8-804D-94F0-2EDEECF926F2}">
      <dsp:nvSpPr>
        <dsp:cNvPr id="0" name=""/>
        <dsp:cNvSpPr/>
      </dsp:nvSpPr>
      <dsp:spPr>
        <a:xfrm>
          <a:off x="2678822" y="655179"/>
          <a:ext cx="1910202" cy="1903955"/>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Résultat d</a:t>
          </a:r>
          <a:r>
            <a:rPr lang="fr-CA" sz="1800" b="1" kern="1200" dirty="0"/>
            <a:t>’</a:t>
          </a:r>
          <a:r>
            <a:rPr lang="fr-FR" sz="1800" b="1" kern="1200" dirty="0"/>
            <a:t>exploitation prévu</a:t>
          </a:r>
        </a:p>
        <a:p>
          <a:pPr marL="0" lvl="0" indent="0" algn="ctr" defTabSz="800100">
            <a:lnSpc>
              <a:spcPct val="90000"/>
            </a:lnSpc>
            <a:spcBef>
              <a:spcPct val="0"/>
            </a:spcBef>
            <a:spcAft>
              <a:spcPct val="35000"/>
            </a:spcAft>
            <a:buNone/>
          </a:pPr>
          <a:r>
            <a:rPr lang="fr-CA" sz="1800" kern="1200" dirty="0"/>
            <a:t> </a:t>
          </a:r>
          <a:r>
            <a:rPr lang="fr-CA" sz="1800" b="1" kern="1200" dirty="0">
              <a:solidFill>
                <a:srgbClr val="7030A0"/>
              </a:solidFill>
            </a:rPr>
            <a:t>90 000 $</a:t>
          </a:r>
        </a:p>
      </dsp:txBody>
      <dsp:txXfrm>
        <a:off x="2734587" y="710944"/>
        <a:ext cx="1798672" cy="1792425"/>
      </dsp:txXfrm>
    </dsp:sp>
    <dsp:sp modelId="{F2E0EAE7-9DE8-8342-B67F-0F503558932B}">
      <dsp:nvSpPr>
        <dsp:cNvPr id="0" name=""/>
        <dsp:cNvSpPr/>
      </dsp:nvSpPr>
      <dsp:spPr>
        <a:xfrm rot="19800855">
          <a:off x="4529986" y="1369420"/>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364659"/>
        <a:ext cx="44107" cy="44107"/>
      </dsp:txXfrm>
    </dsp:sp>
    <dsp:sp modelId="{178613B7-4E64-3E45-A05F-45BDBC338793}">
      <dsp:nvSpPr>
        <dsp:cNvPr id="0" name=""/>
        <dsp:cNvSpPr/>
      </dsp:nvSpPr>
      <dsp:spPr>
        <a:xfrm>
          <a:off x="5353106" y="79701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CA" sz="1800" kern="1200"/>
            <a:t>Ventes</a:t>
          </a:r>
        </a:p>
      </dsp:txBody>
      <dsp:txXfrm>
        <a:off x="5374736" y="818642"/>
        <a:ext cx="1866942" cy="695252"/>
      </dsp:txXfrm>
    </dsp:sp>
    <dsp:sp modelId="{A4D5A059-EE85-4B4B-800F-0D69888452A7}">
      <dsp:nvSpPr>
        <dsp:cNvPr id="0" name=""/>
        <dsp:cNvSpPr/>
      </dsp:nvSpPr>
      <dsp:spPr>
        <a:xfrm rot="1799145">
          <a:off x="4529986" y="1810309"/>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805548"/>
        <a:ext cx="44107" cy="44107"/>
      </dsp:txXfrm>
    </dsp:sp>
    <dsp:sp modelId="{D36DB649-D54E-8F46-B0A6-7652D1D53674}">
      <dsp:nvSpPr>
        <dsp:cNvPr id="0" name=""/>
        <dsp:cNvSpPr/>
      </dsp:nvSpPr>
      <dsp:spPr>
        <a:xfrm>
          <a:off x="5353106" y="1678790"/>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ts val="0"/>
            </a:spcAft>
            <a:buNone/>
          </a:pPr>
          <a:r>
            <a:rPr lang="fr-CA" sz="1800" kern="1200"/>
            <a:t>Coûts </a:t>
          </a:r>
        </a:p>
        <a:p>
          <a:pPr marL="0" lvl="0" indent="0" algn="ctr" defTabSz="800100">
            <a:lnSpc>
              <a:spcPct val="90000"/>
            </a:lnSpc>
            <a:spcBef>
              <a:spcPct val="0"/>
            </a:spcBef>
            <a:spcAft>
              <a:spcPct val="35000"/>
            </a:spcAft>
            <a:buNone/>
          </a:pPr>
          <a:r>
            <a:rPr lang="fr-CA" sz="1800" kern="1200"/>
            <a:t>Variables et fixes</a:t>
          </a:r>
        </a:p>
      </dsp:txBody>
      <dsp:txXfrm>
        <a:off x="5374736" y="1700420"/>
        <a:ext cx="1866942" cy="695252"/>
      </dsp:txXfrm>
    </dsp:sp>
    <dsp:sp modelId="{E4406B0D-CE27-9D43-9F9A-11C3EF1D695C}">
      <dsp:nvSpPr>
        <dsp:cNvPr id="0" name=""/>
        <dsp:cNvSpPr/>
      </dsp:nvSpPr>
      <dsp:spPr>
        <a:xfrm rot="3195615">
          <a:off x="1658112" y="2976471"/>
          <a:ext cx="1277340" cy="34584"/>
        </a:xfrm>
        <a:custGeom>
          <a:avLst/>
          <a:gdLst/>
          <a:ahLst/>
          <a:cxnLst/>
          <a:rect l="0" t="0" r="0" b="0"/>
          <a:pathLst>
            <a:path>
              <a:moveTo>
                <a:pt x="0" y="17292"/>
              </a:moveTo>
              <a:lnTo>
                <a:pt x="1277340"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4848" y="2961830"/>
        <a:ext cx="63867" cy="63867"/>
      </dsp:txXfrm>
    </dsp:sp>
    <dsp:sp modelId="{BEED5D53-76E1-0944-B3BC-AD818A0AB431}">
      <dsp:nvSpPr>
        <dsp:cNvPr id="0" name=""/>
        <dsp:cNvSpPr/>
      </dsp:nvSpPr>
      <dsp:spPr>
        <a:xfrm>
          <a:off x="2678822" y="2702401"/>
          <a:ext cx="1910202" cy="1606336"/>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b="1" kern="1200" dirty="0"/>
            <a:t>Capitaux investis</a:t>
          </a:r>
        </a:p>
        <a:p>
          <a:pPr marL="0" lvl="0" indent="0" algn="ctr" defTabSz="755650">
            <a:lnSpc>
              <a:spcPct val="90000"/>
            </a:lnSpc>
            <a:spcBef>
              <a:spcPct val="0"/>
            </a:spcBef>
            <a:spcAft>
              <a:spcPct val="35000"/>
            </a:spcAft>
            <a:buNone/>
          </a:pPr>
          <a:r>
            <a:rPr lang="fr-FR" sz="1700" b="1" kern="1200" dirty="0"/>
            <a:t>Budgétés</a:t>
          </a:r>
        </a:p>
        <a:p>
          <a:pPr marL="0" lvl="0" indent="0" algn="ctr" defTabSz="755650">
            <a:lnSpc>
              <a:spcPct val="90000"/>
            </a:lnSpc>
            <a:spcBef>
              <a:spcPct val="0"/>
            </a:spcBef>
            <a:spcAft>
              <a:spcPct val="35000"/>
            </a:spcAft>
            <a:buNone/>
          </a:pPr>
          <a:r>
            <a:rPr lang="fr-FR" sz="1700" b="1" kern="1200" dirty="0">
              <a:solidFill>
                <a:srgbClr val="7030A0"/>
              </a:solidFill>
            </a:rPr>
            <a:t>1 000 000 $</a:t>
          </a:r>
          <a:endParaRPr lang="fr-CA" sz="1700" kern="1200" dirty="0">
            <a:solidFill>
              <a:srgbClr val="7030A0"/>
            </a:solidFill>
          </a:endParaRPr>
        </a:p>
      </dsp:txBody>
      <dsp:txXfrm>
        <a:off x="2725870" y="2749449"/>
        <a:ext cx="1816106" cy="1512240"/>
      </dsp:txXfrm>
    </dsp:sp>
    <dsp:sp modelId="{26EC6929-255B-D449-A6BB-FF156FC6203F}">
      <dsp:nvSpPr>
        <dsp:cNvPr id="0" name=""/>
        <dsp:cNvSpPr/>
      </dsp:nvSpPr>
      <dsp:spPr>
        <a:xfrm rot="19800855">
          <a:off x="4529986" y="3267832"/>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263071"/>
        <a:ext cx="44107" cy="44107"/>
      </dsp:txXfrm>
    </dsp:sp>
    <dsp:sp modelId="{4039CDB2-D4E8-6047-91D8-4EDF08C3F132}">
      <dsp:nvSpPr>
        <dsp:cNvPr id="0" name=""/>
        <dsp:cNvSpPr/>
      </dsp:nvSpPr>
      <dsp:spPr>
        <a:xfrm>
          <a:off x="5353106" y="2695424"/>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Immobilisations</a:t>
          </a:r>
        </a:p>
      </dsp:txBody>
      <dsp:txXfrm>
        <a:off x="5374736" y="2717054"/>
        <a:ext cx="1866942" cy="695252"/>
      </dsp:txXfrm>
    </dsp:sp>
    <dsp:sp modelId="{064FB03B-3B4C-8D4A-BCE2-C1406000B788}">
      <dsp:nvSpPr>
        <dsp:cNvPr id="0" name=""/>
        <dsp:cNvSpPr/>
      </dsp:nvSpPr>
      <dsp:spPr>
        <a:xfrm rot="1799145">
          <a:off x="4529986" y="3708721"/>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703960"/>
        <a:ext cx="44107" cy="44107"/>
      </dsp:txXfrm>
    </dsp:sp>
    <dsp:sp modelId="{DF4B2534-1ACF-5E43-9E76-CA84F0017C3B}">
      <dsp:nvSpPr>
        <dsp:cNvPr id="0" name=""/>
        <dsp:cNvSpPr/>
      </dsp:nvSpPr>
      <dsp:spPr>
        <a:xfrm>
          <a:off x="5353106" y="357720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Stocks</a:t>
          </a:r>
        </a:p>
      </dsp:txBody>
      <dsp:txXfrm>
        <a:off x="5374736" y="3598832"/>
        <a:ext cx="1866942" cy="6952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CECAA4-A535-43DC-AA44-36D7A52F4982}">
      <dsp:nvSpPr>
        <dsp:cNvPr id="0" name=""/>
        <dsp:cNvSpPr/>
      </dsp:nvSpPr>
      <dsp:spPr>
        <a:xfrm>
          <a:off x="3545838" y="135817"/>
          <a:ext cx="2743417" cy="1094278"/>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CA" sz="2400" kern="1200"/>
            <a:t>Dimension  Financière</a:t>
          </a:r>
        </a:p>
      </dsp:txBody>
      <dsp:txXfrm>
        <a:off x="3599256" y="189235"/>
        <a:ext cx="2636581" cy="987442"/>
      </dsp:txXfrm>
    </dsp:sp>
    <dsp:sp modelId="{339C4270-9DBD-48C6-BB9E-8F6FA8021825}">
      <dsp:nvSpPr>
        <dsp:cNvPr id="0" name=""/>
        <dsp:cNvSpPr/>
      </dsp:nvSpPr>
      <dsp:spPr>
        <a:xfrm>
          <a:off x="5046377" y="1103377"/>
          <a:ext cx="3610422" cy="3610422"/>
        </a:xfrm>
        <a:custGeom>
          <a:avLst/>
          <a:gdLst/>
          <a:ahLst/>
          <a:cxnLst/>
          <a:rect l="0" t="0" r="0" b="0"/>
          <a:pathLst>
            <a:path>
              <a:moveTo>
                <a:pt x="1576763" y="14513"/>
              </a:moveTo>
              <a:arcTo wR="1805211" hR="1805211" stAng="15763787" swAng="2095351"/>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754AEFBF-BF5B-4BF8-BA20-666AE5D119B6}">
      <dsp:nvSpPr>
        <dsp:cNvPr id="0" name=""/>
        <dsp:cNvSpPr/>
      </dsp:nvSpPr>
      <dsp:spPr>
        <a:xfrm>
          <a:off x="6338476" y="1496444"/>
          <a:ext cx="3496340" cy="1502697"/>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CA" sz="2400" kern="1200"/>
            <a:t>Dimension </a:t>
          </a:r>
        </a:p>
        <a:p>
          <a:pPr marL="0" lvl="0" indent="0" algn="ctr" defTabSz="1066800">
            <a:lnSpc>
              <a:spcPct val="90000"/>
            </a:lnSpc>
            <a:spcBef>
              <a:spcPct val="0"/>
            </a:spcBef>
            <a:spcAft>
              <a:spcPct val="35000"/>
            </a:spcAft>
            <a:buNone/>
          </a:pPr>
          <a:r>
            <a:rPr lang="fr-CA" sz="2400" kern="1200"/>
            <a:t>Innovation et apprentissage</a:t>
          </a:r>
        </a:p>
      </dsp:txBody>
      <dsp:txXfrm>
        <a:off x="6411832" y="1569800"/>
        <a:ext cx="3349628" cy="1355985"/>
      </dsp:txXfrm>
    </dsp:sp>
    <dsp:sp modelId="{118AE932-1345-475E-9031-5A2B23471C87}">
      <dsp:nvSpPr>
        <dsp:cNvPr id="0" name=""/>
        <dsp:cNvSpPr/>
      </dsp:nvSpPr>
      <dsp:spPr>
        <a:xfrm>
          <a:off x="3777885" y="-61791"/>
          <a:ext cx="3610422" cy="3610422"/>
        </a:xfrm>
        <a:custGeom>
          <a:avLst/>
          <a:gdLst/>
          <a:ahLst/>
          <a:cxnLst/>
          <a:rect l="0" t="0" r="0" b="0"/>
          <a:pathLst>
            <a:path>
              <a:moveTo>
                <a:pt x="2974580" y="3180478"/>
              </a:moveTo>
              <a:arcTo wR="1805211" hR="1805211" stAng="2977559" swAng="1015753"/>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B2EAF18-24BB-4566-9487-DF6EA83278CA}">
      <dsp:nvSpPr>
        <dsp:cNvPr id="0" name=""/>
        <dsp:cNvSpPr/>
      </dsp:nvSpPr>
      <dsp:spPr>
        <a:xfrm>
          <a:off x="2879554" y="3461300"/>
          <a:ext cx="4435650" cy="1295656"/>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a:lnSpc>
              <a:spcPct val="90000"/>
            </a:lnSpc>
            <a:spcBef>
              <a:spcPct val="0"/>
            </a:spcBef>
            <a:spcAft>
              <a:spcPct val="35000"/>
            </a:spcAft>
            <a:buNone/>
          </a:pPr>
          <a:r>
            <a:rPr lang="fr-CA" sz="2400" kern="1200" dirty="0"/>
            <a:t>Dimension                                                   processus internes et employés</a:t>
          </a:r>
        </a:p>
      </dsp:txBody>
      <dsp:txXfrm>
        <a:off x="2942803" y="3524549"/>
        <a:ext cx="4309152" cy="1169158"/>
      </dsp:txXfrm>
    </dsp:sp>
    <dsp:sp modelId="{6006BCE1-2966-4048-A304-6D473211ED52}">
      <dsp:nvSpPr>
        <dsp:cNvPr id="0" name=""/>
        <dsp:cNvSpPr/>
      </dsp:nvSpPr>
      <dsp:spPr>
        <a:xfrm>
          <a:off x="2590993" y="-116489"/>
          <a:ext cx="3610422" cy="3610422"/>
        </a:xfrm>
        <a:custGeom>
          <a:avLst/>
          <a:gdLst/>
          <a:ahLst/>
          <a:cxnLst/>
          <a:rect l="0" t="0" r="0" b="0"/>
          <a:pathLst>
            <a:path>
              <a:moveTo>
                <a:pt x="1214492" y="3511035"/>
              </a:moveTo>
              <a:arcTo wR="1805211" hR="1805211" stAng="6546043" swAng="1529749"/>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A5088A2-E7DE-4413-9101-5316C8EB15CA}">
      <dsp:nvSpPr>
        <dsp:cNvPr id="0" name=""/>
        <dsp:cNvSpPr/>
      </dsp:nvSpPr>
      <dsp:spPr>
        <a:xfrm>
          <a:off x="677785" y="1715109"/>
          <a:ext cx="2846514" cy="1065379"/>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a:lnSpc>
              <a:spcPct val="90000"/>
            </a:lnSpc>
            <a:spcBef>
              <a:spcPct val="0"/>
            </a:spcBef>
            <a:spcAft>
              <a:spcPct val="35000"/>
            </a:spcAft>
            <a:buNone/>
          </a:pPr>
          <a:r>
            <a:rPr lang="fr-CA" sz="2400" kern="1200" dirty="0"/>
            <a:t>Dimension Client</a:t>
          </a:r>
        </a:p>
      </dsp:txBody>
      <dsp:txXfrm>
        <a:off x="729793" y="1767117"/>
        <a:ext cx="2742498" cy="961363"/>
      </dsp:txXfrm>
    </dsp:sp>
    <dsp:sp modelId="{2B4E7DF4-7630-4CC5-9677-71C0AA5C8821}">
      <dsp:nvSpPr>
        <dsp:cNvPr id="0" name=""/>
        <dsp:cNvSpPr/>
      </dsp:nvSpPr>
      <dsp:spPr>
        <a:xfrm>
          <a:off x="1637355" y="1179215"/>
          <a:ext cx="3610422" cy="3610422"/>
        </a:xfrm>
        <a:custGeom>
          <a:avLst/>
          <a:gdLst/>
          <a:ahLst/>
          <a:cxnLst/>
          <a:rect l="0" t="0" r="0" b="0"/>
          <a:pathLst>
            <a:path>
              <a:moveTo>
                <a:pt x="794636" y="309374"/>
              </a:moveTo>
              <a:arcTo wR="1805211" hR="1805211" stAng="14157442" swAng="2184021"/>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126B6-BA02-47E0-B12B-556E6C23F9FB}">
      <dsp:nvSpPr>
        <dsp:cNvPr id="0" name=""/>
        <dsp:cNvSpPr/>
      </dsp:nvSpPr>
      <dsp:spPr>
        <a:xfrm>
          <a:off x="0" y="0"/>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DCA6300-A7D4-4559-8FCE-F520AB84264C}">
      <dsp:nvSpPr>
        <dsp:cNvPr id="0" name=""/>
        <dsp:cNvSpPr/>
      </dsp:nvSpPr>
      <dsp:spPr>
        <a:xfrm>
          <a:off x="0" y="0"/>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CA" sz="1700" kern="1200" noProof="0" dirty="0">
              <a:latin typeface="Calibri Light" panose="020F0302020204030204"/>
            </a:rPr>
            <a:t>La</a:t>
          </a:r>
          <a:r>
            <a:rPr lang="fr-CA" sz="1700" kern="1200" noProof="0" dirty="0"/>
            <a:t> proposition stratégique</a:t>
          </a:r>
          <a:r>
            <a:rPr lang="fr-CA" sz="1700" kern="1200" noProof="0" dirty="0">
              <a:latin typeface="Calibri Light" panose="020F0302020204030204"/>
            </a:rPr>
            <a:t> </a:t>
          </a:r>
          <a:r>
            <a:rPr lang="fr-CA" sz="1700" kern="1200" noProof="0" dirty="0"/>
            <a:t>de Biscuiteries de Montmagny</a:t>
          </a:r>
          <a:r>
            <a:rPr lang="fr-CA" sz="1700" kern="1200" noProof="0" dirty="0">
              <a:latin typeface="Calibri Light" panose="020F0302020204030204"/>
            </a:rPr>
            <a:t> </a:t>
          </a:r>
          <a:r>
            <a:rPr lang="fr-CA" sz="1700" kern="1200" noProof="0" dirty="0"/>
            <a:t>est formulée en ces termes : « Proposer des biscuits d’une qualité irréprochable et utilisant exclusivement des produits locaux afin d’offrir à nos clients une expérience gustative inégalée ».</a:t>
          </a:r>
        </a:p>
      </dsp:txBody>
      <dsp:txXfrm>
        <a:off x="0" y="0"/>
        <a:ext cx="7689153" cy="1000961"/>
      </dsp:txXfrm>
    </dsp:sp>
    <dsp:sp modelId="{4EC36AD7-1A3F-4703-816D-B0E06D2FA2F1}">
      <dsp:nvSpPr>
        <dsp:cNvPr id="0" name=""/>
        <dsp:cNvSpPr/>
      </dsp:nvSpPr>
      <dsp:spPr>
        <a:xfrm>
          <a:off x="0" y="1000961"/>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4CCD608-3F5C-4E49-BDF8-F22F063F84B6}">
      <dsp:nvSpPr>
        <dsp:cNvPr id="0" name=""/>
        <dsp:cNvSpPr/>
      </dsp:nvSpPr>
      <dsp:spPr>
        <a:xfrm>
          <a:off x="0" y="1000961"/>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CA" sz="1700" kern="1200" noProof="0" dirty="0"/>
            <a:t>La performance et la rémunération seront basées sur l’atteinte de cibles liées aux indicateurs de performance répertoriés dans le tableau de bord.</a:t>
          </a:r>
        </a:p>
      </dsp:txBody>
      <dsp:txXfrm>
        <a:off x="0" y="1000961"/>
        <a:ext cx="7689153" cy="1000961"/>
      </dsp:txXfrm>
    </dsp:sp>
    <dsp:sp modelId="{49FC9D1E-9A3A-4329-B283-B2F5C246AEEB}">
      <dsp:nvSpPr>
        <dsp:cNvPr id="0" name=""/>
        <dsp:cNvSpPr/>
      </dsp:nvSpPr>
      <dsp:spPr>
        <a:xfrm>
          <a:off x="0" y="2001922"/>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595403E-896E-4D12-8BCE-AE1BF5632B16}">
      <dsp:nvSpPr>
        <dsp:cNvPr id="0" name=""/>
        <dsp:cNvSpPr/>
      </dsp:nvSpPr>
      <dsp:spPr>
        <a:xfrm>
          <a:off x="0" y="2001922"/>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CA" sz="1700" b="0" kern="1200" noProof="0"/>
            <a:t>Le tableau de bord développé par le directeur général  est présenté à la page suivante </a:t>
          </a:r>
          <a:endParaRPr lang="fr-CA" sz="1700" b="0" kern="1200" noProof="0">
            <a:latin typeface="Calibri Light" panose="020F0302020204030204"/>
          </a:endParaRPr>
        </a:p>
      </dsp:txBody>
      <dsp:txXfrm>
        <a:off x="0" y="2001922"/>
        <a:ext cx="7689153" cy="1000961"/>
      </dsp:txXfrm>
    </dsp:sp>
    <dsp:sp modelId="{67A0E5A9-1108-4F2A-AFC2-3DA02FDB3812}">
      <dsp:nvSpPr>
        <dsp:cNvPr id="0" name=""/>
        <dsp:cNvSpPr/>
      </dsp:nvSpPr>
      <dsp:spPr>
        <a:xfrm>
          <a:off x="0" y="3002883"/>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1B462EC-45BB-47A9-9E53-7715DF8D4EC3}">
      <dsp:nvSpPr>
        <dsp:cNvPr id="0" name=""/>
        <dsp:cNvSpPr/>
      </dsp:nvSpPr>
      <dsp:spPr>
        <a:xfrm>
          <a:off x="0" y="3002883"/>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A" sz="1700" b="1" kern="1200" noProof="0"/>
            <a:t>Identifier des lacunes dans le tableau de bord proposé en expliquant pourquoi vous considérez que ce sont des lacunes </a:t>
          </a:r>
          <a:endParaRPr lang="fr-CA" sz="1700" kern="1200" noProof="0"/>
        </a:p>
      </dsp:txBody>
      <dsp:txXfrm>
        <a:off x="0" y="3002883"/>
        <a:ext cx="7689153" cy="10009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CECAA4-A535-43DC-AA44-36D7A52F4982}">
      <dsp:nvSpPr>
        <dsp:cNvPr id="0" name=""/>
        <dsp:cNvSpPr/>
      </dsp:nvSpPr>
      <dsp:spPr>
        <a:xfrm>
          <a:off x="3796625" y="136217"/>
          <a:ext cx="1671566" cy="806883"/>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a:t>Dimension  Financière</a:t>
          </a:r>
        </a:p>
      </dsp:txBody>
      <dsp:txXfrm>
        <a:off x="3836014" y="175606"/>
        <a:ext cx="1592788" cy="728105"/>
      </dsp:txXfrm>
    </dsp:sp>
    <dsp:sp modelId="{339C4270-9DBD-48C6-BB9E-8F6FA8021825}">
      <dsp:nvSpPr>
        <dsp:cNvPr id="0" name=""/>
        <dsp:cNvSpPr/>
      </dsp:nvSpPr>
      <dsp:spPr>
        <a:xfrm>
          <a:off x="4456847" y="826220"/>
          <a:ext cx="2665481" cy="2665481"/>
        </a:xfrm>
        <a:custGeom>
          <a:avLst/>
          <a:gdLst/>
          <a:ahLst/>
          <a:cxnLst/>
          <a:rect l="0" t="0" r="0" b="0"/>
          <a:pathLst>
            <a:path>
              <a:moveTo>
                <a:pt x="1283300" y="917"/>
              </a:moveTo>
              <a:arcTo wR="1332740" hR="1332740" stAng="16072441" swAng="2309269"/>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754AEFBF-BF5B-4BF8-BA20-666AE5D119B6}">
      <dsp:nvSpPr>
        <dsp:cNvPr id="0" name=""/>
        <dsp:cNvSpPr/>
      </dsp:nvSpPr>
      <dsp:spPr>
        <a:xfrm>
          <a:off x="5551770" y="1270481"/>
          <a:ext cx="2578082" cy="924811"/>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a:t>Dimension </a:t>
          </a:r>
        </a:p>
        <a:p>
          <a:pPr marL="0" lvl="0" indent="0" algn="ctr" defTabSz="711200">
            <a:lnSpc>
              <a:spcPct val="90000"/>
            </a:lnSpc>
            <a:spcBef>
              <a:spcPct val="0"/>
            </a:spcBef>
            <a:spcAft>
              <a:spcPct val="35000"/>
            </a:spcAft>
            <a:buNone/>
          </a:pPr>
          <a:r>
            <a:rPr lang="fr-CA" sz="1600" kern="1200"/>
            <a:t>Innovation et apprentissage</a:t>
          </a:r>
        </a:p>
      </dsp:txBody>
      <dsp:txXfrm>
        <a:off x="5596916" y="1315627"/>
        <a:ext cx="2487790" cy="834519"/>
      </dsp:txXfrm>
    </dsp:sp>
    <dsp:sp modelId="{118AE932-1345-475E-9031-5A2B23471C87}">
      <dsp:nvSpPr>
        <dsp:cNvPr id="0" name=""/>
        <dsp:cNvSpPr/>
      </dsp:nvSpPr>
      <dsp:spPr>
        <a:xfrm>
          <a:off x="3674620" y="-81011"/>
          <a:ext cx="2665481" cy="2665481"/>
        </a:xfrm>
        <a:custGeom>
          <a:avLst/>
          <a:gdLst/>
          <a:ahLst/>
          <a:cxnLst/>
          <a:rect l="0" t="0" r="0" b="0"/>
          <a:pathLst>
            <a:path>
              <a:moveTo>
                <a:pt x="2153703" y="2382605"/>
              </a:moveTo>
              <a:arcTo wR="1332740" hR="1332740" stAng="3118538" swAng="1275443"/>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B2EAF18-24BB-4566-9487-DF6EA83278CA}">
      <dsp:nvSpPr>
        <dsp:cNvPr id="0" name=""/>
        <dsp:cNvSpPr/>
      </dsp:nvSpPr>
      <dsp:spPr>
        <a:xfrm>
          <a:off x="3151492" y="2564773"/>
          <a:ext cx="2907693" cy="653316"/>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dirty="0"/>
            <a:t>Dimension                                                   Processus internes et employés</a:t>
          </a:r>
        </a:p>
      </dsp:txBody>
      <dsp:txXfrm>
        <a:off x="3183384" y="2596665"/>
        <a:ext cx="2843909" cy="589532"/>
      </dsp:txXfrm>
    </dsp:sp>
    <dsp:sp modelId="{6006BCE1-2966-4048-A304-6D473211ED52}">
      <dsp:nvSpPr>
        <dsp:cNvPr id="0" name=""/>
        <dsp:cNvSpPr/>
      </dsp:nvSpPr>
      <dsp:spPr>
        <a:xfrm>
          <a:off x="2827934" y="-89691"/>
          <a:ext cx="2665481" cy="2665481"/>
        </a:xfrm>
        <a:custGeom>
          <a:avLst/>
          <a:gdLst/>
          <a:ahLst/>
          <a:cxnLst/>
          <a:rect l="0" t="0" r="0" b="0"/>
          <a:pathLst>
            <a:path>
              <a:moveTo>
                <a:pt x="978216" y="2617462"/>
              </a:moveTo>
              <a:arcTo wR="1332740" hR="1332740" stAng="6325623" swAng="1502682"/>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A5088A2-E7DE-4413-9101-5316C8EB15CA}">
      <dsp:nvSpPr>
        <dsp:cNvPr id="0" name=""/>
        <dsp:cNvSpPr/>
      </dsp:nvSpPr>
      <dsp:spPr>
        <a:xfrm>
          <a:off x="1135759" y="1340105"/>
          <a:ext cx="2572068" cy="785574"/>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a:t>Dimension Client</a:t>
          </a:r>
        </a:p>
      </dsp:txBody>
      <dsp:txXfrm>
        <a:off x="1174108" y="1378454"/>
        <a:ext cx="2495370" cy="708876"/>
      </dsp:txXfrm>
    </dsp:sp>
    <dsp:sp modelId="{2B4E7DF4-7630-4CC5-9677-71C0AA5C8821}">
      <dsp:nvSpPr>
        <dsp:cNvPr id="0" name=""/>
        <dsp:cNvSpPr/>
      </dsp:nvSpPr>
      <dsp:spPr>
        <a:xfrm>
          <a:off x="2176899" y="834288"/>
          <a:ext cx="2665481" cy="2665481"/>
        </a:xfrm>
        <a:custGeom>
          <a:avLst/>
          <a:gdLst/>
          <a:ahLst/>
          <a:cxnLst/>
          <a:rect l="0" t="0" r="0" b="0"/>
          <a:pathLst>
            <a:path>
              <a:moveTo>
                <a:pt x="485185" y="304223"/>
              </a:moveTo>
              <a:arcTo wR="1332740" hR="1332740" stAng="13830576" swAng="2385981"/>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2"/>
            <a:ext cx="3037840" cy="466434"/>
          </a:xfrm>
          <a:prstGeom prst="rect">
            <a:avLst/>
          </a:prstGeom>
        </p:spPr>
        <p:txBody>
          <a:bodyPr vert="horz" lIns="93177" tIns="46589" rIns="93177" bIns="46589" rtlCol="0"/>
          <a:lstStyle>
            <a:lvl1pPr algn="r">
              <a:defRPr sz="1200"/>
            </a:lvl1pPr>
          </a:lstStyle>
          <a:p>
            <a:fld id="{560A3AAB-47D1-4662-A762-08EA563F584F}" type="datetimeFigureOut">
              <a:rPr lang="fr-CA" smtClean="0"/>
              <a:t>2026-09-17</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r>
              <a:rPr lang="en-US"/>
              <a:t>(c) 2021- 2022 (10904 - S011) - Version A2021</a:t>
            </a:r>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CE8287A-0C42-4A4D-92F4-1137A5D8F5F6}" type="slidenum">
              <a:rPr lang="fr-CA" smtClean="0"/>
              <a:t>‹N°›</a:t>
            </a:fld>
            <a:endParaRPr lang="fr-CA"/>
          </a:p>
        </p:txBody>
      </p:sp>
    </p:spTree>
    <p:extLst>
      <p:ext uri="{BB962C8B-B14F-4D97-AF65-F5344CB8AC3E}">
        <p14:creationId xmlns:p14="http://schemas.microsoft.com/office/powerpoint/2010/main" val="412274907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2"/>
            <a:ext cx="3037840" cy="466434"/>
          </a:xfrm>
          <a:prstGeom prst="rect">
            <a:avLst/>
          </a:prstGeom>
        </p:spPr>
        <p:txBody>
          <a:bodyPr vert="horz" lIns="93177" tIns="46589" rIns="93177" bIns="46589" rtlCol="0"/>
          <a:lstStyle>
            <a:lvl1pPr algn="r">
              <a:defRPr sz="1200"/>
            </a:lvl1pPr>
          </a:lstStyle>
          <a:p>
            <a:fld id="{BF7AB90F-F7BC-4700-9960-B769A15787B7}" type="datetimeFigureOut">
              <a:rPr lang="fr-CA" smtClean="0"/>
              <a:t>2026-09-17</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1"/>
            <a:ext cx="5608320" cy="3660459"/>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r>
              <a:rPr lang="en-US"/>
              <a:t>(c) 2021- 2022 (10904 - S011) - Version A2021</a:t>
            </a:r>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8756633-E94B-447C-907F-5A907A338167}" type="slidenum">
              <a:rPr lang="fr-CA" smtClean="0"/>
              <a:t>‹N°›</a:t>
            </a:fld>
            <a:endParaRPr lang="fr-CA"/>
          </a:p>
        </p:txBody>
      </p:sp>
    </p:spTree>
    <p:extLst>
      <p:ext uri="{BB962C8B-B14F-4D97-AF65-F5344CB8AC3E}">
        <p14:creationId xmlns:p14="http://schemas.microsoft.com/office/powerpoint/2010/main" val="197038235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cs typeface="Calibri"/>
            </a:endParaRPr>
          </a:p>
        </p:txBody>
      </p:sp>
      <p:sp>
        <p:nvSpPr>
          <p:cNvPr id="4" name="Espace réservé du numéro de diapositive 3"/>
          <p:cNvSpPr>
            <a:spLocks noGrp="1"/>
          </p:cNvSpPr>
          <p:nvPr>
            <p:ph type="sldNum" sz="quarter" idx="10"/>
          </p:nvPr>
        </p:nvSpPr>
        <p:spPr/>
        <p:txBody>
          <a:bodyPr/>
          <a:lstStyle/>
          <a:p>
            <a:fld id="{15D131D5-6477-4BF7-8776-36E89AAF915A}" type="slidenum">
              <a:rPr lang="fr-CA" smtClean="0">
                <a:solidFill>
                  <a:prstClr val="black"/>
                </a:solidFill>
              </a:rPr>
              <a:pPr/>
              <a:t>1</a:t>
            </a:fld>
            <a:endParaRPr lang="fr-CA">
              <a:solidFill>
                <a:prstClr val="black"/>
              </a:solidFill>
            </a:endParaRPr>
          </a:p>
        </p:txBody>
      </p:sp>
    </p:spTree>
    <p:extLst>
      <p:ext uri="{BB962C8B-B14F-4D97-AF65-F5344CB8AC3E}">
        <p14:creationId xmlns:p14="http://schemas.microsoft.com/office/powerpoint/2010/main" val="500224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48DA6A8B-D89A-46FD-832A-72A49CB14D75}" type="slidenum">
              <a:rPr lang="fr-CA" smtClean="0"/>
              <a:t>2</a:t>
            </a:fld>
            <a:endParaRPr lang="fr-CA"/>
          </a:p>
        </p:txBody>
      </p:sp>
    </p:spTree>
    <p:extLst>
      <p:ext uri="{BB962C8B-B14F-4D97-AF65-F5344CB8AC3E}">
        <p14:creationId xmlns:p14="http://schemas.microsoft.com/office/powerpoint/2010/main" val="248201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3</a:t>
            </a:fld>
            <a:endParaRPr lang="fr-CA"/>
          </a:p>
        </p:txBody>
      </p:sp>
    </p:spTree>
    <p:extLst>
      <p:ext uri="{BB962C8B-B14F-4D97-AF65-F5344CB8AC3E}">
        <p14:creationId xmlns:p14="http://schemas.microsoft.com/office/powerpoint/2010/main" val="3579209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4</a:t>
            </a:fld>
            <a:endParaRPr lang="fr-CA"/>
          </a:p>
        </p:txBody>
      </p:sp>
    </p:spTree>
    <p:extLst>
      <p:ext uri="{BB962C8B-B14F-4D97-AF65-F5344CB8AC3E}">
        <p14:creationId xmlns:p14="http://schemas.microsoft.com/office/powerpoint/2010/main" val="4217510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DCB82D50-3487-4319-A708-179A114042C0}" type="slidenum">
              <a:rPr lang="fr-FR"/>
              <a:pPr/>
              <a:t>5</a:t>
            </a:fld>
            <a:endParaRPr lang="fr-FR"/>
          </a:p>
        </p:txBody>
      </p:sp>
      <p:sp>
        <p:nvSpPr>
          <p:cNvPr id="4403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964941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6</a:t>
            </a:fld>
            <a:endParaRPr lang="fr-CA" dirty="0"/>
          </a:p>
        </p:txBody>
      </p:sp>
    </p:spTree>
    <p:extLst>
      <p:ext uri="{BB962C8B-B14F-4D97-AF65-F5344CB8AC3E}">
        <p14:creationId xmlns:p14="http://schemas.microsoft.com/office/powerpoint/2010/main" val="2419725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cs typeface="Calibri" panose="020F0502020204030204"/>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9836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DCB82D50-3487-4319-A708-179A114042C0}" type="slidenum">
              <a:rPr lang="fr-FR"/>
              <a:pPr/>
              <a:t>8</a:t>
            </a:fld>
            <a:endParaRPr lang="fr-FR"/>
          </a:p>
        </p:txBody>
      </p:sp>
      <p:sp>
        <p:nvSpPr>
          <p:cNvPr id="4403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a:xfrm>
            <a:off x="701040" y="4473891"/>
            <a:ext cx="5608320" cy="4167189"/>
          </a:xfrm>
        </p:spPr>
        <p:txBody>
          <a:bodyPr/>
          <a:lstStyle/>
          <a:p>
            <a:endParaRPr lang="fr-CA" dirty="0"/>
          </a:p>
        </p:txBody>
      </p:sp>
    </p:spTree>
    <p:extLst>
      <p:ext uri="{BB962C8B-B14F-4D97-AF65-F5344CB8AC3E}">
        <p14:creationId xmlns:p14="http://schemas.microsoft.com/office/powerpoint/2010/main" val="2027693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9</a:t>
            </a:fld>
            <a:endParaRPr lang="fr-CA"/>
          </a:p>
        </p:txBody>
      </p:sp>
    </p:spTree>
    <p:extLst>
      <p:ext uri="{BB962C8B-B14F-4D97-AF65-F5344CB8AC3E}">
        <p14:creationId xmlns:p14="http://schemas.microsoft.com/office/powerpoint/2010/main" val="3833654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1AAC0AAA-C176-4F65-BBFF-240810839C11}" type="slidenum">
              <a:rPr lang="fr-FR" smtClean="0"/>
              <a:pPr>
                <a:defRPr/>
              </a:pPr>
              <a:t>10</a:t>
            </a:fld>
            <a:endParaRPr lang="fr-FR"/>
          </a:p>
        </p:txBody>
      </p:sp>
      <p:sp>
        <p:nvSpPr>
          <p:cNvPr id="5" name="Espace réservé des commentaires 4"/>
          <p:cNvSpPr>
            <a:spLocks noGrp="1"/>
          </p:cNvSpPr>
          <p:nvPr>
            <p:ph type="body" sz="quarter" idx="11"/>
          </p:nvPr>
        </p:nvSpPr>
        <p:spPr/>
        <p:txBody>
          <a:bodyPr/>
          <a:lstStyle/>
          <a:p>
            <a:endParaRPr lang="fr-CA" dirty="0"/>
          </a:p>
        </p:txBody>
      </p:sp>
    </p:spTree>
    <p:extLst>
      <p:ext uri="{BB962C8B-B14F-4D97-AF65-F5344CB8AC3E}">
        <p14:creationId xmlns:p14="http://schemas.microsoft.com/office/powerpoint/2010/main" val="636979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B8CEB29B-6F59-4D56-8D6E-FA01DCC9D581}" type="slidenum">
              <a:rPr lang="fr-FR"/>
              <a:pPr/>
              <a:t>11</a:t>
            </a:fld>
            <a:endParaRPr lang="fr-FR" dirty="0"/>
          </a:p>
        </p:txBody>
      </p:sp>
      <p:sp>
        <p:nvSpPr>
          <p:cNvPr id="3481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570840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12</a:t>
            </a:fld>
            <a:endParaRPr lang="fr-CA"/>
          </a:p>
        </p:txBody>
      </p:sp>
    </p:spTree>
    <p:extLst>
      <p:ext uri="{BB962C8B-B14F-4D97-AF65-F5344CB8AC3E}">
        <p14:creationId xmlns:p14="http://schemas.microsoft.com/office/powerpoint/2010/main" val="3218320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13</a:t>
            </a:fld>
            <a:endParaRPr lang="fr-CA"/>
          </a:p>
        </p:txBody>
      </p:sp>
    </p:spTree>
    <p:extLst>
      <p:ext uri="{BB962C8B-B14F-4D97-AF65-F5344CB8AC3E}">
        <p14:creationId xmlns:p14="http://schemas.microsoft.com/office/powerpoint/2010/main" val="730507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432365"/>
          </a:xfrm>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14</a:t>
            </a:fld>
            <a:endParaRPr lang="fr-CA"/>
          </a:p>
        </p:txBody>
      </p:sp>
    </p:spTree>
    <p:extLst>
      <p:ext uri="{BB962C8B-B14F-4D97-AF65-F5344CB8AC3E}">
        <p14:creationId xmlns:p14="http://schemas.microsoft.com/office/powerpoint/2010/main" val="190335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15</a:t>
            </a:fld>
            <a:endParaRPr lang="fr-CA"/>
          </a:p>
        </p:txBody>
      </p:sp>
    </p:spTree>
    <p:extLst>
      <p:ext uri="{BB962C8B-B14F-4D97-AF65-F5344CB8AC3E}">
        <p14:creationId xmlns:p14="http://schemas.microsoft.com/office/powerpoint/2010/main" val="40110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16</a:t>
            </a:fld>
            <a:endParaRPr lang="fr-CA"/>
          </a:p>
        </p:txBody>
      </p:sp>
    </p:spTree>
    <p:extLst>
      <p:ext uri="{BB962C8B-B14F-4D97-AF65-F5344CB8AC3E}">
        <p14:creationId xmlns:p14="http://schemas.microsoft.com/office/powerpoint/2010/main" val="476623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FC72A-DA01-B8DC-1DC6-4E4E090E583D}"/>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568EAB3A-641F-1444-C9A6-65D18A934D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A97D1C-E28A-C6AB-3835-AEA9457FA45A}"/>
              </a:ext>
            </a:extLst>
          </p:cNvPr>
          <p:cNvSpPr>
            <a:spLocks noGrp="1"/>
          </p:cNvSpPr>
          <p:nvPr>
            <p:ph type="body" idx="1"/>
          </p:nvPr>
        </p:nvSpPr>
        <p:spPr>
          <a:xfrm>
            <a:off x="701040" y="4473891"/>
            <a:ext cx="5608320" cy="4724973"/>
          </a:xfrm>
        </p:spPr>
        <p:txBody>
          <a:bodyPr/>
          <a:lstStyle/>
          <a:p>
            <a:endParaRPr lang="fr-CA" dirty="0"/>
          </a:p>
          <a:p>
            <a:endParaRPr lang="fr-CA" dirty="0"/>
          </a:p>
        </p:txBody>
      </p:sp>
      <p:sp>
        <p:nvSpPr>
          <p:cNvPr id="4" name="Espace réservé du numéro de diapositive 3">
            <a:extLst>
              <a:ext uri="{FF2B5EF4-FFF2-40B4-BE49-F238E27FC236}">
                <a16:creationId xmlns:a16="http://schemas.microsoft.com/office/drawing/2014/main" id="{F69A157C-31A1-3645-60B7-B463CBCEBF93}"/>
              </a:ext>
            </a:extLst>
          </p:cNvPr>
          <p:cNvSpPr>
            <a:spLocks noGrp="1"/>
          </p:cNvSpPr>
          <p:nvPr>
            <p:ph type="sldNum" sz="quarter" idx="5"/>
          </p:nvPr>
        </p:nvSpPr>
        <p:spPr/>
        <p:txBody>
          <a:bodyPr/>
          <a:lstStyle/>
          <a:p>
            <a:fld id="{7AF7707D-0897-4DF0-B5FE-CC24E17167B5}" type="slidenum">
              <a:rPr lang="fr-CA" smtClean="0"/>
              <a:t>17</a:t>
            </a:fld>
            <a:endParaRPr lang="fr-CA"/>
          </a:p>
        </p:txBody>
      </p:sp>
    </p:spTree>
    <p:extLst>
      <p:ext uri="{BB962C8B-B14F-4D97-AF65-F5344CB8AC3E}">
        <p14:creationId xmlns:p14="http://schemas.microsoft.com/office/powerpoint/2010/main" val="2652675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34DC3-E765-FB08-958A-20656166FA83}"/>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E836F4FB-C762-AD53-8890-BAC4A86E00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37E643-D18F-C809-E4B9-3B3B45951737}"/>
              </a:ext>
            </a:extLst>
          </p:cNvPr>
          <p:cNvSpPr>
            <a:spLocks noGrp="1"/>
          </p:cNvSpPr>
          <p:nvPr>
            <p:ph type="body" idx="1"/>
          </p:nvPr>
        </p:nvSpPr>
        <p:spPr>
          <a:xfrm>
            <a:off x="701040" y="4473891"/>
            <a:ext cx="5608320" cy="4724973"/>
          </a:xfrm>
        </p:spPr>
        <p:txBody>
          <a:bodyPr/>
          <a:lstStyle/>
          <a:p>
            <a:endParaRPr lang="fr-CA" dirty="0"/>
          </a:p>
        </p:txBody>
      </p:sp>
      <p:sp>
        <p:nvSpPr>
          <p:cNvPr id="4" name="Espace réservé du numéro de diapositive 3">
            <a:extLst>
              <a:ext uri="{FF2B5EF4-FFF2-40B4-BE49-F238E27FC236}">
                <a16:creationId xmlns:a16="http://schemas.microsoft.com/office/drawing/2014/main" id="{87D2FE4F-130B-58DC-1655-9925F30B1DE0}"/>
              </a:ext>
            </a:extLst>
          </p:cNvPr>
          <p:cNvSpPr>
            <a:spLocks noGrp="1"/>
          </p:cNvSpPr>
          <p:nvPr>
            <p:ph type="sldNum" sz="quarter" idx="5"/>
          </p:nvPr>
        </p:nvSpPr>
        <p:spPr/>
        <p:txBody>
          <a:bodyPr/>
          <a:lstStyle/>
          <a:p>
            <a:fld id="{7AF7707D-0897-4DF0-B5FE-CC24E17167B5}" type="slidenum">
              <a:rPr lang="fr-CA" smtClean="0"/>
              <a:t>18</a:t>
            </a:fld>
            <a:endParaRPr lang="fr-CA"/>
          </a:p>
        </p:txBody>
      </p:sp>
    </p:spTree>
    <p:extLst>
      <p:ext uri="{BB962C8B-B14F-4D97-AF65-F5344CB8AC3E}">
        <p14:creationId xmlns:p14="http://schemas.microsoft.com/office/powerpoint/2010/main" val="40598417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724973"/>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19</a:t>
            </a:fld>
            <a:endParaRPr lang="fr-CA"/>
          </a:p>
        </p:txBody>
      </p:sp>
    </p:spTree>
    <p:extLst>
      <p:ext uri="{BB962C8B-B14F-4D97-AF65-F5344CB8AC3E}">
        <p14:creationId xmlns:p14="http://schemas.microsoft.com/office/powerpoint/2010/main" val="535380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00F8EE8-FC78-4EFD-ABF4-8027BF08F4E8}" type="slidenum">
              <a:rPr lang="fr-FR"/>
              <a:pPr/>
              <a:t>20</a:t>
            </a:fld>
            <a:endParaRPr lang="fr-FR" dirty="0"/>
          </a:p>
        </p:txBody>
      </p:sp>
      <p:sp>
        <p:nvSpPr>
          <p:cNvPr id="4915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0440527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5E242-6648-6784-6A8A-A1CA0C8F4BBF}"/>
            </a:ext>
          </a:extLst>
        </p:cNvPr>
        <p:cNvGrpSpPr/>
        <p:nvPr/>
      </p:nvGrpSpPr>
      <p:grpSpPr>
        <a:xfrm>
          <a:off x="0" y="0"/>
          <a:ext cx="0" cy="0"/>
          <a:chOff x="0" y="0"/>
          <a:chExt cx="0" cy="0"/>
        </a:xfrm>
      </p:grpSpPr>
      <p:sp>
        <p:nvSpPr>
          <p:cNvPr id="51202" name="Rectangle 7">
            <a:extLst>
              <a:ext uri="{FF2B5EF4-FFF2-40B4-BE49-F238E27FC236}">
                <a16:creationId xmlns:a16="http://schemas.microsoft.com/office/drawing/2014/main" id="{6A535055-BA12-0430-BDCA-0DEFB077C88B}"/>
              </a:ext>
            </a:extLst>
          </p:cNvPr>
          <p:cNvSpPr>
            <a:spLocks noGrp="1" noChangeArrowheads="1"/>
          </p:cNvSpPr>
          <p:nvPr>
            <p:ph type="sldNum" sz="quarter" idx="5"/>
          </p:nvPr>
        </p:nvSpPr>
        <p:spPr>
          <a:noFill/>
        </p:spPr>
        <p:txBody>
          <a:bodyPr/>
          <a:lstStyle/>
          <a:p>
            <a:fld id="{229F54F6-84CA-4E32-A3E5-4FCD613A7B78}" type="slidenum">
              <a:rPr lang="fr-FR"/>
              <a:pPr/>
              <a:t>21</a:t>
            </a:fld>
            <a:endParaRPr lang="fr-FR"/>
          </a:p>
        </p:txBody>
      </p:sp>
      <p:sp>
        <p:nvSpPr>
          <p:cNvPr id="51203" name="Rectangle 2">
            <a:extLst>
              <a:ext uri="{FF2B5EF4-FFF2-40B4-BE49-F238E27FC236}">
                <a16:creationId xmlns:a16="http://schemas.microsoft.com/office/drawing/2014/main" id="{5BC9C269-8D75-440C-410A-FC2130C83B18}"/>
              </a:ext>
            </a:extLst>
          </p:cNvPr>
          <p:cNvSpPr>
            <a:spLocks noGrp="1" noRot="1" noChangeAspect="1" noChangeArrowheads="1" noTextEdit="1"/>
          </p:cNvSpPr>
          <p:nvPr>
            <p:ph type="sldImg"/>
          </p:nvPr>
        </p:nvSpPr>
        <p:spPr>
          <a:ln/>
        </p:spPr>
      </p:sp>
      <p:sp>
        <p:nvSpPr>
          <p:cNvPr id="2" name="Espace réservé des commentaires 1">
            <a:extLst>
              <a:ext uri="{FF2B5EF4-FFF2-40B4-BE49-F238E27FC236}">
                <a16:creationId xmlns:a16="http://schemas.microsoft.com/office/drawing/2014/main" id="{ADBAEDC5-7EBB-0898-C259-25B792015BFB}"/>
              </a:ext>
            </a:extLst>
          </p:cNvPr>
          <p:cNvSpPr>
            <a:spLocks noGrp="1"/>
          </p:cNvSpPr>
          <p:nvPr>
            <p:ph type="body" sz="quarter" idx="10"/>
          </p:nvPr>
        </p:nvSpPr>
        <p:spPr/>
        <p:txBody>
          <a:bodyPr/>
          <a:lstStyle/>
          <a:p>
            <a:pPr algn="ctr" eaLnBrk="0" hangingPunct="0">
              <a:spcBef>
                <a:spcPct val="20000"/>
              </a:spcBef>
            </a:pPr>
            <a:r>
              <a:rPr kumimoji="1" lang="fr-FR" b="1" dirty="0">
                <a:cs typeface="Arial" pitchFamily="34" charset="0"/>
              </a:rPr>
              <a:t>Définition coût du capital </a:t>
            </a:r>
            <a:r>
              <a:rPr kumimoji="1" lang="fr-FR" dirty="0">
                <a:cs typeface="Arial" pitchFamily="34" charset="0"/>
              </a:rPr>
              <a:t>= taux de rendement minimal que l’entreprise doit réaliser sur ses nouveaux investissements </a:t>
            </a:r>
          </a:p>
          <a:p>
            <a:pPr algn="ctr" eaLnBrk="0" hangingPunct="0">
              <a:spcBef>
                <a:spcPct val="20000"/>
              </a:spcBef>
            </a:pPr>
            <a:r>
              <a:rPr kumimoji="1" lang="fr-FR" dirty="0">
                <a:cs typeface="Arial" pitchFamily="34" charset="0"/>
              </a:rPr>
              <a:t>et qui est au moins comparable à celui d’investissements comptant le même risque sur le marché.</a:t>
            </a:r>
          </a:p>
          <a:p>
            <a:pPr algn="ctr" eaLnBrk="0" hangingPunct="0">
              <a:spcBef>
                <a:spcPct val="20000"/>
              </a:spcBef>
            </a:pPr>
            <a:r>
              <a:rPr kumimoji="1" lang="fr-FR" dirty="0">
                <a:cs typeface="Arial" pitchFamily="34" charset="0"/>
              </a:rPr>
              <a:t> (</a:t>
            </a:r>
            <a:r>
              <a:rPr lang="fr-CA" dirty="0"/>
              <a:t>Source: Dictionnaire de la comptabilité et de la gestion financière (Ménard, 2004))</a:t>
            </a:r>
          </a:p>
          <a:p>
            <a:endParaRPr lang="fr-CA" dirty="0"/>
          </a:p>
        </p:txBody>
      </p:sp>
    </p:spTree>
    <p:extLst>
      <p:ext uri="{BB962C8B-B14F-4D97-AF65-F5344CB8AC3E}">
        <p14:creationId xmlns:p14="http://schemas.microsoft.com/office/powerpoint/2010/main" val="3268571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05EA-BEE4-86E4-BFB0-96BB3D2E2E28}"/>
            </a:ext>
          </a:extLst>
        </p:cNvPr>
        <p:cNvGrpSpPr/>
        <p:nvPr/>
      </p:nvGrpSpPr>
      <p:grpSpPr>
        <a:xfrm>
          <a:off x="0" y="0"/>
          <a:ext cx="0" cy="0"/>
          <a:chOff x="0" y="0"/>
          <a:chExt cx="0" cy="0"/>
        </a:xfrm>
      </p:grpSpPr>
      <p:sp>
        <p:nvSpPr>
          <p:cNvPr id="51202" name="Rectangle 7">
            <a:extLst>
              <a:ext uri="{FF2B5EF4-FFF2-40B4-BE49-F238E27FC236}">
                <a16:creationId xmlns:a16="http://schemas.microsoft.com/office/drawing/2014/main" id="{F74D9C8E-649E-4424-C210-4471372ACE43}"/>
              </a:ext>
            </a:extLst>
          </p:cNvPr>
          <p:cNvSpPr>
            <a:spLocks noGrp="1" noChangeArrowheads="1"/>
          </p:cNvSpPr>
          <p:nvPr>
            <p:ph type="sldNum" sz="quarter" idx="5"/>
          </p:nvPr>
        </p:nvSpPr>
        <p:spPr>
          <a:noFill/>
        </p:spPr>
        <p:txBody>
          <a:bodyPr/>
          <a:lstStyle/>
          <a:p>
            <a:fld id="{229F54F6-84CA-4E32-A3E5-4FCD613A7B78}" type="slidenum">
              <a:rPr lang="fr-FR"/>
              <a:pPr/>
              <a:t>22</a:t>
            </a:fld>
            <a:endParaRPr lang="fr-FR"/>
          </a:p>
        </p:txBody>
      </p:sp>
      <p:sp>
        <p:nvSpPr>
          <p:cNvPr id="51203" name="Rectangle 2">
            <a:extLst>
              <a:ext uri="{FF2B5EF4-FFF2-40B4-BE49-F238E27FC236}">
                <a16:creationId xmlns:a16="http://schemas.microsoft.com/office/drawing/2014/main" id="{AB772C66-FA89-ACCD-A66E-C7D5E7BEDF16}"/>
              </a:ext>
            </a:extLst>
          </p:cNvPr>
          <p:cNvSpPr>
            <a:spLocks noGrp="1" noRot="1" noChangeAspect="1" noChangeArrowheads="1" noTextEdit="1"/>
          </p:cNvSpPr>
          <p:nvPr>
            <p:ph type="sldImg"/>
          </p:nvPr>
        </p:nvSpPr>
        <p:spPr>
          <a:ln/>
        </p:spPr>
      </p:sp>
      <p:sp>
        <p:nvSpPr>
          <p:cNvPr id="2" name="Espace réservé des commentaires 1">
            <a:extLst>
              <a:ext uri="{FF2B5EF4-FFF2-40B4-BE49-F238E27FC236}">
                <a16:creationId xmlns:a16="http://schemas.microsoft.com/office/drawing/2014/main" id="{0183F5AB-5CE0-3BA1-5E3B-A38F2C13C5BB}"/>
              </a:ext>
            </a:extLst>
          </p:cNvPr>
          <p:cNvSpPr>
            <a:spLocks noGrp="1"/>
          </p:cNvSpPr>
          <p:nvPr>
            <p:ph type="body" sz="quarter" idx="10"/>
          </p:nvPr>
        </p:nvSpPr>
        <p:spPr/>
        <p:txBody>
          <a:bodyPr/>
          <a:lstStyle/>
          <a:p>
            <a:pPr algn="l" eaLnBrk="0" hangingPunct="0">
              <a:spcBef>
                <a:spcPct val="20000"/>
              </a:spcBef>
            </a:pPr>
            <a:r>
              <a:rPr kumimoji="1" lang="fr-FR" b="1" dirty="0">
                <a:cs typeface="Arial" pitchFamily="34" charset="0"/>
              </a:rPr>
              <a:t>Définition coût du capital </a:t>
            </a:r>
            <a:r>
              <a:rPr kumimoji="1" lang="fr-FR" dirty="0">
                <a:cs typeface="Arial" pitchFamily="34" charset="0"/>
              </a:rPr>
              <a:t>= taux de rendement minimal que l’entreprise doit réaliser sur ses nouveaux investissements </a:t>
            </a:r>
          </a:p>
          <a:p>
            <a:pPr algn="l" eaLnBrk="0" hangingPunct="0">
              <a:spcBef>
                <a:spcPct val="20000"/>
              </a:spcBef>
            </a:pPr>
            <a:r>
              <a:rPr kumimoji="1" lang="fr-FR" dirty="0">
                <a:cs typeface="Arial" pitchFamily="34" charset="0"/>
              </a:rPr>
              <a:t>et qui est au moins comparable à celui d’investissements comptant le même risque sur le marché.</a:t>
            </a:r>
          </a:p>
          <a:p>
            <a:pPr algn="l" eaLnBrk="0" hangingPunct="0">
              <a:spcBef>
                <a:spcPct val="20000"/>
              </a:spcBef>
            </a:pPr>
            <a:r>
              <a:rPr kumimoji="1" lang="fr-FR" dirty="0">
                <a:cs typeface="Arial" pitchFamily="34" charset="0"/>
              </a:rPr>
              <a:t> (</a:t>
            </a:r>
            <a:r>
              <a:rPr lang="fr-CA" dirty="0"/>
              <a:t>Source: Dictionnaire de la comptabilité et de la gestion financière (Ménard, 2004))</a:t>
            </a:r>
          </a:p>
          <a:p>
            <a:endParaRPr lang="fr-CA" dirty="0"/>
          </a:p>
        </p:txBody>
      </p:sp>
    </p:spTree>
    <p:extLst>
      <p:ext uri="{BB962C8B-B14F-4D97-AF65-F5344CB8AC3E}">
        <p14:creationId xmlns:p14="http://schemas.microsoft.com/office/powerpoint/2010/main" val="22714723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23</a:t>
            </a:fld>
            <a:endParaRPr lang="fr-CA" dirty="0"/>
          </a:p>
        </p:txBody>
      </p:sp>
    </p:spTree>
    <p:extLst>
      <p:ext uri="{BB962C8B-B14F-4D97-AF65-F5344CB8AC3E}">
        <p14:creationId xmlns:p14="http://schemas.microsoft.com/office/powerpoint/2010/main" val="2878452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A1F8-C02A-3791-20D0-0C85327F20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7DE1FA-1E44-FEE1-18A0-48B6058BF2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B758132-8DB6-7613-DC2D-27D8A78D1D64}"/>
              </a:ext>
            </a:extLst>
          </p:cNvPr>
          <p:cNvSpPr>
            <a:spLocks noGrp="1"/>
          </p:cNvSpPr>
          <p:nvPr>
            <p:ph type="body" idx="1"/>
          </p:nvPr>
        </p:nvSpPr>
        <p:spPr/>
        <p:txBody>
          <a:bodyPr/>
          <a:lstStyle/>
          <a:p>
            <a:pPr eaLnBrk="0" hangingPunct="0">
              <a:spcBef>
                <a:spcPct val="20000"/>
              </a:spcBef>
            </a:pPr>
            <a:endParaRPr lang="fr-FR" sz="1200" b="1" dirty="0">
              <a:latin typeface="Arial" pitchFamily="34" charset="0"/>
              <a:cs typeface="Arial" pitchFamily="34" charset="0"/>
            </a:endParaRPr>
          </a:p>
          <a:p>
            <a:pPr eaLnBrk="0" hangingPunct="0">
              <a:spcBef>
                <a:spcPct val="20000"/>
              </a:spcBef>
            </a:pPr>
            <a:endParaRPr lang="fr-FR" b="1" dirty="0">
              <a:latin typeface="Arial" pitchFamily="34" charset="0"/>
              <a:ea typeface="Calibri" panose="020F0502020204030204"/>
              <a:cs typeface="Arial" pitchFamily="34" charset="0"/>
            </a:endParaRPr>
          </a:p>
          <a:p>
            <a:pPr eaLnBrk="0" hangingPunct="0">
              <a:spcBef>
                <a:spcPct val="20000"/>
              </a:spcBef>
            </a:pPr>
            <a:endParaRPr lang="fr-FR" dirty="0">
              <a:ea typeface="Calibri" panose="020F0502020204030204"/>
              <a:cs typeface="Arial" pitchFamily="34" charset="0"/>
            </a:endParaRPr>
          </a:p>
          <a:p>
            <a:pPr eaLnBrk="0" hangingPunct="0">
              <a:spcBef>
                <a:spcPct val="20000"/>
              </a:spcBef>
            </a:pPr>
            <a:endParaRPr lang="fr-CA" dirty="0">
              <a:ea typeface="Calibri" panose="020F0502020204030204"/>
              <a:cs typeface="Calibri" panose="020F0502020204030204"/>
            </a:endParaRPr>
          </a:p>
        </p:txBody>
      </p:sp>
      <p:sp>
        <p:nvSpPr>
          <p:cNvPr id="4" name="Espace réservé du numéro de diapositive 3">
            <a:extLst>
              <a:ext uri="{FF2B5EF4-FFF2-40B4-BE49-F238E27FC236}">
                <a16:creationId xmlns:a16="http://schemas.microsoft.com/office/drawing/2014/main" id="{FE955007-65AB-70FD-903B-7988E76089D4}"/>
              </a:ext>
            </a:extLst>
          </p:cNvPr>
          <p:cNvSpPr>
            <a:spLocks noGrp="1"/>
          </p:cNvSpPr>
          <p:nvPr>
            <p:ph type="sldNum" sz="quarter" idx="5"/>
          </p:nvPr>
        </p:nvSpPr>
        <p:spPr/>
        <p:txBody>
          <a:bodyPr/>
          <a:lstStyle/>
          <a:p>
            <a:fld id="{7AF7707D-0897-4DF0-B5FE-CC24E17167B5}" type="slidenum">
              <a:rPr lang="fr-CA" smtClean="0"/>
              <a:t>24</a:t>
            </a:fld>
            <a:endParaRPr lang="fr-CA"/>
          </a:p>
        </p:txBody>
      </p:sp>
    </p:spTree>
    <p:extLst>
      <p:ext uri="{BB962C8B-B14F-4D97-AF65-F5344CB8AC3E}">
        <p14:creationId xmlns:p14="http://schemas.microsoft.com/office/powerpoint/2010/main" val="401652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pied de page 3"/>
          <p:cNvSpPr>
            <a:spLocks noGrp="1"/>
          </p:cNvSpPr>
          <p:nvPr>
            <p:ph type="ftr" sz="quarter" idx="4"/>
          </p:nvPr>
        </p:nvSpPr>
        <p:spPr/>
        <p:txBody>
          <a:bodyPr/>
          <a:lstStyle/>
          <a:p>
            <a:r>
              <a:rPr lang="en-US"/>
              <a:t>(c) 2021- 2022 (10904 - S011) - Version A2021</a:t>
            </a:r>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25</a:t>
            </a:fld>
            <a:endParaRPr lang="fr-CA"/>
          </a:p>
        </p:txBody>
      </p:sp>
    </p:spTree>
    <p:extLst>
      <p:ext uri="{BB962C8B-B14F-4D97-AF65-F5344CB8AC3E}">
        <p14:creationId xmlns:p14="http://schemas.microsoft.com/office/powerpoint/2010/main" val="1224726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00F8EE8-FC78-4EFD-ABF4-8027BF08F4E8}" type="slidenum">
              <a:rPr lang="fr-FR"/>
              <a:pPr/>
              <a:t>26</a:t>
            </a:fld>
            <a:endParaRPr lang="fr-FR" dirty="0"/>
          </a:p>
        </p:txBody>
      </p:sp>
      <p:sp>
        <p:nvSpPr>
          <p:cNvPr id="4915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459993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0886-2468-7887-C0FA-5D02BF4097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9252C3-E2E4-6FBB-6F89-C6D0D959D9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01C7E00-11D7-41BE-5E25-772B09C3E5C3}"/>
              </a:ext>
            </a:extLst>
          </p:cNvPr>
          <p:cNvSpPr>
            <a:spLocks noGrp="1"/>
          </p:cNvSpPr>
          <p:nvPr>
            <p:ph type="body" idx="1"/>
          </p:nvPr>
        </p:nvSpPr>
        <p:spPr/>
        <p:txBody>
          <a:bodyPr/>
          <a:lstStyle/>
          <a:p>
            <a:endParaRPr lang="fr-CA"/>
          </a:p>
        </p:txBody>
      </p:sp>
      <p:sp>
        <p:nvSpPr>
          <p:cNvPr id="5" name="Espace réservé du numéro de diapositive 4">
            <a:extLst>
              <a:ext uri="{FF2B5EF4-FFF2-40B4-BE49-F238E27FC236}">
                <a16:creationId xmlns:a16="http://schemas.microsoft.com/office/drawing/2014/main" id="{C35F99E4-3FE7-EECD-DB88-E219F80E5534}"/>
              </a:ext>
            </a:extLst>
          </p:cNvPr>
          <p:cNvSpPr>
            <a:spLocks noGrp="1"/>
          </p:cNvSpPr>
          <p:nvPr>
            <p:ph type="sldNum" sz="quarter" idx="5"/>
          </p:nvPr>
        </p:nvSpPr>
        <p:spPr/>
        <p:txBody>
          <a:bodyPr/>
          <a:lstStyle/>
          <a:p>
            <a:fld id="{D8756633-E94B-447C-907F-5A907A338167}" type="slidenum">
              <a:rPr lang="fr-CA" smtClean="0"/>
              <a:t>27</a:t>
            </a:fld>
            <a:endParaRPr lang="fr-CA"/>
          </a:p>
        </p:txBody>
      </p:sp>
    </p:spTree>
    <p:extLst>
      <p:ext uri="{BB962C8B-B14F-4D97-AF65-F5344CB8AC3E}">
        <p14:creationId xmlns:p14="http://schemas.microsoft.com/office/powerpoint/2010/main" val="42456847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5"/>
          </p:nvPr>
        </p:nvSpPr>
        <p:spPr/>
        <p:txBody>
          <a:bodyPr/>
          <a:lstStyle/>
          <a:p>
            <a:fld id="{D8756633-E94B-447C-907F-5A907A338167}" type="slidenum">
              <a:rPr lang="fr-CA" smtClean="0"/>
              <a:t>28</a:t>
            </a:fld>
            <a:endParaRPr lang="fr-CA"/>
          </a:p>
        </p:txBody>
      </p:sp>
      <p:sp>
        <p:nvSpPr>
          <p:cNvPr id="6" name="Espace réservé des notes 5">
            <a:extLst>
              <a:ext uri="{FF2B5EF4-FFF2-40B4-BE49-F238E27FC236}">
                <a16:creationId xmlns:a16="http://schemas.microsoft.com/office/drawing/2014/main" id="{A108D9A1-A1CA-4322-BFFC-1D5D5194D64E}"/>
              </a:ext>
            </a:extLst>
          </p:cNvPr>
          <p:cNvSpPr>
            <a:spLocks noGrp="1"/>
          </p:cNvSpPr>
          <p:nvPr>
            <p:ph type="body" sz="quarter" idx="3"/>
          </p:nvPr>
        </p:nvSpPr>
        <p:spPr/>
        <p:txBody>
          <a:bodyPr/>
          <a:lstStyle/>
          <a:p>
            <a:endParaRPr lang="fr-CA"/>
          </a:p>
        </p:txBody>
      </p:sp>
    </p:spTree>
    <p:extLst>
      <p:ext uri="{BB962C8B-B14F-4D97-AF65-F5344CB8AC3E}">
        <p14:creationId xmlns:p14="http://schemas.microsoft.com/office/powerpoint/2010/main" val="647564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1AAC0AAA-C176-4F65-BBFF-240810839C11}" type="slidenum">
              <a:rPr lang="fr-FR" smtClean="0"/>
              <a:pPr>
                <a:defRPr/>
              </a:pPr>
              <a:t>29</a:t>
            </a:fld>
            <a:endParaRPr lang="fr-FR"/>
          </a:p>
        </p:txBody>
      </p:sp>
      <p:sp>
        <p:nvSpPr>
          <p:cNvPr id="5" name="Espace réservé des commentaires 4"/>
          <p:cNvSpPr>
            <a:spLocks noGrp="1"/>
          </p:cNvSpPr>
          <p:nvPr>
            <p:ph type="body" sz="quarter" idx="11"/>
          </p:nvPr>
        </p:nvSpPr>
        <p:spPr>
          <a:xfrm>
            <a:off x="701040" y="4473890"/>
            <a:ext cx="5608320" cy="3902995"/>
          </a:xfrm>
        </p:spPr>
        <p:txBody>
          <a:bodyPr/>
          <a:lstStyle/>
          <a:p>
            <a:endParaRPr lang="fr-CA" dirty="0"/>
          </a:p>
          <a:p>
            <a:endParaRPr lang="fr-CA" dirty="0"/>
          </a:p>
          <a:p>
            <a:pPr lvl="1"/>
            <a:endParaRPr lang="fr-CA" dirty="0"/>
          </a:p>
          <a:p>
            <a:pPr lvl="1"/>
            <a:endParaRPr lang="fr-CA" dirty="0"/>
          </a:p>
          <a:p>
            <a:pPr lvl="1"/>
            <a:endParaRPr lang="fr-CA" dirty="0"/>
          </a:p>
        </p:txBody>
      </p:sp>
    </p:spTree>
    <p:extLst>
      <p:ext uri="{BB962C8B-B14F-4D97-AF65-F5344CB8AC3E}">
        <p14:creationId xmlns:p14="http://schemas.microsoft.com/office/powerpoint/2010/main" val="32832599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5"/>
          </p:nvPr>
        </p:nvSpPr>
        <p:spPr/>
        <p:txBody>
          <a:bodyPr/>
          <a:lstStyle/>
          <a:p>
            <a:fld id="{D8756633-E94B-447C-907F-5A907A338167}" type="slidenum">
              <a:rPr lang="fr-CA" smtClean="0"/>
              <a:t>30</a:t>
            </a:fld>
            <a:endParaRPr lang="fr-CA"/>
          </a:p>
        </p:txBody>
      </p:sp>
      <p:sp>
        <p:nvSpPr>
          <p:cNvPr id="6" name="Espace réservé des notes 5">
            <a:extLst>
              <a:ext uri="{FF2B5EF4-FFF2-40B4-BE49-F238E27FC236}">
                <a16:creationId xmlns:a16="http://schemas.microsoft.com/office/drawing/2014/main" id="{2F5A47D0-AC5F-4CB9-98AF-03DBD600925B}"/>
              </a:ext>
            </a:extLst>
          </p:cNvPr>
          <p:cNvSpPr>
            <a:spLocks noGrp="1"/>
          </p:cNvSpPr>
          <p:nvPr>
            <p:ph type="body" sz="quarter" idx="3"/>
          </p:nvPr>
        </p:nvSpPr>
        <p:spPr>
          <a:xfrm>
            <a:off x="701040" y="4473891"/>
            <a:ext cx="5608320" cy="4700794"/>
          </a:xfrm>
        </p:spPr>
        <p:txBody>
          <a:bodyPr/>
          <a:lstStyle/>
          <a:p>
            <a:endParaRPr lang="fr-CA" dirty="0"/>
          </a:p>
        </p:txBody>
      </p:sp>
    </p:spTree>
    <p:extLst>
      <p:ext uri="{BB962C8B-B14F-4D97-AF65-F5344CB8AC3E}">
        <p14:creationId xmlns:p14="http://schemas.microsoft.com/office/powerpoint/2010/main" val="39525126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31</a:t>
            </a:fld>
            <a:endParaRPr lang="fr-CA"/>
          </a:p>
        </p:txBody>
      </p:sp>
    </p:spTree>
    <p:extLst>
      <p:ext uri="{BB962C8B-B14F-4D97-AF65-F5344CB8AC3E}">
        <p14:creationId xmlns:p14="http://schemas.microsoft.com/office/powerpoint/2010/main" val="1909700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4B8E03-5294-4DEA-A356-E1B0DA692261}" type="slidenum">
              <a:rPr lang="fr-FR"/>
              <a:pPr/>
              <a:t>32</a:t>
            </a:fld>
            <a:endParaRPr lang="fr-FR"/>
          </a:p>
        </p:txBody>
      </p:sp>
      <p:sp>
        <p:nvSpPr>
          <p:cNvPr id="87042"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0425034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BEC71C-BD16-4622-83D4-C2C0DEBB6FAB}" type="slidenum">
              <a:rPr lang="fr-FR"/>
              <a:pPr/>
              <a:t>33</a:t>
            </a:fld>
            <a:endParaRPr lang="fr-FR"/>
          </a:p>
        </p:txBody>
      </p:sp>
      <p:sp>
        <p:nvSpPr>
          <p:cNvPr id="88066"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8350160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F7236-C02F-4FB6-88BA-EEBC5F05E09E}" type="slidenum">
              <a:rPr lang="fr-FR"/>
              <a:pPr/>
              <a:t>34</a:t>
            </a:fld>
            <a:endParaRPr lang="fr-FR"/>
          </a:p>
        </p:txBody>
      </p:sp>
      <p:sp>
        <p:nvSpPr>
          <p:cNvPr id="8909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085735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BEC71C-BD16-4622-83D4-C2C0DEBB6FAB}" type="slidenum">
              <a:rPr lang="fr-FR"/>
              <a:pPr/>
              <a:t>35</a:t>
            </a:fld>
            <a:endParaRPr lang="fr-FR"/>
          </a:p>
        </p:txBody>
      </p:sp>
      <p:sp>
        <p:nvSpPr>
          <p:cNvPr id="88066"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1320460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sz="1100" dirty="0">
              <a:effectLst/>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651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a:xfrm>
            <a:off x="521638" y="4473891"/>
            <a:ext cx="5946668" cy="3995049"/>
          </a:xfrm>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91769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38</a:t>
            </a:fld>
            <a:endParaRPr lang="fr-CA"/>
          </a:p>
        </p:txBody>
      </p:sp>
    </p:spTree>
    <p:extLst>
      <p:ext uri="{BB962C8B-B14F-4D97-AF65-F5344CB8AC3E}">
        <p14:creationId xmlns:p14="http://schemas.microsoft.com/office/powerpoint/2010/main" val="22394027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3DAE3B25-533F-43CB-8C3D-93145FD4126A}" type="slidenum">
              <a:rPr lang="fr-CA" smtClean="0"/>
              <a:t>39</a:t>
            </a:fld>
            <a:endParaRPr lang="fr-CA"/>
          </a:p>
        </p:txBody>
      </p:sp>
      <p:sp>
        <p:nvSpPr>
          <p:cNvPr id="5" name="Espace réservé des commentaires 4"/>
          <p:cNvSpPr>
            <a:spLocks noGrp="1"/>
          </p:cNvSpPr>
          <p:nvPr>
            <p:ph type="body" sz="quarter" idx="11"/>
          </p:nvPr>
        </p:nvSpPr>
        <p:spPr>
          <a:xfrm>
            <a:off x="701040" y="4473891"/>
            <a:ext cx="5608320" cy="4627151"/>
          </a:xfrm>
        </p:spPr>
        <p:txBody>
          <a:bodyPr/>
          <a:lstStyle/>
          <a:p>
            <a:endParaRPr lang="fr-CA" dirty="0">
              <a:cs typeface="Calibri" panose="020F0502020204030204"/>
            </a:endParaRPr>
          </a:p>
        </p:txBody>
      </p:sp>
    </p:spTree>
    <p:extLst>
      <p:ext uri="{BB962C8B-B14F-4D97-AF65-F5344CB8AC3E}">
        <p14:creationId xmlns:p14="http://schemas.microsoft.com/office/powerpoint/2010/main" val="7654690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756633-E94B-447C-907F-5A907A338167}"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6550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88A679B-1DC1-4982-8F47-21900B133CBF}" type="slidenum">
              <a:rPr lang="fr-FR"/>
              <a:pPr/>
              <a:t>41</a:t>
            </a:fld>
            <a:endParaRPr lang="fr-FR"/>
          </a:p>
        </p:txBody>
      </p:sp>
      <p:sp>
        <p:nvSpPr>
          <p:cNvPr id="4505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dirty="0">
              <a:cs typeface="Calibri"/>
            </a:endParaRPr>
          </a:p>
        </p:txBody>
      </p:sp>
    </p:spTree>
    <p:extLst>
      <p:ext uri="{BB962C8B-B14F-4D97-AF65-F5344CB8AC3E}">
        <p14:creationId xmlns:p14="http://schemas.microsoft.com/office/powerpoint/2010/main" val="2705616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88A679B-1DC1-4982-8F47-21900B133CBF}" type="slidenum">
              <a:rPr lang="fr-FR"/>
              <a:pPr/>
              <a:t>42</a:t>
            </a:fld>
            <a:endParaRPr lang="fr-FR"/>
          </a:p>
        </p:txBody>
      </p:sp>
      <p:sp>
        <p:nvSpPr>
          <p:cNvPr id="4505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dirty="0"/>
          </a:p>
        </p:txBody>
      </p:sp>
    </p:spTree>
    <p:extLst>
      <p:ext uri="{BB962C8B-B14F-4D97-AF65-F5344CB8AC3E}">
        <p14:creationId xmlns:p14="http://schemas.microsoft.com/office/powerpoint/2010/main" val="38267511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43</a:t>
            </a:fld>
            <a:endParaRPr lang="fr-CA"/>
          </a:p>
        </p:txBody>
      </p:sp>
    </p:spTree>
    <p:extLst>
      <p:ext uri="{BB962C8B-B14F-4D97-AF65-F5344CB8AC3E}">
        <p14:creationId xmlns:p14="http://schemas.microsoft.com/office/powerpoint/2010/main" val="1583984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C6203257-382C-424D-AAED-938AD3F18826}" type="slidenum">
              <a:rPr lang="fr-CA" smtClean="0"/>
              <a:pPr/>
              <a:t>44</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23287581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45</a:t>
            </a:fld>
            <a:endParaRPr lang="fr-CA" dirty="0"/>
          </a:p>
        </p:txBody>
      </p:sp>
    </p:spTree>
    <p:extLst>
      <p:ext uri="{BB962C8B-B14F-4D97-AF65-F5344CB8AC3E}">
        <p14:creationId xmlns:p14="http://schemas.microsoft.com/office/powerpoint/2010/main" val="697896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EC8A71-2802-4306-A047-CB1B0898537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DE743B51-79D5-4CCB-89EA-F7EE820C8F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B9EAB092-9C73-4ABC-8026-7C55521A6A6B}"/>
              </a:ext>
            </a:extLst>
          </p:cNvPr>
          <p:cNvSpPr>
            <a:spLocks noGrp="1"/>
          </p:cNvSpPr>
          <p:nvPr>
            <p:ph type="dt" sz="half" idx="10"/>
          </p:nvPr>
        </p:nvSpPr>
        <p:spPr/>
        <p:txBody>
          <a:bodyPr/>
          <a:lstStyle/>
          <a:p>
            <a:fld id="{6AE1D379-E42B-440F-BA57-3771CC905DA4}" type="datetime1">
              <a:rPr lang="fr-CA" smtClean="0"/>
              <a:t>2026-09-17</a:t>
            </a:fld>
            <a:endParaRPr lang="fr-CA"/>
          </a:p>
        </p:txBody>
      </p:sp>
      <p:sp>
        <p:nvSpPr>
          <p:cNvPr id="5" name="Espace réservé du pied de page 4">
            <a:extLst>
              <a:ext uri="{FF2B5EF4-FFF2-40B4-BE49-F238E27FC236}">
                <a16:creationId xmlns:a16="http://schemas.microsoft.com/office/drawing/2014/main" id="{74A844D6-D7CC-41C5-9968-2C7843D4B9FB}"/>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E87F7194-DCAA-4798-A74F-25C3A5C4A68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7" name="Connecteur droit 6">
            <a:extLst>
              <a:ext uri="{FF2B5EF4-FFF2-40B4-BE49-F238E27FC236}">
                <a16:creationId xmlns:a16="http://schemas.microsoft.com/office/drawing/2014/main" id="{2BB2F573-2498-4FB1-A559-E2553C9806F8}"/>
              </a:ext>
            </a:extLst>
          </p:cNvPr>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FE845E82-4BFB-4FD8-8F59-5E0BF909D3CD}"/>
              </a:ext>
            </a:extLst>
          </p:cNvPr>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8621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13C868-CC3A-4733-9EBF-9B042AC2E2B1}"/>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7ABDDD99-2474-4648-9CA3-0A0D77CAD0C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90EA59F-075F-42E9-B333-CF6BD710AE79}"/>
              </a:ext>
            </a:extLst>
          </p:cNvPr>
          <p:cNvSpPr>
            <a:spLocks noGrp="1"/>
          </p:cNvSpPr>
          <p:nvPr>
            <p:ph type="dt" sz="half" idx="10"/>
          </p:nvPr>
        </p:nvSpPr>
        <p:spPr/>
        <p:txBody>
          <a:bodyPr/>
          <a:lstStyle/>
          <a:p>
            <a:fld id="{F9201F22-74B0-4B7E-88F1-4B0D7D9B526F}" type="datetime1">
              <a:rPr lang="fr-CA" smtClean="0"/>
              <a:t>2026-09-17</a:t>
            </a:fld>
            <a:endParaRPr lang="fr-CA"/>
          </a:p>
        </p:txBody>
      </p:sp>
      <p:sp>
        <p:nvSpPr>
          <p:cNvPr id="5" name="Espace réservé du pied de page 4">
            <a:extLst>
              <a:ext uri="{FF2B5EF4-FFF2-40B4-BE49-F238E27FC236}">
                <a16:creationId xmlns:a16="http://schemas.microsoft.com/office/drawing/2014/main" id="{F9356A0D-88C9-45C5-B5B2-7CCC5CCFF69A}"/>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691D11A2-693E-42F6-99C8-B27F626DF755}"/>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7" name="Connecteur droit 6">
            <a:extLst>
              <a:ext uri="{FF2B5EF4-FFF2-40B4-BE49-F238E27FC236}">
                <a16:creationId xmlns:a16="http://schemas.microsoft.com/office/drawing/2014/main" id="{2BBB577D-6853-486F-9F37-DE71B6DD275E}"/>
              </a:ext>
            </a:extLst>
          </p:cNvPr>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2A002BB2-3ADD-4CC0-AE37-4B0965EA4257}"/>
              </a:ext>
            </a:extLst>
          </p:cNvPr>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4239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4AC94-D004-4E4B-AE2A-8010FC78319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0B2A7DC7-1A61-4655-829F-E13A362648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C5B0A32-B062-4EF0-9649-866E2D11AA15}"/>
              </a:ext>
            </a:extLst>
          </p:cNvPr>
          <p:cNvSpPr>
            <a:spLocks noGrp="1"/>
          </p:cNvSpPr>
          <p:nvPr>
            <p:ph type="dt" sz="half" idx="10"/>
          </p:nvPr>
        </p:nvSpPr>
        <p:spPr/>
        <p:txBody>
          <a:bodyPr/>
          <a:lstStyle/>
          <a:p>
            <a:fld id="{3651EEAF-D435-4446-B3AB-E7EDC5B12050}" type="datetime1">
              <a:rPr lang="fr-CA" smtClean="0"/>
              <a:t>2026-09-17</a:t>
            </a:fld>
            <a:endParaRPr lang="fr-CA"/>
          </a:p>
        </p:txBody>
      </p:sp>
      <p:sp>
        <p:nvSpPr>
          <p:cNvPr id="5" name="Espace réservé du pied de page 4">
            <a:extLst>
              <a:ext uri="{FF2B5EF4-FFF2-40B4-BE49-F238E27FC236}">
                <a16:creationId xmlns:a16="http://schemas.microsoft.com/office/drawing/2014/main" id="{19A37086-A60D-46ED-9B11-4B7C48C4F308}"/>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54FD47CD-64BB-4EA1-8F9D-F4B3ECF75AB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7" name="Connecteur droit 6">
            <a:extLst>
              <a:ext uri="{FF2B5EF4-FFF2-40B4-BE49-F238E27FC236}">
                <a16:creationId xmlns:a16="http://schemas.microsoft.com/office/drawing/2014/main" id="{6D961238-D800-4BF6-BC44-FED06C287CD6}"/>
              </a:ext>
            </a:extLst>
          </p:cNvPr>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58145A79-DDD4-48BB-8FB5-581409AAE17C}"/>
              </a:ext>
            </a:extLst>
          </p:cNvPr>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304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5A1462-206C-4B1E-8CFE-7604AAE8642F}"/>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A56E0F7-1D28-4AC4-9533-EFCE0E503F7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7F781142-4C94-40EF-8CB9-354A8B35BC4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62D19765-6D28-4A9A-B489-24155DE10B88}"/>
              </a:ext>
            </a:extLst>
          </p:cNvPr>
          <p:cNvSpPr>
            <a:spLocks noGrp="1"/>
          </p:cNvSpPr>
          <p:nvPr>
            <p:ph type="dt" sz="half" idx="10"/>
          </p:nvPr>
        </p:nvSpPr>
        <p:spPr/>
        <p:txBody>
          <a:bodyPr/>
          <a:lstStyle/>
          <a:p>
            <a:fld id="{CE5A96B2-E832-4A2E-B2E6-8F78A8482E0E}" type="datetime1">
              <a:rPr lang="fr-CA" smtClean="0"/>
              <a:t>2026-09-17</a:t>
            </a:fld>
            <a:endParaRPr lang="fr-CA"/>
          </a:p>
        </p:txBody>
      </p:sp>
      <p:sp>
        <p:nvSpPr>
          <p:cNvPr id="6" name="Espace réservé du pied de page 5">
            <a:extLst>
              <a:ext uri="{FF2B5EF4-FFF2-40B4-BE49-F238E27FC236}">
                <a16:creationId xmlns:a16="http://schemas.microsoft.com/office/drawing/2014/main" id="{A11DE6D3-044E-43F6-98E9-C403734CDC70}"/>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D2529E0C-FF89-4740-84C1-25948BF51C3D}"/>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a:extLst>
              <a:ext uri="{FF2B5EF4-FFF2-40B4-BE49-F238E27FC236}">
                <a16:creationId xmlns:a16="http://schemas.microsoft.com/office/drawing/2014/main" id="{ABD62953-11BC-45A7-8E16-6554E0DB2695}"/>
              </a:ext>
            </a:extLst>
          </p:cNvPr>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ACB64E36-7CCA-4ECA-AAB2-EACD8F967842}"/>
              </a:ext>
            </a:extLst>
          </p:cNvPr>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467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715E1C-A4AB-45F6-B21A-D11F358DBA9A}"/>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7E8866C7-95FC-4513-ADE8-641E5DB8D1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C06CE86-9558-48AD-A21C-0386905B093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5C473817-9DBA-4FB2-B063-9850348EA2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3FEBAA8-7C6E-4DC1-98D0-37CBA1C855B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EE59A6F4-8D90-49F2-A014-80CBE6BC4D0A}"/>
              </a:ext>
            </a:extLst>
          </p:cNvPr>
          <p:cNvSpPr>
            <a:spLocks noGrp="1"/>
          </p:cNvSpPr>
          <p:nvPr>
            <p:ph type="dt" sz="half" idx="10"/>
          </p:nvPr>
        </p:nvSpPr>
        <p:spPr/>
        <p:txBody>
          <a:bodyPr/>
          <a:lstStyle/>
          <a:p>
            <a:fld id="{AAA89C13-2560-46C7-BB05-A14DE2469C03}" type="datetime1">
              <a:rPr lang="fr-CA" smtClean="0"/>
              <a:t>2026-09-17</a:t>
            </a:fld>
            <a:endParaRPr lang="fr-CA"/>
          </a:p>
        </p:txBody>
      </p:sp>
      <p:sp>
        <p:nvSpPr>
          <p:cNvPr id="8" name="Espace réservé du pied de page 7">
            <a:extLst>
              <a:ext uri="{FF2B5EF4-FFF2-40B4-BE49-F238E27FC236}">
                <a16:creationId xmlns:a16="http://schemas.microsoft.com/office/drawing/2014/main" id="{40771AB1-9E67-4FE1-8AD4-B8435149F50C}"/>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9" name="Espace réservé du numéro de diapositive 8">
            <a:extLst>
              <a:ext uri="{FF2B5EF4-FFF2-40B4-BE49-F238E27FC236}">
                <a16:creationId xmlns:a16="http://schemas.microsoft.com/office/drawing/2014/main" id="{BDD0271D-8906-44AD-B966-E6A3B029B418}"/>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10" name="Connecteur droit 9">
            <a:extLst>
              <a:ext uri="{FF2B5EF4-FFF2-40B4-BE49-F238E27FC236}">
                <a16:creationId xmlns:a16="http://schemas.microsoft.com/office/drawing/2014/main" id="{4112257F-F9C6-40F4-987E-E718C15C10DD}"/>
              </a:ext>
            </a:extLst>
          </p:cNvPr>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54BAD8F1-3CC1-4F22-983E-4D010BD1509E}"/>
              </a:ext>
            </a:extLst>
          </p:cNvPr>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7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E65959-1996-48DF-A0BF-C19A40CC6D8B}"/>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A9B1A791-6353-4E6B-8006-FA7EBB3A852D}"/>
              </a:ext>
            </a:extLst>
          </p:cNvPr>
          <p:cNvSpPr>
            <a:spLocks noGrp="1"/>
          </p:cNvSpPr>
          <p:nvPr>
            <p:ph type="dt" sz="half" idx="10"/>
          </p:nvPr>
        </p:nvSpPr>
        <p:spPr/>
        <p:txBody>
          <a:bodyPr/>
          <a:lstStyle/>
          <a:p>
            <a:fld id="{30E87CC3-B8D7-4B2D-8DFD-A477F27F814F}" type="datetime1">
              <a:rPr lang="fr-CA" smtClean="0"/>
              <a:t>2026-09-17</a:t>
            </a:fld>
            <a:endParaRPr lang="fr-CA"/>
          </a:p>
        </p:txBody>
      </p:sp>
      <p:sp>
        <p:nvSpPr>
          <p:cNvPr id="4" name="Espace réservé du pied de page 3">
            <a:extLst>
              <a:ext uri="{FF2B5EF4-FFF2-40B4-BE49-F238E27FC236}">
                <a16:creationId xmlns:a16="http://schemas.microsoft.com/office/drawing/2014/main" id="{7BA23A8D-8D1E-4F94-9E54-DD5F96266E0D}"/>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C3961405-F06F-4A89-8B70-F7331D93984D}"/>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6" name="Connecteur droit 5">
            <a:extLst>
              <a:ext uri="{FF2B5EF4-FFF2-40B4-BE49-F238E27FC236}">
                <a16:creationId xmlns:a16="http://schemas.microsoft.com/office/drawing/2014/main" id="{2682135D-2295-4174-B375-15063944020B}"/>
              </a:ext>
            </a:extLst>
          </p:cNvPr>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CDBF9A41-0256-45AF-A0EF-FB42D2334C4E}"/>
              </a:ext>
            </a:extLst>
          </p:cNvPr>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749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59C35AA-DEC3-4E35-B9F2-2A311265A89F}"/>
              </a:ext>
            </a:extLst>
          </p:cNvPr>
          <p:cNvSpPr>
            <a:spLocks noGrp="1"/>
          </p:cNvSpPr>
          <p:nvPr>
            <p:ph type="dt" sz="half" idx="10"/>
          </p:nvPr>
        </p:nvSpPr>
        <p:spPr/>
        <p:txBody>
          <a:bodyPr/>
          <a:lstStyle/>
          <a:p>
            <a:fld id="{78939DE9-A94C-4527-9D01-3007B4000D78}" type="datetime1">
              <a:rPr lang="fr-CA" smtClean="0"/>
              <a:t>2026-09-17</a:t>
            </a:fld>
            <a:endParaRPr lang="fr-CA"/>
          </a:p>
        </p:txBody>
      </p:sp>
      <p:sp>
        <p:nvSpPr>
          <p:cNvPr id="3" name="Espace réservé du pied de page 2">
            <a:extLst>
              <a:ext uri="{FF2B5EF4-FFF2-40B4-BE49-F238E27FC236}">
                <a16:creationId xmlns:a16="http://schemas.microsoft.com/office/drawing/2014/main" id="{662DEDA8-C0EF-4B34-BF0F-01701EB9623D}"/>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4" name="Espace réservé du numéro de diapositive 3">
            <a:extLst>
              <a:ext uri="{FF2B5EF4-FFF2-40B4-BE49-F238E27FC236}">
                <a16:creationId xmlns:a16="http://schemas.microsoft.com/office/drawing/2014/main" id="{83D95D38-93B6-47F1-ADF7-D7425214FC87}"/>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50746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0F3282-C96A-4EF7-85AF-38D33D9CCF4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78BA3F66-33E2-42BF-8E28-C51E3AA3F9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3F690E61-EA7F-4660-9D07-0EED52ED6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F5F40D1-0CF1-4726-BD57-91CD3E4E341A}"/>
              </a:ext>
            </a:extLst>
          </p:cNvPr>
          <p:cNvSpPr>
            <a:spLocks noGrp="1"/>
          </p:cNvSpPr>
          <p:nvPr>
            <p:ph type="dt" sz="half" idx="10"/>
          </p:nvPr>
        </p:nvSpPr>
        <p:spPr/>
        <p:txBody>
          <a:bodyPr/>
          <a:lstStyle/>
          <a:p>
            <a:fld id="{C585C0DF-4FAE-45F9-BF12-F15998CA4CA3}" type="datetime1">
              <a:rPr lang="fr-CA" smtClean="0"/>
              <a:t>2026-09-17</a:t>
            </a:fld>
            <a:endParaRPr lang="fr-CA"/>
          </a:p>
        </p:txBody>
      </p:sp>
      <p:sp>
        <p:nvSpPr>
          <p:cNvPr id="6" name="Espace réservé du pied de page 5">
            <a:extLst>
              <a:ext uri="{FF2B5EF4-FFF2-40B4-BE49-F238E27FC236}">
                <a16:creationId xmlns:a16="http://schemas.microsoft.com/office/drawing/2014/main" id="{95FB6BAB-3E99-431D-984F-207965A93E1E}"/>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BADEC59A-08EA-4BCD-909F-006F3E6228B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27744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605EC-655D-49ED-BB99-B6FDDB46661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6A85C3A4-5A2B-4766-B59B-2FBECB470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9A786032-2A84-498E-A661-828218010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CC1AE5B-2992-4C8E-A3A5-F72E81F21BD4}"/>
              </a:ext>
            </a:extLst>
          </p:cNvPr>
          <p:cNvSpPr>
            <a:spLocks noGrp="1"/>
          </p:cNvSpPr>
          <p:nvPr>
            <p:ph type="dt" sz="half" idx="10"/>
          </p:nvPr>
        </p:nvSpPr>
        <p:spPr/>
        <p:txBody>
          <a:bodyPr/>
          <a:lstStyle/>
          <a:p>
            <a:fld id="{46CC586F-D64C-4091-AC14-E0BDB958BF51}" type="datetime1">
              <a:rPr lang="fr-CA" smtClean="0"/>
              <a:t>2026-09-17</a:t>
            </a:fld>
            <a:endParaRPr lang="fr-CA"/>
          </a:p>
        </p:txBody>
      </p:sp>
      <p:sp>
        <p:nvSpPr>
          <p:cNvPr id="6" name="Espace réservé du pied de page 5">
            <a:extLst>
              <a:ext uri="{FF2B5EF4-FFF2-40B4-BE49-F238E27FC236}">
                <a16:creationId xmlns:a16="http://schemas.microsoft.com/office/drawing/2014/main" id="{94193068-7A66-4D56-AF8F-7F0D50392AF3}"/>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6E1B5944-1399-4597-BBE7-4197BB1B208C}"/>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1465437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7FF72F-EB7F-448A-9396-EA2997D43141}"/>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ED608AE4-A9B2-4DE1-A737-D69E9B01F00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C0CDBC0-A7AF-48BE-8799-37C63D8AF0B2}"/>
              </a:ext>
            </a:extLst>
          </p:cNvPr>
          <p:cNvSpPr>
            <a:spLocks noGrp="1"/>
          </p:cNvSpPr>
          <p:nvPr>
            <p:ph type="dt" sz="half" idx="10"/>
          </p:nvPr>
        </p:nvSpPr>
        <p:spPr/>
        <p:txBody>
          <a:bodyPr/>
          <a:lstStyle/>
          <a:p>
            <a:fld id="{6312CF8F-E9E3-4CEA-A7FA-1F0EC2DAD1E0}" type="datetime1">
              <a:rPr lang="fr-CA" smtClean="0"/>
              <a:t>2026-09-17</a:t>
            </a:fld>
            <a:endParaRPr lang="fr-CA"/>
          </a:p>
        </p:txBody>
      </p:sp>
      <p:sp>
        <p:nvSpPr>
          <p:cNvPr id="5" name="Espace réservé du pied de page 4">
            <a:extLst>
              <a:ext uri="{FF2B5EF4-FFF2-40B4-BE49-F238E27FC236}">
                <a16:creationId xmlns:a16="http://schemas.microsoft.com/office/drawing/2014/main" id="{5167446D-BC01-47C2-9C34-63AC5F79247B}"/>
              </a:ext>
            </a:extLst>
          </p:cNvPr>
          <p:cNvSpPr>
            <a:spLocks noGrp="1"/>
          </p:cNvSpPr>
          <p:nvPr>
            <p:ph type="ftr" sz="quarter" idx="11"/>
          </p:nvPr>
        </p:nvSpPr>
        <p:spPr/>
        <p:txBody>
          <a:bodyPr/>
          <a:lstStyle/>
          <a:p>
            <a:r>
              <a:rPr lang="pt-BR"/>
              <a:t>(c) 10904 - S11 / Version H2024</a:t>
            </a:r>
            <a:endParaRPr lang="fr-CA"/>
          </a:p>
        </p:txBody>
      </p:sp>
      <p:sp>
        <p:nvSpPr>
          <p:cNvPr id="6" name="Espace réservé du numéro de diapositive 5">
            <a:extLst>
              <a:ext uri="{FF2B5EF4-FFF2-40B4-BE49-F238E27FC236}">
                <a16:creationId xmlns:a16="http://schemas.microsoft.com/office/drawing/2014/main" id="{1F6BD77D-EF36-4B1C-A407-09B32AD823B4}"/>
              </a:ext>
            </a:extLst>
          </p:cNvPr>
          <p:cNvSpPr>
            <a:spLocks noGrp="1"/>
          </p:cNvSpPr>
          <p:nvPr>
            <p:ph type="sldNum" sz="quarter" idx="12"/>
          </p:nvPr>
        </p:nvSpPr>
        <p:spPr/>
        <p:txBody>
          <a:bodyPr/>
          <a:lstStyle/>
          <a:p>
            <a:fld id="{90E412FA-8841-4958-A1AD-1F2019F1A847}" type="slidenum">
              <a:rPr lang="fr-CA" smtClean="0"/>
              <a:t>‹N°›</a:t>
            </a:fld>
            <a:endParaRPr lang="fr-CA"/>
          </a:p>
        </p:txBody>
      </p:sp>
    </p:spTree>
    <p:extLst>
      <p:ext uri="{BB962C8B-B14F-4D97-AF65-F5344CB8AC3E}">
        <p14:creationId xmlns:p14="http://schemas.microsoft.com/office/powerpoint/2010/main" val="272378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800B80B-CB0C-4655-97D5-0184FAF45789}"/>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5A89CBD-B2C7-44FF-83C9-A3FA2B540C6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4E526F0-12C9-4B11-8050-5B971A6FE870}"/>
              </a:ext>
            </a:extLst>
          </p:cNvPr>
          <p:cNvSpPr>
            <a:spLocks noGrp="1"/>
          </p:cNvSpPr>
          <p:nvPr>
            <p:ph type="dt" sz="half" idx="10"/>
          </p:nvPr>
        </p:nvSpPr>
        <p:spPr/>
        <p:txBody>
          <a:bodyPr/>
          <a:lstStyle/>
          <a:p>
            <a:fld id="{74BAB7B9-2010-4105-B2F3-AED5895F698B}" type="datetime1">
              <a:rPr lang="fr-CA" smtClean="0"/>
              <a:t>2026-09-17</a:t>
            </a:fld>
            <a:endParaRPr lang="fr-CA"/>
          </a:p>
        </p:txBody>
      </p:sp>
      <p:sp>
        <p:nvSpPr>
          <p:cNvPr id="5" name="Espace réservé du pied de page 4">
            <a:extLst>
              <a:ext uri="{FF2B5EF4-FFF2-40B4-BE49-F238E27FC236}">
                <a16:creationId xmlns:a16="http://schemas.microsoft.com/office/drawing/2014/main" id="{CFD800D8-2241-4660-9338-60BFF9AE42BB}"/>
              </a:ext>
            </a:extLst>
          </p:cNvPr>
          <p:cNvSpPr>
            <a:spLocks noGrp="1"/>
          </p:cNvSpPr>
          <p:nvPr>
            <p:ph type="ftr" sz="quarter" idx="11"/>
          </p:nvPr>
        </p:nvSpPr>
        <p:spPr/>
        <p:txBody>
          <a:bodyPr/>
          <a:lstStyle/>
          <a:p>
            <a:r>
              <a:rPr lang="pt-BR"/>
              <a:t>(c) 10904 - S11 / Version H2024</a:t>
            </a:r>
            <a:endParaRPr lang="fr-CA"/>
          </a:p>
        </p:txBody>
      </p:sp>
      <p:sp>
        <p:nvSpPr>
          <p:cNvPr id="6" name="Espace réservé du numéro de diapositive 5">
            <a:extLst>
              <a:ext uri="{FF2B5EF4-FFF2-40B4-BE49-F238E27FC236}">
                <a16:creationId xmlns:a16="http://schemas.microsoft.com/office/drawing/2014/main" id="{3E7CAC52-FF90-4F3E-9DD6-A8D839B383EA}"/>
              </a:ext>
            </a:extLst>
          </p:cNvPr>
          <p:cNvSpPr>
            <a:spLocks noGrp="1"/>
          </p:cNvSpPr>
          <p:nvPr>
            <p:ph type="sldNum" sz="quarter" idx="12"/>
          </p:nvPr>
        </p:nvSpPr>
        <p:spPr/>
        <p:txBody>
          <a:bodyPr/>
          <a:lstStyle/>
          <a:p>
            <a:fld id="{90E412FA-8841-4958-A1AD-1F2019F1A847}" type="slidenum">
              <a:rPr lang="fr-CA" smtClean="0"/>
              <a:t>‹N°›</a:t>
            </a:fld>
            <a:endParaRPr lang="fr-CA"/>
          </a:p>
        </p:txBody>
      </p:sp>
    </p:spTree>
    <p:extLst>
      <p:ext uri="{BB962C8B-B14F-4D97-AF65-F5344CB8AC3E}">
        <p14:creationId xmlns:p14="http://schemas.microsoft.com/office/powerpoint/2010/main" val="2073357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S11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S11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971F662-14B0-4216-BC85-BCACD56E30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E8F8D65A-29EC-453D-8E26-E5E83D01BC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C7B8B69-249F-433C-BD68-61918E5C73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7EEED-DEF0-4526-81FA-C644EC7F2C54}" type="datetime1">
              <a:rPr lang="fr-CA" smtClean="0"/>
              <a:t>2026-09-17</a:t>
            </a:fld>
            <a:endParaRPr lang="fr-CA"/>
          </a:p>
        </p:txBody>
      </p:sp>
      <p:sp>
        <p:nvSpPr>
          <p:cNvPr id="5" name="Espace réservé du pied de page 4">
            <a:extLst>
              <a:ext uri="{FF2B5EF4-FFF2-40B4-BE49-F238E27FC236}">
                <a16:creationId xmlns:a16="http://schemas.microsoft.com/office/drawing/2014/main" id="{258FC9C7-9BBE-4AA1-9282-2AFE6F6D33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(c) 10904 - S11 / Version H2024</a:t>
            </a:r>
            <a:endParaRPr lang="fr-CA"/>
          </a:p>
        </p:txBody>
      </p:sp>
      <p:sp>
        <p:nvSpPr>
          <p:cNvPr id="6" name="Espace réservé du numéro de diapositive 5">
            <a:extLst>
              <a:ext uri="{FF2B5EF4-FFF2-40B4-BE49-F238E27FC236}">
                <a16:creationId xmlns:a16="http://schemas.microsoft.com/office/drawing/2014/main" id="{A8E4E961-107F-4390-83F3-EFFAA25516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412FA-8841-4958-A1AD-1F2019F1A847}" type="slidenum">
              <a:rPr lang="fr-CA" smtClean="0"/>
              <a:t>‹N°›</a:t>
            </a:fld>
            <a:endParaRPr lang="fr-CA"/>
          </a:p>
        </p:txBody>
      </p:sp>
      <p:pic>
        <p:nvPicPr>
          <p:cNvPr id="7" name="Image 6">
            <a:extLst>
              <a:ext uri="{FF2B5EF4-FFF2-40B4-BE49-F238E27FC236}">
                <a16:creationId xmlns:a16="http://schemas.microsoft.com/office/drawing/2014/main" id="{C5395356-4F7F-4081-94E4-E6DD7A538A1E}"/>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354906"/>
            <a:ext cx="1821024" cy="368015"/>
          </a:xfrm>
          <a:prstGeom prst="rect">
            <a:avLst/>
          </a:prstGeom>
          <a:noFill/>
          <a:ln>
            <a:noFill/>
          </a:ln>
        </p:spPr>
      </p:pic>
    </p:spTree>
    <p:extLst>
      <p:ext uri="{BB962C8B-B14F-4D97-AF65-F5344CB8AC3E}">
        <p14:creationId xmlns:p14="http://schemas.microsoft.com/office/powerpoint/2010/main" val="22463881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65" r:id="rId12"/>
    <p:sldLayoutId id="214748366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3.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2.xml"/></Relationships>
</file>

<file path=ppt/slides/_rels/slide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4.xml"/><Relationship Id="rId4"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notesSlide" Target="../notesSlides/notesSlide5.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2.xml"/><Relationship Id="rId5" Type="http://schemas.openxmlformats.org/officeDocument/2006/relationships/tags" Target="../tags/tag20.xml"/><Relationship Id="rId4" Type="http://schemas.openxmlformats.org/officeDocument/2006/relationships/tags" Target="../tags/tag19.xml"/></Relationships>
</file>

<file path=ppt/slides/_rels/slide6.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24.xml"/></Relationships>
</file>

<file path=ppt/slides/_rels/slide7.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4.sv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3.sv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2.svg"/><Relationship Id="rId5" Type="http://schemas.openxmlformats.org/officeDocument/2006/relationships/tags" Target="../tags/tag29.xml"/><Relationship Id="rId10" Type="http://schemas.openxmlformats.org/officeDocument/2006/relationships/notesSlide" Target="../notesSlides/notesSlide7.xml"/><Relationship Id="rId4" Type="http://schemas.openxmlformats.org/officeDocument/2006/relationships/tags" Target="../tags/tag28.xml"/><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notesSlide" Target="../notesSlides/notesSlide8.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Layout" Target="../slideLayouts/slideLayout2.xml"/><Relationship Id="rId5" Type="http://schemas.openxmlformats.org/officeDocument/2006/relationships/tags" Target="../tags/tag37.xml"/><Relationship Id="rId4" Type="http://schemas.openxmlformats.org/officeDocument/2006/relationships/tags" Target="../tags/tag36.xml"/></Relationships>
</file>

<file path=ppt/slides/_rels/slide9.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notesSlide" Target="../notesSlides/notesSlide10.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slideLayout" Target="../slideLayouts/slideLayout2.xml"/><Relationship Id="rId5" Type="http://schemas.openxmlformats.org/officeDocument/2006/relationships/tags" Target="../tags/tag45.xml"/><Relationship Id="rId4" Type="http://schemas.openxmlformats.org/officeDocument/2006/relationships/tags" Target="../tags/tag44.xml"/></Relationships>
</file>

<file path=ppt/slides/_rels/slide11.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notesSlide" Target="../notesSlides/notesSlide11.xml"/><Relationship Id="rId5" Type="http://schemas.openxmlformats.org/officeDocument/2006/relationships/tags" Target="../tags/tag50.xml"/><Relationship Id="rId10" Type="http://schemas.openxmlformats.org/officeDocument/2006/relationships/slideLayout" Target="../slideLayouts/slideLayout5.xml"/><Relationship Id="rId4" Type="http://schemas.openxmlformats.org/officeDocument/2006/relationships/tags" Target="../tags/tag49.xml"/><Relationship Id="rId9" Type="http://schemas.openxmlformats.org/officeDocument/2006/relationships/tags" Target="../tags/tag54.xml"/></Relationships>
</file>

<file path=ppt/slides/_rels/slide12.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diagramQuickStyle" Target="../diagrams/quickStyle1.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diagramLayout" Target="../diagrams/layout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diagramData" Target="../diagrams/data1.xml"/><Relationship Id="rId5" Type="http://schemas.openxmlformats.org/officeDocument/2006/relationships/tags" Target="../tags/tag59.xml"/><Relationship Id="rId15" Type="http://schemas.microsoft.com/office/2007/relationships/diagramDrawing" Target="../diagrams/drawing1.xml"/><Relationship Id="rId10" Type="http://schemas.openxmlformats.org/officeDocument/2006/relationships/notesSlide" Target="../notesSlides/notesSlide12.xml"/><Relationship Id="rId4" Type="http://schemas.openxmlformats.org/officeDocument/2006/relationships/tags" Target="../tags/tag58.xml"/><Relationship Id="rId9" Type="http://schemas.openxmlformats.org/officeDocument/2006/relationships/slideLayout" Target="../slideLayouts/slideLayout7.xml"/><Relationship Id="rId14" Type="http://schemas.openxmlformats.org/officeDocument/2006/relationships/diagramColors" Target="../diagrams/colors1.xml"/></Relationships>
</file>

<file path=ppt/slides/_rels/slide13.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66.xml"/></Relationships>
</file>

<file path=ppt/slides/_rels/slide14.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notesSlide" Target="../notesSlides/notesSlide14.xml"/><Relationship Id="rId4" Type="http://schemas.openxmlformats.org/officeDocument/2006/relationships/tags" Target="../tags/tag70.xml"/><Relationship Id="rId9"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7.xml"/><Relationship Id="rId7" Type="http://schemas.openxmlformats.org/officeDocument/2006/relationships/notesSlide" Target="../notesSlides/notesSlide15.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tags" Target="../tags/tag78.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tags" Target="../tags/tag82.xml"/><Relationship Id="rId7" Type="http://schemas.openxmlformats.org/officeDocument/2006/relationships/diagramData" Target="../diagrams/data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16.xml"/><Relationship Id="rId11" Type="http://schemas.microsoft.com/office/2007/relationships/diagramDrawing" Target="../diagrams/drawing2.xml"/><Relationship Id="rId5" Type="http://schemas.openxmlformats.org/officeDocument/2006/relationships/slideLayout" Target="../slideLayouts/slideLayout2.xml"/><Relationship Id="rId10" Type="http://schemas.openxmlformats.org/officeDocument/2006/relationships/diagramColors" Target="../diagrams/colors2.xml"/><Relationship Id="rId4" Type="http://schemas.openxmlformats.org/officeDocument/2006/relationships/tags" Target="../tags/tag83.xml"/><Relationship Id="rId9"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tags" Target="../tags/tag86.xml"/><Relationship Id="rId7" Type="http://schemas.openxmlformats.org/officeDocument/2006/relationships/notesSlide" Target="../notesSlides/notesSlide17.xml"/><Relationship Id="rId12" Type="http://schemas.microsoft.com/office/2007/relationships/diagramDrawing" Target="../diagrams/drawing3.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slideLayout" Target="../slideLayouts/slideLayout2.xml"/><Relationship Id="rId11" Type="http://schemas.openxmlformats.org/officeDocument/2006/relationships/diagramColors" Target="../diagrams/colors3.xml"/><Relationship Id="rId5" Type="http://schemas.openxmlformats.org/officeDocument/2006/relationships/tags" Target="../tags/tag88.xml"/><Relationship Id="rId10" Type="http://schemas.openxmlformats.org/officeDocument/2006/relationships/diagramQuickStyle" Target="../diagrams/quickStyle3.xml"/><Relationship Id="rId4" Type="http://schemas.openxmlformats.org/officeDocument/2006/relationships/tags" Target="../tags/tag87.xml"/><Relationship Id="rId9"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tags" Target="../tags/tag91.xml"/><Relationship Id="rId7" Type="http://schemas.openxmlformats.org/officeDocument/2006/relationships/notesSlide" Target="../notesSlides/notesSlide18.xml"/><Relationship Id="rId12" Type="http://schemas.microsoft.com/office/2007/relationships/diagramDrawing" Target="../diagrams/drawing4.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slideLayout" Target="../slideLayouts/slideLayout2.xml"/><Relationship Id="rId11" Type="http://schemas.openxmlformats.org/officeDocument/2006/relationships/diagramColors" Target="../diagrams/colors4.xml"/><Relationship Id="rId5" Type="http://schemas.openxmlformats.org/officeDocument/2006/relationships/tags" Target="../tags/tag93.xml"/><Relationship Id="rId10" Type="http://schemas.openxmlformats.org/officeDocument/2006/relationships/diagramQuickStyle" Target="../diagrams/quickStyle4.xml"/><Relationship Id="rId4" Type="http://schemas.openxmlformats.org/officeDocument/2006/relationships/tags" Target="../tags/tag92.xml"/><Relationship Id="rId9"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tags" Target="../tags/tag96.xml"/><Relationship Id="rId7" Type="http://schemas.openxmlformats.org/officeDocument/2006/relationships/notesSlide" Target="../notesSlides/notesSlide19.xml"/><Relationship Id="rId12" Type="http://schemas.microsoft.com/office/2007/relationships/diagramDrawing" Target="../diagrams/drawing5.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slideLayout" Target="../slideLayouts/slideLayout2.xml"/><Relationship Id="rId11" Type="http://schemas.openxmlformats.org/officeDocument/2006/relationships/diagramColors" Target="../diagrams/colors5.xml"/><Relationship Id="rId5" Type="http://schemas.openxmlformats.org/officeDocument/2006/relationships/tags" Target="../tags/tag98.xml"/><Relationship Id="rId10" Type="http://schemas.openxmlformats.org/officeDocument/2006/relationships/diagramQuickStyle" Target="../diagrams/quickStyle5.xml"/><Relationship Id="rId4" Type="http://schemas.openxmlformats.org/officeDocument/2006/relationships/tags" Target="../tags/tag97.xml"/><Relationship Id="rId9"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tags" Target="../tags/tag101.xml"/><Relationship Id="rId7" Type="http://schemas.openxmlformats.org/officeDocument/2006/relationships/notesSlide" Target="../notesSlides/notesSlide20.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slideLayout" Target="../slideLayouts/slideLayout2.xml"/><Relationship Id="rId5" Type="http://schemas.openxmlformats.org/officeDocument/2006/relationships/tags" Target="../tags/tag103.xml"/><Relationship Id="rId4" Type="http://schemas.openxmlformats.org/officeDocument/2006/relationships/tags" Target="../tags/tag102.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106.xml"/><Relationship Id="rId7"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s>
</file>

<file path=ppt/slides/_rels/slide22.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notesSlide" Target="../notesSlides/notesSlide22.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5" Type="http://schemas.openxmlformats.org/officeDocument/2006/relationships/tags" Target="../tags/tag114.xml"/><Relationship Id="rId10" Type="http://schemas.openxmlformats.org/officeDocument/2006/relationships/tags" Target="../tags/tag119.xml"/><Relationship Id="rId4" Type="http://schemas.openxmlformats.org/officeDocument/2006/relationships/tags" Target="../tags/tag113.xml"/><Relationship Id="rId9" Type="http://schemas.openxmlformats.org/officeDocument/2006/relationships/tags" Target="../tags/tag118.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openxmlformats.org/officeDocument/2006/relationships/tags" Target="../tags/tag123.xml"/><Relationship Id="rId7"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10" Type="http://schemas.openxmlformats.org/officeDocument/2006/relationships/image" Target="../media/image20.png"/><Relationship Id="rId4" Type="http://schemas.openxmlformats.org/officeDocument/2006/relationships/tags" Target="../tags/tag124.xml"/><Relationship Id="rId9" Type="http://schemas.openxmlformats.org/officeDocument/2006/relationships/tags" Target="../tags/tag1440.xml"/></Relationships>
</file>

<file path=ppt/slides/_rels/slide24.xml.rels><?xml version="1.0" encoding="UTF-8" standalone="yes"?>
<Relationships xmlns="http://schemas.openxmlformats.org/package/2006/relationships"><Relationship Id="rId3" Type="http://schemas.openxmlformats.org/officeDocument/2006/relationships/tags" Target="../tags/tag129.xml"/><Relationship Id="rId7" Type="http://schemas.openxmlformats.org/officeDocument/2006/relationships/notesSlide" Target="../notesSlides/notesSlide24.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Layout" Target="../slideLayouts/slideLayout4.xml"/><Relationship Id="rId5" Type="http://schemas.openxmlformats.org/officeDocument/2006/relationships/tags" Target="../tags/tag131.xml"/><Relationship Id="rId4" Type="http://schemas.openxmlformats.org/officeDocument/2006/relationships/tags" Target="../tags/tag1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tags" Target="../tags/tag134.xml"/><Relationship Id="rId7" Type="http://schemas.openxmlformats.org/officeDocument/2006/relationships/notesSlide" Target="../notesSlides/notesSlide26.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Layout" Target="../slideLayouts/slideLayout2.xml"/><Relationship Id="rId5" Type="http://schemas.openxmlformats.org/officeDocument/2006/relationships/tags" Target="../tags/tag136.xml"/><Relationship Id="rId4" Type="http://schemas.openxmlformats.org/officeDocument/2006/relationships/tags" Target="../tags/tag135.xml"/></Relationships>
</file>

<file path=ppt/slides/_rels/slide27.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notesSlide" Target="../notesSlides/notesSlide27.xml"/><Relationship Id="rId4"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143.xml"/></Relationships>
</file>

<file path=ppt/slides/_rels/slide29.xml.rels><?xml version="1.0" encoding="UTF-8" standalone="yes"?>
<Relationships xmlns="http://schemas.openxmlformats.org/package/2006/relationships"><Relationship Id="rId3" Type="http://schemas.openxmlformats.org/officeDocument/2006/relationships/tags" Target="../tags/tag146.xml"/><Relationship Id="rId7" Type="http://schemas.openxmlformats.org/officeDocument/2006/relationships/notesSlide" Target="../notesSlides/notesSlide29.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slideLayout" Target="../slideLayouts/slideLayout2.xml"/><Relationship Id="rId5" Type="http://schemas.openxmlformats.org/officeDocument/2006/relationships/tags" Target="../tags/tag148.xml"/><Relationship Id="rId4" Type="http://schemas.openxmlformats.org/officeDocument/2006/relationships/tags" Target="../tags/tag147.xml"/></Relationships>
</file>

<file path=ppt/slides/_rels/slide30.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diagramData" Target="../diagrams/data6.xml"/><Relationship Id="rId18" Type="http://schemas.openxmlformats.org/officeDocument/2006/relationships/image" Target="../media/image9.svg"/><Relationship Id="rId3" Type="http://schemas.openxmlformats.org/officeDocument/2006/relationships/tags" Target="../tags/tag151.xml"/><Relationship Id="rId21" Type="http://schemas.openxmlformats.org/officeDocument/2006/relationships/image" Target="../media/image12.svg"/><Relationship Id="rId7" Type="http://schemas.openxmlformats.org/officeDocument/2006/relationships/tags" Target="../tags/tag155.xml"/><Relationship Id="rId12" Type="http://schemas.openxmlformats.org/officeDocument/2006/relationships/notesSlide" Target="../notesSlides/notesSlide30.xml"/><Relationship Id="rId17" Type="http://schemas.microsoft.com/office/2007/relationships/diagramDrawing" Target="../diagrams/drawing6.xml"/><Relationship Id="rId2" Type="http://schemas.openxmlformats.org/officeDocument/2006/relationships/tags" Target="../tags/tag150.xml"/><Relationship Id="rId16" Type="http://schemas.openxmlformats.org/officeDocument/2006/relationships/diagramColors" Target="../diagrams/colors6.xml"/><Relationship Id="rId20" Type="http://schemas.openxmlformats.org/officeDocument/2006/relationships/image" Target="../media/image11.svg"/><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slideLayout" Target="../slideLayouts/slideLayout2.xml"/><Relationship Id="rId5" Type="http://schemas.openxmlformats.org/officeDocument/2006/relationships/tags" Target="../tags/tag153.xml"/><Relationship Id="rId15" Type="http://schemas.openxmlformats.org/officeDocument/2006/relationships/diagramQuickStyle" Target="../diagrams/quickStyle6.xml"/><Relationship Id="rId10" Type="http://schemas.openxmlformats.org/officeDocument/2006/relationships/tags" Target="../tags/tag158.xml"/><Relationship Id="rId19" Type="http://schemas.openxmlformats.org/officeDocument/2006/relationships/image" Target="../media/image10.svg"/><Relationship Id="rId4" Type="http://schemas.openxmlformats.org/officeDocument/2006/relationships/tags" Target="../tags/tag152.xml"/><Relationship Id="rId9" Type="http://schemas.openxmlformats.org/officeDocument/2006/relationships/tags" Target="../tags/tag157.xml"/><Relationship Id="rId14" Type="http://schemas.openxmlformats.org/officeDocument/2006/relationships/diagramLayout" Target="../diagrams/layout6.xml"/><Relationship Id="rId22" Type="http://schemas.openxmlformats.org/officeDocument/2006/relationships/image" Target="../media/image13.svg"/></Relationships>
</file>

<file path=ppt/slides/_rels/slide31.xml.rels><?xml version="1.0" encoding="UTF-8" standalone="yes"?>
<Relationships xmlns="http://schemas.openxmlformats.org/package/2006/relationships"><Relationship Id="rId3" Type="http://schemas.openxmlformats.org/officeDocument/2006/relationships/tags" Target="../tags/tag161.xml"/><Relationship Id="rId7" Type="http://schemas.openxmlformats.org/officeDocument/2006/relationships/notesSlide" Target="../notesSlides/notesSlide31.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Layout" Target="../slideLayouts/slideLayout2.xml"/><Relationship Id="rId5" Type="http://schemas.openxmlformats.org/officeDocument/2006/relationships/tags" Target="../tags/tag163.xml"/><Relationship Id="rId4" Type="http://schemas.openxmlformats.org/officeDocument/2006/relationships/tags" Target="../tags/tag162.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3" Type="http://schemas.openxmlformats.org/officeDocument/2006/relationships/tags" Target="../tags/tag166.xml"/><Relationship Id="rId7" Type="http://schemas.openxmlformats.org/officeDocument/2006/relationships/slideLayout" Target="../slideLayouts/slideLayout4.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s>
</file>

<file path=ppt/slides/_rels/slide33.xml.rels><?xml version="1.0" encoding="UTF-8" standalone="yes"?>
<Relationships xmlns="http://schemas.openxmlformats.org/package/2006/relationships"><Relationship Id="rId3" Type="http://schemas.openxmlformats.org/officeDocument/2006/relationships/tags" Target="../tags/tag172.xml"/><Relationship Id="rId7" Type="http://schemas.openxmlformats.org/officeDocument/2006/relationships/notesSlide" Target="../notesSlides/notesSlide33.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slideLayout" Target="../slideLayouts/slideLayout2.xml"/><Relationship Id="rId5" Type="http://schemas.openxmlformats.org/officeDocument/2006/relationships/tags" Target="../tags/tag174.xml"/><Relationship Id="rId4" Type="http://schemas.openxmlformats.org/officeDocument/2006/relationships/tags" Target="../tags/tag173.xml"/></Relationships>
</file>

<file path=ppt/slides/_rels/slide34.xml.rels><?xml version="1.0" encoding="UTF-8" standalone="yes"?>
<Relationships xmlns="http://schemas.openxmlformats.org/package/2006/relationships"><Relationship Id="rId8" Type="http://schemas.openxmlformats.org/officeDocument/2006/relationships/tags" Target="../tags/tag182.xml"/><Relationship Id="rId3" Type="http://schemas.openxmlformats.org/officeDocument/2006/relationships/tags" Target="../tags/tag177.xml"/><Relationship Id="rId7" Type="http://schemas.openxmlformats.org/officeDocument/2006/relationships/tags" Target="../tags/tag181.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notesSlide" Target="../notesSlides/notesSlide34.xml"/><Relationship Id="rId5" Type="http://schemas.openxmlformats.org/officeDocument/2006/relationships/tags" Target="../tags/tag179.xml"/><Relationship Id="rId10" Type="http://schemas.openxmlformats.org/officeDocument/2006/relationships/slideLayout" Target="../slideLayouts/slideLayout5.xml"/><Relationship Id="rId4" Type="http://schemas.openxmlformats.org/officeDocument/2006/relationships/tags" Target="../tags/tag178.xml"/><Relationship Id="rId9" Type="http://schemas.openxmlformats.org/officeDocument/2006/relationships/tags" Target="../tags/tag183.xml"/></Relationships>
</file>

<file path=ppt/slides/_rels/slide35.xml.rels><?xml version="1.0" encoding="UTF-8" standalone="yes"?>
<Relationships xmlns="http://schemas.openxmlformats.org/package/2006/relationships"><Relationship Id="rId3" Type="http://schemas.openxmlformats.org/officeDocument/2006/relationships/tags" Target="../tags/tag186.xml"/><Relationship Id="rId7" Type="http://schemas.openxmlformats.org/officeDocument/2006/relationships/notesSlide" Target="../notesSlides/notesSlide35.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slideLayout" Target="../slideLayouts/slideLayout2.xml"/><Relationship Id="rId5" Type="http://schemas.openxmlformats.org/officeDocument/2006/relationships/tags" Target="../tags/tag188.xml"/><Relationship Id="rId4" Type="http://schemas.openxmlformats.org/officeDocument/2006/relationships/tags" Target="../tags/tag187.xml"/></Relationships>
</file>

<file path=ppt/slides/_rels/slide36.xml.rels><?xml version="1.0" encoding="UTF-8" standalone="yes"?>
<Relationships xmlns="http://schemas.openxmlformats.org/package/2006/relationships"><Relationship Id="rId8" Type="http://schemas.openxmlformats.org/officeDocument/2006/relationships/image" Target="../media/image14.jpeg"/><Relationship Id="rId13" Type="http://schemas.microsoft.com/office/2007/relationships/diagramDrawing" Target="../diagrams/drawing7.xml"/><Relationship Id="rId3" Type="http://schemas.openxmlformats.org/officeDocument/2006/relationships/tags" Target="../tags/tag191.xml"/><Relationship Id="rId7" Type="http://schemas.openxmlformats.org/officeDocument/2006/relationships/notesSlide" Target="../notesSlides/notesSlide36.xml"/><Relationship Id="rId12" Type="http://schemas.openxmlformats.org/officeDocument/2006/relationships/diagramColors" Target="../diagrams/colors7.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slideLayout" Target="../slideLayouts/slideLayout2.xml"/><Relationship Id="rId11" Type="http://schemas.openxmlformats.org/officeDocument/2006/relationships/diagramQuickStyle" Target="../diagrams/quickStyle7.xml"/><Relationship Id="rId5" Type="http://schemas.openxmlformats.org/officeDocument/2006/relationships/tags" Target="../tags/tag193.xml"/><Relationship Id="rId10" Type="http://schemas.openxmlformats.org/officeDocument/2006/relationships/diagramLayout" Target="../diagrams/layout7.xml"/><Relationship Id="rId4" Type="http://schemas.openxmlformats.org/officeDocument/2006/relationships/tags" Target="../tags/tag192.xml"/><Relationship Id="rId9" Type="http://schemas.openxmlformats.org/officeDocument/2006/relationships/diagramData" Target="../diagrams/data7.xml"/></Relationships>
</file>

<file path=ppt/slides/_rels/slide3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196.xml"/><Relationship Id="rId7" Type="http://schemas.openxmlformats.org/officeDocument/2006/relationships/notesSlide" Target="../notesSlides/notesSlide37.xml"/><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slideLayout" Target="../slideLayouts/slideLayout2.xml"/><Relationship Id="rId5" Type="http://schemas.openxmlformats.org/officeDocument/2006/relationships/tags" Target="../tags/tag198.xml"/><Relationship Id="rId4" Type="http://schemas.openxmlformats.org/officeDocument/2006/relationships/tags" Target="../tags/tag197.xml"/></Relationships>
</file>

<file path=ppt/slides/_rels/slide38.xml.rels><?xml version="1.0" encoding="UTF-8" standalone="yes"?>
<Relationships xmlns="http://schemas.openxmlformats.org/package/2006/relationships"><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tags" Target="../tags/tag202.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13" Type="http://schemas.microsoft.com/office/2007/relationships/diagramDrawing" Target="../diagrams/drawing8.xml"/><Relationship Id="rId3" Type="http://schemas.openxmlformats.org/officeDocument/2006/relationships/tags" Target="../tags/tag205.xml"/><Relationship Id="rId7" Type="http://schemas.openxmlformats.org/officeDocument/2006/relationships/slideLayout" Target="../slideLayouts/slideLayout2.xml"/><Relationship Id="rId12" Type="http://schemas.openxmlformats.org/officeDocument/2006/relationships/diagramColors" Target="../diagrams/colors8.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diagramQuickStyle" Target="../diagrams/quickStyle8.xml"/><Relationship Id="rId5" Type="http://schemas.openxmlformats.org/officeDocument/2006/relationships/tags" Target="../tags/tag207.xml"/><Relationship Id="rId10" Type="http://schemas.openxmlformats.org/officeDocument/2006/relationships/diagramLayout" Target="../diagrams/layout8.xml"/><Relationship Id="rId4" Type="http://schemas.openxmlformats.org/officeDocument/2006/relationships/tags" Target="../tags/tag206.xml"/><Relationship Id="rId9" Type="http://schemas.openxmlformats.org/officeDocument/2006/relationships/diagramData" Target="../diagrams/data8.xml"/></Relationships>
</file>

<file path=ppt/slides/_rels/slide40.xml.rels><?xml version="1.0" encoding="UTF-8" standalone="yes"?>
<Relationships xmlns="http://schemas.openxmlformats.org/package/2006/relationships"><Relationship Id="rId3" Type="http://schemas.openxmlformats.org/officeDocument/2006/relationships/tags" Target="../tags/tag211.xml"/><Relationship Id="rId7" Type="http://schemas.openxmlformats.org/officeDocument/2006/relationships/image" Target="../media/image16.jpe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notesSlide" Target="../notesSlides/notesSlide40.xml"/><Relationship Id="rId5" Type="http://schemas.openxmlformats.org/officeDocument/2006/relationships/slideLayout" Target="../slideLayouts/slideLayout13.xml"/><Relationship Id="rId4" Type="http://schemas.openxmlformats.org/officeDocument/2006/relationships/tags" Target="../tags/tag212.xml"/></Relationships>
</file>

<file path=ppt/slides/_rels/slide41.xml.rels><?xml version="1.0" encoding="UTF-8" standalone="yes"?>
<Relationships xmlns="http://schemas.openxmlformats.org/package/2006/relationships"><Relationship Id="rId3" Type="http://schemas.openxmlformats.org/officeDocument/2006/relationships/tags" Target="../tags/tag215.xml"/><Relationship Id="rId7" Type="http://schemas.openxmlformats.org/officeDocument/2006/relationships/notesSlide" Target="../notesSlides/notesSlide41.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4.xml"/><Relationship Id="rId5" Type="http://schemas.openxmlformats.org/officeDocument/2006/relationships/tags" Target="../tags/tag217.xml"/><Relationship Id="rId4" Type="http://schemas.openxmlformats.org/officeDocument/2006/relationships/tags" Target="../tags/tag216.xml"/></Relationships>
</file>

<file path=ppt/slides/_rels/slide42.xml.rels><?xml version="1.0" encoding="UTF-8" standalone="yes"?>
<Relationships xmlns="http://schemas.openxmlformats.org/package/2006/relationships"><Relationship Id="rId3" Type="http://schemas.openxmlformats.org/officeDocument/2006/relationships/tags" Target="../tags/tag220.xml"/><Relationship Id="rId7" Type="http://schemas.openxmlformats.org/officeDocument/2006/relationships/notesSlide" Target="../notesSlides/notesSlide42.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slideLayout" Target="../slideLayouts/slideLayout4.xml"/><Relationship Id="rId5" Type="http://schemas.openxmlformats.org/officeDocument/2006/relationships/tags" Target="../tags/tag222.xml"/><Relationship Id="rId4" Type="http://schemas.openxmlformats.org/officeDocument/2006/relationships/tags" Target="../tags/tag221.xml"/></Relationships>
</file>

<file path=ppt/slides/_rels/slide43.xml.rels><?xml version="1.0" encoding="UTF-8" standalone="yes"?>
<Relationships xmlns="http://schemas.openxmlformats.org/package/2006/relationships"><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notesSlide" Target="../notesSlides/notesSlide43.xml"/><Relationship Id="rId5" Type="http://schemas.openxmlformats.org/officeDocument/2006/relationships/slideLayout" Target="../slideLayouts/slideLayout2.xml"/><Relationship Id="rId4" Type="http://schemas.openxmlformats.org/officeDocument/2006/relationships/tags" Target="../tags/tag226.xml"/></Relationships>
</file>

<file path=ppt/slides/_rels/slide44.xml.rels><?xml version="1.0" encoding="UTF-8" standalone="yes"?>
<Relationships xmlns="http://schemas.openxmlformats.org/package/2006/relationships"><Relationship Id="rId8" Type="http://schemas.openxmlformats.org/officeDocument/2006/relationships/tags" Target="../tags/tag234.xml"/><Relationship Id="rId13" Type="http://schemas.openxmlformats.org/officeDocument/2006/relationships/tags" Target="../tags/tag239.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tags" Target="../tags/tag238.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tags" Target="../tags/tag237.xml"/><Relationship Id="rId5" Type="http://schemas.openxmlformats.org/officeDocument/2006/relationships/tags" Target="../tags/tag231.xml"/><Relationship Id="rId15" Type="http://schemas.openxmlformats.org/officeDocument/2006/relationships/notesSlide" Target="../notesSlides/notesSlide44.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 Id="rId14"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notesSlide" Target="../notesSlides/notesSlide45.xml"/><Relationship Id="rId5" Type="http://schemas.openxmlformats.org/officeDocument/2006/relationships/slideLayout" Target="../slideLayouts/slideLayout2.xml"/><Relationship Id="rId4" Type="http://schemas.openxmlformats.org/officeDocument/2006/relationships/tags" Target="../tags/tag2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body" idx="1"/>
            <p:custDataLst>
              <p:tags r:id="rId1"/>
            </p:custDataLst>
          </p:nvPr>
        </p:nvSpPr>
        <p:spPr>
          <a:xfrm>
            <a:off x="841248" y="3194857"/>
            <a:ext cx="5808448" cy="911117"/>
          </a:xfr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r>
              <a:rPr lang="en-US" sz="2000" dirty="0" err="1">
                <a:solidFill>
                  <a:schemeClr val="tx1"/>
                </a:solidFill>
              </a:rPr>
              <a:t>Département</a:t>
            </a:r>
            <a:r>
              <a:rPr lang="en-US" sz="2000" dirty="0">
                <a:solidFill>
                  <a:schemeClr val="tx1"/>
                </a:solidFill>
              </a:rPr>
              <a:t> de sciences </a:t>
            </a:r>
            <a:r>
              <a:rPr lang="en-US" sz="2000" dirty="0" err="1">
                <a:solidFill>
                  <a:schemeClr val="tx1"/>
                </a:solidFill>
              </a:rPr>
              <a:t>comptables</a:t>
            </a:r>
            <a:endParaRPr lang="en-US" sz="2000" dirty="0">
              <a:solidFill>
                <a:schemeClr val="tx1"/>
              </a:solidFill>
            </a:endParaRPr>
          </a:p>
          <a:p>
            <a:r>
              <a:rPr lang="en-US" sz="2000" dirty="0">
                <a:solidFill>
                  <a:schemeClr val="tx1"/>
                </a:solidFill>
              </a:rPr>
              <a:t>Année </a:t>
            </a:r>
            <a:r>
              <a:rPr lang="en-US" sz="2000" dirty="0" err="1">
                <a:solidFill>
                  <a:schemeClr val="tx1"/>
                </a:solidFill>
              </a:rPr>
              <a:t>universitaire</a:t>
            </a:r>
            <a:r>
              <a:rPr lang="en-US" sz="2000" dirty="0">
                <a:solidFill>
                  <a:schemeClr val="tx1"/>
                </a:solidFill>
              </a:rPr>
              <a:t> 2025 – 2026</a:t>
            </a:r>
          </a:p>
        </p:txBody>
      </p:sp>
      <p:sp>
        <p:nvSpPr>
          <p:cNvPr id="2" name="Titre 1"/>
          <p:cNvSpPr>
            <a:spLocks noGrp="1"/>
          </p:cNvSpPr>
          <p:nvPr>
            <p:ph type="title"/>
            <p:custDataLst>
              <p:tags r:id="rId2"/>
            </p:custDataLst>
          </p:nvPr>
        </p:nvSpPr>
        <p:spPr>
          <a:xfrm>
            <a:off x="841248" y="1380847"/>
            <a:ext cx="6270964" cy="1807054"/>
          </a:xfr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bodyPr>
          <a:lstStyle/>
          <a:p>
            <a:r>
              <a:rPr lang="en-US" sz="3800" dirty="0" err="1">
                <a:solidFill>
                  <a:schemeClr val="tx1"/>
                </a:solidFill>
                <a:latin typeface="+mj-lt"/>
                <a:ea typeface="+mj-ea"/>
                <a:cs typeface="+mj-cs"/>
              </a:rPr>
              <a:t>Comptabilité</a:t>
            </a:r>
            <a:r>
              <a:rPr lang="en-US" sz="3800" dirty="0">
                <a:solidFill>
                  <a:schemeClr val="tx1"/>
                </a:solidFill>
                <a:latin typeface="+mj-lt"/>
                <a:ea typeface="+mj-ea"/>
                <a:cs typeface="+mj-cs"/>
              </a:rPr>
              <a:t> de gestion</a:t>
            </a:r>
            <a:br>
              <a:rPr lang="en-US" sz="3800" dirty="0">
                <a:latin typeface="+mj-lt"/>
                <a:ea typeface="+mj-ea"/>
                <a:cs typeface="+mj-cs"/>
              </a:rPr>
            </a:br>
            <a:r>
              <a:rPr lang="en-US" sz="3800" dirty="0">
                <a:solidFill>
                  <a:schemeClr val="tx1"/>
                </a:solidFill>
                <a:latin typeface="+mj-lt"/>
                <a:ea typeface="+mj-ea"/>
                <a:cs typeface="+mj-cs"/>
              </a:rPr>
              <a:t>(10904)</a:t>
            </a:r>
            <a:br>
              <a:rPr lang="en-US" sz="3800" dirty="0">
                <a:latin typeface="+mj-lt"/>
                <a:ea typeface="+mj-ea"/>
                <a:cs typeface="+mj-cs"/>
              </a:rPr>
            </a:br>
            <a:r>
              <a:rPr lang="en-US" sz="3800" dirty="0">
                <a:solidFill>
                  <a:schemeClr val="tx1"/>
                </a:solidFill>
                <a:latin typeface="+mj-lt"/>
                <a:ea typeface="+mj-ea"/>
                <a:cs typeface="+mj-cs"/>
              </a:rPr>
              <a:t>Séance 6</a:t>
            </a:r>
          </a:p>
        </p:txBody>
      </p:sp>
      <p:sp>
        <p:nvSpPr>
          <p:cNvPr id="5" name="Espace réservé du numéro de diapositive 4"/>
          <p:cNvSpPr>
            <a:spLocks noGrp="1"/>
          </p:cNvSpPr>
          <p:nvPr>
            <p:ph type="sldNum" sz="quarter" idx="12"/>
            <p:custDataLst>
              <p:tags r:id="rId3"/>
            </p:custDataLst>
          </p:nvPr>
        </p:nvSpPr>
        <p:spPr>
          <a:xfrm>
            <a:off x="7112212" y="5623560"/>
            <a:ext cx="4241588" cy="365125"/>
          </a:xfrm>
        </p:spPr>
        <p:txBody>
          <a:bodyPr vert="horz" lIns="91440" tIns="45720" rIns="91440" bIns="45720" rtlCol="0" anchor="ctr">
            <a:normAutofit/>
          </a:bodyPr>
          <a:lstStyle/>
          <a:p>
            <a:pPr algn="r">
              <a:spcAft>
                <a:spcPts val="600"/>
              </a:spcAft>
              <a:defRPr/>
            </a:pPr>
            <a:fld id="{1F20FBA3-27E4-4E13-841E-B59ED0E8E620}" type="slidenum">
              <a:rPr lang="en-US">
                <a:solidFill>
                  <a:srgbClr val="FFFFFF">
                    <a:alpha val="80000"/>
                  </a:srgbClr>
                </a:solidFill>
                <a:latin typeface="Calibri" panose="020F0502020204030204"/>
              </a:rPr>
              <a:pPr algn="r">
                <a:spcAft>
                  <a:spcPts val="600"/>
                </a:spcAft>
                <a:defRPr/>
              </a:pPr>
              <a:t>1</a:t>
            </a:fld>
            <a:endParaRPr lang="en-US">
              <a:solidFill>
                <a:srgbClr val="FFFFFF">
                  <a:alpha val="80000"/>
                </a:srgbClr>
              </a:solidFill>
              <a:latin typeface="Calibri" panose="020F0502020204030204"/>
            </a:endParaRPr>
          </a:p>
        </p:txBody>
      </p:sp>
      <p:sp>
        <p:nvSpPr>
          <p:cNvPr id="7" name="Espace réservé du pied de page 6">
            <a:extLst>
              <a:ext uri="{FF2B5EF4-FFF2-40B4-BE49-F238E27FC236}">
                <a16:creationId xmlns:a16="http://schemas.microsoft.com/office/drawing/2014/main" id="{9B810BA0-F7A4-4878-95AF-BB4297265AEB}"/>
              </a:ext>
            </a:extLst>
          </p:cNvPr>
          <p:cNvSpPr>
            <a:spLocks noGrp="1"/>
          </p:cNvSpPr>
          <p:nvPr>
            <p:ph type="ftr" sz="quarter" idx="11"/>
            <p:custDataLst>
              <p:tags r:id="rId4"/>
            </p:custDataLst>
          </p:nvPr>
        </p:nvSpPr>
        <p:spPr>
          <a:xfrm>
            <a:off x="7112212" y="6355080"/>
            <a:ext cx="4241588" cy="365125"/>
          </a:xfrm>
        </p:spPr>
        <p:txBody>
          <a:bodyPr vert="horz" lIns="91440" tIns="45720" rIns="91440" bIns="45720" rtlCol="0" anchor="ctr">
            <a:normAutofit/>
          </a:bodyPr>
          <a:lstStyle/>
          <a:p>
            <a:pPr algn="r">
              <a:spcAft>
                <a:spcPts val="600"/>
              </a:spcAft>
              <a:defRPr/>
            </a:pPr>
            <a:r>
              <a:rPr lang="pt-BR" kern="1200" dirty="0">
                <a:solidFill>
                  <a:srgbClr val="FFFFFF">
                    <a:alpha val="80000"/>
                  </a:srgbClr>
                </a:solidFill>
                <a:latin typeface="Calibri" panose="020F0502020204030204"/>
                <a:ea typeface="+mn-ea"/>
                <a:cs typeface="+mn-cs"/>
              </a:rPr>
              <a:t>(c) 10904 - S11 / Version H2024</a:t>
            </a:r>
            <a:endParaRPr lang="en-US" kern="1200" dirty="0">
              <a:solidFill>
                <a:srgbClr val="FFFFFF">
                  <a:alpha val="80000"/>
                </a:srgbClr>
              </a:solidFill>
              <a:latin typeface="Calibri" panose="020F0502020204030204"/>
              <a:ea typeface="+mn-ea"/>
              <a:cs typeface="+mn-cs"/>
            </a:endParaRPr>
          </a:p>
        </p:txBody>
      </p:sp>
    </p:spTree>
    <p:extLst>
      <p:ext uri="{BB962C8B-B14F-4D97-AF65-F5344CB8AC3E}">
        <p14:creationId xmlns:p14="http://schemas.microsoft.com/office/powerpoint/2010/main" val="21514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1524000" y="936128"/>
            <a:ext cx="9144000" cy="2764028"/>
          </a:xfrm>
        </p:spPr>
        <p:txBody>
          <a:bodyPr vert="horz" lIns="91440" tIns="45720" rIns="91440" bIns="45720" rtlCol="0" anchor="ctr">
            <a:normAutofit fontScale="90000"/>
          </a:bodyPr>
          <a:lstStyle/>
          <a:p>
            <a:pPr algn="ctr"/>
            <a:r>
              <a:rPr lang="en-US" sz="7200" kern="1200">
                <a:solidFill>
                  <a:schemeClr val="tx1"/>
                </a:solidFill>
                <a:latin typeface="+mj-lt"/>
                <a:ea typeface="+mj-ea"/>
                <a:cs typeface="+mj-cs"/>
              </a:rPr>
              <a:t>La </a:t>
            </a:r>
            <a:r>
              <a:rPr lang="en-US" sz="7200" kern="1200" err="1">
                <a:solidFill>
                  <a:schemeClr val="tx1"/>
                </a:solidFill>
                <a:latin typeface="+mj-lt"/>
                <a:ea typeface="+mj-ea"/>
                <a:cs typeface="+mj-cs"/>
              </a:rPr>
              <a:t>mesure</a:t>
            </a:r>
            <a:r>
              <a:rPr lang="en-US" sz="7200" kern="1200">
                <a:solidFill>
                  <a:schemeClr val="tx1"/>
                </a:solidFill>
                <a:latin typeface="+mj-lt"/>
                <a:ea typeface="+mj-ea"/>
                <a:cs typeface="+mj-cs"/>
              </a:rPr>
              <a:t> et </a:t>
            </a:r>
            <a:r>
              <a:rPr lang="en-US" sz="7200" kern="1200" err="1">
                <a:solidFill>
                  <a:schemeClr val="tx1"/>
                </a:solidFill>
                <a:latin typeface="+mj-lt"/>
                <a:ea typeface="+mj-ea"/>
                <a:cs typeface="+mj-cs"/>
              </a:rPr>
              <a:t>l’évaluation</a:t>
            </a:r>
            <a:r>
              <a:rPr lang="en-US" sz="7200" kern="1200">
                <a:solidFill>
                  <a:schemeClr val="tx1"/>
                </a:solidFill>
                <a:latin typeface="+mj-lt"/>
                <a:ea typeface="+mj-ea"/>
                <a:cs typeface="+mj-cs"/>
              </a:rPr>
              <a:t> de la performance </a:t>
            </a:r>
            <a:r>
              <a:rPr lang="en-US" sz="7200" kern="1200" err="1">
                <a:solidFill>
                  <a:schemeClr val="tx1"/>
                </a:solidFill>
                <a:latin typeface="+mj-lt"/>
                <a:ea typeface="+mj-ea"/>
                <a:cs typeface="+mj-cs"/>
              </a:rPr>
              <a:t>organisationnelle</a:t>
            </a:r>
            <a:endParaRPr lang="en-US" sz="7200" kern="1200">
              <a:solidFill>
                <a:schemeClr val="tx1"/>
              </a:solidFill>
              <a:latin typeface="+mj-lt"/>
              <a:ea typeface="+mj-ea"/>
              <a:cs typeface="+mj-cs"/>
            </a:endParaRPr>
          </a:p>
        </p:txBody>
      </p:sp>
      <p:sp>
        <p:nvSpPr>
          <p:cNvPr id="5" name="Espace réservé du numéro de diapositive 4"/>
          <p:cNvSpPr>
            <a:spLocks noGrp="1"/>
          </p:cNvSpPr>
          <p:nvPr>
            <p:ph type="sldNum" sz="quarter" idx="12"/>
            <p:custDataLst>
              <p:tags r:id="rId2"/>
            </p:custDataLst>
          </p:nvPr>
        </p:nvSpPr>
        <p:spPr>
          <a:xfrm>
            <a:off x="10489019" y="6356350"/>
            <a:ext cx="1268818" cy="365125"/>
          </a:xfrm>
          <a:prstGeom prst="rect">
            <a:avLst/>
          </a:prstGeom>
        </p:spPr>
        <p:txBody>
          <a:bodyPr vert="horz" lIns="91440" tIns="45720" rIns="91440" bIns="45720" rtlCol="0" anchor="ctr">
            <a:normAutofit/>
          </a:bodyPr>
          <a:lstStyle/>
          <a:p>
            <a:pPr algn="r">
              <a:spcAft>
                <a:spcPts val="600"/>
              </a:spcAft>
            </a:pPr>
            <a:fld id="{4FAB73BC-B049-4115-A692-8D63A059BFB8}" type="slidenum">
              <a:rPr lang="en-US">
                <a:solidFill>
                  <a:schemeClr val="tx1">
                    <a:lumMod val="50000"/>
                    <a:lumOff val="50000"/>
                  </a:schemeClr>
                </a:solidFill>
              </a:rPr>
              <a:pPr algn="r">
                <a:spcAft>
                  <a:spcPts val="600"/>
                </a:spcAft>
              </a:pPr>
              <a:t>2</a:t>
            </a:fld>
            <a:endParaRPr lang="en-US">
              <a:solidFill>
                <a:schemeClr val="tx1">
                  <a:lumMod val="50000"/>
                  <a:lumOff val="50000"/>
                </a:schemeClr>
              </a:solidFill>
            </a:endParaRPr>
          </a:p>
        </p:txBody>
      </p:sp>
      <p:sp>
        <p:nvSpPr>
          <p:cNvPr id="7" name="Espace réservé du texte 5">
            <a:extLst>
              <a:ext uri="{FF2B5EF4-FFF2-40B4-BE49-F238E27FC236}">
                <a16:creationId xmlns:a16="http://schemas.microsoft.com/office/drawing/2014/main" id="{6E73DEE1-18BF-4B70-B231-25E8B82961D6}"/>
              </a:ext>
            </a:extLst>
          </p:cNvPr>
          <p:cNvSpPr>
            <a:spLocks noGrp="1"/>
          </p:cNvSpPr>
          <p:nvPr>
            <p:ph type="body" idx="1"/>
            <p:custDataLst>
              <p:tags r:id="rId3"/>
            </p:custDataLst>
          </p:nvPr>
        </p:nvSpPr>
        <p:spPr>
          <a:xfrm>
            <a:off x="831850" y="4589463"/>
            <a:ext cx="10515600" cy="1500187"/>
          </a:xfrm>
        </p:spPr>
        <p:txBody>
          <a:bodyPr vert="horz" lIns="91440" tIns="45720" rIns="91440" bIns="45720" rtlCol="0" anchor="t">
            <a:normAutofit/>
          </a:bodyPr>
          <a:lstStyle/>
          <a:p>
            <a:pPr algn="ctr"/>
            <a:r>
              <a:rPr lang="fr-CA" sz="4000" dirty="0">
                <a:solidFill>
                  <a:schemeClr val="tx1"/>
                </a:solidFill>
              </a:rPr>
              <a:t>Séance 6</a:t>
            </a:r>
          </a:p>
        </p:txBody>
      </p:sp>
      <p:sp>
        <p:nvSpPr>
          <p:cNvPr id="3" name="Espace réservé du pied de page 2">
            <a:extLst>
              <a:ext uri="{FF2B5EF4-FFF2-40B4-BE49-F238E27FC236}">
                <a16:creationId xmlns:a16="http://schemas.microsoft.com/office/drawing/2014/main" id="{85747832-7D10-4546-B8BE-9FDB7F1AA1F4}"/>
              </a:ext>
            </a:extLst>
          </p:cNvPr>
          <p:cNvSpPr>
            <a:spLocks noGrp="1"/>
          </p:cNvSpPr>
          <p:nvPr>
            <p:ph type="ftr" sz="quarter" idx="11"/>
            <p:custDataLst>
              <p:tags r:id="rId4"/>
            </p:custDataLst>
          </p:nvPr>
        </p:nvSpPr>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111078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2DEEE9-4F62-4F3B-B93C-8E10FA91F8C1}"/>
              </a:ext>
            </a:extLst>
          </p:cNvPr>
          <p:cNvSpPr>
            <a:spLocks noGrp="1"/>
          </p:cNvSpPr>
          <p:nvPr>
            <p:ph type="title"/>
            <p:custDataLst>
              <p:tags r:id="rId1"/>
            </p:custDataLst>
          </p:nvPr>
        </p:nvSpPr>
        <p:spPr>
          <a:xfrm>
            <a:off x="838200" y="274948"/>
            <a:ext cx="10515600" cy="1073382"/>
          </a:xfrm>
        </p:spPr>
        <p:txBody>
          <a:bodyPr/>
          <a:lstStyle/>
          <a:p>
            <a:r>
              <a:rPr lang="fr-CA"/>
              <a:t>Objectifs de la séance</a:t>
            </a:r>
          </a:p>
        </p:txBody>
      </p:sp>
      <p:sp>
        <p:nvSpPr>
          <p:cNvPr id="3" name="Espace réservé du contenu 2">
            <a:extLst>
              <a:ext uri="{FF2B5EF4-FFF2-40B4-BE49-F238E27FC236}">
                <a16:creationId xmlns:a16="http://schemas.microsoft.com/office/drawing/2014/main" id="{9B27D95F-BE17-4FF0-B139-BD816D5440F1}"/>
              </a:ext>
            </a:extLst>
          </p:cNvPr>
          <p:cNvSpPr>
            <a:spLocks noGrp="1"/>
          </p:cNvSpPr>
          <p:nvPr>
            <p:ph idx="1"/>
            <p:custDataLst>
              <p:tags r:id="rId2"/>
            </p:custDataLst>
          </p:nvPr>
        </p:nvSpPr>
        <p:spPr>
          <a:xfrm>
            <a:off x="838200" y="1527717"/>
            <a:ext cx="10515600" cy="4649246"/>
          </a:xfrm>
        </p:spPr>
        <p:txBody>
          <a:bodyPr vert="horz" lIns="91440" tIns="45720" rIns="91440" bIns="45720" rtlCol="0" anchor="t">
            <a:normAutofit/>
          </a:bodyPr>
          <a:lstStyle/>
          <a:p>
            <a:r>
              <a:rPr lang="fr-CA" sz="2400" dirty="0"/>
              <a:t>Définir la performance</a:t>
            </a:r>
          </a:p>
          <a:p>
            <a:r>
              <a:rPr lang="fr-CA" sz="2400" dirty="0"/>
              <a:t>Mesurer la performance d’un centre d’investissement </a:t>
            </a:r>
          </a:p>
          <a:p>
            <a:r>
              <a:rPr lang="fr-CA" sz="2400" dirty="0"/>
              <a:t>Comprendre les moyens à la disposition d’un gestionnaire pour améliorer sa performance financière </a:t>
            </a:r>
          </a:p>
          <a:p>
            <a:r>
              <a:rPr lang="fr-CA" sz="2400" dirty="0"/>
              <a:t>Comprendre l’utilité de la mesure de performance multidimensionnelle</a:t>
            </a:r>
          </a:p>
          <a:p>
            <a:r>
              <a:rPr lang="fr-CA" sz="2400" dirty="0"/>
              <a:t>Expliquer en quoi consiste le tableau de bord de gestion. </a:t>
            </a:r>
          </a:p>
          <a:p>
            <a:r>
              <a:rPr lang="fr-CA" sz="2400" dirty="0"/>
              <a:t>Exposer les principaux indicateurs (financiers et non financiers) utilisés lors de l’élaboration d'un tableau de bord de gestion.</a:t>
            </a:r>
            <a:endParaRPr lang="fr-CA" sz="2400" dirty="0">
              <a:cs typeface="Calibri" panose="020F0502020204030204"/>
            </a:endParaRPr>
          </a:p>
          <a:p>
            <a:r>
              <a:rPr lang="fr-CA" sz="2400" dirty="0">
                <a:cs typeface="Calibri" panose="020F0502020204030204"/>
              </a:rPr>
              <a:t>Faire la distinction entre l’évaluation de la performance des dirigeants et l’évaluation de la performance organisationnelle</a:t>
            </a:r>
          </a:p>
          <a:p>
            <a:endParaRPr lang="fr-CA" sz="2400" dirty="0">
              <a:cs typeface="Calibri" panose="020F0502020204030204"/>
            </a:endParaRPr>
          </a:p>
          <a:p>
            <a:pPr marL="0" indent="0">
              <a:buNone/>
            </a:pPr>
            <a:endParaRPr lang="fr-CA" dirty="0">
              <a:cs typeface="Calibri" panose="020F0502020204030204"/>
            </a:endParaRPr>
          </a:p>
          <a:p>
            <a:endParaRPr lang="fr-CA" dirty="0">
              <a:cs typeface="Calibri" panose="020F0502020204030204"/>
            </a:endParaRPr>
          </a:p>
          <a:p>
            <a:pPr marL="0" indent="0">
              <a:buNone/>
            </a:pPr>
            <a:endParaRPr lang="fr-CA" dirty="0">
              <a:cs typeface="Calibri" panose="020F0502020204030204"/>
            </a:endParaRPr>
          </a:p>
        </p:txBody>
      </p:sp>
      <p:sp>
        <p:nvSpPr>
          <p:cNvPr id="5" name="Espace réservé du numéro de diapositive 4">
            <a:extLst>
              <a:ext uri="{FF2B5EF4-FFF2-40B4-BE49-F238E27FC236}">
                <a16:creationId xmlns:a16="http://schemas.microsoft.com/office/drawing/2014/main" id="{648FF396-6613-431D-87CD-65C8EE35FDB0}"/>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3</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9D7DFFC8-736D-D747-90F0-D1D1C0594AAB}"/>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986596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4BB473-37B3-4E75-917B-94A3C65C38D6}"/>
              </a:ext>
            </a:extLst>
          </p:cNvPr>
          <p:cNvSpPr>
            <a:spLocks noGrp="1"/>
          </p:cNvSpPr>
          <p:nvPr>
            <p:ph type="title"/>
            <p:custDataLst>
              <p:tags r:id="rId1"/>
            </p:custDataLst>
          </p:nvPr>
        </p:nvSpPr>
        <p:spPr>
          <a:xfrm>
            <a:off x="831850" y="1709739"/>
            <a:ext cx="10515600" cy="2399554"/>
          </a:xfrm>
        </p:spPr>
        <p:txBody>
          <a:bodyPr/>
          <a:lstStyle/>
          <a:p>
            <a:r>
              <a:rPr lang="en-US"/>
              <a:t>La </a:t>
            </a:r>
            <a:r>
              <a:rPr lang="en-US" err="1"/>
              <a:t>mesure</a:t>
            </a:r>
            <a:r>
              <a:rPr lang="en-US"/>
              <a:t> de la performance</a:t>
            </a:r>
            <a:endParaRPr lang="fr-CA"/>
          </a:p>
        </p:txBody>
      </p:sp>
      <p:sp>
        <p:nvSpPr>
          <p:cNvPr id="5" name="Espace réservé du numéro de diapositive 4">
            <a:extLst>
              <a:ext uri="{FF2B5EF4-FFF2-40B4-BE49-F238E27FC236}">
                <a16:creationId xmlns:a16="http://schemas.microsoft.com/office/drawing/2014/main" id="{9196A72A-9812-40FB-932F-794995FAC0BC}"/>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4</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B10EC2A3-F391-3C27-1E8C-A2811AB03E4F}"/>
              </a:ext>
            </a:extLst>
          </p:cNvPr>
          <p:cNvSpPr>
            <a:spLocks noGrp="1"/>
          </p:cNvSpPr>
          <p:nvPr>
            <p:ph type="ftr" sz="quarter" idx="11"/>
            <p:custDataLst>
              <p:tags r:id="rId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011273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2"/>
          <p:cNvSpPr>
            <a:spLocks noGrp="1" noChangeArrowheads="1"/>
          </p:cNvSpPr>
          <p:nvPr>
            <p:ph type="title"/>
            <p:custDataLst>
              <p:tags r:id="rId2"/>
            </p:custDataLst>
          </p:nvPr>
        </p:nvSpPr>
        <p:spPr>
          <a:xfrm>
            <a:off x="741144" y="105243"/>
            <a:ext cx="10612656" cy="1325563"/>
          </a:xfrm>
        </p:spPr>
        <p:txBody>
          <a:bodyPr vert="horz" anchor="ctr">
            <a:noAutofit/>
          </a:bodyPr>
          <a:lstStyle/>
          <a:p>
            <a:pPr algn="ctr"/>
            <a:r>
              <a:rPr lang="fr-FR" sz="4000"/>
              <a:t>Qu’est-ce que la performance ?</a:t>
            </a:r>
          </a:p>
        </p:txBody>
      </p:sp>
      <p:sp>
        <p:nvSpPr>
          <p:cNvPr id="18437" name="Rectangle 3"/>
          <p:cNvSpPr>
            <a:spLocks noGrp="1" noChangeArrowheads="1"/>
          </p:cNvSpPr>
          <p:nvPr>
            <p:ph idx="1"/>
            <p:custDataLst>
              <p:tags r:id="rId3"/>
            </p:custDataLst>
          </p:nvPr>
        </p:nvSpPr>
        <p:spPr>
          <a:xfrm>
            <a:off x="741145" y="1430806"/>
            <a:ext cx="10612655" cy="4638441"/>
          </a:xfrm>
        </p:spPr>
        <p:txBody>
          <a:bodyPr vert="horz" lIns="91440" tIns="45720" rIns="91440" bIns="45720" rtlCol="0" anchor="t">
            <a:normAutofit lnSpcReduction="10000"/>
          </a:bodyPr>
          <a:lstStyle/>
          <a:p>
            <a:pPr algn="l" rtl="0" fontAlgn="base">
              <a:buFont typeface="Arial" panose="020B0604020202020204" pitchFamily="34" charset="0"/>
              <a:buChar char="•"/>
            </a:pPr>
            <a:r>
              <a:rPr lang="fr-CA" sz="2800" b="0" i="0" u="none" strike="noStrike" dirty="0">
                <a:solidFill>
                  <a:srgbClr val="000000"/>
                </a:solidFill>
                <a:effectLst/>
                <a:latin typeface="Calibri" panose="020F0502020204030204" pitchFamily="34" charset="0"/>
              </a:rPr>
              <a:t>La </a:t>
            </a:r>
            <a:r>
              <a:rPr lang="fr-FR" sz="2800" b="0" i="0" u="none" strike="noStrike" dirty="0">
                <a:solidFill>
                  <a:srgbClr val="000000"/>
                </a:solidFill>
                <a:effectLst/>
                <a:latin typeface="Calibri" panose="020F0502020204030204" pitchFamily="34" charset="0"/>
              </a:rPr>
              <a:t>performance d’une organisation est souvent associée à sa </a:t>
            </a:r>
            <a:r>
              <a:rPr lang="fr-FR" sz="2800" b="1" i="0" u="none" strike="noStrike" dirty="0">
                <a:solidFill>
                  <a:srgbClr val="000000"/>
                </a:solidFill>
                <a:effectLst/>
                <a:latin typeface="Calibri" panose="020F0502020204030204" pitchFamily="34" charset="0"/>
              </a:rPr>
              <a:t>performance  financière</a:t>
            </a:r>
            <a:r>
              <a:rPr lang="fr-FR" sz="2800" b="0" i="0" u="none" strike="noStrike" dirty="0">
                <a:solidFill>
                  <a:srgbClr val="000000"/>
                </a:solidFill>
                <a:effectLst/>
                <a:latin typeface="Calibri" panose="020F0502020204030204" pitchFamily="34" charset="0"/>
              </a:rPr>
              <a:t>…</a:t>
            </a:r>
            <a:r>
              <a:rPr lang="en-US" sz="2800" b="0" i="0" dirty="0">
                <a:solidFill>
                  <a:srgbClr val="000000"/>
                </a:solidFill>
                <a:effectLst/>
                <a:latin typeface="Calibri" panose="020F0502020204030204" pitchFamily="34" charset="0"/>
              </a:rPr>
              <a:t>​</a:t>
            </a:r>
            <a:endParaRPr lang="en-US" sz="1600"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fr-FR" sz="16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fr-CA" sz="2800" b="0" i="0" u="none" strike="noStrike" dirty="0">
                <a:solidFill>
                  <a:srgbClr val="000000"/>
                </a:solidFill>
                <a:effectLst/>
                <a:latin typeface="Calibri" panose="020F0502020204030204" pitchFamily="34" charset="0"/>
              </a:rPr>
              <a:t>… mais la performance n’est </a:t>
            </a:r>
            <a:r>
              <a:rPr lang="fr-CA" sz="2800" b="1" i="0" u="none" strike="noStrike" dirty="0">
                <a:solidFill>
                  <a:srgbClr val="000000"/>
                </a:solidFill>
                <a:effectLst/>
                <a:latin typeface="Calibri" panose="020F0502020204030204" pitchFamily="34" charset="0"/>
              </a:rPr>
              <a:t>pas que financière, </a:t>
            </a:r>
            <a:r>
              <a:rPr lang="fr-CA" sz="2800" b="0" i="0" u="none" strike="noStrike" dirty="0">
                <a:solidFill>
                  <a:srgbClr val="000000"/>
                </a:solidFill>
                <a:effectLst/>
                <a:latin typeface="Calibri" panose="020F0502020204030204" pitchFamily="34" charset="0"/>
              </a:rPr>
              <a:t>elle peut faire référence à</a:t>
            </a:r>
            <a:r>
              <a:rPr lang="en-US" sz="2800" b="0" i="0" dirty="0">
                <a:solidFill>
                  <a:srgbClr val="000000"/>
                </a:solidFill>
                <a:effectLst/>
                <a:latin typeface="Calibri" panose="020F0502020204030204" pitchFamily="34" charset="0"/>
              </a:rPr>
              <a:t>​</a:t>
            </a:r>
          </a:p>
          <a:p>
            <a:pPr lvl="1" fontAlgn="base"/>
            <a:r>
              <a:rPr lang="fr-CA" b="0" i="0" u="none" strike="noStrike" dirty="0">
                <a:solidFill>
                  <a:srgbClr val="000000"/>
                </a:solidFill>
                <a:effectLst/>
                <a:latin typeface="Calibri" panose="020F0502020204030204" pitchFamily="34" charset="0"/>
              </a:rPr>
              <a:t>la performance non financière</a:t>
            </a:r>
          </a:p>
          <a:p>
            <a:pPr lvl="1" fontAlgn="base"/>
            <a:r>
              <a:rPr lang="fr-CA" b="0" i="0" u="none" strike="noStrike" dirty="0">
                <a:solidFill>
                  <a:srgbClr val="000000"/>
                </a:solidFill>
                <a:effectLst/>
                <a:latin typeface="Calibri" panose="020F0502020204030204" pitchFamily="34" charset="0"/>
              </a:rPr>
              <a:t>le respect de l’environnement ;</a:t>
            </a:r>
            <a:r>
              <a:rPr lang="en-US" b="0" i="0" dirty="0">
                <a:solidFill>
                  <a:srgbClr val="000000"/>
                </a:solidFill>
                <a:effectLst/>
                <a:latin typeface="Calibri" panose="020F0502020204030204" pitchFamily="34" charset="0"/>
              </a:rPr>
              <a:t>​</a:t>
            </a:r>
            <a:endParaRPr lang="en-US" sz="1200" b="0" i="0" dirty="0">
              <a:solidFill>
                <a:srgbClr val="000000"/>
              </a:solidFill>
              <a:effectLst/>
              <a:latin typeface="Arial" panose="020B0604020202020204" pitchFamily="34" charset="0"/>
            </a:endParaRPr>
          </a:p>
          <a:p>
            <a:pPr lvl="1" fontAlgn="base"/>
            <a:r>
              <a:rPr lang="fr-CA" b="0" i="0" u="none" strike="noStrike" dirty="0">
                <a:solidFill>
                  <a:srgbClr val="000000"/>
                </a:solidFill>
                <a:effectLst/>
                <a:latin typeface="Calibri" panose="020F0502020204030204" pitchFamily="34" charset="0"/>
              </a:rPr>
              <a:t>la capacité à innover ;</a:t>
            </a:r>
            <a:r>
              <a:rPr lang="en-US" b="0" i="0" dirty="0">
                <a:solidFill>
                  <a:srgbClr val="000000"/>
                </a:solidFill>
                <a:effectLst/>
                <a:latin typeface="Calibri" panose="020F0502020204030204" pitchFamily="34" charset="0"/>
              </a:rPr>
              <a:t>​</a:t>
            </a:r>
            <a:endParaRPr lang="en-US" sz="1200" b="0" i="0" dirty="0">
              <a:solidFill>
                <a:srgbClr val="000000"/>
              </a:solidFill>
              <a:effectLst/>
              <a:latin typeface="Arial" panose="020B0604020202020204" pitchFamily="34" charset="0"/>
            </a:endParaRPr>
          </a:p>
          <a:p>
            <a:pPr lvl="1" fontAlgn="base"/>
            <a:r>
              <a:rPr lang="fr-CA" b="0" i="0" u="none" strike="noStrike" dirty="0">
                <a:solidFill>
                  <a:srgbClr val="000000"/>
                </a:solidFill>
                <a:effectLst/>
                <a:latin typeface="Calibri" panose="020F0502020204030204" pitchFamily="34" charset="0"/>
              </a:rPr>
              <a:t>etc.</a:t>
            </a:r>
            <a:r>
              <a:rPr lang="en-US" b="0" i="0" dirty="0">
                <a:solidFill>
                  <a:srgbClr val="000000"/>
                </a:solidFill>
                <a:effectLst/>
                <a:latin typeface="Calibri" panose="020F0502020204030204" pitchFamily="34" charset="0"/>
              </a:rPr>
              <a:t>​</a:t>
            </a:r>
            <a:endParaRPr lang="en-US" sz="1200" b="0" i="0" dirty="0">
              <a:solidFill>
                <a:srgbClr val="000000"/>
              </a:solidFill>
              <a:effectLst/>
              <a:latin typeface="Arial" panose="020B0604020202020204" pitchFamily="34" charset="0"/>
            </a:endParaRPr>
          </a:p>
          <a:p>
            <a:pPr marL="0" indent="0" algn="l" rtl="0" fontAlgn="base">
              <a:buNone/>
            </a:pPr>
            <a:endParaRPr lang="fr-FR" sz="1600" b="0" i="0" dirty="0">
              <a:solidFill>
                <a:srgbClr val="000000"/>
              </a:solidFill>
              <a:effectLst/>
              <a:latin typeface="Arial" panose="020B0604020202020204" pitchFamily="34" charset="0"/>
            </a:endParaRPr>
          </a:p>
          <a:p>
            <a:pPr marL="0" indent="0" algn="ctr" rtl="0" fontAlgn="base">
              <a:buNone/>
            </a:pPr>
            <a:r>
              <a:rPr lang="fr-CA" sz="2800" b="0" i="0" u="none" strike="noStrike" dirty="0">
                <a:solidFill>
                  <a:srgbClr val="000000"/>
                </a:solidFill>
                <a:effectLst/>
                <a:latin typeface="Times New Roman" panose="02020603050405020304" pitchFamily="18" charset="0"/>
              </a:rPr>
              <a:t>► </a:t>
            </a:r>
            <a:r>
              <a:rPr lang="fr-CA" sz="2800" b="0" i="0" u="none" strike="noStrike" dirty="0">
                <a:solidFill>
                  <a:srgbClr val="000000"/>
                </a:solidFill>
                <a:effectLst/>
                <a:latin typeface="Calibri" panose="020F0502020204030204" pitchFamily="34" charset="0"/>
              </a:rPr>
              <a:t>Une (première) idée essentielle à retenir : la performance est multidimensionnelle (comporte plusieurs dimensions) …</a:t>
            </a:r>
            <a:r>
              <a:rPr lang="en-US" sz="2800" b="0" i="0" dirty="0">
                <a:solidFill>
                  <a:srgbClr val="000000"/>
                </a:solidFill>
                <a:effectLst/>
                <a:latin typeface="Calibri" panose="020F0502020204030204" pitchFamily="34" charset="0"/>
              </a:rPr>
              <a:t>​</a:t>
            </a:r>
            <a:endParaRPr lang="en-US" sz="1600" b="0" i="0" dirty="0">
              <a:solidFill>
                <a:srgbClr val="000000"/>
              </a:solidFill>
              <a:effectLst/>
              <a:latin typeface="Segoe UI" panose="020B0502040204020203" pitchFamily="34" charset="0"/>
            </a:endParaRPr>
          </a:p>
          <a:p>
            <a:pPr algn="l" rtl="0" fontAlgn="base"/>
            <a:endParaRPr lang="fr-CA" sz="1600" b="0" i="0" dirty="0">
              <a:solidFill>
                <a:srgbClr val="000000"/>
              </a:solidFill>
              <a:effectLst/>
              <a:latin typeface="Segoe UI" panose="020B0502040204020203" pitchFamily="34" charset="0"/>
            </a:endParaRPr>
          </a:p>
          <a:p>
            <a:pPr eaLnBrk="1" hangingPunct="1"/>
            <a:endParaRPr lang="fr-CA" b="1" dirty="0"/>
          </a:p>
        </p:txBody>
      </p:sp>
      <p:sp>
        <p:nvSpPr>
          <p:cNvPr id="6" name="Espace réservé du numéro de diapositive 5"/>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5</a:t>
            </a:fld>
            <a:endParaRPr lang="fr-CA"/>
          </a:p>
        </p:txBody>
      </p:sp>
      <p:sp>
        <p:nvSpPr>
          <p:cNvPr id="3" name="Espace réservé du pied de page 2">
            <a:extLst>
              <a:ext uri="{FF2B5EF4-FFF2-40B4-BE49-F238E27FC236}">
                <a16:creationId xmlns:a16="http://schemas.microsoft.com/office/drawing/2014/main" id="{B627592B-E6FE-4525-ED15-F296EF9F1E56}"/>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234330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8AF2F8-AEDF-4689-A451-E0FBA839DE5C}"/>
              </a:ext>
            </a:extLst>
          </p:cNvPr>
          <p:cNvSpPr>
            <a:spLocks noGrp="1"/>
          </p:cNvSpPr>
          <p:nvPr>
            <p:ph type="title"/>
            <p:custDataLst>
              <p:tags r:id="rId1"/>
            </p:custDataLst>
          </p:nvPr>
        </p:nvSpPr>
        <p:spPr>
          <a:xfrm>
            <a:off x="838200" y="365125"/>
            <a:ext cx="10515600" cy="854075"/>
          </a:xfrm>
        </p:spPr>
        <p:txBody>
          <a:bodyPr>
            <a:normAutofit/>
          </a:bodyPr>
          <a:lstStyle/>
          <a:p>
            <a:r>
              <a:rPr lang="fr-CA" sz="4000"/>
              <a:t>Comment mesurer la performance ?</a:t>
            </a:r>
          </a:p>
        </p:txBody>
      </p:sp>
      <p:sp>
        <p:nvSpPr>
          <p:cNvPr id="3" name="Espace réservé du contenu 2">
            <a:extLst>
              <a:ext uri="{FF2B5EF4-FFF2-40B4-BE49-F238E27FC236}">
                <a16:creationId xmlns:a16="http://schemas.microsoft.com/office/drawing/2014/main" id="{0BDC6600-1D57-48F0-90FD-3C1F8DCCA580}"/>
              </a:ext>
            </a:extLst>
          </p:cNvPr>
          <p:cNvSpPr>
            <a:spLocks noGrp="1"/>
          </p:cNvSpPr>
          <p:nvPr>
            <p:ph idx="1"/>
            <p:custDataLst>
              <p:tags r:id="rId2"/>
            </p:custDataLst>
          </p:nvPr>
        </p:nvSpPr>
        <p:spPr>
          <a:xfrm>
            <a:off x="838200" y="1443037"/>
            <a:ext cx="10515600" cy="5095875"/>
          </a:xfrm>
        </p:spPr>
        <p:txBody>
          <a:bodyPr vert="horz" lIns="91440" tIns="45720" rIns="91440" bIns="45720" rtlCol="0" anchor="t">
            <a:normAutofit lnSpcReduction="10000"/>
          </a:bodyPr>
          <a:lstStyle/>
          <a:p>
            <a:pPr marL="0" indent="0">
              <a:buNone/>
            </a:pPr>
            <a:r>
              <a:rPr lang="fr-CA" dirty="0"/>
              <a:t>L</a:t>
            </a:r>
            <a:r>
              <a:rPr lang="fr-CA" sz="2800" dirty="0"/>
              <a:t>es mesures de performance doivent être alignées avec les objectifs de l’organisation</a:t>
            </a:r>
            <a:r>
              <a:rPr lang="fr-CA" dirty="0"/>
              <a:t>.</a:t>
            </a:r>
          </a:p>
          <a:p>
            <a:pPr marL="0" indent="0">
              <a:buNone/>
            </a:pPr>
            <a:r>
              <a:rPr lang="fr-CA" dirty="0"/>
              <a:t>Pour mesurer les objectifs, on se sert </a:t>
            </a:r>
            <a:r>
              <a:rPr lang="fr-CA" b="1" dirty="0"/>
              <a:t>d’indicateurs.</a:t>
            </a:r>
          </a:p>
          <a:p>
            <a:pPr marL="0" indent="0">
              <a:buNone/>
            </a:pPr>
            <a:r>
              <a:rPr lang="fr-CA" dirty="0"/>
              <a:t>Puisque la performance englobe des </a:t>
            </a:r>
            <a:r>
              <a:rPr lang="fr-CA" u="sng" dirty="0"/>
              <a:t>dimensions financières </a:t>
            </a:r>
            <a:r>
              <a:rPr lang="fr-CA" dirty="0"/>
              <a:t>et </a:t>
            </a:r>
            <a:r>
              <a:rPr lang="fr-CA" u="sng" dirty="0"/>
              <a:t>non financières</a:t>
            </a:r>
            <a:r>
              <a:rPr lang="fr-CA" dirty="0"/>
              <a:t>, la mesure de la performance exige d’utiliser: </a:t>
            </a:r>
          </a:p>
          <a:p>
            <a:r>
              <a:rPr lang="fr-CA" dirty="0"/>
              <a:t> des indicateurs </a:t>
            </a:r>
            <a:r>
              <a:rPr lang="fr-CA" b="1" dirty="0"/>
              <a:t>financiers: </a:t>
            </a:r>
            <a:r>
              <a:rPr lang="fr-CA" dirty="0"/>
              <a:t>pour mesurer les coûts, les revenus, et la rentabilité</a:t>
            </a:r>
          </a:p>
          <a:p>
            <a:pPr lvl="1"/>
            <a:r>
              <a:rPr lang="fr-CA" dirty="0"/>
              <a:t>ex: l'analyse des écarts et les ratios comme le rendement sur capital investi. </a:t>
            </a:r>
          </a:p>
          <a:p>
            <a:pPr lvl="1"/>
            <a:r>
              <a:rPr lang="fr-CA" dirty="0"/>
              <a:t>Ces indicateurs nous renseignent sur la performance passée de l'entreprise.</a:t>
            </a:r>
          </a:p>
          <a:p>
            <a:r>
              <a:rPr lang="fr-CA" dirty="0"/>
              <a:t> des indicateurs </a:t>
            </a:r>
            <a:r>
              <a:rPr lang="fr-CA" b="1" dirty="0"/>
              <a:t>non financiers. </a:t>
            </a:r>
          </a:p>
          <a:p>
            <a:pPr lvl="1"/>
            <a:r>
              <a:rPr lang="fr-CA" dirty="0"/>
              <a:t>ex: taux de satisfaction de la clientèle, % de capacité utilisée de l’usine, etc…</a:t>
            </a:r>
            <a:endParaRPr lang="fr-CA" dirty="0">
              <a:cs typeface="Calibri"/>
            </a:endParaRPr>
          </a:p>
          <a:p>
            <a:pPr lvl="1"/>
            <a:r>
              <a:rPr lang="fr-CA" dirty="0"/>
              <a:t>Ce type d'indicateurs nous éclairent sur la performance future de l’entreprise</a:t>
            </a:r>
          </a:p>
          <a:p>
            <a:pPr marL="0" indent="0">
              <a:buNone/>
            </a:pPr>
            <a:endParaRPr lang="fr-CA" dirty="0"/>
          </a:p>
        </p:txBody>
      </p:sp>
      <p:sp>
        <p:nvSpPr>
          <p:cNvPr id="5" name="Espace réservé du numéro de diapositive 4">
            <a:extLst>
              <a:ext uri="{FF2B5EF4-FFF2-40B4-BE49-F238E27FC236}">
                <a16:creationId xmlns:a16="http://schemas.microsoft.com/office/drawing/2014/main" id="{14AAEFFF-1CF6-4BAB-9CA8-6954931E326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6</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2CABD8B6-3B87-F73A-2F61-5EE1750094D2}"/>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23761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730F2-313C-4832-B5F2-B29659A1AAB0}"/>
              </a:ext>
            </a:extLst>
          </p:cNvPr>
          <p:cNvSpPr>
            <a:spLocks noGrp="1"/>
          </p:cNvSpPr>
          <p:nvPr>
            <p:ph type="title"/>
            <p:custDataLst>
              <p:tags r:id="rId1"/>
            </p:custDataLst>
          </p:nvPr>
        </p:nvSpPr>
        <p:spPr>
          <a:xfrm>
            <a:off x="841248" y="256032"/>
            <a:ext cx="10506456" cy="1014984"/>
          </a:xfrm>
        </p:spPr>
        <p:txBody>
          <a:bodyPr anchor="b">
            <a:normAutofit fontScale="90000"/>
          </a:bodyPr>
          <a:lstStyle/>
          <a:p>
            <a:pPr marL="0" indent="0">
              <a:buNone/>
            </a:pPr>
            <a:r>
              <a:rPr lang="fr-CA" dirty="0"/>
              <a:t>Exemples : Indicateurs non-financiers utilisés dans diverses industries</a:t>
            </a:r>
          </a:p>
        </p:txBody>
      </p:sp>
      <p:sp>
        <p:nvSpPr>
          <p:cNvPr id="5" name="Espace réservé du contenu 4">
            <a:extLst>
              <a:ext uri="{FF2B5EF4-FFF2-40B4-BE49-F238E27FC236}">
                <a16:creationId xmlns:a16="http://schemas.microsoft.com/office/drawing/2014/main" id="{1F9630E0-164E-4333-AA30-4B853B7186D6}"/>
              </a:ext>
            </a:extLst>
          </p:cNvPr>
          <p:cNvSpPr>
            <a:spLocks noGrp="1"/>
          </p:cNvSpPr>
          <p:nvPr>
            <p:ph idx="1"/>
            <p:custDataLst>
              <p:tags r:id="rId2"/>
            </p:custDataLst>
          </p:nvPr>
        </p:nvSpPr>
        <p:spPr/>
        <p:txBody>
          <a:bodyPr/>
          <a:lstStyle/>
          <a:p>
            <a:pPr marL="0" indent="0">
              <a:buNone/>
            </a:pPr>
            <a:endParaRPr lang="fr-CA"/>
          </a:p>
          <a:p>
            <a:pPr marL="0" indent="0">
              <a:buNone/>
            </a:pPr>
            <a:endParaRPr lang="fr-CA"/>
          </a:p>
        </p:txBody>
      </p:sp>
      <p:pic>
        <p:nvPicPr>
          <p:cNvPr id="7" name="Graphique 6" descr="Voiture">
            <a:extLst>
              <a:ext uri="{FF2B5EF4-FFF2-40B4-BE49-F238E27FC236}">
                <a16:creationId xmlns:a16="http://schemas.microsoft.com/office/drawing/2014/main" id="{102EE862-333E-4D93-8D00-E79C5A3B64A3}"/>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37621" y="2645099"/>
            <a:ext cx="914400" cy="914400"/>
          </a:xfrm>
          <a:prstGeom prst="rect">
            <a:avLst/>
          </a:prstGeom>
        </p:spPr>
      </p:pic>
      <p:graphicFrame>
        <p:nvGraphicFramePr>
          <p:cNvPr id="8" name="Tableau 8">
            <a:extLst>
              <a:ext uri="{FF2B5EF4-FFF2-40B4-BE49-F238E27FC236}">
                <a16:creationId xmlns:a16="http://schemas.microsoft.com/office/drawing/2014/main" id="{963CEE99-4BF6-4EC9-A3EB-B027F78105E0}"/>
              </a:ext>
            </a:extLst>
          </p:cNvPr>
          <p:cNvGraphicFramePr>
            <a:graphicFrameLocks noGrp="1"/>
          </p:cNvGraphicFramePr>
          <p:nvPr>
            <p:custDataLst>
              <p:tags r:id="rId4"/>
            </p:custDataLst>
          </p:nvPr>
        </p:nvGraphicFramePr>
        <p:xfrm>
          <a:off x="4038600" y="2014380"/>
          <a:ext cx="5011882" cy="3523976"/>
        </p:xfrm>
        <a:graphic>
          <a:graphicData uri="http://schemas.openxmlformats.org/drawingml/2006/table">
            <a:tbl>
              <a:tblPr firstRow="1" bandRow="1">
                <a:tableStyleId>{2D5ABB26-0587-4C30-8999-92F81FD0307C}</a:tableStyleId>
              </a:tblPr>
              <a:tblGrid>
                <a:gridCol w="5011882">
                  <a:extLst>
                    <a:ext uri="{9D8B030D-6E8A-4147-A177-3AD203B41FA5}">
                      <a16:colId xmlns:a16="http://schemas.microsoft.com/office/drawing/2014/main" val="2353019899"/>
                    </a:ext>
                  </a:extLst>
                </a:gridCol>
              </a:tblGrid>
              <a:tr h="704918">
                <a:tc>
                  <a:txBody>
                    <a:bodyPr/>
                    <a:lstStyle/>
                    <a:p>
                      <a:pPr algn="l"/>
                      <a:r>
                        <a:rPr lang="fr-CA" sz="2400" b="1" u="sng" dirty="0"/>
                        <a:t>Indicateurs</a:t>
                      </a:r>
                    </a:p>
                  </a:txBody>
                  <a:tcPr/>
                </a:tc>
                <a:extLst>
                  <a:ext uri="{0D108BD9-81ED-4DB2-BD59-A6C34878D82A}">
                    <a16:rowId xmlns:a16="http://schemas.microsoft.com/office/drawing/2014/main" val="2739521439"/>
                  </a:ext>
                </a:extLst>
              </a:tr>
              <a:tr h="939686">
                <a:tc>
                  <a:txBody>
                    <a:bodyPr/>
                    <a:lstStyle/>
                    <a:p>
                      <a:r>
                        <a:rPr lang="fr-CA"/>
                        <a:t>% de capacité utilisée de l’usine</a:t>
                      </a:r>
                    </a:p>
                    <a:p>
                      <a:r>
                        <a:rPr lang="fr-CA" strike="noStrike"/>
                        <a:t>L’âge moyen des actifs importants</a:t>
                      </a:r>
                    </a:p>
                  </a:txBody>
                  <a:tcPr/>
                </a:tc>
                <a:extLst>
                  <a:ext uri="{0D108BD9-81ED-4DB2-BD59-A6C34878D82A}">
                    <a16:rowId xmlns:a16="http://schemas.microsoft.com/office/drawing/2014/main" val="1588471851"/>
                  </a:ext>
                </a:extLst>
              </a:tr>
              <a:tr h="939686">
                <a:tc>
                  <a:txBody>
                    <a:bodyPr/>
                    <a:lstStyle/>
                    <a:p>
                      <a:r>
                        <a:rPr lang="fr-CA"/>
                        <a:t>Nombre de nouveaux produits</a:t>
                      </a:r>
                    </a:p>
                  </a:txBody>
                  <a:tcPr/>
                </a:tc>
                <a:extLst>
                  <a:ext uri="{0D108BD9-81ED-4DB2-BD59-A6C34878D82A}">
                    <a16:rowId xmlns:a16="http://schemas.microsoft.com/office/drawing/2014/main" val="2652427106"/>
                  </a:ext>
                </a:extLst>
              </a:tr>
              <a:tr h="939686">
                <a:tc>
                  <a:txBody>
                    <a:bodyPr/>
                    <a:lstStyle/>
                    <a:p>
                      <a:r>
                        <a:rPr lang="fr-CA" dirty="0"/>
                        <a:t>Nombre moyen de produits bancaires par client</a:t>
                      </a:r>
                    </a:p>
                    <a:p>
                      <a:r>
                        <a:rPr lang="fr-CA" dirty="0"/>
                        <a:t>Taux de rétention (carte de crédit)</a:t>
                      </a:r>
                    </a:p>
                  </a:txBody>
                  <a:tcPr/>
                </a:tc>
                <a:extLst>
                  <a:ext uri="{0D108BD9-81ED-4DB2-BD59-A6C34878D82A}">
                    <a16:rowId xmlns:a16="http://schemas.microsoft.com/office/drawing/2014/main" val="715066500"/>
                  </a:ext>
                </a:extLst>
              </a:tr>
            </a:tbl>
          </a:graphicData>
        </a:graphic>
      </p:graphicFrame>
      <p:pic>
        <p:nvPicPr>
          <p:cNvPr id="11" name="Graphique 10" descr="Ordinateur">
            <a:extLst>
              <a:ext uri="{FF2B5EF4-FFF2-40B4-BE49-F238E27FC236}">
                <a16:creationId xmlns:a16="http://schemas.microsoft.com/office/drawing/2014/main" id="{A1FBF9E6-75B3-4337-9A3C-3904CF70C00F}"/>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14754" y="3527122"/>
            <a:ext cx="914400" cy="914400"/>
          </a:xfrm>
          <a:prstGeom prst="rect">
            <a:avLst/>
          </a:prstGeom>
        </p:spPr>
      </p:pic>
      <p:pic>
        <p:nvPicPr>
          <p:cNvPr id="13" name="Graphique 12" descr="Banque">
            <a:extLst>
              <a:ext uri="{FF2B5EF4-FFF2-40B4-BE49-F238E27FC236}">
                <a16:creationId xmlns:a16="http://schemas.microsoft.com/office/drawing/2014/main" id="{7CE541FB-C709-4523-94AC-B09CBB8A8B15}"/>
              </a:ext>
            </a:extLst>
          </p:cNvPr>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662751" y="4343079"/>
            <a:ext cx="914400" cy="914400"/>
          </a:xfrm>
          <a:prstGeom prst="rect">
            <a:avLst/>
          </a:prstGeom>
        </p:spPr>
      </p:pic>
      <p:sp>
        <p:nvSpPr>
          <p:cNvPr id="3" name="Espace réservé du numéro de diapositive 2">
            <a:extLst>
              <a:ext uri="{FF2B5EF4-FFF2-40B4-BE49-F238E27FC236}">
                <a16:creationId xmlns:a16="http://schemas.microsoft.com/office/drawing/2014/main" id="{F0305125-66ED-4676-B8FE-73549D6937C9}"/>
              </a:ext>
            </a:extLst>
          </p:cNvPr>
          <p:cNvSpPr>
            <a:spLocks noGrp="1"/>
          </p:cNvSpPr>
          <p:nvPr>
            <p:ph type="sldNum" sz="quarter" idx="12"/>
            <p:custDataLst>
              <p:tags r:id="rId7"/>
            </p:custDataLst>
          </p:nvPr>
        </p:nvSpPr>
        <p:spPr/>
        <p:txBody>
          <a:bodyPr/>
          <a:lstStyle/>
          <a:p>
            <a:fld id="{1F20FBA3-27E4-4E13-841E-B59ED0E8E620}" type="slidenum">
              <a:rPr lang="fr-CA" smtClean="0">
                <a:solidFill>
                  <a:prstClr val="black">
                    <a:tint val="75000"/>
                  </a:prstClr>
                </a:solidFill>
              </a:rPr>
              <a:pPr/>
              <a:t>7</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CB047816-DC52-9925-3343-BF673EC5985C}"/>
              </a:ext>
            </a:extLst>
          </p:cNvPr>
          <p:cNvSpPr>
            <a:spLocks noGrp="1"/>
          </p:cNvSpPr>
          <p:nvPr>
            <p:ph type="ftr" sz="quarter" idx="11"/>
            <p:custDataLst>
              <p:tags r:id="rId8"/>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74219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2"/>
          <p:cNvSpPr>
            <a:spLocks noGrp="1" noChangeArrowheads="1"/>
          </p:cNvSpPr>
          <p:nvPr>
            <p:ph type="title"/>
            <p:custDataLst>
              <p:tags r:id="rId2"/>
            </p:custDataLst>
          </p:nvPr>
        </p:nvSpPr>
        <p:spPr>
          <a:xfrm>
            <a:off x="838200" y="365126"/>
            <a:ext cx="10515600" cy="649288"/>
          </a:xfrm>
        </p:spPr>
        <p:txBody>
          <a:bodyPr vert="horz" anchor="ctr">
            <a:noAutofit/>
          </a:bodyPr>
          <a:lstStyle/>
          <a:p>
            <a:pPr algn="ctr"/>
            <a:r>
              <a:rPr lang="fr-CA" sz="4000" dirty="0"/>
              <a:t>Pourquoi mesure-t-on la performance organisationnelle ?</a:t>
            </a:r>
            <a:endParaRPr lang="fr-CA" sz="3200" i="1" dirty="0"/>
          </a:p>
        </p:txBody>
      </p:sp>
      <p:sp>
        <p:nvSpPr>
          <p:cNvPr id="6" name="Espace réservé du numéro de diapositive 5"/>
          <p:cNvSpPr>
            <a:spLocks noGrp="1"/>
          </p:cNvSpPr>
          <p:nvPr>
            <p:ph type="sldNum" sz="quarter" idx="12"/>
            <p:custDataLst>
              <p:tags r:id="rId3"/>
            </p:custDataLst>
          </p:nvPr>
        </p:nvSpPr>
        <p:spPr/>
        <p:txBody>
          <a:bodyPr>
            <a:normAutofit/>
          </a:bodyPr>
          <a:lstStyle/>
          <a:p>
            <a:pPr>
              <a:defRPr/>
            </a:pPr>
            <a:fld id="{78C1DC52-1979-4D57-B923-A2F6BBF17C17}" type="slidenum">
              <a:rPr lang="fr-CA" smtClean="0"/>
              <a:pPr>
                <a:defRPr/>
              </a:pPr>
              <a:t>8</a:t>
            </a:fld>
            <a:endParaRPr lang="fr-CA"/>
          </a:p>
        </p:txBody>
      </p:sp>
      <p:sp>
        <p:nvSpPr>
          <p:cNvPr id="4" name="Espace réservé du contenu 3"/>
          <p:cNvSpPr>
            <a:spLocks noGrp="1"/>
          </p:cNvSpPr>
          <p:nvPr>
            <p:ph idx="1"/>
            <p:custDataLst>
              <p:tags r:id="rId4"/>
            </p:custDataLst>
          </p:nvPr>
        </p:nvSpPr>
        <p:spPr>
          <a:xfrm>
            <a:off x="1054112" y="1524000"/>
            <a:ext cx="10515600" cy="4832350"/>
          </a:xfrm>
        </p:spPr>
        <p:txBody>
          <a:bodyPr>
            <a:normAutofit fontScale="92500" lnSpcReduction="10000"/>
          </a:bodyPr>
          <a:lstStyle/>
          <a:p>
            <a:r>
              <a:rPr lang="fr-CA" u="sng" dirty="0"/>
              <a:t>Pour faire connaître la stratégie de l’entreprise </a:t>
            </a:r>
            <a:r>
              <a:rPr lang="fr-CA" dirty="0"/>
              <a:t>(mission, vision, valeurs) et améliorer la coordination des unités administratives.</a:t>
            </a:r>
          </a:p>
          <a:p>
            <a:r>
              <a:rPr lang="fr-CA" u="sng" dirty="0"/>
              <a:t>Pour prendre des décisions </a:t>
            </a:r>
            <a:r>
              <a:rPr lang="fr-CA" dirty="0"/>
              <a:t>en vue d’améliorer la performance organisationnelle</a:t>
            </a:r>
          </a:p>
          <a:p>
            <a:pPr lvl="1"/>
            <a:r>
              <a:rPr lang="fr-CA" dirty="0"/>
              <a:t>Ex : allouer des ressources aux entités avec le plus de potentiel</a:t>
            </a:r>
          </a:p>
          <a:p>
            <a:pPr lvl="1">
              <a:spcAft>
                <a:spcPts val="600"/>
              </a:spcAft>
            </a:pPr>
            <a:r>
              <a:rPr lang="fr-CA" dirty="0"/>
              <a:t>Ex : identifier les aspects problématiques et trouver des solutions </a:t>
            </a:r>
          </a:p>
          <a:p>
            <a:r>
              <a:rPr lang="fr-CA" dirty="0"/>
              <a:t>Pour inciter les </a:t>
            </a:r>
            <a:r>
              <a:rPr lang="fr-CA" u="sng" dirty="0"/>
              <a:t>employés</a:t>
            </a:r>
            <a:r>
              <a:rPr lang="fr-CA" dirty="0"/>
              <a:t> à contribuer à la performance organisationnelle</a:t>
            </a:r>
          </a:p>
          <a:p>
            <a:pPr lvl="1">
              <a:spcAft>
                <a:spcPts val="600"/>
              </a:spcAft>
            </a:pPr>
            <a:r>
              <a:rPr lang="fr-CA" dirty="0"/>
              <a:t>Ex : Rémunérer la performance individuelle</a:t>
            </a:r>
          </a:p>
          <a:p>
            <a:r>
              <a:rPr lang="fr-CA" u="sng" dirty="0"/>
              <a:t>Pour contrôler la performance </a:t>
            </a:r>
            <a:r>
              <a:rPr lang="fr-CA" dirty="0"/>
              <a:t>de l’organisation et de ses entités (divisions, départements, etc.)</a:t>
            </a:r>
          </a:p>
          <a:p>
            <a:pPr lvl="1"/>
            <a:r>
              <a:rPr lang="fr-CA" dirty="0"/>
              <a:t>Ex : juger de la pertinence des actions prises pendant une période </a:t>
            </a:r>
          </a:p>
          <a:p>
            <a:pPr lvl="1"/>
            <a:r>
              <a:rPr lang="fr-CA" dirty="0"/>
              <a:t>Ex : comparer les performances des différentes entités </a:t>
            </a:r>
          </a:p>
          <a:p>
            <a:pPr marL="0" indent="0">
              <a:buNone/>
            </a:pPr>
            <a:endParaRPr lang="fr-CA" dirty="0"/>
          </a:p>
          <a:p>
            <a:pPr lvl="1"/>
            <a:endParaRPr lang="fr-CA" dirty="0"/>
          </a:p>
          <a:p>
            <a:endParaRPr lang="fr-CA" dirty="0"/>
          </a:p>
        </p:txBody>
      </p:sp>
      <p:sp>
        <p:nvSpPr>
          <p:cNvPr id="3" name="Espace réservé du pied de page 2">
            <a:extLst>
              <a:ext uri="{FF2B5EF4-FFF2-40B4-BE49-F238E27FC236}">
                <a16:creationId xmlns:a16="http://schemas.microsoft.com/office/drawing/2014/main" id="{D4B7C522-1811-E35D-7C0E-82D8E5AF758E}"/>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7015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4BB473-37B3-4E75-917B-94A3C65C38D6}"/>
              </a:ext>
            </a:extLst>
          </p:cNvPr>
          <p:cNvSpPr>
            <a:spLocks noGrp="1"/>
          </p:cNvSpPr>
          <p:nvPr>
            <p:ph type="title"/>
            <p:custDataLst>
              <p:tags r:id="rId1"/>
            </p:custDataLst>
          </p:nvPr>
        </p:nvSpPr>
        <p:spPr>
          <a:xfrm>
            <a:off x="831850" y="1709739"/>
            <a:ext cx="10515600" cy="2399554"/>
          </a:xfrm>
        </p:spPr>
        <p:txBody>
          <a:bodyPr>
            <a:normAutofit fontScale="90000"/>
          </a:bodyPr>
          <a:lstStyle/>
          <a:p>
            <a:r>
              <a:rPr lang="en-US" dirty="0" err="1"/>
              <a:t>Mesure</a:t>
            </a:r>
            <a:r>
              <a:rPr lang="en-US" dirty="0"/>
              <a:t> financière de la performance et les </a:t>
            </a:r>
            <a:r>
              <a:rPr lang="en-US" dirty="0" err="1"/>
              <a:t>entreprises</a:t>
            </a:r>
            <a:r>
              <a:rPr lang="en-US" dirty="0"/>
              <a:t> </a:t>
            </a:r>
            <a:r>
              <a:rPr lang="en-US" dirty="0" err="1"/>
              <a:t>décentralisées</a:t>
            </a:r>
            <a:endParaRPr lang="fr-CA" dirty="0"/>
          </a:p>
        </p:txBody>
      </p:sp>
      <p:sp>
        <p:nvSpPr>
          <p:cNvPr id="5" name="Espace réservé du numéro de diapositive 4">
            <a:extLst>
              <a:ext uri="{FF2B5EF4-FFF2-40B4-BE49-F238E27FC236}">
                <a16:creationId xmlns:a16="http://schemas.microsoft.com/office/drawing/2014/main" id="{9196A72A-9812-40FB-932F-794995FAC0BC}"/>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9</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588ED8DA-59E2-B115-E12E-F73C5A4CA880}"/>
              </a:ext>
            </a:extLst>
          </p:cNvPr>
          <p:cNvSpPr>
            <a:spLocks noGrp="1"/>
          </p:cNvSpPr>
          <p:nvPr>
            <p:ph type="ftr" sz="quarter" idx="11"/>
            <p:custDataLst>
              <p:tags r:id="rId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67450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custDataLst>
              <p:tags r:id="rId2"/>
            </p:custDataLst>
          </p:nvPr>
        </p:nvSpPr>
        <p:spPr>
          <a:xfrm>
            <a:off x="641252" y="142288"/>
            <a:ext cx="10515600" cy="1325563"/>
          </a:xfrm>
        </p:spPr>
        <p:txBody>
          <a:bodyPr vert="horz" anchor="ctr">
            <a:noAutofit/>
          </a:bodyPr>
          <a:lstStyle/>
          <a:p>
            <a:r>
              <a:rPr lang="fr-CA" sz="4000"/>
              <a:t>La décentralisation</a:t>
            </a:r>
          </a:p>
        </p:txBody>
      </p:sp>
      <p:sp>
        <p:nvSpPr>
          <p:cNvPr id="7173" name="Rectangle 3"/>
          <p:cNvSpPr>
            <a:spLocks noGrp="1" noChangeArrowheads="1"/>
          </p:cNvSpPr>
          <p:nvPr>
            <p:ph idx="1"/>
            <p:custDataLst>
              <p:tags r:id="rId3"/>
            </p:custDataLst>
          </p:nvPr>
        </p:nvSpPr>
        <p:spPr>
          <a:xfrm>
            <a:off x="641252" y="1641275"/>
            <a:ext cx="10515600" cy="4709112"/>
          </a:xfrm>
        </p:spPr>
        <p:txBody>
          <a:bodyPr>
            <a:normAutofit fontScale="92500" lnSpcReduction="10000"/>
          </a:bodyPr>
          <a:lstStyle/>
          <a:p>
            <a:pPr eaLnBrk="1" hangingPunct="1">
              <a:lnSpc>
                <a:spcPct val="90000"/>
              </a:lnSpc>
            </a:pPr>
            <a:r>
              <a:rPr lang="fr-CA" dirty="0"/>
              <a:t>Définition</a:t>
            </a:r>
          </a:p>
          <a:p>
            <a:pPr lvl="1" eaLnBrk="1" hangingPunct="1">
              <a:lnSpc>
                <a:spcPct val="90000"/>
              </a:lnSpc>
            </a:pPr>
            <a:r>
              <a:rPr lang="fr-CA" dirty="0"/>
              <a:t>La </a:t>
            </a:r>
            <a:r>
              <a:rPr lang="fr-CA" i="1" dirty="0"/>
              <a:t>délégation</a:t>
            </a:r>
            <a:r>
              <a:rPr lang="fr-CA" dirty="0"/>
              <a:t> d’un certain degré d’autonomie sur certaines décisions à des </a:t>
            </a:r>
            <a:r>
              <a:rPr lang="fr-CA" i="1" dirty="0"/>
              <a:t>subdivisions</a:t>
            </a:r>
            <a:r>
              <a:rPr lang="fr-CA" dirty="0"/>
              <a:t> de l’entreprise (centres de responsabilité).</a:t>
            </a:r>
          </a:p>
          <a:p>
            <a:pPr marL="457200" lvl="1" indent="0" eaLnBrk="1" hangingPunct="1">
              <a:lnSpc>
                <a:spcPct val="90000"/>
              </a:lnSpc>
              <a:buNone/>
            </a:pPr>
            <a:endParaRPr lang="fr-CA" dirty="0"/>
          </a:p>
          <a:p>
            <a:pPr eaLnBrk="1" hangingPunct="1">
              <a:lnSpc>
                <a:spcPct val="90000"/>
              </a:lnSpc>
            </a:pPr>
            <a:r>
              <a:rPr lang="fr-CA" dirty="0"/>
              <a:t>Pourquoi décentraliser ?</a:t>
            </a:r>
          </a:p>
          <a:p>
            <a:pPr lvl="1"/>
            <a:r>
              <a:rPr lang="fr-FR" dirty="0">
                <a:ea typeface="+mn-lt"/>
                <a:cs typeface="+mn-lt"/>
              </a:rPr>
              <a:t>Accroître l’autonomie décisionnelle pour améliorer l'efficacité de la prise de décision</a:t>
            </a:r>
            <a:endParaRPr lang="fr-CA" dirty="0"/>
          </a:p>
          <a:p>
            <a:pPr lvl="1" eaLnBrk="1" hangingPunct="1">
              <a:lnSpc>
                <a:spcPct val="90000"/>
              </a:lnSpc>
            </a:pPr>
            <a:r>
              <a:rPr lang="fr-CA" dirty="0"/>
              <a:t>Allouer plus de liberté aux subdivisions pour rendre la prise de décision plus efficace dans, par exemple, les entreprises complexes ou en croissance.</a:t>
            </a:r>
          </a:p>
          <a:p>
            <a:pPr marL="0" indent="0" eaLnBrk="1" hangingPunct="1">
              <a:lnSpc>
                <a:spcPct val="90000"/>
              </a:lnSpc>
              <a:buNone/>
            </a:pPr>
            <a:endParaRPr lang="fr-CA" dirty="0"/>
          </a:p>
          <a:p>
            <a:r>
              <a:rPr lang="fr-FR" b="1" dirty="0"/>
              <a:t>Comment faire pour s'assurer que les décisions prises rencontrent les objectifs organisationnels visés ? </a:t>
            </a:r>
          </a:p>
          <a:p>
            <a:pPr lvl="1"/>
            <a:r>
              <a:rPr lang="fr-FR" sz="2100" dirty="0">
                <a:ea typeface="+mn-lt"/>
                <a:cs typeface="+mn-lt"/>
              </a:rPr>
              <a:t>L’évaluation de la performance = </a:t>
            </a:r>
            <a:r>
              <a:rPr lang="fr-FR" sz="2000" dirty="0">
                <a:ea typeface="+mn-lt"/>
                <a:cs typeface="+mn-lt"/>
              </a:rPr>
              <a:t>système d’information qui m’informe sur les forces et les faiblesses de l’organisation</a:t>
            </a:r>
          </a:p>
          <a:p>
            <a:endParaRPr lang="fr-CA" dirty="0"/>
          </a:p>
          <a:p>
            <a:pPr lvl="1" eaLnBrk="1" hangingPunct="1">
              <a:lnSpc>
                <a:spcPct val="90000"/>
              </a:lnSpc>
              <a:buClr>
                <a:schemeClr val="accent2"/>
              </a:buClr>
              <a:buNone/>
            </a:pPr>
            <a:endParaRPr lang="fr-CA" dirty="0"/>
          </a:p>
        </p:txBody>
      </p:sp>
      <p:sp>
        <p:nvSpPr>
          <p:cNvPr id="6" name="Espace réservé du numéro de diapositive 5"/>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10</a:t>
            </a:fld>
            <a:endParaRPr lang="fr-CA"/>
          </a:p>
        </p:txBody>
      </p:sp>
      <p:sp>
        <p:nvSpPr>
          <p:cNvPr id="3" name="Espace réservé du pied de page 2">
            <a:extLst>
              <a:ext uri="{FF2B5EF4-FFF2-40B4-BE49-F238E27FC236}">
                <a16:creationId xmlns:a16="http://schemas.microsoft.com/office/drawing/2014/main" id="{D5073CB6-F215-8643-995E-2631B95E9A0B}"/>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92483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Espace réservé du texte 3"/>
          <p:cNvSpPr>
            <a:spLocks noGrp="1"/>
          </p:cNvSpPr>
          <p:nvPr>
            <p:ph type="body" idx="1"/>
            <p:custDataLst>
              <p:tags r:id="rId2"/>
            </p:custDataLst>
          </p:nvPr>
        </p:nvSpPr>
        <p:spPr/>
        <p:txBody>
          <a:bodyPr>
            <a:normAutofit/>
          </a:bodyPr>
          <a:lstStyle/>
          <a:p>
            <a:r>
              <a:rPr lang="fr-CA" sz="3200"/>
              <a:t>Avantages</a:t>
            </a:r>
          </a:p>
        </p:txBody>
      </p:sp>
      <p:sp>
        <p:nvSpPr>
          <p:cNvPr id="2" name="Espace réservé du contenu 1"/>
          <p:cNvSpPr>
            <a:spLocks noGrp="1"/>
          </p:cNvSpPr>
          <p:nvPr>
            <p:ph sz="half" idx="2"/>
            <p:custDataLst>
              <p:tags r:id="rId3"/>
            </p:custDataLst>
          </p:nvPr>
        </p:nvSpPr>
        <p:spPr>
          <a:xfrm>
            <a:off x="839788" y="2818847"/>
            <a:ext cx="5157787" cy="3370815"/>
          </a:xfrm>
        </p:spPr>
        <p:txBody>
          <a:bodyPr>
            <a:normAutofit/>
          </a:bodyPr>
          <a:lstStyle/>
          <a:p>
            <a:r>
              <a:rPr lang="fr-CA" sz="2400" dirty="0"/>
              <a:t>Prise de décision plus rapide </a:t>
            </a:r>
          </a:p>
          <a:p>
            <a:r>
              <a:rPr lang="fr-CA" sz="2400" dirty="0"/>
              <a:t>Meilleure réponse aux besoins locaux</a:t>
            </a:r>
          </a:p>
          <a:p>
            <a:r>
              <a:rPr lang="fr-CA" sz="2400" dirty="0"/>
              <a:t>Motivation des cadres</a:t>
            </a:r>
          </a:p>
          <a:p>
            <a:r>
              <a:rPr lang="fr-CA" sz="2400" dirty="0"/>
              <a:t>Etc.</a:t>
            </a:r>
          </a:p>
          <a:p>
            <a:endParaRPr lang="fr-CA" sz="2400" dirty="0"/>
          </a:p>
        </p:txBody>
      </p:sp>
      <p:sp>
        <p:nvSpPr>
          <p:cNvPr id="5" name="Espace réservé du texte 4"/>
          <p:cNvSpPr>
            <a:spLocks noGrp="1"/>
          </p:cNvSpPr>
          <p:nvPr>
            <p:ph type="body" sz="quarter" idx="3"/>
            <p:custDataLst>
              <p:tags r:id="rId4"/>
            </p:custDataLst>
          </p:nvPr>
        </p:nvSpPr>
        <p:spPr/>
        <p:txBody>
          <a:bodyPr/>
          <a:lstStyle/>
          <a:p>
            <a:r>
              <a:rPr lang="fr-CA" sz="3200"/>
              <a:t>Désavantages</a:t>
            </a:r>
            <a:endParaRPr lang="fr-CA"/>
          </a:p>
        </p:txBody>
      </p:sp>
      <p:sp>
        <p:nvSpPr>
          <p:cNvPr id="7" name="Espace réservé du contenu 6"/>
          <p:cNvSpPr>
            <a:spLocks noGrp="1"/>
          </p:cNvSpPr>
          <p:nvPr>
            <p:ph sz="quarter" idx="4"/>
            <p:custDataLst>
              <p:tags r:id="rId5"/>
            </p:custDataLst>
          </p:nvPr>
        </p:nvSpPr>
        <p:spPr>
          <a:xfrm>
            <a:off x="6194426" y="2745304"/>
            <a:ext cx="5183188" cy="3370816"/>
          </a:xfrm>
          <a:solidFill>
            <a:schemeClr val="bg1"/>
          </a:solidFill>
          <a:ln>
            <a:noFill/>
          </a:ln>
        </p:spPr>
        <p:txBody>
          <a:bodyPr>
            <a:normAutofit/>
          </a:bodyPr>
          <a:lstStyle/>
          <a:p>
            <a:r>
              <a:rPr lang="fr-CA" sz="2400" dirty="0"/>
              <a:t>Dédoublement de tâches</a:t>
            </a:r>
          </a:p>
          <a:p>
            <a:r>
              <a:rPr lang="fr-CA" sz="2400" dirty="0"/>
              <a:t>Perte d’économie d’échelle</a:t>
            </a:r>
          </a:p>
          <a:p>
            <a:r>
              <a:rPr lang="fr-CA" sz="2400" dirty="0"/>
              <a:t>Perte de contrôle (plus risqué)</a:t>
            </a:r>
          </a:p>
          <a:p>
            <a:r>
              <a:rPr lang="fr-CA" sz="2400" dirty="0"/>
              <a:t>Absence de coordination entre les subdivisions</a:t>
            </a:r>
          </a:p>
          <a:p>
            <a:r>
              <a:rPr lang="fr-CA" sz="2400" dirty="0"/>
              <a:t>Incompatibilité entre les objectifs des directeurs de subdivisions et ceux de l’entreprise</a:t>
            </a:r>
          </a:p>
          <a:p>
            <a:pPr marL="0" indent="0">
              <a:buNone/>
            </a:pPr>
            <a:endParaRPr lang="fr-CA" sz="2400" dirty="0"/>
          </a:p>
          <a:p>
            <a:endParaRPr lang="fr-CA" sz="2400" dirty="0"/>
          </a:p>
        </p:txBody>
      </p:sp>
      <p:sp>
        <p:nvSpPr>
          <p:cNvPr id="8" name="Rectangle 2"/>
          <p:cNvSpPr>
            <a:spLocks noGrp="1" noChangeArrowheads="1"/>
          </p:cNvSpPr>
          <p:nvPr>
            <p:ph type="title"/>
            <p:custDataLst>
              <p:tags r:id="rId6"/>
            </p:custDataLst>
          </p:nvPr>
        </p:nvSpPr>
        <p:spPr>
          <a:xfrm>
            <a:off x="765176" y="269166"/>
            <a:ext cx="10515600" cy="919871"/>
          </a:xfrm>
        </p:spPr>
        <p:txBody>
          <a:bodyPr vert="horz" anchor="ctr">
            <a:noAutofit/>
          </a:bodyPr>
          <a:lstStyle/>
          <a:p>
            <a:pPr algn="ctr"/>
            <a:r>
              <a:rPr lang="fr-CA" sz="4000"/>
              <a:t>Décentralisation – Avantages et désavantages</a:t>
            </a:r>
          </a:p>
        </p:txBody>
      </p:sp>
      <p:sp>
        <p:nvSpPr>
          <p:cNvPr id="6" name="Espace réservé du numéro de diapositive 5"/>
          <p:cNvSpPr>
            <a:spLocks noGrp="1"/>
          </p:cNvSpPr>
          <p:nvPr>
            <p:ph type="sldNum" sz="quarter" idx="12"/>
            <p:custDataLst>
              <p:tags r:id="rId7"/>
            </p:custDataLst>
          </p:nvPr>
        </p:nvSpPr>
        <p:spPr/>
        <p:txBody>
          <a:bodyPr>
            <a:normAutofit/>
          </a:bodyPr>
          <a:lstStyle/>
          <a:p>
            <a:pPr>
              <a:defRPr/>
            </a:pPr>
            <a:fld id="{78C1DC52-1979-4D57-B923-A2F6BBF17C17}" type="slidenum">
              <a:rPr lang="fr-CA" smtClean="0"/>
              <a:pPr>
                <a:defRPr/>
              </a:pPr>
              <a:t>11</a:t>
            </a:fld>
            <a:endParaRPr lang="fr-CA"/>
          </a:p>
        </p:txBody>
      </p:sp>
      <p:cxnSp>
        <p:nvCxnSpPr>
          <p:cNvPr id="10" name="Connecteur droit 9"/>
          <p:cNvCxnSpPr/>
          <p:nvPr>
            <p:custDataLst>
              <p:tags r:id="rId8"/>
            </p:custDataLst>
          </p:nvPr>
        </p:nvCxnSpPr>
        <p:spPr>
          <a:xfrm>
            <a:off x="5997575" y="1598769"/>
            <a:ext cx="0" cy="4751618"/>
          </a:xfrm>
          <a:prstGeom prst="line">
            <a:avLst/>
          </a:prstGeom>
        </p:spPr>
        <p:style>
          <a:lnRef idx="1">
            <a:schemeClr val="accent1"/>
          </a:lnRef>
          <a:fillRef idx="0">
            <a:schemeClr val="accent1"/>
          </a:fillRef>
          <a:effectRef idx="0">
            <a:schemeClr val="accent1"/>
          </a:effectRef>
          <a:fontRef idx="minor">
            <a:schemeClr val="tx1"/>
          </a:fontRef>
        </p:style>
      </p:cxnSp>
      <p:sp>
        <p:nvSpPr>
          <p:cNvPr id="9" name="Espace réservé du pied de page 2">
            <a:extLst>
              <a:ext uri="{FF2B5EF4-FFF2-40B4-BE49-F238E27FC236}">
                <a16:creationId xmlns:a16="http://schemas.microsoft.com/office/drawing/2014/main" id="{CF73F228-19D2-36FE-0EA0-4439DAE4705F}"/>
              </a:ext>
            </a:extLst>
          </p:cNvPr>
          <p:cNvSpPr>
            <a:spLocks noGrp="1"/>
          </p:cNvSpPr>
          <p:nvPr>
            <p:ph type="ftr" sz="quarter" idx="11"/>
            <p:custDataLst>
              <p:tags r:id="rId9"/>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366592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96B39F6-3184-46E4-9D8D-B3386598C8B6}"/>
              </a:ext>
            </a:extLst>
          </p:cNvPr>
          <p:cNvSpPr>
            <a:spLocks noGrp="1"/>
          </p:cNvSpPr>
          <p:nvPr>
            <p:ph type="sldNum" sz="quarter" idx="12"/>
            <p:custDataLst>
              <p:tags r:id="rId1"/>
            </p:custDataLst>
          </p:nvPr>
        </p:nvSpPr>
        <p:spPr/>
        <p:txBody>
          <a:bodyPr/>
          <a:lstStyle/>
          <a:p>
            <a:fld id="{1F20FBA3-27E4-4E13-841E-B59ED0E8E620}" type="slidenum">
              <a:rPr lang="fr-CA" smtClean="0">
                <a:solidFill>
                  <a:prstClr val="black">
                    <a:tint val="75000"/>
                  </a:prstClr>
                </a:solidFill>
              </a:rPr>
              <a:pPr/>
              <a:t>12</a:t>
            </a:fld>
            <a:endParaRPr lang="fr-CA">
              <a:solidFill>
                <a:prstClr val="black">
                  <a:tint val="75000"/>
                </a:prstClr>
              </a:solidFill>
            </a:endParaRPr>
          </a:p>
        </p:txBody>
      </p:sp>
      <p:graphicFrame>
        <p:nvGraphicFramePr>
          <p:cNvPr id="4" name="Espace réservé du contenu 2">
            <a:extLst>
              <a:ext uri="{FF2B5EF4-FFF2-40B4-BE49-F238E27FC236}">
                <a16:creationId xmlns:a16="http://schemas.microsoft.com/office/drawing/2014/main" id="{893625C4-B50F-4454-89DB-13B03096FA86}"/>
              </a:ext>
            </a:extLst>
          </p:cNvPr>
          <p:cNvGraphicFramePr>
            <a:graphicFrameLocks/>
          </p:cNvGraphicFramePr>
          <p:nvPr>
            <p:custDataLst>
              <p:tags r:id="rId2"/>
            </p:custDataLst>
            <p:extLst>
              <p:ext uri="{D42A27DB-BD31-4B8C-83A1-F6EECF244321}">
                <p14:modId xmlns:p14="http://schemas.microsoft.com/office/powerpoint/2010/main" val="1454199550"/>
              </p:ext>
            </p:extLst>
          </p:nvPr>
        </p:nvGraphicFramePr>
        <p:xfrm>
          <a:off x="2788316" y="1656735"/>
          <a:ext cx="6513604" cy="520160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5" name="Bulle narrative : rectangle à coins arrondis 4">
            <a:extLst>
              <a:ext uri="{FF2B5EF4-FFF2-40B4-BE49-F238E27FC236}">
                <a16:creationId xmlns:a16="http://schemas.microsoft.com/office/drawing/2014/main" id="{55B47909-9D37-410F-8117-66A28D00CFB4}"/>
              </a:ext>
            </a:extLst>
          </p:cNvPr>
          <p:cNvSpPr/>
          <p:nvPr>
            <p:custDataLst>
              <p:tags r:id="rId3"/>
            </p:custDataLst>
          </p:nvPr>
        </p:nvSpPr>
        <p:spPr>
          <a:xfrm>
            <a:off x="8984108" y="1828800"/>
            <a:ext cx="2400300" cy="1751241"/>
          </a:xfrm>
          <a:prstGeom prst="wedgeRoundRectCallout">
            <a:avLst>
              <a:gd name="adj1" fmla="val -95649"/>
              <a:gd name="adj2" fmla="val -1947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unité exclusivement axée sur les revenus.</a:t>
            </a:r>
          </a:p>
          <a:p>
            <a:pPr algn="ctr"/>
            <a:r>
              <a:rPr lang="fr-CA" sz="1600" dirty="0">
                <a:solidFill>
                  <a:schemeClr val="tx1"/>
                </a:solidFill>
              </a:rPr>
              <a:t>Objectif : maximiser les revenus</a:t>
            </a:r>
          </a:p>
          <a:p>
            <a:pPr algn="ctr"/>
            <a:r>
              <a:rPr lang="fr-CA" sz="1600" i="1" dirty="0">
                <a:solidFill>
                  <a:schemeClr val="tx1"/>
                </a:solidFill>
              </a:rPr>
              <a:t>Ex : département des ventes</a:t>
            </a:r>
          </a:p>
        </p:txBody>
      </p:sp>
      <p:sp>
        <p:nvSpPr>
          <p:cNvPr id="6" name="Bulle narrative : rectangle à coins arrondis 5">
            <a:extLst>
              <a:ext uri="{FF2B5EF4-FFF2-40B4-BE49-F238E27FC236}">
                <a16:creationId xmlns:a16="http://schemas.microsoft.com/office/drawing/2014/main" id="{029119BF-63EA-491E-A7DA-49DA27485F81}"/>
              </a:ext>
            </a:extLst>
          </p:cNvPr>
          <p:cNvSpPr/>
          <p:nvPr>
            <p:custDataLst>
              <p:tags r:id="rId4"/>
            </p:custDataLst>
          </p:nvPr>
        </p:nvSpPr>
        <p:spPr>
          <a:xfrm>
            <a:off x="8610600" y="4234952"/>
            <a:ext cx="3136737" cy="1894522"/>
          </a:xfrm>
          <a:prstGeom prst="wedgeRoundRectCallout">
            <a:avLst>
              <a:gd name="adj1" fmla="val -77438"/>
              <a:gd name="adj2" fmla="val -8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entité qui fonctionne comme une entreprise quasi-autonome au sein de l’organisation</a:t>
            </a:r>
          </a:p>
          <a:p>
            <a:pPr algn="ctr"/>
            <a:r>
              <a:rPr lang="fr-CA" sz="1600" dirty="0">
                <a:solidFill>
                  <a:schemeClr val="tx1"/>
                </a:solidFill>
              </a:rPr>
              <a:t>Objectif : maximiser les profits ET le rendement (investissements) </a:t>
            </a:r>
            <a:r>
              <a:rPr lang="fr-CA" sz="1600" i="1" dirty="0">
                <a:solidFill>
                  <a:schemeClr val="tx1"/>
                </a:solidFill>
              </a:rPr>
              <a:t>Ex : lignes de produits de </a:t>
            </a:r>
          </a:p>
          <a:p>
            <a:pPr algn="ctr"/>
            <a:r>
              <a:rPr lang="fr-CA" sz="1600" i="1" dirty="0">
                <a:solidFill>
                  <a:schemeClr val="tx1"/>
                </a:solidFill>
              </a:rPr>
              <a:t>General Mills</a:t>
            </a:r>
          </a:p>
        </p:txBody>
      </p:sp>
      <p:sp>
        <p:nvSpPr>
          <p:cNvPr id="7" name="Bulle narrative : rectangle à coins arrondis 6">
            <a:extLst>
              <a:ext uri="{FF2B5EF4-FFF2-40B4-BE49-F238E27FC236}">
                <a16:creationId xmlns:a16="http://schemas.microsoft.com/office/drawing/2014/main" id="{33D08286-1D8B-4B78-BDAD-F63AAC794BF5}"/>
              </a:ext>
            </a:extLst>
          </p:cNvPr>
          <p:cNvSpPr/>
          <p:nvPr>
            <p:custDataLst>
              <p:tags r:id="rId5"/>
            </p:custDataLst>
          </p:nvPr>
        </p:nvSpPr>
        <p:spPr>
          <a:xfrm>
            <a:off x="342899" y="1828800"/>
            <a:ext cx="2864995" cy="1738859"/>
          </a:xfrm>
          <a:prstGeom prst="wedgeRoundRectCallout">
            <a:avLst>
              <a:gd name="adj1" fmla="val 85188"/>
              <a:gd name="adj2" fmla="val -111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entité qui s’occupe exclusivement des coûts</a:t>
            </a:r>
          </a:p>
          <a:p>
            <a:pPr algn="ctr"/>
            <a:r>
              <a:rPr lang="fr-CA" sz="1600" dirty="0">
                <a:solidFill>
                  <a:schemeClr val="tx1"/>
                </a:solidFill>
              </a:rPr>
              <a:t>Objectif : contrôler les coûts</a:t>
            </a:r>
          </a:p>
          <a:p>
            <a:pPr algn="ctr"/>
            <a:r>
              <a:rPr lang="fr-CA" sz="1600" i="1" dirty="0">
                <a:solidFill>
                  <a:schemeClr val="tx1"/>
                </a:solidFill>
              </a:rPr>
              <a:t>Ex : départements de production ou départements de service </a:t>
            </a:r>
          </a:p>
        </p:txBody>
      </p:sp>
      <p:sp>
        <p:nvSpPr>
          <p:cNvPr id="8" name="Bulle narrative : rectangle à coins arrondis 7">
            <a:extLst>
              <a:ext uri="{FF2B5EF4-FFF2-40B4-BE49-F238E27FC236}">
                <a16:creationId xmlns:a16="http://schemas.microsoft.com/office/drawing/2014/main" id="{9155DEF7-88C8-4C37-8CE9-A938A69002BB}"/>
              </a:ext>
            </a:extLst>
          </p:cNvPr>
          <p:cNvSpPr/>
          <p:nvPr>
            <p:custDataLst>
              <p:tags r:id="rId6"/>
            </p:custDataLst>
          </p:nvPr>
        </p:nvSpPr>
        <p:spPr>
          <a:xfrm>
            <a:off x="342900" y="4536758"/>
            <a:ext cx="2864994" cy="1592716"/>
          </a:xfrm>
          <a:prstGeom prst="wedgeRoundRectCallout">
            <a:avLst>
              <a:gd name="adj1" fmla="val 89273"/>
              <a:gd name="adj2" fmla="val -123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entité qui gère à la fois des revenus et des coûts. </a:t>
            </a:r>
          </a:p>
          <a:p>
            <a:pPr algn="ctr"/>
            <a:r>
              <a:rPr lang="fr-CA" sz="1600" dirty="0">
                <a:solidFill>
                  <a:schemeClr val="tx1"/>
                </a:solidFill>
              </a:rPr>
              <a:t>Objectif : maximiser les profits</a:t>
            </a:r>
          </a:p>
          <a:p>
            <a:pPr algn="ctr"/>
            <a:r>
              <a:rPr lang="fr-CA" sz="1600" i="1" dirty="0">
                <a:solidFill>
                  <a:schemeClr val="tx1"/>
                </a:solidFill>
              </a:rPr>
              <a:t>Ex : Département des bijoux de la Compagnie de la Baie d'Hudson</a:t>
            </a:r>
          </a:p>
        </p:txBody>
      </p:sp>
      <p:sp>
        <p:nvSpPr>
          <p:cNvPr id="9" name="Rectangle 2">
            <a:extLst>
              <a:ext uri="{FF2B5EF4-FFF2-40B4-BE49-F238E27FC236}">
                <a16:creationId xmlns:a16="http://schemas.microsoft.com/office/drawing/2014/main" id="{407F9937-16C0-45C7-B2B8-AFAF046147D2}"/>
              </a:ext>
            </a:extLst>
          </p:cNvPr>
          <p:cNvSpPr txBox="1">
            <a:spLocks noChangeArrowheads="1"/>
          </p:cNvSpPr>
          <p:nvPr>
            <p:custDataLst>
              <p:tags r:id="rId7"/>
            </p:custDataLst>
          </p:nvPr>
        </p:nvSpPr>
        <p:spPr>
          <a:xfrm>
            <a:off x="838200" y="167640"/>
            <a:ext cx="10515600" cy="1192530"/>
          </a:xfrm>
          <a:prstGeom prst="rect">
            <a:avLst/>
          </a:prstGeom>
        </p:spPr>
        <p:txBody>
          <a:bodyPr vert="horz"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CA" sz="4000"/>
              <a:t>Les centres de responsabilité : </a:t>
            </a:r>
          </a:p>
          <a:p>
            <a:pPr algn="ctr"/>
            <a:r>
              <a:rPr lang="fr-CA" sz="3000"/>
              <a:t>- Les ressources sont regroupées en centres de responsabilité</a:t>
            </a:r>
          </a:p>
          <a:p>
            <a:pPr algn="ctr"/>
            <a:r>
              <a:rPr lang="fr-CA" sz="3000"/>
              <a:t>- Délégation du pouvoir décisionnel à un gestionnaire</a:t>
            </a:r>
          </a:p>
        </p:txBody>
      </p:sp>
      <p:sp>
        <p:nvSpPr>
          <p:cNvPr id="10" name="Espace réservé du pied de page 2">
            <a:extLst>
              <a:ext uri="{FF2B5EF4-FFF2-40B4-BE49-F238E27FC236}">
                <a16:creationId xmlns:a16="http://schemas.microsoft.com/office/drawing/2014/main" id="{E1C853F3-7532-A72D-3F64-98147FED1EDB}"/>
              </a:ext>
            </a:extLst>
          </p:cNvPr>
          <p:cNvSpPr>
            <a:spLocks noGrp="1"/>
          </p:cNvSpPr>
          <p:nvPr>
            <p:ph type="ftr" sz="quarter" idx="11"/>
            <p:custDataLst>
              <p:tags r:id="rId8"/>
            </p:custDataLst>
          </p:nvPr>
        </p:nvSpPr>
        <p:spPr>
          <a:xfrm>
            <a:off x="8077200" y="639191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60428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04751E-5C63-4ED9-844C-BE3FA694B173}"/>
              </a:ext>
            </a:extLst>
          </p:cNvPr>
          <p:cNvSpPr>
            <a:spLocks noGrp="1"/>
          </p:cNvSpPr>
          <p:nvPr>
            <p:ph type="title"/>
            <p:custDataLst>
              <p:tags r:id="rId1"/>
            </p:custDataLst>
          </p:nvPr>
        </p:nvSpPr>
        <p:spPr>
          <a:xfrm>
            <a:off x="838200" y="365125"/>
            <a:ext cx="10957560" cy="899795"/>
          </a:xfrm>
        </p:spPr>
        <p:txBody>
          <a:bodyPr>
            <a:noAutofit/>
          </a:bodyPr>
          <a:lstStyle/>
          <a:p>
            <a:r>
              <a:rPr lang="en-US" altLang="en-US" sz="4000" dirty="0" err="1">
                <a:cs typeface="Calibri" panose="020F0502020204030204" pitchFamily="34" charset="0"/>
              </a:rPr>
              <a:t>Évaluer</a:t>
            </a:r>
            <a:r>
              <a:rPr lang="en-US" altLang="en-US" sz="4000" dirty="0">
                <a:cs typeface="Calibri" panose="020F0502020204030204" pitchFamily="34" charset="0"/>
              </a:rPr>
              <a:t> la performance des </a:t>
            </a:r>
            <a:r>
              <a:rPr lang="en-US" altLang="en-US" sz="4000" b="1" dirty="0" err="1">
                <a:cs typeface="Calibri" panose="020F0502020204030204" pitchFamily="34" charset="0"/>
              </a:rPr>
              <a:t>centres</a:t>
            </a:r>
            <a:r>
              <a:rPr lang="en-US" altLang="en-US" sz="4000" b="1" dirty="0">
                <a:cs typeface="Calibri" panose="020F0502020204030204" pitchFamily="34" charset="0"/>
              </a:rPr>
              <a:t> </a:t>
            </a:r>
            <a:r>
              <a:rPr lang="en-US" altLang="en-US" sz="4000" b="1" dirty="0" err="1">
                <a:cs typeface="Calibri" panose="020F0502020204030204" pitchFamily="34" charset="0"/>
              </a:rPr>
              <a:t>d’investissement</a:t>
            </a:r>
            <a:endParaRPr lang="fr-CA" sz="4000" b="1" dirty="0"/>
          </a:p>
        </p:txBody>
      </p:sp>
      <p:sp>
        <p:nvSpPr>
          <p:cNvPr id="3" name="Espace réservé du contenu 2">
            <a:extLst>
              <a:ext uri="{FF2B5EF4-FFF2-40B4-BE49-F238E27FC236}">
                <a16:creationId xmlns:a16="http://schemas.microsoft.com/office/drawing/2014/main" id="{8B634C80-BFF3-4280-BDEA-39C37321BCB3}"/>
              </a:ext>
            </a:extLst>
          </p:cNvPr>
          <p:cNvSpPr>
            <a:spLocks noGrp="1"/>
          </p:cNvSpPr>
          <p:nvPr>
            <p:ph idx="1"/>
            <p:custDataLst>
              <p:tags r:id="rId2"/>
            </p:custDataLst>
          </p:nvPr>
        </p:nvSpPr>
        <p:spPr/>
        <p:txBody>
          <a:bodyPr/>
          <a:lstStyle/>
          <a:p>
            <a:r>
              <a:rPr lang="fr-CA" dirty="0"/>
              <a:t>Le gestionnaire d'un centre d'investissement a un pouvoir  décisionnel sur </a:t>
            </a:r>
            <a:r>
              <a:rPr lang="en-US" dirty="0"/>
              <a:t>:</a:t>
            </a:r>
          </a:p>
          <a:p>
            <a:pPr lvl="1"/>
            <a:r>
              <a:rPr lang="en-US" dirty="0" err="1"/>
              <a:t>Revenus</a:t>
            </a:r>
            <a:endParaRPr lang="en-US" dirty="0"/>
          </a:p>
          <a:p>
            <a:pPr lvl="1"/>
            <a:r>
              <a:rPr lang="en-US" dirty="0" err="1"/>
              <a:t>Coûts</a:t>
            </a:r>
            <a:r>
              <a:rPr lang="en-US" dirty="0"/>
              <a:t>/</a:t>
            </a:r>
            <a:r>
              <a:rPr lang="en-US" dirty="0" err="1"/>
              <a:t>dépenses</a:t>
            </a:r>
            <a:endParaRPr lang="en-US" dirty="0"/>
          </a:p>
          <a:p>
            <a:pPr lvl="1"/>
            <a:r>
              <a:rPr lang="en-US" dirty="0" err="1"/>
              <a:t>Investissements</a:t>
            </a:r>
            <a:endParaRPr lang="en-US" dirty="0"/>
          </a:p>
          <a:p>
            <a:r>
              <a:rPr lang="en-US" dirty="0"/>
              <a:t>Le </a:t>
            </a:r>
            <a:r>
              <a:rPr lang="en-US" dirty="0" err="1"/>
              <a:t>rendement</a:t>
            </a:r>
            <a:r>
              <a:rPr lang="en-US" dirty="0"/>
              <a:t> sur le capital </a:t>
            </a:r>
            <a:r>
              <a:rPr lang="en-US" dirty="0" err="1"/>
              <a:t>investi</a:t>
            </a:r>
            <a:r>
              <a:rPr lang="en-US" dirty="0"/>
              <a:t> (RCI) </a:t>
            </a:r>
            <a:r>
              <a:rPr lang="en-US" dirty="0" err="1"/>
              <a:t>est</a:t>
            </a:r>
            <a:r>
              <a:rPr lang="en-US" dirty="0"/>
              <a:t> un </a:t>
            </a:r>
            <a:r>
              <a:rPr lang="en-US" dirty="0" err="1"/>
              <a:t>indicateur</a:t>
            </a:r>
            <a:r>
              <a:rPr lang="en-US" dirty="0"/>
              <a:t> </a:t>
            </a:r>
            <a:r>
              <a:rPr lang="en-US" dirty="0" err="1"/>
              <a:t>clé</a:t>
            </a:r>
            <a:r>
              <a:rPr lang="en-US" dirty="0"/>
              <a:t> de la performance d’un </a:t>
            </a:r>
            <a:r>
              <a:rPr lang="en-US" b="1" dirty="0" err="1"/>
              <a:t>centre</a:t>
            </a:r>
            <a:r>
              <a:rPr lang="en-US" b="1" dirty="0"/>
              <a:t> </a:t>
            </a:r>
            <a:r>
              <a:rPr lang="en-US" b="1" dirty="0" err="1"/>
              <a:t>d’investissement</a:t>
            </a:r>
            <a:endParaRPr lang="en-US" b="1" dirty="0">
              <a:solidFill>
                <a:schemeClr val="accent2"/>
              </a:solidFill>
            </a:endParaRPr>
          </a:p>
          <a:p>
            <a:pPr lvl="1"/>
            <a:r>
              <a:rPr lang="fr-CA" sz="2600" dirty="0"/>
              <a:t>Le RCI est une mesure financière qui permet de déterminer si le gestionnaire utilise efficacement les actifs dont il dispose.</a:t>
            </a:r>
          </a:p>
        </p:txBody>
      </p:sp>
      <p:sp>
        <p:nvSpPr>
          <p:cNvPr id="5" name="Espace réservé du numéro de diapositive 4">
            <a:extLst>
              <a:ext uri="{FF2B5EF4-FFF2-40B4-BE49-F238E27FC236}">
                <a16:creationId xmlns:a16="http://schemas.microsoft.com/office/drawing/2014/main" id="{3C7B205C-7719-4C4B-A8BF-B58A8CBEAA0A}"/>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13</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BF1D08C4-6D0B-E95C-6E58-33C8D2FC3A6A}"/>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057691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2E690F-CCAE-4CE3-8733-D72929D9FADC}"/>
              </a:ext>
            </a:extLst>
          </p:cNvPr>
          <p:cNvSpPr>
            <a:spLocks noGrp="1"/>
          </p:cNvSpPr>
          <p:nvPr>
            <p:ph type="title"/>
            <p:custDataLst>
              <p:tags r:id="rId1"/>
            </p:custDataLst>
          </p:nvPr>
        </p:nvSpPr>
        <p:spPr>
          <a:xfrm>
            <a:off x="838200" y="365125"/>
            <a:ext cx="10515600" cy="686435"/>
          </a:xfrm>
        </p:spPr>
        <p:txBody>
          <a:bodyPr>
            <a:normAutofit fontScale="90000"/>
          </a:bodyPr>
          <a:lstStyle/>
          <a:p>
            <a:r>
              <a:rPr lang="fr-FR" sz="4400" dirty="0"/>
              <a:t>Rendement sur capital investi (RCI %) </a:t>
            </a:r>
            <a:endParaRPr lang="fr-CA" dirty="0"/>
          </a:p>
        </p:txBody>
      </p:sp>
      <p:sp>
        <p:nvSpPr>
          <p:cNvPr id="5" name="Espace réservé du numéro de diapositive 4">
            <a:extLst>
              <a:ext uri="{FF2B5EF4-FFF2-40B4-BE49-F238E27FC236}">
                <a16:creationId xmlns:a16="http://schemas.microsoft.com/office/drawing/2014/main" id="{2F1E4F4E-E105-4913-A1A4-59ACDBFAFAE9}"/>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14</a:t>
            </a:fld>
            <a:endParaRPr lang="fr-CA">
              <a:solidFill>
                <a:prstClr val="black">
                  <a:tint val="75000"/>
                </a:prstClr>
              </a:solidFill>
            </a:endParaRPr>
          </a:p>
        </p:txBody>
      </p:sp>
      <p:graphicFrame>
        <p:nvGraphicFramePr>
          <p:cNvPr id="7" name="Table Placeholder 4">
            <a:extLst>
              <a:ext uri="{FF2B5EF4-FFF2-40B4-BE49-F238E27FC236}">
                <a16:creationId xmlns:a16="http://schemas.microsoft.com/office/drawing/2014/main" id="{6C311AA7-362E-49B7-A076-D3F8BDDABE60}"/>
              </a:ext>
            </a:extLst>
          </p:cNvPr>
          <p:cNvGraphicFramePr>
            <a:graphicFrameLocks/>
          </p:cNvGraphicFramePr>
          <p:nvPr>
            <p:custDataLst>
              <p:tags r:id="rId3"/>
            </p:custDataLst>
            <p:extLst>
              <p:ext uri="{D42A27DB-BD31-4B8C-83A1-F6EECF244321}">
                <p14:modId xmlns:p14="http://schemas.microsoft.com/office/powerpoint/2010/main" val="571597929"/>
              </p:ext>
            </p:extLst>
          </p:nvPr>
        </p:nvGraphicFramePr>
        <p:xfrm>
          <a:off x="1693150" y="1665287"/>
          <a:ext cx="8805699" cy="822960"/>
        </p:xfrm>
        <a:graphic>
          <a:graphicData uri="http://schemas.openxmlformats.org/drawingml/2006/table">
            <a:tbl>
              <a:tblPr firstRow="1" firstCol="1" bandRow="1">
                <a:tableStyleId>{69012ECD-51FC-41F1-AA8D-1B2483CD663E}</a:tableStyleId>
              </a:tblPr>
              <a:tblGrid>
                <a:gridCol w="2864032">
                  <a:extLst>
                    <a:ext uri="{9D8B030D-6E8A-4147-A177-3AD203B41FA5}">
                      <a16:colId xmlns:a16="http://schemas.microsoft.com/office/drawing/2014/main" val="3125607044"/>
                    </a:ext>
                  </a:extLst>
                </a:gridCol>
                <a:gridCol w="479686">
                  <a:extLst>
                    <a:ext uri="{9D8B030D-6E8A-4147-A177-3AD203B41FA5}">
                      <a16:colId xmlns:a16="http://schemas.microsoft.com/office/drawing/2014/main" val="1936805206"/>
                    </a:ext>
                  </a:extLst>
                </a:gridCol>
                <a:gridCol w="2083632">
                  <a:extLst>
                    <a:ext uri="{9D8B030D-6E8A-4147-A177-3AD203B41FA5}">
                      <a16:colId xmlns:a16="http://schemas.microsoft.com/office/drawing/2014/main" val="2597946029"/>
                    </a:ext>
                  </a:extLst>
                </a:gridCol>
                <a:gridCol w="534094">
                  <a:extLst>
                    <a:ext uri="{9D8B030D-6E8A-4147-A177-3AD203B41FA5}">
                      <a16:colId xmlns:a16="http://schemas.microsoft.com/office/drawing/2014/main" val="2803733574"/>
                    </a:ext>
                  </a:extLst>
                </a:gridCol>
                <a:gridCol w="2844255">
                  <a:extLst>
                    <a:ext uri="{9D8B030D-6E8A-4147-A177-3AD203B41FA5}">
                      <a16:colId xmlns:a16="http://schemas.microsoft.com/office/drawing/2014/main" val="2771425594"/>
                    </a:ext>
                  </a:extLst>
                </a:gridCol>
              </a:tblGrid>
              <a:tr h="152400">
                <a:tc>
                  <a:txBody>
                    <a:bodyPr/>
                    <a:lstStyle/>
                    <a:p>
                      <a:pPr marL="0" marR="0" algn="ctr">
                        <a:lnSpc>
                          <a:spcPct val="100000"/>
                        </a:lnSpc>
                        <a:spcBef>
                          <a:spcPts val="0"/>
                        </a:spcBef>
                        <a:spcAft>
                          <a:spcPts val="0"/>
                        </a:spcAft>
                      </a:pPr>
                      <a:r>
                        <a:rPr lang="en-US" sz="2400" spc="0" dirty="0" err="1">
                          <a:solidFill>
                            <a:schemeClr val="tx1"/>
                          </a:solidFill>
                          <a:effectLst/>
                          <a:latin typeface="+mn-lt"/>
                        </a:rPr>
                        <a:t>Résultat</a:t>
                      </a:r>
                      <a:r>
                        <a:rPr lang="en-US" sz="2400" spc="0" dirty="0">
                          <a:solidFill>
                            <a:schemeClr val="tx1"/>
                          </a:solidFill>
                          <a:effectLst/>
                          <a:latin typeface="+mn-lt"/>
                        </a:rPr>
                        <a:t> net </a:t>
                      </a:r>
                    </a:p>
                    <a:p>
                      <a:pPr marL="0" marR="0" algn="ctr">
                        <a:lnSpc>
                          <a:spcPct val="100000"/>
                        </a:lnSpc>
                        <a:spcBef>
                          <a:spcPts val="0"/>
                        </a:spcBef>
                        <a:spcAft>
                          <a:spcPts val="0"/>
                        </a:spcAft>
                      </a:pPr>
                      <a:r>
                        <a:rPr lang="en-US" sz="1800" b="0" i="1" spc="0" dirty="0">
                          <a:solidFill>
                            <a:schemeClr val="tx1"/>
                          </a:solidFill>
                          <a:effectLst/>
                          <a:latin typeface="+mn-lt"/>
                          <a:ea typeface="Calibri" panose="020F0502020204030204" pitchFamily="34" charset="0"/>
                        </a:rPr>
                        <a:t>(</a:t>
                      </a:r>
                      <a:r>
                        <a:rPr lang="en-US" sz="1800" b="0" i="1" spc="0" dirty="0" err="1">
                          <a:solidFill>
                            <a:schemeClr val="tx1"/>
                          </a:solidFill>
                          <a:effectLst/>
                          <a:latin typeface="+mn-lt"/>
                          <a:ea typeface="Calibri" panose="020F0502020204030204" pitchFamily="34" charset="0"/>
                        </a:rPr>
                        <a:t>résultat</a:t>
                      </a:r>
                      <a:r>
                        <a:rPr lang="en-US" sz="1800" b="0" i="1" spc="0" dirty="0">
                          <a:solidFill>
                            <a:schemeClr val="tx1"/>
                          </a:solidFill>
                          <a:effectLst/>
                          <a:latin typeface="+mn-lt"/>
                          <a:ea typeface="Calibri" panose="020F0502020204030204" pitchFamily="34" charset="0"/>
                        </a:rPr>
                        <a:t> </a:t>
                      </a:r>
                      <a:r>
                        <a:rPr lang="en-US" sz="1800" b="0" i="1" spc="0" dirty="0" err="1">
                          <a:solidFill>
                            <a:schemeClr val="tx1"/>
                          </a:solidFill>
                          <a:effectLst/>
                          <a:latin typeface="+mn-lt"/>
                          <a:ea typeface="Calibri" panose="020F0502020204030204" pitchFamily="34" charset="0"/>
                        </a:rPr>
                        <a:t>d’exploitation</a:t>
                      </a:r>
                      <a:r>
                        <a:rPr lang="en-US" sz="1800" b="0" i="1" spc="0" dirty="0">
                          <a:solidFill>
                            <a:schemeClr val="tx1"/>
                          </a:solidFill>
                          <a:effectLst/>
                          <a:latin typeface="+mn-lt"/>
                          <a:ea typeface="Calibri" panose="020F0502020204030204" pitchFamily="34" charset="0"/>
                        </a:rPr>
                        <a:t>)</a:t>
                      </a:r>
                      <a:endParaRPr lang="en-US" sz="1800" b="0" i="1" dirty="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400" dirty="0">
                          <a:solidFill>
                            <a:schemeClr val="tx1"/>
                          </a:solidFill>
                          <a:effectLst/>
                          <a:latin typeface="+mn-lt"/>
                          <a:ea typeface="Calibri" panose="020F0502020204030204" pitchFamily="34" charset="0"/>
                          <a:sym typeface="Symbol" panose="05050102010706020507" pitchFamily="18" charset="2"/>
                        </a:rPr>
                        <a:t></a:t>
                      </a:r>
                      <a:endParaRPr lang="en-US" sz="2400" dirty="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400" spc="0" dirty="0">
                          <a:solidFill>
                            <a:schemeClr val="tx1"/>
                          </a:solidFill>
                          <a:effectLst/>
                          <a:latin typeface="+mn-lt"/>
                        </a:rPr>
                        <a:t>Capital </a:t>
                      </a:r>
                      <a:r>
                        <a:rPr lang="en-US" sz="2400" spc="0" dirty="0" err="1">
                          <a:solidFill>
                            <a:schemeClr val="tx1"/>
                          </a:solidFill>
                          <a:effectLst/>
                          <a:latin typeface="+mn-lt"/>
                        </a:rPr>
                        <a:t>investi</a:t>
                      </a:r>
                      <a:endParaRPr lang="en-US" sz="2400" dirty="0">
                        <a:solidFill>
                          <a:schemeClr val="tx1"/>
                        </a:solidFill>
                        <a:effectLst/>
                        <a:latin typeface="+mn-lt"/>
                        <a:ea typeface="Calibri" panose="020F0502020204030204" pitchFamily="34"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effectLst/>
                          <a:latin typeface="+mn-lt"/>
                          <a:ea typeface="Calibri" panose="020F0502020204030204" pitchFamily="34" charset="0"/>
                          <a:sym typeface="Symbol" panose="05050102010706020507" pitchFamily="18" charset="2"/>
                        </a:rPr>
                        <a:t>=</a:t>
                      </a:r>
                      <a:endParaRPr lang="en-US" sz="240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400" spc="0" dirty="0" err="1">
                          <a:solidFill>
                            <a:schemeClr val="accent2"/>
                          </a:solidFill>
                          <a:effectLst/>
                          <a:latin typeface="+mn-lt"/>
                        </a:rPr>
                        <a:t>Rendement</a:t>
                      </a:r>
                      <a:r>
                        <a:rPr lang="en-US" sz="2400" spc="0" dirty="0">
                          <a:solidFill>
                            <a:schemeClr val="accent2"/>
                          </a:solidFill>
                          <a:effectLst/>
                          <a:latin typeface="+mn-lt"/>
                        </a:rPr>
                        <a:t> sur capital </a:t>
                      </a:r>
                      <a:r>
                        <a:rPr lang="en-US" sz="2400" spc="0" dirty="0" err="1">
                          <a:solidFill>
                            <a:schemeClr val="accent2"/>
                          </a:solidFill>
                          <a:effectLst/>
                          <a:latin typeface="+mn-lt"/>
                        </a:rPr>
                        <a:t>investi</a:t>
                      </a:r>
                      <a:r>
                        <a:rPr lang="en-US" sz="2400" spc="0" dirty="0">
                          <a:solidFill>
                            <a:schemeClr val="accent2"/>
                          </a:solidFill>
                          <a:effectLst/>
                          <a:latin typeface="+mn-lt"/>
                        </a:rPr>
                        <a:t> (RCI)</a:t>
                      </a:r>
                      <a:endParaRPr lang="en-US" sz="2400" dirty="0">
                        <a:solidFill>
                          <a:schemeClr val="accent2"/>
                        </a:solidFill>
                        <a:effectLst/>
                        <a:latin typeface="+mn-lt"/>
                        <a:ea typeface="Calibri" panose="020F0502020204030204" pitchFamily="34" charset="0"/>
                      </a:endParaRPr>
                    </a:p>
                  </a:txBody>
                  <a:tcPr>
                    <a:noFill/>
                  </a:tcPr>
                </a:tc>
                <a:extLst>
                  <a:ext uri="{0D108BD9-81ED-4DB2-BD59-A6C34878D82A}">
                    <a16:rowId xmlns:a16="http://schemas.microsoft.com/office/drawing/2014/main" val="2088241220"/>
                  </a:ext>
                </a:extLst>
              </a:tr>
            </a:tbl>
          </a:graphicData>
        </a:graphic>
      </p:graphicFrame>
      <p:sp>
        <p:nvSpPr>
          <p:cNvPr id="3" name="Content Placeholder 5">
            <a:extLst>
              <a:ext uri="{FF2B5EF4-FFF2-40B4-BE49-F238E27FC236}">
                <a16:creationId xmlns:a16="http://schemas.microsoft.com/office/drawing/2014/main" id="{B0A38FB1-DBC6-1665-EAC6-278CAD149B10}"/>
              </a:ext>
            </a:extLst>
          </p:cNvPr>
          <p:cNvSpPr txBox="1">
            <a:spLocks/>
          </p:cNvSpPr>
          <p:nvPr>
            <p:custDataLst>
              <p:tags r:id="rId4"/>
            </p:custDataLst>
          </p:nvPr>
        </p:nvSpPr>
        <p:spPr>
          <a:xfrm>
            <a:off x="838200" y="3604895"/>
            <a:ext cx="10774680" cy="26130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1325" indent="-441325">
              <a:lnSpc>
                <a:spcPct val="100000"/>
              </a:lnSpc>
              <a:spcBef>
                <a:spcPts val="624"/>
              </a:spcBef>
              <a:buClr>
                <a:schemeClr val="accent2"/>
              </a:buClr>
            </a:pPr>
            <a:endParaRPr lang="en-US" sz="2200" dirty="0">
              <a:latin typeface="Calibri" panose="020F0502020204030204" pitchFamily="34" charset="0"/>
              <a:cs typeface="Calibri" panose="020F0502020204030204" pitchFamily="34" charset="0"/>
            </a:endParaRPr>
          </a:p>
        </p:txBody>
      </p:sp>
      <p:sp>
        <p:nvSpPr>
          <p:cNvPr id="11" name="ZoneTexte 10">
            <a:extLst>
              <a:ext uri="{FF2B5EF4-FFF2-40B4-BE49-F238E27FC236}">
                <a16:creationId xmlns:a16="http://schemas.microsoft.com/office/drawing/2014/main" id="{FA36C08F-4F02-FB0E-6CB6-426DA4F48F2E}"/>
              </a:ext>
            </a:extLst>
          </p:cNvPr>
          <p:cNvSpPr txBox="1"/>
          <p:nvPr>
            <p:custDataLst>
              <p:tags r:id="rId5"/>
            </p:custDataLst>
          </p:nvPr>
        </p:nvSpPr>
        <p:spPr>
          <a:xfrm>
            <a:off x="579120" y="4492327"/>
            <a:ext cx="10125166" cy="2154436"/>
          </a:xfrm>
          <a:prstGeom prst="rect">
            <a:avLst/>
          </a:prstGeom>
          <a:noFill/>
        </p:spPr>
        <p:txBody>
          <a:bodyPr wrap="square" rtlCol="0">
            <a:spAutoFit/>
          </a:bodyPr>
          <a:lstStyle/>
          <a:p>
            <a:r>
              <a:rPr lang="fr-CA" sz="2400" b="0" dirty="0"/>
              <a:t>Définition du capital investi </a:t>
            </a:r>
            <a:r>
              <a:rPr lang="fr-CA" dirty="0"/>
              <a:t>(dans le cours 10904) </a:t>
            </a:r>
            <a:r>
              <a:rPr lang="fr-CA" sz="2400" b="0" dirty="0"/>
              <a:t>: </a:t>
            </a:r>
            <a:r>
              <a:rPr lang="fr-CA" sz="2400" b="1" dirty="0"/>
              <a:t>Actif utilisé</a:t>
            </a:r>
          </a:p>
          <a:p>
            <a:pPr>
              <a:spcBef>
                <a:spcPts val="600"/>
              </a:spcBef>
              <a:spcAft>
                <a:spcPts val="600"/>
              </a:spcAft>
            </a:pPr>
            <a:r>
              <a:rPr lang="fr-CA" sz="2000" dirty="0">
                <a:solidFill>
                  <a:schemeClr val="tx1"/>
                </a:solidFill>
              </a:rPr>
              <a:t>Il existe également plusieurs définitions du Capital investi mais dans le cours 10904 nous allons considérer que le capital investi est égal à l’actif utilisé (actifs générant des revenus). </a:t>
            </a:r>
            <a:r>
              <a:rPr lang="fr-CA" sz="2000" dirty="0"/>
              <a:t>On suppose que l’actif inutilisé est négligeable ou qu’on le trouve normalement au sein de toutes les entités évaluées.</a:t>
            </a:r>
            <a:endParaRPr lang="fr-CA" sz="1800" dirty="0"/>
          </a:p>
          <a:p>
            <a:endParaRPr lang="fr-CA" sz="2000" dirty="0">
              <a:solidFill>
                <a:schemeClr val="tx1"/>
              </a:solidFill>
            </a:endParaRPr>
          </a:p>
        </p:txBody>
      </p:sp>
      <p:sp>
        <p:nvSpPr>
          <p:cNvPr id="6" name="Espace réservé du pied de page 2">
            <a:extLst>
              <a:ext uri="{FF2B5EF4-FFF2-40B4-BE49-F238E27FC236}">
                <a16:creationId xmlns:a16="http://schemas.microsoft.com/office/drawing/2014/main" id="{FA831DB8-E5E1-B751-32B1-8CE25848970B}"/>
              </a:ext>
            </a:extLst>
          </p:cNvPr>
          <p:cNvSpPr>
            <a:spLocks noGrp="1"/>
          </p:cNvSpPr>
          <p:nvPr>
            <p:ph type="ftr" sz="quarter" idx="11"/>
            <p:custDataLst>
              <p:tags r:id="rId6"/>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
        <p:nvSpPr>
          <p:cNvPr id="4" name="ZoneTexte 3">
            <a:extLst>
              <a:ext uri="{FF2B5EF4-FFF2-40B4-BE49-F238E27FC236}">
                <a16:creationId xmlns:a16="http://schemas.microsoft.com/office/drawing/2014/main" id="{FE215F87-35A5-AC9D-851A-5892DAC501BC}"/>
              </a:ext>
            </a:extLst>
          </p:cNvPr>
          <p:cNvSpPr txBox="1"/>
          <p:nvPr>
            <p:custDataLst>
              <p:tags r:id="rId7"/>
            </p:custDataLst>
          </p:nvPr>
        </p:nvSpPr>
        <p:spPr>
          <a:xfrm>
            <a:off x="579120" y="3756027"/>
            <a:ext cx="10125166" cy="461665"/>
          </a:xfrm>
          <a:prstGeom prst="rect">
            <a:avLst/>
          </a:prstGeom>
          <a:noFill/>
        </p:spPr>
        <p:txBody>
          <a:bodyPr wrap="square" rtlCol="0">
            <a:spAutoFit/>
          </a:bodyPr>
          <a:lstStyle/>
          <a:p>
            <a:r>
              <a:rPr lang="fr-CA" sz="2400" b="0" dirty="0"/>
              <a:t>Définition du Résultat net </a:t>
            </a:r>
            <a:r>
              <a:rPr lang="fr-CA" b="0" dirty="0"/>
              <a:t>(dans le cours 10904) :</a:t>
            </a:r>
            <a:r>
              <a:rPr lang="fr-CA" sz="2400" b="0" dirty="0"/>
              <a:t> </a:t>
            </a:r>
            <a:r>
              <a:rPr lang="fr-CA" sz="2400" b="1" dirty="0"/>
              <a:t>Résultat d’exploitation</a:t>
            </a:r>
          </a:p>
        </p:txBody>
      </p:sp>
      <p:sp>
        <p:nvSpPr>
          <p:cNvPr id="9" name="ZoneTexte 8">
            <a:extLst>
              <a:ext uri="{FF2B5EF4-FFF2-40B4-BE49-F238E27FC236}">
                <a16:creationId xmlns:a16="http://schemas.microsoft.com/office/drawing/2014/main" id="{9818E2B8-E4D0-EEE4-65EE-277A3ECCCBDE}"/>
              </a:ext>
            </a:extLst>
          </p:cNvPr>
          <p:cNvSpPr txBox="1"/>
          <p:nvPr>
            <p:custDataLst>
              <p:tags r:id="rId8"/>
            </p:custDataLst>
          </p:nvPr>
        </p:nvSpPr>
        <p:spPr>
          <a:xfrm>
            <a:off x="579120" y="2698136"/>
            <a:ext cx="10125166" cy="769441"/>
          </a:xfrm>
          <a:prstGeom prst="rect">
            <a:avLst/>
          </a:prstGeom>
          <a:noFill/>
        </p:spPr>
        <p:txBody>
          <a:bodyPr wrap="square" rtlCol="0">
            <a:spAutoFit/>
          </a:bodyPr>
          <a:lstStyle/>
          <a:p>
            <a:r>
              <a:rPr lang="fr-CA" sz="2400" b="0" dirty="0"/>
              <a:t>Définition du Rendement </a:t>
            </a:r>
            <a:r>
              <a:rPr lang="fr-CA" b="0" dirty="0"/>
              <a:t>: </a:t>
            </a:r>
            <a:r>
              <a:rPr lang="fr-CA" sz="2000" dirty="0"/>
              <a:t>Le rendement mesure le résultat obtenu par rapport aux ressources investies dans l’entité. </a:t>
            </a:r>
          </a:p>
        </p:txBody>
      </p:sp>
    </p:spTree>
    <p:extLst>
      <p:ext uri="{BB962C8B-B14F-4D97-AF65-F5344CB8AC3E}">
        <p14:creationId xmlns:p14="http://schemas.microsoft.com/office/powerpoint/2010/main" val="2386233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5EC903-0CFF-4BDF-A23A-38865A31B82E}"/>
              </a:ext>
            </a:extLst>
          </p:cNvPr>
          <p:cNvSpPr>
            <a:spLocks noGrp="1"/>
          </p:cNvSpPr>
          <p:nvPr>
            <p:ph type="title"/>
            <p:custDataLst>
              <p:tags r:id="rId1"/>
            </p:custDataLst>
          </p:nvPr>
        </p:nvSpPr>
        <p:spPr>
          <a:xfrm>
            <a:off x="838200" y="256268"/>
            <a:ext cx="10515600" cy="1057275"/>
          </a:xfrm>
        </p:spPr>
        <p:txBody>
          <a:bodyPr>
            <a:normAutofit/>
          </a:bodyPr>
          <a:lstStyle/>
          <a:p>
            <a:r>
              <a:rPr lang="fr-FR" sz="4000" dirty="0"/>
              <a:t>Rendement sur capital investi (RCI %) </a:t>
            </a:r>
            <a:endParaRPr lang="fr-CA" sz="4000" dirty="0"/>
          </a:p>
        </p:txBody>
      </p:sp>
      <p:sp>
        <p:nvSpPr>
          <p:cNvPr id="5" name="Espace réservé du numéro de diapositive 4">
            <a:extLst>
              <a:ext uri="{FF2B5EF4-FFF2-40B4-BE49-F238E27FC236}">
                <a16:creationId xmlns:a16="http://schemas.microsoft.com/office/drawing/2014/main" id="{DB1EC59D-B018-4AC0-9586-1F9CC69C8666}"/>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15</a:t>
            </a:fld>
            <a:endParaRPr lang="fr-CA">
              <a:solidFill>
                <a:prstClr val="black">
                  <a:tint val="75000"/>
                </a:prstClr>
              </a:solidFill>
            </a:endParaRPr>
          </a:p>
        </p:txBody>
      </p:sp>
      <p:sp>
        <p:nvSpPr>
          <p:cNvPr id="6" name="Content Placeholder 4">
            <a:extLst>
              <a:ext uri="{FF2B5EF4-FFF2-40B4-BE49-F238E27FC236}">
                <a16:creationId xmlns:a16="http://schemas.microsoft.com/office/drawing/2014/main" id="{7A44553F-4C0A-47D5-9029-1A4E9BC14ABA}"/>
              </a:ext>
            </a:extLst>
          </p:cNvPr>
          <p:cNvSpPr txBox="1">
            <a:spLocks/>
          </p:cNvSpPr>
          <p:nvPr>
            <p:custDataLst>
              <p:tags r:id="rId3"/>
            </p:custDataLst>
          </p:nvPr>
        </p:nvSpPr>
        <p:spPr>
          <a:xfrm>
            <a:off x="838200" y="1445060"/>
            <a:ext cx="10767646" cy="8899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624"/>
              </a:spcBef>
              <a:buClr>
                <a:schemeClr val="accent2"/>
              </a:buClr>
            </a:pPr>
            <a:r>
              <a:rPr lang="fr-CA"/>
              <a:t>Supposez les données suivantes pour la division beauté de la </a:t>
            </a:r>
            <a:r>
              <a:rPr lang="fr-CA" err="1"/>
              <a:t>cie</a:t>
            </a:r>
            <a:r>
              <a:rPr lang="fr-CA"/>
              <a:t> B&amp;G</a:t>
            </a:r>
            <a:endParaRPr lang="en-US"/>
          </a:p>
        </p:txBody>
      </p:sp>
      <p:graphicFrame>
        <p:nvGraphicFramePr>
          <p:cNvPr id="7" name="Table Placeholder 4">
            <a:extLst>
              <a:ext uri="{FF2B5EF4-FFF2-40B4-BE49-F238E27FC236}">
                <a16:creationId xmlns:a16="http://schemas.microsoft.com/office/drawing/2014/main" id="{07B3E2AB-5B85-4293-936A-B32E0AA8A034}"/>
              </a:ext>
            </a:extLst>
          </p:cNvPr>
          <p:cNvGraphicFramePr>
            <a:graphicFrameLocks/>
          </p:cNvGraphicFramePr>
          <p:nvPr>
            <p:custDataLst>
              <p:tags r:id="rId4"/>
            </p:custDataLst>
            <p:extLst>
              <p:ext uri="{D42A27DB-BD31-4B8C-83A1-F6EECF244321}">
                <p14:modId xmlns:p14="http://schemas.microsoft.com/office/powerpoint/2010/main" val="1801619799"/>
              </p:ext>
            </p:extLst>
          </p:nvPr>
        </p:nvGraphicFramePr>
        <p:xfrm>
          <a:off x="1422400" y="1951876"/>
          <a:ext cx="7099300" cy="3053906"/>
        </p:xfrm>
        <a:graphic>
          <a:graphicData uri="http://schemas.openxmlformats.org/drawingml/2006/table">
            <a:tbl>
              <a:tblPr firstRow="1" firstCol="1" bandRow="1">
                <a:tableStyleId>{69012ECD-51FC-41F1-AA8D-1B2483CD663E}</a:tableStyleId>
              </a:tblPr>
              <a:tblGrid>
                <a:gridCol w="4105762">
                  <a:extLst>
                    <a:ext uri="{9D8B030D-6E8A-4147-A177-3AD203B41FA5}">
                      <a16:colId xmlns:a16="http://schemas.microsoft.com/office/drawing/2014/main" val="2912197304"/>
                    </a:ext>
                  </a:extLst>
                </a:gridCol>
                <a:gridCol w="2993538">
                  <a:extLst>
                    <a:ext uri="{9D8B030D-6E8A-4147-A177-3AD203B41FA5}">
                      <a16:colId xmlns:a16="http://schemas.microsoft.com/office/drawing/2014/main" val="512459874"/>
                    </a:ext>
                  </a:extLst>
                </a:gridCol>
              </a:tblGrid>
              <a:tr h="2840018">
                <a:tc>
                  <a:txBody>
                    <a:bodyPr/>
                    <a:lstStyle/>
                    <a:p>
                      <a:pPr marL="0" marR="0" indent="0">
                        <a:lnSpc>
                          <a:spcPct val="150000"/>
                        </a:lnSpc>
                        <a:spcBef>
                          <a:spcPts val="0"/>
                        </a:spcBef>
                        <a:spcAft>
                          <a:spcPts val="0"/>
                        </a:spcAft>
                      </a:pPr>
                      <a:r>
                        <a:rPr lang="en-US" sz="1800" b="0" spc="0" dirty="0">
                          <a:solidFill>
                            <a:schemeClr val="tx1"/>
                          </a:solidFill>
                          <a:effectLst/>
                          <a:latin typeface="+mn-lt"/>
                        </a:rPr>
                        <a:t>Ventes</a:t>
                      </a:r>
                      <a:endParaRPr lang="en-US" sz="1800" b="0" dirty="0">
                        <a:solidFill>
                          <a:schemeClr val="tx1"/>
                        </a:solidFill>
                        <a:effectLst/>
                        <a:latin typeface="+mn-lt"/>
                      </a:endParaRPr>
                    </a:p>
                    <a:p>
                      <a:pPr marL="0" marR="0" indent="0">
                        <a:lnSpc>
                          <a:spcPct val="150000"/>
                        </a:lnSpc>
                        <a:spcBef>
                          <a:spcPts val="0"/>
                        </a:spcBef>
                        <a:spcAft>
                          <a:spcPts val="0"/>
                        </a:spcAft>
                      </a:pPr>
                      <a:r>
                        <a:rPr lang="en-US" sz="1800" b="0" spc="0" dirty="0" err="1">
                          <a:solidFill>
                            <a:schemeClr val="tx1"/>
                          </a:solidFill>
                          <a:effectLst/>
                          <a:latin typeface="+mn-lt"/>
                        </a:rPr>
                        <a:t>Coûts</a:t>
                      </a:r>
                      <a:r>
                        <a:rPr lang="en-US" sz="1800" b="0" spc="0" dirty="0">
                          <a:solidFill>
                            <a:schemeClr val="tx1"/>
                          </a:solidFill>
                          <a:effectLst/>
                          <a:latin typeface="+mn-lt"/>
                        </a:rPr>
                        <a:t> variables</a:t>
                      </a:r>
                    </a:p>
                    <a:p>
                      <a:pPr marL="0" marR="0" indent="0">
                        <a:lnSpc>
                          <a:spcPct val="150000"/>
                        </a:lnSpc>
                        <a:spcBef>
                          <a:spcPts val="0"/>
                        </a:spcBef>
                        <a:spcAft>
                          <a:spcPts val="0"/>
                        </a:spcAft>
                      </a:pPr>
                      <a:r>
                        <a:rPr lang="en-US" sz="1800" b="0" spc="0" dirty="0">
                          <a:solidFill>
                            <a:schemeClr val="tx1"/>
                          </a:solidFill>
                          <a:effectLst/>
                          <a:latin typeface="+mn-lt"/>
                        </a:rPr>
                        <a:t>Marge sur </a:t>
                      </a:r>
                      <a:r>
                        <a:rPr lang="en-US" sz="1800" b="0" spc="0" dirty="0" err="1">
                          <a:solidFill>
                            <a:schemeClr val="tx1"/>
                          </a:solidFill>
                          <a:effectLst/>
                          <a:latin typeface="+mn-lt"/>
                        </a:rPr>
                        <a:t>coûts</a:t>
                      </a:r>
                      <a:r>
                        <a:rPr lang="en-US" sz="1800" b="0" spc="0" dirty="0">
                          <a:solidFill>
                            <a:schemeClr val="tx1"/>
                          </a:solidFill>
                          <a:effectLst/>
                          <a:latin typeface="+mn-lt"/>
                        </a:rPr>
                        <a:t> variables (45%)</a:t>
                      </a:r>
                    </a:p>
                    <a:p>
                      <a:pPr marL="0" marR="0" indent="0">
                        <a:lnSpc>
                          <a:spcPct val="150000"/>
                        </a:lnSpc>
                        <a:spcBef>
                          <a:spcPts val="0"/>
                        </a:spcBef>
                        <a:spcAft>
                          <a:spcPts val="0"/>
                        </a:spcAft>
                      </a:pPr>
                      <a:r>
                        <a:rPr lang="en-US" sz="1800" b="0" spc="0" dirty="0" err="1">
                          <a:solidFill>
                            <a:schemeClr val="tx1"/>
                          </a:solidFill>
                          <a:effectLst/>
                          <a:latin typeface="+mn-lt"/>
                        </a:rPr>
                        <a:t>Coûts</a:t>
                      </a:r>
                      <a:r>
                        <a:rPr lang="en-US" sz="1800" b="0" spc="0" dirty="0">
                          <a:solidFill>
                            <a:schemeClr val="tx1"/>
                          </a:solidFill>
                          <a:effectLst/>
                          <a:latin typeface="+mn-lt"/>
                        </a:rPr>
                        <a:t> fixes </a:t>
                      </a:r>
                      <a:r>
                        <a:rPr lang="en-US" sz="1800" b="0" spc="0" dirty="0" err="1">
                          <a:solidFill>
                            <a:schemeClr val="tx1"/>
                          </a:solidFill>
                          <a:effectLst/>
                          <a:latin typeface="+mn-lt"/>
                        </a:rPr>
                        <a:t>spécifiques</a:t>
                      </a:r>
                      <a:r>
                        <a:rPr lang="en-US" sz="1800" b="0" spc="0" dirty="0">
                          <a:solidFill>
                            <a:schemeClr val="tx1"/>
                          </a:solidFill>
                          <a:effectLst/>
                          <a:latin typeface="+mn-lt"/>
                        </a:rPr>
                        <a:t> à la division</a:t>
                      </a:r>
                    </a:p>
                    <a:p>
                      <a:pPr marL="0" marR="0" indent="0">
                        <a:lnSpc>
                          <a:spcPct val="150000"/>
                        </a:lnSpc>
                        <a:spcBef>
                          <a:spcPts val="0"/>
                        </a:spcBef>
                        <a:spcAft>
                          <a:spcPts val="0"/>
                        </a:spcAft>
                      </a:pPr>
                      <a:r>
                        <a:rPr lang="en-US" sz="1800" b="0" spc="0" dirty="0" err="1">
                          <a:solidFill>
                            <a:schemeClr val="tx1"/>
                          </a:solidFill>
                          <a:effectLst/>
                          <a:latin typeface="+mn-lt"/>
                        </a:rPr>
                        <a:t>Résultat</a:t>
                      </a:r>
                      <a:r>
                        <a:rPr lang="en-US" sz="1800" b="0" spc="0" dirty="0">
                          <a:solidFill>
                            <a:schemeClr val="tx1"/>
                          </a:solidFill>
                          <a:effectLst/>
                          <a:latin typeface="+mn-lt"/>
                        </a:rPr>
                        <a:t> </a:t>
                      </a:r>
                      <a:r>
                        <a:rPr lang="en-US" sz="1800" b="0" spc="0" dirty="0" err="1">
                          <a:solidFill>
                            <a:schemeClr val="tx1"/>
                          </a:solidFill>
                          <a:effectLst/>
                          <a:latin typeface="+mn-lt"/>
                        </a:rPr>
                        <a:t>d’exploitation</a:t>
                      </a:r>
                      <a:r>
                        <a:rPr lang="en-US" sz="1800" b="0" spc="0" dirty="0">
                          <a:solidFill>
                            <a:schemeClr val="tx1"/>
                          </a:solidFill>
                          <a:effectLst/>
                          <a:latin typeface="+mn-lt"/>
                        </a:rPr>
                        <a:t> (a)</a:t>
                      </a:r>
                      <a:endParaRPr lang="en-US" sz="1800" b="0" dirty="0">
                        <a:solidFill>
                          <a:schemeClr val="tx1"/>
                        </a:solidFill>
                        <a:effectLst/>
                        <a:latin typeface="+mn-lt"/>
                      </a:endParaRPr>
                    </a:p>
                    <a:p>
                      <a:pPr marL="0" marR="0" indent="0">
                        <a:lnSpc>
                          <a:spcPct val="150000"/>
                        </a:lnSpc>
                        <a:spcBef>
                          <a:spcPts val="1000"/>
                        </a:spcBef>
                        <a:spcAft>
                          <a:spcPts val="0"/>
                        </a:spcAft>
                      </a:pPr>
                      <a:r>
                        <a:rPr lang="en-US" sz="1800" b="0" spc="0" dirty="0">
                          <a:solidFill>
                            <a:schemeClr val="tx1"/>
                          </a:solidFill>
                          <a:effectLst/>
                          <a:latin typeface="+mn-lt"/>
                        </a:rPr>
                        <a:t>Capital </a:t>
                      </a:r>
                      <a:r>
                        <a:rPr lang="en-US" sz="1800" b="0" spc="0" dirty="0" err="1">
                          <a:solidFill>
                            <a:schemeClr val="tx1"/>
                          </a:solidFill>
                          <a:effectLst/>
                          <a:latin typeface="+mn-lt"/>
                        </a:rPr>
                        <a:t>investi</a:t>
                      </a:r>
                      <a:r>
                        <a:rPr lang="en-US" sz="1800" b="0" spc="0" dirty="0">
                          <a:solidFill>
                            <a:schemeClr val="tx1"/>
                          </a:solidFill>
                          <a:effectLst/>
                          <a:latin typeface="+mn-lt"/>
                        </a:rPr>
                        <a:t> (b)</a:t>
                      </a:r>
                    </a:p>
                    <a:p>
                      <a:pPr marL="0" marR="0" indent="0">
                        <a:lnSpc>
                          <a:spcPct val="150000"/>
                        </a:lnSpc>
                        <a:spcBef>
                          <a:spcPts val="0"/>
                        </a:spcBef>
                        <a:spcAft>
                          <a:spcPts val="0"/>
                        </a:spcAft>
                      </a:pPr>
                      <a:r>
                        <a:rPr lang="en-US" sz="1800" b="0" spc="0" dirty="0" err="1">
                          <a:solidFill>
                            <a:schemeClr val="tx1"/>
                          </a:solidFill>
                          <a:effectLst/>
                          <a:latin typeface="+mn-lt"/>
                        </a:rPr>
                        <a:t>Rendement</a:t>
                      </a:r>
                      <a:r>
                        <a:rPr lang="en-US" sz="1800" b="0" spc="0" dirty="0">
                          <a:solidFill>
                            <a:schemeClr val="tx1"/>
                          </a:solidFill>
                          <a:effectLst/>
                          <a:latin typeface="+mn-lt"/>
                        </a:rPr>
                        <a:t> sur le capital </a:t>
                      </a:r>
                      <a:r>
                        <a:rPr lang="en-US" sz="1800" b="0" spc="0" dirty="0" err="1">
                          <a:solidFill>
                            <a:schemeClr val="tx1"/>
                          </a:solidFill>
                          <a:effectLst/>
                          <a:latin typeface="+mn-lt"/>
                        </a:rPr>
                        <a:t>investi</a:t>
                      </a:r>
                      <a:r>
                        <a:rPr lang="en-US" sz="1800" b="0" spc="0" dirty="0">
                          <a:solidFill>
                            <a:schemeClr val="tx1"/>
                          </a:solidFill>
                          <a:effectLst/>
                          <a:latin typeface="+mn-lt"/>
                        </a:rPr>
                        <a:t> [(a) </a:t>
                      </a:r>
                      <a:r>
                        <a:rPr lang="en-US" sz="1800" b="0" spc="0" dirty="0">
                          <a:solidFill>
                            <a:schemeClr val="tx1"/>
                          </a:solidFill>
                          <a:effectLst/>
                          <a:latin typeface="+mn-lt"/>
                          <a:sym typeface="Symbol" panose="05050102010706020507" pitchFamily="18" charset="2"/>
                        </a:rPr>
                        <a:t> </a:t>
                      </a:r>
                      <a:r>
                        <a:rPr lang="en-US" sz="1800" b="0" spc="0" dirty="0">
                          <a:solidFill>
                            <a:schemeClr val="tx1"/>
                          </a:solidFill>
                          <a:effectLst/>
                          <a:latin typeface="+mn-lt"/>
                        </a:rPr>
                        <a:t>(b)]</a:t>
                      </a:r>
                      <a:endParaRPr lang="en-US" sz="1800" b="0" dirty="0">
                        <a:solidFill>
                          <a:schemeClr val="tx1"/>
                        </a:solidFill>
                        <a:effectLst/>
                        <a:latin typeface="+mn-lt"/>
                        <a:ea typeface="Calibri" panose="020F0502020204030204" pitchFamily="34" charset="0"/>
                      </a:endParaRPr>
                    </a:p>
                  </a:txBody>
                  <a:tcPr>
                    <a:noFill/>
                  </a:tcPr>
                </a:tc>
                <a:tc>
                  <a:txBody>
                    <a:bodyPr/>
                    <a:lstStyle/>
                    <a:p>
                      <a:pPr marL="0" marR="0" indent="0">
                        <a:lnSpc>
                          <a:spcPct val="150000"/>
                        </a:lnSpc>
                        <a:spcBef>
                          <a:spcPts val="0"/>
                        </a:spcBef>
                        <a:spcAft>
                          <a:spcPts val="0"/>
                        </a:spcAft>
                        <a:tabLst>
                          <a:tab pos="1608138" algn="r"/>
                        </a:tabLst>
                      </a:pPr>
                      <a:r>
                        <a:rPr lang="en-US" sz="1800" b="0" spc="0">
                          <a:solidFill>
                            <a:schemeClr val="tx1"/>
                          </a:solidFill>
                          <a:effectLst/>
                          <a:latin typeface="+mn-lt"/>
                        </a:rPr>
                        <a:t>	2 000 000 $</a:t>
                      </a:r>
                      <a:endParaRPr lang="en-US" sz="1800" b="0">
                        <a:solidFill>
                          <a:schemeClr val="tx1"/>
                        </a:solidFill>
                        <a:effectLst/>
                        <a:latin typeface="+mn-lt"/>
                      </a:endParaRPr>
                    </a:p>
                    <a:p>
                      <a:pPr marL="0" marR="0" indent="0">
                        <a:lnSpc>
                          <a:spcPct val="150000"/>
                        </a:lnSpc>
                        <a:spcBef>
                          <a:spcPts val="0"/>
                        </a:spcBef>
                        <a:spcAft>
                          <a:spcPts val="0"/>
                        </a:spcAft>
                        <a:tabLst>
                          <a:tab pos="1608138" algn="r"/>
                        </a:tabLst>
                      </a:pPr>
                      <a:r>
                        <a:rPr lang="en-US" sz="1800" b="0" spc="0">
                          <a:solidFill>
                            <a:schemeClr val="tx1"/>
                          </a:solidFill>
                          <a:effectLst/>
                          <a:latin typeface="+mn-lt"/>
                        </a:rPr>
                        <a:t>	   </a:t>
                      </a:r>
                      <a:r>
                        <a:rPr lang="en-US" sz="1800" b="0" u="none" spc="0">
                          <a:solidFill>
                            <a:schemeClr val="tx1"/>
                          </a:solidFill>
                          <a:effectLst/>
                          <a:latin typeface="+mn-lt"/>
                        </a:rPr>
                        <a:t> </a:t>
                      </a:r>
                      <a:r>
                        <a:rPr lang="en-US" sz="1800" b="0" u="sng" spc="0">
                          <a:solidFill>
                            <a:schemeClr val="tx1"/>
                          </a:solidFill>
                          <a:effectLst/>
                          <a:latin typeface="+mn-lt"/>
                        </a:rPr>
                        <a:t> 1 100 000 $</a:t>
                      </a:r>
                      <a:endParaRPr lang="en-US" sz="1800" b="0" u="sng">
                        <a:solidFill>
                          <a:schemeClr val="tx1"/>
                        </a:solidFill>
                        <a:effectLst/>
                        <a:latin typeface="+mn-lt"/>
                      </a:endParaRPr>
                    </a:p>
                    <a:p>
                      <a:pPr marL="0" marR="0" indent="0">
                        <a:lnSpc>
                          <a:spcPct val="150000"/>
                        </a:lnSpc>
                        <a:spcBef>
                          <a:spcPts val="0"/>
                        </a:spcBef>
                        <a:spcAft>
                          <a:spcPts val="0"/>
                        </a:spcAft>
                        <a:tabLst>
                          <a:tab pos="1608138" algn="r"/>
                        </a:tabLst>
                      </a:pPr>
                      <a:r>
                        <a:rPr lang="en-US" sz="1800" b="0" spc="0">
                          <a:solidFill>
                            <a:schemeClr val="tx1"/>
                          </a:solidFill>
                          <a:effectLst/>
                          <a:latin typeface="+mn-lt"/>
                        </a:rPr>
                        <a:t>	900 000 $</a:t>
                      </a:r>
                    </a:p>
                    <a:p>
                      <a:pPr marL="0" marR="0" indent="0">
                        <a:lnSpc>
                          <a:spcPct val="150000"/>
                        </a:lnSpc>
                        <a:spcBef>
                          <a:spcPts val="0"/>
                        </a:spcBef>
                        <a:spcAft>
                          <a:spcPts val="0"/>
                        </a:spcAft>
                        <a:tabLst>
                          <a:tab pos="1608138" algn="r"/>
                        </a:tabLst>
                      </a:pPr>
                      <a:r>
                        <a:rPr lang="en-US" sz="1800" b="0" spc="0">
                          <a:solidFill>
                            <a:schemeClr val="tx1"/>
                          </a:solidFill>
                          <a:effectLst/>
                          <a:latin typeface="+mn-lt"/>
                        </a:rPr>
                        <a:t>	</a:t>
                      </a:r>
                      <a:r>
                        <a:rPr lang="en-US" sz="1800" b="0" u="sng" spc="0">
                          <a:solidFill>
                            <a:schemeClr val="tx1"/>
                          </a:solidFill>
                          <a:effectLst/>
                          <a:latin typeface="+mn-lt"/>
                        </a:rPr>
                        <a:t>   300 000 $</a:t>
                      </a:r>
                    </a:p>
                    <a:p>
                      <a:pPr marL="0" marR="0" indent="0">
                        <a:lnSpc>
                          <a:spcPct val="150000"/>
                        </a:lnSpc>
                        <a:spcBef>
                          <a:spcPts val="0"/>
                        </a:spcBef>
                        <a:spcAft>
                          <a:spcPts val="0"/>
                        </a:spcAft>
                        <a:tabLst>
                          <a:tab pos="1608138" algn="r"/>
                        </a:tabLst>
                      </a:pPr>
                      <a:r>
                        <a:rPr lang="en-US" sz="1800" b="0" u="none" strike="noStrike" spc="0">
                          <a:solidFill>
                            <a:schemeClr val="tx1"/>
                          </a:solidFill>
                          <a:effectLst/>
                          <a:latin typeface="+mn-lt"/>
                        </a:rPr>
                        <a:t>	</a:t>
                      </a:r>
                      <a:r>
                        <a:rPr lang="en-US" sz="1800" b="0" u="dbl" strike="noStrike" spc="0" baseline="0">
                          <a:solidFill>
                            <a:schemeClr val="tx1"/>
                          </a:solidFill>
                          <a:effectLst/>
                          <a:latin typeface="+mn-lt"/>
                        </a:rPr>
                        <a:t>600 000 $</a:t>
                      </a:r>
                    </a:p>
                    <a:p>
                      <a:pPr marL="0" marR="0" indent="0">
                        <a:lnSpc>
                          <a:spcPct val="150000"/>
                        </a:lnSpc>
                        <a:spcBef>
                          <a:spcPts val="0"/>
                        </a:spcBef>
                        <a:spcAft>
                          <a:spcPts val="0"/>
                        </a:spcAft>
                        <a:tabLst>
                          <a:tab pos="1608138" algn="r"/>
                        </a:tabLst>
                      </a:pPr>
                      <a:r>
                        <a:rPr lang="en-US" sz="1800" b="0" spc="0">
                          <a:solidFill>
                            <a:schemeClr val="tx1"/>
                          </a:solidFill>
                          <a:effectLst/>
                          <a:latin typeface="+mn-lt"/>
                        </a:rPr>
                        <a:t>	5 000 000 $</a:t>
                      </a:r>
                      <a:endParaRPr lang="en-US" sz="1800" b="0">
                        <a:solidFill>
                          <a:schemeClr val="tx1"/>
                        </a:solidFill>
                        <a:effectLst/>
                        <a:latin typeface="+mn-lt"/>
                      </a:endParaRPr>
                    </a:p>
                    <a:p>
                      <a:pPr marL="0" marR="0" indent="0">
                        <a:lnSpc>
                          <a:spcPct val="150000"/>
                        </a:lnSpc>
                        <a:spcBef>
                          <a:spcPts val="0"/>
                        </a:spcBef>
                        <a:spcAft>
                          <a:spcPts val="0"/>
                        </a:spcAft>
                        <a:tabLst>
                          <a:tab pos="1608138" algn="r"/>
                        </a:tabLst>
                      </a:pPr>
                      <a:r>
                        <a:rPr lang="en-US" sz="1800" b="0" spc="0">
                          <a:solidFill>
                            <a:schemeClr val="tx1"/>
                          </a:solidFill>
                          <a:effectLst/>
                          <a:latin typeface="+mn-lt"/>
                        </a:rPr>
                        <a:t>	</a:t>
                      </a:r>
                      <a:r>
                        <a:rPr lang="en-US" sz="1800" b="0" spc="0">
                          <a:solidFill>
                            <a:schemeClr val="accent2"/>
                          </a:solidFill>
                          <a:effectLst/>
                          <a:latin typeface="+mn-lt"/>
                        </a:rPr>
                        <a:t>12%</a:t>
                      </a:r>
                      <a:endParaRPr lang="en-US" sz="1800" b="0">
                        <a:solidFill>
                          <a:schemeClr val="accent2"/>
                        </a:solidFill>
                        <a:effectLst/>
                        <a:latin typeface="+mn-lt"/>
                        <a:ea typeface="Calibri" panose="020F0502020204030204" pitchFamily="34" charset="0"/>
                      </a:endParaRPr>
                    </a:p>
                  </a:txBody>
                  <a:tcPr>
                    <a:noFill/>
                  </a:tcPr>
                </a:tc>
                <a:extLst>
                  <a:ext uri="{0D108BD9-81ED-4DB2-BD59-A6C34878D82A}">
                    <a16:rowId xmlns:a16="http://schemas.microsoft.com/office/drawing/2014/main" val="824196505"/>
                  </a:ext>
                </a:extLst>
              </a:tr>
            </a:tbl>
          </a:graphicData>
        </a:graphic>
      </p:graphicFrame>
      <p:sp>
        <p:nvSpPr>
          <p:cNvPr id="8" name="Espace réservé du pied de page 2">
            <a:extLst>
              <a:ext uri="{FF2B5EF4-FFF2-40B4-BE49-F238E27FC236}">
                <a16:creationId xmlns:a16="http://schemas.microsoft.com/office/drawing/2014/main" id="{3E9BBDA0-B7EE-C59C-E111-5A374D7798D4}"/>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920814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AD8D87-D8D3-4B4C-B56E-624723446500}"/>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1822ADE5-72D1-9B40-A5E3-121C59C13965}"/>
              </a:ext>
            </a:extLst>
          </p:cNvPr>
          <p:cNvGraphicFramePr>
            <a:graphicFrameLocks noGrp="1"/>
          </p:cNvGraphicFramePr>
          <p:nvPr>
            <p:ph idx="1"/>
            <p:custDataLst>
              <p:tags r:id="rId2"/>
            </p:custDataLst>
            <p:extLst>
              <p:ext uri="{D42A27DB-BD31-4B8C-83A1-F6EECF244321}">
                <p14:modId xmlns:p14="http://schemas.microsoft.com/office/powerpoint/2010/main" val="534490136"/>
              </p:ext>
            </p:extLst>
          </p:nvPr>
        </p:nvGraphicFramePr>
        <p:xfrm>
          <a:off x="498765" y="1385454"/>
          <a:ext cx="11416144" cy="497089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Espace réservé du numéro de diapositive 2">
            <a:extLst>
              <a:ext uri="{FF2B5EF4-FFF2-40B4-BE49-F238E27FC236}">
                <a16:creationId xmlns:a16="http://schemas.microsoft.com/office/drawing/2014/main" id="{9FE2AEAF-1637-4846-AFD2-E38A315D16F8}"/>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16</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31E4F649-C937-5CBA-401A-39BB4E26F293}"/>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144155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EBD63-11FB-2F9C-607B-9CECC9EF1B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9F60CD-EEFA-47F1-5B48-8A005C2660AA}"/>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Exemple 1 - 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BDD479C6-7354-7F95-901F-D592DF32F869}"/>
              </a:ext>
            </a:extLst>
          </p:cNvPr>
          <p:cNvGraphicFramePr>
            <a:graphicFrameLocks noGrp="1"/>
          </p:cNvGraphicFramePr>
          <p:nvPr>
            <p:ph idx="1"/>
            <p:custDataLst>
              <p:tags r:id="rId2"/>
            </p:custDataLst>
          </p:nvPr>
        </p:nvGraphicFramePr>
        <p:xfrm>
          <a:off x="498765" y="1385454"/>
          <a:ext cx="7267848" cy="49708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Espace réservé du numéro de diapositive 2">
            <a:extLst>
              <a:ext uri="{FF2B5EF4-FFF2-40B4-BE49-F238E27FC236}">
                <a16:creationId xmlns:a16="http://schemas.microsoft.com/office/drawing/2014/main" id="{AC33899E-95FC-6491-6084-85853FA429E5}"/>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17</a:t>
            </a:fld>
            <a:endParaRPr lang="fr-CA">
              <a:solidFill>
                <a:prstClr val="black">
                  <a:tint val="75000"/>
                </a:prstClr>
              </a:solidFill>
            </a:endParaRPr>
          </a:p>
        </p:txBody>
      </p:sp>
      <p:sp>
        <p:nvSpPr>
          <p:cNvPr id="6" name="ZoneTexte 5">
            <a:extLst>
              <a:ext uri="{FF2B5EF4-FFF2-40B4-BE49-F238E27FC236}">
                <a16:creationId xmlns:a16="http://schemas.microsoft.com/office/drawing/2014/main" id="{BBC37096-29BA-37FD-DFD6-2EAA214C9A1C}"/>
              </a:ext>
            </a:extLst>
          </p:cNvPr>
          <p:cNvSpPr txBox="1"/>
          <p:nvPr>
            <p:custDataLst>
              <p:tags r:id="rId4"/>
            </p:custDataLst>
          </p:nvPr>
        </p:nvSpPr>
        <p:spPr>
          <a:xfrm>
            <a:off x="8183301" y="1875099"/>
            <a:ext cx="3509934" cy="3293209"/>
          </a:xfrm>
          <a:prstGeom prst="rect">
            <a:avLst/>
          </a:prstGeom>
          <a:noFill/>
        </p:spPr>
        <p:txBody>
          <a:bodyPr wrap="square" lIns="91440" tIns="45720" rIns="91440" bIns="45720" rtlCol="0" anchor="t">
            <a:spAutoFit/>
          </a:bodyPr>
          <a:lstStyle/>
          <a:p>
            <a:r>
              <a:rPr lang="fr-CA" sz="2200" b="1" dirty="0"/>
              <a:t>Travail à faire:</a:t>
            </a:r>
          </a:p>
          <a:p>
            <a:r>
              <a:rPr lang="fr-CA" sz="2200" b="1" dirty="0"/>
              <a:t>Calculer le RCI actuel</a:t>
            </a:r>
          </a:p>
          <a:p>
            <a:r>
              <a:rPr lang="fr-CA" sz="2200" b="1" dirty="0"/>
              <a:t>Calculer le nouveau RCI avec le projet d’investissement.</a:t>
            </a:r>
          </a:p>
          <a:p>
            <a:endParaRPr lang="fr-CA" sz="2000" dirty="0"/>
          </a:p>
          <a:p>
            <a:r>
              <a:rPr lang="fr-CA" sz="2000" dirty="0"/>
              <a:t>Projet d’investissement :</a:t>
            </a:r>
          </a:p>
          <a:p>
            <a:r>
              <a:rPr lang="fr-CA" sz="2000" dirty="0"/>
              <a:t>100 000 $ rendement de 10 %</a:t>
            </a:r>
          </a:p>
          <a:p>
            <a:endParaRPr lang="fr-CA" sz="2000" dirty="0"/>
          </a:p>
          <a:p>
            <a:endParaRPr lang="fr-CA" sz="2000" dirty="0">
              <a:ea typeface="Calibri" panose="020F0502020204030204"/>
              <a:cs typeface="Calibri" panose="020F0502020204030204"/>
            </a:endParaRPr>
          </a:p>
          <a:p>
            <a:endParaRPr lang="fr-CA" sz="2000" dirty="0"/>
          </a:p>
        </p:txBody>
      </p:sp>
      <p:sp>
        <p:nvSpPr>
          <p:cNvPr id="7" name="Espace réservé du pied de page 2">
            <a:extLst>
              <a:ext uri="{FF2B5EF4-FFF2-40B4-BE49-F238E27FC236}">
                <a16:creationId xmlns:a16="http://schemas.microsoft.com/office/drawing/2014/main" id="{0249682E-1894-FCE0-F330-16DD348A61B8}"/>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775275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BF5F-6589-A8CF-A774-6D9AE736C47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136ED4-5185-1211-9789-0616591E534F}"/>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Exemple 2 - 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38B22B7B-4820-2134-B16C-60625C8ECED5}"/>
              </a:ext>
            </a:extLst>
          </p:cNvPr>
          <p:cNvGraphicFramePr>
            <a:graphicFrameLocks noGrp="1"/>
          </p:cNvGraphicFramePr>
          <p:nvPr>
            <p:ph idx="1"/>
            <p:custDataLst>
              <p:tags r:id="rId2"/>
            </p:custDataLst>
          </p:nvPr>
        </p:nvGraphicFramePr>
        <p:xfrm>
          <a:off x="498765" y="1385454"/>
          <a:ext cx="7267848" cy="49708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Espace réservé du numéro de diapositive 2">
            <a:extLst>
              <a:ext uri="{FF2B5EF4-FFF2-40B4-BE49-F238E27FC236}">
                <a16:creationId xmlns:a16="http://schemas.microsoft.com/office/drawing/2014/main" id="{2E781B0D-FAC8-71D5-A710-7718B7D7FC89}"/>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18</a:t>
            </a:fld>
            <a:endParaRPr lang="fr-CA">
              <a:solidFill>
                <a:prstClr val="black">
                  <a:tint val="75000"/>
                </a:prstClr>
              </a:solidFill>
            </a:endParaRPr>
          </a:p>
        </p:txBody>
      </p:sp>
      <p:sp>
        <p:nvSpPr>
          <p:cNvPr id="6" name="ZoneTexte 5">
            <a:extLst>
              <a:ext uri="{FF2B5EF4-FFF2-40B4-BE49-F238E27FC236}">
                <a16:creationId xmlns:a16="http://schemas.microsoft.com/office/drawing/2014/main" id="{992BE644-F8C6-394E-35DC-84FC143D5182}"/>
              </a:ext>
            </a:extLst>
          </p:cNvPr>
          <p:cNvSpPr txBox="1"/>
          <p:nvPr>
            <p:custDataLst>
              <p:tags r:id="rId4"/>
            </p:custDataLst>
          </p:nvPr>
        </p:nvSpPr>
        <p:spPr>
          <a:xfrm>
            <a:off x="8183301" y="1875099"/>
            <a:ext cx="3509934" cy="4062651"/>
          </a:xfrm>
          <a:prstGeom prst="rect">
            <a:avLst/>
          </a:prstGeom>
          <a:noFill/>
        </p:spPr>
        <p:txBody>
          <a:bodyPr wrap="square" lIns="91440" tIns="45720" rIns="91440" bIns="45720" rtlCol="0" anchor="t">
            <a:spAutoFit/>
          </a:bodyPr>
          <a:lstStyle/>
          <a:p>
            <a:r>
              <a:rPr lang="fr-CA" sz="2200" b="1" dirty="0"/>
              <a:t>Travail à faire:</a:t>
            </a:r>
          </a:p>
          <a:p>
            <a:r>
              <a:rPr lang="fr-CA" sz="2200" b="1" dirty="0"/>
              <a:t>Calculer le RCI actuel</a:t>
            </a:r>
          </a:p>
          <a:p>
            <a:r>
              <a:rPr lang="fr-CA" sz="2200" b="1" dirty="0"/>
              <a:t>Calculer le nouveau RCI </a:t>
            </a:r>
            <a:r>
              <a:rPr lang="fr-CA" sz="2200" dirty="0"/>
              <a:t>si le gestionnaire décide de reporter une campagne publicitaire de 15 000 $</a:t>
            </a:r>
          </a:p>
          <a:p>
            <a:endParaRPr lang="fr-CA" sz="2200" b="1" dirty="0"/>
          </a:p>
          <a:p>
            <a:endParaRPr lang="fr-CA" sz="2000" dirty="0"/>
          </a:p>
          <a:p>
            <a:endParaRPr lang="fr-CA" sz="2000" dirty="0"/>
          </a:p>
          <a:p>
            <a:endParaRPr lang="fr-CA" sz="2000" dirty="0"/>
          </a:p>
          <a:p>
            <a:endParaRPr lang="fr-CA" sz="2000" dirty="0">
              <a:ea typeface="Calibri" panose="020F0502020204030204"/>
              <a:cs typeface="Calibri" panose="020F0502020204030204"/>
            </a:endParaRPr>
          </a:p>
          <a:p>
            <a:endParaRPr lang="fr-CA" sz="2000" dirty="0"/>
          </a:p>
        </p:txBody>
      </p:sp>
      <p:sp>
        <p:nvSpPr>
          <p:cNvPr id="7" name="Espace réservé du pied de page 2">
            <a:extLst>
              <a:ext uri="{FF2B5EF4-FFF2-40B4-BE49-F238E27FC236}">
                <a16:creationId xmlns:a16="http://schemas.microsoft.com/office/drawing/2014/main" id="{812B108B-2CD7-2CF3-7402-CC7EED74D2D4}"/>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4294390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AD8D87-D8D3-4B4C-B56E-624723446500}"/>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Exemple 3 - 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1822ADE5-72D1-9B40-A5E3-121C59C13965}"/>
              </a:ext>
            </a:extLst>
          </p:cNvPr>
          <p:cNvGraphicFramePr>
            <a:graphicFrameLocks noGrp="1"/>
          </p:cNvGraphicFramePr>
          <p:nvPr>
            <p:ph idx="1"/>
            <p:custDataLst>
              <p:tags r:id="rId2"/>
            </p:custDataLst>
          </p:nvPr>
        </p:nvGraphicFramePr>
        <p:xfrm>
          <a:off x="498765" y="1385454"/>
          <a:ext cx="7267848" cy="49708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Espace réservé du numéro de diapositive 2">
            <a:extLst>
              <a:ext uri="{FF2B5EF4-FFF2-40B4-BE49-F238E27FC236}">
                <a16:creationId xmlns:a16="http://schemas.microsoft.com/office/drawing/2014/main" id="{9FE2AEAF-1637-4846-AFD2-E38A315D16F8}"/>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19</a:t>
            </a:fld>
            <a:endParaRPr lang="fr-CA">
              <a:solidFill>
                <a:prstClr val="black">
                  <a:tint val="75000"/>
                </a:prstClr>
              </a:solidFill>
            </a:endParaRPr>
          </a:p>
        </p:txBody>
      </p:sp>
      <p:sp>
        <p:nvSpPr>
          <p:cNvPr id="6" name="ZoneTexte 5">
            <a:extLst>
              <a:ext uri="{FF2B5EF4-FFF2-40B4-BE49-F238E27FC236}">
                <a16:creationId xmlns:a16="http://schemas.microsoft.com/office/drawing/2014/main" id="{105EE45D-E349-E2B7-6E32-25DD1662E23F}"/>
              </a:ext>
            </a:extLst>
          </p:cNvPr>
          <p:cNvSpPr txBox="1"/>
          <p:nvPr>
            <p:custDataLst>
              <p:tags r:id="rId4"/>
            </p:custDataLst>
          </p:nvPr>
        </p:nvSpPr>
        <p:spPr>
          <a:xfrm>
            <a:off x="8183301" y="1875099"/>
            <a:ext cx="3509934" cy="3600986"/>
          </a:xfrm>
          <a:prstGeom prst="rect">
            <a:avLst/>
          </a:prstGeom>
          <a:noFill/>
        </p:spPr>
        <p:txBody>
          <a:bodyPr wrap="square" lIns="91440" tIns="45720" rIns="91440" bIns="45720" rtlCol="0" anchor="t">
            <a:spAutoFit/>
          </a:bodyPr>
          <a:lstStyle/>
          <a:p>
            <a:r>
              <a:rPr lang="fr-CA" sz="2200" b="1" dirty="0"/>
              <a:t>Travail à faire:</a:t>
            </a:r>
          </a:p>
          <a:p>
            <a:r>
              <a:rPr lang="fr-CA" sz="2000" b="1" dirty="0"/>
              <a:t>Calculer le RCI actuel</a:t>
            </a:r>
          </a:p>
          <a:p>
            <a:r>
              <a:rPr lang="fr-CA" sz="2000" b="1" dirty="0"/>
              <a:t>Calculer le nouveau RCI </a:t>
            </a:r>
            <a:r>
              <a:rPr lang="fr-CA" sz="2000" dirty="0"/>
              <a:t>si le gestionnaire décide de </a:t>
            </a:r>
            <a:r>
              <a:rPr lang="fr-CA" sz="2200" dirty="0"/>
              <a:t>r</a:t>
            </a:r>
            <a:r>
              <a:rPr lang="fr-CA" sz="2000" dirty="0"/>
              <a:t>eporter un investissement dans un logiciel informatique.</a:t>
            </a:r>
          </a:p>
          <a:p>
            <a:pPr marL="285750" indent="-285750">
              <a:buFontTx/>
              <a:buChar char="-"/>
            </a:pPr>
            <a:r>
              <a:rPr lang="fr-CA" sz="2000" dirty="0"/>
              <a:t>Coût achat du logiciel :        25 000 $</a:t>
            </a:r>
          </a:p>
          <a:p>
            <a:pPr marL="285750" indent="-285750">
              <a:buFontTx/>
              <a:buChar char="-"/>
            </a:pPr>
            <a:r>
              <a:rPr lang="fr-CA" sz="2000" dirty="0"/>
              <a:t>Amortissement annuel :        5 000 $ </a:t>
            </a:r>
          </a:p>
          <a:p>
            <a:endParaRPr lang="fr-CA" sz="2000" dirty="0"/>
          </a:p>
        </p:txBody>
      </p:sp>
      <p:sp>
        <p:nvSpPr>
          <p:cNvPr id="7" name="Espace réservé du pied de page 2">
            <a:extLst>
              <a:ext uri="{FF2B5EF4-FFF2-40B4-BE49-F238E27FC236}">
                <a16:creationId xmlns:a16="http://schemas.microsoft.com/office/drawing/2014/main" id="{0ACE6724-374C-7BE8-9298-6402F4E79954}"/>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845674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p:custDataLst>
              <p:tags r:id="rId2"/>
            </p:custDataLst>
          </p:nvPr>
        </p:nvSpPr>
        <p:spPr>
          <a:xfrm>
            <a:off x="838200" y="365125"/>
            <a:ext cx="10515600" cy="685199"/>
          </a:xfrm>
        </p:spPr>
        <p:txBody>
          <a:bodyPr vert="horz" anchor="ctr">
            <a:noAutofit/>
          </a:bodyPr>
          <a:lstStyle/>
          <a:p>
            <a:r>
              <a:rPr lang="fr-FR" sz="4000"/>
              <a:t>RCI – Conclusion</a:t>
            </a:r>
          </a:p>
        </p:txBody>
      </p:sp>
      <p:sp>
        <p:nvSpPr>
          <p:cNvPr id="4" name="Espace réservé du contenu 3"/>
          <p:cNvSpPr>
            <a:spLocks noGrp="1"/>
          </p:cNvSpPr>
          <p:nvPr>
            <p:ph idx="1"/>
            <p:custDataLst>
              <p:tags r:id="rId3"/>
            </p:custDataLst>
          </p:nvPr>
        </p:nvSpPr>
        <p:spPr>
          <a:xfrm>
            <a:off x="838200" y="1463040"/>
            <a:ext cx="9372600" cy="4652009"/>
          </a:xfrm>
        </p:spPr>
        <p:txBody>
          <a:bodyPr>
            <a:normAutofit lnSpcReduction="10000"/>
          </a:bodyPr>
          <a:lstStyle/>
          <a:p>
            <a:pPr marL="0" indent="0">
              <a:buNone/>
            </a:pPr>
            <a:r>
              <a:rPr lang="fr-CA" sz="2400" b="1" u="sng" dirty="0"/>
              <a:t>Avantages</a:t>
            </a:r>
          </a:p>
          <a:p>
            <a:r>
              <a:rPr lang="fr-CA" sz="2400" dirty="0"/>
              <a:t>Données facilement accessibles</a:t>
            </a:r>
          </a:p>
          <a:p>
            <a:r>
              <a:rPr lang="fr-CA" sz="2400" dirty="0"/>
              <a:t>Mesure de rendement : </a:t>
            </a:r>
          </a:p>
          <a:p>
            <a:pPr lvl="1"/>
            <a:r>
              <a:rPr lang="fr-CA" dirty="0"/>
              <a:t>ne prend pas seulement en considération le résultat</a:t>
            </a:r>
          </a:p>
          <a:p>
            <a:pPr lvl="1"/>
            <a:r>
              <a:rPr lang="fr-CA" dirty="0"/>
              <a:t>il tient compte aussi des investissements</a:t>
            </a:r>
          </a:p>
          <a:p>
            <a:r>
              <a:rPr lang="fr-CA" sz="2400" dirty="0"/>
              <a:t>Permet la comparaison entre divers placements </a:t>
            </a:r>
          </a:p>
          <a:p>
            <a:endParaRPr lang="fr-CA" sz="2400" dirty="0"/>
          </a:p>
          <a:p>
            <a:pPr marL="0" indent="0">
              <a:buNone/>
            </a:pPr>
            <a:r>
              <a:rPr lang="fr-CA" sz="2400" b="1" u="sng" dirty="0"/>
              <a:t>Inconvénient important </a:t>
            </a:r>
          </a:p>
          <a:p>
            <a:r>
              <a:rPr lang="fr-CA" sz="2400" dirty="0"/>
              <a:t>ne tient pas compte du taux de rendement minimum requis sur les actifs d'exploitation (coût du capital).</a:t>
            </a:r>
          </a:p>
          <a:p>
            <a:pPr lvl="1"/>
            <a:r>
              <a:rPr lang="fr-CA" dirty="0"/>
              <a:t>Taux auquel les coûts sont couverts et les bénéfices réalisés.</a:t>
            </a:r>
          </a:p>
          <a:p>
            <a:endParaRPr lang="fr-CA" sz="3200" dirty="0"/>
          </a:p>
          <a:p>
            <a:endParaRPr lang="fr-CA" dirty="0"/>
          </a:p>
        </p:txBody>
      </p:sp>
      <p:sp>
        <p:nvSpPr>
          <p:cNvPr id="6" name="Espace réservé du numéro de diapositive 5"/>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20</a:t>
            </a:fld>
            <a:endParaRPr lang="fr-CA"/>
          </a:p>
        </p:txBody>
      </p:sp>
      <p:sp>
        <p:nvSpPr>
          <p:cNvPr id="3" name="Espace réservé du pied de page 2">
            <a:extLst>
              <a:ext uri="{FF2B5EF4-FFF2-40B4-BE49-F238E27FC236}">
                <a16:creationId xmlns:a16="http://schemas.microsoft.com/office/drawing/2014/main" id="{5AB7EFBD-2F90-6561-946A-292944A403B1}"/>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4010845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5E9F19C-43F5-2A53-47B6-69F842D03A0E}"/>
            </a:ext>
          </a:extLst>
        </p:cNvPr>
        <p:cNvGrpSpPr/>
        <p:nvPr/>
      </p:nvGrpSpPr>
      <p:grpSpPr>
        <a:xfrm>
          <a:off x="0" y="0"/>
          <a:ext cx="0" cy="0"/>
          <a:chOff x="0" y="0"/>
          <a:chExt cx="0" cy="0"/>
        </a:xfrm>
      </p:grpSpPr>
      <p:sp>
        <p:nvSpPr>
          <p:cNvPr id="26628" name="Rectangle 2">
            <a:extLst>
              <a:ext uri="{FF2B5EF4-FFF2-40B4-BE49-F238E27FC236}">
                <a16:creationId xmlns:a16="http://schemas.microsoft.com/office/drawing/2014/main" id="{AED4038B-63B7-AFBD-C925-B2E7E4AEEE1B}"/>
              </a:ext>
            </a:extLst>
          </p:cNvPr>
          <p:cNvSpPr>
            <a:spLocks noGrp="1" noChangeArrowheads="1"/>
          </p:cNvSpPr>
          <p:nvPr>
            <p:ph type="title"/>
            <p:custDataLst>
              <p:tags r:id="rId2"/>
            </p:custDataLst>
          </p:nvPr>
        </p:nvSpPr>
        <p:spPr>
          <a:xfrm>
            <a:off x="838200" y="365126"/>
            <a:ext cx="10515600" cy="760138"/>
          </a:xfrm>
        </p:spPr>
        <p:txBody>
          <a:bodyPr vert="horz" anchor="ctr">
            <a:noAutofit/>
          </a:bodyPr>
          <a:lstStyle/>
          <a:p>
            <a:pPr algn="ctr"/>
            <a:r>
              <a:rPr lang="fr-FR" sz="4000"/>
              <a:t>Résultat Net Résiduel (RNR)</a:t>
            </a:r>
          </a:p>
        </p:txBody>
      </p:sp>
      <p:sp>
        <p:nvSpPr>
          <p:cNvPr id="26633" name="Rectangle 12">
            <a:extLst>
              <a:ext uri="{FF2B5EF4-FFF2-40B4-BE49-F238E27FC236}">
                <a16:creationId xmlns:a16="http://schemas.microsoft.com/office/drawing/2014/main" id="{582D8131-6FC2-91FA-D1AE-46F7DCC68DFC}"/>
              </a:ext>
            </a:extLst>
          </p:cNvPr>
          <p:cNvSpPr>
            <a:spLocks noGrp="1" noChangeArrowheads="1"/>
          </p:cNvSpPr>
          <p:nvPr>
            <p:ph idx="1"/>
            <p:custDataLst>
              <p:tags r:id="rId3"/>
            </p:custDataLst>
          </p:nvPr>
        </p:nvSpPr>
        <p:spPr>
          <a:xfrm>
            <a:off x="579719" y="1779135"/>
            <a:ext cx="11366340" cy="4323350"/>
          </a:xfrm>
          <a:noFill/>
        </p:spPr>
        <p:txBody>
          <a:bodyPr>
            <a:normAutofit fontScale="85000" lnSpcReduction="10000"/>
          </a:bodyPr>
          <a:lstStyle/>
          <a:p>
            <a:pPr marL="0" indent="0">
              <a:lnSpc>
                <a:spcPct val="100000"/>
              </a:lnSpc>
              <a:buNone/>
            </a:pPr>
            <a:r>
              <a:rPr lang="fr-FR" b="1" dirty="0">
                <a:ln w="0"/>
              </a:rPr>
              <a:t>Le résultat net résiduel (RNR) est le résultat net, déduction faite d’une charge fictive </a:t>
            </a:r>
            <a:r>
              <a:rPr lang="fr-FR" dirty="0">
                <a:ln w="0"/>
              </a:rPr>
              <a:t>conçue pour tenir compte d’un taux de rendement minimal requis (coût du capital investi) pour l’ensemble des projets d’investissement. </a:t>
            </a:r>
            <a:endParaRPr lang="fr-FR" dirty="0">
              <a:ln w="0"/>
              <a:effectLst>
                <a:outerShdw blurRad="38100" dist="19050" dir="2700000" algn="tl" rotWithShape="0">
                  <a:schemeClr val="dk1">
                    <a:alpha val="40000"/>
                  </a:schemeClr>
                </a:outerShdw>
              </a:effectLst>
            </a:endParaRPr>
          </a:p>
          <a:p>
            <a:pPr marL="0" indent="0">
              <a:buNone/>
            </a:pPr>
            <a:endParaRPr lang="fr-FR" dirty="0"/>
          </a:p>
          <a:p>
            <a:pPr marL="0" indent="0">
              <a:buNone/>
            </a:pPr>
            <a:r>
              <a:rPr lang="fr-FR" b="1" dirty="0"/>
              <a:t>Formule</a:t>
            </a:r>
            <a:r>
              <a:rPr lang="fr-FR" dirty="0"/>
              <a:t> : </a:t>
            </a:r>
          </a:p>
          <a:p>
            <a:pPr marL="0" indent="0">
              <a:buNone/>
            </a:pPr>
            <a:r>
              <a:rPr lang="fr-FR" sz="2400" dirty="0"/>
              <a:t>	</a:t>
            </a:r>
          </a:p>
          <a:p>
            <a:pPr marL="0" indent="0">
              <a:buNone/>
            </a:pPr>
            <a:r>
              <a:rPr lang="fr-FR" sz="2400" dirty="0"/>
              <a:t>     Exemple : RNR 1 600 000 $ - 960 000 $ = 640 000 $</a:t>
            </a:r>
          </a:p>
          <a:p>
            <a:pPr marL="0" indent="0">
              <a:buNone/>
            </a:pPr>
            <a:r>
              <a:rPr lang="fr-FR" sz="2400" dirty="0"/>
              <a:t>     Résultat exigé: (Coût du capital investi %) 12% x 8 000 000 $(capital investi ) = 960 000 $</a:t>
            </a:r>
          </a:p>
          <a:p>
            <a:pPr marL="0" indent="0">
              <a:buNone/>
            </a:pPr>
            <a:endParaRPr lang="fr-FR" dirty="0"/>
          </a:p>
          <a:p>
            <a:pPr marL="0" indent="0">
              <a:lnSpc>
                <a:spcPct val="100000"/>
              </a:lnSpc>
              <a:buNone/>
            </a:pPr>
            <a:r>
              <a:rPr lang="fr-FR" dirty="0"/>
              <a:t>Interprétation : Si le RNR est positif, l’entreprise dégage un résultat supérieur au résultat exigé, c’est-à-dire que l</a:t>
            </a:r>
            <a:r>
              <a:rPr lang="fr-FR" sz="2800" dirty="0"/>
              <a:t>’entreprise génère des profits en sus des intérêts fictifs.</a:t>
            </a:r>
          </a:p>
          <a:p>
            <a:pPr marL="0" indent="0">
              <a:buNone/>
            </a:pPr>
            <a:endParaRPr lang="fr-FR" dirty="0"/>
          </a:p>
          <a:p>
            <a:pPr marL="0" indent="0">
              <a:buNone/>
            </a:pPr>
            <a:endParaRPr lang="fr-FR" dirty="0"/>
          </a:p>
        </p:txBody>
      </p:sp>
      <p:sp>
        <p:nvSpPr>
          <p:cNvPr id="10" name="Espace réservé du numéro de diapositive 9">
            <a:extLst>
              <a:ext uri="{FF2B5EF4-FFF2-40B4-BE49-F238E27FC236}">
                <a16:creationId xmlns:a16="http://schemas.microsoft.com/office/drawing/2014/main" id="{63C54B47-138D-4281-EBEA-0E73CFC6EE9A}"/>
              </a:ext>
            </a:extLst>
          </p:cNvPr>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21</a:t>
            </a:fld>
            <a:endParaRPr lang="fr-CA" dirty="0"/>
          </a:p>
        </p:txBody>
      </p:sp>
      <p:sp>
        <p:nvSpPr>
          <p:cNvPr id="26632" name="Rectangle 8">
            <a:extLst>
              <a:ext uri="{FF2B5EF4-FFF2-40B4-BE49-F238E27FC236}">
                <a16:creationId xmlns:a16="http://schemas.microsoft.com/office/drawing/2014/main" id="{EF1395EB-02B3-7C82-2DE5-D276B26567DE}"/>
              </a:ext>
            </a:extLst>
          </p:cNvPr>
          <p:cNvSpPr>
            <a:spLocks noChangeArrowheads="1"/>
          </p:cNvSpPr>
          <p:nvPr>
            <p:custDataLst>
              <p:tags r:id="rId5"/>
            </p:custDataLst>
          </p:nvPr>
        </p:nvSpPr>
        <p:spPr bwMode="auto">
          <a:xfrm>
            <a:off x="12442825" y="3070225"/>
            <a:ext cx="184150" cy="457200"/>
          </a:xfrm>
          <a:prstGeom prst="rect">
            <a:avLst/>
          </a:prstGeom>
          <a:noFill/>
          <a:ln w="9525">
            <a:noFill/>
            <a:miter lim="800000"/>
            <a:headEnd/>
            <a:tailEnd/>
          </a:ln>
        </p:spPr>
        <p:txBody>
          <a:bodyPr wrap="none">
            <a:spAutoFit/>
          </a:bodyPr>
          <a:lstStyle/>
          <a:p>
            <a:pPr eaLnBrk="0" hangingPunct="0"/>
            <a:endParaRPr lang="fr-FR" sz="2400">
              <a:latin typeface="Arial" pitchFamily="34" charset="0"/>
              <a:cs typeface="Arial" pitchFamily="34" charset="0"/>
            </a:endParaRPr>
          </a:p>
        </p:txBody>
      </p:sp>
      <p:sp>
        <p:nvSpPr>
          <p:cNvPr id="3" name="Espace réservé du pied de page 2">
            <a:extLst>
              <a:ext uri="{FF2B5EF4-FFF2-40B4-BE49-F238E27FC236}">
                <a16:creationId xmlns:a16="http://schemas.microsoft.com/office/drawing/2014/main" id="{2176C17F-032E-B47A-5651-57B185E5D396}"/>
              </a:ext>
            </a:extLst>
          </p:cNvPr>
          <p:cNvSpPr>
            <a:spLocks noGrp="1"/>
          </p:cNvSpPr>
          <p:nvPr>
            <p:ph type="ftr" sz="quarter" idx="11"/>
            <p:custDataLst>
              <p:tags r:id="rId6"/>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
        <p:nvSpPr>
          <p:cNvPr id="2" name="ZoneTexte 1">
            <a:extLst>
              <a:ext uri="{FF2B5EF4-FFF2-40B4-BE49-F238E27FC236}">
                <a16:creationId xmlns:a16="http://schemas.microsoft.com/office/drawing/2014/main" id="{F7432105-7BAA-6108-9983-2DFEB556ED53}"/>
              </a:ext>
            </a:extLst>
          </p:cNvPr>
          <p:cNvSpPr txBox="1"/>
          <p:nvPr/>
        </p:nvSpPr>
        <p:spPr>
          <a:xfrm>
            <a:off x="2008469" y="3256532"/>
            <a:ext cx="9345331" cy="461665"/>
          </a:xfrm>
          <a:prstGeom prst="rect">
            <a:avLst/>
          </a:prstGeom>
          <a:noFill/>
          <a:ln>
            <a:solidFill>
              <a:schemeClr val="tx1"/>
            </a:solidFill>
          </a:ln>
        </p:spPr>
        <p:txBody>
          <a:bodyPr wrap="square" rtlCol="0">
            <a:spAutoFit/>
          </a:bodyPr>
          <a:lstStyle/>
          <a:p>
            <a:r>
              <a:rPr lang="fr-FR" sz="2400" b="1" dirty="0"/>
              <a:t>RNR</a:t>
            </a:r>
            <a:r>
              <a:rPr lang="fr-FR" sz="2400" dirty="0"/>
              <a:t> = Résultat net – </a:t>
            </a:r>
            <a:r>
              <a:rPr lang="fr-FR" sz="2400" dirty="0">
                <a:solidFill>
                  <a:schemeClr val="accent1"/>
                </a:solidFill>
              </a:rPr>
              <a:t>(taux de rendement minimal requis x capital investi)</a:t>
            </a:r>
          </a:p>
        </p:txBody>
      </p:sp>
    </p:spTree>
    <p:custDataLst>
      <p:tags r:id="rId1"/>
    </p:custDataLst>
    <p:extLst>
      <p:ext uri="{BB962C8B-B14F-4D97-AF65-F5344CB8AC3E}">
        <p14:creationId xmlns:p14="http://schemas.microsoft.com/office/powerpoint/2010/main" val="1585842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3CB5F53-EEF6-A60F-757C-3EFDEFA25CFE}"/>
            </a:ext>
          </a:extLst>
        </p:cNvPr>
        <p:cNvGrpSpPr/>
        <p:nvPr/>
      </p:nvGrpSpPr>
      <p:grpSpPr>
        <a:xfrm>
          <a:off x="0" y="0"/>
          <a:ext cx="0" cy="0"/>
          <a:chOff x="0" y="0"/>
          <a:chExt cx="0" cy="0"/>
        </a:xfrm>
      </p:grpSpPr>
      <p:sp>
        <p:nvSpPr>
          <p:cNvPr id="26628" name="Rectangle 2">
            <a:extLst>
              <a:ext uri="{FF2B5EF4-FFF2-40B4-BE49-F238E27FC236}">
                <a16:creationId xmlns:a16="http://schemas.microsoft.com/office/drawing/2014/main" id="{6638B7DD-F96F-B81F-A25D-29F533EFFE6C}"/>
              </a:ext>
            </a:extLst>
          </p:cNvPr>
          <p:cNvSpPr>
            <a:spLocks noGrp="1" noChangeArrowheads="1"/>
          </p:cNvSpPr>
          <p:nvPr>
            <p:ph type="title"/>
            <p:custDataLst>
              <p:tags r:id="rId2"/>
            </p:custDataLst>
          </p:nvPr>
        </p:nvSpPr>
        <p:spPr>
          <a:xfrm>
            <a:off x="838200" y="365126"/>
            <a:ext cx="10515600" cy="760138"/>
          </a:xfrm>
        </p:spPr>
        <p:txBody>
          <a:bodyPr vert="horz" anchor="ctr">
            <a:noAutofit/>
          </a:bodyPr>
          <a:lstStyle/>
          <a:p>
            <a:pPr algn="ctr"/>
            <a:r>
              <a:rPr lang="fr-FR" sz="4000"/>
              <a:t>Résultat Net Résiduel (RNR)</a:t>
            </a:r>
          </a:p>
        </p:txBody>
      </p:sp>
      <p:sp>
        <p:nvSpPr>
          <p:cNvPr id="26633" name="Rectangle 12">
            <a:extLst>
              <a:ext uri="{FF2B5EF4-FFF2-40B4-BE49-F238E27FC236}">
                <a16:creationId xmlns:a16="http://schemas.microsoft.com/office/drawing/2014/main" id="{4914A81B-6396-4A23-8CB0-9BE4146B653B}"/>
              </a:ext>
            </a:extLst>
          </p:cNvPr>
          <p:cNvSpPr>
            <a:spLocks noGrp="1" noChangeArrowheads="1"/>
          </p:cNvSpPr>
          <p:nvPr>
            <p:ph idx="1"/>
            <p:custDataLst>
              <p:tags r:id="rId3"/>
            </p:custDataLst>
          </p:nvPr>
        </p:nvSpPr>
        <p:spPr>
          <a:xfrm>
            <a:off x="462987" y="1467850"/>
            <a:ext cx="11366340" cy="4323350"/>
          </a:xfrm>
          <a:noFill/>
        </p:spPr>
        <p:txBody>
          <a:bodyPr>
            <a:normAutofit/>
          </a:bodyPr>
          <a:lstStyle/>
          <a:p>
            <a:pPr marL="0" indent="0">
              <a:buNone/>
            </a:pPr>
            <a:endParaRPr lang="fr-FR" dirty="0"/>
          </a:p>
          <a:p>
            <a:pPr marL="0" indent="0">
              <a:buNone/>
            </a:pPr>
            <a:endParaRPr lang="fr-FR" dirty="0"/>
          </a:p>
        </p:txBody>
      </p:sp>
      <p:sp>
        <p:nvSpPr>
          <p:cNvPr id="10" name="Espace réservé du numéro de diapositive 9">
            <a:extLst>
              <a:ext uri="{FF2B5EF4-FFF2-40B4-BE49-F238E27FC236}">
                <a16:creationId xmlns:a16="http://schemas.microsoft.com/office/drawing/2014/main" id="{18FD4F97-5068-53B3-A4F9-27C040CD93CB}"/>
              </a:ext>
            </a:extLst>
          </p:cNvPr>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22</a:t>
            </a:fld>
            <a:endParaRPr lang="fr-CA"/>
          </a:p>
        </p:txBody>
      </p:sp>
      <p:sp>
        <p:nvSpPr>
          <p:cNvPr id="26632" name="Rectangle 8">
            <a:extLst>
              <a:ext uri="{FF2B5EF4-FFF2-40B4-BE49-F238E27FC236}">
                <a16:creationId xmlns:a16="http://schemas.microsoft.com/office/drawing/2014/main" id="{24ED2816-1390-FB34-BBF7-B80FD0DF0B8B}"/>
              </a:ext>
            </a:extLst>
          </p:cNvPr>
          <p:cNvSpPr>
            <a:spLocks noChangeArrowheads="1"/>
          </p:cNvSpPr>
          <p:nvPr>
            <p:custDataLst>
              <p:tags r:id="rId5"/>
            </p:custDataLst>
          </p:nvPr>
        </p:nvSpPr>
        <p:spPr bwMode="auto">
          <a:xfrm>
            <a:off x="12442825" y="3070225"/>
            <a:ext cx="184150" cy="457200"/>
          </a:xfrm>
          <a:prstGeom prst="rect">
            <a:avLst/>
          </a:prstGeom>
          <a:noFill/>
          <a:ln w="9525">
            <a:noFill/>
            <a:miter lim="800000"/>
            <a:headEnd/>
            <a:tailEnd/>
          </a:ln>
        </p:spPr>
        <p:txBody>
          <a:bodyPr wrap="none">
            <a:spAutoFit/>
          </a:bodyPr>
          <a:lstStyle/>
          <a:p>
            <a:pPr eaLnBrk="0" hangingPunct="0"/>
            <a:endParaRPr lang="fr-FR" sz="2400">
              <a:latin typeface="Arial" pitchFamily="34" charset="0"/>
              <a:cs typeface="Arial" pitchFamily="34" charset="0"/>
            </a:endParaRPr>
          </a:p>
        </p:txBody>
      </p:sp>
      <p:sp>
        <p:nvSpPr>
          <p:cNvPr id="3" name="Espace réservé du pied de page 2">
            <a:extLst>
              <a:ext uri="{FF2B5EF4-FFF2-40B4-BE49-F238E27FC236}">
                <a16:creationId xmlns:a16="http://schemas.microsoft.com/office/drawing/2014/main" id="{04240ECB-6F06-28C1-856E-29FE521B3180}"/>
              </a:ext>
            </a:extLst>
          </p:cNvPr>
          <p:cNvSpPr>
            <a:spLocks noGrp="1"/>
          </p:cNvSpPr>
          <p:nvPr>
            <p:ph type="ftr" sz="quarter" idx="11"/>
            <p:custDataLst>
              <p:tags r:id="rId6"/>
            </p:custDataLst>
          </p:nvPr>
        </p:nvSpPr>
        <p:spPr>
          <a:xfrm>
            <a:off x="1042481"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graphicFrame>
        <p:nvGraphicFramePr>
          <p:cNvPr id="2" name="Tableau 1">
            <a:extLst>
              <a:ext uri="{FF2B5EF4-FFF2-40B4-BE49-F238E27FC236}">
                <a16:creationId xmlns:a16="http://schemas.microsoft.com/office/drawing/2014/main" id="{2B06DF54-2249-973D-DEA3-1A250442E96E}"/>
              </a:ext>
            </a:extLst>
          </p:cNvPr>
          <p:cNvGraphicFramePr>
            <a:graphicFrameLocks noGrp="1"/>
          </p:cNvGraphicFramePr>
          <p:nvPr>
            <p:extLst>
              <p:ext uri="{D42A27DB-BD31-4B8C-83A1-F6EECF244321}">
                <p14:modId xmlns:p14="http://schemas.microsoft.com/office/powerpoint/2010/main" val="4092353942"/>
              </p:ext>
            </p:extLst>
          </p:nvPr>
        </p:nvGraphicFramePr>
        <p:xfrm>
          <a:off x="1310340" y="2990882"/>
          <a:ext cx="9144000" cy="1615440"/>
        </p:xfrm>
        <a:graphic>
          <a:graphicData uri="http://schemas.openxmlformats.org/drawingml/2006/table">
            <a:tbl>
              <a:tblPr firstRow="1" bandRow="1">
                <a:tableStyleId>{3B4B98B0-60AC-42C2-AFA5-B58CD77FA1E5}</a:tableStyleId>
              </a:tblPr>
              <a:tblGrid>
                <a:gridCol w="3612204">
                  <a:extLst>
                    <a:ext uri="{9D8B030D-6E8A-4147-A177-3AD203B41FA5}">
                      <a16:colId xmlns:a16="http://schemas.microsoft.com/office/drawing/2014/main" val="2425585924"/>
                    </a:ext>
                  </a:extLst>
                </a:gridCol>
                <a:gridCol w="1542182">
                  <a:extLst>
                    <a:ext uri="{9D8B030D-6E8A-4147-A177-3AD203B41FA5}">
                      <a16:colId xmlns:a16="http://schemas.microsoft.com/office/drawing/2014/main" val="3122990985"/>
                    </a:ext>
                  </a:extLst>
                </a:gridCol>
                <a:gridCol w="1703614">
                  <a:extLst>
                    <a:ext uri="{9D8B030D-6E8A-4147-A177-3AD203B41FA5}">
                      <a16:colId xmlns:a16="http://schemas.microsoft.com/office/drawing/2014/main" val="1058667251"/>
                    </a:ext>
                  </a:extLst>
                </a:gridCol>
                <a:gridCol w="2286000">
                  <a:extLst>
                    <a:ext uri="{9D8B030D-6E8A-4147-A177-3AD203B41FA5}">
                      <a16:colId xmlns:a16="http://schemas.microsoft.com/office/drawing/2014/main" val="727228044"/>
                    </a:ext>
                  </a:extLst>
                </a:gridCol>
              </a:tblGrid>
              <a:tr h="370840">
                <a:tc>
                  <a:txBody>
                    <a:bodyPr/>
                    <a:lstStyle/>
                    <a:p>
                      <a:endParaRPr lang="fr-CA" sz="2200" dirty="0"/>
                    </a:p>
                  </a:txBody>
                  <a:tcPr/>
                </a:tc>
                <a:tc>
                  <a:txBody>
                    <a:bodyPr/>
                    <a:lstStyle/>
                    <a:p>
                      <a:r>
                        <a:rPr lang="fr-CA" sz="2200" dirty="0"/>
                        <a:t>Année 1</a:t>
                      </a:r>
                    </a:p>
                  </a:txBody>
                  <a:tcPr/>
                </a:tc>
                <a:tc>
                  <a:txBody>
                    <a:bodyPr/>
                    <a:lstStyle/>
                    <a:p>
                      <a:r>
                        <a:rPr lang="fr-CA" sz="2200" dirty="0"/>
                        <a:t>Année 2</a:t>
                      </a:r>
                    </a:p>
                    <a:p>
                      <a:r>
                        <a:rPr lang="fr-CA" sz="2200" dirty="0"/>
                        <a:t>+ Projet A</a:t>
                      </a:r>
                    </a:p>
                  </a:txBody>
                  <a:tcPr/>
                </a:tc>
                <a:tc>
                  <a:txBody>
                    <a:bodyPr/>
                    <a:lstStyle/>
                    <a:p>
                      <a:r>
                        <a:rPr lang="fr-CA" sz="2200" dirty="0"/>
                        <a:t>Année 2</a:t>
                      </a:r>
                    </a:p>
                    <a:p>
                      <a:r>
                        <a:rPr lang="fr-CA" sz="2200" dirty="0"/>
                        <a:t>+ Projet B</a:t>
                      </a:r>
                    </a:p>
                  </a:txBody>
                  <a:tcPr/>
                </a:tc>
                <a:extLst>
                  <a:ext uri="{0D108BD9-81ED-4DB2-BD59-A6C34878D82A}">
                    <a16:rowId xmlns:a16="http://schemas.microsoft.com/office/drawing/2014/main" val="765544211"/>
                  </a:ext>
                </a:extLst>
              </a:tr>
              <a:tr h="370840">
                <a:tc>
                  <a:txBody>
                    <a:bodyPr/>
                    <a:lstStyle/>
                    <a:p>
                      <a:r>
                        <a:rPr lang="fr-CA" sz="2200" dirty="0"/>
                        <a:t>Rendement sur capital investi</a:t>
                      </a:r>
                    </a:p>
                  </a:txBody>
                  <a:tcPr/>
                </a:tc>
                <a:tc>
                  <a:txBody>
                    <a:bodyPr/>
                    <a:lstStyle/>
                    <a:p>
                      <a:r>
                        <a:rPr lang="fr-CA" sz="2200" dirty="0"/>
                        <a:t> 20 %</a:t>
                      </a:r>
                    </a:p>
                  </a:txBody>
                  <a:tcPr/>
                </a:tc>
                <a:tc>
                  <a:txBody>
                    <a:bodyPr/>
                    <a:lstStyle/>
                    <a:p>
                      <a:r>
                        <a:rPr lang="fr-CA" sz="2200" dirty="0"/>
                        <a:t>20 %</a:t>
                      </a:r>
                    </a:p>
                  </a:txBody>
                  <a:tcPr/>
                </a:tc>
                <a:tc>
                  <a:txBody>
                    <a:bodyPr/>
                    <a:lstStyle/>
                    <a:p>
                      <a:r>
                        <a:rPr lang="fr-CA" sz="2200" dirty="0"/>
                        <a:t>19 %</a:t>
                      </a:r>
                    </a:p>
                  </a:txBody>
                  <a:tcPr/>
                </a:tc>
                <a:extLst>
                  <a:ext uri="{0D108BD9-81ED-4DB2-BD59-A6C34878D82A}">
                    <a16:rowId xmlns:a16="http://schemas.microsoft.com/office/drawing/2014/main" val="2525432972"/>
                  </a:ext>
                </a:extLst>
              </a:tr>
              <a:tr h="370840">
                <a:tc>
                  <a:txBody>
                    <a:bodyPr/>
                    <a:lstStyle/>
                    <a:p>
                      <a:r>
                        <a:rPr lang="fr-CA" sz="2200" dirty="0"/>
                        <a:t>Résultat net résiduel</a:t>
                      </a:r>
                    </a:p>
                  </a:txBody>
                  <a:tcPr/>
                </a:tc>
                <a:tc>
                  <a:txBody>
                    <a:bodyPr/>
                    <a:lstStyle/>
                    <a:p>
                      <a:r>
                        <a:rPr lang="fr-CA" sz="2200" dirty="0"/>
                        <a:t>640 000 $</a:t>
                      </a:r>
                    </a:p>
                  </a:txBody>
                  <a:tcPr/>
                </a:tc>
                <a:tc>
                  <a:txBody>
                    <a:bodyPr/>
                    <a:lstStyle/>
                    <a:p>
                      <a:r>
                        <a:rPr lang="fr-CA" sz="2200" dirty="0"/>
                        <a:t>800 000 $</a:t>
                      </a:r>
                    </a:p>
                  </a:txBody>
                  <a:tcPr/>
                </a:tc>
                <a:tc>
                  <a:txBody>
                    <a:bodyPr/>
                    <a:lstStyle/>
                    <a:p>
                      <a:r>
                        <a:rPr lang="fr-CA" sz="2200" dirty="0"/>
                        <a:t>700 000 $</a:t>
                      </a:r>
                    </a:p>
                  </a:txBody>
                  <a:tcPr/>
                </a:tc>
                <a:extLst>
                  <a:ext uri="{0D108BD9-81ED-4DB2-BD59-A6C34878D82A}">
                    <a16:rowId xmlns:a16="http://schemas.microsoft.com/office/drawing/2014/main" val="3883422691"/>
                  </a:ext>
                </a:extLst>
              </a:tr>
            </a:tbl>
          </a:graphicData>
        </a:graphic>
      </p:graphicFrame>
      <p:sp>
        <p:nvSpPr>
          <p:cNvPr id="4" name="Rectangle 12">
            <a:extLst>
              <a:ext uri="{FF2B5EF4-FFF2-40B4-BE49-F238E27FC236}">
                <a16:creationId xmlns:a16="http://schemas.microsoft.com/office/drawing/2014/main" id="{B82783B6-AB6E-D71C-47AA-EEEADBE01B59}"/>
              </a:ext>
            </a:extLst>
          </p:cNvPr>
          <p:cNvSpPr txBox="1">
            <a:spLocks noChangeArrowheads="1"/>
          </p:cNvSpPr>
          <p:nvPr>
            <p:custDataLst>
              <p:tags r:id="rId7"/>
            </p:custDataLst>
          </p:nvPr>
        </p:nvSpPr>
        <p:spPr>
          <a:xfrm>
            <a:off x="1315735" y="1612706"/>
            <a:ext cx="9851575" cy="2079902"/>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600" dirty="0"/>
              <a:t>Le RNR est un montant en absolu, et non pas un pourcentage. Le RNR donne donc une perspective différente du RCI, comme le montre l’exemple suivant. </a:t>
            </a:r>
          </a:p>
        </p:txBody>
      </p:sp>
      <p:grpSp>
        <p:nvGrpSpPr>
          <p:cNvPr id="5" name="Groupe 4">
            <a:extLst>
              <a:ext uri="{FF2B5EF4-FFF2-40B4-BE49-F238E27FC236}">
                <a16:creationId xmlns:a16="http://schemas.microsoft.com/office/drawing/2014/main" id="{FE898D5C-CD73-6E55-C458-92458E73ECAE}"/>
              </a:ext>
            </a:extLst>
          </p:cNvPr>
          <p:cNvGrpSpPr/>
          <p:nvPr>
            <p:custDataLst>
              <p:tags r:id="rId8"/>
            </p:custDataLst>
          </p:nvPr>
        </p:nvGrpSpPr>
        <p:grpSpPr>
          <a:xfrm>
            <a:off x="2029055" y="4825221"/>
            <a:ext cx="8424936" cy="1643781"/>
            <a:chOff x="990358" y="2126319"/>
            <a:chExt cx="8424936" cy="1272487"/>
          </a:xfrm>
        </p:grpSpPr>
        <p:sp>
          <p:nvSpPr>
            <p:cNvPr id="6" name="Rectangle 4">
              <a:extLst>
                <a:ext uri="{FF2B5EF4-FFF2-40B4-BE49-F238E27FC236}">
                  <a16:creationId xmlns:a16="http://schemas.microsoft.com/office/drawing/2014/main" id="{42137660-33D2-C287-13D7-ED75B9D28B92}"/>
                </a:ext>
              </a:extLst>
            </p:cNvPr>
            <p:cNvSpPr>
              <a:spLocks noChangeArrowheads="1"/>
            </p:cNvSpPr>
            <p:nvPr>
              <p:custDataLst>
                <p:tags r:id="rId9"/>
              </p:custDataLst>
            </p:nvPr>
          </p:nvSpPr>
          <p:spPr bwMode="auto">
            <a:xfrm>
              <a:off x="990358" y="2126319"/>
              <a:ext cx="8424936" cy="874647"/>
            </a:xfrm>
            <a:prstGeom prst="rect">
              <a:avLst/>
            </a:prstGeom>
            <a:ln w="28575">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spcBef>
                  <a:spcPct val="20000"/>
                </a:spcBef>
              </a:pPr>
              <a:r>
                <a:rPr kumimoji="1" lang="fr-FR" sz="2600" dirty="0">
                  <a:latin typeface="Arial" pitchFamily="34" charset="0"/>
                  <a:cs typeface="Arial" pitchFamily="34" charset="0"/>
                </a:rPr>
                <a:t>Résultat net – [Coût du capital (%) x Capital Investi</a:t>
              </a:r>
              <a:r>
                <a:rPr kumimoji="1" lang="fr-FR" sz="2800" dirty="0">
                  <a:latin typeface="Arial" pitchFamily="34" charset="0"/>
                  <a:cs typeface="Arial" pitchFamily="34" charset="0"/>
                </a:rPr>
                <a:t>]</a:t>
              </a:r>
              <a:r>
                <a:rPr kumimoji="1" lang="fr-FR" sz="3200" dirty="0">
                  <a:latin typeface="Arial" pitchFamily="34" charset="0"/>
                  <a:cs typeface="Arial" pitchFamily="34" charset="0"/>
                </a:rPr>
                <a:t> </a:t>
              </a:r>
            </a:p>
          </p:txBody>
        </p:sp>
        <p:sp>
          <p:nvSpPr>
            <p:cNvPr id="7" name="AutoShape 6">
              <a:extLst>
                <a:ext uri="{FF2B5EF4-FFF2-40B4-BE49-F238E27FC236}">
                  <a16:creationId xmlns:a16="http://schemas.microsoft.com/office/drawing/2014/main" id="{97F08F3E-0946-8F0A-22DE-471C211E4925}"/>
                </a:ext>
              </a:extLst>
            </p:cNvPr>
            <p:cNvSpPr>
              <a:spLocks/>
            </p:cNvSpPr>
            <p:nvPr>
              <p:custDataLst>
                <p:tags r:id="rId10"/>
              </p:custDataLst>
            </p:nvPr>
          </p:nvSpPr>
          <p:spPr bwMode="auto">
            <a:xfrm rot="5409641">
              <a:off x="6191279" y="3417"/>
              <a:ext cx="131768" cy="5739166"/>
            </a:xfrm>
            <a:prstGeom prst="rightBrace">
              <a:avLst>
                <a:gd name="adj1" fmla="val 105576"/>
                <a:gd name="adj2" fmla="val 51046"/>
              </a:avLst>
            </a:prstGeom>
            <a:noFill/>
            <a:ln w="38100">
              <a:solidFill>
                <a:schemeClr val="tx1"/>
              </a:solidFill>
              <a:round/>
              <a:headEnd/>
              <a:tailEnd/>
            </a:ln>
          </p:spPr>
          <p:txBody>
            <a:bodyPr wrap="none" anchor="ctr"/>
            <a:lstStyle/>
            <a:p>
              <a:endParaRPr lang="fr-CA">
                <a:latin typeface="Arial" pitchFamily="34" charset="0"/>
                <a:cs typeface="Arial" pitchFamily="34" charset="0"/>
              </a:endParaRPr>
            </a:p>
          </p:txBody>
        </p:sp>
        <p:sp>
          <p:nvSpPr>
            <p:cNvPr id="8" name="Text Box 7">
              <a:extLst>
                <a:ext uri="{FF2B5EF4-FFF2-40B4-BE49-F238E27FC236}">
                  <a16:creationId xmlns:a16="http://schemas.microsoft.com/office/drawing/2014/main" id="{0986B070-0C7E-3840-4BAD-5D2E56B6A387}"/>
                </a:ext>
              </a:extLst>
            </p:cNvPr>
            <p:cNvSpPr txBox="1">
              <a:spLocks noChangeArrowheads="1"/>
            </p:cNvSpPr>
            <p:nvPr>
              <p:custDataLst>
                <p:tags r:id="rId11"/>
              </p:custDataLst>
            </p:nvPr>
          </p:nvSpPr>
          <p:spPr bwMode="auto">
            <a:xfrm>
              <a:off x="5141928" y="3065247"/>
              <a:ext cx="3025187" cy="333559"/>
            </a:xfrm>
            <a:prstGeom prst="rect">
              <a:avLst/>
            </a:prstGeom>
            <a:noFill/>
            <a:ln w="9525">
              <a:noFill/>
              <a:miter lim="800000"/>
              <a:headEnd/>
              <a:tailEnd/>
            </a:ln>
          </p:spPr>
          <p:txBody>
            <a:bodyPr wrap="none">
              <a:spAutoFit/>
            </a:bodyPr>
            <a:lstStyle/>
            <a:p>
              <a:pPr eaLnBrk="0" hangingPunct="0">
                <a:spcBef>
                  <a:spcPct val="20000"/>
                </a:spcBef>
              </a:pPr>
              <a:r>
                <a:rPr kumimoji="1" lang="fr-FR" sz="2200" dirty="0">
                  <a:latin typeface="Arial" pitchFamily="34" charset="0"/>
                  <a:cs typeface="Arial" pitchFamily="34" charset="0"/>
                </a:rPr>
                <a:t>Résultat minimal exigé</a:t>
              </a:r>
            </a:p>
          </p:txBody>
        </p:sp>
      </p:grpSp>
    </p:spTree>
    <p:custDataLst>
      <p:tags r:id="rId1"/>
    </p:custDataLst>
    <p:extLst>
      <p:ext uri="{BB962C8B-B14F-4D97-AF65-F5344CB8AC3E}">
        <p14:creationId xmlns:p14="http://schemas.microsoft.com/office/powerpoint/2010/main" val="1809189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ECE0D-160F-482A-B5BB-1DB428D09276}"/>
              </a:ext>
            </a:extLst>
          </p:cNvPr>
          <p:cNvSpPr>
            <a:spLocks noGrp="1"/>
          </p:cNvSpPr>
          <p:nvPr>
            <p:ph type="title"/>
            <p:custDataLst>
              <p:tags r:id="rId1"/>
            </p:custDataLst>
          </p:nvPr>
        </p:nvSpPr>
        <p:spPr>
          <a:xfrm>
            <a:off x="838200" y="365125"/>
            <a:ext cx="10515600" cy="980949"/>
          </a:xfrm>
        </p:spPr>
        <p:txBody>
          <a:bodyPr>
            <a:normAutofit/>
          </a:bodyPr>
          <a:lstStyle/>
          <a:p>
            <a:r>
              <a:rPr lang="en-US" sz="4000" dirty="0" err="1">
                <a:cs typeface="Calibri Light"/>
              </a:rPr>
              <a:t>Calcul</a:t>
            </a:r>
            <a:r>
              <a:rPr lang="en-US" sz="4000" dirty="0">
                <a:cs typeface="Calibri Light"/>
              </a:rPr>
              <a:t> du RNR- </a:t>
            </a:r>
            <a:r>
              <a:rPr lang="en-US" sz="4000" dirty="0" err="1">
                <a:cs typeface="Calibri Light"/>
              </a:rPr>
              <a:t>exemple</a:t>
            </a:r>
            <a:endParaRPr lang="en-US" sz="4000" dirty="0"/>
          </a:p>
        </p:txBody>
      </p:sp>
      <p:sp>
        <p:nvSpPr>
          <p:cNvPr id="3" name="Content Placeholder 2">
            <a:extLst>
              <a:ext uri="{FF2B5EF4-FFF2-40B4-BE49-F238E27FC236}">
                <a16:creationId xmlns:a16="http://schemas.microsoft.com/office/drawing/2014/main" id="{AB9B8062-1E88-4164-BB73-D560E3BF2A23}"/>
              </a:ext>
            </a:extLst>
          </p:cNvPr>
          <p:cNvSpPr>
            <a:spLocks noGrp="1"/>
          </p:cNvSpPr>
          <p:nvPr>
            <p:ph idx="1"/>
            <p:custDataLst>
              <p:tags r:id="rId2"/>
            </p:custDataLst>
          </p:nvPr>
        </p:nvSpPr>
        <p:spPr>
          <a:xfrm>
            <a:off x="6756400" y="1608667"/>
            <a:ext cx="5194300" cy="4930245"/>
          </a:xfrm>
        </p:spPr>
        <p:txBody>
          <a:bodyPr>
            <a:normAutofit/>
          </a:bodyPr>
          <a:lstStyle/>
          <a:p>
            <a:pPr marL="0" indent="0">
              <a:buNone/>
            </a:pPr>
            <a:r>
              <a:rPr lang="fr-CA" dirty="0"/>
              <a:t>Le RNR est calculé en considérant un coût du capital à atteindre de </a:t>
            </a:r>
            <a:r>
              <a:rPr lang="fr-CA" b="1" dirty="0"/>
              <a:t>10 %.</a:t>
            </a:r>
          </a:p>
          <a:p>
            <a:pPr marL="514350" indent="-514350">
              <a:buFont typeface="+mj-lt"/>
              <a:buAutoNum type="arabicPeriod"/>
            </a:pPr>
            <a:r>
              <a:rPr lang="fr-CA" sz="2600" dirty="0"/>
              <a:t>Calculer le RNR de la division A et de la division B.</a:t>
            </a:r>
          </a:p>
          <a:p>
            <a:pPr marL="514350" indent="-514350">
              <a:buFont typeface="+mj-lt"/>
              <a:buAutoNum type="arabicPeriod"/>
            </a:pPr>
            <a:r>
              <a:rPr lang="fr-CA" sz="2600" dirty="0"/>
              <a:t>Est-ce qu'une autre division peut utiliser moins d'actifs (capital investi) pour générer un résultat net résiduel équivalent ?</a:t>
            </a:r>
            <a:endParaRPr lang="en-US" dirty="0"/>
          </a:p>
        </p:txBody>
      </p:sp>
      <p:sp>
        <p:nvSpPr>
          <p:cNvPr id="5" name="Slide Number Placeholder 4">
            <a:extLst>
              <a:ext uri="{FF2B5EF4-FFF2-40B4-BE49-F238E27FC236}">
                <a16:creationId xmlns:a16="http://schemas.microsoft.com/office/drawing/2014/main" id="{C643752D-A353-4493-9DF3-BA91A001BB07}"/>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23</a:t>
            </a:fld>
            <a:endParaRPr lang="fr-CA">
              <a:solidFill>
                <a:prstClr val="black">
                  <a:tint val="75000"/>
                </a:prstClr>
              </a:solidFill>
            </a:endParaRPr>
          </a:p>
        </p:txBody>
      </p:sp>
      <p:graphicFrame>
        <p:nvGraphicFramePr>
          <p:cNvPr id="6" name="Espace réservé du contenu 7">
            <a:extLst>
              <a:ext uri="{FF2B5EF4-FFF2-40B4-BE49-F238E27FC236}">
                <a16:creationId xmlns:a16="http://schemas.microsoft.com/office/drawing/2014/main" id="{BB99FA97-26E8-476C-9D1A-D4C8110D08B0}"/>
              </a:ext>
            </a:extLst>
          </p:cNvPr>
          <p:cNvGraphicFramePr>
            <a:graphicFrameLocks/>
          </p:cNvGraphicFramePr>
          <p:nvPr>
            <p:custDataLst>
              <p:tags r:id="rId4"/>
            </p:custDataLst>
            <p:extLst>
              <p:ext uri="{D42A27DB-BD31-4B8C-83A1-F6EECF244321}">
                <p14:modId xmlns:p14="http://schemas.microsoft.com/office/powerpoint/2010/main" val="2691706564"/>
              </p:ext>
            </p:extLst>
          </p:nvPr>
        </p:nvGraphicFramePr>
        <p:xfrm>
          <a:off x="701966" y="1360236"/>
          <a:ext cx="5572989" cy="2286000"/>
        </p:xfrm>
        <a:graphic>
          <a:graphicData uri="http://schemas.openxmlformats.org/drawingml/2006/table">
            <a:tbl>
              <a:tblPr firstRow="1" bandRow="1">
                <a:tableStyleId>{C083E6E3-FA7D-4D7B-A595-EF9225AFEA82}</a:tableStyleId>
              </a:tblPr>
              <a:tblGrid>
                <a:gridCol w="2054461">
                  <a:extLst>
                    <a:ext uri="{9D8B030D-6E8A-4147-A177-3AD203B41FA5}">
                      <a16:colId xmlns:a16="http://schemas.microsoft.com/office/drawing/2014/main" val="20000"/>
                    </a:ext>
                  </a:extLst>
                </a:gridCol>
                <a:gridCol w="1759264">
                  <a:extLst>
                    <a:ext uri="{9D8B030D-6E8A-4147-A177-3AD203B41FA5}">
                      <a16:colId xmlns:a16="http://schemas.microsoft.com/office/drawing/2014/main" val="20001"/>
                    </a:ext>
                  </a:extLst>
                </a:gridCol>
                <a:gridCol w="1759264">
                  <a:extLst>
                    <a:ext uri="{9D8B030D-6E8A-4147-A177-3AD203B41FA5}">
                      <a16:colId xmlns:a16="http://schemas.microsoft.com/office/drawing/2014/main" val="20002"/>
                    </a:ext>
                  </a:extLst>
                </a:gridCol>
              </a:tblGrid>
              <a:tr h="370840">
                <a:tc gridSpan="3">
                  <a:txBody>
                    <a:bodyPr/>
                    <a:lstStyle/>
                    <a:p>
                      <a:pPr algn="ctr"/>
                      <a:r>
                        <a:rPr lang="fr-CA" sz="2400" dirty="0"/>
                        <a:t>Données</a:t>
                      </a:r>
                      <a:r>
                        <a:rPr lang="fr-CA" sz="2400" baseline="0" dirty="0"/>
                        <a:t> de base</a:t>
                      </a:r>
                      <a:endParaRPr lang="fr-CA" sz="2400" dirty="0"/>
                    </a:p>
                  </a:txBody>
                  <a:tcPr marL="88616" marR="88616"/>
                </a:tc>
                <a:tc hMerge="1">
                  <a:txBody>
                    <a:bodyPr/>
                    <a:lstStyle/>
                    <a:p>
                      <a:pPr algn="ctr"/>
                      <a:endParaRPr lang="fr-CA"/>
                    </a:p>
                  </a:txBody>
                  <a:tcPr/>
                </a:tc>
                <a:tc hMerge="1">
                  <a:txBody>
                    <a:bodyPr/>
                    <a:lstStyle/>
                    <a:p>
                      <a:pPr algn="ctr"/>
                      <a:endParaRPr lang="fr-CA"/>
                    </a:p>
                  </a:txBody>
                  <a:tcPr/>
                </a:tc>
                <a:extLst>
                  <a:ext uri="{0D108BD9-81ED-4DB2-BD59-A6C34878D82A}">
                    <a16:rowId xmlns:a16="http://schemas.microsoft.com/office/drawing/2014/main" val="10000"/>
                  </a:ext>
                </a:extLst>
              </a:tr>
              <a:tr h="370840">
                <a:tc>
                  <a:txBody>
                    <a:bodyPr/>
                    <a:lstStyle/>
                    <a:p>
                      <a:pPr algn="ctr"/>
                      <a:r>
                        <a:rPr lang="fr-CA" sz="2400" u="sng"/>
                        <a:t>Divisions</a:t>
                      </a:r>
                      <a:endParaRPr lang="fr-CA" sz="2400" b="1" u="sng">
                        <a:solidFill>
                          <a:srgbClr val="FF0000"/>
                        </a:solidFill>
                      </a:endParaRPr>
                    </a:p>
                  </a:txBody>
                  <a:tcPr marL="88616" marR="88616"/>
                </a:tc>
                <a:tc>
                  <a:txBody>
                    <a:bodyPr/>
                    <a:lstStyle/>
                    <a:p>
                      <a:pPr algn="ctr"/>
                      <a:r>
                        <a:rPr lang="fr-CA" sz="2400" u="sng"/>
                        <a:t>A</a:t>
                      </a:r>
                      <a:endParaRPr lang="fr-CA" sz="2400" b="1" u="sng">
                        <a:solidFill>
                          <a:srgbClr val="FF0000"/>
                        </a:solidFill>
                      </a:endParaRPr>
                    </a:p>
                  </a:txBody>
                  <a:tcPr marL="88616" marR="88616"/>
                </a:tc>
                <a:tc>
                  <a:txBody>
                    <a:bodyPr/>
                    <a:lstStyle/>
                    <a:p>
                      <a:pPr algn="ctr"/>
                      <a:r>
                        <a:rPr lang="fr-CA" sz="2400" u="sng" dirty="0"/>
                        <a:t>B</a:t>
                      </a:r>
                      <a:endParaRPr lang="fr-CA" sz="2400" b="1" u="sng" dirty="0">
                        <a:solidFill>
                          <a:srgbClr val="FF0000"/>
                        </a:solidFill>
                      </a:endParaRPr>
                    </a:p>
                  </a:txBody>
                  <a:tcPr marL="88616" marR="88616"/>
                </a:tc>
                <a:extLst>
                  <a:ext uri="{0D108BD9-81ED-4DB2-BD59-A6C34878D82A}">
                    <a16:rowId xmlns:a16="http://schemas.microsoft.com/office/drawing/2014/main" val="10001"/>
                  </a:ext>
                </a:extLst>
              </a:tr>
              <a:tr h="370840">
                <a:tc>
                  <a:txBody>
                    <a:bodyPr/>
                    <a:lstStyle/>
                    <a:p>
                      <a:pPr algn="l"/>
                      <a:r>
                        <a:rPr lang="fr-CA" sz="2400"/>
                        <a:t>Ventes</a:t>
                      </a:r>
                    </a:p>
                  </a:txBody>
                  <a:tcPr marL="88616" marR="88616"/>
                </a:tc>
                <a:tc>
                  <a:txBody>
                    <a:bodyPr/>
                    <a:lstStyle/>
                    <a:p>
                      <a:pPr algn="r"/>
                      <a:r>
                        <a:rPr lang="fr-CA" sz="2400" dirty="0"/>
                        <a:t>1 200 000 $ </a:t>
                      </a:r>
                    </a:p>
                  </a:txBody>
                  <a:tcPr marL="88616" marR="88616"/>
                </a:tc>
                <a:tc>
                  <a:txBody>
                    <a:bodyPr/>
                    <a:lstStyle/>
                    <a:p>
                      <a:pPr algn="r"/>
                      <a:r>
                        <a:rPr lang="fr-CA" sz="2400"/>
                        <a:t>1 000 000 $</a:t>
                      </a:r>
                    </a:p>
                  </a:txBody>
                  <a:tcPr marL="88616" marR="88616"/>
                </a:tc>
                <a:extLst>
                  <a:ext uri="{0D108BD9-81ED-4DB2-BD59-A6C34878D82A}">
                    <a16:rowId xmlns:a16="http://schemas.microsoft.com/office/drawing/2014/main" val="684812400"/>
                  </a:ext>
                </a:extLst>
              </a:tr>
              <a:tr h="370840">
                <a:tc>
                  <a:txBody>
                    <a:bodyPr/>
                    <a:lstStyle/>
                    <a:p>
                      <a:pPr algn="l"/>
                      <a:r>
                        <a:rPr lang="fr-CA" sz="2400" dirty="0"/>
                        <a:t>Résultat net</a:t>
                      </a:r>
                    </a:p>
                  </a:txBody>
                  <a:tcPr marL="88616" marR="88616"/>
                </a:tc>
                <a:tc>
                  <a:txBody>
                    <a:bodyPr/>
                    <a:lstStyle/>
                    <a:p>
                      <a:pPr algn="r"/>
                      <a:r>
                        <a:rPr lang="fr-CA" sz="2400"/>
                        <a:t>360 000 $</a:t>
                      </a:r>
                    </a:p>
                  </a:txBody>
                  <a:tcPr marL="88616" marR="88616"/>
                </a:tc>
                <a:tc>
                  <a:txBody>
                    <a:bodyPr/>
                    <a:lstStyle/>
                    <a:p>
                      <a:pPr algn="r"/>
                      <a:r>
                        <a:rPr lang="fr-CA" sz="2400"/>
                        <a:t>260 000 $</a:t>
                      </a:r>
                    </a:p>
                  </a:txBody>
                  <a:tcPr marL="88616" marR="88616"/>
                </a:tc>
                <a:extLst>
                  <a:ext uri="{0D108BD9-81ED-4DB2-BD59-A6C34878D82A}">
                    <a16:rowId xmlns:a16="http://schemas.microsoft.com/office/drawing/2014/main" val="10002"/>
                  </a:ext>
                </a:extLst>
              </a:tr>
              <a:tr h="370840">
                <a:tc>
                  <a:txBody>
                    <a:bodyPr/>
                    <a:lstStyle/>
                    <a:p>
                      <a:pPr algn="l"/>
                      <a:r>
                        <a:rPr lang="fr-CA" sz="2400" dirty="0"/>
                        <a:t>Capital investi</a:t>
                      </a:r>
                    </a:p>
                  </a:txBody>
                  <a:tcPr marL="88616" marR="88616"/>
                </a:tc>
                <a:tc>
                  <a:txBody>
                    <a:bodyPr/>
                    <a:lstStyle/>
                    <a:p>
                      <a:pPr algn="r"/>
                      <a:r>
                        <a:rPr lang="fr-CA" sz="2400"/>
                        <a:t>3 000 000 $</a:t>
                      </a:r>
                    </a:p>
                  </a:txBody>
                  <a:tcPr marL="88616" marR="88616"/>
                </a:tc>
                <a:tc>
                  <a:txBody>
                    <a:bodyPr/>
                    <a:lstStyle/>
                    <a:p>
                      <a:pPr algn="r"/>
                      <a:r>
                        <a:rPr lang="fr-CA" sz="2400" dirty="0"/>
                        <a:t>2 000 000 $</a:t>
                      </a:r>
                    </a:p>
                  </a:txBody>
                  <a:tcPr marL="88616" marR="88616"/>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5BB456B-663B-04C6-41BD-E9E61AC9E515}"/>
                  </a:ext>
                </a:extLst>
              </p:cNvPr>
              <p:cNvSpPr txBox="1"/>
              <p:nvPr>
                <p:custDataLst>
                  <p:tags r:id="rId5"/>
                </p:custDataLst>
              </p:nvPr>
            </p:nvSpPr>
            <p:spPr>
              <a:xfrm>
                <a:off x="701966" y="3779189"/>
                <a:ext cx="40423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𝑅𝑁𝑅</m:t>
                      </m:r>
                      <m:r>
                        <a:rPr lang="fr-CA" b="0" i="1" smtClean="0">
                          <a:latin typeface="Cambria Math" panose="02040503050406030204" pitchFamily="18" charset="0"/>
                        </a:rPr>
                        <m:t>=  </m:t>
                      </m:r>
                      <m:r>
                        <a:rPr lang="fr-CA" b="0" i="1" smtClean="0">
                          <a:latin typeface="Cambria Math" panose="02040503050406030204" pitchFamily="18" charset="0"/>
                        </a:rPr>
                        <m:t>𝑅</m:t>
                      </m:r>
                      <m:r>
                        <a:rPr lang="fr-CA" b="0" i="1" smtClean="0">
                          <a:latin typeface="Cambria Math" panose="02040503050406030204" pitchFamily="18" charset="0"/>
                        </a:rPr>
                        <m:t>é</m:t>
                      </m:r>
                      <m:r>
                        <a:rPr lang="fr-CA" b="0" i="1" smtClean="0">
                          <a:latin typeface="Cambria Math" panose="02040503050406030204" pitchFamily="18" charset="0"/>
                        </a:rPr>
                        <m:t>𝑠𝑢𝑙𝑡𝑎𝑡</m:t>
                      </m:r>
                      <m:r>
                        <a:rPr lang="fr-CA" b="0" i="1" smtClean="0">
                          <a:latin typeface="Cambria Math" panose="02040503050406030204" pitchFamily="18" charset="0"/>
                        </a:rPr>
                        <m:t> </m:t>
                      </m:r>
                      <m:r>
                        <a:rPr lang="fr-CA" b="0" i="1" smtClean="0">
                          <a:latin typeface="Cambria Math" panose="02040503050406030204" pitchFamily="18" charset="0"/>
                        </a:rPr>
                        <m:t>𝑛𝑒𝑡</m:t>
                      </m:r>
                      <m:r>
                        <a:rPr lang="fr-CA" b="0" i="1" smtClean="0">
                          <a:latin typeface="Cambria Math" panose="02040503050406030204" pitchFamily="18" charset="0"/>
                        </a:rPr>
                        <m:t> −</m:t>
                      </m:r>
                      <m:r>
                        <a:rPr lang="fr-CA" b="0" i="1" smtClean="0">
                          <a:latin typeface="Cambria Math" panose="02040503050406030204" pitchFamily="18" charset="0"/>
                        </a:rPr>
                        <m:t>𝑅</m:t>
                      </m:r>
                      <m:r>
                        <a:rPr lang="fr-CA" b="0" i="1" smtClean="0">
                          <a:latin typeface="Cambria Math" panose="02040503050406030204" pitchFamily="18" charset="0"/>
                        </a:rPr>
                        <m:t>é</m:t>
                      </m:r>
                      <m:r>
                        <a:rPr lang="fr-CA" b="0" i="1" smtClean="0">
                          <a:latin typeface="Cambria Math" panose="02040503050406030204" pitchFamily="18" charset="0"/>
                        </a:rPr>
                        <m:t>𝑠𝑢𝑙𝑡𝑎𝑡</m:t>
                      </m:r>
                      <m:r>
                        <a:rPr lang="fr-CA" b="0" i="1" smtClean="0">
                          <a:latin typeface="Cambria Math" panose="02040503050406030204" pitchFamily="18" charset="0"/>
                        </a:rPr>
                        <m:t> </m:t>
                      </m:r>
                      <m:r>
                        <a:rPr lang="fr-CA" b="0" i="1" smtClean="0">
                          <a:latin typeface="Cambria Math" panose="02040503050406030204" pitchFamily="18" charset="0"/>
                        </a:rPr>
                        <m:t>𝑒𝑥𝑖𝑔</m:t>
                      </m:r>
                      <m:r>
                        <a:rPr lang="fr-CA" b="0" i="1" smtClean="0">
                          <a:latin typeface="Cambria Math" panose="02040503050406030204" pitchFamily="18" charset="0"/>
                        </a:rPr>
                        <m:t>é</m:t>
                      </m:r>
                    </m:oMath>
                  </m:oMathPara>
                </a14:m>
                <a:endParaRPr lang="fr-CA" dirty="0"/>
              </a:p>
            </p:txBody>
          </p:sp>
        </mc:Choice>
        <mc:Fallback xmlns="">
          <p:sp>
            <p:nvSpPr>
              <p:cNvPr id="7" name="ZoneTexte 6">
                <a:extLst>
                  <a:ext uri="{FF2B5EF4-FFF2-40B4-BE49-F238E27FC236}">
                    <a16:creationId xmlns:a16="http://schemas.microsoft.com/office/drawing/2014/main" id="{95BB456B-663B-04C6-41BD-E9E61AC9E515}"/>
                  </a:ext>
                </a:extLst>
              </p:cNvPr>
              <p:cNvSpPr txBox="1">
                <a:spLocks noRot="1" noChangeAspect="1" noMove="1" noResize="1" noEditPoints="1" noAdjustHandles="1" noChangeArrowheads="1" noChangeShapeType="1" noTextEdit="1"/>
              </p:cNvSpPr>
              <p:nvPr>
                <p:custDataLst>
                  <p:tags r:id="rId9"/>
                </p:custDataLst>
              </p:nvPr>
            </p:nvSpPr>
            <p:spPr>
              <a:xfrm>
                <a:off x="701966" y="3779189"/>
                <a:ext cx="4042389" cy="276999"/>
              </a:xfrm>
              <a:prstGeom prst="rect">
                <a:avLst/>
              </a:prstGeom>
              <a:blipFill>
                <a:blip r:embed="rId10"/>
                <a:stretch>
                  <a:fillRect l="-905" t="-6667" r="-1961" b="-35556"/>
                </a:stretch>
              </a:blipFill>
            </p:spPr>
            <p:txBody>
              <a:bodyPr/>
              <a:lstStyle/>
              <a:p>
                <a:r>
                  <a:rPr lang="en-US">
                    <a:noFill/>
                  </a:rPr>
                  <a:t> </a:t>
                </a:r>
              </a:p>
            </p:txBody>
          </p:sp>
        </mc:Fallback>
      </mc:AlternateContent>
      <p:sp>
        <p:nvSpPr>
          <p:cNvPr id="8" name="Espace réservé du pied de page 2">
            <a:extLst>
              <a:ext uri="{FF2B5EF4-FFF2-40B4-BE49-F238E27FC236}">
                <a16:creationId xmlns:a16="http://schemas.microsoft.com/office/drawing/2014/main" id="{0B783B2E-0D67-C9E2-BF9B-91ACF58A93E9}"/>
              </a:ext>
            </a:extLst>
          </p:cNvPr>
          <p:cNvSpPr>
            <a:spLocks noGrp="1"/>
          </p:cNvSpPr>
          <p:nvPr>
            <p:ph type="ftr" sz="quarter" idx="11"/>
            <p:custDataLst>
              <p:tags r:id="rId6"/>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087777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0127-BA92-1E85-8159-CE453D9D0BB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133AE8-59CE-19C4-EADE-82D305B5236C}"/>
              </a:ext>
            </a:extLst>
          </p:cNvPr>
          <p:cNvSpPr>
            <a:spLocks noGrp="1"/>
          </p:cNvSpPr>
          <p:nvPr>
            <p:ph type="title"/>
            <p:custDataLst>
              <p:tags r:id="rId1"/>
            </p:custDataLst>
          </p:nvPr>
        </p:nvSpPr>
        <p:spPr>
          <a:xfrm>
            <a:off x="838200" y="162265"/>
            <a:ext cx="10515600" cy="1325563"/>
          </a:xfrm>
        </p:spPr>
        <p:txBody>
          <a:bodyPr>
            <a:normAutofit/>
          </a:bodyPr>
          <a:lstStyle/>
          <a:p>
            <a:r>
              <a:rPr lang="fr-CA" sz="4000" dirty="0"/>
              <a:t>Révision calcul RCI et RNR– Exemple</a:t>
            </a:r>
          </a:p>
        </p:txBody>
      </p:sp>
      <p:graphicFrame>
        <p:nvGraphicFramePr>
          <p:cNvPr id="8" name="Espace réservé du contenu 7">
            <a:extLst>
              <a:ext uri="{FF2B5EF4-FFF2-40B4-BE49-F238E27FC236}">
                <a16:creationId xmlns:a16="http://schemas.microsoft.com/office/drawing/2014/main" id="{57DE273B-0E63-F7CA-9E18-C1E832684843}"/>
              </a:ext>
            </a:extLst>
          </p:cNvPr>
          <p:cNvGraphicFramePr>
            <a:graphicFrameLocks noGrp="1"/>
          </p:cNvGraphicFramePr>
          <p:nvPr>
            <p:ph sz="half" idx="1"/>
            <p:custDataLst>
              <p:tags r:id="rId2"/>
            </p:custDataLst>
            <p:extLst>
              <p:ext uri="{D42A27DB-BD31-4B8C-83A1-F6EECF244321}">
                <p14:modId xmlns:p14="http://schemas.microsoft.com/office/powerpoint/2010/main" val="3957842540"/>
              </p:ext>
            </p:extLst>
          </p:nvPr>
        </p:nvGraphicFramePr>
        <p:xfrm>
          <a:off x="602673" y="1708440"/>
          <a:ext cx="6436263" cy="1838271"/>
        </p:xfrm>
        <a:graphic>
          <a:graphicData uri="http://schemas.openxmlformats.org/drawingml/2006/table">
            <a:tbl>
              <a:tblPr firstRow="1" bandRow="1">
                <a:tableStyleId>{C083E6E3-FA7D-4D7B-A595-EF9225AFEA82}</a:tableStyleId>
              </a:tblPr>
              <a:tblGrid>
                <a:gridCol w="2868083">
                  <a:extLst>
                    <a:ext uri="{9D8B030D-6E8A-4147-A177-3AD203B41FA5}">
                      <a16:colId xmlns:a16="http://schemas.microsoft.com/office/drawing/2014/main" val="20000"/>
                    </a:ext>
                  </a:extLst>
                </a:gridCol>
                <a:gridCol w="1661581">
                  <a:extLst>
                    <a:ext uri="{9D8B030D-6E8A-4147-A177-3AD203B41FA5}">
                      <a16:colId xmlns:a16="http://schemas.microsoft.com/office/drawing/2014/main" val="20001"/>
                    </a:ext>
                  </a:extLst>
                </a:gridCol>
                <a:gridCol w="1906599">
                  <a:extLst>
                    <a:ext uri="{9D8B030D-6E8A-4147-A177-3AD203B41FA5}">
                      <a16:colId xmlns:a16="http://schemas.microsoft.com/office/drawing/2014/main" val="20002"/>
                    </a:ext>
                  </a:extLst>
                </a:gridCol>
              </a:tblGrid>
              <a:tr h="612757">
                <a:tc>
                  <a:txBody>
                    <a:bodyPr/>
                    <a:lstStyle/>
                    <a:p>
                      <a:pPr algn="ctr"/>
                      <a:r>
                        <a:rPr lang="fr-CA" sz="2400" u="sng" dirty="0"/>
                        <a:t>Divisions</a:t>
                      </a:r>
                      <a:endParaRPr lang="fr-CA" sz="2400" b="1" u="sng" dirty="0">
                        <a:solidFill>
                          <a:srgbClr val="FF0000"/>
                        </a:solidFill>
                      </a:endParaRPr>
                    </a:p>
                  </a:txBody>
                  <a:tcPr marL="88616" marR="88616"/>
                </a:tc>
                <a:tc>
                  <a:txBody>
                    <a:bodyPr/>
                    <a:lstStyle/>
                    <a:p>
                      <a:pPr algn="ctr"/>
                      <a:r>
                        <a:rPr lang="fr-CA" sz="2400" u="sng"/>
                        <a:t>A</a:t>
                      </a:r>
                      <a:endParaRPr lang="fr-CA" sz="2400" b="1" u="sng">
                        <a:solidFill>
                          <a:srgbClr val="FF0000"/>
                        </a:solidFill>
                      </a:endParaRPr>
                    </a:p>
                  </a:txBody>
                  <a:tcPr marL="88616" marR="88616"/>
                </a:tc>
                <a:tc>
                  <a:txBody>
                    <a:bodyPr/>
                    <a:lstStyle/>
                    <a:p>
                      <a:pPr algn="ctr"/>
                      <a:r>
                        <a:rPr lang="fr-CA" sz="2400" b="1" u="sng" dirty="0">
                          <a:solidFill>
                            <a:schemeClr val="tx1"/>
                          </a:solidFill>
                        </a:rPr>
                        <a:t>B</a:t>
                      </a:r>
                    </a:p>
                  </a:txBody>
                  <a:tcPr marL="88616" marR="88616"/>
                </a:tc>
                <a:extLst>
                  <a:ext uri="{0D108BD9-81ED-4DB2-BD59-A6C34878D82A}">
                    <a16:rowId xmlns:a16="http://schemas.microsoft.com/office/drawing/2014/main" val="10001"/>
                  </a:ext>
                </a:extLst>
              </a:tr>
              <a:tr h="612757">
                <a:tc>
                  <a:txBody>
                    <a:bodyPr/>
                    <a:lstStyle/>
                    <a:p>
                      <a:pPr algn="l"/>
                      <a:r>
                        <a:rPr lang="fr-CA" sz="2400" dirty="0"/>
                        <a:t>Résultat exploitation</a:t>
                      </a:r>
                    </a:p>
                  </a:txBody>
                  <a:tcPr marL="88616" marR="88616"/>
                </a:tc>
                <a:tc>
                  <a:txBody>
                    <a:bodyPr/>
                    <a:lstStyle/>
                    <a:p>
                      <a:pPr algn="r"/>
                      <a:r>
                        <a:rPr lang="fr-CA" sz="2400"/>
                        <a:t>360 000 $</a:t>
                      </a:r>
                    </a:p>
                  </a:txBody>
                  <a:tcPr marL="88616" marR="88616"/>
                </a:tc>
                <a:tc>
                  <a:txBody>
                    <a:bodyPr/>
                    <a:lstStyle/>
                    <a:p>
                      <a:pPr algn="r"/>
                      <a:r>
                        <a:rPr lang="fr-CA" sz="2400"/>
                        <a:t>260 000 $</a:t>
                      </a:r>
                    </a:p>
                  </a:txBody>
                  <a:tcPr marL="88616" marR="88616"/>
                </a:tc>
                <a:extLst>
                  <a:ext uri="{0D108BD9-81ED-4DB2-BD59-A6C34878D82A}">
                    <a16:rowId xmlns:a16="http://schemas.microsoft.com/office/drawing/2014/main" val="10002"/>
                  </a:ext>
                </a:extLst>
              </a:tr>
              <a:tr h="612757">
                <a:tc>
                  <a:txBody>
                    <a:bodyPr/>
                    <a:lstStyle/>
                    <a:p>
                      <a:pPr algn="l"/>
                      <a:r>
                        <a:rPr lang="fr-CA" sz="2400"/>
                        <a:t>Capital investi</a:t>
                      </a:r>
                    </a:p>
                  </a:txBody>
                  <a:tcPr marL="88616" marR="88616"/>
                </a:tc>
                <a:tc>
                  <a:txBody>
                    <a:bodyPr/>
                    <a:lstStyle/>
                    <a:p>
                      <a:pPr algn="r"/>
                      <a:r>
                        <a:rPr lang="fr-CA" sz="2400" dirty="0"/>
                        <a:t>3 000 000 $</a:t>
                      </a:r>
                    </a:p>
                  </a:txBody>
                  <a:tcPr marL="88616" marR="88616"/>
                </a:tc>
                <a:tc>
                  <a:txBody>
                    <a:bodyPr/>
                    <a:lstStyle/>
                    <a:p>
                      <a:pPr algn="r"/>
                      <a:r>
                        <a:rPr lang="fr-CA" sz="2400"/>
                        <a:t>2 000 000 $</a:t>
                      </a:r>
                    </a:p>
                  </a:txBody>
                  <a:tcPr marL="88616" marR="88616"/>
                </a:tc>
                <a:extLst>
                  <a:ext uri="{0D108BD9-81ED-4DB2-BD59-A6C34878D82A}">
                    <a16:rowId xmlns:a16="http://schemas.microsoft.com/office/drawing/2014/main" val="10003"/>
                  </a:ext>
                </a:extLst>
              </a:tr>
            </a:tbl>
          </a:graphicData>
        </a:graphic>
      </p:graphicFrame>
      <p:sp>
        <p:nvSpPr>
          <p:cNvPr id="3" name="Espace réservé du numéro de diapositive 2">
            <a:extLst>
              <a:ext uri="{FF2B5EF4-FFF2-40B4-BE49-F238E27FC236}">
                <a16:creationId xmlns:a16="http://schemas.microsoft.com/office/drawing/2014/main" id="{F38604C5-7895-FC14-E128-CF935DB7A0CB}"/>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24</a:t>
            </a:fld>
            <a:endParaRPr lang="fr-CA">
              <a:solidFill>
                <a:prstClr val="black">
                  <a:tint val="75000"/>
                </a:prstClr>
              </a:solidFill>
            </a:endParaRPr>
          </a:p>
        </p:txBody>
      </p:sp>
      <p:sp>
        <p:nvSpPr>
          <p:cNvPr id="5" name="Espace réservé du contenu 3">
            <a:extLst>
              <a:ext uri="{FF2B5EF4-FFF2-40B4-BE49-F238E27FC236}">
                <a16:creationId xmlns:a16="http://schemas.microsoft.com/office/drawing/2014/main" id="{39C7FB5B-CF33-2A25-249F-971BE5F2B643}"/>
              </a:ext>
            </a:extLst>
          </p:cNvPr>
          <p:cNvSpPr txBox="1">
            <a:spLocks/>
          </p:cNvSpPr>
          <p:nvPr>
            <p:custDataLst>
              <p:tags r:id="rId4"/>
            </p:custDataLst>
          </p:nvPr>
        </p:nvSpPr>
        <p:spPr>
          <a:xfrm>
            <a:off x="7357034" y="1708439"/>
            <a:ext cx="4409396" cy="501303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200" dirty="0"/>
              <a:t>Le </a:t>
            </a:r>
            <a:r>
              <a:rPr lang="fr-CA" sz="2200" b="1" dirty="0"/>
              <a:t>RCI</a:t>
            </a:r>
            <a:r>
              <a:rPr lang="fr-CA" sz="2200" dirty="0"/>
              <a:t> est utilisé pour évaluer la performance du directeur de la subdivision A </a:t>
            </a:r>
          </a:p>
          <a:p>
            <a:r>
              <a:rPr lang="fr-CA" sz="2200" dirty="0"/>
              <a:t>Tandis que Résultat Net Résiduel (</a:t>
            </a:r>
            <a:r>
              <a:rPr lang="fr-CA" sz="2200" b="1" dirty="0"/>
              <a:t>RNR</a:t>
            </a:r>
            <a:r>
              <a:rPr lang="fr-CA" sz="2200" dirty="0"/>
              <a:t>) est utilisé pour évaluer la performance du directeur de la subdivision B </a:t>
            </a:r>
          </a:p>
          <a:p>
            <a:r>
              <a:rPr lang="fr-CA" sz="2200" dirty="0"/>
              <a:t>Les divisions peuvent investir dans un projet nécessitant un investissement de 1 000 000 $ et offrant un rendement de 11%. </a:t>
            </a:r>
          </a:p>
          <a:p>
            <a:r>
              <a:rPr lang="fr-CA" sz="2200" dirty="0"/>
              <a:t>Coût du capital à atteindre de 10 %</a:t>
            </a:r>
          </a:p>
          <a:p>
            <a:pPr marL="0" indent="0">
              <a:buNone/>
            </a:pPr>
            <a:endParaRPr lang="fr-CA" sz="2000" dirty="0"/>
          </a:p>
        </p:txBody>
      </p:sp>
      <p:sp>
        <p:nvSpPr>
          <p:cNvPr id="4" name="Espace réservé du pied de page 2">
            <a:extLst>
              <a:ext uri="{FF2B5EF4-FFF2-40B4-BE49-F238E27FC236}">
                <a16:creationId xmlns:a16="http://schemas.microsoft.com/office/drawing/2014/main" id="{7865B735-74C5-2385-838E-D9F0753E26D5}"/>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
        <p:nvSpPr>
          <p:cNvPr id="6" name="ZoneTexte 5">
            <a:extLst>
              <a:ext uri="{FF2B5EF4-FFF2-40B4-BE49-F238E27FC236}">
                <a16:creationId xmlns:a16="http://schemas.microsoft.com/office/drawing/2014/main" id="{CB377AAF-B562-1694-FB2D-6B9C7CC40EE1}"/>
              </a:ext>
            </a:extLst>
          </p:cNvPr>
          <p:cNvSpPr txBox="1"/>
          <p:nvPr/>
        </p:nvSpPr>
        <p:spPr>
          <a:xfrm>
            <a:off x="230037" y="3285227"/>
            <a:ext cx="6685471" cy="29433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fr-CA" sz="2100" b="1" dirty="0">
              <a:solidFill>
                <a:srgbClr val="C00000"/>
              </a:solidFill>
              <a:latin typeface="Calibri"/>
            </a:endParaRPr>
          </a:p>
          <a:p>
            <a:pPr lvl="1">
              <a:lnSpc>
                <a:spcPct val="90000"/>
              </a:lnSpc>
              <a:spcBef>
                <a:spcPts val="500"/>
              </a:spcBef>
            </a:pPr>
            <a:r>
              <a:rPr lang="fr-CA" sz="2400" b="1" dirty="0">
                <a:latin typeface="Calibri"/>
                <a:ea typeface="Calibri"/>
                <a:cs typeface="Calibri"/>
              </a:rPr>
              <a:t>Travail à faire : </a:t>
            </a:r>
          </a:p>
          <a:p>
            <a:pPr marL="800100" lvl="1" indent="-342900">
              <a:lnSpc>
                <a:spcPct val="90000"/>
              </a:lnSpc>
              <a:spcBef>
                <a:spcPts val="500"/>
              </a:spcBef>
              <a:buFont typeface="Arial"/>
              <a:buChar char="•"/>
            </a:pPr>
            <a:r>
              <a:rPr lang="fr-CA" sz="2400" dirty="0">
                <a:latin typeface="Calibri"/>
              </a:rPr>
              <a:t>Calculer le RCI et le RNR actuel.</a:t>
            </a:r>
            <a:endParaRPr lang="en-US" sz="2400" dirty="0">
              <a:latin typeface="Calibri"/>
              <a:ea typeface="Calibri"/>
              <a:cs typeface="Calibri"/>
            </a:endParaRPr>
          </a:p>
          <a:p>
            <a:pPr marL="800100" lvl="1" indent="-342900">
              <a:lnSpc>
                <a:spcPct val="90000"/>
              </a:lnSpc>
              <a:spcBef>
                <a:spcPts val="500"/>
              </a:spcBef>
              <a:buFont typeface="Arial"/>
              <a:buChar char="•"/>
            </a:pPr>
            <a:r>
              <a:rPr lang="fr-CA" sz="2400" dirty="0">
                <a:latin typeface="Calibri"/>
              </a:rPr>
              <a:t>Calculer le RCI et le RNR avec le projet.</a:t>
            </a:r>
            <a:endParaRPr lang="fr-CA" sz="2400" dirty="0">
              <a:latin typeface="Calibri"/>
              <a:ea typeface="Calibri"/>
              <a:cs typeface="Calibri"/>
            </a:endParaRPr>
          </a:p>
          <a:p>
            <a:pPr marL="800100" lvl="1" indent="-342900">
              <a:lnSpc>
                <a:spcPct val="90000"/>
              </a:lnSpc>
              <a:spcBef>
                <a:spcPts val="500"/>
              </a:spcBef>
              <a:buFont typeface="Arial"/>
              <a:buChar char="•"/>
            </a:pPr>
            <a:r>
              <a:rPr lang="fr-CA" sz="2400" baseline="0" dirty="0">
                <a:latin typeface="Calibri"/>
              </a:rPr>
              <a:t>Quel sera l’impact possible quant à l’acceptation du projet si on lie la bonification du directeur au RCI-RNR de la division ?</a:t>
            </a:r>
            <a:endParaRPr lang="fr-CA" sz="2400" dirty="0">
              <a:ea typeface="Calibri"/>
              <a:cs typeface="Calibri"/>
            </a:endParaRPr>
          </a:p>
          <a:p>
            <a:pPr algn="ctr"/>
            <a:endParaRPr lang="fr-CA" dirty="0"/>
          </a:p>
        </p:txBody>
      </p:sp>
    </p:spTree>
    <p:extLst>
      <p:ext uri="{BB962C8B-B14F-4D97-AF65-F5344CB8AC3E}">
        <p14:creationId xmlns:p14="http://schemas.microsoft.com/office/powerpoint/2010/main" val="159408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E21201-0B7C-CC01-C65F-45671B5A3320}"/>
              </a:ext>
            </a:extLst>
          </p:cNvPr>
          <p:cNvSpPr>
            <a:spLocks noGrp="1"/>
          </p:cNvSpPr>
          <p:nvPr>
            <p:ph type="title"/>
          </p:nvPr>
        </p:nvSpPr>
        <p:spPr>
          <a:xfrm>
            <a:off x="838200" y="365125"/>
            <a:ext cx="10515600" cy="986597"/>
          </a:xfrm>
        </p:spPr>
        <p:txBody>
          <a:bodyPr/>
          <a:lstStyle/>
          <a:p>
            <a:r>
              <a:rPr lang="fr-CA" dirty="0">
                <a:ea typeface="Calibri Light"/>
                <a:cs typeface="Calibri Light"/>
              </a:rPr>
              <a:t>Illustration RCI –RNR</a:t>
            </a:r>
            <a:endParaRPr lang="fr-CA" dirty="0"/>
          </a:p>
        </p:txBody>
      </p:sp>
      <p:sp>
        <p:nvSpPr>
          <p:cNvPr id="3" name="Espace réservé du contenu 2">
            <a:extLst>
              <a:ext uri="{FF2B5EF4-FFF2-40B4-BE49-F238E27FC236}">
                <a16:creationId xmlns:a16="http://schemas.microsoft.com/office/drawing/2014/main" id="{E3097D67-E4C0-37D4-ABB0-7619AF5157A7}"/>
              </a:ext>
            </a:extLst>
          </p:cNvPr>
          <p:cNvSpPr>
            <a:spLocks noGrp="1"/>
          </p:cNvSpPr>
          <p:nvPr>
            <p:ph sz="half" idx="1"/>
          </p:nvPr>
        </p:nvSpPr>
        <p:spPr/>
        <p:txBody>
          <a:bodyPr vert="horz" lIns="91440" tIns="45720" rIns="91440" bIns="45720" rtlCol="0" anchor="t">
            <a:normAutofit/>
          </a:bodyPr>
          <a:lstStyle/>
          <a:p>
            <a:pPr marL="0" indent="0">
              <a:buNone/>
            </a:pPr>
            <a:r>
              <a:rPr lang="fr-CA" b="1" dirty="0">
                <a:ea typeface="Calibri"/>
                <a:cs typeface="Calibri"/>
              </a:rPr>
              <a:t>Division A</a:t>
            </a:r>
            <a:endParaRPr lang="fr-FR" b="1" dirty="0"/>
          </a:p>
          <a:p>
            <a:pPr marL="0" indent="0">
              <a:buNone/>
            </a:pPr>
            <a:r>
              <a:rPr lang="fr-CA" dirty="0">
                <a:ea typeface="Calibri"/>
                <a:cs typeface="Calibri"/>
              </a:rPr>
              <a:t>RCI actuel:</a:t>
            </a:r>
          </a:p>
          <a:p>
            <a:pPr marL="0" indent="0">
              <a:buNone/>
            </a:pPr>
            <a:r>
              <a:rPr lang="fr-CA" dirty="0">
                <a:ea typeface="Calibri"/>
                <a:cs typeface="Calibri"/>
              </a:rPr>
              <a:t>360 000 $ / 3 000 000 $ = 12 %</a:t>
            </a:r>
          </a:p>
          <a:p>
            <a:pPr marL="0" indent="0">
              <a:buNone/>
            </a:pPr>
            <a:r>
              <a:rPr lang="fr-CA" sz="2400" dirty="0">
                <a:ea typeface="Calibri"/>
                <a:cs typeface="Calibri"/>
              </a:rPr>
              <a:t>Projet d'investissement</a:t>
            </a:r>
          </a:p>
          <a:p>
            <a:pPr marL="0" indent="0">
              <a:buNone/>
            </a:pPr>
            <a:r>
              <a:rPr lang="fr-CA" sz="2400" dirty="0">
                <a:ea typeface="Calibri"/>
                <a:cs typeface="Calibri"/>
              </a:rPr>
              <a:t>1 000 000 $ x 11 % = 110 000 $</a:t>
            </a:r>
          </a:p>
        </p:txBody>
      </p:sp>
      <p:sp>
        <p:nvSpPr>
          <p:cNvPr id="4" name="Espace réservé du contenu 3">
            <a:extLst>
              <a:ext uri="{FF2B5EF4-FFF2-40B4-BE49-F238E27FC236}">
                <a16:creationId xmlns:a16="http://schemas.microsoft.com/office/drawing/2014/main" id="{3A68DC43-8ABC-A5C8-5517-25AE4D403309}"/>
              </a:ext>
            </a:extLst>
          </p:cNvPr>
          <p:cNvSpPr>
            <a:spLocks noGrp="1"/>
          </p:cNvSpPr>
          <p:nvPr>
            <p:ph sz="half" idx="2"/>
          </p:nvPr>
        </p:nvSpPr>
        <p:spPr>
          <a:xfrm>
            <a:off x="6100314" y="1825625"/>
            <a:ext cx="5857335" cy="4351338"/>
          </a:xfrm>
        </p:spPr>
        <p:txBody>
          <a:bodyPr vert="horz" lIns="91440" tIns="45720" rIns="91440" bIns="45720" rtlCol="0" anchor="t">
            <a:normAutofit/>
          </a:bodyPr>
          <a:lstStyle/>
          <a:p>
            <a:pPr marL="0" indent="0">
              <a:buNone/>
            </a:pPr>
            <a:r>
              <a:rPr lang="fr-CA" b="1">
                <a:ea typeface="Calibri" panose="020F0502020204030204"/>
                <a:cs typeface="Calibri" panose="020F0502020204030204"/>
              </a:rPr>
              <a:t>Division B</a:t>
            </a:r>
          </a:p>
          <a:p>
            <a:pPr marL="0" indent="0">
              <a:buNone/>
            </a:pPr>
            <a:r>
              <a:rPr lang="fr-CA">
                <a:ea typeface="Calibri" panose="020F0502020204030204"/>
                <a:cs typeface="Calibri" panose="020F0502020204030204"/>
              </a:rPr>
              <a:t>RNR actuel : </a:t>
            </a:r>
          </a:p>
          <a:p>
            <a:pPr marL="0" indent="0">
              <a:buNone/>
            </a:pPr>
            <a:r>
              <a:rPr lang="fr-CA" sz="2200">
                <a:ea typeface="Calibri" panose="020F0502020204030204"/>
                <a:cs typeface="Calibri" panose="020F0502020204030204"/>
              </a:rPr>
              <a:t>Résultat exigé: (2 000 000 $ x 10 %) = 200 000 $</a:t>
            </a:r>
          </a:p>
          <a:p>
            <a:pPr marL="0" indent="0">
              <a:buNone/>
            </a:pPr>
            <a:r>
              <a:rPr lang="fr-CA">
                <a:ea typeface="Calibri" panose="020F0502020204030204"/>
                <a:cs typeface="Calibri" panose="020F0502020204030204"/>
              </a:rPr>
              <a:t>260 000 $ - 200 000 $ = 60 000 $</a:t>
            </a:r>
          </a:p>
        </p:txBody>
      </p:sp>
      <p:sp>
        <p:nvSpPr>
          <p:cNvPr id="5" name="Espace réservé du pied de page 4">
            <a:extLst>
              <a:ext uri="{FF2B5EF4-FFF2-40B4-BE49-F238E27FC236}">
                <a16:creationId xmlns:a16="http://schemas.microsoft.com/office/drawing/2014/main" id="{06BA4A27-4D81-1383-B421-EBC9D459B771}"/>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07DD532C-8CFD-3861-11BA-F8525F4BB8BC}"/>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25</a:t>
            </a:fld>
            <a:endParaRPr lang="fr-CA">
              <a:solidFill>
                <a:prstClr val="black">
                  <a:tint val="75000"/>
                </a:prstClr>
              </a:solidFill>
            </a:endParaRPr>
          </a:p>
        </p:txBody>
      </p:sp>
    </p:spTree>
    <p:extLst>
      <p:ext uri="{BB962C8B-B14F-4D97-AF65-F5344CB8AC3E}">
        <p14:creationId xmlns:p14="http://schemas.microsoft.com/office/powerpoint/2010/main" val="536351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p:custDataLst>
              <p:tags r:id="rId2"/>
            </p:custDataLst>
          </p:nvPr>
        </p:nvSpPr>
        <p:spPr>
          <a:xfrm>
            <a:off x="838200" y="365125"/>
            <a:ext cx="10515600" cy="685199"/>
          </a:xfrm>
        </p:spPr>
        <p:txBody>
          <a:bodyPr vert="horz" anchor="ctr">
            <a:noAutofit/>
          </a:bodyPr>
          <a:lstStyle/>
          <a:p>
            <a:r>
              <a:rPr lang="fr-FR" sz="4000" dirty="0"/>
              <a:t>RCI et RNR - Limites</a:t>
            </a:r>
          </a:p>
        </p:txBody>
      </p:sp>
      <p:sp>
        <p:nvSpPr>
          <p:cNvPr id="6" name="Espace réservé du numéro de diapositive 5"/>
          <p:cNvSpPr>
            <a:spLocks noGrp="1"/>
          </p:cNvSpPr>
          <p:nvPr>
            <p:ph type="sldNum" sz="quarter" idx="12"/>
            <p:custDataLst>
              <p:tags r:id="rId3"/>
            </p:custDataLst>
          </p:nvPr>
        </p:nvSpPr>
        <p:spPr/>
        <p:txBody>
          <a:bodyPr>
            <a:normAutofit/>
          </a:bodyPr>
          <a:lstStyle/>
          <a:p>
            <a:pPr>
              <a:defRPr/>
            </a:pPr>
            <a:fld id="{78C1DC52-1979-4D57-B923-A2F6BBF17C17}" type="slidenum">
              <a:rPr lang="fr-CA" smtClean="0"/>
              <a:pPr>
                <a:defRPr/>
              </a:pPr>
              <a:t>26</a:t>
            </a:fld>
            <a:endParaRPr lang="fr-CA"/>
          </a:p>
        </p:txBody>
      </p:sp>
      <p:sp>
        <p:nvSpPr>
          <p:cNvPr id="5" name="Espace réservé du contenu 3">
            <a:extLst>
              <a:ext uri="{FF2B5EF4-FFF2-40B4-BE49-F238E27FC236}">
                <a16:creationId xmlns:a16="http://schemas.microsoft.com/office/drawing/2014/main" id="{9FE0A1EB-1357-4866-866B-0263AD236B64}"/>
              </a:ext>
            </a:extLst>
          </p:cNvPr>
          <p:cNvSpPr txBox="1">
            <a:spLocks/>
          </p:cNvSpPr>
          <p:nvPr>
            <p:custDataLst>
              <p:tags r:id="rId4"/>
            </p:custDataLst>
          </p:nvPr>
        </p:nvSpPr>
        <p:spPr>
          <a:xfrm>
            <a:off x="838200" y="1582615"/>
            <a:ext cx="10647556" cy="491026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3200" dirty="0"/>
              <a:t>Limites : </a:t>
            </a:r>
          </a:p>
          <a:p>
            <a:pPr lvl="1"/>
            <a:r>
              <a:rPr lang="fr-CA" sz="3200" dirty="0"/>
              <a:t>Donnent une image historique de l’entreprise</a:t>
            </a:r>
          </a:p>
          <a:p>
            <a:pPr lvl="1"/>
            <a:r>
              <a:rPr lang="fr-CA" sz="3200" dirty="0"/>
              <a:t>Favorisent une perspective à court terme</a:t>
            </a:r>
          </a:p>
          <a:p>
            <a:pPr lvl="1"/>
            <a:r>
              <a:rPr lang="fr-CA" sz="3200" dirty="0"/>
              <a:t>Ne permettent pas d’identifier les facteurs qui expliquent la performance</a:t>
            </a:r>
          </a:p>
          <a:p>
            <a:pPr marL="0" indent="0">
              <a:buFont typeface="Arial" panose="020B0604020202020204" pitchFamily="34" charset="0"/>
              <a:buNone/>
            </a:pPr>
            <a:endParaRPr lang="fr-CA" sz="3200" b="1" u="sng" dirty="0"/>
          </a:p>
          <a:p>
            <a:pPr marL="0" indent="0">
              <a:buFont typeface="Arial" panose="020B0604020202020204" pitchFamily="34" charset="0"/>
              <a:buNone/>
            </a:pPr>
            <a:r>
              <a:rPr lang="fr-CA" sz="3200" b="1" u="sng" dirty="0"/>
              <a:t>Désavantages </a:t>
            </a:r>
            <a:r>
              <a:rPr lang="fr-CA" sz="3200" dirty="0"/>
              <a:t>notamment quand les mesures de performance financières servent de mesure de performance des dirigeants :</a:t>
            </a:r>
          </a:p>
          <a:p>
            <a:pPr lvl="1"/>
            <a:r>
              <a:rPr lang="fr-CA" sz="3200" dirty="0"/>
              <a:t>Dépend souvent de décisions antérieures indépendantes des responsables actuels</a:t>
            </a:r>
          </a:p>
          <a:p>
            <a:pPr marL="457200" lvl="1" indent="0">
              <a:buFont typeface="Arial" panose="020B0604020202020204" pitchFamily="34" charset="0"/>
              <a:buNone/>
            </a:pPr>
            <a:endParaRPr lang="fr-CA" sz="3200" dirty="0"/>
          </a:p>
          <a:p>
            <a:pPr lvl="1"/>
            <a:r>
              <a:rPr lang="fr-CA" sz="3200" dirty="0"/>
              <a:t>Peut amener les dirigeants à des opérations non rentables à long terme</a:t>
            </a:r>
          </a:p>
          <a:p>
            <a:pPr lvl="2"/>
            <a:r>
              <a:rPr lang="fr-CA" sz="3200" dirty="0"/>
              <a:t>réduire la recherche </a:t>
            </a:r>
          </a:p>
          <a:p>
            <a:pPr lvl="2"/>
            <a:r>
              <a:rPr lang="fr-CA" sz="3200" dirty="0"/>
              <a:t>réduire les frais d’entretien </a:t>
            </a:r>
          </a:p>
          <a:p>
            <a:pPr lvl="2"/>
            <a:r>
              <a:rPr lang="fr-CA" sz="3200" dirty="0"/>
              <a:t>ne pas investir dans les immobilisations</a:t>
            </a:r>
          </a:p>
          <a:p>
            <a:pPr marL="914400" lvl="2" indent="0">
              <a:buFont typeface="Arial" panose="020B0604020202020204" pitchFamily="34" charset="0"/>
              <a:buNone/>
            </a:pPr>
            <a:endParaRPr lang="fr-CA" sz="3200" dirty="0"/>
          </a:p>
          <a:p>
            <a:pPr lvl="1"/>
            <a:r>
              <a:rPr lang="fr-CA" sz="3200" u="sng" dirty="0"/>
              <a:t>Pour le RCI</a:t>
            </a:r>
            <a:r>
              <a:rPr lang="fr-CA" sz="3200" dirty="0"/>
              <a:t>, peut amener à rejeter des projets qui feraient diminuer le RCI actuel de la subdivision</a:t>
            </a:r>
          </a:p>
          <a:p>
            <a:pPr marL="0" indent="0">
              <a:buNone/>
            </a:pPr>
            <a:endParaRPr lang="fr-CA" sz="3200" b="1" dirty="0"/>
          </a:p>
          <a:p>
            <a:pPr marL="0" indent="0">
              <a:buNone/>
            </a:pPr>
            <a:r>
              <a:rPr lang="fr-CA" sz="3200" b="1" dirty="0"/>
              <a:t>L’utilisation de mesures non financières permet de contrebalancer les effets négatifs des mesures financières.</a:t>
            </a:r>
          </a:p>
          <a:p>
            <a:pPr marL="457200" lvl="1" indent="0">
              <a:buFont typeface="Arial" panose="020B0604020202020204" pitchFamily="34" charset="0"/>
              <a:buNone/>
            </a:pPr>
            <a:endParaRPr lang="fr-CA" dirty="0"/>
          </a:p>
        </p:txBody>
      </p:sp>
      <p:sp>
        <p:nvSpPr>
          <p:cNvPr id="3" name="Espace réservé du pied de page 2">
            <a:extLst>
              <a:ext uri="{FF2B5EF4-FFF2-40B4-BE49-F238E27FC236}">
                <a16:creationId xmlns:a16="http://schemas.microsoft.com/office/drawing/2014/main" id="{818CB296-CD0D-CEA8-B97E-56AD13C4975A}"/>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221802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7B5CE-7834-C25C-A56F-F96608DA70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852E82-787D-1A0D-9178-2B74FE4B247B}"/>
              </a:ext>
            </a:extLst>
          </p:cNvPr>
          <p:cNvSpPr>
            <a:spLocks noGrp="1"/>
          </p:cNvSpPr>
          <p:nvPr>
            <p:ph type="title"/>
            <p:custDataLst>
              <p:tags r:id="rId1"/>
            </p:custDataLst>
          </p:nvPr>
        </p:nvSpPr>
        <p:spPr>
          <a:xfrm>
            <a:off x="831850" y="1709739"/>
            <a:ext cx="10515600" cy="2399554"/>
          </a:xfrm>
        </p:spPr>
        <p:txBody>
          <a:bodyPr>
            <a:normAutofit/>
          </a:bodyPr>
          <a:lstStyle/>
          <a:p>
            <a:r>
              <a:rPr lang="en-US" dirty="0" err="1"/>
              <a:t>Mesure</a:t>
            </a:r>
            <a:r>
              <a:rPr lang="en-US" dirty="0"/>
              <a:t> </a:t>
            </a:r>
            <a:r>
              <a:rPr lang="en-US" dirty="0" err="1"/>
              <a:t>multidimensionnelle</a:t>
            </a:r>
            <a:r>
              <a:rPr lang="en-US" dirty="0"/>
              <a:t> de la performance</a:t>
            </a:r>
            <a:endParaRPr lang="fr-CA" dirty="0"/>
          </a:p>
        </p:txBody>
      </p:sp>
      <p:sp>
        <p:nvSpPr>
          <p:cNvPr id="5" name="Espace réservé du numéro de diapositive 4">
            <a:extLst>
              <a:ext uri="{FF2B5EF4-FFF2-40B4-BE49-F238E27FC236}">
                <a16:creationId xmlns:a16="http://schemas.microsoft.com/office/drawing/2014/main" id="{495E76E1-ACB5-33DB-7C3D-EC9C9D48F96B}"/>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27</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D4701D5D-9716-0C48-337E-BD47BF7B9C33}"/>
              </a:ext>
            </a:extLst>
          </p:cNvPr>
          <p:cNvSpPr>
            <a:spLocks noGrp="1"/>
          </p:cNvSpPr>
          <p:nvPr>
            <p:ph type="ftr" sz="quarter" idx="11"/>
            <p:custDataLst>
              <p:tags r:id="rId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631620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86A5545-429C-499A-B8AF-D04C5F4ED287}"/>
              </a:ext>
            </a:extLst>
          </p:cNvPr>
          <p:cNvSpPr>
            <a:spLocks noGrp="1"/>
          </p:cNvSpPr>
          <p:nvPr>
            <p:ph idx="1"/>
            <p:custDataLst>
              <p:tags r:id="rId1"/>
            </p:custDataLst>
          </p:nvPr>
        </p:nvSpPr>
        <p:spPr>
          <a:xfrm>
            <a:off x="838200" y="1726683"/>
            <a:ext cx="10515600" cy="4317857"/>
          </a:xfrm>
        </p:spPr>
        <p:txBody>
          <a:bodyPr vert="horz" lIns="91440" tIns="45720" rIns="91440" bIns="45720" rtlCol="0" anchor="t">
            <a:normAutofit fontScale="85000" lnSpcReduction="20000"/>
          </a:bodyPr>
          <a:lstStyle/>
          <a:p>
            <a:pPr algn="just"/>
            <a:r>
              <a:rPr lang="fr-CA" dirty="0"/>
              <a:t>Outil de mesure de la performance organisationnelle </a:t>
            </a:r>
          </a:p>
          <a:p>
            <a:pPr marL="0" indent="0" algn="just">
              <a:buNone/>
            </a:pPr>
            <a:endParaRPr lang="fr-CA" dirty="0"/>
          </a:p>
          <a:p>
            <a:pPr algn="just"/>
            <a:r>
              <a:rPr lang="fr-FR" dirty="0"/>
              <a:t>Un ensemble organisé et synthétique d’indicateurs financiers et non financiers qui reflètent les objectifs d’une organisation.</a:t>
            </a:r>
          </a:p>
          <a:p>
            <a:pPr marL="0" indent="0" algn="just">
              <a:buNone/>
            </a:pPr>
            <a:endParaRPr lang="fr-CA" dirty="0"/>
          </a:p>
          <a:p>
            <a:pPr algn="just"/>
            <a:r>
              <a:rPr lang="fr-CA" dirty="0"/>
              <a:t>« Le Tableau de bord traduit la mission et la stratégie de l’entreprise en un ensemble d’indicateurs de performance qui constituent la base d’un système de pilotage de la stratégie »</a:t>
            </a:r>
          </a:p>
          <a:p>
            <a:pPr marL="0" indent="0" algn="just">
              <a:buNone/>
            </a:pPr>
            <a:endParaRPr lang="fr-CA" dirty="0"/>
          </a:p>
          <a:p>
            <a:pPr algn="just"/>
            <a:r>
              <a:rPr lang="fr-CA" dirty="0"/>
              <a:t>« Il permet aux entreprises de suivre les résultats financiers, mais aussi, simultanément, les progrès dans le développement des compétences et l’acquisition des actifs intangibles dont elles auront besoin pour asseoir leur croissance future. »</a:t>
            </a:r>
          </a:p>
          <a:p>
            <a:pPr algn="just"/>
            <a:endParaRPr lang="fr-CA" dirty="0"/>
          </a:p>
          <a:p>
            <a:pPr marL="0" indent="0" algn="just">
              <a:buNone/>
            </a:pPr>
            <a:endParaRPr lang="fr-CA" dirty="0"/>
          </a:p>
        </p:txBody>
      </p:sp>
      <p:sp>
        <p:nvSpPr>
          <p:cNvPr id="5" name="Espace réservé du numéro de diapositive 4">
            <a:extLst>
              <a:ext uri="{FF2B5EF4-FFF2-40B4-BE49-F238E27FC236}">
                <a16:creationId xmlns:a16="http://schemas.microsoft.com/office/drawing/2014/main" id="{A273E956-48FD-4E44-908C-47BA7C422811}"/>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28</a:t>
            </a:fld>
            <a:endParaRPr lang="fr-CA">
              <a:solidFill>
                <a:prstClr val="black">
                  <a:tint val="75000"/>
                </a:prstClr>
              </a:solidFill>
            </a:endParaRPr>
          </a:p>
        </p:txBody>
      </p:sp>
      <p:sp>
        <p:nvSpPr>
          <p:cNvPr id="6" name="Titre 1">
            <a:extLst>
              <a:ext uri="{FF2B5EF4-FFF2-40B4-BE49-F238E27FC236}">
                <a16:creationId xmlns:a16="http://schemas.microsoft.com/office/drawing/2014/main" id="{6DC70C10-78F2-4960-8513-1461B21C56BD}"/>
              </a:ext>
            </a:extLst>
          </p:cNvPr>
          <p:cNvSpPr>
            <a:spLocks noGrp="1"/>
          </p:cNvSpPr>
          <p:nvPr>
            <p:ph type="title"/>
            <p:custDataLst>
              <p:tags r:id="rId3"/>
            </p:custDataLst>
          </p:nvPr>
        </p:nvSpPr>
        <p:spPr>
          <a:xfrm>
            <a:off x="838200" y="365125"/>
            <a:ext cx="10515600" cy="530225"/>
          </a:xfrm>
        </p:spPr>
        <p:txBody>
          <a:bodyPr>
            <a:normAutofit fontScale="90000"/>
          </a:bodyPr>
          <a:lstStyle/>
          <a:p>
            <a:pPr algn="ctr"/>
            <a:r>
              <a:rPr lang="fr-CA"/>
              <a:t>Tableau de bord de gestion équilibré</a:t>
            </a:r>
            <a:br>
              <a:rPr lang="fr-CA"/>
            </a:br>
            <a:r>
              <a:rPr lang="fr-CA"/>
              <a:t>(Kaplan et Norton, 2003)</a:t>
            </a:r>
          </a:p>
        </p:txBody>
      </p:sp>
      <p:sp>
        <p:nvSpPr>
          <p:cNvPr id="2" name="Espace réservé du pied de page 1">
            <a:extLst>
              <a:ext uri="{FF2B5EF4-FFF2-40B4-BE49-F238E27FC236}">
                <a16:creationId xmlns:a16="http://schemas.microsoft.com/office/drawing/2014/main" id="{3FAB52F1-374D-48B9-A69C-266E67F1FC98}"/>
              </a:ext>
            </a:extLst>
          </p:cNvPr>
          <p:cNvSpPr>
            <a:spLocks noGrp="1"/>
          </p:cNvSpPr>
          <p:nvPr>
            <p:ph type="ftr" sz="quarter" idx="11"/>
            <p:custDataLst>
              <p:tags r:id="rId4"/>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extLst>
      <p:ext uri="{BB962C8B-B14F-4D97-AF65-F5344CB8AC3E}">
        <p14:creationId xmlns:p14="http://schemas.microsoft.com/office/powerpoint/2010/main" val="99617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a:xfrm>
            <a:off x="838200" y="160589"/>
            <a:ext cx="10675374" cy="1042570"/>
          </a:xfrm>
        </p:spPr>
        <p:txBody>
          <a:bodyPr>
            <a:normAutofit fontScale="90000"/>
          </a:bodyPr>
          <a:lstStyle/>
          <a:p>
            <a:r>
              <a:rPr lang="fr-CA" sz="4000" dirty="0"/>
              <a:t>Mise en œuvre d’un tableau de bord équilibré - à noter</a:t>
            </a:r>
            <a:endParaRPr lang="en-CA" sz="4000" dirty="0"/>
          </a:p>
        </p:txBody>
      </p:sp>
      <p:sp>
        <p:nvSpPr>
          <p:cNvPr id="4" name="Espace réservé du contenu 3"/>
          <p:cNvSpPr>
            <a:spLocks noGrp="1"/>
          </p:cNvSpPr>
          <p:nvPr>
            <p:ph idx="1"/>
            <p:custDataLst>
              <p:tags r:id="rId3"/>
            </p:custDataLst>
          </p:nvPr>
        </p:nvSpPr>
        <p:spPr>
          <a:xfrm>
            <a:off x="729343" y="1595043"/>
            <a:ext cx="10515600" cy="4530725"/>
          </a:xfrm>
        </p:spPr>
        <p:txBody>
          <a:bodyPr>
            <a:normAutofit fontScale="92500" lnSpcReduction="20000"/>
          </a:bodyPr>
          <a:lstStyle/>
          <a:p>
            <a:pPr algn="just"/>
            <a:r>
              <a:rPr lang="fr-CA" dirty="0"/>
              <a:t>Le tableau de bord est </a:t>
            </a:r>
            <a:r>
              <a:rPr lang="fr-CA" b="1" dirty="0"/>
              <a:t>contingent à l’organisation </a:t>
            </a:r>
            <a:r>
              <a:rPr lang="fr-CA" dirty="0"/>
              <a:t>(mission, vision, stratégie, culture, …). </a:t>
            </a:r>
          </a:p>
          <a:p>
            <a:pPr algn="just"/>
            <a:r>
              <a:rPr lang="fr-CA" dirty="0"/>
              <a:t>Importance de comprendre les </a:t>
            </a:r>
            <a:r>
              <a:rPr lang="fr-CA" b="1" dirty="0"/>
              <a:t>interdépendances</a:t>
            </a:r>
            <a:r>
              <a:rPr lang="fr-CA" dirty="0"/>
              <a:t> entre les objectifs et entre les indicateurs. </a:t>
            </a:r>
          </a:p>
          <a:p>
            <a:pPr algn="just"/>
            <a:r>
              <a:rPr lang="fr-CA" dirty="0"/>
              <a:t>Importance de reconnaître les </a:t>
            </a:r>
            <a:r>
              <a:rPr lang="fr-CA" b="1" dirty="0"/>
              <a:t>limites</a:t>
            </a:r>
            <a:r>
              <a:rPr lang="fr-CA" dirty="0"/>
              <a:t> de l’outil de mesure (ce que l’on ne mesure pas).</a:t>
            </a:r>
          </a:p>
          <a:p>
            <a:pPr algn="just"/>
            <a:r>
              <a:rPr lang="fr-CA" dirty="0"/>
              <a:t>Les indicateurs dépendent de la </a:t>
            </a:r>
            <a:r>
              <a:rPr lang="fr-CA" b="1" dirty="0"/>
              <a:t>disponibilité des données </a:t>
            </a:r>
            <a:r>
              <a:rPr lang="fr-CA" dirty="0"/>
              <a:t>dans les systèmes d’information.</a:t>
            </a:r>
          </a:p>
          <a:p>
            <a:pPr algn="just"/>
            <a:r>
              <a:rPr lang="fr-CA" dirty="0"/>
              <a:t>On peut mettre en œuvre un tableau de bord à un autre niveau que celui de l’organisation (ex : pour un projet) </a:t>
            </a:r>
          </a:p>
          <a:p>
            <a:pPr algn="just"/>
            <a:r>
              <a:rPr lang="fr-CA" dirty="0"/>
              <a:t>Le choix des objectifs clés et des indicateurs peut-être difficile et source de désaccords, surtout lorsque les indicateurs sont liés à la rémunération incitative.</a:t>
            </a:r>
          </a:p>
          <a:p>
            <a:endParaRPr lang="fr-CA" dirty="0"/>
          </a:p>
          <a:p>
            <a:endParaRPr lang="fr-CA" dirty="0"/>
          </a:p>
          <a:p>
            <a:pPr marL="0" indent="0">
              <a:buNone/>
            </a:pPr>
            <a:endParaRPr lang="fr-CA" b="1" dirty="0"/>
          </a:p>
          <a:p>
            <a:pPr marL="457200" lvl="1" indent="0">
              <a:buNone/>
            </a:pPr>
            <a:endParaRPr lang="fr-CA" dirty="0"/>
          </a:p>
          <a:p>
            <a:pPr lvl="1"/>
            <a:endParaRPr lang="fr-CA" dirty="0"/>
          </a:p>
          <a:p>
            <a:endParaRPr lang="fr-CA" dirty="0"/>
          </a:p>
        </p:txBody>
      </p:sp>
      <p:sp>
        <p:nvSpPr>
          <p:cNvPr id="6" name="Espace réservé du numéro de diapositive 5"/>
          <p:cNvSpPr>
            <a:spLocks noGrp="1"/>
          </p:cNvSpPr>
          <p:nvPr>
            <p:ph type="sldNum" sz="quarter" idx="12"/>
            <p:custDataLst>
              <p:tags r:id="rId4"/>
            </p:custDataLst>
          </p:nvPr>
        </p:nvSpPr>
        <p:spPr/>
        <p:txBody>
          <a:bodyPr/>
          <a:lstStyle/>
          <a:p>
            <a:fld id="{78C1DC52-1979-4D57-B923-A2F6BBF17C17}" type="slidenum">
              <a:rPr lang="fr-CA" smtClean="0"/>
              <a:pPr/>
              <a:t>29</a:t>
            </a:fld>
            <a:endParaRPr lang="fr-CA"/>
          </a:p>
        </p:txBody>
      </p:sp>
      <p:sp>
        <p:nvSpPr>
          <p:cNvPr id="5" name="Espace réservé du pied de page 4">
            <a:extLst>
              <a:ext uri="{FF2B5EF4-FFF2-40B4-BE49-F238E27FC236}">
                <a16:creationId xmlns:a16="http://schemas.microsoft.com/office/drawing/2014/main" id="{CDF05B33-9B56-324C-C894-B1749DBCD9FB}"/>
              </a:ext>
            </a:extLst>
          </p:cNvPr>
          <p:cNvSpPr>
            <a:spLocks noGrp="1"/>
          </p:cNvSpPr>
          <p:nvPr>
            <p:ph type="ftr" sz="quarter" idx="11"/>
            <p:custDataLst>
              <p:tags r:id="rId5"/>
            </p:custDataLst>
          </p:nvPr>
        </p:nvSpPr>
        <p:spPr>
          <a:xfrm>
            <a:off x="4068019" y="6332286"/>
            <a:ext cx="4055962" cy="365125"/>
          </a:xfrm>
        </p:spPr>
        <p:txBody>
          <a:bodyPr/>
          <a:lstStyle/>
          <a:p>
            <a:r>
              <a:rPr lang="pt-BR" dirty="0">
                <a:solidFill>
                  <a:prstClr val="black">
                    <a:tint val="75000"/>
                  </a:prstClr>
                </a:solidFill>
              </a:rPr>
              <a:t>(c)  (10904 - S12) </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116179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838200" y="365126"/>
            <a:ext cx="10515600" cy="635000"/>
          </a:xfrm>
        </p:spPr>
        <p:txBody>
          <a:bodyPr>
            <a:normAutofit fontScale="90000"/>
          </a:bodyPr>
          <a:lstStyle/>
          <a:p>
            <a:pPr algn="ctr"/>
            <a:r>
              <a:rPr lang="fr-CA"/>
              <a:t>Tableau de bord de gestion équilibré</a:t>
            </a:r>
            <a:br>
              <a:rPr lang="fr-CA"/>
            </a:br>
            <a:r>
              <a:rPr lang="fr-CA"/>
              <a:t>Intégration de 4 dimensions fondamentales</a:t>
            </a:r>
          </a:p>
        </p:txBody>
      </p:sp>
      <p:graphicFrame>
        <p:nvGraphicFramePr>
          <p:cNvPr id="7" name="Espace réservé du contenu 6"/>
          <p:cNvGraphicFramePr>
            <a:graphicFrameLocks noGrp="1"/>
          </p:cNvGraphicFramePr>
          <p:nvPr>
            <p:ph idx="1"/>
            <p:custDataLst>
              <p:tags r:id="rId2"/>
            </p:custDataLst>
          </p:nvPr>
        </p:nvGraphicFramePr>
        <p:xfrm>
          <a:off x="838200" y="1468438"/>
          <a:ext cx="10515600" cy="470852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6" name="Espace réservé du numéro de diapositive 5"/>
          <p:cNvSpPr>
            <a:spLocks noGrp="1"/>
          </p:cNvSpPr>
          <p:nvPr>
            <p:ph type="sldNum" sz="quarter" idx="12"/>
            <p:custDataLst>
              <p:tags r:id="rId3"/>
            </p:custDataLst>
          </p:nvPr>
        </p:nvSpPr>
        <p:spPr/>
        <p:txBody>
          <a:bodyPr/>
          <a:lstStyle/>
          <a:p>
            <a:fld id="{D3008ED5-8015-41DF-BC47-EA62E6FE4E18}" type="slidenum">
              <a:rPr lang="fr-CA" smtClean="0"/>
              <a:pPr/>
              <a:t>30</a:t>
            </a:fld>
            <a:endParaRPr lang="fr-CA"/>
          </a:p>
        </p:txBody>
      </p:sp>
      <p:sp>
        <p:nvSpPr>
          <p:cNvPr id="8" name="Oval 12"/>
          <p:cNvSpPr>
            <a:spLocks noChangeArrowheads="1"/>
          </p:cNvSpPr>
          <p:nvPr>
            <p:custDataLst>
              <p:tags r:id="rId4"/>
            </p:custDataLst>
          </p:nvPr>
        </p:nvSpPr>
        <p:spPr bwMode="auto">
          <a:xfrm>
            <a:off x="4757977" y="2892875"/>
            <a:ext cx="1801092" cy="1795626"/>
          </a:xfrm>
          <a:prstGeom prst="quadArrowCallout">
            <a:avLst/>
          </a:prstGeom>
          <a:ln w="28575">
            <a:solidFill>
              <a:schemeClr val="accent6"/>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eaLnBrk="0" hangingPunct="0">
              <a:spcBef>
                <a:spcPct val="20000"/>
              </a:spcBef>
            </a:pPr>
            <a:r>
              <a:rPr kumimoji="1" lang="fr-FR" sz="2400" i="1">
                <a:solidFill>
                  <a:schemeClr val="tx1"/>
                </a:solidFill>
                <a:latin typeface="Arial" pitchFamily="34" charset="0"/>
                <a:cs typeface="Arial" pitchFamily="34" charset="0"/>
              </a:rPr>
              <a:t>Stratégies</a:t>
            </a:r>
          </a:p>
        </p:txBody>
      </p:sp>
      <p:sp>
        <p:nvSpPr>
          <p:cNvPr id="3" name="Espace réservé du pied de page 2">
            <a:extLst>
              <a:ext uri="{FF2B5EF4-FFF2-40B4-BE49-F238E27FC236}">
                <a16:creationId xmlns:a16="http://schemas.microsoft.com/office/drawing/2014/main" id="{90B86F7C-A041-4544-8CC5-20D44B6E61C7}"/>
              </a:ext>
            </a:extLst>
          </p:cNvPr>
          <p:cNvSpPr>
            <a:spLocks noGrp="1"/>
          </p:cNvSpPr>
          <p:nvPr>
            <p:ph type="ftr" sz="quarter" idx="11"/>
            <p:custDataLst>
              <p:tags r:id="rId5"/>
            </p:custDataLst>
          </p:nvPr>
        </p:nvSpPr>
        <p:spPr/>
        <p:txBody>
          <a:bodyPr/>
          <a:lstStyle/>
          <a:p>
            <a:r>
              <a:rPr lang="pt-BR" dirty="0">
                <a:solidFill>
                  <a:prstClr val="black">
                    <a:tint val="75000"/>
                  </a:prstClr>
                </a:solidFill>
              </a:rPr>
              <a:t>(c)  (10904 - S12) </a:t>
            </a:r>
            <a:endParaRPr lang="fr-CA" dirty="0">
              <a:solidFill>
                <a:prstClr val="black">
                  <a:tint val="75000"/>
                </a:prstClr>
              </a:solidFill>
            </a:endParaRPr>
          </a:p>
        </p:txBody>
      </p:sp>
      <p:sp>
        <p:nvSpPr>
          <p:cNvPr id="11" name="Rectangle 10" descr="Lightbulb">
            <a:extLst>
              <a:ext uri="{FF2B5EF4-FFF2-40B4-BE49-F238E27FC236}">
                <a16:creationId xmlns:a16="http://schemas.microsoft.com/office/drawing/2014/main" id="{2203A7E5-7B65-4A21-A485-5B78302416EF}"/>
              </a:ext>
            </a:extLst>
          </p:cNvPr>
          <p:cNvSpPr/>
          <p:nvPr>
            <p:custDataLst>
              <p:tags r:id="rId6"/>
            </p:custDataLst>
          </p:nvPr>
        </p:nvSpPr>
        <p:spPr>
          <a:xfrm>
            <a:off x="7384337" y="3246908"/>
            <a:ext cx="725326" cy="725326"/>
          </a:xfrm>
          <a:prstGeom prst="rect">
            <a:avLst/>
          </a:prstGeom>
          <a:blipFill>
            <a:blip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fr-CA"/>
          </a:p>
        </p:txBody>
      </p:sp>
      <p:sp>
        <p:nvSpPr>
          <p:cNvPr id="12" name="Rectangle 11" descr="Users">
            <a:extLst>
              <a:ext uri="{FF2B5EF4-FFF2-40B4-BE49-F238E27FC236}">
                <a16:creationId xmlns:a16="http://schemas.microsoft.com/office/drawing/2014/main" id="{0676D7ED-FAE3-48D3-A63D-00DD32A8D797}"/>
              </a:ext>
            </a:extLst>
          </p:cNvPr>
          <p:cNvSpPr/>
          <p:nvPr>
            <p:custDataLst>
              <p:tags r:id="rId7"/>
            </p:custDataLst>
          </p:nvPr>
        </p:nvSpPr>
        <p:spPr>
          <a:xfrm>
            <a:off x="4757977" y="4905771"/>
            <a:ext cx="725326" cy="725326"/>
          </a:xfrm>
          <a:prstGeom prst="rect">
            <a:avLst/>
          </a:prstGeom>
          <a:blipFill>
            <a:blip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fr-CA"/>
          </a:p>
        </p:txBody>
      </p:sp>
      <p:pic>
        <p:nvPicPr>
          <p:cNvPr id="13" name="Graphique 12" descr="Utilisateur avec un remplissage uni">
            <a:extLst>
              <a:ext uri="{FF2B5EF4-FFF2-40B4-BE49-F238E27FC236}">
                <a16:creationId xmlns:a16="http://schemas.microsoft.com/office/drawing/2014/main" id="{013AB0FC-591D-47B9-BAF2-9AA06CDC4968}"/>
              </a:ext>
            </a:extLst>
          </p:cNvPr>
          <p:cNvPicPr>
            <a:picLocks noChangeAspect="1"/>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04886" y="3429000"/>
            <a:ext cx="543234" cy="543234"/>
          </a:xfrm>
          <a:prstGeom prst="rect">
            <a:avLst/>
          </a:prstGeom>
        </p:spPr>
      </p:pic>
      <p:pic>
        <p:nvPicPr>
          <p:cNvPr id="5" name="Graphique 4" descr="Amélioration continue avec un remplissage uni">
            <a:extLst>
              <a:ext uri="{FF2B5EF4-FFF2-40B4-BE49-F238E27FC236}">
                <a16:creationId xmlns:a16="http://schemas.microsoft.com/office/drawing/2014/main" id="{C7E5C78B-BECC-4DF5-A13E-F5D9DD0E5FB1}"/>
              </a:ext>
            </a:extLst>
          </p:cNvPr>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959160" y="4934799"/>
            <a:ext cx="725326" cy="725326"/>
          </a:xfrm>
          <a:prstGeom prst="rect">
            <a:avLst/>
          </a:prstGeom>
        </p:spPr>
      </p:pic>
      <p:pic>
        <p:nvPicPr>
          <p:cNvPr id="9" name="Graphique 8" descr="Dollar avec un remplissage uni">
            <a:extLst>
              <a:ext uri="{FF2B5EF4-FFF2-40B4-BE49-F238E27FC236}">
                <a16:creationId xmlns:a16="http://schemas.microsoft.com/office/drawing/2014/main" id="{7CA633B1-18A1-431E-9E02-F3624812538E}"/>
              </a:ext>
            </a:extLst>
          </p:cNvPr>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366986" y="1789563"/>
            <a:ext cx="635000" cy="635000"/>
          </a:xfrm>
          <a:prstGeom prst="rect">
            <a:avLst/>
          </a:prstGeom>
        </p:spPr>
      </p:pic>
    </p:spTree>
    <p:extLst>
      <p:ext uri="{BB962C8B-B14F-4D97-AF65-F5344CB8AC3E}">
        <p14:creationId xmlns:p14="http://schemas.microsoft.com/office/powerpoint/2010/main" val="186376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254B93-827A-4A77-8C8F-2081845D85AC}"/>
              </a:ext>
            </a:extLst>
          </p:cNvPr>
          <p:cNvSpPr>
            <a:spLocks noGrp="1"/>
          </p:cNvSpPr>
          <p:nvPr>
            <p:ph type="title"/>
            <p:custDataLst>
              <p:tags r:id="rId1"/>
            </p:custDataLst>
          </p:nvPr>
        </p:nvSpPr>
        <p:spPr>
          <a:xfrm>
            <a:off x="838200" y="365126"/>
            <a:ext cx="10515600" cy="797912"/>
          </a:xfrm>
        </p:spPr>
        <p:txBody>
          <a:bodyPr/>
          <a:lstStyle/>
          <a:p>
            <a:r>
              <a:rPr lang="fr-CA" dirty="0"/>
              <a:t>Objectif, indicateur, cible</a:t>
            </a:r>
          </a:p>
        </p:txBody>
      </p:sp>
      <p:graphicFrame>
        <p:nvGraphicFramePr>
          <p:cNvPr id="5" name="Tableau 5">
            <a:extLst>
              <a:ext uri="{FF2B5EF4-FFF2-40B4-BE49-F238E27FC236}">
                <a16:creationId xmlns:a16="http://schemas.microsoft.com/office/drawing/2014/main" id="{EBBC6DB0-4421-443E-B5E0-8659CB01CF85}"/>
              </a:ext>
            </a:extLst>
          </p:cNvPr>
          <p:cNvGraphicFramePr>
            <a:graphicFrameLocks noGrp="1"/>
          </p:cNvGraphicFramePr>
          <p:nvPr>
            <p:ph idx="1"/>
            <p:custDataLst>
              <p:tags r:id="rId2"/>
            </p:custDataLst>
          </p:nvPr>
        </p:nvGraphicFramePr>
        <p:xfrm>
          <a:off x="838200" y="1690688"/>
          <a:ext cx="10515600" cy="1559560"/>
        </p:xfrm>
        <a:graphic>
          <a:graphicData uri="http://schemas.openxmlformats.org/drawingml/2006/table">
            <a:tbl>
              <a:tblPr firstRow="1" bandRow="1">
                <a:tableStyleId>{69012ECD-51FC-41F1-AA8D-1B2483CD663E}</a:tableStyleId>
              </a:tblPr>
              <a:tblGrid>
                <a:gridCol w="3505200">
                  <a:extLst>
                    <a:ext uri="{9D8B030D-6E8A-4147-A177-3AD203B41FA5}">
                      <a16:colId xmlns:a16="http://schemas.microsoft.com/office/drawing/2014/main" val="3316804599"/>
                    </a:ext>
                  </a:extLst>
                </a:gridCol>
                <a:gridCol w="3505200">
                  <a:extLst>
                    <a:ext uri="{9D8B030D-6E8A-4147-A177-3AD203B41FA5}">
                      <a16:colId xmlns:a16="http://schemas.microsoft.com/office/drawing/2014/main" val="959367056"/>
                    </a:ext>
                  </a:extLst>
                </a:gridCol>
                <a:gridCol w="3505200">
                  <a:extLst>
                    <a:ext uri="{9D8B030D-6E8A-4147-A177-3AD203B41FA5}">
                      <a16:colId xmlns:a16="http://schemas.microsoft.com/office/drawing/2014/main" val="1280000306"/>
                    </a:ext>
                  </a:extLst>
                </a:gridCol>
              </a:tblGrid>
              <a:tr h="370840">
                <a:tc>
                  <a:txBody>
                    <a:bodyPr/>
                    <a:lstStyle/>
                    <a:p>
                      <a:r>
                        <a:rPr lang="fr-CA" dirty="0"/>
                        <a:t>OBJECTIF</a:t>
                      </a:r>
                    </a:p>
                  </a:txBody>
                  <a:tcPr/>
                </a:tc>
                <a:tc>
                  <a:txBody>
                    <a:bodyPr/>
                    <a:lstStyle/>
                    <a:p>
                      <a:r>
                        <a:rPr lang="fr-CA" dirty="0"/>
                        <a:t>INDICATEUR</a:t>
                      </a:r>
                    </a:p>
                  </a:txBody>
                  <a:tcPr/>
                </a:tc>
                <a:tc>
                  <a:txBody>
                    <a:bodyPr/>
                    <a:lstStyle/>
                    <a:p>
                      <a:r>
                        <a:rPr lang="fr-CA" dirty="0"/>
                        <a:t>CIBLE</a:t>
                      </a:r>
                    </a:p>
                  </a:txBody>
                  <a:tcPr/>
                </a:tc>
                <a:extLst>
                  <a:ext uri="{0D108BD9-81ED-4DB2-BD59-A6C34878D82A}">
                    <a16:rowId xmlns:a16="http://schemas.microsoft.com/office/drawing/2014/main" val="411954267"/>
                  </a:ext>
                </a:extLst>
              </a:tr>
              <a:tr h="370840">
                <a:tc>
                  <a:txBody>
                    <a:bodyPr/>
                    <a:lstStyle/>
                    <a:p>
                      <a:r>
                        <a:rPr lang="fr-CA" sz="1800" u="none" strike="noStrike" kern="1200">
                          <a:effectLst/>
                        </a:rPr>
                        <a:t>Permet de mettre en œuvre la stratégie sur une dimension donnée</a:t>
                      </a:r>
                      <a:r>
                        <a:rPr lang="fr-CA" sz="1800" kern="1200">
                          <a:effectLst/>
                        </a:rPr>
                        <a:t>​</a:t>
                      </a:r>
                      <a:endParaRPr lang="fr-CA"/>
                    </a:p>
                  </a:txBody>
                  <a:tcPr/>
                </a:tc>
                <a:tc>
                  <a:txBody>
                    <a:bodyPr/>
                    <a:lstStyle/>
                    <a:p>
                      <a:r>
                        <a:rPr lang="fr-CA" sz="1800" u="none" strike="noStrike" kern="1200">
                          <a:effectLst/>
                        </a:rPr>
                        <a:t>En général quantitatif et mesurable. Il permet d’indiquer la poursuite de l’objectif. Formule de calcul précise. </a:t>
                      </a:r>
                      <a:endParaRPr lang="fr-CA" sz="1800" b="0" i="0" kern="120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effectLst/>
                        </a:rPr>
                        <a:t>​</a:t>
                      </a:r>
                      <a:r>
                        <a:rPr lang="fr-CA" sz="1800" u="none" strike="noStrike" kern="1200" dirty="0">
                          <a:effectLst/>
                        </a:rPr>
                        <a:t>Précise et cohérente avec l’objectif, très souvent chiffrée.</a:t>
                      </a:r>
                      <a:r>
                        <a:rPr lang="fr-CA" sz="1800" kern="1200" dirty="0">
                          <a:effectLst/>
                        </a:rPr>
                        <a:t>​</a:t>
                      </a:r>
                      <a:endParaRPr lang="fr-CA" dirty="0"/>
                    </a:p>
                    <a:p>
                      <a:endParaRPr lang="fr-CA" dirty="0"/>
                    </a:p>
                  </a:txBody>
                  <a:tcPr/>
                </a:tc>
                <a:extLst>
                  <a:ext uri="{0D108BD9-81ED-4DB2-BD59-A6C34878D82A}">
                    <a16:rowId xmlns:a16="http://schemas.microsoft.com/office/drawing/2014/main" val="954924893"/>
                  </a:ext>
                </a:extLst>
              </a:tr>
            </a:tbl>
          </a:graphicData>
        </a:graphic>
      </p:graphicFrame>
      <p:sp>
        <p:nvSpPr>
          <p:cNvPr id="4" name="Espace réservé du pied de page 3">
            <a:extLst>
              <a:ext uri="{FF2B5EF4-FFF2-40B4-BE49-F238E27FC236}">
                <a16:creationId xmlns:a16="http://schemas.microsoft.com/office/drawing/2014/main" id="{4600845C-F24C-4EA5-9261-714521ACDA74}"/>
              </a:ext>
            </a:extLst>
          </p:cNvPr>
          <p:cNvSpPr>
            <a:spLocks noGrp="1"/>
          </p:cNvSpPr>
          <p:nvPr>
            <p:ph type="ftr" sz="quarter" idx="11"/>
            <p:custDataLst>
              <p:tags r:id="rId3"/>
            </p:custDataLst>
          </p:nvPr>
        </p:nvSpPr>
        <p:spPr>
          <a:xfrm>
            <a:off x="4559832" y="6350387"/>
            <a:ext cx="3072337" cy="300587"/>
          </a:xfrm>
        </p:spPr>
        <p:txBody>
          <a:bodyPr/>
          <a:lstStyle/>
          <a:p>
            <a:pPr algn="ctr"/>
            <a:r>
              <a:rPr lang="pt-BR" dirty="0">
                <a:solidFill>
                  <a:schemeClr val="bg1">
                    <a:lumMod val="50000"/>
                  </a:schemeClr>
                </a:solidFill>
              </a:rPr>
              <a:t>(c)  (10904 - S12) </a:t>
            </a:r>
            <a:endParaRPr lang="fr-CA" dirty="0">
              <a:solidFill>
                <a:schemeClr val="bg1">
                  <a:lumMod val="50000"/>
                </a:schemeClr>
              </a:solidFill>
            </a:endParaRPr>
          </a:p>
        </p:txBody>
      </p:sp>
      <p:graphicFrame>
        <p:nvGraphicFramePr>
          <p:cNvPr id="7" name="Tableau 7">
            <a:extLst>
              <a:ext uri="{FF2B5EF4-FFF2-40B4-BE49-F238E27FC236}">
                <a16:creationId xmlns:a16="http://schemas.microsoft.com/office/drawing/2014/main" id="{7D2C0081-615A-4655-B951-540E2B3EC911}"/>
              </a:ext>
            </a:extLst>
          </p:cNvPr>
          <p:cNvGraphicFramePr>
            <a:graphicFrameLocks noGrp="1"/>
          </p:cNvGraphicFramePr>
          <p:nvPr>
            <p:custDataLst>
              <p:tags r:id="rId4"/>
            </p:custDataLst>
          </p:nvPr>
        </p:nvGraphicFramePr>
        <p:xfrm>
          <a:off x="1347304" y="3777899"/>
          <a:ext cx="9497392" cy="1925320"/>
        </p:xfrm>
        <a:graphic>
          <a:graphicData uri="http://schemas.openxmlformats.org/drawingml/2006/table">
            <a:tbl>
              <a:tblPr firstRow="1" bandRow="1">
                <a:tableStyleId>{2D5ABB26-0587-4C30-8999-92F81FD0307C}</a:tableStyleId>
              </a:tblPr>
              <a:tblGrid>
                <a:gridCol w="1934320">
                  <a:extLst>
                    <a:ext uri="{9D8B030D-6E8A-4147-A177-3AD203B41FA5}">
                      <a16:colId xmlns:a16="http://schemas.microsoft.com/office/drawing/2014/main" val="1623393324"/>
                    </a:ext>
                  </a:extLst>
                </a:gridCol>
                <a:gridCol w="2814376">
                  <a:extLst>
                    <a:ext uri="{9D8B030D-6E8A-4147-A177-3AD203B41FA5}">
                      <a16:colId xmlns:a16="http://schemas.microsoft.com/office/drawing/2014/main" val="617794321"/>
                    </a:ext>
                  </a:extLst>
                </a:gridCol>
                <a:gridCol w="2374348">
                  <a:extLst>
                    <a:ext uri="{9D8B030D-6E8A-4147-A177-3AD203B41FA5}">
                      <a16:colId xmlns:a16="http://schemas.microsoft.com/office/drawing/2014/main" val="4218172907"/>
                    </a:ext>
                  </a:extLst>
                </a:gridCol>
                <a:gridCol w="2374348">
                  <a:extLst>
                    <a:ext uri="{9D8B030D-6E8A-4147-A177-3AD203B41FA5}">
                      <a16:colId xmlns:a16="http://schemas.microsoft.com/office/drawing/2014/main" val="2292131737"/>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t>« Proposer des biscuits </a:t>
                      </a:r>
                      <a:r>
                        <a:rPr lang="en-US" i="1" dirty="0" err="1"/>
                        <a:t>d’une</a:t>
                      </a:r>
                      <a:r>
                        <a:rPr lang="en-US" i="1" dirty="0"/>
                        <a:t> </a:t>
                      </a:r>
                      <a:r>
                        <a:rPr lang="en-US" i="1" dirty="0" err="1"/>
                        <a:t>qualité</a:t>
                      </a:r>
                      <a:r>
                        <a:rPr lang="en-US" i="1" dirty="0"/>
                        <a:t> </a:t>
                      </a:r>
                      <a:r>
                        <a:rPr lang="en-US" i="1" dirty="0" err="1"/>
                        <a:t>irréprochable</a:t>
                      </a:r>
                      <a:r>
                        <a:rPr lang="en-US" i="1" dirty="0"/>
                        <a:t> et </a:t>
                      </a:r>
                      <a:r>
                        <a:rPr lang="en-US" i="1" dirty="0" err="1"/>
                        <a:t>utilisant</a:t>
                      </a:r>
                      <a:r>
                        <a:rPr lang="en-US" i="1" dirty="0"/>
                        <a:t> </a:t>
                      </a:r>
                      <a:r>
                        <a:rPr lang="en-US" i="1" dirty="0" err="1"/>
                        <a:t>exclusivement</a:t>
                      </a:r>
                      <a:r>
                        <a:rPr lang="en-US" i="1" dirty="0"/>
                        <a:t> des </a:t>
                      </a:r>
                      <a:r>
                        <a:rPr lang="en-US" i="1" dirty="0" err="1"/>
                        <a:t>produits</a:t>
                      </a:r>
                      <a:r>
                        <a:rPr lang="en-US" i="1" dirty="0"/>
                        <a:t> locaux </a:t>
                      </a:r>
                      <a:r>
                        <a:rPr lang="en-US" i="1" dirty="0" err="1"/>
                        <a:t>afin</a:t>
                      </a:r>
                      <a:r>
                        <a:rPr lang="en-US" i="1" dirty="0"/>
                        <a:t> </a:t>
                      </a:r>
                      <a:r>
                        <a:rPr lang="en-US" i="1" dirty="0" err="1"/>
                        <a:t>d’offrir</a:t>
                      </a:r>
                      <a:r>
                        <a:rPr lang="en-US" i="1" dirty="0"/>
                        <a:t> à </a:t>
                      </a:r>
                      <a:r>
                        <a:rPr lang="en-US" i="1" dirty="0" err="1"/>
                        <a:t>nos</a:t>
                      </a:r>
                      <a:r>
                        <a:rPr lang="en-US" i="1" dirty="0"/>
                        <a:t> clients </a:t>
                      </a:r>
                      <a:r>
                        <a:rPr lang="en-US" i="1" dirty="0" err="1"/>
                        <a:t>une</a:t>
                      </a:r>
                      <a:r>
                        <a:rPr lang="en-US" i="1" dirty="0"/>
                        <a:t> </a:t>
                      </a:r>
                      <a:r>
                        <a:rPr lang="en-US" i="1" dirty="0" err="1"/>
                        <a:t>expérience</a:t>
                      </a:r>
                      <a:r>
                        <a:rPr lang="en-US" i="1" dirty="0"/>
                        <a:t> gustative </a:t>
                      </a:r>
                      <a:r>
                        <a:rPr lang="en-US" i="1" dirty="0" err="1"/>
                        <a:t>inégalée</a:t>
                      </a:r>
                      <a:r>
                        <a:rPr lang="en-US" i="1" dirty="0"/>
                        <a:t> ».</a:t>
                      </a:r>
                      <a:endParaRPr lang="fr-CA" i="1" dirty="0"/>
                    </a:p>
                    <a:p>
                      <a:endParaRPr lang="fr-CA" dirty="0"/>
                    </a:p>
                  </a:txBody>
                  <a:tcPr>
                    <a:lnB w="12700" cap="flat" cmpd="sng" algn="ctr">
                      <a:solidFill>
                        <a:schemeClr val="bg1">
                          <a:lumMod val="75000"/>
                        </a:schemeClr>
                      </a:solidFill>
                      <a:prstDash val="solid"/>
                      <a:round/>
                      <a:headEnd type="none" w="med" len="med"/>
                      <a:tailEnd type="none" w="med" len="med"/>
                    </a:lnB>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4204616466"/>
                  </a:ext>
                </a:extLst>
              </a:tr>
              <a:tr h="370840">
                <a:tc>
                  <a:txBody>
                    <a:bodyPr/>
                    <a:lstStyle/>
                    <a:p>
                      <a:pPr algn="ctr"/>
                      <a:r>
                        <a:rPr lang="fr-CA" b="1" u="sng"/>
                        <a:t>Dimension</a:t>
                      </a:r>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pPr algn="ctr"/>
                      <a:r>
                        <a:rPr lang="fr-CA" b="1" u="sng"/>
                        <a:t>Objectif</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pPr algn="ctr"/>
                      <a:r>
                        <a:rPr lang="fr-CA" b="1" u="sng"/>
                        <a:t>Indicateur</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tcPr>
                </a:tc>
                <a:tc>
                  <a:txBody>
                    <a:bodyPr/>
                    <a:lstStyle/>
                    <a:p>
                      <a:pPr algn="ctr"/>
                      <a:r>
                        <a:rPr lang="fr-CA" b="1" u="sng"/>
                        <a:t>Cible</a:t>
                      </a:r>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455522963"/>
                  </a:ext>
                </a:extLst>
              </a:tr>
              <a:tr h="370840">
                <a:tc>
                  <a:txBody>
                    <a:bodyPr/>
                    <a:lstStyle/>
                    <a:p>
                      <a:r>
                        <a:rPr lang="fr-CA" dirty="0"/>
                        <a:t>Client</a:t>
                      </a:r>
                    </a:p>
                  </a:txBody>
                  <a:tcPr>
                    <a:lnR w="12700" cap="flat" cmpd="sng" algn="ctr">
                      <a:solidFill>
                        <a:schemeClr val="bg1">
                          <a:lumMod val="75000"/>
                        </a:schemeClr>
                      </a:solidFill>
                      <a:prstDash val="solid"/>
                      <a:round/>
                      <a:headEnd type="none" w="med" len="med"/>
                      <a:tailEnd type="none" w="med" len="med"/>
                    </a:lnR>
                  </a:tcPr>
                </a:tc>
                <a:tc>
                  <a:txBody>
                    <a:bodyPr/>
                    <a:lstStyle/>
                    <a:p>
                      <a:r>
                        <a:rPr lang="fr-CA" dirty="0"/>
                        <a:t>Augmenter la satisfaction client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tcPr>
                </a:tc>
                <a:tc>
                  <a:txBody>
                    <a:bodyPr/>
                    <a:lstStyle/>
                    <a:p>
                      <a:r>
                        <a:rPr lang="fr-CA" strike="noStrike"/>
                        <a:t>% de satisfaction des clients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tcPr>
                </a:tc>
                <a:tc>
                  <a:txBody>
                    <a:bodyPr/>
                    <a:lstStyle/>
                    <a:p>
                      <a:r>
                        <a:rPr lang="fr-CA"/>
                        <a:t>95 % indice de satisfaction client</a:t>
                      </a:r>
                    </a:p>
                  </a:txBody>
                  <a:tcPr>
                    <a:lnL w="12700" cap="flat" cmpd="sng" algn="ctr">
                      <a:solidFill>
                        <a:schemeClr val="bg1">
                          <a:lumMod val="75000"/>
                        </a:schemeClr>
                      </a:solidFill>
                      <a:prstDash val="solid"/>
                      <a:round/>
                      <a:headEnd type="none" w="med" len="med"/>
                      <a:tailEnd type="none" w="med" len="med"/>
                    </a:lnL>
                  </a:tcPr>
                </a:tc>
                <a:extLst>
                  <a:ext uri="{0D108BD9-81ED-4DB2-BD59-A6C34878D82A}">
                    <a16:rowId xmlns:a16="http://schemas.microsoft.com/office/drawing/2014/main" val="2404033886"/>
                  </a:ext>
                </a:extLst>
              </a:tr>
            </a:tbl>
          </a:graphicData>
        </a:graphic>
      </p:graphicFrame>
      <p:sp>
        <p:nvSpPr>
          <p:cNvPr id="3" name="Espace réservé du numéro de diapositive 2">
            <a:extLst>
              <a:ext uri="{FF2B5EF4-FFF2-40B4-BE49-F238E27FC236}">
                <a16:creationId xmlns:a16="http://schemas.microsoft.com/office/drawing/2014/main" id="{5C34D34D-FD6A-4B4B-8E9E-713E6D08C971}"/>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31</a:t>
            </a:fld>
            <a:endParaRPr lang="fr-CA">
              <a:solidFill>
                <a:prstClr val="black">
                  <a:tint val="75000"/>
                </a:prstClr>
              </a:solidFill>
            </a:endParaRPr>
          </a:p>
        </p:txBody>
      </p:sp>
    </p:spTree>
    <p:extLst>
      <p:ext uri="{BB962C8B-B14F-4D97-AF65-F5344CB8AC3E}">
        <p14:creationId xmlns:p14="http://schemas.microsoft.com/office/powerpoint/2010/main" val="3355537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custDataLst>
              <p:tags r:id="rId2"/>
            </p:custDataLst>
          </p:nvPr>
        </p:nvSpPr>
        <p:spPr>
          <a:xfrm>
            <a:off x="838200" y="365126"/>
            <a:ext cx="10515600" cy="896516"/>
          </a:xfrm>
        </p:spPr>
        <p:txBody>
          <a:bodyPr>
            <a:normAutofit/>
          </a:bodyPr>
          <a:lstStyle/>
          <a:p>
            <a:r>
              <a:rPr lang="fr-FR" sz="4000"/>
              <a:t>Dimension financière - exemples</a:t>
            </a:r>
          </a:p>
        </p:txBody>
      </p:sp>
      <p:sp>
        <p:nvSpPr>
          <p:cNvPr id="6" name="Espace réservé du numéro de diapositive 5"/>
          <p:cNvSpPr>
            <a:spLocks noGrp="1"/>
          </p:cNvSpPr>
          <p:nvPr>
            <p:ph type="sldNum" sz="quarter" idx="12"/>
            <p:custDataLst>
              <p:tags r:id="rId3"/>
            </p:custDataLst>
          </p:nvPr>
        </p:nvSpPr>
        <p:spPr/>
        <p:txBody>
          <a:bodyPr/>
          <a:lstStyle/>
          <a:p>
            <a:fld id="{78C1DC52-1979-4D57-B923-A2F6BBF17C17}" type="slidenum">
              <a:rPr lang="fr-CA" smtClean="0"/>
              <a:pPr/>
              <a:t>32</a:t>
            </a:fld>
            <a:endParaRPr lang="fr-CA"/>
          </a:p>
        </p:txBody>
      </p:sp>
      <p:sp>
        <p:nvSpPr>
          <p:cNvPr id="7" name="ZoneTexte 6">
            <a:extLst>
              <a:ext uri="{FF2B5EF4-FFF2-40B4-BE49-F238E27FC236}">
                <a16:creationId xmlns:a16="http://schemas.microsoft.com/office/drawing/2014/main" id="{C92C10DF-F1C0-4063-B740-4B9C177B4C59}"/>
              </a:ext>
            </a:extLst>
          </p:cNvPr>
          <p:cNvSpPr txBox="1"/>
          <p:nvPr>
            <p:custDataLst>
              <p:tags r:id="rId4"/>
            </p:custDataLst>
          </p:nvPr>
        </p:nvSpPr>
        <p:spPr>
          <a:xfrm>
            <a:off x="942372" y="1615235"/>
            <a:ext cx="9665031" cy="1292662"/>
          </a:xfrm>
          <a:prstGeom prst="rect">
            <a:avLst/>
          </a:prstGeom>
          <a:noFill/>
        </p:spPr>
        <p:txBody>
          <a:bodyPr wrap="square">
            <a:spAutoFit/>
          </a:bodyPr>
          <a:lstStyle/>
          <a:p>
            <a:r>
              <a:rPr lang="fr-CA" sz="2300" dirty="0"/>
              <a:t>Les mesures liées aux finances sont constituées principalement de ratios financiers </a:t>
            </a:r>
          </a:p>
          <a:p>
            <a:pPr lvl="2"/>
            <a:r>
              <a:rPr lang="fr-CA" sz="1600" dirty="0"/>
              <a:t>RCI, RNR, VÉA </a:t>
            </a:r>
          </a:p>
          <a:p>
            <a:pPr lvl="2"/>
            <a:r>
              <a:rPr lang="fr-CA" sz="1600" dirty="0"/>
              <a:t>Ratios du cycle d’exploitation (C/C, C/F, Stocks)</a:t>
            </a:r>
          </a:p>
        </p:txBody>
      </p:sp>
      <p:graphicFrame>
        <p:nvGraphicFramePr>
          <p:cNvPr id="8" name="Tableau 2">
            <a:extLst>
              <a:ext uri="{FF2B5EF4-FFF2-40B4-BE49-F238E27FC236}">
                <a16:creationId xmlns:a16="http://schemas.microsoft.com/office/drawing/2014/main" id="{31B36C62-952B-407B-994D-849E8B156A88}"/>
              </a:ext>
            </a:extLst>
          </p:cNvPr>
          <p:cNvGraphicFramePr>
            <a:graphicFrameLocks noGrp="1"/>
          </p:cNvGraphicFramePr>
          <p:nvPr>
            <p:custDataLst>
              <p:tags r:id="rId5"/>
            </p:custDataLst>
          </p:nvPr>
        </p:nvGraphicFramePr>
        <p:xfrm>
          <a:off x="1933767" y="3092847"/>
          <a:ext cx="8128000" cy="3078553"/>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915794532"/>
                    </a:ext>
                  </a:extLst>
                </a:gridCol>
                <a:gridCol w="4064000">
                  <a:extLst>
                    <a:ext uri="{9D8B030D-6E8A-4147-A177-3AD203B41FA5}">
                      <a16:colId xmlns:a16="http://schemas.microsoft.com/office/drawing/2014/main" val="463936247"/>
                    </a:ext>
                  </a:extLst>
                </a:gridCol>
              </a:tblGrid>
              <a:tr h="370840">
                <a:tc>
                  <a:txBody>
                    <a:bodyPr/>
                    <a:lstStyle/>
                    <a:p>
                      <a:r>
                        <a:rPr lang="fr-CA" sz="28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800" b="0" u="sng"/>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606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Améliorer le rendement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RCI, RNR</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552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i="0" dirty="0"/>
                        <a:t>Accroître les revenus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dirty="0"/>
                        <a:t>Variation du chiffre d’affaires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Améliorer la rentabilité par marché ou client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Rentabilité par marché ou client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Améliorer la rentabilité par produit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Rentabilité par produit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58187249"/>
                  </a:ext>
                </a:extLst>
              </a:tr>
            </a:tbl>
          </a:graphicData>
        </a:graphic>
      </p:graphicFrame>
      <p:sp>
        <p:nvSpPr>
          <p:cNvPr id="2" name="Espace réservé du pied de page 1">
            <a:extLst>
              <a:ext uri="{FF2B5EF4-FFF2-40B4-BE49-F238E27FC236}">
                <a16:creationId xmlns:a16="http://schemas.microsoft.com/office/drawing/2014/main" id="{09A61800-75D7-4895-80E8-38290F5D3401}"/>
              </a:ext>
            </a:extLst>
          </p:cNvPr>
          <p:cNvSpPr>
            <a:spLocks noGrp="1"/>
          </p:cNvSpPr>
          <p:nvPr>
            <p:ph type="ftr" sz="quarter" idx="11"/>
            <p:custDataLst>
              <p:tags r:id="rId6"/>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262701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a:xfrm>
            <a:off x="838200" y="365126"/>
            <a:ext cx="10515600" cy="908090"/>
          </a:xfrm>
        </p:spPr>
        <p:txBody>
          <a:bodyPr>
            <a:normAutofit/>
          </a:bodyPr>
          <a:lstStyle/>
          <a:p>
            <a:r>
              <a:rPr lang="fr-CA" sz="4000" dirty="0"/>
              <a:t>Dimension client (externe/interne) - exemples</a:t>
            </a:r>
            <a:endParaRPr lang="fr-FR" sz="4000" dirty="0"/>
          </a:p>
        </p:txBody>
      </p:sp>
      <p:sp>
        <p:nvSpPr>
          <p:cNvPr id="6" name="Espace réservé du numéro de diapositive 5"/>
          <p:cNvSpPr>
            <a:spLocks noGrp="1"/>
          </p:cNvSpPr>
          <p:nvPr>
            <p:ph type="sldNum" sz="quarter" idx="12"/>
            <p:custDataLst>
              <p:tags r:id="rId3"/>
            </p:custDataLst>
          </p:nvPr>
        </p:nvSpPr>
        <p:spPr/>
        <p:txBody>
          <a:bodyPr/>
          <a:lstStyle/>
          <a:p>
            <a:fld id="{78C1DC52-1979-4D57-B923-A2F6BBF17C17}" type="slidenum">
              <a:rPr lang="fr-CA" smtClean="0"/>
              <a:pPr/>
              <a:t>33</a:t>
            </a:fld>
            <a:endParaRPr lang="fr-CA"/>
          </a:p>
        </p:txBody>
      </p:sp>
      <p:graphicFrame>
        <p:nvGraphicFramePr>
          <p:cNvPr id="5" name="Tableau 2">
            <a:extLst>
              <a:ext uri="{FF2B5EF4-FFF2-40B4-BE49-F238E27FC236}">
                <a16:creationId xmlns:a16="http://schemas.microsoft.com/office/drawing/2014/main" id="{E5316FF5-3DD5-4E18-BB25-38A812E8DEDA}"/>
              </a:ext>
            </a:extLst>
          </p:cNvPr>
          <p:cNvGraphicFramePr>
            <a:graphicFrameLocks noGrp="1"/>
          </p:cNvGraphicFramePr>
          <p:nvPr>
            <p:custDataLst>
              <p:tags r:id="rId4"/>
            </p:custDataLst>
          </p:nvPr>
        </p:nvGraphicFramePr>
        <p:xfrm>
          <a:off x="1589796" y="1606612"/>
          <a:ext cx="8128000" cy="4079178"/>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915794532"/>
                    </a:ext>
                  </a:extLst>
                </a:gridCol>
                <a:gridCol w="4064000">
                  <a:extLst>
                    <a:ext uri="{9D8B030D-6E8A-4147-A177-3AD203B41FA5}">
                      <a16:colId xmlns:a16="http://schemas.microsoft.com/office/drawing/2014/main" val="463936247"/>
                    </a:ext>
                  </a:extLst>
                </a:gridCol>
              </a:tblGrid>
              <a:tr h="370840">
                <a:tc>
                  <a:txBody>
                    <a:bodyPr/>
                    <a:lstStyle/>
                    <a:p>
                      <a:r>
                        <a:rPr lang="fr-CA" sz="28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800" b="0" u="sng"/>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Satisfaction des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42900" lvl="0" indent="-342900">
                        <a:buFont typeface="Arial" panose="020B0604020202020204" pitchFamily="34" charset="0"/>
                        <a:buChar char="•"/>
                      </a:pPr>
                      <a:r>
                        <a:rPr lang="fr-CA" sz="2000"/>
                        <a:t>% de clients satisfaits</a:t>
                      </a:r>
                    </a:p>
                    <a:p>
                      <a:pPr marL="342900" lvl="0" indent="-342900">
                        <a:buFont typeface="Arial" panose="020B0604020202020204" pitchFamily="34" charset="0"/>
                        <a:buChar char="•"/>
                      </a:pPr>
                      <a:r>
                        <a:rPr lang="fr-CA" sz="2000"/>
                        <a:t>Nombre de plaintes</a:t>
                      </a:r>
                    </a:p>
                    <a:p>
                      <a:pPr marL="342900" lvl="0" indent="-342900">
                        <a:buFont typeface="Arial" panose="020B0604020202020204" pitchFamily="34" charset="0"/>
                        <a:buChar char="•"/>
                      </a:pPr>
                      <a:r>
                        <a:rPr lang="fr-CA" sz="2000"/>
                        <a:t>Nombre de livraisons dans les délais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dirty="0"/>
                        <a:t>Fidélisation des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Nombre d’achats par clients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Conquête de nouveaux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 de nouveaux clients vs % de perte d’anciens clients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Augmenter les parts de marché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 de parts de marché</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58187249"/>
                  </a:ext>
                </a:extLst>
              </a:tr>
            </a:tbl>
          </a:graphicData>
        </a:graphic>
      </p:graphicFrame>
      <p:sp>
        <p:nvSpPr>
          <p:cNvPr id="2" name="Espace réservé du pied de page 1">
            <a:extLst>
              <a:ext uri="{FF2B5EF4-FFF2-40B4-BE49-F238E27FC236}">
                <a16:creationId xmlns:a16="http://schemas.microsoft.com/office/drawing/2014/main" id="{A17A5CF9-2B9A-477F-BCEC-39923CF5A832}"/>
              </a:ext>
            </a:extLst>
          </p:cNvPr>
          <p:cNvSpPr>
            <a:spLocks noGrp="1"/>
          </p:cNvSpPr>
          <p:nvPr>
            <p:ph type="ftr" sz="quarter" idx="11"/>
            <p:custDataLst>
              <p:tags r:id="rId5"/>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324131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idx="1"/>
            <p:custDataLst>
              <p:tags r:id="rId2"/>
            </p:custDataLst>
          </p:nvPr>
        </p:nvSpPr>
        <p:spPr>
          <a:xfrm>
            <a:off x="309075" y="1291388"/>
            <a:ext cx="5183188" cy="652064"/>
          </a:xfrm>
        </p:spPr>
        <p:txBody>
          <a:bodyPr>
            <a:normAutofit/>
          </a:bodyPr>
          <a:lstStyle/>
          <a:p>
            <a:r>
              <a:rPr lang="fr-CA" sz="2800" dirty="0"/>
              <a:t>Processus internes</a:t>
            </a:r>
          </a:p>
        </p:txBody>
      </p:sp>
      <p:sp>
        <p:nvSpPr>
          <p:cNvPr id="11" name="Espace réservé du texte 10"/>
          <p:cNvSpPr>
            <a:spLocks noGrp="1"/>
          </p:cNvSpPr>
          <p:nvPr>
            <p:ph type="body" sz="quarter" idx="3"/>
            <p:custDataLst>
              <p:tags r:id="rId3"/>
            </p:custDataLst>
          </p:nvPr>
        </p:nvSpPr>
        <p:spPr>
          <a:xfrm>
            <a:off x="6699738" y="1438045"/>
            <a:ext cx="4654062" cy="652064"/>
          </a:xfrm>
        </p:spPr>
        <p:txBody>
          <a:bodyPr>
            <a:normAutofit/>
          </a:bodyPr>
          <a:lstStyle/>
          <a:p>
            <a:r>
              <a:rPr lang="fr-CA" sz="2800"/>
              <a:t>Employés</a:t>
            </a:r>
          </a:p>
        </p:txBody>
      </p:sp>
      <p:sp>
        <p:nvSpPr>
          <p:cNvPr id="49154" name="Rectangle 2"/>
          <p:cNvSpPr>
            <a:spLocks noGrp="1" noChangeArrowheads="1"/>
          </p:cNvSpPr>
          <p:nvPr>
            <p:ph type="title"/>
            <p:custDataLst>
              <p:tags r:id="rId4"/>
            </p:custDataLst>
          </p:nvPr>
        </p:nvSpPr>
        <p:spPr>
          <a:xfrm>
            <a:off x="839788" y="365126"/>
            <a:ext cx="10515600" cy="793072"/>
          </a:xfrm>
        </p:spPr>
        <p:txBody>
          <a:bodyPr>
            <a:noAutofit/>
          </a:bodyPr>
          <a:lstStyle/>
          <a:p>
            <a:r>
              <a:rPr lang="fr-FR" sz="4000"/>
              <a:t>Dimension processus internes et employés </a:t>
            </a:r>
            <a:br>
              <a:rPr lang="fr-FR" sz="4000"/>
            </a:br>
            <a:r>
              <a:rPr lang="fr-FR" sz="4000"/>
              <a:t>- exemples</a:t>
            </a:r>
          </a:p>
        </p:txBody>
      </p:sp>
      <p:sp>
        <p:nvSpPr>
          <p:cNvPr id="6" name="Espace réservé du numéro de diapositive 5"/>
          <p:cNvSpPr>
            <a:spLocks noGrp="1"/>
          </p:cNvSpPr>
          <p:nvPr>
            <p:ph type="sldNum" sz="quarter" idx="12"/>
            <p:custDataLst>
              <p:tags r:id="rId5"/>
            </p:custDataLst>
          </p:nvPr>
        </p:nvSpPr>
        <p:spPr/>
        <p:txBody>
          <a:bodyPr/>
          <a:lstStyle/>
          <a:p>
            <a:fld id="{78C1DC52-1979-4D57-B923-A2F6BBF17C17}" type="slidenum">
              <a:rPr lang="fr-CA" smtClean="0"/>
              <a:pPr/>
              <a:t>34</a:t>
            </a:fld>
            <a:endParaRPr lang="fr-CA"/>
          </a:p>
        </p:txBody>
      </p:sp>
      <p:cxnSp>
        <p:nvCxnSpPr>
          <p:cNvPr id="4" name="Connecteur droit 3"/>
          <p:cNvCxnSpPr>
            <a:cxnSpLocks/>
          </p:cNvCxnSpPr>
          <p:nvPr>
            <p:custDataLst>
              <p:tags r:id="rId6"/>
            </p:custDataLst>
          </p:nvPr>
        </p:nvCxnSpPr>
        <p:spPr>
          <a:xfrm>
            <a:off x="6262430" y="1544481"/>
            <a:ext cx="0" cy="5037904"/>
          </a:xfrm>
          <a:prstGeom prst="line">
            <a:avLst/>
          </a:prstGeom>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12DB058B-BA8E-4063-AD57-E9A625141509}"/>
              </a:ext>
            </a:extLst>
          </p:cNvPr>
          <p:cNvSpPr>
            <a:spLocks noGrp="1"/>
          </p:cNvSpPr>
          <p:nvPr>
            <p:ph type="ftr" sz="quarter" idx="11"/>
            <p:custDataLst>
              <p:tags r:id="rId7"/>
            </p:custDataLst>
          </p:nvPr>
        </p:nvSpPr>
        <p:spPr>
          <a:xfrm>
            <a:off x="6553200" y="6399823"/>
            <a:ext cx="4114800" cy="365125"/>
          </a:xfrm>
        </p:spPr>
        <p:txBody>
          <a:bodyPr/>
          <a:lstStyle/>
          <a:p>
            <a:r>
              <a:rPr lang="pt-BR">
                <a:solidFill>
                  <a:prstClr val="black">
                    <a:tint val="75000"/>
                  </a:prstClr>
                </a:solidFill>
              </a:rPr>
              <a:t>(c)  (10904 - S12) </a:t>
            </a:r>
            <a:endParaRPr lang="fr-CA">
              <a:solidFill>
                <a:prstClr val="black">
                  <a:tint val="75000"/>
                </a:prstClr>
              </a:solidFill>
            </a:endParaRPr>
          </a:p>
        </p:txBody>
      </p:sp>
      <p:graphicFrame>
        <p:nvGraphicFramePr>
          <p:cNvPr id="13" name="Tableau 2">
            <a:extLst>
              <a:ext uri="{FF2B5EF4-FFF2-40B4-BE49-F238E27FC236}">
                <a16:creationId xmlns:a16="http://schemas.microsoft.com/office/drawing/2014/main" id="{2CBB5D23-D4EA-45B8-916E-8CBBCA00ED36}"/>
              </a:ext>
            </a:extLst>
          </p:cNvPr>
          <p:cNvGraphicFramePr>
            <a:graphicFrameLocks noGrp="1"/>
          </p:cNvGraphicFramePr>
          <p:nvPr>
            <p:custDataLst>
              <p:tags r:id="rId8"/>
            </p:custDataLst>
          </p:nvPr>
        </p:nvGraphicFramePr>
        <p:xfrm>
          <a:off x="243081" y="2033762"/>
          <a:ext cx="5756829" cy="4347193"/>
        </p:xfrm>
        <a:graphic>
          <a:graphicData uri="http://schemas.openxmlformats.org/drawingml/2006/table">
            <a:tbl>
              <a:tblPr firstRow="1" bandRow="1">
                <a:tableStyleId>{2D5ABB26-0587-4C30-8999-92F81FD0307C}</a:tableStyleId>
              </a:tblPr>
              <a:tblGrid>
                <a:gridCol w="2662864">
                  <a:extLst>
                    <a:ext uri="{9D8B030D-6E8A-4147-A177-3AD203B41FA5}">
                      <a16:colId xmlns:a16="http://schemas.microsoft.com/office/drawing/2014/main" val="1915794532"/>
                    </a:ext>
                  </a:extLst>
                </a:gridCol>
                <a:gridCol w="3093965">
                  <a:extLst>
                    <a:ext uri="{9D8B030D-6E8A-4147-A177-3AD203B41FA5}">
                      <a16:colId xmlns:a16="http://schemas.microsoft.com/office/drawing/2014/main" val="463936247"/>
                    </a:ext>
                  </a:extLst>
                </a:gridCol>
              </a:tblGrid>
              <a:tr h="370840">
                <a:tc>
                  <a:txBody>
                    <a:bodyPr/>
                    <a:lstStyle/>
                    <a:p>
                      <a:r>
                        <a:rPr lang="fr-CA" sz="24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400" b="0" u="sng" dirty="0"/>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lvl="0"/>
                      <a:r>
                        <a:rPr lang="fr-CA"/>
                        <a:t>Contrôler les coûts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Standards de coûts MOD, MP, etc.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lvl="0"/>
                      <a:r>
                        <a:rPr lang="fr-CA"/>
                        <a:t>Améliorer la productivité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Standards H-MOD par produit</a:t>
                      </a:r>
                    </a:p>
                    <a:p>
                      <a:pPr marL="285750" lvl="0" indent="-285750">
                        <a:buFont typeface="Arial" panose="020B0604020202020204" pitchFamily="34" charset="0"/>
                        <a:buChar char="•"/>
                      </a:pPr>
                      <a:r>
                        <a:rPr lang="fr-CA"/>
                        <a:t>Standards H-M par produit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lvl="0"/>
                      <a:r>
                        <a:rPr lang="fr-CA" dirty="0"/>
                        <a:t>Améliorer la qualité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dirty="0"/>
                        <a:t>Taux de rejet</a:t>
                      </a:r>
                    </a:p>
                    <a:p>
                      <a:pPr marL="285750" lvl="0" indent="-285750">
                        <a:buFont typeface="Arial" panose="020B0604020202020204" pitchFamily="34" charset="0"/>
                        <a:buChar char="•"/>
                      </a:pPr>
                      <a:r>
                        <a:rPr lang="fr-CA" dirty="0"/>
                        <a:t>Nombre de retours pour défectuosité</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r h="540992">
                <a:tc>
                  <a:txBody>
                    <a:bodyPr/>
                    <a:lstStyle/>
                    <a:p>
                      <a:pPr lvl="0"/>
                      <a:r>
                        <a:rPr lang="fr-CA"/>
                        <a:t>Optimiser l’utilisation des ressources </a:t>
                      </a: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 de capacité utilisée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58187249"/>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a:t>Améliorer la gestion des stocks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Taux de rotation des stocks</a:t>
                      </a:r>
                    </a:p>
                    <a:p>
                      <a:pPr marL="285750" lvl="0" indent="-285750">
                        <a:buFont typeface="Arial" panose="020B0604020202020204" pitchFamily="34" charset="0"/>
                        <a:buChar char="•"/>
                      </a:pPr>
                      <a:r>
                        <a:rPr lang="fr-CA"/>
                        <a:t>Rupture de stock</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28573836"/>
                  </a:ext>
                </a:extLst>
              </a:tr>
            </a:tbl>
          </a:graphicData>
        </a:graphic>
      </p:graphicFrame>
      <p:graphicFrame>
        <p:nvGraphicFramePr>
          <p:cNvPr id="16" name="Tableau 2">
            <a:extLst>
              <a:ext uri="{FF2B5EF4-FFF2-40B4-BE49-F238E27FC236}">
                <a16:creationId xmlns:a16="http://schemas.microsoft.com/office/drawing/2014/main" id="{60A78E0A-4E21-49F0-9A96-EDF7ED914014}"/>
              </a:ext>
            </a:extLst>
          </p:cNvPr>
          <p:cNvGraphicFramePr>
            <a:graphicFrameLocks noGrp="1"/>
          </p:cNvGraphicFramePr>
          <p:nvPr>
            <p:custDataLst>
              <p:tags r:id="rId9"/>
            </p:custDataLst>
          </p:nvPr>
        </p:nvGraphicFramePr>
        <p:xfrm>
          <a:off x="6488150" y="2175585"/>
          <a:ext cx="5487242" cy="2621280"/>
        </p:xfrm>
        <a:graphic>
          <a:graphicData uri="http://schemas.openxmlformats.org/drawingml/2006/table">
            <a:tbl>
              <a:tblPr firstRow="1" bandRow="1">
                <a:tableStyleId>{2D5ABB26-0587-4C30-8999-92F81FD0307C}</a:tableStyleId>
              </a:tblPr>
              <a:tblGrid>
                <a:gridCol w="2538165">
                  <a:extLst>
                    <a:ext uri="{9D8B030D-6E8A-4147-A177-3AD203B41FA5}">
                      <a16:colId xmlns:a16="http://schemas.microsoft.com/office/drawing/2014/main" val="1915794532"/>
                    </a:ext>
                  </a:extLst>
                </a:gridCol>
                <a:gridCol w="2949077">
                  <a:extLst>
                    <a:ext uri="{9D8B030D-6E8A-4147-A177-3AD203B41FA5}">
                      <a16:colId xmlns:a16="http://schemas.microsoft.com/office/drawing/2014/main" val="463936247"/>
                    </a:ext>
                  </a:extLst>
                </a:gridCol>
              </a:tblGrid>
              <a:tr h="370840">
                <a:tc>
                  <a:txBody>
                    <a:bodyPr/>
                    <a:lstStyle/>
                    <a:p>
                      <a:r>
                        <a:rPr lang="fr-CA" sz="24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400" b="0" u="sng" dirty="0"/>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lvl="0"/>
                      <a:r>
                        <a:rPr lang="fr-CA"/>
                        <a:t>Améliorer la satisfaction des employés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sz="1800"/>
                        <a:t>Taux de rétention</a:t>
                      </a:r>
                    </a:p>
                    <a:p>
                      <a:pPr marL="285750" lvl="0" indent="-285750">
                        <a:buFont typeface="Arial" panose="020B0604020202020204" pitchFamily="34" charset="0"/>
                        <a:buChar char="•"/>
                      </a:pPr>
                      <a:r>
                        <a:rPr lang="fr-CA" sz="1800"/>
                        <a:t>Taux de rotation</a:t>
                      </a:r>
                    </a:p>
                    <a:p>
                      <a:pPr marL="285750" lvl="0" indent="-285750">
                        <a:buFont typeface="Arial" panose="020B0604020202020204" pitchFamily="34" charset="0"/>
                        <a:buChar char="•"/>
                      </a:pPr>
                      <a:r>
                        <a:rPr lang="fr-CA" sz="1800"/>
                        <a:t>% d’employés satisfaits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lvl="0"/>
                      <a:r>
                        <a:rPr lang="fr-CA"/>
                        <a:t>S’assurer d’un meilleur comportement chez les employés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sz="1800"/>
                        <a:t>Taux d’absentéisme</a:t>
                      </a:r>
                    </a:p>
                    <a:p>
                      <a:pPr marL="285750" lvl="0" indent="-285750">
                        <a:buFont typeface="Arial" panose="020B0604020202020204" pitchFamily="34" charset="0"/>
                        <a:buChar char="•"/>
                      </a:pPr>
                      <a:r>
                        <a:rPr lang="fr-CA" sz="1800"/>
                        <a:t>Nombres de griefs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bl>
          </a:graphicData>
        </a:graphic>
      </p:graphicFrame>
    </p:spTree>
    <p:custDataLst>
      <p:tags r:id="rId1"/>
    </p:custDataLst>
    <p:extLst>
      <p:ext uri="{BB962C8B-B14F-4D97-AF65-F5344CB8AC3E}">
        <p14:creationId xmlns:p14="http://schemas.microsoft.com/office/powerpoint/2010/main" val="2893950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a:xfrm>
            <a:off x="838200" y="365126"/>
            <a:ext cx="10515600" cy="787400"/>
          </a:xfrm>
        </p:spPr>
        <p:txBody>
          <a:bodyPr>
            <a:normAutofit/>
          </a:bodyPr>
          <a:lstStyle/>
          <a:p>
            <a:r>
              <a:rPr lang="fr-CA" sz="4000" dirty="0"/>
              <a:t>Dimension innovation et apprentissage - exemples</a:t>
            </a:r>
            <a:endParaRPr lang="fr-FR" sz="4000" dirty="0"/>
          </a:p>
        </p:txBody>
      </p:sp>
      <p:sp>
        <p:nvSpPr>
          <p:cNvPr id="6" name="Espace réservé du numéro de diapositive 5"/>
          <p:cNvSpPr>
            <a:spLocks noGrp="1"/>
          </p:cNvSpPr>
          <p:nvPr>
            <p:ph type="sldNum" sz="quarter" idx="12"/>
            <p:custDataLst>
              <p:tags r:id="rId3"/>
            </p:custDataLst>
          </p:nvPr>
        </p:nvSpPr>
        <p:spPr/>
        <p:txBody>
          <a:bodyPr/>
          <a:lstStyle/>
          <a:p>
            <a:fld id="{78C1DC52-1979-4D57-B923-A2F6BBF17C17}" type="slidenum">
              <a:rPr lang="fr-CA" smtClean="0"/>
              <a:pPr/>
              <a:t>35</a:t>
            </a:fld>
            <a:endParaRPr lang="fr-CA" dirty="0"/>
          </a:p>
        </p:txBody>
      </p:sp>
      <p:graphicFrame>
        <p:nvGraphicFramePr>
          <p:cNvPr id="2" name="Tableau 2">
            <a:extLst>
              <a:ext uri="{FF2B5EF4-FFF2-40B4-BE49-F238E27FC236}">
                <a16:creationId xmlns:a16="http://schemas.microsoft.com/office/drawing/2014/main" id="{4AD9B93D-8D97-4C78-B6C6-E3C9E8DBF244}"/>
              </a:ext>
            </a:extLst>
          </p:cNvPr>
          <p:cNvGraphicFramePr>
            <a:graphicFrameLocks noGrp="1"/>
          </p:cNvGraphicFramePr>
          <p:nvPr>
            <p:custDataLst>
              <p:tags r:id="rId4"/>
            </p:custDataLst>
          </p:nvPr>
        </p:nvGraphicFramePr>
        <p:xfrm>
          <a:off x="1744032" y="2060952"/>
          <a:ext cx="8128000" cy="3061891"/>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915794532"/>
                    </a:ext>
                  </a:extLst>
                </a:gridCol>
                <a:gridCol w="4064000">
                  <a:extLst>
                    <a:ext uri="{9D8B030D-6E8A-4147-A177-3AD203B41FA5}">
                      <a16:colId xmlns:a16="http://schemas.microsoft.com/office/drawing/2014/main" val="463936247"/>
                    </a:ext>
                  </a:extLst>
                </a:gridCol>
              </a:tblGrid>
              <a:tr h="370840">
                <a:tc>
                  <a:txBody>
                    <a:bodyPr/>
                    <a:lstStyle/>
                    <a:p>
                      <a:r>
                        <a:rPr lang="fr-CA" sz="28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800" b="0" u="sng"/>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Création et mise en service de nouveaux produits/services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Nombre de nouveaux produits</a:t>
                      </a:r>
                    </a:p>
                    <a:p>
                      <a:pPr marL="285750" lvl="0" indent="-285750">
                        <a:buFont typeface="Arial" panose="020B0604020202020204" pitchFamily="34" charset="0"/>
                        <a:buChar char="•"/>
                      </a:pPr>
                      <a:r>
                        <a:rPr lang="fr-CA"/>
                        <a:t>Ventes des nouveaux produits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Améliorer les compétences et la polyvalence des employés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dirty="0"/>
                        <a:t>Nombre de formations suivies</a:t>
                      </a:r>
                    </a:p>
                    <a:p>
                      <a:pPr marL="285750" lvl="0" indent="-285750">
                        <a:buFont typeface="Arial" panose="020B0604020202020204" pitchFamily="34" charset="0"/>
                        <a:buChar char="•"/>
                      </a:pPr>
                      <a:r>
                        <a:rPr lang="fr-CA" dirty="0"/>
                        <a:t>Nombre de terminaux</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r>
                        <a:rPr lang="fr-CA"/>
                        <a:t>Disponibilité / Efficacité des systèmes d’information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a:t>Nombre d’arrêts des systèmes d’information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bl>
          </a:graphicData>
        </a:graphic>
      </p:graphicFrame>
      <p:sp>
        <p:nvSpPr>
          <p:cNvPr id="3" name="Espace réservé du pied de page 2">
            <a:extLst>
              <a:ext uri="{FF2B5EF4-FFF2-40B4-BE49-F238E27FC236}">
                <a16:creationId xmlns:a16="http://schemas.microsoft.com/office/drawing/2014/main" id="{255667BD-35C4-43F4-8752-3EA85860FFB6}"/>
              </a:ext>
            </a:extLst>
          </p:cNvPr>
          <p:cNvSpPr>
            <a:spLocks noGrp="1"/>
          </p:cNvSpPr>
          <p:nvPr>
            <p:ph type="ftr" sz="quarter" idx="11"/>
            <p:custDataLst>
              <p:tags r:id="rId5"/>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3714508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757631E0-EF8B-4968-9A25-DF6A2F07C3BF}"/>
              </a:ext>
            </a:extLst>
          </p:cNvPr>
          <p:cNvSpPr>
            <a:spLocks noGrp="1"/>
          </p:cNvSpPr>
          <p:nvPr>
            <p:ph type="ftr" sz="quarter" idx="11"/>
            <p:custDataLst>
              <p:tags r:id="rId1"/>
            </p:custDataLst>
          </p:nvPr>
        </p:nvSpPr>
        <p:spPr>
          <a:xfrm>
            <a:off x="3648916" y="6354209"/>
            <a:ext cx="4894169" cy="365125"/>
          </a:xfrm>
        </p:spPr>
        <p:txBody>
          <a:bodyPr vert="horz" lIns="91440" tIns="45720" rIns="91440" bIns="45720" rtlCol="0">
            <a:norm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pt-BR" b="0" i="0" u="none" strike="noStrike" kern="1200" cap="none" spc="0" normalizeH="0" baseline="0" noProof="0">
                <a:ln>
                  <a:noFill/>
                </a:ln>
                <a:solidFill>
                  <a:schemeClr val="bg1">
                    <a:lumMod val="50000"/>
                  </a:schemeClr>
                </a:solidFill>
                <a:effectLst/>
                <a:uLnTx/>
                <a:uFillTx/>
                <a:ea typeface="+mn-ea"/>
                <a:cs typeface="+mn-cs"/>
              </a:rPr>
              <a:t>(c)  (10904 - S12) </a:t>
            </a:r>
            <a:endParaRPr kumimoji="0" lang="en-US" b="0" i="0" u="none" strike="noStrike" kern="1200" cap="none" spc="0" normalizeH="0" baseline="0" noProof="0">
              <a:ln>
                <a:noFill/>
              </a:ln>
              <a:solidFill>
                <a:schemeClr val="bg1">
                  <a:lumMod val="50000"/>
                </a:schemeClr>
              </a:solidFill>
              <a:effectLst/>
              <a:uLnTx/>
              <a:uFillTx/>
              <a:ea typeface="+mn-ea"/>
              <a:cs typeface="+mn-cs"/>
            </a:endParaRPr>
          </a:p>
        </p:txBody>
      </p:sp>
      <p:pic>
        <p:nvPicPr>
          <p:cNvPr id="779" name="Image 779" descr="Une image contenant intérieur, table, assis, différent&#10;&#10;Description générée avec un niveau de confiance très élevé">
            <a:extLst>
              <a:ext uri="{FF2B5EF4-FFF2-40B4-BE49-F238E27FC236}">
                <a16:creationId xmlns:a16="http://schemas.microsoft.com/office/drawing/2014/main" id="{BA428961-7AE0-4C99-8766-31047976B197}"/>
              </a:ext>
            </a:extLst>
          </p:cNvPr>
          <p:cNvPicPr>
            <a:picLocks noChangeAspect="1"/>
          </p:cNvPicPr>
          <p:nvPr>
            <p:custDataLst>
              <p:tags r:id="rId2"/>
            </p:custDataLst>
          </p:nvPr>
        </p:nvPicPr>
        <p:blipFill rotWithShape="1">
          <a:blip r:embed="rId8">
            <a:alphaModFix/>
          </a:blip>
          <a:srcRect l="13889" r="19257" b="5"/>
          <a:stretch/>
        </p:blipFill>
        <p:spPr>
          <a:xfrm>
            <a:off x="9030743" y="2474254"/>
            <a:ext cx="1912560" cy="190948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graphicFrame>
        <p:nvGraphicFramePr>
          <p:cNvPr id="40" name="ZoneTexte 6">
            <a:extLst>
              <a:ext uri="{FF2B5EF4-FFF2-40B4-BE49-F238E27FC236}">
                <a16:creationId xmlns:a16="http://schemas.microsoft.com/office/drawing/2014/main" id="{44DE31D7-3BD1-49FA-9E16-666992709B35}"/>
              </a:ext>
            </a:extLst>
          </p:cNvPr>
          <p:cNvGraphicFramePr/>
          <p:nvPr>
            <p:custDataLst>
              <p:tags r:id="rId3"/>
            </p:custDataLst>
          </p:nvPr>
        </p:nvGraphicFramePr>
        <p:xfrm>
          <a:off x="1115553" y="2278173"/>
          <a:ext cx="7689153" cy="400384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3" name="Espace réservé du numéro de diapositive 2">
            <a:extLst>
              <a:ext uri="{FF2B5EF4-FFF2-40B4-BE49-F238E27FC236}">
                <a16:creationId xmlns:a16="http://schemas.microsoft.com/office/drawing/2014/main" id="{DF20ACC3-B510-41FE-A5C9-65D029E3E253}"/>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36</a:t>
            </a:fld>
            <a:endParaRPr lang="fr-CA">
              <a:solidFill>
                <a:prstClr val="black">
                  <a:tint val="75000"/>
                </a:prstClr>
              </a:solidFill>
            </a:endParaRPr>
          </a:p>
        </p:txBody>
      </p:sp>
      <p:sp>
        <p:nvSpPr>
          <p:cNvPr id="5" name="Rectangle 2">
            <a:extLst>
              <a:ext uri="{FF2B5EF4-FFF2-40B4-BE49-F238E27FC236}">
                <a16:creationId xmlns:a16="http://schemas.microsoft.com/office/drawing/2014/main" id="{54B0899B-EB0C-3304-A9CE-14D917B0C374}"/>
              </a:ext>
            </a:extLst>
          </p:cNvPr>
          <p:cNvSpPr txBox="1">
            <a:spLocks noChangeArrowheads="1"/>
          </p:cNvSpPr>
          <p:nvPr>
            <p:custDataLst>
              <p:tags r:id="rId5"/>
            </p:custDataLst>
          </p:nvPr>
        </p:nvSpPr>
        <p:spPr>
          <a:xfrm>
            <a:off x="838200" y="365126"/>
            <a:ext cx="10515600" cy="787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kern="1200" dirty="0">
                <a:latin typeface="+mj-lt"/>
                <a:ea typeface="+mj-ea"/>
                <a:cs typeface="+mj-cs"/>
              </a:rPr>
              <a:t>Illustration- </a:t>
            </a:r>
            <a:r>
              <a:rPr lang="en-US" sz="4000" dirty="0"/>
              <a:t>Les </a:t>
            </a:r>
            <a:r>
              <a:rPr lang="en-US" sz="4000" dirty="0" err="1"/>
              <a:t>Biscuiteries</a:t>
            </a:r>
            <a:r>
              <a:rPr lang="en-US" sz="4000" dirty="0"/>
              <a:t> de </a:t>
            </a:r>
            <a:r>
              <a:rPr lang="en-US" sz="4000" dirty="0" err="1"/>
              <a:t>Montmagny</a:t>
            </a:r>
            <a:r>
              <a:rPr lang="en-US" sz="4000" dirty="0"/>
              <a:t> </a:t>
            </a:r>
            <a:endParaRPr lang="fr-FR" sz="4000" dirty="0"/>
          </a:p>
        </p:txBody>
      </p:sp>
    </p:spTree>
    <p:extLst>
      <p:ext uri="{BB962C8B-B14F-4D97-AF65-F5344CB8AC3E}">
        <p14:creationId xmlns:p14="http://schemas.microsoft.com/office/powerpoint/2010/main" val="1443399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9">
            <a:extLst>
              <a:ext uri="{FF2B5EF4-FFF2-40B4-BE49-F238E27FC236}">
                <a16:creationId xmlns:a16="http://schemas.microsoft.com/office/drawing/2014/main" id="{029BEAA5-5C7A-4ED8-B3AC-21F783325685}"/>
              </a:ext>
            </a:extLst>
          </p:cNvPr>
          <p:cNvPicPr>
            <a:picLocks noGrp="1" noChangeAspect="1"/>
          </p:cNvPicPr>
          <p:nvPr>
            <p:ph idx="1"/>
            <p:custDataLst>
              <p:tags r:id="rId1"/>
            </p:custDataLst>
          </p:nvPr>
        </p:nvPicPr>
        <p:blipFill>
          <a:blip r:embed="rId8"/>
          <a:stretch>
            <a:fillRect/>
          </a:stretch>
        </p:blipFill>
        <p:spPr>
          <a:xfrm>
            <a:off x="8210149" y="2848801"/>
            <a:ext cx="3183700" cy="2125946"/>
          </a:xfrm>
        </p:spPr>
      </p:pic>
      <p:sp>
        <p:nvSpPr>
          <p:cNvPr id="4" name="Espace réservé du pied de page 3">
            <a:extLst>
              <a:ext uri="{FF2B5EF4-FFF2-40B4-BE49-F238E27FC236}">
                <a16:creationId xmlns:a16="http://schemas.microsoft.com/office/drawing/2014/main" id="{757631E0-EF8B-4968-9A25-DF6A2F07C3BF}"/>
              </a:ext>
            </a:extLst>
          </p:cNvPr>
          <p:cNvSpPr>
            <a:spLocks noGrp="1"/>
          </p:cNvSpPr>
          <p:nvPr>
            <p:ph type="ftr" sz="quarter" idx="11"/>
            <p:custDataLst>
              <p:tags r:id="rId2"/>
            </p:custDataLst>
          </p:nvPr>
        </p:nvSpPr>
        <p:spPr>
          <a:xfrm>
            <a:off x="4038600" y="6356350"/>
            <a:ext cx="4114800" cy="365125"/>
          </a:xfrm>
        </p:spPr>
        <p:txBody>
          <a:bodyPr vert="horz" lIns="91440" tIns="45720" rIns="91440" bIns="45720" rtlCol="0">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t>(c)  (10904 - S12) </a:t>
            </a:r>
            <a:endParaRPr kumimoji="0" lang="en-US"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44" name="Espace réservé du contenu 5">
            <a:extLst>
              <a:ext uri="{FF2B5EF4-FFF2-40B4-BE49-F238E27FC236}">
                <a16:creationId xmlns:a16="http://schemas.microsoft.com/office/drawing/2014/main" id="{F5DE19F9-893D-4244-A8D8-77BD1EE96D4F}"/>
              </a:ext>
            </a:extLst>
          </p:cNvPr>
          <p:cNvGraphicFramePr>
            <a:graphicFrameLocks/>
          </p:cNvGraphicFramePr>
          <p:nvPr>
            <p:custDataLst>
              <p:tags r:id="rId3"/>
            </p:custDataLst>
          </p:nvPr>
        </p:nvGraphicFramePr>
        <p:xfrm>
          <a:off x="521917" y="1670136"/>
          <a:ext cx="7368999" cy="4653851"/>
        </p:xfrm>
        <a:graphic>
          <a:graphicData uri="http://schemas.openxmlformats.org/drawingml/2006/table">
            <a:tbl>
              <a:tblPr firstRow="1" firstCol="1" bandRow="1">
                <a:tableStyleId>{EB344D84-9AFB-497E-A393-DC336BA19D2E}</a:tableStyleId>
              </a:tblPr>
              <a:tblGrid>
                <a:gridCol w="1654012">
                  <a:extLst>
                    <a:ext uri="{9D8B030D-6E8A-4147-A177-3AD203B41FA5}">
                      <a16:colId xmlns:a16="http://schemas.microsoft.com/office/drawing/2014/main" val="950256380"/>
                    </a:ext>
                  </a:extLst>
                </a:gridCol>
                <a:gridCol w="1914300">
                  <a:extLst>
                    <a:ext uri="{9D8B030D-6E8A-4147-A177-3AD203B41FA5}">
                      <a16:colId xmlns:a16="http://schemas.microsoft.com/office/drawing/2014/main" val="1827361187"/>
                    </a:ext>
                  </a:extLst>
                </a:gridCol>
                <a:gridCol w="2860460">
                  <a:extLst>
                    <a:ext uri="{9D8B030D-6E8A-4147-A177-3AD203B41FA5}">
                      <a16:colId xmlns:a16="http://schemas.microsoft.com/office/drawing/2014/main" val="3300997882"/>
                    </a:ext>
                  </a:extLst>
                </a:gridCol>
                <a:gridCol w="940227">
                  <a:extLst>
                    <a:ext uri="{9D8B030D-6E8A-4147-A177-3AD203B41FA5}">
                      <a16:colId xmlns:a16="http://schemas.microsoft.com/office/drawing/2014/main" val="3072651654"/>
                    </a:ext>
                  </a:extLst>
                </a:gridCol>
              </a:tblGrid>
              <a:tr h="661813">
                <a:tc>
                  <a:txBody>
                    <a:bodyPr/>
                    <a:lstStyle/>
                    <a:p>
                      <a:pPr algn="ctr">
                        <a:spcAft>
                          <a:spcPts val="0"/>
                        </a:spcAft>
                      </a:pPr>
                      <a:r>
                        <a:rPr lang="en-US" sz="1600" dirty="0">
                          <a:effectLst/>
                        </a:rPr>
                        <a:t>Dimensions</a:t>
                      </a:r>
                    </a:p>
                  </a:txBody>
                  <a:tcPr marL="153430" marR="92058" marT="92058" marB="92058" anchor="ctr"/>
                </a:tc>
                <a:tc>
                  <a:txBody>
                    <a:bodyPr/>
                    <a:lstStyle/>
                    <a:p>
                      <a:pPr algn="ctr">
                        <a:spcAft>
                          <a:spcPts val="0"/>
                        </a:spcAft>
                      </a:pPr>
                      <a:r>
                        <a:rPr lang="en-US" sz="1600" dirty="0" err="1">
                          <a:effectLst/>
                        </a:rPr>
                        <a:t>Objectifs</a:t>
                      </a:r>
                      <a:endParaRPr lang="en-US" sz="1600" dirty="0">
                        <a:effectLst/>
                      </a:endParaRPr>
                    </a:p>
                  </a:txBody>
                  <a:tcPr marL="153430" marR="92058" marT="92058" marB="92058" anchor="ctr"/>
                </a:tc>
                <a:tc>
                  <a:txBody>
                    <a:bodyPr/>
                    <a:lstStyle/>
                    <a:p>
                      <a:pPr algn="ctr">
                        <a:spcAft>
                          <a:spcPts val="0"/>
                        </a:spcAft>
                      </a:pPr>
                      <a:r>
                        <a:rPr lang="en-US" sz="1600" err="1">
                          <a:effectLst/>
                        </a:rPr>
                        <a:t>Indicateurs</a:t>
                      </a:r>
                      <a:endParaRPr lang="en-US" sz="1600">
                        <a:effectLst/>
                      </a:endParaRPr>
                    </a:p>
                  </a:txBody>
                  <a:tcPr marL="153430" marR="92058" marT="92058" marB="92058" anchor="ctr"/>
                </a:tc>
                <a:tc>
                  <a:txBody>
                    <a:bodyPr/>
                    <a:lstStyle/>
                    <a:p>
                      <a:pPr algn="ctr">
                        <a:lnSpc>
                          <a:spcPct val="107000"/>
                        </a:lnSpc>
                        <a:spcAft>
                          <a:spcPts val="0"/>
                        </a:spcAft>
                      </a:pPr>
                      <a:r>
                        <a:rPr lang="en-US" sz="1600" err="1">
                          <a:effectLst/>
                        </a:rPr>
                        <a:t>Cibles</a:t>
                      </a:r>
                    </a:p>
                  </a:txBody>
                  <a:tcPr marL="153430" marR="92058" marT="92058" marB="92058" anchor="ctr"/>
                </a:tc>
                <a:extLst>
                  <a:ext uri="{0D108BD9-81ED-4DB2-BD59-A6C34878D82A}">
                    <a16:rowId xmlns:a16="http://schemas.microsoft.com/office/drawing/2014/main" val="1812363086"/>
                  </a:ext>
                </a:extLst>
              </a:tr>
              <a:tr h="873595">
                <a:tc>
                  <a:txBody>
                    <a:bodyPr/>
                    <a:lstStyle/>
                    <a:p>
                      <a:pPr algn="ctr">
                        <a:spcAft>
                          <a:spcPts val="0"/>
                        </a:spcAft>
                      </a:pPr>
                      <a:r>
                        <a:rPr lang="en-US" sz="1600">
                          <a:effectLst/>
                        </a:rPr>
                        <a:t>Financière</a:t>
                      </a:r>
                    </a:p>
                  </a:txBody>
                  <a:tcPr marL="153430" marR="92058" marT="92058" marB="92058" anchor="ctr"/>
                </a:tc>
                <a:tc>
                  <a:txBody>
                    <a:bodyPr/>
                    <a:lstStyle/>
                    <a:p>
                      <a:pPr algn="ctr">
                        <a:spcAft>
                          <a:spcPts val="0"/>
                        </a:spcAft>
                      </a:pPr>
                      <a:r>
                        <a:rPr lang="fr-FR" sz="1600">
                          <a:effectLst/>
                        </a:rPr>
                        <a:t>Développer ses parts de marchés</a:t>
                      </a:r>
                    </a:p>
                  </a:txBody>
                  <a:tcPr marL="153430" marR="92058" marT="92058" marB="92058" anchor="ctr"/>
                </a:tc>
                <a:tc>
                  <a:txBody>
                    <a:bodyPr/>
                    <a:lstStyle/>
                    <a:p>
                      <a:pPr algn="ctr">
                        <a:spcAft>
                          <a:spcPts val="0"/>
                        </a:spcAft>
                      </a:pPr>
                      <a:r>
                        <a:rPr lang="en-US" sz="1600">
                          <a:effectLst/>
                        </a:rPr>
                        <a:t>RCI</a:t>
                      </a:r>
                    </a:p>
                  </a:txBody>
                  <a:tcPr marL="153430" marR="92058" marT="92058" marB="92058" anchor="ctr"/>
                </a:tc>
                <a:tc>
                  <a:txBody>
                    <a:bodyPr/>
                    <a:lstStyle/>
                    <a:p>
                      <a:pPr algn="ctr">
                        <a:spcAft>
                          <a:spcPts val="0"/>
                        </a:spcAft>
                      </a:pPr>
                      <a:r>
                        <a:rPr lang="en-US" sz="1600">
                          <a:effectLst/>
                        </a:rPr>
                        <a:t>20 %</a:t>
                      </a:r>
                    </a:p>
                  </a:txBody>
                  <a:tcPr marL="153430" marR="92058" marT="92058" marB="92058" anchor="ctr"/>
                </a:tc>
                <a:extLst>
                  <a:ext uri="{0D108BD9-81ED-4DB2-BD59-A6C34878D82A}">
                    <a16:rowId xmlns:a16="http://schemas.microsoft.com/office/drawing/2014/main" val="3525778559"/>
                  </a:ext>
                </a:extLst>
              </a:tr>
              <a:tr h="661813">
                <a:tc>
                  <a:txBody>
                    <a:bodyPr/>
                    <a:lstStyle/>
                    <a:p>
                      <a:pPr algn="ctr">
                        <a:spcAft>
                          <a:spcPts val="0"/>
                        </a:spcAft>
                      </a:pPr>
                      <a:r>
                        <a:rPr lang="en-US" sz="1600" dirty="0">
                          <a:effectLst/>
                        </a:rPr>
                        <a:t>Clients</a:t>
                      </a:r>
                    </a:p>
                  </a:txBody>
                  <a:tcPr marL="153430" marR="92058" marT="92058" marB="92058" anchor="ctr"/>
                </a:tc>
                <a:tc>
                  <a:txBody>
                    <a:bodyPr/>
                    <a:lstStyle/>
                    <a:p>
                      <a:pPr algn="ctr">
                        <a:spcAft>
                          <a:spcPts val="0"/>
                        </a:spcAft>
                      </a:pPr>
                      <a:r>
                        <a:rPr lang="en-US" sz="1600" err="1">
                          <a:effectLst/>
                        </a:rPr>
                        <a:t>Satisfaire</a:t>
                      </a:r>
                      <a:r>
                        <a:rPr lang="en-US" sz="1600">
                          <a:effectLst/>
                        </a:rPr>
                        <a:t> les clients</a:t>
                      </a:r>
                    </a:p>
                  </a:txBody>
                  <a:tcPr marL="153430" marR="92058" marT="92058" marB="92058" anchor="ctr"/>
                </a:tc>
                <a:tc>
                  <a:txBody>
                    <a:bodyPr/>
                    <a:lstStyle/>
                    <a:p>
                      <a:pPr algn="ctr">
                        <a:spcAft>
                          <a:spcPts val="0"/>
                        </a:spcAft>
                      </a:pPr>
                      <a:r>
                        <a:rPr lang="en-US" sz="1600">
                          <a:effectLst/>
                        </a:rPr>
                        <a:t>Satisfaction des clients</a:t>
                      </a:r>
                    </a:p>
                  </a:txBody>
                  <a:tcPr marL="153430" marR="92058" marT="92058" marB="92058" anchor="ctr"/>
                </a:tc>
                <a:tc>
                  <a:txBody>
                    <a:bodyPr/>
                    <a:lstStyle/>
                    <a:p>
                      <a:pPr algn="ctr">
                        <a:spcAft>
                          <a:spcPts val="0"/>
                        </a:spcAft>
                      </a:pPr>
                      <a:r>
                        <a:rPr lang="en-US" sz="1600">
                          <a:effectLst/>
                        </a:rPr>
                        <a:t>15 %</a:t>
                      </a:r>
                    </a:p>
                  </a:txBody>
                  <a:tcPr marL="153430" marR="92058" marT="92058" marB="92058" anchor="ctr"/>
                </a:tc>
                <a:extLst>
                  <a:ext uri="{0D108BD9-81ED-4DB2-BD59-A6C34878D82A}">
                    <a16:rowId xmlns:a16="http://schemas.microsoft.com/office/drawing/2014/main" val="721998437"/>
                  </a:ext>
                </a:extLst>
              </a:tr>
              <a:tr h="1085375">
                <a:tc>
                  <a:txBody>
                    <a:bodyPr/>
                    <a:lstStyle/>
                    <a:p>
                      <a:pPr algn="ctr">
                        <a:lnSpc>
                          <a:spcPct val="107000"/>
                        </a:lnSpc>
                        <a:spcAft>
                          <a:spcPts val="0"/>
                        </a:spcAft>
                      </a:pPr>
                      <a:r>
                        <a:rPr lang="en-US" sz="1600">
                          <a:effectLst/>
                        </a:rPr>
                        <a:t>Processus internes</a:t>
                      </a:r>
                    </a:p>
                  </a:txBody>
                  <a:tcPr marL="153430" marR="92058" marT="92058" marB="92058" anchor="ctr"/>
                </a:tc>
                <a:tc>
                  <a:txBody>
                    <a:bodyPr/>
                    <a:lstStyle/>
                    <a:p>
                      <a:pPr algn="ctr">
                        <a:lnSpc>
                          <a:spcPct val="107000"/>
                        </a:lnSpc>
                        <a:spcAft>
                          <a:spcPts val="0"/>
                        </a:spcAft>
                      </a:pPr>
                      <a:r>
                        <a:rPr lang="fr-FR" sz="1600">
                          <a:effectLst/>
                        </a:rPr>
                        <a:t>Améliorer le processus de production</a:t>
                      </a:r>
                    </a:p>
                  </a:txBody>
                  <a:tcPr marL="153430" marR="92058" marT="92058" marB="92058" anchor="ctr"/>
                </a:tc>
                <a:tc>
                  <a:txBody>
                    <a:bodyPr/>
                    <a:lstStyle/>
                    <a:p>
                      <a:pPr algn="ctr">
                        <a:spcAft>
                          <a:spcPts val="0"/>
                        </a:spcAft>
                      </a:pPr>
                      <a:r>
                        <a:rPr lang="fr-FR" sz="1600">
                          <a:effectLst/>
                        </a:rPr>
                        <a:t>% de diminution du coût d’achat des matières premières par rapport à l’année précédente</a:t>
                      </a:r>
                    </a:p>
                  </a:txBody>
                  <a:tcPr marL="153430" marR="92058" marT="92058" marB="92058" anchor="ctr"/>
                </a:tc>
                <a:tc>
                  <a:txBody>
                    <a:bodyPr/>
                    <a:lstStyle/>
                    <a:p>
                      <a:pPr algn="ctr">
                        <a:spcAft>
                          <a:spcPts val="0"/>
                        </a:spcAft>
                      </a:pPr>
                      <a:r>
                        <a:rPr lang="en-US" sz="1600" dirty="0">
                          <a:effectLst/>
                        </a:rPr>
                        <a:t>20 %</a:t>
                      </a:r>
                    </a:p>
                  </a:txBody>
                  <a:tcPr marL="153430" marR="92058" marT="92058" marB="92058" anchor="ctr"/>
                </a:tc>
                <a:extLst>
                  <a:ext uri="{0D108BD9-81ED-4DB2-BD59-A6C34878D82A}">
                    <a16:rowId xmlns:a16="http://schemas.microsoft.com/office/drawing/2014/main" val="766492948"/>
                  </a:ext>
                </a:extLst>
              </a:tr>
              <a:tr h="1297154">
                <a:tc>
                  <a:txBody>
                    <a:bodyPr/>
                    <a:lstStyle/>
                    <a:p>
                      <a:pPr algn="ctr">
                        <a:spcAft>
                          <a:spcPts val="0"/>
                        </a:spcAft>
                      </a:pPr>
                      <a:r>
                        <a:rPr lang="en-US" sz="1600">
                          <a:effectLst/>
                        </a:rPr>
                        <a:t>Innovation et </a:t>
                      </a:r>
                      <a:r>
                        <a:rPr lang="en-US" sz="1600" err="1">
                          <a:effectLst/>
                        </a:rPr>
                        <a:t>apprentissage</a:t>
                      </a:r>
                    </a:p>
                  </a:txBody>
                  <a:tcPr marL="153430" marR="92058" marT="92058" marB="92058" anchor="ctr"/>
                </a:tc>
                <a:tc>
                  <a:txBody>
                    <a:bodyPr/>
                    <a:lstStyle/>
                    <a:p>
                      <a:pPr algn="ctr">
                        <a:spcAft>
                          <a:spcPts val="0"/>
                        </a:spcAft>
                      </a:pPr>
                      <a:r>
                        <a:rPr lang="fr-FR" sz="1600">
                          <a:effectLst/>
                        </a:rPr>
                        <a:t>Nombre de lancements de nouveaux produits</a:t>
                      </a:r>
                    </a:p>
                  </a:txBody>
                  <a:tcPr marL="153430" marR="92058" marT="92058" marB="92058" anchor="ctr"/>
                </a:tc>
                <a:tc>
                  <a:txBody>
                    <a:bodyPr/>
                    <a:lstStyle/>
                    <a:p>
                      <a:pPr algn="ctr">
                        <a:spcAft>
                          <a:spcPts val="0"/>
                        </a:spcAft>
                      </a:pPr>
                      <a:r>
                        <a:rPr lang="fr-FR" sz="1600">
                          <a:effectLst/>
                        </a:rPr>
                        <a:t>% d’augmentation de la part de marché des nouveaux produits par rapport à l’année précédente</a:t>
                      </a:r>
                    </a:p>
                  </a:txBody>
                  <a:tcPr marL="153430" marR="92058" marT="92058" marB="92058" anchor="ctr"/>
                </a:tc>
                <a:tc>
                  <a:txBody>
                    <a:bodyPr/>
                    <a:lstStyle/>
                    <a:p>
                      <a:pPr algn="ctr">
                        <a:spcAft>
                          <a:spcPts val="0"/>
                        </a:spcAft>
                      </a:pPr>
                      <a:r>
                        <a:rPr lang="en-US" sz="1600">
                          <a:effectLst/>
                        </a:rPr>
                        <a:t>5 %</a:t>
                      </a:r>
                    </a:p>
                  </a:txBody>
                  <a:tcPr marL="153430" marR="92058" marT="92058" marB="92058" anchor="ctr"/>
                </a:tc>
                <a:extLst>
                  <a:ext uri="{0D108BD9-81ED-4DB2-BD59-A6C34878D82A}">
                    <a16:rowId xmlns:a16="http://schemas.microsoft.com/office/drawing/2014/main" val="1620694205"/>
                  </a:ext>
                </a:extLst>
              </a:tr>
            </a:tbl>
          </a:graphicData>
        </a:graphic>
      </p:graphicFrame>
      <p:sp>
        <p:nvSpPr>
          <p:cNvPr id="3" name="Espace réservé du numéro de diapositive 2">
            <a:extLst>
              <a:ext uri="{FF2B5EF4-FFF2-40B4-BE49-F238E27FC236}">
                <a16:creationId xmlns:a16="http://schemas.microsoft.com/office/drawing/2014/main" id="{9C9263FE-0456-4717-8812-DD80C67B4EEE}"/>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37</a:t>
            </a:fld>
            <a:endParaRPr lang="fr-CA">
              <a:solidFill>
                <a:prstClr val="black">
                  <a:tint val="75000"/>
                </a:prstClr>
              </a:solidFill>
            </a:endParaRPr>
          </a:p>
        </p:txBody>
      </p:sp>
      <p:sp>
        <p:nvSpPr>
          <p:cNvPr id="5" name="Rectangle 2">
            <a:extLst>
              <a:ext uri="{FF2B5EF4-FFF2-40B4-BE49-F238E27FC236}">
                <a16:creationId xmlns:a16="http://schemas.microsoft.com/office/drawing/2014/main" id="{86C68DEF-D5DE-59AC-1A05-04795DAD9F1C}"/>
              </a:ext>
            </a:extLst>
          </p:cNvPr>
          <p:cNvSpPr txBox="1">
            <a:spLocks noChangeArrowheads="1"/>
          </p:cNvSpPr>
          <p:nvPr>
            <p:custDataLst>
              <p:tags r:id="rId5"/>
            </p:custDataLst>
          </p:nvPr>
        </p:nvSpPr>
        <p:spPr>
          <a:xfrm>
            <a:off x="838200" y="365126"/>
            <a:ext cx="10515600" cy="787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kern="1200" dirty="0">
                <a:latin typeface="+mj-lt"/>
                <a:ea typeface="+mj-ea"/>
                <a:cs typeface="+mj-cs"/>
              </a:rPr>
              <a:t>Illustration - </a:t>
            </a:r>
            <a:r>
              <a:rPr lang="en-US" sz="4000" dirty="0"/>
              <a:t>Les </a:t>
            </a:r>
            <a:r>
              <a:rPr lang="en-US" sz="4000" dirty="0" err="1"/>
              <a:t>Biscuiteries</a:t>
            </a:r>
            <a:r>
              <a:rPr lang="en-US" sz="4000" dirty="0"/>
              <a:t> de </a:t>
            </a:r>
            <a:r>
              <a:rPr lang="en-US" sz="4000" dirty="0" err="1"/>
              <a:t>Montmagny</a:t>
            </a:r>
            <a:r>
              <a:rPr lang="en-US" sz="4000" dirty="0"/>
              <a:t> </a:t>
            </a:r>
            <a:endParaRPr lang="fr-FR" sz="4000" dirty="0"/>
          </a:p>
        </p:txBody>
      </p:sp>
    </p:spTree>
    <p:extLst>
      <p:ext uri="{BB962C8B-B14F-4D97-AF65-F5344CB8AC3E}">
        <p14:creationId xmlns:p14="http://schemas.microsoft.com/office/powerpoint/2010/main" val="1542531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D2A977-EC23-1E81-F316-30801E4834AE}"/>
              </a:ext>
            </a:extLst>
          </p:cNvPr>
          <p:cNvSpPr>
            <a:spLocks noGrp="1"/>
          </p:cNvSpPr>
          <p:nvPr>
            <p:ph type="title"/>
            <p:custDataLst>
              <p:tags r:id="rId1"/>
            </p:custDataLst>
          </p:nvPr>
        </p:nvSpPr>
        <p:spPr>
          <a:xfrm>
            <a:off x="640080" y="274321"/>
            <a:ext cx="10713720" cy="1070202"/>
          </a:xfrm>
        </p:spPr>
        <p:txBody>
          <a:bodyPr>
            <a:normAutofit/>
          </a:bodyPr>
          <a:lstStyle/>
          <a:p>
            <a:r>
              <a:rPr lang="fr-CA" sz="4000" dirty="0"/>
              <a:t>Question : est-ce qu’il manque quelque chose ?</a:t>
            </a:r>
          </a:p>
        </p:txBody>
      </p:sp>
      <p:sp>
        <p:nvSpPr>
          <p:cNvPr id="3" name="Espace réservé du contenu 2">
            <a:extLst>
              <a:ext uri="{FF2B5EF4-FFF2-40B4-BE49-F238E27FC236}">
                <a16:creationId xmlns:a16="http://schemas.microsoft.com/office/drawing/2014/main" id="{1DBDE260-8CA7-C054-5793-7D3A53776908}"/>
              </a:ext>
            </a:extLst>
          </p:cNvPr>
          <p:cNvSpPr>
            <a:spLocks noGrp="1"/>
          </p:cNvSpPr>
          <p:nvPr>
            <p:ph idx="1"/>
            <p:custDataLst>
              <p:tags r:id="rId2"/>
            </p:custDataLst>
          </p:nvPr>
        </p:nvSpPr>
        <p:spPr/>
        <p:txBody>
          <a:bodyPr/>
          <a:lstStyle/>
          <a:p>
            <a:r>
              <a:rPr lang="fr-CA" dirty="0"/>
              <a:t>Dimension Financière</a:t>
            </a:r>
          </a:p>
          <a:p>
            <a:r>
              <a:rPr lang="fr-CA" dirty="0"/>
              <a:t>Dimension Client</a:t>
            </a:r>
          </a:p>
          <a:p>
            <a:r>
              <a:rPr lang="fr-CA" dirty="0"/>
              <a:t>Dimension Processus interne</a:t>
            </a:r>
          </a:p>
          <a:p>
            <a:r>
              <a:rPr lang="fr-CA" dirty="0"/>
              <a:t>Dimension innovation </a:t>
            </a:r>
            <a:r>
              <a:rPr lang="fr-CA"/>
              <a:t>et apprentissage</a:t>
            </a:r>
            <a:endParaRPr lang="fr-CA" dirty="0"/>
          </a:p>
        </p:txBody>
      </p:sp>
      <p:sp>
        <p:nvSpPr>
          <p:cNvPr id="4" name="Espace réservé du pied de page 3">
            <a:extLst>
              <a:ext uri="{FF2B5EF4-FFF2-40B4-BE49-F238E27FC236}">
                <a16:creationId xmlns:a16="http://schemas.microsoft.com/office/drawing/2014/main" id="{2CA4D2DD-73F2-DFAD-2581-8DB56EF3246E}"/>
              </a:ext>
            </a:extLst>
          </p:cNvPr>
          <p:cNvSpPr>
            <a:spLocks noGrp="1"/>
          </p:cNvSpPr>
          <p:nvPr>
            <p:ph type="ftr" sz="quarter" idx="11"/>
            <p:custDataLst>
              <p:tags r:id="rId3"/>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1136B963-0BEB-688A-510B-2473179D5E99}"/>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38</a:t>
            </a:fld>
            <a:endParaRPr lang="fr-CA">
              <a:solidFill>
                <a:prstClr val="black">
                  <a:tint val="75000"/>
                </a:prstClr>
              </a:solidFill>
            </a:endParaRPr>
          </a:p>
        </p:txBody>
      </p:sp>
    </p:spTree>
    <p:extLst>
      <p:ext uri="{BB962C8B-B14F-4D97-AF65-F5344CB8AC3E}">
        <p14:creationId xmlns:p14="http://schemas.microsoft.com/office/powerpoint/2010/main" val="3960748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1029497" y="146691"/>
            <a:ext cx="10752666" cy="1155011"/>
          </a:xfrm>
        </p:spPr>
        <p:txBody>
          <a:bodyPr>
            <a:normAutofit/>
          </a:bodyPr>
          <a:lstStyle/>
          <a:p>
            <a:pPr algn="ctr"/>
            <a:r>
              <a:rPr lang="fr-CA" sz="3400" dirty="0"/>
              <a:t>Comment intégrer des objectifs environnementaux dans le tableau de bord de gestion intégré ?</a:t>
            </a:r>
          </a:p>
        </p:txBody>
      </p:sp>
      <p:sp>
        <p:nvSpPr>
          <p:cNvPr id="3" name="Espace réservé du contenu 2"/>
          <p:cNvSpPr>
            <a:spLocks noGrp="1"/>
          </p:cNvSpPr>
          <p:nvPr>
            <p:ph idx="1"/>
            <p:custDataLst>
              <p:tags r:id="rId2"/>
            </p:custDataLst>
          </p:nvPr>
        </p:nvSpPr>
        <p:spPr>
          <a:xfrm>
            <a:off x="515409" y="1427780"/>
            <a:ext cx="10752666" cy="2266998"/>
          </a:xfrm>
        </p:spPr>
        <p:txBody>
          <a:bodyPr vert="horz" lIns="91440" tIns="45720" rIns="91440" bIns="45720" rtlCol="0" anchor="t">
            <a:normAutofit/>
          </a:bodyPr>
          <a:lstStyle/>
          <a:p>
            <a:pPr marL="0" indent="0" algn="just">
              <a:buNone/>
            </a:pPr>
            <a:r>
              <a:rPr lang="fr-CA" sz="2400" dirty="0"/>
              <a:t>(1) Une cinquième dimension « responsabilité sociale et environnementale »</a:t>
            </a:r>
          </a:p>
          <a:p>
            <a:pPr marL="0" indent="0" algn="just">
              <a:buNone/>
            </a:pPr>
            <a:r>
              <a:rPr lang="fr-CA" sz="2400" dirty="0"/>
              <a:t>(2) Objectifs et indicateurs environnementaux intégrés dans les quatre dimensions existantes.</a:t>
            </a:r>
            <a:endParaRPr lang="fr-CA" sz="2400" dirty="0">
              <a:cs typeface="Calibri"/>
            </a:endParaRPr>
          </a:p>
          <a:p>
            <a:pPr marL="0" indent="0" algn="just">
              <a:buNone/>
            </a:pPr>
            <a:r>
              <a:rPr lang="fr-CA" sz="2400" dirty="0">
                <a:solidFill>
                  <a:schemeClr val="tx1"/>
                </a:solidFill>
              </a:rPr>
              <a:t>(3) Un tableau de bord spécifique, en parallèle des tableaux de bord déjà utilisés.</a:t>
            </a:r>
          </a:p>
          <a:p>
            <a:pPr marL="0" indent="0">
              <a:buNone/>
            </a:pPr>
            <a:endParaRPr lang="fr-CA" sz="2400" dirty="0">
              <a:solidFill>
                <a:srgbClr val="FF0000"/>
              </a:solidFill>
            </a:endParaRPr>
          </a:p>
        </p:txBody>
      </p:sp>
      <p:graphicFrame>
        <p:nvGraphicFramePr>
          <p:cNvPr id="4" name="Espace réservé du contenu 6">
            <a:extLst>
              <a:ext uri="{FF2B5EF4-FFF2-40B4-BE49-F238E27FC236}">
                <a16:creationId xmlns:a16="http://schemas.microsoft.com/office/drawing/2014/main" id="{BCD39978-471E-49E6-A869-3FE2AF37760E}"/>
              </a:ext>
            </a:extLst>
          </p:cNvPr>
          <p:cNvGraphicFramePr>
            <a:graphicFrameLocks/>
          </p:cNvGraphicFramePr>
          <p:nvPr>
            <p:custDataLst>
              <p:tags r:id="rId3"/>
            </p:custDataLst>
          </p:nvPr>
        </p:nvGraphicFramePr>
        <p:xfrm>
          <a:off x="2000250" y="3239446"/>
          <a:ext cx="9267825" cy="347186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Oval 12">
            <a:extLst>
              <a:ext uri="{FF2B5EF4-FFF2-40B4-BE49-F238E27FC236}">
                <a16:creationId xmlns:a16="http://schemas.microsoft.com/office/drawing/2014/main" id="{9D704362-2530-42EB-810D-C75281F08A62}"/>
              </a:ext>
            </a:extLst>
          </p:cNvPr>
          <p:cNvSpPr>
            <a:spLocks noChangeArrowheads="1"/>
          </p:cNvSpPr>
          <p:nvPr>
            <p:custDataLst>
              <p:tags r:id="rId4"/>
            </p:custDataLst>
          </p:nvPr>
        </p:nvSpPr>
        <p:spPr bwMode="auto">
          <a:xfrm>
            <a:off x="5676900" y="4296721"/>
            <a:ext cx="1857375" cy="1420749"/>
          </a:xfrm>
          <a:prstGeom prst="quadArrowCallout">
            <a:avLst/>
          </a:prstGeom>
          <a:ln w="28575">
            <a:solidFill>
              <a:schemeClr val="accent6"/>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eaLnBrk="0" hangingPunct="0">
              <a:spcBef>
                <a:spcPct val="20000"/>
              </a:spcBef>
            </a:pPr>
            <a:r>
              <a:rPr kumimoji="1" lang="fr-FR" sz="2400" i="1">
                <a:solidFill>
                  <a:schemeClr val="tx1"/>
                </a:solidFill>
                <a:latin typeface="Arial" pitchFamily="34" charset="0"/>
                <a:cs typeface="Arial" pitchFamily="34" charset="0"/>
              </a:rPr>
              <a:t>Stratégies</a:t>
            </a:r>
          </a:p>
        </p:txBody>
      </p:sp>
      <p:sp>
        <p:nvSpPr>
          <p:cNvPr id="6" name="Espace réservé du pied de page 5">
            <a:extLst>
              <a:ext uri="{FF2B5EF4-FFF2-40B4-BE49-F238E27FC236}">
                <a16:creationId xmlns:a16="http://schemas.microsoft.com/office/drawing/2014/main" id="{F327B631-68E2-0F4F-5FB8-1A6243AF3873}"/>
              </a:ext>
            </a:extLst>
          </p:cNvPr>
          <p:cNvSpPr>
            <a:spLocks noGrp="1"/>
          </p:cNvSpPr>
          <p:nvPr>
            <p:ph type="ftr" sz="quarter" idx="11"/>
            <p:custDataLst>
              <p:tags r:id="rId5"/>
            </p:custDataLst>
          </p:nvPr>
        </p:nvSpPr>
        <p:spPr>
          <a:xfrm>
            <a:off x="1190625" y="6356505"/>
            <a:ext cx="4114800" cy="365125"/>
          </a:xfrm>
        </p:spPr>
        <p:txBody>
          <a:bodyPr/>
          <a:lstStyle/>
          <a:p>
            <a:r>
              <a:rPr lang="pt-BR" dirty="0">
                <a:solidFill>
                  <a:prstClr val="black">
                    <a:tint val="75000"/>
                  </a:prstClr>
                </a:solidFill>
              </a:rPr>
              <a:t>(c)  (10904 - S12) </a:t>
            </a:r>
            <a:endParaRPr lang="fr-CA" dirty="0">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0DDC245F-CD10-6CDA-B14E-39F35CC0CDD5}"/>
              </a:ext>
            </a:extLst>
          </p:cNvPr>
          <p:cNvSpPr>
            <a:spLocks noGrp="1"/>
          </p:cNvSpPr>
          <p:nvPr>
            <p:ph type="sldNum" sz="quarter" idx="12"/>
            <p:custDataLst>
              <p:tags r:id="rId6"/>
            </p:custDataLst>
          </p:nvPr>
        </p:nvSpPr>
        <p:spPr/>
        <p:txBody>
          <a:bodyPr/>
          <a:lstStyle/>
          <a:p>
            <a:fld id="{1F20FBA3-27E4-4E13-841E-B59ED0E8E620}" type="slidenum">
              <a:rPr lang="fr-CA" smtClean="0">
                <a:solidFill>
                  <a:prstClr val="black">
                    <a:tint val="75000"/>
                  </a:prstClr>
                </a:solidFill>
              </a:rPr>
              <a:pPr/>
              <a:t>39</a:t>
            </a:fld>
            <a:endParaRPr lang="fr-CA">
              <a:solidFill>
                <a:prstClr val="black">
                  <a:tint val="75000"/>
                </a:prstClr>
              </a:solidFill>
            </a:endParaRPr>
          </a:p>
        </p:txBody>
      </p:sp>
    </p:spTree>
    <p:extLst>
      <p:ext uri="{BB962C8B-B14F-4D97-AF65-F5344CB8AC3E}">
        <p14:creationId xmlns:p14="http://schemas.microsoft.com/office/powerpoint/2010/main" val="152316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07A5EB-24A0-4DCB-931D-D8B94C622F64}"/>
              </a:ext>
            </a:extLst>
          </p:cNvPr>
          <p:cNvSpPr>
            <a:spLocks noGrp="1"/>
          </p:cNvSpPr>
          <p:nvPr>
            <p:ph type="title"/>
            <p:custDataLst>
              <p:tags r:id="rId1"/>
            </p:custDataLst>
          </p:nvPr>
        </p:nvSpPr>
        <p:spPr>
          <a:xfrm>
            <a:off x="7464614" y="1783959"/>
            <a:ext cx="4087306" cy="2889114"/>
          </a:xfrm>
        </p:spPr>
        <p:txBody>
          <a:bodyPr vert="horz" lIns="91440" tIns="45720" rIns="91440" bIns="45720" rtlCol="0" anchor="b">
            <a:normAutofit/>
          </a:bodyPr>
          <a:lstStyle/>
          <a:p>
            <a:r>
              <a:rPr lang="en-US" sz="4600"/>
              <a:t>Convergence des </a:t>
            </a:r>
            <a:r>
              <a:rPr lang="en-US" sz="4600" err="1"/>
              <a:t>intérêts</a:t>
            </a:r>
            <a:r>
              <a:rPr lang="en-US" sz="4600"/>
              <a:t> de </a:t>
            </a:r>
            <a:r>
              <a:rPr lang="en-US" sz="4600" err="1"/>
              <a:t>l’organisation</a:t>
            </a:r>
            <a:r>
              <a:rPr lang="en-US" sz="4600"/>
              <a:t> et des </a:t>
            </a:r>
            <a:r>
              <a:rPr lang="en-US" sz="4600" err="1"/>
              <a:t>individus</a:t>
            </a:r>
            <a:endParaRPr lang="en-US" sz="4600"/>
          </a:p>
        </p:txBody>
      </p:sp>
      <p:pic>
        <p:nvPicPr>
          <p:cNvPr id="6" name="Picture 5" descr="Des flèches blanches allant vers la cible rouge">
            <a:extLst>
              <a:ext uri="{FF2B5EF4-FFF2-40B4-BE49-F238E27FC236}">
                <a16:creationId xmlns:a16="http://schemas.microsoft.com/office/drawing/2014/main" id="{BCA4AEC2-A1DA-7838-F327-35E3CDF6D7E0}"/>
              </a:ext>
            </a:extLst>
          </p:cNvPr>
          <p:cNvPicPr>
            <a:picLocks noChangeAspect="1"/>
          </p:cNvPicPr>
          <p:nvPr>
            <p:custDataLst>
              <p:tags r:id="rId2"/>
            </p:custDataLst>
          </p:nvPr>
        </p:nvPicPr>
        <p:blipFill rotWithShape="1">
          <a:blip r:embed="rId7"/>
          <a:srcRect l="31591" r="-1"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4" name="Espace réservé du numéro de diapositive 3">
            <a:extLst>
              <a:ext uri="{FF2B5EF4-FFF2-40B4-BE49-F238E27FC236}">
                <a16:creationId xmlns:a16="http://schemas.microsoft.com/office/drawing/2014/main" id="{5E0D75C0-0DB4-48EB-8D19-3D79A7B4E94B}"/>
              </a:ext>
            </a:extLst>
          </p:cNvPr>
          <p:cNvSpPr>
            <a:spLocks noGrp="1"/>
          </p:cNvSpPr>
          <p:nvPr>
            <p:ph type="sldNum" sz="quarter" idx="12"/>
            <p:custDataLst>
              <p:tags r:id="rId3"/>
            </p:custDataLst>
          </p:nvPr>
        </p:nvSpPr>
        <p:spPr>
          <a:xfrm>
            <a:off x="11003280" y="603504"/>
            <a:ext cx="548640" cy="548640"/>
          </a:xfrm>
          <a:prstGeom prst="ellipse">
            <a:avLst/>
          </a:prstGeom>
          <a:solidFill>
            <a:srgbClr val="7F7F7F"/>
          </a:solidFill>
        </p:spPr>
        <p:txBody>
          <a:bodyPr vert="horz" lIns="91440" tIns="45720" rIns="91440" bIns="45720" rtlCol="0" anchor="ctr">
            <a:normAutofit/>
          </a:bodyPr>
          <a:lstStyle/>
          <a:p>
            <a:pPr algn="ctr">
              <a:spcAft>
                <a:spcPts val="600"/>
              </a:spcAft>
              <a:defRPr/>
            </a:pPr>
            <a:fld id="{1F20FBA3-27E4-4E13-841E-B59ED0E8E620}" type="slidenum">
              <a:rPr lang="en-US" sz="1500">
                <a:solidFill>
                  <a:srgbClr val="FFFFFF"/>
                </a:solidFill>
                <a:latin typeface="Calibri" panose="020F0502020204030204"/>
              </a:rPr>
              <a:pPr algn="ctr">
                <a:spcAft>
                  <a:spcPts val="600"/>
                </a:spcAft>
                <a:defRPr/>
              </a:pPr>
              <a:t>40</a:t>
            </a:fld>
            <a:endParaRPr lang="en-US" sz="1500">
              <a:solidFill>
                <a:srgbClr val="FFFFFF"/>
              </a:solidFill>
              <a:latin typeface="Calibri" panose="020F0502020204030204"/>
            </a:endParaRPr>
          </a:p>
        </p:txBody>
      </p:sp>
      <p:sp>
        <p:nvSpPr>
          <p:cNvPr id="5" name="Espace réservé du pied de page 2">
            <a:extLst>
              <a:ext uri="{FF2B5EF4-FFF2-40B4-BE49-F238E27FC236}">
                <a16:creationId xmlns:a16="http://schemas.microsoft.com/office/drawing/2014/main" id="{7F76D061-2073-6D84-137B-634239F4CB09}"/>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47357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re 3"/>
          <p:cNvSpPr>
            <a:spLocks noGrp="1"/>
          </p:cNvSpPr>
          <p:nvPr>
            <p:ph type="title"/>
            <p:custDataLst>
              <p:tags r:id="rId2"/>
            </p:custDataLst>
          </p:nvPr>
        </p:nvSpPr>
        <p:spPr>
          <a:xfrm>
            <a:off x="698185" y="431074"/>
            <a:ext cx="10996749" cy="807418"/>
          </a:xfrm>
        </p:spPr>
        <p:txBody>
          <a:bodyPr>
            <a:normAutofit fontScale="90000"/>
          </a:bodyPr>
          <a:lstStyle/>
          <a:p>
            <a:pPr algn="ctr"/>
            <a:r>
              <a:rPr lang="fr-CA" sz="4000" dirty="0"/>
              <a:t>Lier la rémunération à l’évaluation de la performance (1/2)</a:t>
            </a:r>
          </a:p>
        </p:txBody>
      </p:sp>
      <p:sp>
        <p:nvSpPr>
          <p:cNvPr id="11" name="Espace réservé du contenu 10"/>
          <p:cNvSpPr>
            <a:spLocks noGrp="1"/>
          </p:cNvSpPr>
          <p:nvPr>
            <p:ph sz="half" idx="2"/>
            <p:custDataLst>
              <p:tags r:id="rId3"/>
            </p:custDataLst>
          </p:nvPr>
        </p:nvSpPr>
        <p:spPr>
          <a:xfrm>
            <a:off x="939800" y="1690688"/>
            <a:ext cx="10755134" cy="4941082"/>
          </a:xfrm>
        </p:spPr>
        <p:txBody>
          <a:bodyPr vert="horz" lIns="91440" tIns="45720" rIns="91440" bIns="45720" rtlCol="0" anchor="t">
            <a:noAutofit/>
          </a:bodyPr>
          <a:lstStyle/>
          <a:p>
            <a:r>
              <a:rPr lang="fr-CA" sz="3400" dirty="0"/>
              <a:t>Les mesures de performance …</a:t>
            </a:r>
          </a:p>
          <a:p>
            <a:pPr lvl="1">
              <a:spcAft>
                <a:spcPts val="600"/>
              </a:spcAft>
            </a:pPr>
            <a:r>
              <a:rPr lang="fr-CA" sz="3000" dirty="0"/>
              <a:t>Influencent la prise de décision, elles ne permettent pas seulement de rendre compte des performances des décisions déjà prises et donc des résultats obtenus, elles les provoquent </a:t>
            </a:r>
            <a:endParaRPr lang="fr-CA" sz="3000" dirty="0">
              <a:cs typeface="Calibri"/>
            </a:endParaRPr>
          </a:p>
          <a:p>
            <a:pPr lvl="1">
              <a:spcAft>
                <a:spcPts val="600"/>
              </a:spcAft>
            </a:pPr>
            <a:r>
              <a:rPr lang="fr-CA" sz="3000" dirty="0"/>
              <a:t>Évalue la performance des entités et la performance des individus (gestionnaires)</a:t>
            </a:r>
            <a:endParaRPr lang="fr-CA" sz="3000" dirty="0">
              <a:cs typeface="Calibri"/>
            </a:endParaRPr>
          </a:p>
          <a:p>
            <a:pPr lvl="2"/>
            <a:r>
              <a:rPr lang="fr-CA" sz="2400" dirty="0"/>
              <a:t>Les mesures de performance doivent encourager les gestionnaires à prendre des décisions qui répondront aux objectifs de l'entreprise ainsi qu'à leurs propres objectifs professionnels.</a:t>
            </a:r>
            <a:endParaRPr lang="fr-CA" sz="2400" dirty="0">
              <a:cs typeface="Calibri"/>
            </a:endParaRPr>
          </a:p>
          <a:p>
            <a:pPr lvl="2"/>
            <a:r>
              <a:rPr lang="fr-CA" sz="2400" dirty="0"/>
              <a:t>Elles doivent permettre d’évaluer la performance des gestionnaires sans créer de comportements dysfonctionnels</a:t>
            </a:r>
            <a:endParaRPr lang="fr-CA" sz="3000" dirty="0"/>
          </a:p>
        </p:txBody>
      </p:sp>
      <p:sp>
        <p:nvSpPr>
          <p:cNvPr id="6" name="Espace réservé du numéro de diapositive 5"/>
          <p:cNvSpPr>
            <a:spLocks noGrp="1"/>
          </p:cNvSpPr>
          <p:nvPr>
            <p:ph type="sldNum" sz="quarter" idx="12"/>
            <p:custDataLst>
              <p:tags r:id="rId4"/>
            </p:custDataLst>
          </p:nvPr>
        </p:nvSpPr>
        <p:spPr/>
        <p:txBody>
          <a:bodyPr/>
          <a:lstStyle/>
          <a:p>
            <a:fld id="{78C1DC52-1979-4D57-B923-A2F6BBF17C17}" type="slidenum">
              <a:rPr lang="fr-CA" smtClean="0"/>
              <a:pPr/>
              <a:t>41</a:t>
            </a:fld>
            <a:endParaRPr lang="fr-CA"/>
          </a:p>
        </p:txBody>
      </p:sp>
      <p:sp>
        <p:nvSpPr>
          <p:cNvPr id="3" name="Espace réservé du pied de page 2">
            <a:extLst>
              <a:ext uri="{FF2B5EF4-FFF2-40B4-BE49-F238E27FC236}">
                <a16:creationId xmlns:a16="http://schemas.microsoft.com/office/drawing/2014/main" id="{E61A619E-4970-F495-281E-6C1346272B88}"/>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33904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fade">
                                      <p:cBhvr>
                                        <p:cTn id="13" dur="500"/>
                                        <p:tgtEl>
                                          <p:spTgt spid="11">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fade">
                                      <p:cBhvr>
                                        <p:cTn id="16" dur="500"/>
                                        <p:tgtEl>
                                          <p:spTgt spid="11">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re 3"/>
          <p:cNvSpPr>
            <a:spLocks noGrp="1"/>
          </p:cNvSpPr>
          <p:nvPr>
            <p:ph type="title"/>
            <p:custDataLst>
              <p:tags r:id="rId2"/>
            </p:custDataLst>
          </p:nvPr>
        </p:nvSpPr>
        <p:spPr>
          <a:xfrm>
            <a:off x="720633" y="410902"/>
            <a:ext cx="10996749" cy="915182"/>
          </a:xfrm>
        </p:spPr>
        <p:txBody>
          <a:bodyPr>
            <a:normAutofit/>
          </a:bodyPr>
          <a:lstStyle/>
          <a:p>
            <a:pPr algn="ctr"/>
            <a:r>
              <a:rPr lang="fr-CA" sz="3600" dirty="0"/>
              <a:t>Lier la rémunération à l’évaluation de la performance (2/3)</a:t>
            </a:r>
          </a:p>
        </p:txBody>
      </p:sp>
      <p:sp>
        <p:nvSpPr>
          <p:cNvPr id="11" name="Espace réservé du contenu 10"/>
          <p:cNvSpPr>
            <a:spLocks noGrp="1"/>
          </p:cNvSpPr>
          <p:nvPr>
            <p:ph sz="half" idx="2"/>
            <p:custDataLst>
              <p:tags r:id="rId3"/>
            </p:custDataLst>
          </p:nvPr>
        </p:nvSpPr>
        <p:spPr>
          <a:xfrm>
            <a:off x="838200" y="1600461"/>
            <a:ext cx="10755134" cy="4846637"/>
          </a:xfrm>
        </p:spPr>
        <p:txBody>
          <a:bodyPr>
            <a:noAutofit/>
          </a:bodyPr>
          <a:lstStyle/>
          <a:p>
            <a:r>
              <a:rPr lang="fr-CA" sz="3000" dirty="0"/>
              <a:t>Des </a:t>
            </a:r>
            <a:r>
              <a:rPr lang="fr-CA" sz="3000" b="1" dirty="0"/>
              <a:t>comportements (non-éthique) </a:t>
            </a:r>
            <a:r>
              <a:rPr lang="fr-CA" sz="3000" dirty="0"/>
              <a:t>peuvent apparaître lorsqu’on lie la rémunération des cadres et des employés aux indicateurs</a:t>
            </a:r>
          </a:p>
          <a:p>
            <a:r>
              <a:rPr lang="fr-CA" sz="3000" dirty="0"/>
              <a:t>Pour les limiter, on peut…</a:t>
            </a:r>
          </a:p>
          <a:p>
            <a:pPr lvl="2"/>
            <a:r>
              <a:rPr lang="fr-CA" sz="3000" dirty="0"/>
              <a:t>Utiliser des mesures multidimensionnelles (tableau de bord)</a:t>
            </a:r>
          </a:p>
          <a:p>
            <a:pPr lvl="2"/>
            <a:r>
              <a:rPr lang="fr-CA" sz="3000" dirty="0"/>
              <a:t>Évaluer les gestionnaires avec des éléments sur lesquels ils ont un contrôle</a:t>
            </a:r>
            <a:r>
              <a:rPr lang="fr-CA" sz="3000" u="sng" dirty="0"/>
              <a:t> (principe de contrôlabilité)</a:t>
            </a:r>
          </a:p>
          <a:p>
            <a:pPr lvl="2"/>
            <a:r>
              <a:rPr lang="fr-CA" sz="3000" dirty="0"/>
              <a:t>Comparer les résultats à des objectifs clairement définis et acceptés (</a:t>
            </a:r>
            <a:r>
              <a:rPr lang="fr-CA" sz="3000" u="sng" dirty="0"/>
              <a:t>principe de transparence</a:t>
            </a:r>
            <a:r>
              <a:rPr lang="fr-CA" sz="3000" dirty="0"/>
              <a:t>)</a:t>
            </a:r>
          </a:p>
          <a:p>
            <a:endParaRPr lang="fr-CA" sz="1000" dirty="0"/>
          </a:p>
        </p:txBody>
      </p:sp>
      <p:sp>
        <p:nvSpPr>
          <p:cNvPr id="6" name="Espace réservé du numéro de diapositive 5"/>
          <p:cNvSpPr>
            <a:spLocks noGrp="1"/>
          </p:cNvSpPr>
          <p:nvPr>
            <p:ph type="sldNum" sz="quarter" idx="12"/>
            <p:custDataLst>
              <p:tags r:id="rId4"/>
            </p:custDataLst>
          </p:nvPr>
        </p:nvSpPr>
        <p:spPr/>
        <p:txBody>
          <a:bodyPr/>
          <a:lstStyle/>
          <a:p>
            <a:fld id="{78C1DC52-1979-4D57-B923-A2F6BBF17C17}" type="slidenum">
              <a:rPr lang="fr-CA" smtClean="0"/>
              <a:pPr/>
              <a:t>42</a:t>
            </a:fld>
            <a:endParaRPr lang="fr-CA"/>
          </a:p>
        </p:txBody>
      </p:sp>
      <p:sp>
        <p:nvSpPr>
          <p:cNvPr id="3" name="Espace réservé du pied de page 2">
            <a:extLst>
              <a:ext uri="{FF2B5EF4-FFF2-40B4-BE49-F238E27FC236}">
                <a16:creationId xmlns:a16="http://schemas.microsoft.com/office/drawing/2014/main" id="{E3951339-4136-0B76-42BA-E0A102F11DB0}"/>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9430330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09958D-E576-6A35-01F0-B8BD49F75608}"/>
              </a:ext>
            </a:extLst>
          </p:cNvPr>
          <p:cNvSpPr>
            <a:spLocks noGrp="1"/>
          </p:cNvSpPr>
          <p:nvPr>
            <p:ph type="title"/>
            <p:custDataLst>
              <p:tags r:id="rId1"/>
            </p:custDataLst>
          </p:nvPr>
        </p:nvSpPr>
        <p:spPr>
          <a:xfrm>
            <a:off x="838199" y="365126"/>
            <a:ext cx="10773229" cy="810532"/>
          </a:xfrm>
        </p:spPr>
        <p:txBody>
          <a:bodyPr>
            <a:normAutofit/>
          </a:bodyPr>
          <a:lstStyle/>
          <a:p>
            <a:r>
              <a:rPr lang="fr-CA" sz="4000" dirty="0"/>
              <a:t>Illustration – comportement non-éthique (3/3)</a:t>
            </a:r>
          </a:p>
        </p:txBody>
      </p:sp>
      <p:sp>
        <p:nvSpPr>
          <p:cNvPr id="3" name="Espace réservé du contenu 2">
            <a:extLst>
              <a:ext uri="{FF2B5EF4-FFF2-40B4-BE49-F238E27FC236}">
                <a16:creationId xmlns:a16="http://schemas.microsoft.com/office/drawing/2014/main" id="{67556C20-27B6-E261-62DF-CFDD93A5FA5F}"/>
              </a:ext>
            </a:extLst>
          </p:cNvPr>
          <p:cNvSpPr>
            <a:spLocks noGrp="1"/>
          </p:cNvSpPr>
          <p:nvPr>
            <p:ph idx="1"/>
            <p:custDataLst>
              <p:tags r:id="rId2"/>
            </p:custDataLst>
          </p:nvPr>
        </p:nvSpPr>
        <p:spPr>
          <a:xfrm>
            <a:off x="838200" y="1524000"/>
            <a:ext cx="10515600" cy="4968874"/>
          </a:xfrm>
        </p:spPr>
        <p:txBody>
          <a:bodyPr>
            <a:normAutofit fontScale="92500" lnSpcReduction="10000"/>
          </a:bodyPr>
          <a:lstStyle/>
          <a:p>
            <a:r>
              <a:rPr lang="fr-CA" dirty="0"/>
              <a:t>L'entreprise évalue les responsables des centres d'investissement en fonction de la contribution du centre aux bénéfices, de sa part de marché et sur le RCI du centre. Lorsque les responsables n'atteignent pas les objectifs fixés par la direction de l'entreprise, ils sont rétrogradés ou licenciés. </a:t>
            </a:r>
          </a:p>
          <a:p>
            <a:r>
              <a:rPr lang="fr-CA" dirty="0"/>
              <a:t>Il a été noté dans un rapport que certains gestionnaires ont adopté un comportement contraire à l'éthique pour tenter d'atteindre leurs objectifs. </a:t>
            </a:r>
          </a:p>
          <a:p>
            <a:r>
              <a:rPr lang="fr-CA" dirty="0"/>
              <a:t>Par exemple, dans certaines usines, des pressions ont été exercées pour réduire le contrôle de la qualité. De même, le personnel de vente a été encouragé à utiliser des tactiques de vente douteuses pour obtenir des commandes, notamment en offrant des cadeaux.</a:t>
            </a:r>
          </a:p>
          <a:p>
            <a:pPr marL="971550" lvl="1" indent="-514350">
              <a:buFont typeface="+mj-lt"/>
              <a:buAutoNum type="arabicPeriod"/>
            </a:pPr>
            <a:r>
              <a:rPr lang="fr-CA" dirty="0">
                <a:solidFill>
                  <a:srgbClr val="C00000"/>
                </a:solidFill>
              </a:rPr>
              <a:t>Identifier le problème d’ordre éthique.</a:t>
            </a:r>
          </a:p>
          <a:p>
            <a:pPr marL="971550" lvl="1" indent="-514350">
              <a:buFont typeface="+mj-lt"/>
              <a:buAutoNum type="arabicPeriod"/>
            </a:pPr>
            <a:r>
              <a:rPr lang="fr-CA" dirty="0">
                <a:solidFill>
                  <a:srgbClr val="C00000"/>
                </a:solidFill>
              </a:rPr>
              <a:t>Que pourrait faire l'entreprise pour éliminer les comportements non éthiques ?</a:t>
            </a:r>
          </a:p>
        </p:txBody>
      </p:sp>
      <p:sp>
        <p:nvSpPr>
          <p:cNvPr id="5" name="Espace réservé du numéro de diapositive 4">
            <a:extLst>
              <a:ext uri="{FF2B5EF4-FFF2-40B4-BE49-F238E27FC236}">
                <a16:creationId xmlns:a16="http://schemas.microsoft.com/office/drawing/2014/main" id="{03DE2EC9-357A-38BC-BAF9-15461BC1E855}"/>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43</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C52A6FC1-4BA8-88F8-B8AA-6610EB59FEF9}"/>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7909976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a:xfrm>
            <a:off x="838200" y="365125"/>
            <a:ext cx="10515600" cy="769441"/>
          </a:xfrm>
        </p:spPr>
        <p:txBody>
          <a:bodyPr>
            <a:normAutofit/>
          </a:bodyPr>
          <a:lstStyle/>
          <a:p>
            <a:r>
              <a:rPr lang="fr-CA" sz="4000" dirty="0"/>
              <a:t>Conclusion - séance 6</a:t>
            </a:r>
          </a:p>
        </p:txBody>
      </p:sp>
      <p:sp>
        <p:nvSpPr>
          <p:cNvPr id="3" name="Espace réservé du numéro de diapositive 2"/>
          <p:cNvSpPr>
            <a:spLocks noGrp="1"/>
          </p:cNvSpPr>
          <p:nvPr>
            <p:ph type="sldNum" sz="quarter" idx="12"/>
            <p:custDataLst>
              <p:tags r:id="rId3"/>
            </p:custDataLst>
          </p:nvPr>
        </p:nvSpPr>
        <p:spPr/>
        <p:txBody>
          <a:bodyPr/>
          <a:lstStyle/>
          <a:p>
            <a:fld id="{D3008ED5-8015-41DF-BC47-EA62E6FE4E18}" type="slidenum">
              <a:rPr lang="fr-CA" smtClean="0"/>
              <a:pPr/>
              <a:t>44</a:t>
            </a:fld>
            <a:endParaRPr lang="fr-CA"/>
          </a:p>
        </p:txBody>
      </p:sp>
      <p:sp>
        <p:nvSpPr>
          <p:cNvPr id="6" name="Rectangle à coins arrondis 5"/>
          <p:cNvSpPr/>
          <p:nvPr>
            <p:custDataLst>
              <p:tags r:id="rId4"/>
            </p:custDataLst>
          </p:nvPr>
        </p:nvSpPr>
        <p:spPr>
          <a:xfrm>
            <a:off x="971140" y="2809176"/>
            <a:ext cx="2736304" cy="194421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b="1">
                <a:solidFill>
                  <a:schemeClr val="tx1"/>
                </a:solidFill>
              </a:rPr>
              <a:t>La mesure et l’évaluation de la performance organisationnelle</a:t>
            </a:r>
          </a:p>
        </p:txBody>
      </p:sp>
      <p:cxnSp>
        <p:nvCxnSpPr>
          <p:cNvPr id="10" name="Connecteur droit avec flèche 9"/>
          <p:cNvCxnSpPr>
            <a:stCxn id="6" idx="3"/>
            <a:endCxn id="15" idx="1"/>
          </p:cNvCxnSpPr>
          <p:nvPr>
            <p:custDataLst>
              <p:tags r:id="rId5"/>
            </p:custDataLst>
          </p:nvPr>
        </p:nvCxnSpPr>
        <p:spPr>
          <a:xfrm flipV="1">
            <a:off x="3707444" y="1756427"/>
            <a:ext cx="1419292" cy="2024857"/>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custDataLst>
              <p:tags r:id="rId6"/>
            </p:custDataLst>
          </p:nvPr>
        </p:nvSpPr>
        <p:spPr>
          <a:xfrm>
            <a:off x="4092813" y="1922008"/>
            <a:ext cx="648554" cy="369332"/>
          </a:xfrm>
          <a:prstGeom prst="rect">
            <a:avLst/>
          </a:prstGeom>
          <a:noFill/>
        </p:spPr>
        <p:txBody>
          <a:bodyPr wrap="square" rtlCol="0">
            <a:spAutoFit/>
          </a:bodyPr>
          <a:lstStyle/>
          <a:p>
            <a:r>
              <a:rPr lang="fr-CA"/>
              <a:t>Idée  </a:t>
            </a:r>
          </a:p>
        </p:txBody>
      </p:sp>
      <p:sp>
        <p:nvSpPr>
          <p:cNvPr id="12" name="ZoneTexte 11"/>
          <p:cNvSpPr txBox="1"/>
          <p:nvPr>
            <p:custDataLst>
              <p:tags r:id="rId7"/>
            </p:custDataLst>
          </p:nvPr>
        </p:nvSpPr>
        <p:spPr>
          <a:xfrm>
            <a:off x="3702040" y="4460270"/>
            <a:ext cx="1198606" cy="369332"/>
          </a:xfrm>
          <a:prstGeom prst="rect">
            <a:avLst/>
          </a:prstGeom>
          <a:noFill/>
        </p:spPr>
        <p:txBody>
          <a:bodyPr wrap="square" rtlCol="0">
            <a:spAutoFit/>
          </a:bodyPr>
          <a:lstStyle/>
          <a:p>
            <a:pPr algn="ctr"/>
            <a:r>
              <a:rPr lang="fr-CA" dirty="0"/>
              <a:t>Comment</a:t>
            </a:r>
          </a:p>
        </p:txBody>
      </p:sp>
      <p:sp>
        <p:nvSpPr>
          <p:cNvPr id="13" name="ZoneTexte 12"/>
          <p:cNvSpPr txBox="1"/>
          <p:nvPr>
            <p:custDataLst>
              <p:tags r:id="rId8"/>
            </p:custDataLst>
          </p:nvPr>
        </p:nvSpPr>
        <p:spPr>
          <a:xfrm>
            <a:off x="5174476" y="3691563"/>
            <a:ext cx="6227064" cy="2123658"/>
          </a:xfrm>
          <a:prstGeom prst="rect">
            <a:avLst/>
          </a:prstGeom>
          <a:noFill/>
          <a:ln>
            <a:solidFill>
              <a:schemeClr val="tx2"/>
            </a:solidFill>
          </a:ln>
        </p:spPr>
        <p:txBody>
          <a:bodyPr wrap="square" rtlCol="0">
            <a:spAutoFit/>
          </a:bodyPr>
          <a:lstStyle/>
          <a:p>
            <a:pPr marL="342900" indent="-342900">
              <a:buFont typeface="Arial" panose="020B0604020202020204" pitchFamily="34" charset="0"/>
              <a:buChar char="•"/>
            </a:pPr>
            <a:r>
              <a:rPr lang="fr-CA" sz="2200"/>
              <a:t>Cohérence : Stratégie / Responsabilités / Mesures</a:t>
            </a:r>
          </a:p>
          <a:p>
            <a:pPr marL="342900" indent="-342900">
              <a:buFont typeface="Arial" panose="020B0604020202020204" pitchFamily="34" charset="0"/>
              <a:buChar char="•"/>
            </a:pPr>
            <a:r>
              <a:rPr lang="fr-CA" sz="2200"/>
              <a:t>Le tableau de bord de gestion des mesures financières et non financières</a:t>
            </a:r>
          </a:p>
          <a:p>
            <a:pPr marL="800100" lvl="1" indent="-342900">
              <a:buFont typeface="Arial" panose="020B0604020202020204" pitchFamily="34" charset="0"/>
              <a:buChar char="•"/>
            </a:pPr>
            <a:r>
              <a:rPr lang="fr-CA" sz="2200"/>
              <a:t>Définir des objectifs et des indicateurs pour les 4 dimensions de la performance</a:t>
            </a:r>
          </a:p>
          <a:p>
            <a:endParaRPr lang="fr-CA" sz="2200"/>
          </a:p>
        </p:txBody>
      </p:sp>
      <p:sp>
        <p:nvSpPr>
          <p:cNvPr id="15" name="ZoneTexte 14"/>
          <p:cNvSpPr txBox="1"/>
          <p:nvPr>
            <p:custDataLst>
              <p:tags r:id="rId9"/>
            </p:custDataLst>
          </p:nvPr>
        </p:nvSpPr>
        <p:spPr>
          <a:xfrm>
            <a:off x="5126736" y="1540983"/>
            <a:ext cx="6217668" cy="430887"/>
          </a:xfrm>
          <a:prstGeom prst="rect">
            <a:avLst/>
          </a:prstGeom>
          <a:noFill/>
          <a:ln>
            <a:solidFill>
              <a:schemeClr val="tx2"/>
            </a:solidFill>
          </a:ln>
        </p:spPr>
        <p:txBody>
          <a:bodyPr wrap="square" rtlCol="0">
            <a:spAutoFit/>
          </a:bodyPr>
          <a:lstStyle/>
          <a:p>
            <a:pPr marL="342900" indent="-342900">
              <a:buFont typeface="Arial" panose="020B0604020202020204" pitchFamily="34" charset="0"/>
              <a:buChar char="•"/>
            </a:pPr>
            <a:r>
              <a:rPr lang="fr-CA" sz="2200"/>
              <a:t>La performance : Quoi ? Pourquoi ? Comment ?</a:t>
            </a:r>
          </a:p>
        </p:txBody>
      </p:sp>
      <p:cxnSp>
        <p:nvCxnSpPr>
          <p:cNvPr id="18" name="Connecteur droit avec flèche 17"/>
          <p:cNvCxnSpPr>
            <a:stCxn id="6" idx="3"/>
            <a:endCxn id="13" idx="1"/>
          </p:cNvCxnSpPr>
          <p:nvPr>
            <p:custDataLst>
              <p:tags r:id="rId10"/>
            </p:custDataLst>
          </p:nvPr>
        </p:nvCxnSpPr>
        <p:spPr>
          <a:xfrm>
            <a:off x="3707444" y="3781284"/>
            <a:ext cx="1467032" cy="97210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D81D0F6-9DB3-4F2C-994F-53FE03E4EA3F}"/>
              </a:ext>
            </a:extLst>
          </p:cNvPr>
          <p:cNvSpPr txBox="1"/>
          <p:nvPr>
            <p:custDataLst>
              <p:tags r:id="rId11"/>
            </p:custDataLst>
          </p:nvPr>
        </p:nvSpPr>
        <p:spPr>
          <a:xfrm>
            <a:off x="5126736" y="2106674"/>
            <a:ext cx="6217668" cy="769441"/>
          </a:xfrm>
          <a:prstGeom prst="rect">
            <a:avLst/>
          </a:prstGeom>
          <a:noFill/>
          <a:ln>
            <a:solidFill>
              <a:schemeClr val="tx2"/>
            </a:solidFill>
          </a:ln>
        </p:spPr>
        <p:txBody>
          <a:bodyPr wrap="square" rtlCol="0">
            <a:spAutoFit/>
          </a:bodyPr>
          <a:lstStyle/>
          <a:p>
            <a:r>
              <a:rPr lang="fr-CA" sz="2200"/>
              <a:t>Gérer la performance financière et non financière de l’organisation</a:t>
            </a:r>
          </a:p>
        </p:txBody>
      </p:sp>
      <p:cxnSp>
        <p:nvCxnSpPr>
          <p:cNvPr id="16" name="Connecteur droit avec flèche 15">
            <a:extLst>
              <a:ext uri="{FF2B5EF4-FFF2-40B4-BE49-F238E27FC236}">
                <a16:creationId xmlns:a16="http://schemas.microsoft.com/office/drawing/2014/main" id="{8612475F-36FE-4120-9419-F12AA46130BF}"/>
              </a:ext>
            </a:extLst>
          </p:cNvPr>
          <p:cNvCxnSpPr>
            <a:cxnSpLocks/>
            <a:stCxn id="6" idx="3"/>
            <a:endCxn id="14" idx="1"/>
          </p:cNvCxnSpPr>
          <p:nvPr>
            <p:custDataLst>
              <p:tags r:id="rId12"/>
            </p:custDataLst>
          </p:nvPr>
        </p:nvCxnSpPr>
        <p:spPr>
          <a:xfrm flipV="1">
            <a:off x="3707444" y="2491395"/>
            <a:ext cx="1419292" cy="1289889"/>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5" name="Espace réservé du pied de page 2">
            <a:extLst>
              <a:ext uri="{FF2B5EF4-FFF2-40B4-BE49-F238E27FC236}">
                <a16:creationId xmlns:a16="http://schemas.microsoft.com/office/drawing/2014/main" id="{2B3A484D-5666-D693-0280-081E116D4499}"/>
              </a:ext>
            </a:extLst>
          </p:cNvPr>
          <p:cNvSpPr>
            <a:spLocks noGrp="1"/>
          </p:cNvSpPr>
          <p:nvPr>
            <p:ph type="ftr" sz="quarter" idx="11"/>
            <p:custDataLst>
              <p:tags r:id="rId1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44540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3AE72-BED2-3AE5-07BC-EF476306249A}"/>
              </a:ext>
            </a:extLst>
          </p:cNvPr>
          <p:cNvSpPr>
            <a:spLocks noGrp="1"/>
          </p:cNvSpPr>
          <p:nvPr>
            <p:ph type="title"/>
            <p:custDataLst>
              <p:tags r:id="rId1"/>
            </p:custDataLst>
          </p:nvPr>
        </p:nvSpPr>
        <p:spPr>
          <a:xfrm>
            <a:off x="788345" y="281143"/>
            <a:ext cx="10515600" cy="1053829"/>
          </a:xfrm>
        </p:spPr>
        <p:txBody>
          <a:bodyPr>
            <a:normAutofit/>
          </a:bodyPr>
          <a:lstStyle/>
          <a:p>
            <a:r>
              <a:rPr lang="en-US" sz="4400" dirty="0">
                <a:solidFill>
                  <a:schemeClr val="tx2"/>
                </a:solidFill>
                <a:cs typeface="Poppins" pitchFamily="2" charset="77"/>
              </a:rPr>
              <a:t>QUESTIONS…</a:t>
            </a:r>
            <a:endParaRPr lang="fr-CA" dirty="0"/>
          </a:p>
        </p:txBody>
      </p:sp>
      <p:sp>
        <p:nvSpPr>
          <p:cNvPr id="5" name="Espace réservé du numéro de diapositive 4">
            <a:extLst>
              <a:ext uri="{FF2B5EF4-FFF2-40B4-BE49-F238E27FC236}">
                <a16:creationId xmlns:a16="http://schemas.microsoft.com/office/drawing/2014/main" id="{7D763D5A-079D-3823-9C30-05D248555575}"/>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45</a:t>
            </a:fld>
            <a:endParaRPr lang="fr-CA">
              <a:solidFill>
                <a:prstClr val="black">
                  <a:tint val="75000"/>
                </a:prstClr>
              </a:solidFill>
            </a:endParaRPr>
          </a:p>
        </p:txBody>
      </p:sp>
      <p:grpSp>
        <p:nvGrpSpPr>
          <p:cNvPr id="6" name="Group 138">
            <a:extLst>
              <a:ext uri="{FF2B5EF4-FFF2-40B4-BE49-F238E27FC236}">
                <a16:creationId xmlns:a16="http://schemas.microsoft.com/office/drawing/2014/main" id="{65046B40-4C17-4CB6-AFE9-AB12062D9A63}"/>
              </a:ext>
            </a:extLst>
          </p:cNvPr>
          <p:cNvGrpSpPr/>
          <p:nvPr>
            <p:custDataLst>
              <p:tags r:id="rId3"/>
            </p:custDataLst>
          </p:nvPr>
        </p:nvGrpSpPr>
        <p:grpSpPr>
          <a:xfrm>
            <a:off x="9280493" y="2303889"/>
            <a:ext cx="2068927" cy="2939891"/>
            <a:chOff x="8704441" y="2571694"/>
            <a:chExt cx="7028256" cy="10385705"/>
          </a:xfrm>
        </p:grpSpPr>
        <p:sp>
          <p:nvSpPr>
            <p:cNvPr id="7" name="Shape 34173">
              <a:extLst>
                <a:ext uri="{FF2B5EF4-FFF2-40B4-BE49-F238E27FC236}">
                  <a16:creationId xmlns:a16="http://schemas.microsoft.com/office/drawing/2014/main" id="{976C004C-1D4C-6265-7CAA-36D0B3554743}"/>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8" name="Shape 34174">
              <a:extLst>
                <a:ext uri="{FF2B5EF4-FFF2-40B4-BE49-F238E27FC236}">
                  <a16:creationId xmlns:a16="http://schemas.microsoft.com/office/drawing/2014/main" id="{C4BF05D4-B682-FD65-42DA-A04AFFE28DC3}"/>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 name="Shape 34175">
              <a:extLst>
                <a:ext uri="{FF2B5EF4-FFF2-40B4-BE49-F238E27FC236}">
                  <a16:creationId xmlns:a16="http://schemas.microsoft.com/office/drawing/2014/main" id="{C9712020-E217-2295-A8BA-E42FE748FCC5}"/>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0" name="Shape 34176">
              <a:extLst>
                <a:ext uri="{FF2B5EF4-FFF2-40B4-BE49-F238E27FC236}">
                  <a16:creationId xmlns:a16="http://schemas.microsoft.com/office/drawing/2014/main" id="{AAF18868-B068-9C4F-8960-CB0D5A467E25}"/>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1" name="Shape 34177">
              <a:extLst>
                <a:ext uri="{FF2B5EF4-FFF2-40B4-BE49-F238E27FC236}">
                  <a16:creationId xmlns:a16="http://schemas.microsoft.com/office/drawing/2014/main" id="{E801DEDF-A984-AAEF-46E7-EC60B0FDD754}"/>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2" name="Shape 34178">
              <a:extLst>
                <a:ext uri="{FF2B5EF4-FFF2-40B4-BE49-F238E27FC236}">
                  <a16:creationId xmlns:a16="http://schemas.microsoft.com/office/drawing/2014/main" id="{BD91ED27-C937-F3A7-A98F-9F30D5337FE1}"/>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3" name="Shape 34179">
              <a:extLst>
                <a:ext uri="{FF2B5EF4-FFF2-40B4-BE49-F238E27FC236}">
                  <a16:creationId xmlns:a16="http://schemas.microsoft.com/office/drawing/2014/main" id="{CE42E4FB-FD68-9A56-DB60-45D4D1F6DEE8}"/>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4" name="Shape 34180">
              <a:extLst>
                <a:ext uri="{FF2B5EF4-FFF2-40B4-BE49-F238E27FC236}">
                  <a16:creationId xmlns:a16="http://schemas.microsoft.com/office/drawing/2014/main" id="{0FD9EA42-B916-E428-7847-39A0ED7419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5" name="Shape 34181">
              <a:extLst>
                <a:ext uri="{FF2B5EF4-FFF2-40B4-BE49-F238E27FC236}">
                  <a16:creationId xmlns:a16="http://schemas.microsoft.com/office/drawing/2014/main" id="{E8D68D33-D5CF-E622-C836-662EFC5E2A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6" name="Shape 34182">
              <a:extLst>
                <a:ext uri="{FF2B5EF4-FFF2-40B4-BE49-F238E27FC236}">
                  <a16:creationId xmlns:a16="http://schemas.microsoft.com/office/drawing/2014/main" id="{8CFECFFB-6EA8-A430-AED5-7E65407DD4A5}"/>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7" name="Shape 34183">
              <a:extLst>
                <a:ext uri="{FF2B5EF4-FFF2-40B4-BE49-F238E27FC236}">
                  <a16:creationId xmlns:a16="http://schemas.microsoft.com/office/drawing/2014/main" id="{617F6296-7E21-A175-05EE-8707F53A6F39}"/>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8" name="Shape 34184">
              <a:extLst>
                <a:ext uri="{FF2B5EF4-FFF2-40B4-BE49-F238E27FC236}">
                  <a16:creationId xmlns:a16="http://schemas.microsoft.com/office/drawing/2014/main" id="{4F91F915-B70C-3DFB-2DED-CD2D0C36EDD4}"/>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9" name="Shape 34185">
              <a:extLst>
                <a:ext uri="{FF2B5EF4-FFF2-40B4-BE49-F238E27FC236}">
                  <a16:creationId xmlns:a16="http://schemas.microsoft.com/office/drawing/2014/main" id="{F029D3C9-BD86-97DA-B294-D36F5FDE4428}"/>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0" name="Shape 34186">
              <a:extLst>
                <a:ext uri="{FF2B5EF4-FFF2-40B4-BE49-F238E27FC236}">
                  <a16:creationId xmlns:a16="http://schemas.microsoft.com/office/drawing/2014/main" id="{F5B7275A-6FAF-B24A-A685-47C4A6EE1FA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1" name="Shape 34187">
              <a:extLst>
                <a:ext uri="{FF2B5EF4-FFF2-40B4-BE49-F238E27FC236}">
                  <a16:creationId xmlns:a16="http://schemas.microsoft.com/office/drawing/2014/main" id="{EAAF3EFF-FA3D-D6EE-8564-5186B15CA88F}"/>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2" name="Shape 34188">
              <a:extLst>
                <a:ext uri="{FF2B5EF4-FFF2-40B4-BE49-F238E27FC236}">
                  <a16:creationId xmlns:a16="http://schemas.microsoft.com/office/drawing/2014/main" id="{749F9356-4688-F55D-7BA7-4D414600925A}"/>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3" name="Shape 34189">
              <a:extLst>
                <a:ext uri="{FF2B5EF4-FFF2-40B4-BE49-F238E27FC236}">
                  <a16:creationId xmlns:a16="http://schemas.microsoft.com/office/drawing/2014/main" id="{ACF42464-8277-7FE7-BFF9-60BD9A71C304}"/>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4" name="Shape 34190">
              <a:extLst>
                <a:ext uri="{FF2B5EF4-FFF2-40B4-BE49-F238E27FC236}">
                  <a16:creationId xmlns:a16="http://schemas.microsoft.com/office/drawing/2014/main" id="{1CB0601C-E813-F143-49E8-AF8089764FF4}"/>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5" name="Shape 34191">
              <a:extLst>
                <a:ext uri="{FF2B5EF4-FFF2-40B4-BE49-F238E27FC236}">
                  <a16:creationId xmlns:a16="http://schemas.microsoft.com/office/drawing/2014/main" id="{AC9455CF-AF30-DE16-2774-5F4D082B38B0}"/>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6" name="Shape 34192">
              <a:extLst>
                <a:ext uri="{FF2B5EF4-FFF2-40B4-BE49-F238E27FC236}">
                  <a16:creationId xmlns:a16="http://schemas.microsoft.com/office/drawing/2014/main" id="{7C569921-7480-9A44-8C2E-A5B0ED448F0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7" name="Shape 34193">
              <a:extLst>
                <a:ext uri="{FF2B5EF4-FFF2-40B4-BE49-F238E27FC236}">
                  <a16:creationId xmlns:a16="http://schemas.microsoft.com/office/drawing/2014/main" id="{A5E3F977-180A-3643-419D-57AED242F69C}"/>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28" name="Shape 34194">
              <a:extLst>
                <a:ext uri="{FF2B5EF4-FFF2-40B4-BE49-F238E27FC236}">
                  <a16:creationId xmlns:a16="http://schemas.microsoft.com/office/drawing/2014/main" id="{8654F068-3931-E6FE-A770-5E45CA727A66}"/>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9" name="Shape 34195">
              <a:extLst>
                <a:ext uri="{FF2B5EF4-FFF2-40B4-BE49-F238E27FC236}">
                  <a16:creationId xmlns:a16="http://schemas.microsoft.com/office/drawing/2014/main" id="{F32529DE-7723-A9F9-7F05-07E940417709}"/>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0" name="Shape 34196">
              <a:extLst>
                <a:ext uri="{FF2B5EF4-FFF2-40B4-BE49-F238E27FC236}">
                  <a16:creationId xmlns:a16="http://schemas.microsoft.com/office/drawing/2014/main" id="{99B49F4A-C995-B73F-E19A-B307302678CD}"/>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31" name="Shape 34197">
              <a:extLst>
                <a:ext uri="{FF2B5EF4-FFF2-40B4-BE49-F238E27FC236}">
                  <a16:creationId xmlns:a16="http://schemas.microsoft.com/office/drawing/2014/main" id="{E619B2D8-F6BD-8A7E-5EDA-D68C2CA0C3AC}"/>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2" name="Shape 34198">
              <a:extLst>
                <a:ext uri="{FF2B5EF4-FFF2-40B4-BE49-F238E27FC236}">
                  <a16:creationId xmlns:a16="http://schemas.microsoft.com/office/drawing/2014/main" id="{288C06A0-5E60-7FBA-5163-8D0A4E6E9A8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3" name="Shape 34199">
              <a:extLst>
                <a:ext uri="{FF2B5EF4-FFF2-40B4-BE49-F238E27FC236}">
                  <a16:creationId xmlns:a16="http://schemas.microsoft.com/office/drawing/2014/main" id="{49A32E76-801E-A843-8779-81977240544F}"/>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4" name="Shape 34200">
              <a:extLst>
                <a:ext uri="{FF2B5EF4-FFF2-40B4-BE49-F238E27FC236}">
                  <a16:creationId xmlns:a16="http://schemas.microsoft.com/office/drawing/2014/main" id="{3E5F91B2-B048-5BFE-5A85-82F92FA7CB84}"/>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5" name="Shape 34201">
              <a:extLst>
                <a:ext uri="{FF2B5EF4-FFF2-40B4-BE49-F238E27FC236}">
                  <a16:creationId xmlns:a16="http://schemas.microsoft.com/office/drawing/2014/main" id="{84AE006D-A898-C300-EAA5-3A5274B9B64F}"/>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6" name="Shape 34202">
              <a:extLst>
                <a:ext uri="{FF2B5EF4-FFF2-40B4-BE49-F238E27FC236}">
                  <a16:creationId xmlns:a16="http://schemas.microsoft.com/office/drawing/2014/main" id="{3627F16C-6922-1C8F-7FFA-A69F5B9480C3}"/>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7" name="Shape 34203">
              <a:extLst>
                <a:ext uri="{FF2B5EF4-FFF2-40B4-BE49-F238E27FC236}">
                  <a16:creationId xmlns:a16="http://schemas.microsoft.com/office/drawing/2014/main" id="{C0A6D04B-B571-CC97-4DA2-9B277FA71F2B}"/>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8" name="Shape 34204">
              <a:extLst>
                <a:ext uri="{FF2B5EF4-FFF2-40B4-BE49-F238E27FC236}">
                  <a16:creationId xmlns:a16="http://schemas.microsoft.com/office/drawing/2014/main" id="{B63486CF-8FD4-F19D-BEE7-B03A257609F9}"/>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9" name="Shape 34205">
              <a:extLst>
                <a:ext uri="{FF2B5EF4-FFF2-40B4-BE49-F238E27FC236}">
                  <a16:creationId xmlns:a16="http://schemas.microsoft.com/office/drawing/2014/main" id="{9B6154D4-4161-7162-8EA2-5A7C854A42F3}"/>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0" name="Shape 34206">
              <a:extLst>
                <a:ext uri="{FF2B5EF4-FFF2-40B4-BE49-F238E27FC236}">
                  <a16:creationId xmlns:a16="http://schemas.microsoft.com/office/drawing/2014/main" id="{4817CE05-AE16-2CD7-A719-FF48D57D7109}"/>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1" name="Shape 34207">
              <a:extLst>
                <a:ext uri="{FF2B5EF4-FFF2-40B4-BE49-F238E27FC236}">
                  <a16:creationId xmlns:a16="http://schemas.microsoft.com/office/drawing/2014/main" id="{9C0589CC-1AA8-EC0E-98E1-6EEF8B13A41E}"/>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2" name="Shape 34208">
              <a:extLst>
                <a:ext uri="{FF2B5EF4-FFF2-40B4-BE49-F238E27FC236}">
                  <a16:creationId xmlns:a16="http://schemas.microsoft.com/office/drawing/2014/main" id="{2B002F80-8F42-1F8C-9D53-E0E308DF3F05}"/>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3" name="Shape 34209">
              <a:extLst>
                <a:ext uri="{FF2B5EF4-FFF2-40B4-BE49-F238E27FC236}">
                  <a16:creationId xmlns:a16="http://schemas.microsoft.com/office/drawing/2014/main" id="{E04824C3-FDEF-BB7D-0D7D-4B2DEBD11EDA}"/>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4" name="Shape 34210">
              <a:extLst>
                <a:ext uri="{FF2B5EF4-FFF2-40B4-BE49-F238E27FC236}">
                  <a16:creationId xmlns:a16="http://schemas.microsoft.com/office/drawing/2014/main" id="{60A3E3D8-357B-9865-5ED6-C9C8DD99A5EB}"/>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5" name="Shape 34211">
              <a:extLst>
                <a:ext uri="{FF2B5EF4-FFF2-40B4-BE49-F238E27FC236}">
                  <a16:creationId xmlns:a16="http://schemas.microsoft.com/office/drawing/2014/main" id="{76DFA2CB-312D-1730-47C1-A020896FA28B}"/>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6" name="Shape 34212">
              <a:extLst>
                <a:ext uri="{FF2B5EF4-FFF2-40B4-BE49-F238E27FC236}">
                  <a16:creationId xmlns:a16="http://schemas.microsoft.com/office/drawing/2014/main" id="{36B98C3B-D0DC-9180-4848-8BA8BF1F5BD6}"/>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7" name="Shape 34213">
              <a:extLst>
                <a:ext uri="{FF2B5EF4-FFF2-40B4-BE49-F238E27FC236}">
                  <a16:creationId xmlns:a16="http://schemas.microsoft.com/office/drawing/2014/main" id="{B2A1DF19-68C4-B39F-A4E7-2413452CD57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8" name="Shape 34214">
              <a:extLst>
                <a:ext uri="{FF2B5EF4-FFF2-40B4-BE49-F238E27FC236}">
                  <a16:creationId xmlns:a16="http://schemas.microsoft.com/office/drawing/2014/main" id="{C07477F5-13C2-0059-175D-4F8386F20BBA}"/>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9" name="Shape 34215">
              <a:extLst>
                <a:ext uri="{FF2B5EF4-FFF2-40B4-BE49-F238E27FC236}">
                  <a16:creationId xmlns:a16="http://schemas.microsoft.com/office/drawing/2014/main" id="{BF6C8EC1-4101-C1F3-59E6-2E204FC0CA3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50" name="Shape 34216">
              <a:extLst>
                <a:ext uri="{FF2B5EF4-FFF2-40B4-BE49-F238E27FC236}">
                  <a16:creationId xmlns:a16="http://schemas.microsoft.com/office/drawing/2014/main" id="{22BE5295-7E6B-EBE3-6379-0FE69A700146}"/>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51" name="Shape 34217">
              <a:extLst>
                <a:ext uri="{FF2B5EF4-FFF2-40B4-BE49-F238E27FC236}">
                  <a16:creationId xmlns:a16="http://schemas.microsoft.com/office/drawing/2014/main" id="{7669BB95-B65F-80FF-F5E3-D558A71D186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2" name="Shape 34218">
              <a:extLst>
                <a:ext uri="{FF2B5EF4-FFF2-40B4-BE49-F238E27FC236}">
                  <a16:creationId xmlns:a16="http://schemas.microsoft.com/office/drawing/2014/main" id="{ECD0EFAE-D165-C2EA-4152-E736B90B1620}"/>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3" name="Shape 34219">
              <a:extLst>
                <a:ext uri="{FF2B5EF4-FFF2-40B4-BE49-F238E27FC236}">
                  <a16:creationId xmlns:a16="http://schemas.microsoft.com/office/drawing/2014/main" id="{0C66A6C3-63D2-F0BA-F015-61AAA11211DC}"/>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4" name="Shape 34220">
              <a:extLst>
                <a:ext uri="{FF2B5EF4-FFF2-40B4-BE49-F238E27FC236}">
                  <a16:creationId xmlns:a16="http://schemas.microsoft.com/office/drawing/2014/main" id="{23AEB80C-7CCE-CCB6-29CA-778624C78CFC}"/>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5" name="Shape 34221">
              <a:extLst>
                <a:ext uri="{FF2B5EF4-FFF2-40B4-BE49-F238E27FC236}">
                  <a16:creationId xmlns:a16="http://schemas.microsoft.com/office/drawing/2014/main" id="{81701DFC-595E-9A3F-2738-AAA1A24AA083}"/>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6" name="Shape 34222">
              <a:extLst>
                <a:ext uri="{FF2B5EF4-FFF2-40B4-BE49-F238E27FC236}">
                  <a16:creationId xmlns:a16="http://schemas.microsoft.com/office/drawing/2014/main" id="{513F8701-84F3-14BA-ACF0-EF60A80D05EA}"/>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7" name="Shape 34223">
              <a:extLst>
                <a:ext uri="{FF2B5EF4-FFF2-40B4-BE49-F238E27FC236}">
                  <a16:creationId xmlns:a16="http://schemas.microsoft.com/office/drawing/2014/main" id="{669F5F77-ADD6-B162-0166-D72EC8E7733A}"/>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8" name="Shape 34224">
              <a:extLst>
                <a:ext uri="{FF2B5EF4-FFF2-40B4-BE49-F238E27FC236}">
                  <a16:creationId xmlns:a16="http://schemas.microsoft.com/office/drawing/2014/main" id="{2A34FEB1-6A68-6F25-3685-1694CE12D101}"/>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9" name="Shape 34225">
              <a:extLst>
                <a:ext uri="{FF2B5EF4-FFF2-40B4-BE49-F238E27FC236}">
                  <a16:creationId xmlns:a16="http://schemas.microsoft.com/office/drawing/2014/main" id="{3490BBCE-C5D5-7B6E-7A00-797D8846355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0" name="Shape 34226">
              <a:extLst>
                <a:ext uri="{FF2B5EF4-FFF2-40B4-BE49-F238E27FC236}">
                  <a16:creationId xmlns:a16="http://schemas.microsoft.com/office/drawing/2014/main" id="{040F01A4-33AF-01A6-4535-A8F83A4719EC}"/>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1" name="Shape 34227">
              <a:extLst>
                <a:ext uri="{FF2B5EF4-FFF2-40B4-BE49-F238E27FC236}">
                  <a16:creationId xmlns:a16="http://schemas.microsoft.com/office/drawing/2014/main" id="{593658B6-C5DC-4C6D-EC98-B91FDF4F85E8}"/>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62" name="Shape 34228">
              <a:extLst>
                <a:ext uri="{FF2B5EF4-FFF2-40B4-BE49-F238E27FC236}">
                  <a16:creationId xmlns:a16="http://schemas.microsoft.com/office/drawing/2014/main" id="{F6804CB1-81F7-5B73-8ADE-F08C0DD65D63}"/>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3" name="Shape 34229">
              <a:extLst>
                <a:ext uri="{FF2B5EF4-FFF2-40B4-BE49-F238E27FC236}">
                  <a16:creationId xmlns:a16="http://schemas.microsoft.com/office/drawing/2014/main" id="{31B00120-41F5-991C-5B45-38DCF9E6593E}"/>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4" name="Shape 34230">
              <a:extLst>
                <a:ext uri="{FF2B5EF4-FFF2-40B4-BE49-F238E27FC236}">
                  <a16:creationId xmlns:a16="http://schemas.microsoft.com/office/drawing/2014/main" id="{F21EEEC0-ED3C-D255-F30B-AFF4394368E9}"/>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5" name="Shape 34231">
              <a:extLst>
                <a:ext uri="{FF2B5EF4-FFF2-40B4-BE49-F238E27FC236}">
                  <a16:creationId xmlns:a16="http://schemas.microsoft.com/office/drawing/2014/main" id="{35403DDE-DDDF-A4A3-8574-550FC2348FA0}"/>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6" name="Shape 34232">
              <a:extLst>
                <a:ext uri="{FF2B5EF4-FFF2-40B4-BE49-F238E27FC236}">
                  <a16:creationId xmlns:a16="http://schemas.microsoft.com/office/drawing/2014/main" id="{8F61DD08-9B59-C4E5-5769-A748751A1BA9}"/>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7" name="Shape 34233">
              <a:extLst>
                <a:ext uri="{FF2B5EF4-FFF2-40B4-BE49-F238E27FC236}">
                  <a16:creationId xmlns:a16="http://schemas.microsoft.com/office/drawing/2014/main" id="{F426EA7D-907F-BA9B-E5E7-313BEA0B053D}"/>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8" name="Shape 34234">
              <a:extLst>
                <a:ext uri="{FF2B5EF4-FFF2-40B4-BE49-F238E27FC236}">
                  <a16:creationId xmlns:a16="http://schemas.microsoft.com/office/drawing/2014/main" id="{5C22217F-FD1E-F18B-FF4B-82567CE5DCA1}"/>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9" name="Shape 34235">
              <a:extLst>
                <a:ext uri="{FF2B5EF4-FFF2-40B4-BE49-F238E27FC236}">
                  <a16:creationId xmlns:a16="http://schemas.microsoft.com/office/drawing/2014/main" id="{BCDA1780-5369-5563-0622-D61A54BEC2DF}"/>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0" name="Shape 34236">
              <a:extLst>
                <a:ext uri="{FF2B5EF4-FFF2-40B4-BE49-F238E27FC236}">
                  <a16:creationId xmlns:a16="http://schemas.microsoft.com/office/drawing/2014/main" id="{E9CF551E-55FB-2B85-2131-C5F843088F7F}"/>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1" name="Shape 34237">
              <a:extLst>
                <a:ext uri="{FF2B5EF4-FFF2-40B4-BE49-F238E27FC236}">
                  <a16:creationId xmlns:a16="http://schemas.microsoft.com/office/drawing/2014/main" id="{FFACF437-3B44-946E-27E7-90C32C4D78CF}"/>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2" name="Shape 34238">
              <a:extLst>
                <a:ext uri="{FF2B5EF4-FFF2-40B4-BE49-F238E27FC236}">
                  <a16:creationId xmlns:a16="http://schemas.microsoft.com/office/drawing/2014/main" id="{46C4E1FE-4F6F-924C-4B5B-0696E855EB77}"/>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3" name="Shape 34239">
              <a:extLst>
                <a:ext uri="{FF2B5EF4-FFF2-40B4-BE49-F238E27FC236}">
                  <a16:creationId xmlns:a16="http://schemas.microsoft.com/office/drawing/2014/main" id="{D185878E-FF18-4A20-B9EE-176068B979C5}"/>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4" name="Shape 34240">
              <a:extLst>
                <a:ext uri="{FF2B5EF4-FFF2-40B4-BE49-F238E27FC236}">
                  <a16:creationId xmlns:a16="http://schemas.microsoft.com/office/drawing/2014/main" id="{D93BD9D1-EEA1-0D4F-8600-3F3153A93B6C}"/>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5" name="Shape 34241">
              <a:extLst>
                <a:ext uri="{FF2B5EF4-FFF2-40B4-BE49-F238E27FC236}">
                  <a16:creationId xmlns:a16="http://schemas.microsoft.com/office/drawing/2014/main" id="{D7E296EA-B791-A4EA-1153-80795F3A152B}"/>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6" name="Shape 34242">
              <a:extLst>
                <a:ext uri="{FF2B5EF4-FFF2-40B4-BE49-F238E27FC236}">
                  <a16:creationId xmlns:a16="http://schemas.microsoft.com/office/drawing/2014/main" id="{7BD1DB59-0745-31CF-1150-1C2BA96B3818}"/>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7" name="Shape 34243">
              <a:extLst>
                <a:ext uri="{FF2B5EF4-FFF2-40B4-BE49-F238E27FC236}">
                  <a16:creationId xmlns:a16="http://schemas.microsoft.com/office/drawing/2014/main" id="{859A2A30-578E-E0CF-9B88-4D0BBC19E5F0}"/>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8" name="Shape 34244">
              <a:extLst>
                <a:ext uri="{FF2B5EF4-FFF2-40B4-BE49-F238E27FC236}">
                  <a16:creationId xmlns:a16="http://schemas.microsoft.com/office/drawing/2014/main" id="{829F2089-03A8-EB09-9794-C58301A25377}"/>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9" name="Shape 34245">
              <a:extLst>
                <a:ext uri="{FF2B5EF4-FFF2-40B4-BE49-F238E27FC236}">
                  <a16:creationId xmlns:a16="http://schemas.microsoft.com/office/drawing/2014/main" id="{5EF4459E-AC23-C524-D870-8EAA6CA4506F}"/>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0" name="Shape 34246">
              <a:extLst>
                <a:ext uri="{FF2B5EF4-FFF2-40B4-BE49-F238E27FC236}">
                  <a16:creationId xmlns:a16="http://schemas.microsoft.com/office/drawing/2014/main" id="{A49966BE-49C2-2E0B-DF00-BE6046DA1688}"/>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1" name="Shape 34247">
              <a:extLst>
                <a:ext uri="{FF2B5EF4-FFF2-40B4-BE49-F238E27FC236}">
                  <a16:creationId xmlns:a16="http://schemas.microsoft.com/office/drawing/2014/main" id="{55D230AC-EDAC-D177-985F-928BDF840C57}"/>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82" name="Shape 34248">
              <a:extLst>
                <a:ext uri="{FF2B5EF4-FFF2-40B4-BE49-F238E27FC236}">
                  <a16:creationId xmlns:a16="http://schemas.microsoft.com/office/drawing/2014/main" id="{1F148CBC-8AA1-BE4E-E118-503C7C297140}"/>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3" name="Shape 34249">
              <a:extLst>
                <a:ext uri="{FF2B5EF4-FFF2-40B4-BE49-F238E27FC236}">
                  <a16:creationId xmlns:a16="http://schemas.microsoft.com/office/drawing/2014/main" id="{A6803C7B-FD14-9001-B985-748E17C421AA}"/>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4" name="Shape 34250">
              <a:extLst>
                <a:ext uri="{FF2B5EF4-FFF2-40B4-BE49-F238E27FC236}">
                  <a16:creationId xmlns:a16="http://schemas.microsoft.com/office/drawing/2014/main" id="{F54ECFE8-A0DD-BE50-2B8A-AEC375164636}"/>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5" name="Shape 34251">
              <a:extLst>
                <a:ext uri="{FF2B5EF4-FFF2-40B4-BE49-F238E27FC236}">
                  <a16:creationId xmlns:a16="http://schemas.microsoft.com/office/drawing/2014/main" id="{F5DA6B52-A364-0343-A021-D1AD7A5B786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6" name="Shape 34252">
              <a:extLst>
                <a:ext uri="{FF2B5EF4-FFF2-40B4-BE49-F238E27FC236}">
                  <a16:creationId xmlns:a16="http://schemas.microsoft.com/office/drawing/2014/main" id="{E909B32D-5C04-1B0F-7C40-8D0410B8717A}"/>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87" name="Shape 34253">
              <a:extLst>
                <a:ext uri="{FF2B5EF4-FFF2-40B4-BE49-F238E27FC236}">
                  <a16:creationId xmlns:a16="http://schemas.microsoft.com/office/drawing/2014/main" id="{904C6508-E6C5-9FAB-06BA-F3F504B95C0E}"/>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8" name="Shape 34254">
              <a:extLst>
                <a:ext uri="{FF2B5EF4-FFF2-40B4-BE49-F238E27FC236}">
                  <a16:creationId xmlns:a16="http://schemas.microsoft.com/office/drawing/2014/main" id="{7C11C3C3-50EF-CD38-713D-3B82765597C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9" name="Shape 34255">
              <a:extLst>
                <a:ext uri="{FF2B5EF4-FFF2-40B4-BE49-F238E27FC236}">
                  <a16:creationId xmlns:a16="http://schemas.microsoft.com/office/drawing/2014/main" id="{DD0B73BB-9B23-85D1-08F0-A1083002F1EE}"/>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0" name="Shape 34256">
              <a:extLst>
                <a:ext uri="{FF2B5EF4-FFF2-40B4-BE49-F238E27FC236}">
                  <a16:creationId xmlns:a16="http://schemas.microsoft.com/office/drawing/2014/main" id="{DB198D26-C5BC-0B60-61A6-114E53BEA476}"/>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1" name="Shape 34257">
              <a:extLst>
                <a:ext uri="{FF2B5EF4-FFF2-40B4-BE49-F238E27FC236}">
                  <a16:creationId xmlns:a16="http://schemas.microsoft.com/office/drawing/2014/main" id="{C495D662-E4AD-8FDF-FC9F-7D24BA960269}"/>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2" name="Shape 34258">
              <a:extLst>
                <a:ext uri="{FF2B5EF4-FFF2-40B4-BE49-F238E27FC236}">
                  <a16:creationId xmlns:a16="http://schemas.microsoft.com/office/drawing/2014/main" id="{782B38B6-7885-E0FB-6B35-5977C84E5125}"/>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3" name="Shape 34259">
              <a:extLst>
                <a:ext uri="{FF2B5EF4-FFF2-40B4-BE49-F238E27FC236}">
                  <a16:creationId xmlns:a16="http://schemas.microsoft.com/office/drawing/2014/main" id="{ACEA1985-C96B-D18C-1DB4-3239D01C5DBD}"/>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4" name="Shape 34260">
              <a:extLst>
                <a:ext uri="{FF2B5EF4-FFF2-40B4-BE49-F238E27FC236}">
                  <a16:creationId xmlns:a16="http://schemas.microsoft.com/office/drawing/2014/main" id="{E2E15F41-8745-DF54-7A98-5CCD82B4B0A9}"/>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5" name="Shape 34261">
              <a:extLst>
                <a:ext uri="{FF2B5EF4-FFF2-40B4-BE49-F238E27FC236}">
                  <a16:creationId xmlns:a16="http://schemas.microsoft.com/office/drawing/2014/main" id="{2854AF16-1899-28BD-ECE5-3F50BF094ACE}"/>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6" name="Shape 34262">
              <a:extLst>
                <a:ext uri="{FF2B5EF4-FFF2-40B4-BE49-F238E27FC236}">
                  <a16:creationId xmlns:a16="http://schemas.microsoft.com/office/drawing/2014/main" id="{CBDEFF28-A355-BD1E-9EC9-71CA5C467CE0}"/>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7" name="Shape 34263">
              <a:extLst>
                <a:ext uri="{FF2B5EF4-FFF2-40B4-BE49-F238E27FC236}">
                  <a16:creationId xmlns:a16="http://schemas.microsoft.com/office/drawing/2014/main" id="{F604FEFF-8D13-1B9F-D241-E7D2AFA9209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8" name="Shape 34264">
              <a:extLst>
                <a:ext uri="{FF2B5EF4-FFF2-40B4-BE49-F238E27FC236}">
                  <a16:creationId xmlns:a16="http://schemas.microsoft.com/office/drawing/2014/main" id="{29642944-FCFB-9027-DBEB-A3DE374E30A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9" name="Shape 34265">
              <a:extLst>
                <a:ext uri="{FF2B5EF4-FFF2-40B4-BE49-F238E27FC236}">
                  <a16:creationId xmlns:a16="http://schemas.microsoft.com/office/drawing/2014/main" id="{B4AE4AFC-DE57-6193-7D6C-068A638F5DC0}"/>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grpSp>
      <p:sp>
        <p:nvSpPr>
          <p:cNvPr id="3" name="Espace réservé du pied de page 2">
            <a:extLst>
              <a:ext uri="{FF2B5EF4-FFF2-40B4-BE49-F238E27FC236}">
                <a16:creationId xmlns:a16="http://schemas.microsoft.com/office/drawing/2014/main" id="{556B9D44-245A-77A1-DD6F-2984210D7E29}"/>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099429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4"/>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4"/>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5"/>
</p:tagLst>
</file>

<file path=ppt/tags/tag30.xml><?xml version="1.0" encoding="utf-8"?>
<p:tagLst xmlns:a="http://schemas.openxmlformats.org/drawingml/2006/main" xmlns:r="http://schemas.openxmlformats.org/officeDocument/2006/relationships" xmlns:p="http://schemas.openxmlformats.org/presentationml/2006/main">
  <p:tag name="NUM" val="6"/>
</p:tagLst>
</file>

<file path=ppt/tags/tag31.xml><?xml version="1.0" encoding="utf-8"?>
<p:tagLst xmlns:a="http://schemas.openxmlformats.org/drawingml/2006/main" xmlns:r="http://schemas.openxmlformats.org/officeDocument/2006/relationships" xmlns:p="http://schemas.openxmlformats.org/presentationml/2006/main">
  <p:tag name="NUM" val="7"/>
</p:tagLst>
</file>

<file path=ppt/tags/tag32.xml><?xml version="1.0" encoding="utf-8"?>
<p:tagLst xmlns:a="http://schemas.openxmlformats.org/drawingml/2006/main" xmlns:r="http://schemas.openxmlformats.org/officeDocument/2006/relationships" xmlns:p="http://schemas.openxmlformats.org/presentationml/2006/main">
  <p:tag name="NUM" val="8"/>
</p:tagLst>
</file>

<file path=ppt/tags/tag33.xml><?xml version="1.0" encoding="utf-8"?>
<p:tagLst xmlns:a="http://schemas.openxmlformats.org/drawingml/2006/main" xmlns:r="http://schemas.openxmlformats.org/officeDocument/2006/relationships" xmlns:p="http://schemas.openxmlformats.org/presentationml/2006/main">
  <p:tag name="NOPREFERENCE" val="False"/>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4"/>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3"/>
</p:tagLst>
</file>

<file path=ppt/tags/tag45.xml><?xml version="1.0" encoding="utf-8"?>
<p:tagLst xmlns:a="http://schemas.openxmlformats.org/drawingml/2006/main" xmlns:r="http://schemas.openxmlformats.org/officeDocument/2006/relationships" xmlns:p="http://schemas.openxmlformats.org/presentationml/2006/main">
  <p:tag name="NUM" val="4"/>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4"/>
</p:tagLst>
</file>

<file path=ppt/tags/tag51.xml><?xml version="1.0" encoding="utf-8"?>
<p:tagLst xmlns:a="http://schemas.openxmlformats.org/drawingml/2006/main" xmlns:r="http://schemas.openxmlformats.org/officeDocument/2006/relationships" xmlns:p="http://schemas.openxmlformats.org/presentationml/2006/main">
  <p:tag name="NUM" val="5"/>
</p:tagLst>
</file>

<file path=ppt/tags/tag52.xml><?xml version="1.0" encoding="utf-8"?>
<p:tagLst xmlns:a="http://schemas.openxmlformats.org/drawingml/2006/main" xmlns:r="http://schemas.openxmlformats.org/officeDocument/2006/relationships" xmlns:p="http://schemas.openxmlformats.org/presentationml/2006/main">
  <p:tag name="NUM" val="6"/>
</p:tagLst>
</file>

<file path=ppt/tags/tag53.xml><?xml version="1.0" encoding="utf-8"?>
<p:tagLst xmlns:a="http://schemas.openxmlformats.org/drawingml/2006/main" xmlns:r="http://schemas.openxmlformats.org/officeDocument/2006/relationships" xmlns:p="http://schemas.openxmlformats.org/presentationml/2006/main">
  <p:tag name="NUM" val="7"/>
</p:tagLst>
</file>

<file path=ppt/tags/tag54.xml><?xml version="1.0" encoding="utf-8"?>
<p:tagLst xmlns:a="http://schemas.openxmlformats.org/drawingml/2006/main" xmlns:r="http://schemas.openxmlformats.org/officeDocument/2006/relationships" xmlns:p="http://schemas.openxmlformats.org/presentationml/2006/main">
  <p:tag name="NUM" val="8"/>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4"/>
</p:tagLst>
</file>

<file path=ppt/tags/tag59.xml><?xml version="1.0" encoding="utf-8"?>
<p:tagLst xmlns:a="http://schemas.openxmlformats.org/drawingml/2006/main" xmlns:r="http://schemas.openxmlformats.org/officeDocument/2006/relationships" xmlns:p="http://schemas.openxmlformats.org/presentationml/2006/main">
  <p:tag name="NUM" val="5"/>
</p:tagLst>
</file>

<file path=ppt/tags/tag60.xml><?xml version="1.0" encoding="utf-8"?>
<p:tagLst xmlns:a="http://schemas.openxmlformats.org/drawingml/2006/main" xmlns:r="http://schemas.openxmlformats.org/officeDocument/2006/relationships" xmlns:p="http://schemas.openxmlformats.org/presentationml/2006/main">
  <p:tag name="NUM" val="6"/>
</p:tagLst>
</file>

<file path=ppt/tags/tag61.xml><?xml version="1.0" encoding="utf-8"?>
<p:tagLst xmlns:a="http://schemas.openxmlformats.org/drawingml/2006/main" xmlns:r="http://schemas.openxmlformats.org/officeDocument/2006/relationships" xmlns:p="http://schemas.openxmlformats.org/presentationml/2006/main">
  <p:tag name="NUM" val="7"/>
</p:tagLst>
</file>

<file path=ppt/tags/tag62.xml><?xml version="1.0" encoding="utf-8"?>
<p:tagLst xmlns:a="http://schemas.openxmlformats.org/drawingml/2006/main" xmlns:r="http://schemas.openxmlformats.org/officeDocument/2006/relationships" xmlns:p="http://schemas.openxmlformats.org/presentationml/2006/main">
  <p:tag name="NUM" val="8"/>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4"/>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5"/>
</p:tagLst>
</file>

<file path=ppt/tags/tag72.xml><?xml version="1.0" encoding="utf-8"?>
<p:tagLst xmlns:a="http://schemas.openxmlformats.org/drawingml/2006/main" xmlns:r="http://schemas.openxmlformats.org/officeDocument/2006/relationships" xmlns:p="http://schemas.openxmlformats.org/presentationml/2006/main">
  <p:tag name="NUM" val="6"/>
</p:tagLst>
</file>

<file path=ppt/tags/tag73.xml><?xml version="1.0" encoding="utf-8"?>
<p:tagLst xmlns:a="http://schemas.openxmlformats.org/drawingml/2006/main" xmlns:r="http://schemas.openxmlformats.org/officeDocument/2006/relationships" xmlns:p="http://schemas.openxmlformats.org/presentationml/2006/main">
  <p:tag name="NUM" val="5"/>
</p:tagLst>
</file>

<file path=ppt/tags/tag74.xml><?xml version="1.0" encoding="utf-8"?>
<p:tagLst xmlns:a="http://schemas.openxmlformats.org/drawingml/2006/main" xmlns:r="http://schemas.openxmlformats.org/officeDocument/2006/relationships" xmlns:p="http://schemas.openxmlformats.org/presentationml/2006/main">
  <p:tag name="NUM" val="5"/>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4"/>
</p:tagLst>
</file>

<file path=ppt/tags/tag79.xml><?xml version="1.0" encoding="utf-8"?>
<p:tagLst xmlns:a="http://schemas.openxmlformats.org/drawingml/2006/main" xmlns:r="http://schemas.openxmlformats.org/officeDocument/2006/relationships" xmlns:p="http://schemas.openxmlformats.org/presentationml/2006/main">
  <p:tag name="NUM" val="6"/>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4"/>
</p:tagLst>
</file>

<file path=ppt/tags/tag84.xml><?xml version="1.0" encoding="utf-8"?>
<p:tagLst xmlns:a="http://schemas.openxmlformats.org/drawingml/2006/main" xmlns:r="http://schemas.openxmlformats.org/officeDocument/2006/relationships" xmlns:p="http://schemas.openxmlformats.org/presentationml/2006/main">
  <p:tag name="NUM" val="1"/>
</p:tagLst>
</file>

<file path=ppt/tags/tag85.xml><?xml version="1.0" encoding="utf-8"?>
<p:tagLst xmlns:a="http://schemas.openxmlformats.org/drawingml/2006/main" xmlns:r="http://schemas.openxmlformats.org/officeDocument/2006/relationships" xmlns:p="http://schemas.openxmlformats.org/presentationml/2006/main">
  <p:tag name="NUM" val="2"/>
</p:tagLst>
</file>

<file path=ppt/tags/tag86.xml><?xml version="1.0" encoding="utf-8"?>
<p:tagLst xmlns:a="http://schemas.openxmlformats.org/drawingml/2006/main" xmlns:r="http://schemas.openxmlformats.org/officeDocument/2006/relationships" xmlns:p="http://schemas.openxmlformats.org/presentationml/2006/main">
  <p:tag name="NUM" val="3"/>
</p:tagLst>
</file>

<file path=ppt/tags/tag87.xml><?xml version="1.0" encoding="utf-8"?>
<p:tagLst xmlns:a="http://schemas.openxmlformats.org/drawingml/2006/main" xmlns:r="http://schemas.openxmlformats.org/officeDocument/2006/relationships" xmlns:p="http://schemas.openxmlformats.org/presentationml/2006/main">
  <p:tag name="NUM" val="4"/>
</p:tagLst>
</file>

<file path=ppt/tags/tag88.xml><?xml version="1.0" encoding="utf-8"?>
<p:tagLst xmlns:a="http://schemas.openxmlformats.org/drawingml/2006/main" xmlns:r="http://schemas.openxmlformats.org/officeDocument/2006/relationships" xmlns:p="http://schemas.openxmlformats.org/presentationml/2006/main">
  <p:tag name="NUM" val="5"/>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NUM" val="4"/>
</p:tagLst>
</file>

<file path=ppt/tags/tag98.xml><?xml version="1.0" encoding="utf-8"?>
<p:tagLst xmlns:a="http://schemas.openxmlformats.org/drawingml/2006/main" xmlns:r="http://schemas.openxmlformats.org/officeDocument/2006/relationships" xmlns:p="http://schemas.openxmlformats.org/presentationml/2006/main">
  <p:tag name="NUM" val="5"/>
</p:tagLst>
</file>

<file path=ppt/tags/tag99.xml><?xml version="1.0" encoding="utf-8"?>
<p:tagLst xmlns:a="http://schemas.openxmlformats.org/drawingml/2006/main" xmlns:r="http://schemas.openxmlformats.org/officeDocument/2006/relationships" xmlns:p="http://schemas.openxmlformats.org/presentationml/2006/main">
  <p:tag name="NOPREFERENCE" val="False"/>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4"/>
</p:tagLst>
</file>

<file path=ppt/tags/tag104.xml><?xml version="1.0" encoding="utf-8"?>
<p:tagLst xmlns:a="http://schemas.openxmlformats.org/drawingml/2006/main" xmlns:r="http://schemas.openxmlformats.org/officeDocument/2006/relationships" xmlns:p="http://schemas.openxmlformats.org/presentationml/2006/main">
  <p:tag name="NOPREFERENCE" val="False"/>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5"/>
</p:tagLst>
</file>

<file path=ppt/tags/tag109.xml><?xml version="1.0" encoding="utf-8"?>
<p:tagLst xmlns:a="http://schemas.openxmlformats.org/drawingml/2006/main" xmlns:r="http://schemas.openxmlformats.org/officeDocument/2006/relationships" xmlns:p="http://schemas.openxmlformats.org/presentationml/2006/main">
  <p:tag name="NUM" val="7"/>
</p:tagLst>
</file>

<file path=ppt/tags/tag110.xml><?xml version="1.0" encoding="utf-8"?>
<p:tagLst xmlns:a="http://schemas.openxmlformats.org/drawingml/2006/main" xmlns:r="http://schemas.openxmlformats.org/officeDocument/2006/relationships" xmlns:p="http://schemas.openxmlformats.org/presentationml/2006/main">
  <p:tag name="NOPREFERENCE" val="False"/>
</p:tagLst>
</file>

<file path=ppt/tags/tag111.xml><?xml version="1.0" encoding="utf-8"?>
<p:tagLst xmlns:a="http://schemas.openxmlformats.org/drawingml/2006/main" xmlns:r="http://schemas.openxmlformats.org/officeDocument/2006/relationships" xmlns:p="http://schemas.openxmlformats.org/presentationml/2006/main">
  <p:tag name="NUM" val="1"/>
</p:tagLst>
</file>

<file path=ppt/tags/tag112.xml><?xml version="1.0" encoding="utf-8"?>
<p:tagLst xmlns:a="http://schemas.openxmlformats.org/drawingml/2006/main" xmlns:r="http://schemas.openxmlformats.org/officeDocument/2006/relationships" xmlns:p="http://schemas.openxmlformats.org/presentationml/2006/main">
  <p:tag name="NUM" val="2"/>
</p:tagLst>
</file>

<file path=ppt/tags/tag113.xml><?xml version="1.0" encoding="utf-8"?>
<p:tagLst xmlns:a="http://schemas.openxmlformats.org/drawingml/2006/main" xmlns:r="http://schemas.openxmlformats.org/officeDocument/2006/relationships" xmlns:p="http://schemas.openxmlformats.org/presentationml/2006/main">
  <p:tag name="NUM" val="3"/>
</p:tagLst>
</file>

<file path=ppt/tags/tag114.xml><?xml version="1.0" encoding="utf-8"?>
<p:tagLst xmlns:a="http://schemas.openxmlformats.org/drawingml/2006/main" xmlns:r="http://schemas.openxmlformats.org/officeDocument/2006/relationships" xmlns:p="http://schemas.openxmlformats.org/presentationml/2006/main">
  <p:tag name="NUM" val="5"/>
</p:tagLst>
</file>

<file path=ppt/tags/tag115.xml><?xml version="1.0" encoding="utf-8"?>
<p:tagLst xmlns:a="http://schemas.openxmlformats.org/drawingml/2006/main" xmlns:r="http://schemas.openxmlformats.org/officeDocument/2006/relationships" xmlns:p="http://schemas.openxmlformats.org/presentationml/2006/main">
  <p:tag name="NUM" val="7"/>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4"/>
</p:tagLst>
</file>

<file path=ppt/tags/tag118.xml><?xml version="1.0" encoding="utf-8"?>
<p:tagLst xmlns:a="http://schemas.openxmlformats.org/drawingml/2006/main" xmlns:r="http://schemas.openxmlformats.org/officeDocument/2006/relationships" xmlns:p="http://schemas.openxmlformats.org/presentationml/2006/main">
  <p:tag name="NUM" val="2"/>
</p:tagLst>
</file>

<file path=ppt/tags/tag119.xml><?xml version="1.0" encoding="utf-8"?>
<p:tagLst xmlns:a="http://schemas.openxmlformats.org/drawingml/2006/main" xmlns:r="http://schemas.openxmlformats.org/officeDocument/2006/relationships" xmlns:p="http://schemas.openxmlformats.org/presentationml/2006/main">
  <p:tag name="NUM" val="3"/>
</p:tagLst>
</file>

<file path=ppt/tags/tag120.xml><?xml version="1.0" encoding="utf-8"?>
<p:tagLst xmlns:a="http://schemas.openxmlformats.org/drawingml/2006/main" xmlns:r="http://schemas.openxmlformats.org/officeDocument/2006/relationships" xmlns:p="http://schemas.openxmlformats.org/presentationml/2006/main">
  <p:tag name="NUM" val="4"/>
</p:tagLst>
</file>

<file path=ppt/tags/tag121.xml><?xml version="1.0" encoding="utf-8"?>
<p:tagLst xmlns:a="http://schemas.openxmlformats.org/drawingml/2006/main" xmlns:r="http://schemas.openxmlformats.org/officeDocument/2006/relationships" xmlns:p="http://schemas.openxmlformats.org/presentationml/2006/main">
  <p:tag name="NUM" val="1"/>
</p:tagLst>
</file>

<file path=ppt/tags/tag122.xml><?xml version="1.0" encoding="utf-8"?>
<p:tagLst xmlns:a="http://schemas.openxmlformats.org/drawingml/2006/main" xmlns:r="http://schemas.openxmlformats.org/officeDocument/2006/relationships" xmlns:p="http://schemas.openxmlformats.org/presentationml/2006/main">
  <p:tag name="NUM" val="2"/>
</p:tagLst>
</file>

<file path=ppt/tags/tag123.xml><?xml version="1.0" encoding="utf-8"?>
<p:tagLst xmlns:a="http://schemas.openxmlformats.org/drawingml/2006/main" xmlns:r="http://schemas.openxmlformats.org/officeDocument/2006/relationships" xmlns:p="http://schemas.openxmlformats.org/presentationml/2006/main">
  <p:tag name="NUM" val="3"/>
</p:tagLst>
</file>

<file path=ppt/tags/tag124.xml><?xml version="1.0" encoding="utf-8"?>
<p:tagLst xmlns:a="http://schemas.openxmlformats.org/drawingml/2006/main" xmlns:r="http://schemas.openxmlformats.org/officeDocument/2006/relationships" xmlns:p="http://schemas.openxmlformats.org/presentationml/2006/main">
  <p:tag name="NUM" val="4"/>
</p:tagLst>
</file>

<file path=ppt/tags/tag125.xml><?xml version="1.0" encoding="utf-8"?>
<p:tagLst xmlns:a="http://schemas.openxmlformats.org/drawingml/2006/main" xmlns:r="http://schemas.openxmlformats.org/officeDocument/2006/relationships" xmlns:p="http://schemas.openxmlformats.org/presentationml/2006/main">
  <p:tag name="NUM" val="5"/>
</p:tagLst>
</file>

<file path=ppt/tags/tag126.xml><?xml version="1.0" encoding="utf-8"?>
<p:tagLst xmlns:a="http://schemas.openxmlformats.org/drawingml/2006/main" xmlns:r="http://schemas.openxmlformats.org/officeDocument/2006/relationships" xmlns:p="http://schemas.openxmlformats.org/presentationml/2006/main">
  <p:tag name="NUM" val="6"/>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4"/>
</p:tagLst>
</file>

<file path=ppt/tags/tag131.xml><?xml version="1.0" encoding="utf-8"?>
<p:tagLst xmlns:a="http://schemas.openxmlformats.org/drawingml/2006/main" xmlns:r="http://schemas.openxmlformats.org/officeDocument/2006/relationships" xmlns:p="http://schemas.openxmlformats.org/presentationml/2006/main">
  <p:tag name="NUM" val="5"/>
</p:tagLst>
</file>

<file path=ppt/tags/tag132.xml><?xml version="1.0" encoding="utf-8"?>
<p:tagLst xmlns:a="http://schemas.openxmlformats.org/drawingml/2006/main" xmlns:r="http://schemas.openxmlformats.org/officeDocument/2006/relationships" xmlns:p="http://schemas.openxmlformats.org/presentationml/2006/main">
  <p:tag name="NOPREFERENCE" val="False"/>
</p:tagLst>
</file>

<file path=ppt/tags/tag133.xml><?xml version="1.0" encoding="utf-8"?>
<p:tagLst xmlns:a="http://schemas.openxmlformats.org/drawingml/2006/main" xmlns:r="http://schemas.openxmlformats.org/officeDocument/2006/relationships" xmlns:p="http://schemas.openxmlformats.org/presentationml/2006/main">
  <p:tag name="NUM" val="1"/>
</p:tagLst>
</file>

<file path=ppt/tags/tag134.xml><?xml version="1.0" encoding="utf-8"?>
<p:tagLst xmlns:a="http://schemas.openxmlformats.org/drawingml/2006/main" xmlns:r="http://schemas.openxmlformats.org/officeDocument/2006/relationships" xmlns:p="http://schemas.openxmlformats.org/presentationml/2006/main">
  <p:tag name="NUM" val="2"/>
</p:tagLst>
</file>

<file path=ppt/tags/tag135.xml><?xml version="1.0" encoding="utf-8"?>
<p:tagLst xmlns:a="http://schemas.openxmlformats.org/drawingml/2006/main" xmlns:r="http://schemas.openxmlformats.org/officeDocument/2006/relationships" xmlns:p="http://schemas.openxmlformats.org/presentationml/2006/main">
  <p:tag name="NUM" val="3"/>
</p:tagLst>
</file>

<file path=ppt/tags/tag136.xml><?xml version="1.0" encoding="utf-8"?>
<p:tagLst xmlns:a="http://schemas.openxmlformats.org/drawingml/2006/main" xmlns:r="http://schemas.openxmlformats.org/officeDocument/2006/relationships" xmlns:p="http://schemas.openxmlformats.org/presentationml/2006/main">
  <p:tag name="NUM" val="4"/>
</p:tagLst>
</file>

<file path=ppt/tags/tag137.xml><?xml version="1.0" encoding="utf-8"?>
<p:tagLst xmlns:a="http://schemas.openxmlformats.org/drawingml/2006/main" xmlns:r="http://schemas.openxmlformats.org/officeDocument/2006/relationships" xmlns:p="http://schemas.openxmlformats.org/presentationml/2006/main">
  <p:tag name="NUM" val="1"/>
</p:tagLst>
</file>

<file path=ppt/tags/tag138.xml><?xml version="1.0" encoding="utf-8"?>
<p:tagLst xmlns:a="http://schemas.openxmlformats.org/drawingml/2006/main" xmlns:r="http://schemas.openxmlformats.org/officeDocument/2006/relationships" xmlns:p="http://schemas.openxmlformats.org/presentationml/2006/main">
  <p:tag name="NUM" val="2"/>
</p:tagLst>
</file>

<file path=ppt/tags/tag139.xml><?xml version="1.0" encoding="utf-8"?>
<p:tagLst xmlns:a="http://schemas.openxmlformats.org/drawingml/2006/main" xmlns:r="http://schemas.openxmlformats.org/officeDocument/2006/relationships" xmlns:p="http://schemas.openxmlformats.org/presentationml/2006/main">
  <p:tag name="NUM" val="3"/>
</p:tagLst>
</file>

<file path=ppt/tags/tag140.xml><?xml version="1.0" encoding="utf-8"?>
<p:tagLst xmlns:a="http://schemas.openxmlformats.org/drawingml/2006/main" xmlns:r="http://schemas.openxmlformats.org/officeDocument/2006/relationships" xmlns:p="http://schemas.openxmlformats.org/presentationml/2006/main">
  <p:tag name="NUM" val="1"/>
</p:tagLst>
</file>

<file path=ppt/tags/tag141.xml><?xml version="1.0" encoding="utf-8"?>
<p:tagLst xmlns:a="http://schemas.openxmlformats.org/drawingml/2006/main" xmlns:r="http://schemas.openxmlformats.org/officeDocument/2006/relationships" xmlns:p="http://schemas.openxmlformats.org/presentationml/2006/main">
  <p:tag name="NUM" val="2"/>
</p:tagLst>
</file>

<file path=ppt/tags/tag142.xml><?xml version="1.0" encoding="utf-8"?>
<p:tagLst xmlns:a="http://schemas.openxmlformats.org/drawingml/2006/main" xmlns:r="http://schemas.openxmlformats.org/officeDocument/2006/relationships" xmlns:p="http://schemas.openxmlformats.org/presentationml/2006/main">
  <p:tag name="NUM" val="3"/>
</p:tagLst>
</file>

<file path=ppt/tags/tag143.xml><?xml version="1.0" encoding="utf-8"?>
<p:tagLst xmlns:a="http://schemas.openxmlformats.org/drawingml/2006/main" xmlns:r="http://schemas.openxmlformats.org/officeDocument/2006/relationships" xmlns:p="http://schemas.openxmlformats.org/presentationml/2006/main">
  <p:tag name="NUM" val="4"/>
</p:tagLst>
</file>

<file path=ppt/tags/tag144.xml><?xml version="1.0" encoding="utf-8"?>
<p:tagLst xmlns:a="http://schemas.openxmlformats.org/drawingml/2006/main" xmlns:r="http://schemas.openxmlformats.org/officeDocument/2006/relationships" xmlns:p="http://schemas.openxmlformats.org/presentationml/2006/main">
  <p:tag name="NOPREFERENCE" val="False"/>
</p:tagLst>
</file>

<file path=ppt/tags/tag145.xml><?xml version="1.0" encoding="utf-8"?>
<p:tagLst xmlns:a="http://schemas.openxmlformats.org/drawingml/2006/main" xmlns:r="http://schemas.openxmlformats.org/officeDocument/2006/relationships" xmlns:p="http://schemas.openxmlformats.org/presentationml/2006/main">
  <p:tag name="NUM" val="1"/>
</p:tagLst>
</file>

<file path=ppt/tags/tag146.xml><?xml version="1.0" encoding="utf-8"?>
<p:tagLst xmlns:a="http://schemas.openxmlformats.org/drawingml/2006/main" xmlns:r="http://schemas.openxmlformats.org/officeDocument/2006/relationships" xmlns:p="http://schemas.openxmlformats.org/presentationml/2006/main">
  <p:tag name="NUM" val="2"/>
</p:tagLst>
</file>

<file path=ppt/tags/tag147.xml><?xml version="1.0" encoding="utf-8"?>
<p:tagLst xmlns:a="http://schemas.openxmlformats.org/drawingml/2006/main" xmlns:r="http://schemas.openxmlformats.org/officeDocument/2006/relationships" xmlns:p="http://schemas.openxmlformats.org/presentationml/2006/main">
  <p:tag name="NUM" val="3"/>
</p:tagLst>
</file>

<file path=ppt/tags/tag148.xml><?xml version="1.0" encoding="utf-8"?>
<p:tagLst xmlns:a="http://schemas.openxmlformats.org/drawingml/2006/main" xmlns:r="http://schemas.openxmlformats.org/officeDocument/2006/relationships" xmlns:p="http://schemas.openxmlformats.org/presentationml/2006/main">
  <p:tag name="NUM" val="4"/>
</p:tagLst>
</file>

<file path=ppt/tags/tag149.xml><?xml version="1.0" encoding="utf-8"?>
<p:tagLst xmlns:a="http://schemas.openxmlformats.org/drawingml/2006/main" xmlns:r="http://schemas.openxmlformats.org/officeDocument/2006/relationships" xmlns:p="http://schemas.openxmlformats.org/presentationml/2006/main">
  <p:tag name="NUM" val="1"/>
</p:tagLst>
</file>

<file path=ppt/tags/tag150.xml><?xml version="1.0" encoding="utf-8"?>
<p:tagLst xmlns:a="http://schemas.openxmlformats.org/drawingml/2006/main" xmlns:r="http://schemas.openxmlformats.org/officeDocument/2006/relationships" xmlns:p="http://schemas.openxmlformats.org/presentationml/2006/main">
  <p:tag name="NUM" val="2"/>
</p:tagLst>
</file>

<file path=ppt/tags/tag151.xml><?xml version="1.0" encoding="utf-8"?>
<p:tagLst xmlns:a="http://schemas.openxmlformats.org/drawingml/2006/main" xmlns:r="http://schemas.openxmlformats.org/officeDocument/2006/relationships" xmlns:p="http://schemas.openxmlformats.org/presentationml/2006/main">
  <p:tag name="NUM" val="3"/>
</p:tagLst>
</file>

<file path=ppt/tags/tag152.xml><?xml version="1.0" encoding="utf-8"?>
<p:tagLst xmlns:a="http://schemas.openxmlformats.org/drawingml/2006/main" xmlns:r="http://schemas.openxmlformats.org/officeDocument/2006/relationships" xmlns:p="http://schemas.openxmlformats.org/presentationml/2006/main">
  <p:tag name="NUM" val="4"/>
</p:tagLst>
</file>

<file path=ppt/tags/tag153.xml><?xml version="1.0" encoding="utf-8"?>
<p:tagLst xmlns:a="http://schemas.openxmlformats.org/drawingml/2006/main" xmlns:r="http://schemas.openxmlformats.org/officeDocument/2006/relationships" xmlns:p="http://schemas.openxmlformats.org/presentationml/2006/main">
  <p:tag name="NUM" val="5"/>
</p:tagLst>
</file>

<file path=ppt/tags/tag154.xml><?xml version="1.0" encoding="utf-8"?>
<p:tagLst xmlns:a="http://schemas.openxmlformats.org/drawingml/2006/main" xmlns:r="http://schemas.openxmlformats.org/officeDocument/2006/relationships" xmlns:p="http://schemas.openxmlformats.org/presentationml/2006/main">
  <p:tag name="NUM" val="6"/>
</p:tagLst>
</file>

<file path=ppt/tags/tag155.xml><?xml version="1.0" encoding="utf-8"?>
<p:tagLst xmlns:a="http://schemas.openxmlformats.org/drawingml/2006/main" xmlns:r="http://schemas.openxmlformats.org/officeDocument/2006/relationships" xmlns:p="http://schemas.openxmlformats.org/presentationml/2006/main">
  <p:tag name="NUM" val="7"/>
</p:tagLst>
</file>

<file path=ppt/tags/tag156.xml><?xml version="1.0" encoding="utf-8"?>
<p:tagLst xmlns:a="http://schemas.openxmlformats.org/drawingml/2006/main" xmlns:r="http://schemas.openxmlformats.org/officeDocument/2006/relationships" xmlns:p="http://schemas.openxmlformats.org/presentationml/2006/main">
  <p:tag name="NUM" val="8"/>
</p:tagLst>
</file>

<file path=ppt/tags/tag157.xml><?xml version="1.0" encoding="utf-8"?>
<p:tagLst xmlns:a="http://schemas.openxmlformats.org/drawingml/2006/main" xmlns:r="http://schemas.openxmlformats.org/officeDocument/2006/relationships" xmlns:p="http://schemas.openxmlformats.org/presentationml/2006/main">
  <p:tag name="NUM" val="9"/>
</p:tagLst>
</file>

<file path=ppt/tags/tag158.xml><?xml version="1.0" encoding="utf-8"?>
<p:tagLst xmlns:a="http://schemas.openxmlformats.org/drawingml/2006/main" xmlns:r="http://schemas.openxmlformats.org/officeDocument/2006/relationships" xmlns:p="http://schemas.openxmlformats.org/presentationml/2006/main">
  <p:tag name="NUM" val="10"/>
</p:tagLst>
</file>

<file path=ppt/tags/tag159.xml><?xml version="1.0" encoding="utf-8"?>
<p:tagLst xmlns:a="http://schemas.openxmlformats.org/drawingml/2006/main" xmlns:r="http://schemas.openxmlformats.org/officeDocument/2006/relationships" xmlns:p="http://schemas.openxmlformats.org/presentationml/2006/main">
  <p:tag name="NUM" val="1"/>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3"/>
</p:tagLst>
</file>

<file path=ppt/tags/tag162.xml><?xml version="1.0" encoding="utf-8"?>
<p:tagLst xmlns:a="http://schemas.openxmlformats.org/drawingml/2006/main" xmlns:r="http://schemas.openxmlformats.org/officeDocument/2006/relationships" xmlns:p="http://schemas.openxmlformats.org/presentationml/2006/main">
  <p:tag name="NUM" val="4"/>
</p:tagLst>
</file>

<file path=ppt/tags/tag163.xml><?xml version="1.0" encoding="utf-8"?>
<p:tagLst xmlns:a="http://schemas.openxmlformats.org/drawingml/2006/main" xmlns:r="http://schemas.openxmlformats.org/officeDocument/2006/relationships" xmlns:p="http://schemas.openxmlformats.org/presentationml/2006/main">
  <p:tag name="NUM" val="5"/>
</p:tagLst>
</file>

<file path=ppt/tags/tag164.xml><?xml version="1.0" encoding="utf-8"?>
<p:tagLst xmlns:a="http://schemas.openxmlformats.org/drawingml/2006/main" xmlns:r="http://schemas.openxmlformats.org/officeDocument/2006/relationships" xmlns:p="http://schemas.openxmlformats.org/presentationml/2006/main">
  <p:tag name="NOPREFERENCE" val="False"/>
</p:tagLst>
</file>

<file path=ppt/tags/tag165.xml><?xml version="1.0" encoding="utf-8"?>
<p:tagLst xmlns:a="http://schemas.openxmlformats.org/drawingml/2006/main" xmlns:r="http://schemas.openxmlformats.org/officeDocument/2006/relationships" xmlns:p="http://schemas.openxmlformats.org/presentationml/2006/main">
  <p:tag name="NUM" val="1"/>
</p:tagLst>
</file>

<file path=ppt/tags/tag166.xml><?xml version="1.0" encoding="utf-8"?>
<p:tagLst xmlns:a="http://schemas.openxmlformats.org/drawingml/2006/main" xmlns:r="http://schemas.openxmlformats.org/officeDocument/2006/relationships" xmlns:p="http://schemas.openxmlformats.org/presentationml/2006/main">
  <p:tag name="NUM" val="2"/>
</p:tagLst>
</file>

<file path=ppt/tags/tag167.xml><?xml version="1.0" encoding="utf-8"?>
<p:tagLst xmlns:a="http://schemas.openxmlformats.org/drawingml/2006/main" xmlns:r="http://schemas.openxmlformats.org/officeDocument/2006/relationships" xmlns:p="http://schemas.openxmlformats.org/presentationml/2006/main">
  <p:tag name="NUM" val="3"/>
</p:tagLst>
</file>

<file path=ppt/tags/tag168.xml><?xml version="1.0" encoding="utf-8"?>
<p:tagLst xmlns:a="http://schemas.openxmlformats.org/drawingml/2006/main" xmlns:r="http://schemas.openxmlformats.org/officeDocument/2006/relationships" xmlns:p="http://schemas.openxmlformats.org/presentationml/2006/main">
  <p:tag name="NUM" val="4"/>
</p:tagLst>
</file>

<file path=ppt/tags/tag169.xml><?xml version="1.0" encoding="utf-8"?>
<p:tagLst xmlns:a="http://schemas.openxmlformats.org/drawingml/2006/main" xmlns:r="http://schemas.openxmlformats.org/officeDocument/2006/relationships" xmlns:p="http://schemas.openxmlformats.org/presentationml/2006/main">
  <p:tag name="NUM" val="5"/>
</p:tagLst>
</file>

<file path=ppt/tags/tag170.xml><?xml version="1.0" encoding="utf-8"?>
<p:tagLst xmlns:a="http://schemas.openxmlformats.org/drawingml/2006/main" xmlns:r="http://schemas.openxmlformats.org/officeDocument/2006/relationships" xmlns:p="http://schemas.openxmlformats.org/presentationml/2006/main">
  <p:tag name="NOPREFERENCE" val="False"/>
</p:tagLst>
</file>

<file path=ppt/tags/tag171.xml><?xml version="1.0" encoding="utf-8"?>
<p:tagLst xmlns:a="http://schemas.openxmlformats.org/drawingml/2006/main" xmlns:r="http://schemas.openxmlformats.org/officeDocument/2006/relationships" xmlns:p="http://schemas.openxmlformats.org/presentationml/2006/main">
  <p:tag name="NUM" val="1"/>
</p:tagLst>
</file>

<file path=ppt/tags/tag172.xml><?xml version="1.0" encoding="utf-8"?>
<p:tagLst xmlns:a="http://schemas.openxmlformats.org/drawingml/2006/main" xmlns:r="http://schemas.openxmlformats.org/officeDocument/2006/relationships" xmlns:p="http://schemas.openxmlformats.org/presentationml/2006/main">
  <p:tag name="NUM" val="2"/>
</p:tagLst>
</file>

<file path=ppt/tags/tag173.xml><?xml version="1.0" encoding="utf-8"?>
<p:tagLst xmlns:a="http://schemas.openxmlformats.org/drawingml/2006/main" xmlns:r="http://schemas.openxmlformats.org/officeDocument/2006/relationships" xmlns:p="http://schemas.openxmlformats.org/presentationml/2006/main">
  <p:tag name="NUM" val="3"/>
</p:tagLst>
</file>

<file path=ppt/tags/tag174.xml><?xml version="1.0" encoding="utf-8"?>
<p:tagLst xmlns:a="http://schemas.openxmlformats.org/drawingml/2006/main" xmlns:r="http://schemas.openxmlformats.org/officeDocument/2006/relationships" xmlns:p="http://schemas.openxmlformats.org/presentationml/2006/main">
  <p:tag name="NUM" val="4"/>
</p:tagLst>
</file>

<file path=ppt/tags/tag175.xml><?xml version="1.0" encoding="utf-8"?>
<p:tagLst xmlns:a="http://schemas.openxmlformats.org/drawingml/2006/main" xmlns:r="http://schemas.openxmlformats.org/officeDocument/2006/relationships" xmlns:p="http://schemas.openxmlformats.org/presentationml/2006/main">
  <p:tag name="NOPREFERENCE" val="False"/>
</p:tagLst>
</file>

<file path=ppt/tags/tag176.xml><?xml version="1.0" encoding="utf-8"?>
<p:tagLst xmlns:a="http://schemas.openxmlformats.org/drawingml/2006/main" xmlns:r="http://schemas.openxmlformats.org/officeDocument/2006/relationships" xmlns:p="http://schemas.openxmlformats.org/presentationml/2006/main">
  <p:tag name="NUM" val="1"/>
</p:tagLst>
</file>

<file path=ppt/tags/tag177.xml><?xml version="1.0" encoding="utf-8"?>
<p:tagLst xmlns:a="http://schemas.openxmlformats.org/drawingml/2006/main" xmlns:r="http://schemas.openxmlformats.org/officeDocument/2006/relationships" xmlns:p="http://schemas.openxmlformats.org/presentationml/2006/main">
  <p:tag name="NUM" val="2"/>
</p:tagLst>
</file>

<file path=ppt/tags/tag178.xml><?xml version="1.0" encoding="utf-8"?>
<p:tagLst xmlns:a="http://schemas.openxmlformats.org/drawingml/2006/main" xmlns:r="http://schemas.openxmlformats.org/officeDocument/2006/relationships" xmlns:p="http://schemas.openxmlformats.org/presentationml/2006/main">
  <p:tag name="NUM" val="3"/>
</p:tagLst>
</file>

<file path=ppt/tags/tag179.xml><?xml version="1.0" encoding="utf-8"?>
<p:tagLst xmlns:a="http://schemas.openxmlformats.org/drawingml/2006/main" xmlns:r="http://schemas.openxmlformats.org/officeDocument/2006/relationships" xmlns:p="http://schemas.openxmlformats.org/presentationml/2006/main">
  <p:tag name="NUM" val="4"/>
</p:tagLst>
</file>

<file path=ppt/tags/tag180.xml><?xml version="1.0" encoding="utf-8"?>
<p:tagLst xmlns:a="http://schemas.openxmlformats.org/drawingml/2006/main" xmlns:r="http://schemas.openxmlformats.org/officeDocument/2006/relationships" xmlns:p="http://schemas.openxmlformats.org/presentationml/2006/main">
  <p:tag name="NUM" val="5"/>
</p:tagLst>
</file>

<file path=ppt/tags/tag181.xml><?xml version="1.0" encoding="utf-8"?>
<p:tagLst xmlns:a="http://schemas.openxmlformats.org/drawingml/2006/main" xmlns:r="http://schemas.openxmlformats.org/officeDocument/2006/relationships" xmlns:p="http://schemas.openxmlformats.org/presentationml/2006/main">
  <p:tag name="NUM" val="6"/>
</p:tagLst>
</file>

<file path=ppt/tags/tag182.xml><?xml version="1.0" encoding="utf-8"?>
<p:tagLst xmlns:a="http://schemas.openxmlformats.org/drawingml/2006/main" xmlns:r="http://schemas.openxmlformats.org/officeDocument/2006/relationships" xmlns:p="http://schemas.openxmlformats.org/presentationml/2006/main">
  <p:tag name="NUM" val="7"/>
</p:tagLst>
</file>

<file path=ppt/tags/tag183.xml><?xml version="1.0" encoding="utf-8"?>
<p:tagLst xmlns:a="http://schemas.openxmlformats.org/drawingml/2006/main" xmlns:r="http://schemas.openxmlformats.org/officeDocument/2006/relationships" xmlns:p="http://schemas.openxmlformats.org/presentationml/2006/main">
  <p:tag name="NUM" val="8"/>
</p:tagLst>
</file>

<file path=ppt/tags/tag184.xml><?xml version="1.0" encoding="utf-8"?>
<p:tagLst xmlns:a="http://schemas.openxmlformats.org/drawingml/2006/main" xmlns:r="http://schemas.openxmlformats.org/officeDocument/2006/relationships" xmlns:p="http://schemas.openxmlformats.org/presentationml/2006/main">
  <p:tag name="NOPREFERENCE" val="False"/>
</p:tagLst>
</file>

<file path=ppt/tags/tag185.xml><?xml version="1.0" encoding="utf-8"?>
<p:tagLst xmlns:a="http://schemas.openxmlformats.org/drawingml/2006/main" xmlns:r="http://schemas.openxmlformats.org/officeDocument/2006/relationships" xmlns:p="http://schemas.openxmlformats.org/presentationml/2006/main">
  <p:tag name="NUM" val="1"/>
</p:tagLst>
</file>

<file path=ppt/tags/tag186.xml><?xml version="1.0" encoding="utf-8"?>
<p:tagLst xmlns:a="http://schemas.openxmlformats.org/drawingml/2006/main" xmlns:r="http://schemas.openxmlformats.org/officeDocument/2006/relationships" xmlns:p="http://schemas.openxmlformats.org/presentationml/2006/main">
  <p:tag name="NUM" val="2"/>
</p:tagLst>
</file>

<file path=ppt/tags/tag187.xml><?xml version="1.0" encoding="utf-8"?>
<p:tagLst xmlns:a="http://schemas.openxmlformats.org/drawingml/2006/main" xmlns:r="http://schemas.openxmlformats.org/officeDocument/2006/relationships" xmlns:p="http://schemas.openxmlformats.org/presentationml/2006/main">
  <p:tag name="NUM" val="3"/>
</p:tagLst>
</file>

<file path=ppt/tags/tag188.xml><?xml version="1.0" encoding="utf-8"?>
<p:tagLst xmlns:a="http://schemas.openxmlformats.org/drawingml/2006/main" xmlns:r="http://schemas.openxmlformats.org/officeDocument/2006/relationships" xmlns:p="http://schemas.openxmlformats.org/presentationml/2006/main">
  <p:tag name="NUM" val="4"/>
</p:tagLst>
</file>

<file path=ppt/tags/tag189.xml><?xml version="1.0" encoding="utf-8"?>
<p:tagLst xmlns:a="http://schemas.openxmlformats.org/drawingml/2006/main" xmlns:r="http://schemas.openxmlformats.org/officeDocument/2006/relationships" xmlns:p="http://schemas.openxmlformats.org/presentationml/2006/main">
  <p:tag name="NUM" val="1"/>
</p:tagLst>
</file>

<file path=ppt/tags/tag190.xml><?xml version="1.0" encoding="utf-8"?>
<p:tagLst xmlns:a="http://schemas.openxmlformats.org/drawingml/2006/main" xmlns:r="http://schemas.openxmlformats.org/officeDocument/2006/relationships" xmlns:p="http://schemas.openxmlformats.org/presentationml/2006/main">
  <p:tag name="NUM" val="2"/>
</p:tagLst>
</file>

<file path=ppt/tags/tag191.xml><?xml version="1.0" encoding="utf-8"?>
<p:tagLst xmlns:a="http://schemas.openxmlformats.org/drawingml/2006/main" xmlns:r="http://schemas.openxmlformats.org/officeDocument/2006/relationships" xmlns:p="http://schemas.openxmlformats.org/presentationml/2006/main">
  <p:tag name="NUM" val="3"/>
</p:tagLst>
</file>

<file path=ppt/tags/tag192.xml><?xml version="1.0" encoding="utf-8"?>
<p:tagLst xmlns:a="http://schemas.openxmlformats.org/drawingml/2006/main" xmlns:r="http://schemas.openxmlformats.org/officeDocument/2006/relationships" xmlns:p="http://schemas.openxmlformats.org/presentationml/2006/main">
  <p:tag name="NUM" val="4"/>
</p:tagLst>
</file>

<file path=ppt/tags/tag193.xml><?xml version="1.0" encoding="utf-8"?>
<p:tagLst xmlns:a="http://schemas.openxmlformats.org/drawingml/2006/main" xmlns:r="http://schemas.openxmlformats.org/officeDocument/2006/relationships" xmlns:p="http://schemas.openxmlformats.org/presentationml/2006/main">
  <p:tag name="NUM" val="5"/>
</p:tagLst>
</file>

<file path=ppt/tags/tag194.xml><?xml version="1.0" encoding="utf-8"?>
<p:tagLst xmlns:a="http://schemas.openxmlformats.org/drawingml/2006/main" xmlns:r="http://schemas.openxmlformats.org/officeDocument/2006/relationships" xmlns:p="http://schemas.openxmlformats.org/presentationml/2006/main">
  <p:tag name="NUM" val="1"/>
</p:tagLst>
</file>

<file path=ppt/tags/tag195.xml><?xml version="1.0" encoding="utf-8"?>
<p:tagLst xmlns:a="http://schemas.openxmlformats.org/drawingml/2006/main" xmlns:r="http://schemas.openxmlformats.org/officeDocument/2006/relationships" xmlns:p="http://schemas.openxmlformats.org/presentationml/2006/main">
  <p:tag name="NUM" val="2"/>
</p:tagLst>
</file>

<file path=ppt/tags/tag196.xml><?xml version="1.0" encoding="utf-8"?>
<p:tagLst xmlns:a="http://schemas.openxmlformats.org/drawingml/2006/main" xmlns:r="http://schemas.openxmlformats.org/officeDocument/2006/relationships" xmlns:p="http://schemas.openxmlformats.org/presentationml/2006/main">
  <p:tag name="NUM" val="3"/>
</p:tagLst>
</file>

<file path=ppt/tags/tag197.xml><?xml version="1.0" encoding="utf-8"?>
<p:tagLst xmlns:a="http://schemas.openxmlformats.org/drawingml/2006/main" xmlns:r="http://schemas.openxmlformats.org/officeDocument/2006/relationships" xmlns:p="http://schemas.openxmlformats.org/presentationml/2006/main">
  <p:tag name="NUM" val="4"/>
</p:tagLst>
</file>

<file path=ppt/tags/tag198.xml><?xml version="1.0" encoding="utf-8"?>
<p:tagLst xmlns:a="http://schemas.openxmlformats.org/drawingml/2006/main" xmlns:r="http://schemas.openxmlformats.org/officeDocument/2006/relationships" xmlns:p="http://schemas.openxmlformats.org/presentationml/2006/main">
  <p:tag name="NUM" val="5"/>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2"/>
</p:tagLst>
</file>

<file path=ppt/tags/tag201.xml><?xml version="1.0" encoding="utf-8"?>
<p:tagLst xmlns:a="http://schemas.openxmlformats.org/drawingml/2006/main" xmlns:r="http://schemas.openxmlformats.org/officeDocument/2006/relationships" xmlns:p="http://schemas.openxmlformats.org/presentationml/2006/main">
  <p:tag name="NUM" val="3"/>
</p:tagLst>
</file>

<file path=ppt/tags/tag202.xml><?xml version="1.0" encoding="utf-8"?>
<p:tagLst xmlns:a="http://schemas.openxmlformats.org/drawingml/2006/main" xmlns:r="http://schemas.openxmlformats.org/officeDocument/2006/relationships" xmlns:p="http://schemas.openxmlformats.org/presentationml/2006/main">
  <p:tag name="NUM" val="4"/>
</p:tagLst>
</file>

<file path=ppt/tags/tag203.xml><?xml version="1.0" encoding="utf-8"?>
<p:tagLst xmlns:a="http://schemas.openxmlformats.org/drawingml/2006/main" xmlns:r="http://schemas.openxmlformats.org/officeDocument/2006/relationships" xmlns:p="http://schemas.openxmlformats.org/presentationml/2006/main">
  <p:tag name="NUM" val="1"/>
</p:tagLst>
</file>

<file path=ppt/tags/tag204.xml><?xml version="1.0" encoding="utf-8"?>
<p:tagLst xmlns:a="http://schemas.openxmlformats.org/drawingml/2006/main" xmlns:r="http://schemas.openxmlformats.org/officeDocument/2006/relationships" xmlns:p="http://schemas.openxmlformats.org/presentationml/2006/main">
  <p:tag name="NUM" val="2"/>
</p:tagLst>
</file>

<file path=ppt/tags/tag205.xml><?xml version="1.0" encoding="utf-8"?>
<p:tagLst xmlns:a="http://schemas.openxmlformats.org/drawingml/2006/main" xmlns:r="http://schemas.openxmlformats.org/officeDocument/2006/relationships" xmlns:p="http://schemas.openxmlformats.org/presentationml/2006/main">
  <p:tag name="NUM" val="3"/>
</p:tagLst>
</file>

<file path=ppt/tags/tag206.xml><?xml version="1.0" encoding="utf-8"?>
<p:tagLst xmlns:a="http://schemas.openxmlformats.org/drawingml/2006/main" xmlns:r="http://schemas.openxmlformats.org/officeDocument/2006/relationships" xmlns:p="http://schemas.openxmlformats.org/presentationml/2006/main">
  <p:tag name="NUM" val="4"/>
</p:tagLst>
</file>

<file path=ppt/tags/tag207.xml><?xml version="1.0" encoding="utf-8"?>
<p:tagLst xmlns:a="http://schemas.openxmlformats.org/drawingml/2006/main" xmlns:r="http://schemas.openxmlformats.org/officeDocument/2006/relationships" xmlns:p="http://schemas.openxmlformats.org/presentationml/2006/main">
  <p:tag name="NUM" val="5"/>
</p:tagLst>
</file>

<file path=ppt/tags/tag208.xml><?xml version="1.0" encoding="utf-8"?>
<p:tagLst xmlns:a="http://schemas.openxmlformats.org/drawingml/2006/main" xmlns:r="http://schemas.openxmlformats.org/officeDocument/2006/relationships" xmlns:p="http://schemas.openxmlformats.org/presentationml/2006/main">
  <p:tag name="NUM" val="6"/>
</p:tagLst>
</file>

<file path=ppt/tags/tag209.xml><?xml version="1.0" encoding="utf-8"?>
<p:tagLst xmlns:a="http://schemas.openxmlformats.org/drawingml/2006/main" xmlns:r="http://schemas.openxmlformats.org/officeDocument/2006/relationships" xmlns:p="http://schemas.openxmlformats.org/presentationml/2006/main">
  <p:tag name="NUM" val="1"/>
</p:tagLst>
</file>

<file path=ppt/tags/tag210.xml><?xml version="1.0" encoding="utf-8"?>
<p:tagLst xmlns:a="http://schemas.openxmlformats.org/drawingml/2006/main" xmlns:r="http://schemas.openxmlformats.org/officeDocument/2006/relationships" xmlns:p="http://schemas.openxmlformats.org/presentationml/2006/main">
  <p:tag name="NUM" val="2"/>
</p:tagLst>
</file>

<file path=ppt/tags/tag211.xml><?xml version="1.0" encoding="utf-8"?>
<p:tagLst xmlns:a="http://schemas.openxmlformats.org/drawingml/2006/main" xmlns:r="http://schemas.openxmlformats.org/officeDocument/2006/relationships" xmlns:p="http://schemas.openxmlformats.org/presentationml/2006/main">
  <p:tag name="NUM" val="3"/>
</p:tagLst>
</file>

<file path=ppt/tags/tag212.xml><?xml version="1.0" encoding="utf-8"?>
<p:tagLst xmlns:a="http://schemas.openxmlformats.org/drawingml/2006/main" xmlns:r="http://schemas.openxmlformats.org/officeDocument/2006/relationships" xmlns:p="http://schemas.openxmlformats.org/presentationml/2006/main">
  <p:tag name="NUM" val="4"/>
</p:tagLst>
</file>

<file path=ppt/tags/tag213.xml><?xml version="1.0" encoding="utf-8"?>
<p:tagLst xmlns:a="http://schemas.openxmlformats.org/drawingml/2006/main" xmlns:r="http://schemas.openxmlformats.org/officeDocument/2006/relationships" xmlns:p="http://schemas.openxmlformats.org/presentationml/2006/main">
  <p:tag name="NOPREFERENCE" val="False"/>
</p:tagLst>
</file>

<file path=ppt/tags/tag214.xml><?xml version="1.0" encoding="utf-8"?>
<p:tagLst xmlns:a="http://schemas.openxmlformats.org/drawingml/2006/main" xmlns:r="http://schemas.openxmlformats.org/officeDocument/2006/relationships" xmlns:p="http://schemas.openxmlformats.org/presentationml/2006/main">
  <p:tag name="NUM" val="1"/>
</p:tagLst>
</file>

<file path=ppt/tags/tag215.xml><?xml version="1.0" encoding="utf-8"?>
<p:tagLst xmlns:a="http://schemas.openxmlformats.org/drawingml/2006/main" xmlns:r="http://schemas.openxmlformats.org/officeDocument/2006/relationships" xmlns:p="http://schemas.openxmlformats.org/presentationml/2006/main">
  <p:tag name="NUM" val="2"/>
</p:tagLst>
</file>

<file path=ppt/tags/tag216.xml><?xml version="1.0" encoding="utf-8"?>
<p:tagLst xmlns:a="http://schemas.openxmlformats.org/drawingml/2006/main" xmlns:r="http://schemas.openxmlformats.org/officeDocument/2006/relationships" xmlns:p="http://schemas.openxmlformats.org/presentationml/2006/main">
  <p:tag name="NUM" val="3"/>
</p:tagLst>
</file>

<file path=ppt/tags/tag217.xml><?xml version="1.0" encoding="utf-8"?>
<p:tagLst xmlns:a="http://schemas.openxmlformats.org/drawingml/2006/main" xmlns:r="http://schemas.openxmlformats.org/officeDocument/2006/relationships" xmlns:p="http://schemas.openxmlformats.org/presentationml/2006/main">
  <p:tag name="NUM" val="4"/>
</p:tagLst>
</file>

<file path=ppt/tags/tag218.xml><?xml version="1.0" encoding="utf-8"?>
<p:tagLst xmlns:a="http://schemas.openxmlformats.org/drawingml/2006/main" xmlns:r="http://schemas.openxmlformats.org/officeDocument/2006/relationships" xmlns:p="http://schemas.openxmlformats.org/presentationml/2006/main">
  <p:tag name="NOPREFERENCE" val="False"/>
</p:tagLst>
</file>

<file path=ppt/tags/tag219.xml><?xml version="1.0" encoding="utf-8"?>
<p:tagLst xmlns:a="http://schemas.openxmlformats.org/drawingml/2006/main" xmlns:r="http://schemas.openxmlformats.org/officeDocument/2006/relationships" xmlns:p="http://schemas.openxmlformats.org/presentationml/2006/main">
  <p:tag name="NUM" val="1"/>
</p:tagLst>
</file>

<file path=ppt/tags/tag220.xml><?xml version="1.0" encoding="utf-8"?>
<p:tagLst xmlns:a="http://schemas.openxmlformats.org/drawingml/2006/main" xmlns:r="http://schemas.openxmlformats.org/officeDocument/2006/relationships" xmlns:p="http://schemas.openxmlformats.org/presentationml/2006/main">
  <p:tag name="NUM" val="2"/>
</p:tagLst>
</file>

<file path=ppt/tags/tag221.xml><?xml version="1.0" encoding="utf-8"?>
<p:tagLst xmlns:a="http://schemas.openxmlformats.org/drawingml/2006/main" xmlns:r="http://schemas.openxmlformats.org/officeDocument/2006/relationships" xmlns:p="http://schemas.openxmlformats.org/presentationml/2006/main">
  <p:tag name="NUM" val="3"/>
</p:tagLst>
</file>

<file path=ppt/tags/tag222.xml><?xml version="1.0" encoding="utf-8"?>
<p:tagLst xmlns:a="http://schemas.openxmlformats.org/drawingml/2006/main" xmlns:r="http://schemas.openxmlformats.org/officeDocument/2006/relationships" xmlns:p="http://schemas.openxmlformats.org/presentationml/2006/main">
  <p:tag name="NUM" val="4"/>
</p:tagLst>
</file>

<file path=ppt/tags/tag223.xml><?xml version="1.0" encoding="utf-8"?>
<p:tagLst xmlns:a="http://schemas.openxmlformats.org/drawingml/2006/main" xmlns:r="http://schemas.openxmlformats.org/officeDocument/2006/relationships" xmlns:p="http://schemas.openxmlformats.org/presentationml/2006/main">
  <p:tag name="NUM" val="1"/>
</p:tagLst>
</file>

<file path=ppt/tags/tag224.xml><?xml version="1.0" encoding="utf-8"?>
<p:tagLst xmlns:a="http://schemas.openxmlformats.org/drawingml/2006/main" xmlns:r="http://schemas.openxmlformats.org/officeDocument/2006/relationships" xmlns:p="http://schemas.openxmlformats.org/presentationml/2006/main">
  <p:tag name="NUM" val="2"/>
</p:tagLst>
</file>

<file path=ppt/tags/tag225.xml><?xml version="1.0" encoding="utf-8"?>
<p:tagLst xmlns:a="http://schemas.openxmlformats.org/drawingml/2006/main" xmlns:r="http://schemas.openxmlformats.org/officeDocument/2006/relationships" xmlns:p="http://schemas.openxmlformats.org/presentationml/2006/main">
  <p:tag name="NUM" val="3"/>
</p:tagLst>
</file>

<file path=ppt/tags/tag226.xml><?xml version="1.0" encoding="utf-8"?>
<p:tagLst xmlns:a="http://schemas.openxmlformats.org/drawingml/2006/main" xmlns:r="http://schemas.openxmlformats.org/officeDocument/2006/relationships" xmlns:p="http://schemas.openxmlformats.org/presentationml/2006/main">
  <p:tag name="NUM" val="4"/>
</p:tagLst>
</file>

<file path=ppt/tags/tag227.xml><?xml version="1.0" encoding="utf-8"?>
<p:tagLst xmlns:a="http://schemas.openxmlformats.org/drawingml/2006/main" xmlns:r="http://schemas.openxmlformats.org/officeDocument/2006/relationships" xmlns:p="http://schemas.openxmlformats.org/presentationml/2006/main">
  <p:tag name="NOPREFERENCE" val="False"/>
</p:tagLst>
</file>

<file path=ppt/tags/tag228.xml><?xml version="1.0" encoding="utf-8"?>
<p:tagLst xmlns:a="http://schemas.openxmlformats.org/drawingml/2006/main" xmlns:r="http://schemas.openxmlformats.org/officeDocument/2006/relationships" xmlns:p="http://schemas.openxmlformats.org/presentationml/2006/main">
  <p:tag name="NUM" val="1"/>
</p:tagLst>
</file>

<file path=ppt/tags/tag229.xml><?xml version="1.0" encoding="utf-8"?>
<p:tagLst xmlns:a="http://schemas.openxmlformats.org/drawingml/2006/main" xmlns:r="http://schemas.openxmlformats.org/officeDocument/2006/relationships" xmlns:p="http://schemas.openxmlformats.org/presentationml/2006/main">
  <p:tag name="NUM" val="2"/>
</p:tagLst>
</file>

<file path=ppt/tags/tag230.xml><?xml version="1.0" encoding="utf-8"?>
<p:tagLst xmlns:a="http://schemas.openxmlformats.org/drawingml/2006/main" xmlns:r="http://schemas.openxmlformats.org/officeDocument/2006/relationships" xmlns:p="http://schemas.openxmlformats.org/presentationml/2006/main">
  <p:tag name="NUM" val="3"/>
</p:tagLst>
</file>

<file path=ppt/tags/tag231.xml><?xml version="1.0" encoding="utf-8"?>
<p:tagLst xmlns:a="http://schemas.openxmlformats.org/drawingml/2006/main" xmlns:r="http://schemas.openxmlformats.org/officeDocument/2006/relationships" xmlns:p="http://schemas.openxmlformats.org/presentationml/2006/main">
  <p:tag name="NUM" val="4"/>
</p:tagLst>
</file>

<file path=ppt/tags/tag232.xml><?xml version="1.0" encoding="utf-8"?>
<p:tagLst xmlns:a="http://schemas.openxmlformats.org/drawingml/2006/main" xmlns:r="http://schemas.openxmlformats.org/officeDocument/2006/relationships" xmlns:p="http://schemas.openxmlformats.org/presentationml/2006/main">
  <p:tag name="NUM" val="5"/>
</p:tagLst>
</file>

<file path=ppt/tags/tag233.xml><?xml version="1.0" encoding="utf-8"?>
<p:tagLst xmlns:a="http://schemas.openxmlformats.org/drawingml/2006/main" xmlns:r="http://schemas.openxmlformats.org/officeDocument/2006/relationships" xmlns:p="http://schemas.openxmlformats.org/presentationml/2006/main">
  <p:tag name="NUM" val="6"/>
</p:tagLst>
</file>

<file path=ppt/tags/tag234.xml><?xml version="1.0" encoding="utf-8"?>
<p:tagLst xmlns:a="http://schemas.openxmlformats.org/drawingml/2006/main" xmlns:r="http://schemas.openxmlformats.org/officeDocument/2006/relationships" xmlns:p="http://schemas.openxmlformats.org/presentationml/2006/main">
  <p:tag name="NUM" val="7"/>
</p:tagLst>
</file>

<file path=ppt/tags/tag235.xml><?xml version="1.0" encoding="utf-8"?>
<p:tagLst xmlns:a="http://schemas.openxmlformats.org/drawingml/2006/main" xmlns:r="http://schemas.openxmlformats.org/officeDocument/2006/relationships" xmlns:p="http://schemas.openxmlformats.org/presentationml/2006/main">
  <p:tag name="NUM" val="8"/>
</p:tagLst>
</file>

<file path=ppt/tags/tag236.xml><?xml version="1.0" encoding="utf-8"?>
<p:tagLst xmlns:a="http://schemas.openxmlformats.org/drawingml/2006/main" xmlns:r="http://schemas.openxmlformats.org/officeDocument/2006/relationships" xmlns:p="http://schemas.openxmlformats.org/presentationml/2006/main">
  <p:tag name="NUM" val="9"/>
</p:tagLst>
</file>

<file path=ppt/tags/tag237.xml><?xml version="1.0" encoding="utf-8"?>
<p:tagLst xmlns:a="http://schemas.openxmlformats.org/drawingml/2006/main" xmlns:r="http://schemas.openxmlformats.org/officeDocument/2006/relationships" xmlns:p="http://schemas.openxmlformats.org/presentationml/2006/main">
  <p:tag name="NUM" val="10"/>
</p:tagLst>
</file>

<file path=ppt/tags/tag238.xml><?xml version="1.0" encoding="utf-8"?>
<p:tagLst xmlns:a="http://schemas.openxmlformats.org/drawingml/2006/main" xmlns:r="http://schemas.openxmlformats.org/officeDocument/2006/relationships" xmlns:p="http://schemas.openxmlformats.org/presentationml/2006/main">
  <p:tag name="NUM" val="11"/>
</p:tagLst>
</file>

<file path=ppt/tags/tag239.xml><?xml version="1.0" encoding="utf-8"?>
<p:tagLst xmlns:a="http://schemas.openxmlformats.org/drawingml/2006/main" xmlns:r="http://schemas.openxmlformats.org/officeDocument/2006/relationships" xmlns:p="http://schemas.openxmlformats.org/presentationml/2006/main">
  <p:tag name="NUM" val="12"/>
</p:tagLst>
</file>

<file path=ppt/tags/tag240.xml><?xml version="1.0" encoding="utf-8"?>
<p:tagLst xmlns:a="http://schemas.openxmlformats.org/drawingml/2006/main" xmlns:r="http://schemas.openxmlformats.org/officeDocument/2006/relationships" xmlns:p="http://schemas.openxmlformats.org/presentationml/2006/main">
  <p:tag name="NUM" val="1"/>
</p:tagLst>
</file>

<file path=ppt/tags/tag241.xml><?xml version="1.0" encoding="utf-8"?>
<p:tagLst xmlns:a="http://schemas.openxmlformats.org/drawingml/2006/main" xmlns:r="http://schemas.openxmlformats.org/officeDocument/2006/relationships" xmlns:p="http://schemas.openxmlformats.org/presentationml/2006/main">
  <p:tag name="NUM" val="2"/>
</p:tagLst>
</file>

<file path=ppt/tags/tag242.xml><?xml version="1.0" encoding="utf-8"?>
<p:tagLst xmlns:a="http://schemas.openxmlformats.org/drawingml/2006/main" xmlns:r="http://schemas.openxmlformats.org/officeDocument/2006/relationships" xmlns:p="http://schemas.openxmlformats.org/presentationml/2006/main">
  <p:tag name="NUM" val="3"/>
</p:tagLst>
</file>

<file path=ppt/tags/tag243.xml><?xml version="1.0" encoding="utf-8"?>
<p:tagLst xmlns:a="http://schemas.openxmlformats.org/drawingml/2006/main" xmlns:r="http://schemas.openxmlformats.org/officeDocument/2006/relationships" xmlns:p="http://schemas.openxmlformats.org/presentationml/2006/main">
  <p:tag name="NUM" val="4"/>
</p:tagLst>
</file>

<file path=ppt/tags/tag1440.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ED7D3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19960</TotalTime>
  <Words>3741</Words>
  <Application>Microsoft Office PowerPoint</Application>
  <PresentationFormat>Grand écran</PresentationFormat>
  <Paragraphs>628</Paragraphs>
  <Slides>45</Slides>
  <Notes>45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45</vt:i4>
      </vt:variant>
    </vt:vector>
  </HeadingPairs>
  <TitlesOfParts>
    <vt:vector size="54" baseType="lpstr">
      <vt:lpstr>Arial</vt:lpstr>
      <vt:lpstr>Calibri</vt:lpstr>
      <vt:lpstr>Calibri Light</vt:lpstr>
      <vt:lpstr>Cambria Math</vt:lpstr>
      <vt:lpstr>Lato Light</vt:lpstr>
      <vt:lpstr>Poppins</vt:lpstr>
      <vt:lpstr>Segoe UI</vt:lpstr>
      <vt:lpstr>Times New Roman</vt:lpstr>
      <vt:lpstr>Thème Office</vt:lpstr>
      <vt:lpstr>Comptabilité de gestion (10904) Séance 6</vt:lpstr>
      <vt:lpstr>La mesure et l’évaluation de la performance organisationnelle</vt:lpstr>
      <vt:lpstr>Objectifs de la séance</vt:lpstr>
      <vt:lpstr>La mesure de la performance</vt:lpstr>
      <vt:lpstr>Qu’est-ce que la performance ?</vt:lpstr>
      <vt:lpstr>Comment mesurer la performance ?</vt:lpstr>
      <vt:lpstr>Exemples : Indicateurs non-financiers utilisés dans diverses industries</vt:lpstr>
      <vt:lpstr>Pourquoi mesure-t-on la performance organisationnelle ?</vt:lpstr>
      <vt:lpstr>Mesure financière de la performance et les entreprises décentralisées</vt:lpstr>
      <vt:lpstr>La décentralisation</vt:lpstr>
      <vt:lpstr>Décentralisation – Avantages et désavantages</vt:lpstr>
      <vt:lpstr>Présentation PowerPoint</vt:lpstr>
      <vt:lpstr>Évaluer la performance des centres d’investissement</vt:lpstr>
      <vt:lpstr>Rendement sur capital investi (RCI %) </vt:lpstr>
      <vt:lpstr>Rendement sur capital investi (RCI %) </vt:lpstr>
      <vt:lpstr>Actions pour influencer le RCI</vt:lpstr>
      <vt:lpstr>Exemple 1 - actions pour influencer le RCI</vt:lpstr>
      <vt:lpstr>Exemple 2 - actions pour influencer le RCI</vt:lpstr>
      <vt:lpstr>Exemple 3 - actions pour influencer le RCI</vt:lpstr>
      <vt:lpstr>RCI – Conclusion</vt:lpstr>
      <vt:lpstr>Résultat Net Résiduel (RNR)</vt:lpstr>
      <vt:lpstr>Résultat Net Résiduel (RNR)</vt:lpstr>
      <vt:lpstr>Calcul du RNR- exemple</vt:lpstr>
      <vt:lpstr>Révision calcul RCI et RNR– Exemple</vt:lpstr>
      <vt:lpstr>Illustration RCI –RNR</vt:lpstr>
      <vt:lpstr>RCI et RNR - Limites</vt:lpstr>
      <vt:lpstr>Mesure multidimensionnelle de la performance</vt:lpstr>
      <vt:lpstr>Tableau de bord de gestion équilibré (Kaplan et Norton, 2003)</vt:lpstr>
      <vt:lpstr>Mise en œuvre d’un tableau de bord équilibré - à noter</vt:lpstr>
      <vt:lpstr>Tableau de bord de gestion équilibré Intégration de 4 dimensions fondamentales</vt:lpstr>
      <vt:lpstr>Objectif, indicateur, cible</vt:lpstr>
      <vt:lpstr>Dimension financière - exemples</vt:lpstr>
      <vt:lpstr>Dimension client (externe/interne) - exemples</vt:lpstr>
      <vt:lpstr>Dimension processus internes et employés  - exemples</vt:lpstr>
      <vt:lpstr>Dimension innovation et apprentissage - exemples</vt:lpstr>
      <vt:lpstr>Présentation PowerPoint</vt:lpstr>
      <vt:lpstr>Présentation PowerPoint</vt:lpstr>
      <vt:lpstr>Question : est-ce qu’il manque quelque chose ?</vt:lpstr>
      <vt:lpstr>Comment intégrer des objectifs environnementaux dans le tableau de bord de gestion intégré ?</vt:lpstr>
      <vt:lpstr>Convergence des intérêts de l’organisation et des individus</vt:lpstr>
      <vt:lpstr>Lier la rémunération à l’évaluation de la performance (1/2)</vt:lpstr>
      <vt:lpstr>Lier la rémunération à l’évaluation de la performance (2/3)</vt:lpstr>
      <vt:lpstr>Illustration – comportement non-éthique (3/3)</vt:lpstr>
      <vt:lpstr>Conclusion - séance 6</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mesure et l’évaluation de la performance organisationnelle</dc:title>
  <dc:creator>elodie allain</dc:creator>
  <cp:lastModifiedBy>Loecha Philion</cp:lastModifiedBy>
  <cp:revision>59</cp:revision>
  <dcterms:created xsi:type="dcterms:W3CDTF">2021-04-06T18:39:01Z</dcterms:created>
  <dcterms:modified xsi:type="dcterms:W3CDTF">2026-09-17T18:52:48Z</dcterms:modified>
</cp:coreProperties>
</file>