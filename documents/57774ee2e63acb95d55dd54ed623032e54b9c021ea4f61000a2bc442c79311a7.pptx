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348" r:id="rId6"/>
    <p:sldId id="426" r:id="rId7"/>
    <p:sldId id="428" r:id="rId8"/>
    <p:sldId id="427" r:id="rId9"/>
    <p:sldId id="285" r:id="rId10"/>
    <p:sldId id="372" r:id="rId11"/>
    <p:sldId id="553" r:id="rId12"/>
    <p:sldId id="557" r:id="rId13"/>
    <p:sldId id="374" r:id="rId14"/>
    <p:sldId id="554" r:id="rId15"/>
    <p:sldId id="375" r:id="rId16"/>
    <p:sldId id="555" r:id="rId17"/>
    <p:sldId id="543" r:id="rId18"/>
    <p:sldId id="556" r:id="rId19"/>
    <p:sldId id="395" r:id="rId20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528BA-850F-4F21-BB43-23339E25BAF7}" v="1" dt="2026-05-20T16:35:21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588" autoAdjust="0"/>
  </p:normalViewPr>
  <p:slideViewPr>
    <p:cSldViewPr snapToGrid="0" snapToObjects="1" showGuides="1">
      <p:cViewPr varScale="1">
        <p:scale>
          <a:sx n="65" d="100"/>
          <a:sy n="65" d="100"/>
        </p:scale>
        <p:origin x="102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2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éronique Poirier" userId="f47eddeb-fe18-424a-aaf6-a2a397d1abf5" providerId="ADAL" clId="{0572368F-0385-4CB3-8215-CD863FFEE4C6}"/>
    <pc:docChg chg="custSel addSld modSld">
      <pc:chgData name="Véronique Poirier" userId="f47eddeb-fe18-424a-aaf6-a2a397d1abf5" providerId="ADAL" clId="{0572368F-0385-4CB3-8215-CD863FFEE4C6}" dt="2026-05-20T16:35:33.317" v="24" actId="20577"/>
      <pc:docMkLst>
        <pc:docMk/>
      </pc:docMkLst>
      <pc:sldChg chg="modSp mod">
        <pc:chgData name="Véronique Poirier" userId="f47eddeb-fe18-424a-aaf6-a2a397d1abf5" providerId="ADAL" clId="{0572368F-0385-4CB3-8215-CD863FFEE4C6}" dt="2026-05-20T16:35:33.317" v="24" actId="20577"/>
        <pc:sldMkLst>
          <pc:docMk/>
          <pc:sldMk cId="2409541012" sldId="553"/>
        </pc:sldMkLst>
        <pc:spChg chg="mod">
          <ac:chgData name="Véronique Poirier" userId="f47eddeb-fe18-424a-aaf6-a2a397d1abf5" providerId="ADAL" clId="{0572368F-0385-4CB3-8215-CD863FFEE4C6}" dt="2026-05-20T16:35:33.317" v="24" actId="20577"/>
          <ac:spMkLst>
            <pc:docMk/>
            <pc:sldMk cId="2409541012" sldId="553"/>
            <ac:spMk id="2" creationId="{00000000-0000-0000-0000-000000000000}"/>
          </ac:spMkLst>
        </pc:spChg>
      </pc:sldChg>
      <pc:sldChg chg="add">
        <pc:chgData name="Véronique Poirier" userId="f47eddeb-fe18-424a-aaf6-a2a397d1abf5" providerId="ADAL" clId="{0572368F-0385-4CB3-8215-CD863FFEE4C6}" dt="2026-05-20T16:35:21.021" v="0"/>
        <pc:sldMkLst>
          <pc:docMk/>
          <pc:sldMk cId="1224697371" sldId="55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84306803\Documents\HEC\2-500%20Base\S&#233;ances%20avec%20notes\S&#233;ance%204%20-%20PG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84306803\Documents\HEC\2-500%20Base\S&#233;ances%20avec%20notes\S&#233;ance%204%20-%20PG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84306803\Documents\HEC\2-500%20Base\S&#233;ances%20avec%20notes\S&#233;ance%204%20-%20PGP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Nivellement!$A$2</c:f>
              <c:strCache>
                <c:ptCount val="1"/>
                <c:pt idx="0">
                  <c:v>Demande</c:v>
                </c:pt>
              </c:strCache>
            </c:strRef>
          </c:tx>
          <c:spPr>
            <a:ln w="317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70C0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Nivellement!$B$1:$N$1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Nivellement!$B$2:$N$2</c:f>
              <c:numCache>
                <c:formatCode>#,##0</c:formatCode>
                <c:ptCount val="12"/>
                <c:pt idx="0">
                  <c:v>20000</c:v>
                </c:pt>
                <c:pt idx="1">
                  <c:v>16000</c:v>
                </c:pt>
                <c:pt idx="2">
                  <c:v>22000</c:v>
                </c:pt>
                <c:pt idx="3">
                  <c:v>26000</c:v>
                </c:pt>
                <c:pt idx="4">
                  <c:v>34000</c:v>
                </c:pt>
                <c:pt idx="5">
                  <c:v>32000</c:v>
                </c:pt>
                <c:pt idx="6">
                  <c:v>38000</c:v>
                </c:pt>
                <c:pt idx="7">
                  <c:v>24000</c:v>
                </c:pt>
                <c:pt idx="8">
                  <c:v>22000</c:v>
                </c:pt>
                <c:pt idx="9">
                  <c:v>26000</c:v>
                </c:pt>
                <c:pt idx="10">
                  <c:v>27000</c:v>
                </c:pt>
                <c:pt idx="11">
                  <c:v>24000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9D51-4AFF-B746-257A2B57A5AB}"/>
            </c:ext>
          </c:extLst>
        </c:ser>
        <c:ser>
          <c:idx val="1"/>
          <c:order val="1"/>
          <c:tx>
            <c:strRef>
              <c:f>Nivellement!$A$3</c:f>
              <c:strCache>
                <c:ptCount val="1"/>
                <c:pt idx="0">
                  <c:v>Production</c:v>
                </c:pt>
              </c:strCache>
            </c:strRef>
          </c:tx>
          <c:spPr>
            <a:ln w="31750" cap="rnd">
              <a:solidFill>
                <a:srgbClr val="F925F9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925F9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Nivellement!$B$1:$N$1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Nivellement!$B$3:$N$3</c:f>
              <c:numCache>
                <c:formatCode>#,##0</c:formatCode>
                <c:ptCount val="12"/>
                <c:pt idx="0">
                  <c:v>25975</c:v>
                </c:pt>
                <c:pt idx="1">
                  <c:v>25975</c:v>
                </c:pt>
                <c:pt idx="2">
                  <c:v>25975</c:v>
                </c:pt>
                <c:pt idx="3">
                  <c:v>25975</c:v>
                </c:pt>
                <c:pt idx="4">
                  <c:v>25975</c:v>
                </c:pt>
                <c:pt idx="5">
                  <c:v>25975</c:v>
                </c:pt>
                <c:pt idx="6">
                  <c:v>25975</c:v>
                </c:pt>
                <c:pt idx="7">
                  <c:v>25975</c:v>
                </c:pt>
                <c:pt idx="8">
                  <c:v>25975</c:v>
                </c:pt>
                <c:pt idx="9">
                  <c:v>25975</c:v>
                </c:pt>
                <c:pt idx="10">
                  <c:v>25975</c:v>
                </c:pt>
                <c:pt idx="11">
                  <c:v>25975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9D51-4AFF-B746-257A2B57A5AB}"/>
            </c:ext>
          </c:extLst>
        </c:ser>
        <c:ser>
          <c:idx val="2"/>
          <c:order val="2"/>
          <c:tx>
            <c:strRef>
              <c:f>Nivellement!$A$4</c:f>
              <c:strCache>
                <c:ptCount val="1"/>
                <c:pt idx="0">
                  <c:v>Stocks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Nivellement!$B$1:$N$1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Nivellement!$B$4:$N$4</c:f>
              <c:numCache>
                <c:formatCode>#,##0</c:formatCode>
                <c:ptCount val="12"/>
                <c:pt idx="0">
                  <c:v>7275</c:v>
                </c:pt>
                <c:pt idx="1">
                  <c:v>17250</c:v>
                </c:pt>
                <c:pt idx="2">
                  <c:v>21225</c:v>
                </c:pt>
                <c:pt idx="3">
                  <c:v>21200</c:v>
                </c:pt>
                <c:pt idx="4">
                  <c:v>13175</c:v>
                </c:pt>
                <c:pt idx="5">
                  <c:v>7150</c:v>
                </c:pt>
                <c:pt idx="6">
                  <c:v>-4875</c:v>
                </c:pt>
                <c:pt idx="7">
                  <c:v>-2900</c:v>
                </c:pt>
                <c:pt idx="8">
                  <c:v>1075</c:v>
                </c:pt>
                <c:pt idx="9">
                  <c:v>1050</c:v>
                </c:pt>
                <c:pt idx="10">
                  <c:v>25</c:v>
                </c:pt>
                <c:pt idx="11">
                  <c:v>2000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9D51-4AFF-B746-257A2B57A5A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27665904"/>
        <c:axId val="527667080"/>
      </c:lineChart>
      <c:catAx>
        <c:axId val="527665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27667080"/>
        <c:crosses val="autoZero"/>
        <c:auto val="1"/>
        <c:lblAlgn val="ctr"/>
        <c:lblOffset val="100"/>
        <c:noMultiLvlLbl val="0"/>
      </c:catAx>
      <c:valAx>
        <c:axId val="52766708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27665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917813310408927"/>
          <c:y val="0.44888450035060606"/>
          <c:w val="0.17202668656239567"/>
          <c:h val="0.21733472621722311"/>
        </c:manualLayout>
      </c:layout>
      <c:overlay val="1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Synchrone!$A$2</c:f>
              <c:strCache>
                <c:ptCount val="1"/>
                <c:pt idx="0">
                  <c:v>Demande</c:v>
                </c:pt>
              </c:strCache>
            </c:strRef>
          </c:tx>
          <c:spPr>
            <a:ln w="317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70C0">
                  <a:alpha val="58000"/>
                </a:srgbClr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Synchrone!$B$1:$O$1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Synchrone!$B$2:$O$2</c:f>
              <c:numCache>
                <c:formatCode>#,##0</c:formatCode>
                <c:ptCount val="12"/>
                <c:pt idx="0">
                  <c:v>20000</c:v>
                </c:pt>
                <c:pt idx="1">
                  <c:v>16000</c:v>
                </c:pt>
                <c:pt idx="2">
                  <c:v>22000</c:v>
                </c:pt>
                <c:pt idx="3">
                  <c:v>26000</c:v>
                </c:pt>
                <c:pt idx="4">
                  <c:v>34000</c:v>
                </c:pt>
                <c:pt idx="5">
                  <c:v>32000</c:v>
                </c:pt>
                <c:pt idx="6">
                  <c:v>38000</c:v>
                </c:pt>
                <c:pt idx="7">
                  <c:v>24000</c:v>
                </c:pt>
                <c:pt idx="8">
                  <c:v>22000</c:v>
                </c:pt>
                <c:pt idx="9">
                  <c:v>26000</c:v>
                </c:pt>
                <c:pt idx="10">
                  <c:v>27000</c:v>
                </c:pt>
                <c:pt idx="11">
                  <c:v>24000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BDC3-4252-811E-D4342F9DE988}"/>
            </c:ext>
          </c:extLst>
        </c:ser>
        <c:ser>
          <c:idx val="1"/>
          <c:order val="1"/>
          <c:tx>
            <c:strRef>
              <c:f>Synchrone!$A$3</c:f>
              <c:strCache>
                <c:ptCount val="1"/>
                <c:pt idx="0">
                  <c:v>Production</c:v>
                </c:pt>
              </c:strCache>
            </c:strRef>
          </c:tx>
          <c:spPr>
            <a:ln w="31750" cap="rnd">
              <a:solidFill>
                <a:srgbClr val="F925F9">
                  <a:alpha val="81000"/>
                </a:srgb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925F9">
                  <a:alpha val="79000"/>
                </a:srgbClr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Synchrone!$B$1:$O$1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Synchrone!$B$3:$O$3</c:f>
              <c:numCache>
                <c:formatCode>#,##0</c:formatCode>
                <c:ptCount val="12"/>
                <c:pt idx="0">
                  <c:v>18700</c:v>
                </c:pt>
                <c:pt idx="1">
                  <c:v>16000</c:v>
                </c:pt>
                <c:pt idx="2">
                  <c:v>22000</c:v>
                </c:pt>
                <c:pt idx="3">
                  <c:v>26000</c:v>
                </c:pt>
                <c:pt idx="4">
                  <c:v>34000</c:v>
                </c:pt>
                <c:pt idx="5">
                  <c:v>32000</c:v>
                </c:pt>
                <c:pt idx="6">
                  <c:v>38000</c:v>
                </c:pt>
                <c:pt idx="7">
                  <c:v>24000</c:v>
                </c:pt>
                <c:pt idx="8">
                  <c:v>22000</c:v>
                </c:pt>
                <c:pt idx="9">
                  <c:v>26000</c:v>
                </c:pt>
                <c:pt idx="10">
                  <c:v>27000</c:v>
                </c:pt>
                <c:pt idx="11">
                  <c:v>26000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BDC3-4252-811E-D4342F9DE988}"/>
            </c:ext>
          </c:extLst>
        </c:ser>
        <c:ser>
          <c:idx val="2"/>
          <c:order val="2"/>
          <c:tx>
            <c:strRef>
              <c:f>Synchrone!$A$4</c:f>
              <c:strCache>
                <c:ptCount val="1"/>
                <c:pt idx="0">
                  <c:v>Stocks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Synchrone!$B$1:$O$1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Synchrone!$B$4:$O$4</c:f>
              <c:numCache>
                <c:formatCode>#,##0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BDC3-4252-811E-D4342F9DE98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32590736"/>
        <c:axId val="532580936"/>
      </c:lineChart>
      <c:catAx>
        <c:axId val="532590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32580936"/>
        <c:crosses val="autoZero"/>
        <c:auto val="1"/>
        <c:lblAlgn val="ctr"/>
        <c:lblOffset val="100"/>
        <c:noMultiLvlLbl val="0"/>
      </c:catAx>
      <c:valAx>
        <c:axId val="53258093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32590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382954665217947"/>
          <c:y val="0.59930190176246856"/>
          <c:w val="0.2058056415728157"/>
          <c:h val="0.23647854314355179"/>
        </c:manualLayout>
      </c:layout>
      <c:overlay val="1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Hybride!$A$2</c:f>
              <c:strCache>
                <c:ptCount val="1"/>
                <c:pt idx="0">
                  <c:v>Demande</c:v>
                </c:pt>
              </c:strCache>
            </c:strRef>
          </c:tx>
          <c:spPr>
            <a:ln w="317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70C0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Hybride!$B$1:$N$1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Hybride!$B$2:$N$2</c:f>
              <c:numCache>
                <c:formatCode>#,##0</c:formatCode>
                <c:ptCount val="12"/>
                <c:pt idx="0">
                  <c:v>20000</c:v>
                </c:pt>
                <c:pt idx="1">
                  <c:v>16000</c:v>
                </c:pt>
                <c:pt idx="2">
                  <c:v>22000</c:v>
                </c:pt>
                <c:pt idx="3">
                  <c:v>26000</c:v>
                </c:pt>
                <c:pt idx="4">
                  <c:v>34000</c:v>
                </c:pt>
                <c:pt idx="5">
                  <c:v>32000</c:v>
                </c:pt>
                <c:pt idx="6">
                  <c:v>38000</c:v>
                </c:pt>
                <c:pt idx="7">
                  <c:v>24000</c:v>
                </c:pt>
                <c:pt idx="8">
                  <c:v>22000</c:v>
                </c:pt>
                <c:pt idx="9">
                  <c:v>26000</c:v>
                </c:pt>
                <c:pt idx="10">
                  <c:v>27000</c:v>
                </c:pt>
                <c:pt idx="11">
                  <c:v>24000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CFA1-453D-83AB-36BCE089F5B1}"/>
            </c:ext>
          </c:extLst>
        </c:ser>
        <c:ser>
          <c:idx val="1"/>
          <c:order val="1"/>
          <c:tx>
            <c:strRef>
              <c:f>Hybride!$A$3</c:f>
              <c:strCache>
                <c:ptCount val="1"/>
                <c:pt idx="0">
                  <c:v>Production</c:v>
                </c:pt>
              </c:strCache>
            </c:strRef>
          </c:tx>
          <c:spPr>
            <a:ln w="31750" cap="rnd">
              <a:solidFill>
                <a:srgbClr val="F925F9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925F9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Hybride!$B$1:$N$1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Hybride!$B$3:$N$3</c:f>
              <c:numCache>
                <c:formatCode>#,##0</c:formatCode>
                <c:ptCount val="12"/>
                <c:pt idx="0">
                  <c:v>22675</c:v>
                </c:pt>
                <c:pt idx="1">
                  <c:v>22675</c:v>
                </c:pt>
                <c:pt idx="2">
                  <c:v>22675</c:v>
                </c:pt>
                <c:pt idx="3">
                  <c:v>22675</c:v>
                </c:pt>
                <c:pt idx="4">
                  <c:v>32000</c:v>
                </c:pt>
                <c:pt idx="5">
                  <c:v>32000</c:v>
                </c:pt>
                <c:pt idx="6">
                  <c:v>32000</c:v>
                </c:pt>
                <c:pt idx="7">
                  <c:v>32000</c:v>
                </c:pt>
                <c:pt idx="8">
                  <c:v>23250</c:v>
                </c:pt>
                <c:pt idx="9">
                  <c:v>23250</c:v>
                </c:pt>
                <c:pt idx="10">
                  <c:v>23250</c:v>
                </c:pt>
                <c:pt idx="11">
                  <c:v>23250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CFA1-453D-83AB-36BCE089F5B1}"/>
            </c:ext>
          </c:extLst>
        </c:ser>
        <c:ser>
          <c:idx val="2"/>
          <c:order val="2"/>
          <c:tx>
            <c:strRef>
              <c:f>Hybride!$A$4</c:f>
              <c:strCache>
                <c:ptCount val="1"/>
                <c:pt idx="0">
                  <c:v>Stocks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strRef>
              <c:f>Hybride!$B$1:$N$1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  <c:extLst/>
            </c:strRef>
          </c:cat>
          <c:val>
            <c:numRef>
              <c:f>Hybride!$B$4:$N$4</c:f>
              <c:numCache>
                <c:formatCode>#,##0</c:formatCode>
                <c:ptCount val="12"/>
                <c:pt idx="0">
                  <c:v>3975</c:v>
                </c:pt>
                <c:pt idx="1">
                  <c:v>10650</c:v>
                </c:pt>
                <c:pt idx="2">
                  <c:v>11325</c:v>
                </c:pt>
                <c:pt idx="3">
                  <c:v>8000</c:v>
                </c:pt>
                <c:pt idx="4">
                  <c:v>6000</c:v>
                </c:pt>
                <c:pt idx="5">
                  <c:v>6000</c:v>
                </c:pt>
                <c:pt idx="6">
                  <c:v>0</c:v>
                </c:pt>
                <c:pt idx="7">
                  <c:v>8000</c:v>
                </c:pt>
                <c:pt idx="8">
                  <c:v>9250</c:v>
                </c:pt>
                <c:pt idx="9">
                  <c:v>6500</c:v>
                </c:pt>
                <c:pt idx="10">
                  <c:v>2750</c:v>
                </c:pt>
                <c:pt idx="11">
                  <c:v>2000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CFA1-453D-83AB-36BCE089F5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38488416"/>
        <c:axId val="438494296"/>
      </c:lineChart>
      <c:catAx>
        <c:axId val="43848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8494296"/>
        <c:crosses val="autoZero"/>
        <c:auto val="1"/>
        <c:lblAlgn val="ctr"/>
        <c:lblOffset val="100"/>
        <c:noMultiLvlLbl val="0"/>
      </c:catAx>
      <c:valAx>
        <c:axId val="43849429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848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253730443754344"/>
          <c:y val="0.49228170501033741"/>
          <c:w val="0.16495268578274008"/>
          <c:h val="0.17671891572212692"/>
        </c:manualLayout>
      </c:layout>
      <c:overlay val="1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BE6E0B-CA6F-451B-A8AA-0526579BF59C}" type="doc">
      <dgm:prSet loTypeId="urn:microsoft.com/office/officeart/2005/8/layout/arrow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55AAE10B-E276-4313-808C-1317A6BBB515}">
      <dgm:prSet phldrT="[Texte]"/>
      <dgm:spPr/>
      <dgm:t>
        <a:bodyPr/>
        <a:lstStyle/>
        <a:p>
          <a:r>
            <a:rPr lang="fr-CA" dirty="0">
              <a:solidFill>
                <a:schemeClr val="tx1"/>
              </a:solidFill>
            </a:rPr>
            <a:t>Synchrone</a:t>
          </a:r>
        </a:p>
      </dgm:t>
    </dgm:pt>
    <dgm:pt modelId="{17F50171-D3AC-48B1-B016-75D414035FA3}" type="parTrans" cxnId="{D29437D7-D948-4C67-8F41-2BBB57EA1857}">
      <dgm:prSet/>
      <dgm:spPr/>
      <dgm:t>
        <a:bodyPr/>
        <a:lstStyle/>
        <a:p>
          <a:endParaRPr lang="fr-CA"/>
        </a:p>
      </dgm:t>
    </dgm:pt>
    <dgm:pt modelId="{FD0CA84C-47D3-4049-A534-ABB39EFA2CA3}" type="sibTrans" cxnId="{D29437D7-D948-4C67-8F41-2BBB57EA1857}">
      <dgm:prSet/>
      <dgm:spPr/>
      <dgm:t>
        <a:bodyPr/>
        <a:lstStyle/>
        <a:p>
          <a:endParaRPr lang="fr-CA"/>
        </a:p>
      </dgm:t>
    </dgm:pt>
    <dgm:pt modelId="{AC2C79D5-9AD0-42E2-B19B-6FC43F593629}">
      <dgm:prSet phldrT="[Texte]"/>
      <dgm:spPr/>
      <dgm:t>
        <a:bodyPr/>
        <a:lstStyle/>
        <a:p>
          <a:r>
            <a:rPr lang="fr-CA" dirty="0">
              <a:solidFill>
                <a:schemeClr val="tx1"/>
              </a:solidFill>
            </a:rPr>
            <a:t>Nivellement</a:t>
          </a:r>
        </a:p>
      </dgm:t>
    </dgm:pt>
    <dgm:pt modelId="{36674AE9-A2F9-4272-91FC-C37488AC28A5}" type="parTrans" cxnId="{408DFC1A-9F65-4B36-9102-A9861D05D6D5}">
      <dgm:prSet/>
      <dgm:spPr/>
      <dgm:t>
        <a:bodyPr/>
        <a:lstStyle/>
        <a:p>
          <a:endParaRPr lang="fr-CA"/>
        </a:p>
      </dgm:t>
    </dgm:pt>
    <dgm:pt modelId="{0000188A-F54F-49B5-BC38-46E7D94C7D45}" type="sibTrans" cxnId="{408DFC1A-9F65-4B36-9102-A9861D05D6D5}">
      <dgm:prSet/>
      <dgm:spPr/>
      <dgm:t>
        <a:bodyPr/>
        <a:lstStyle/>
        <a:p>
          <a:endParaRPr lang="fr-CA"/>
        </a:p>
      </dgm:t>
    </dgm:pt>
    <dgm:pt modelId="{9591B381-0C7D-4835-B9FB-09A552B09190}" type="pres">
      <dgm:prSet presAssocID="{C1BE6E0B-CA6F-451B-A8AA-0526579BF59C}" presName="cycle" presStyleCnt="0">
        <dgm:presLayoutVars>
          <dgm:dir/>
          <dgm:resizeHandles val="exact"/>
        </dgm:presLayoutVars>
      </dgm:prSet>
      <dgm:spPr/>
    </dgm:pt>
    <dgm:pt modelId="{163DD6B1-B9BD-475E-A385-402D9F87684B}" type="pres">
      <dgm:prSet presAssocID="{55AAE10B-E276-4313-808C-1317A6BBB515}" presName="arrow" presStyleLbl="node1" presStyleIdx="0" presStyleCnt="2">
        <dgm:presLayoutVars>
          <dgm:bulletEnabled val="1"/>
        </dgm:presLayoutVars>
      </dgm:prSet>
      <dgm:spPr/>
    </dgm:pt>
    <dgm:pt modelId="{7836DFC0-DF8C-4ECB-9B6F-2C57DCE58E86}" type="pres">
      <dgm:prSet presAssocID="{AC2C79D5-9AD0-42E2-B19B-6FC43F593629}" presName="arrow" presStyleLbl="node1" presStyleIdx="1" presStyleCnt="2">
        <dgm:presLayoutVars>
          <dgm:bulletEnabled val="1"/>
        </dgm:presLayoutVars>
      </dgm:prSet>
      <dgm:spPr/>
    </dgm:pt>
  </dgm:ptLst>
  <dgm:cxnLst>
    <dgm:cxn modelId="{408DFC1A-9F65-4B36-9102-A9861D05D6D5}" srcId="{C1BE6E0B-CA6F-451B-A8AA-0526579BF59C}" destId="{AC2C79D5-9AD0-42E2-B19B-6FC43F593629}" srcOrd="1" destOrd="0" parTransId="{36674AE9-A2F9-4272-91FC-C37488AC28A5}" sibTransId="{0000188A-F54F-49B5-BC38-46E7D94C7D45}"/>
    <dgm:cxn modelId="{BDB2D532-FA2C-4096-A006-B5894BC76506}" type="presOf" srcId="{C1BE6E0B-CA6F-451B-A8AA-0526579BF59C}" destId="{9591B381-0C7D-4835-B9FB-09A552B09190}" srcOrd="0" destOrd="0" presId="urn:microsoft.com/office/officeart/2005/8/layout/arrow1"/>
    <dgm:cxn modelId="{7F8269A0-A8C4-4580-B241-FF44A60D3EC9}" type="presOf" srcId="{55AAE10B-E276-4313-808C-1317A6BBB515}" destId="{163DD6B1-B9BD-475E-A385-402D9F87684B}" srcOrd="0" destOrd="0" presId="urn:microsoft.com/office/officeart/2005/8/layout/arrow1"/>
    <dgm:cxn modelId="{D29437D7-D948-4C67-8F41-2BBB57EA1857}" srcId="{C1BE6E0B-CA6F-451B-A8AA-0526579BF59C}" destId="{55AAE10B-E276-4313-808C-1317A6BBB515}" srcOrd="0" destOrd="0" parTransId="{17F50171-D3AC-48B1-B016-75D414035FA3}" sibTransId="{FD0CA84C-47D3-4049-A534-ABB39EFA2CA3}"/>
    <dgm:cxn modelId="{C81F88E1-1C7A-4F23-AB4F-F9DA4617A569}" type="presOf" srcId="{AC2C79D5-9AD0-42E2-B19B-6FC43F593629}" destId="{7836DFC0-DF8C-4ECB-9B6F-2C57DCE58E86}" srcOrd="0" destOrd="0" presId="urn:microsoft.com/office/officeart/2005/8/layout/arrow1"/>
    <dgm:cxn modelId="{0D0C3013-20EF-48F2-8565-BEFD5BD434B0}" type="presParOf" srcId="{9591B381-0C7D-4835-B9FB-09A552B09190}" destId="{163DD6B1-B9BD-475E-A385-402D9F87684B}" srcOrd="0" destOrd="0" presId="urn:microsoft.com/office/officeart/2005/8/layout/arrow1"/>
    <dgm:cxn modelId="{2437DBFA-67DD-42CF-822E-341961EC4232}" type="presParOf" srcId="{9591B381-0C7D-4835-B9FB-09A552B09190}" destId="{7836DFC0-DF8C-4ECB-9B6F-2C57DCE58E86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3DD6B1-B9BD-475E-A385-402D9F87684B}">
      <dsp:nvSpPr>
        <dsp:cNvPr id="0" name=""/>
        <dsp:cNvSpPr/>
      </dsp:nvSpPr>
      <dsp:spPr>
        <a:xfrm rot="16200000">
          <a:off x="252" y="476603"/>
          <a:ext cx="2895784" cy="2895784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kern="1200" dirty="0">
              <a:solidFill>
                <a:schemeClr val="tx1"/>
              </a:solidFill>
            </a:rPr>
            <a:t>Synchrone</a:t>
          </a:r>
        </a:p>
      </dsp:txBody>
      <dsp:txXfrm rot="5400000">
        <a:off x="507014" y="1200549"/>
        <a:ext cx="2389022" cy="1447892"/>
      </dsp:txXfrm>
    </dsp:sp>
    <dsp:sp modelId="{7836DFC0-DF8C-4ECB-9B6F-2C57DCE58E86}">
      <dsp:nvSpPr>
        <dsp:cNvPr id="0" name=""/>
        <dsp:cNvSpPr/>
      </dsp:nvSpPr>
      <dsp:spPr>
        <a:xfrm rot="5400000">
          <a:off x="3186594" y="476603"/>
          <a:ext cx="2895784" cy="2895784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kern="1200" dirty="0">
              <a:solidFill>
                <a:schemeClr val="tx1"/>
              </a:solidFill>
            </a:rPr>
            <a:t>Nivellement</a:t>
          </a:r>
        </a:p>
      </dsp:txBody>
      <dsp:txXfrm rot="-5400000">
        <a:off x="3186594" y="1200549"/>
        <a:ext cx="2389022" cy="14478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2026-05-20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BE34A0-39D5-4293-B877-92F7658DCE5A}" type="slidenum">
              <a:rPr lang="fr-CA"/>
              <a:pPr/>
              <a:t>6</a:t>
            </a:fld>
            <a:endParaRPr lang="fr-CA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30181" indent="-230181">
              <a:lnSpc>
                <a:spcPct val="90000"/>
              </a:lnSpc>
            </a:pPr>
            <a:endParaRPr lang="fr-CA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845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695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9368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7987-166A-B2C2-28A8-003DDA58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B221201-E423-DF0E-D910-06176B2EE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10935CD-667D-F4BB-9D2F-26BD82918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CA" sz="1600" dirty="0">
                <a:latin typeface="Arial" panose="020B0604020202020204" pitchFamily="34" charset="0"/>
                <a:cs typeface="Arial" panose="020B0604020202020204" pitchFamily="34" charset="0"/>
              </a:rPr>
              <a:t>Expliquer le taux de production (3 premiers cercles)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CA" sz="1600" dirty="0">
                <a:latin typeface="Arial" panose="020B0604020202020204" pitchFamily="34" charset="0"/>
                <a:cs typeface="Arial" panose="020B0604020202020204" pitchFamily="34" charset="0"/>
              </a:rPr>
              <a:t>Expliquer le nombre d’employés nécessaires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CA" sz="1600" dirty="0">
                <a:latin typeface="Arial" panose="020B0604020202020204" pitchFamily="34" charset="0"/>
                <a:cs typeface="Arial" panose="020B0604020202020204" pitchFamily="34" charset="0"/>
              </a:rPr>
              <a:t>Expliquer temps régulier et temps supplémentaire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CA" sz="1600" dirty="0">
                <a:latin typeface="Arial" panose="020B0604020202020204" pitchFamily="34" charset="0"/>
                <a:cs typeface="Arial" panose="020B0604020202020204" pitchFamily="34" charset="0"/>
              </a:rPr>
              <a:t>Expliquer pénurie (commandes en souffrance)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18FE7C-A9F7-F5D8-9C9E-30FF2D7C1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289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3186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7782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1953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4F716-EF9A-42E1-A80F-44FDB777AC49}" type="slidenum">
              <a:rPr lang="fr-CA" smtClean="0"/>
              <a:pPr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0207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D44D78-BDEF-4385-86C4-28C87174876E}" type="slidenum">
              <a:rPr lang="fr-CA" smtClean="0"/>
              <a:pPr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178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D44D78-BDEF-4385-86C4-28C87174876E}" type="slidenum">
              <a:rPr lang="fr-CA" smtClean="0"/>
              <a:pPr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6597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26/05/20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26/05/20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0.png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Plan global de production - PGP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28295"/>
            <a:ext cx="5353729" cy="200055"/>
          </a:xfrm>
        </p:spPr>
        <p:txBody>
          <a:bodyPr/>
          <a:lstStyle/>
          <a:p>
            <a:r>
              <a:rPr lang="fr-CA" sz="1050" dirty="0"/>
              <a:t>© 2024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623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diapositive 4">
                <a:extLst>
                  <a:ext uri="{FF2B5EF4-FFF2-40B4-BE49-F238E27FC236}">
                    <a16:creationId xmlns:a16="http://schemas.microsoft.com/office/drawing/2014/main" id="{D57BB3AA-C0E7-45FB-AA05-08110115E5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8928461"/>
                  </p:ext>
                </p:extLst>
              </p:nvPr>
            </p:nvGraphicFramePr>
            <p:xfrm>
              <a:off x="8132438" y="4018029"/>
              <a:ext cx="1415014" cy="884384"/>
            </p:xfrm>
            <a:graphic>
              <a:graphicData uri="http://schemas.microsoft.com/office/powerpoint/2016/slidezoom">
                <pslz:sldZm>
                  <pslz:sldZmObj sldId="426" cId="1675402670">
                    <pslz:zmPr id="{603BBBF4-C67E-45A4-9AEF-89E92DD6A547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15014" cy="88438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diapositive 4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D57BB3AA-C0E7-45FB-AA05-08110115E5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2438" y="4018029"/>
                <a:ext cx="1415014" cy="88438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2C6645-7046-47CD-913B-B62405EB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5E527038-5D4C-4736-AAFB-C6EF9E71F7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 t="23089" r="3996" b="23375"/>
          <a:stretch/>
        </p:blipFill>
        <p:spPr bwMode="auto">
          <a:xfrm>
            <a:off x="1246823" y="1484834"/>
            <a:ext cx="7666355" cy="34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540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50" y="504723"/>
            <a:ext cx="7658100" cy="430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4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1EA33-18F1-419C-83F3-8DE01BE6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Unités équivalentes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B26FC6-F0D7-4BD0-9ED5-445F9052C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0" y="1302646"/>
            <a:ext cx="4784496" cy="27127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8592E7-2C46-4052-860D-982A43067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755" y="2317598"/>
            <a:ext cx="4485544" cy="25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7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Types de stratégies</a:t>
            </a:r>
          </a:p>
        </p:txBody>
      </p:sp>
      <p:graphicFrame>
        <p:nvGraphicFramePr>
          <p:cNvPr id="2" name="Diagramme 1"/>
          <p:cNvGraphicFramePr/>
          <p:nvPr/>
        </p:nvGraphicFramePr>
        <p:xfrm>
          <a:off x="2032000" y="1164166"/>
          <a:ext cx="6082632" cy="3848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 bwMode="auto">
          <a:xfrm>
            <a:off x="3408948" y="4050632"/>
            <a:ext cx="3248526" cy="989263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algn="ctr" defTabSz="761970" fontAlgn="base">
              <a:spcBef>
                <a:spcPct val="0"/>
              </a:spcBef>
              <a:spcAft>
                <a:spcPct val="0"/>
              </a:spcAft>
            </a:pPr>
            <a:endParaRPr lang="fr-CA" sz="3000" dirty="0"/>
          </a:p>
        </p:txBody>
      </p:sp>
      <p:sp>
        <p:nvSpPr>
          <p:cNvPr id="7" name="ZoneTexte 6"/>
          <p:cNvSpPr txBox="1"/>
          <p:nvPr/>
        </p:nvSpPr>
        <p:spPr>
          <a:xfrm>
            <a:off x="4291265" y="4304631"/>
            <a:ext cx="16042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000" dirty="0"/>
              <a:t>Hybride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de nivellement</a:t>
            </a:r>
          </a:p>
        </p:txBody>
      </p:sp>
      <p:graphicFrame>
        <p:nvGraphicFramePr>
          <p:cNvPr id="10" name="Espace réservé du contenu 9"/>
          <p:cNvGraphicFramePr>
            <a:graphicFrameLocks noGrp="1"/>
          </p:cNvGraphicFramePr>
          <p:nvPr>
            <p:ph idx="1"/>
          </p:nvPr>
        </p:nvGraphicFramePr>
        <p:xfrm>
          <a:off x="1471083" y="1388929"/>
          <a:ext cx="7149042" cy="4194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oupe 33"/>
          <p:cNvGrpSpPr/>
          <p:nvPr/>
        </p:nvGrpSpPr>
        <p:grpSpPr>
          <a:xfrm>
            <a:off x="2208406" y="3594462"/>
            <a:ext cx="1867958" cy="997176"/>
            <a:chOff x="1010992" y="4130681"/>
            <a:chExt cx="2241550" cy="1196610"/>
          </a:xfrm>
        </p:grpSpPr>
        <p:sp>
          <p:nvSpPr>
            <p:cNvPr id="12" name="AutoShape 3"/>
            <p:cNvSpPr>
              <a:spLocks noChangeArrowheads="1"/>
            </p:cNvSpPr>
            <p:nvPr/>
          </p:nvSpPr>
          <p:spPr bwMode="auto">
            <a:xfrm>
              <a:off x="1010992" y="4130681"/>
              <a:ext cx="198438" cy="960438"/>
            </a:xfrm>
            <a:prstGeom prst="upArrow">
              <a:avLst>
                <a:gd name="adj1" fmla="val 50000"/>
                <a:gd name="adj2" fmla="val 121000"/>
              </a:avLst>
            </a:prstGeom>
            <a:solidFill>
              <a:srgbClr val="0A1BBA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fr-CA" sz="1500"/>
            </a:p>
          </p:txBody>
        </p:sp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1241180" y="4662494"/>
              <a:ext cx="2011362" cy="66479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500" b="1" dirty="0">
                  <a:solidFill>
                    <a:srgbClr val="0A1BBA"/>
                  </a:solidFill>
                </a:rPr>
                <a:t>La demande est basse</a:t>
              </a:r>
            </a:p>
          </p:txBody>
        </p:sp>
      </p:grpSp>
      <p:grpSp>
        <p:nvGrpSpPr>
          <p:cNvPr id="28" name="Groupe 27"/>
          <p:cNvGrpSpPr/>
          <p:nvPr/>
        </p:nvGrpSpPr>
        <p:grpSpPr>
          <a:xfrm>
            <a:off x="2112494" y="1654701"/>
            <a:ext cx="1510349" cy="1015663"/>
            <a:chOff x="1010992" y="1666714"/>
            <a:chExt cx="1812419" cy="1218796"/>
          </a:xfrm>
        </p:grpSpPr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1010992" y="1666714"/>
              <a:ext cx="1462087" cy="12187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500" b="1" dirty="0">
                  <a:solidFill>
                    <a:srgbClr val="F632DA"/>
                  </a:solidFill>
                </a:rPr>
                <a:t>La production demeure stable</a:t>
              </a:r>
            </a:p>
          </p:txBody>
        </p:sp>
        <p:cxnSp>
          <p:nvCxnSpPr>
            <p:cNvPr id="20" name="Connecteur droit avec flèche 19"/>
            <p:cNvCxnSpPr/>
            <p:nvPr/>
          </p:nvCxnSpPr>
          <p:spPr bwMode="auto">
            <a:xfrm>
              <a:off x="2246861" y="2262027"/>
              <a:ext cx="576550" cy="609510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rgbClr val="FF33CC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41" name="Groupe 40"/>
          <p:cNvGrpSpPr/>
          <p:nvPr/>
        </p:nvGrpSpPr>
        <p:grpSpPr>
          <a:xfrm>
            <a:off x="2592510" y="3343317"/>
            <a:ext cx="2413000" cy="707929"/>
            <a:chOff x="1242480" y="3834064"/>
            <a:chExt cx="2895600" cy="849515"/>
          </a:xfrm>
        </p:grpSpPr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1242480" y="4295781"/>
              <a:ext cx="2895600" cy="38779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500" b="1" dirty="0">
                  <a:solidFill>
                    <a:srgbClr val="00B050"/>
                  </a:solidFill>
                </a:rPr>
                <a:t>Les stocks augmentent</a:t>
              </a:r>
            </a:p>
          </p:txBody>
        </p:sp>
        <p:cxnSp>
          <p:nvCxnSpPr>
            <p:cNvPr id="23" name="Connecteur droit avec flèche 22"/>
            <p:cNvCxnSpPr>
              <a:stCxn id="21" idx="0"/>
            </p:cNvCxnSpPr>
            <p:nvPr/>
          </p:nvCxnSpPr>
          <p:spPr bwMode="auto">
            <a:xfrm flipH="1" flipV="1">
              <a:off x="2246863" y="3834064"/>
              <a:ext cx="443417" cy="461717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rgbClr val="00B05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33" name="Groupe 32"/>
          <p:cNvGrpSpPr/>
          <p:nvPr/>
        </p:nvGrpSpPr>
        <p:grpSpPr>
          <a:xfrm>
            <a:off x="4783204" y="1549141"/>
            <a:ext cx="2589330" cy="601653"/>
            <a:chOff x="4215845" y="1540042"/>
            <a:chExt cx="3107196" cy="721984"/>
          </a:xfrm>
        </p:grpSpPr>
        <p:cxnSp>
          <p:nvCxnSpPr>
            <p:cNvPr id="27" name="Connecteur droit avec flèche 26"/>
            <p:cNvCxnSpPr/>
            <p:nvPr/>
          </p:nvCxnSpPr>
          <p:spPr bwMode="auto">
            <a:xfrm flipH="1">
              <a:off x="4215845" y="1540042"/>
              <a:ext cx="709081" cy="721984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rgbClr val="0A1BBA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5311679" y="1540042"/>
              <a:ext cx="2011362" cy="66479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500" b="1" dirty="0">
                  <a:solidFill>
                    <a:srgbClr val="0A1BBA"/>
                  </a:solidFill>
                </a:rPr>
                <a:t>La demande augmente</a:t>
              </a:r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4641772" y="3503191"/>
            <a:ext cx="2413000" cy="635240"/>
            <a:chOff x="4215845" y="3900206"/>
            <a:chExt cx="2895600" cy="762288"/>
          </a:xfrm>
        </p:grpSpPr>
        <p:sp>
          <p:nvSpPr>
            <p:cNvPr id="37" name="Text Box 8"/>
            <p:cNvSpPr txBox="1">
              <a:spLocks noChangeArrowheads="1"/>
            </p:cNvSpPr>
            <p:nvPr/>
          </p:nvSpPr>
          <p:spPr bwMode="auto">
            <a:xfrm>
              <a:off x="4215845" y="3900206"/>
              <a:ext cx="2895600" cy="38779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500" b="1" dirty="0">
                  <a:solidFill>
                    <a:srgbClr val="00B050"/>
                  </a:solidFill>
                </a:rPr>
                <a:t>Les stocks diminuent</a:t>
              </a:r>
            </a:p>
          </p:txBody>
        </p:sp>
        <p:cxnSp>
          <p:nvCxnSpPr>
            <p:cNvPr id="39" name="Connecteur droit avec flèche 38"/>
            <p:cNvCxnSpPr/>
            <p:nvPr/>
          </p:nvCxnSpPr>
          <p:spPr bwMode="auto">
            <a:xfrm flipH="1">
              <a:off x="4924926" y="4295781"/>
              <a:ext cx="625642" cy="366713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rgbClr val="00B05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42" name="Ellipse 41"/>
          <p:cNvSpPr/>
          <p:nvPr/>
        </p:nvSpPr>
        <p:spPr bwMode="auto">
          <a:xfrm>
            <a:off x="5133473" y="4685642"/>
            <a:ext cx="1189790" cy="564091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fontAlgn="base">
              <a:spcBef>
                <a:spcPct val="0"/>
              </a:spcBef>
              <a:spcAft>
                <a:spcPct val="0"/>
              </a:spcAft>
            </a:pPr>
            <a:endParaRPr lang="fr-CA" sz="15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4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de nivellement – Temps supplémentaire</a:t>
            </a:r>
          </a:p>
        </p:txBody>
      </p: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A10F2B0A-D450-4CD9-A6A4-0BA91AA0C786}"/>
              </a:ext>
            </a:extLst>
          </p:cNvPr>
          <p:cNvGraphicFramePr>
            <a:graphicFrameLocks noGrp="1"/>
          </p:cNvGraphicFramePr>
          <p:nvPr/>
        </p:nvGraphicFramePr>
        <p:xfrm>
          <a:off x="1634431" y="1970828"/>
          <a:ext cx="7001576" cy="3744172"/>
        </p:xfrm>
        <a:graphic>
          <a:graphicData uri="http://schemas.openxmlformats.org/drawingml/2006/table">
            <a:tbl>
              <a:tblPr/>
              <a:tblGrid>
                <a:gridCol w="73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4943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Initial</a:t>
                      </a:r>
                    </a:p>
                  </a:txBody>
                  <a:tcPr marL="6491" marR="6491" marT="64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4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8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Final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Demande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20 000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38 000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Production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Stocks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1 300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7 275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17 250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21 225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21 200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13 175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7 150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-4 875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-2 900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1 075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1 050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Employés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Embauches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22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Mises à pied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</a:t>
                      </a:r>
                      <a:r>
                        <a:rPr lang="fr-CA" sz="1000" b="0" i="0" u="none" strike="noStrike" dirty="0" err="1">
                          <a:latin typeface="Arial"/>
                        </a:rPr>
                        <a:t>supp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.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0,34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691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mort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algn="r" defTabSz="914400" rtl="0" eaLnBrk="1" fontAlgn="b" latinLnBrk="0" hangingPunct="1"/>
                      <a:r>
                        <a:rPr lang="fr-CA" sz="1000" b="0" i="0" u="none" strike="noStrike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0,00</a:t>
                      </a:r>
                    </a:p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AutoShape 168">
            <a:extLst>
              <a:ext uri="{FF2B5EF4-FFF2-40B4-BE49-F238E27FC236}">
                <a16:creationId xmlns:a16="http://schemas.microsoft.com/office/drawing/2014/main" id="{A92F873D-8657-43DC-8F71-B26BDA2DCD0B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5072724" y="1634870"/>
            <a:ext cx="673365" cy="394229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009C9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25" name="Text Box 169">
            <a:extLst>
              <a:ext uri="{FF2B5EF4-FFF2-40B4-BE49-F238E27FC236}">
                <a16:creationId xmlns:a16="http://schemas.microsoft.com/office/drawing/2014/main" id="{18202906-EFE8-41C6-A578-D37C44AC2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230" y="1410636"/>
            <a:ext cx="3288771" cy="45153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1167" dirty="0">
                <a:solidFill>
                  <a:srgbClr val="009C98"/>
                </a:solidFill>
              </a:rPr>
              <a:t>311 000 + 2 000 – 1 300 </a:t>
            </a:r>
          </a:p>
          <a:p>
            <a:r>
              <a:rPr lang="fr-CA" sz="1167" dirty="0">
                <a:solidFill>
                  <a:srgbClr val="009C98"/>
                </a:solidFill>
              </a:rPr>
              <a:t>= 311 700 / 12 = 25 975 / 160 = 162,34 </a:t>
            </a:r>
            <a:r>
              <a:rPr lang="fr-CA" sz="1167" dirty="0" err="1">
                <a:solidFill>
                  <a:srgbClr val="009C98"/>
                </a:solidFill>
              </a:rPr>
              <a:t>emp</a:t>
            </a:r>
            <a:r>
              <a:rPr lang="fr-CA" sz="1167" dirty="0">
                <a:solidFill>
                  <a:srgbClr val="009C98"/>
                </a:solidFill>
              </a:rPr>
              <a:t>.</a:t>
            </a:r>
            <a:endParaRPr lang="fr-FR" sz="1167" dirty="0">
              <a:solidFill>
                <a:srgbClr val="009C98"/>
              </a:solidFill>
            </a:endParaRPr>
          </a:p>
        </p:txBody>
      </p:sp>
      <p:sp>
        <p:nvSpPr>
          <p:cNvPr id="26" name="Oval 170">
            <a:extLst>
              <a:ext uri="{FF2B5EF4-FFF2-40B4-BE49-F238E27FC236}">
                <a16:creationId xmlns:a16="http://schemas.microsoft.com/office/drawing/2014/main" id="{0F89F1B6-6E77-450E-BC11-B402F88BB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730" y="1565417"/>
            <a:ext cx="939271" cy="279135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29" name="Oval 171">
            <a:extLst>
              <a:ext uri="{FF2B5EF4-FFF2-40B4-BE49-F238E27FC236}">
                <a16:creationId xmlns:a16="http://schemas.microsoft.com/office/drawing/2014/main" id="{51473EC3-CC9D-413E-A1D1-77E109C5C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771" y="1553511"/>
            <a:ext cx="624417" cy="304271"/>
          </a:xfrm>
          <a:prstGeom prst="ellipse">
            <a:avLst/>
          </a:prstGeom>
          <a:noFill/>
          <a:ln w="28575">
            <a:solidFill>
              <a:srgbClr val="185FA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30" name="Oval 167">
            <a:extLst>
              <a:ext uri="{FF2B5EF4-FFF2-40B4-BE49-F238E27FC236}">
                <a16:creationId xmlns:a16="http://schemas.microsoft.com/office/drawing/2014/main" id="{9D03BF68-0384-403C-A1A3-0087CB3CF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546" y="2274074"/>
            <a:ext cx="5850570" cy="431271"/>
          </a:xfrm>
          <a:prstGeom prst="ellipse">
            <a:avLst/>
          </a:prstGeom>
          <a:noFill/>
          <a:ln w="28575">
            <a:solidFill>
              <a:srgbClr val="009C98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31" name="Oval 172">
            <a:extLst>
              <a:ext uri="{FF2B5EF4-FFF2-40B4-BE49-F238E27FC236}">
                <a16:creationId xmlns:a16="http://schemas.microsoft.com/office/drawing/2014/main" id="{8FD9D233-4765-4F80-BFB0-C37F7784B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612" y="2724107"/>
            <a:ext cx="5812205" cy="355864"/>
          </a:xfrm>
          <a:prstGeom prst="ellipse">
            <a:avLst/>
          </a:prstGeom>
          <a:noFill/>
          <a:ln w="28575">
            <a:solidFill>
              <a:srgbClr val="185FA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35" name="Oval 166">
            <a:extLst>
              <a:ext uri="{FF2B5EF4-FFF2-40B4-BE49-F238E27FC236}">
                <a16:creationId xmlns:a16="http://schemas.microsoft.com/office/drawing/2014/main" id="{3A06F67A-6470-407E-8D66-09D68798C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235" y="3566613"/>
            <a:ext cx="5643218" cy="416718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F458B3-8CC3-4BA1-8FBA-3E6190B8A2A2}"/>
              </a:ext>
            </a:extLst>
          </p:cNvPr>
          <p:cNvSpPr/>
          <p:nvPr/>
        </p:nvSpPr>
        <p:spPr bwMode="auto">
          <a:xfrm>
            <a:off x="5529722" y="3133444"/>
            <a:ext cx="967131" cy="43316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fontAlgn="base">
              <a:spcBef>
                <a:spcPct val="0"/>
              </a:spcBef>
              <a:spcAft>
                <a:spcPct val="0"/>
              </a:spcAft>
            </a:pPr>
            <a:endParaRPr lang="fr-CA" sz="1500">
              <a:latin typeface="Arial" pitchFamily="34" charset="0"/>
            </a:endParaRPr>
          </a:p>
        </p:txBody>
      </p:sp>
      <p:sp>
        <p:nvSpPr>
          <p:cNvPr id="38" name="Oval 166">
            <a:extLst>
              <a:ext uri="{FF2B5EF4-FFF2-40B4-BE49-F238E27FC236}">
                <a16:creationId xmlns:a16="http://schemas.microsoft.com/office/drawing/2014/main" id="{0ED397B0-A778-4DD3-B770-7E83E17D0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130" y="4837842"/>
            <a:ext cx="5643218" cy="416718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27B6F128-F7A1-4798-A65B-FA667F2FE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1295368"/>
            <a:ext cx="4001416" cy="323165"/>
          </a:xfrm>
          <a:prstGeom prst="rect">
            <a:avLst/>
          </a:prstGeom>
          <a:solidFill>
            <a:srgbClr val="FFFF00"/>
          </a:solidFill>
          <a:ln w="19050">
            <a:noFill/>
            <a:miter lim="800000"/>
            <a:headEnd type="none" w="sm" len="sm"/>
            <a:tailEnd type="none" w="lg" len="med"/>
          </a:ln>
          <a:effectLst/>
        </p:spPr>
        <p:txBody>
          <a:bodyPr wrap="none">
            <a:spAutoFit/>
          </a:bodyPr>
          <a:lstStyle/>
          <a:p>
            <a:r>
              <a:rPr lang="fr-CA" sz="1500" b="1" dirty="0">
                <a:solidFill>
                  <a:srgbClr val="009C98"/>
                </a:solidFill>
              </a:rPr>
              <a:t>Production mensuelle = 160 u.é / employé</a:t>
            </a:r>
          </a:p>
        </p:txBody>
      </p:sp>
    </p:spTree>
    <p:extLst>
      <p:ext uri="{BB962C8B-B14F-4D97-AF65-F5344CB8AC3E}">
        <p14:creationId xmlns:p14="http://schemas.microsoft.com/office/powerpoint/2010/main" val="240954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 animBg="1"/>
      <p:bldP spid="29" grpId="0" animBg="1"/>
      <p:bldP spid="30" grpId="0" animBg="1"/>
      <p:bldP spid="31" grpId="0" animBg="1"/>
      <p:bldP spid="35" grpId="0" animBg="1"/>
      <p:bldP spid="36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2556-07AF-E888-2EE1-CC3D9EB00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4AE8B-AA8F-A9F0-D04E-3D6AB8C45263}"/>
              </a:ext>
            </a:extLst>
          </p:cNvPr>
          <p:cNvSpPr/>
          <p:nvPr/>
        </p:nvSpPr>
        <p:spPr>
          <a:xfrm>
            <a:off x="7841974" y="4975231"/>
            <a:ext cx="1898374" cy="4515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8AF16C-AACD-947B-4BED-F1CDBC5D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de nivellement – Temps mort</a:t>
            </a:r>
          </a:p>
        </p:txBody>
      </p: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953F2C8F-3EA3-0A7C-3C12-631F18F3B70A}"/>
              </a:ext>
            </a:extLst>
          </p:cNvPr>
          <p:cNvGraphicFramePr>
            <a:graphicFrameLocks noGrp="1"/>
          </p:cNvGraphicFramePr>
          <p:nvPr/>
        </p:nvGraphicFramePr>
        <p:xfrm>
          <a:off x="1634431" y="1970828"/>
          <a:ext cx="7001576" cy="3744172"/>
        </p:xfrm>
        <a:graphic>
          <a:graphicData uri="http://schemas.openxmlformats.org/drawingml/2006/table">
            <a:tbl>
              <a:tblPr/>
              <a:tblGrid>
                <a:gridCol w="73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4943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Initial</a:t>
                      </a:r>
                    </a:p>
                  </a:txBody>
                  <a:tcPr marL="6491" marR="6491" marT="64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4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8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Final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Demande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20 000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38 000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Production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25 975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Stocks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1 300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7 275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17 250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21 225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21 200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13 175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7 150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-4 875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-2 900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1 075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1 050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Employés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Embauches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Mises à pied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</a:t>
                      </a:r>
                      <a:r>
                        <a:rPr lang="fr-CA" sz="1000" b="0" i="0" u="none" strike="noStrike" dirty="0" err="1">
                          <a:latin typeface="Arial"/>
                        </a:rPr>
                        <a:t>supp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.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691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mort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0,66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algn="r" defTabSz="914400" rtl="0" eaLnBrk="1" fontAlgn="b" latinLnBrk="0" hangingPunct="1"/>
                      <a:r>
                        <a:rPr lang="fr-CA" sz="1000" b="0" i="0" u="none" strike="noStrike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0,66</a:t>
                      </a:r>
                    </a:p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 Box 169">
            <a:extLst>
              <a:ext uri="{FF2B5EF4-FFF2-40B4-BE49-F238E27FC236}">
                <a16:creationId xmlns:a16="http://schemas.microsoft.com/office/drawing/2014/main" id="{F818D0B2-6570-AF4D-3158-F946BF8DD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230" y="1410636"/>
            <a:ext cx="3288771" cy="45153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1167" dirty="0">
                <a:solidFill>
                  <a:srgbClr val="009C98"/>
                </a:solidFill>
              </a:rPr>
              <a:t>311 000 + 2 000 – 1 300 </a:t>
            </a:r>
          </a:p>
          <a:p>
            <a:r>
              <a:rPr lang="fr-CA" sz="1167" dirty="0">
                <a:solidFill>
                  <a:srgbClr val="009C98"/>
                </a:solidFill>
              </a:rPr>
              <a:t>= 311 700 / 12 = 25 975 / 160 = 162,34 </a:t>
            </a:r>
            <a:r>
              <a:rPr lang="fr-CA" sz="1167" dirty="0" err="1">
                <a:solidFill>
                  <a:srgbClr val="009C98"/>
                </a:solidFill>
              </a:rPr>
              <a:t>emp</a:t>
            </a:r>
            <a:r>
              <a:rPr lang="fr-CA" sz="1167" dirty="0">
                <a:solidFill>
                  <a:srgbClr val="009C98"/>
                </a:solidFill>
              </a:rPr>
              <a:t>.</a:t>
            </a:r>
            <a:endParaRPr lang="fr-FR" sz="1167" dirty="0">
              <a:solidFill>
                <a:srgbClr val="009C98"/>
              </a:solidFill>
            </a:endParaRPr>
          </a:p>
        </p:txBody>
      </p:sp>
      <p:sp>
        <p:nvSpPr>
          <p:cNvPr id="26" name="Oval 170">
            <a:extLst>
              <a:ext uri="{FF2B5EF4-FFF2-40B4-BE49-F238E27FC236}">
                <a16:creationId xmlns:a16="http://schemas.microsoft.com/office/drawing/2014/main" id="{590E24FA-82A6-DBC6-69B2-8BD359464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730" y="1565417"/>
            <a:ext cx="939271" cy="279135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3D10ABE9-6DBE-8E52-D8B2-0D1E21258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1295368"/>
            <a:ext cx="4001416" cy="323165"/>
          </a:xfrm>
          <a:prstGeom prst="rect">
            <a:avLst/>
          </a:prstGeom>
          <a:solidFill>
            <a:srgbClr val="FFFF00"/>
          </a:solidFill>
          <a:ln w="19050">
            <a:noFill/>
            <a:miter lim="800000"/>
            <a:headEnd type="none" w="sm" len="sm"/>
            <a:tailEnd type="none" w="lg" len="med"/>
          </a:ln>
          <a:effectLst/>
        </p:spPr>
        <p:txBody>
          <a:bodyPr wrap="none">
            <a:spAutoFit/>
          </a:bodyPr>
          <a:lstStyle/>
          <a:p>
            <a:r>
              <a:rPr lang="fr-CA" sz="1500" b="1" dirty="0">
                <a:solidFill>
                  <a:srgbClr val="009C98"/>
                </a:solidFill>
              </a:rPr>
              <a:t>Production mensuelle = 160 u.é / employé</a:t>
            </a:r>
          </a:p>
        </p:txBody>
      </p:sp>
      <p:sp>
        <p:nvSpPr>
          <p:cNvPr id="3" name="Oval 166">
            <a:extLst>
              <a:ext uri="{FF2B5EF4-FFF2-40B4-BE49-F238E27FC236}">
                <a16:creationId xmlns:a16="http://schemas.microsoft.com/office/drawing/2014/main" id="{7DB1BE73-AC05-F4F5-9B70-DD78DED9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235" y="3566613"/>
            <a:ext cx="5643218" cy="416718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5" name="Oval 166">
            <a:extLst>
              <a:ext uri="{FF2B5EF4-FFF2-40B4-BE49-F238E27FC236}">
                <a16:creationId xmlns:a16="http://schemas.microsoft.com/office/drawing/2014/main" id="{AD501D38-AEA8-4DCA-3CD3-C4570D59F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235" y="5267332"/>
            <a:ext cx="5643218" cy="416718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</p:spTree>
    <p:extLst>
      <p:ext uri="{BB962C8B-B14F-4D97-AF65-F5344CB8AC3E}">
        <p14:creationId xmlns:p14="http://schemas.microsoft.com/office/powerpoint/2010/main" val="122469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synchrone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1416845" y="1431092"/>
          <a:ext cx="7203281" cy="4194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066903" y="2602574"/>
            <a:ext cx="1773947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500" b="1" dirty="0">
                <a:solidFill>
                  <a:srgbClr val="6B227A"/>
                </a:solidFill>
              </a:rPr>
              <a:t>La demande et la production se superposent parfaitement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 rot="16200000">
            <a:off x="3455821" y="1659401"/>
            <a:ext cx="218282" cy="915458"/>
          </a:xfrm>
          <a:prstGeom prst="downArrow">
            <a:avLst>
              <a:gd name="adj1" fmla="val 50000"/>
              <a:gd name="adj2" fmla="val 104848"/>
            </a:avLst>
          </a:prstGeom>
          <a:solidFill>
            <a:srgbClr val="0A1BBA"/>
          </a:solidFill>
          <a:ln w="12700">
            <a:solidFill>
              <a:srgbClr val="0A1BB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033922" y="1672273"/>
            <a:ext cx="1497542" cy="5539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b="1" dirty="0">
                <a:solidFill>
                  <a:srgbClr val="0A1BBA"/>
                </a:solidFill>
              </a:rPr>
              <a:t>La demande est forte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 rot="5400000">
            <a:off x="5350580" y="1439541"/>
            <a:ext cx="205052" cy="1368408"/>
          </a:xfrm>
          <a:prstGeom prst="downArrow">
            <a:avLst>
              <a:gd name="adj1" fmla="val 50000"/>
              <a:gd name="adj2" fmla="val 111613"/>
            </a:avLst>
          </a:prstGeom>
          <a:solidFill>
            <a:srgbClr val="F632DA"/>
          </a:solidFill>
          <a:ln w="12700">
            <a:solidFill>
              <a:srgbClr val="F632D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6197589" y="1672273"/>
            <a:ext cx="1497542" cy="5539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b="1" dirty="0">
                <a:solidFill>
                  <a:srgbClr val="F632DA"/>
                </a:solidFill>
              </a:rPr>
              <a:t>On augmente la production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957898" y="4563279"/>
            <a:ext cx="1370263" cy="5539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b="1" dirty="0">
                <a:solidFill>
                  <a:srgbClr val="00B050"/>
                </a:solidFill>
              </a:rPr>
              <a:t>Les stocks sont nuls</a:t>
            </a:r>
          </a:p>
        </p:txBody>
      </p:sp>
      <p:cxnSp>
        <p:nvCxnSpPr>
          <p:cNvPr id="15" name="Connecteur droit avec flèche 14"/>
          <p:cNvCxnSpPr/>
          <p:nvPr/>
        </p:nvCxnSpPr>
        <p:spPr bwMode="auto">
          <a:xfrm>
            <a:off x="2782693" y="4563279"/>
            <a:ext cx="0" cy="53445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B050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3179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synchrone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6E80C0C-8328-4BB8-95FA-E7B8C60168F6}"/>
              </a:ext>
            </a:extLst>
          </p:cNvPr>
          <p:cNvGraphicFramePr>
            <a:graphicFrameLocks noGrp="1"/>
          </p:cNvGraphicFramePr>
          <p:nvPr/>
        </p:nvGraphicFramePr>
        <p:xfrm>
          <a:off x="1634431" y="1978106"/>
          <a:ext cx="7001576" cy="3744172"/>
        </p:xfrm>
        <a:graphic>
          <a:graphicData uri="http://schemas.openxmlformats.org/drawingml/2006/table">
            <a:tbl>
              <a:tblPr/>
              <a:tblGrid>
                <a:gridCol w="73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4943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Initial</a:t>
                      </a:r>
                    </a:p>
                  </a:txBody>
                  <a:tcPr marL="6491" marR="6491" marT="64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4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8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Final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Demande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20 000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38 000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Production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18 700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34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38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Stocks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1 300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Employés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117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117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137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187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187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187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Embauches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Mises à pied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</a:t>
                      </a:r>
                      <a:r>
                        <a:rPr lang="fr-CA" sz="1000" b="0" i="0" u="none" strike="noStrike" dirty="0" err="1">
                          <a:latin typeface="Arial"/>
                        </a:rPr>
                        <a:t>supp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.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25,50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13,00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50,50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12,50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18,75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12,50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691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mort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0,13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17,00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12,50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algn="r" defTabSz="914400" rtl="0" eaLnBrk="1" fontAlgn="b" latinLnBrk="0" hangingPunct="1"/>
                      <a:r>
                        <a:rPr lang="fr-CA" sz="1000" b="0" i="0" u="none" strike="noStrike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0,00</a:t>
                      </a:r>
                    </a:p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AutoShape 168">
            <a:extLst>
              <a:ext uri="{FF2B5EF4-FFF2-40B4-BE49-F238E27FC236}">
                <a16:creationId xmlns:a16="http://schemas.microsoft.com/office/drawing/2014/main" id="{DE6D9EC7-6366-4025-A22A-95EE5FB7E60A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5236765" y="1752670"/>
            <a:ext cx="414633" cy="206793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009C98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17" name="Text Box 169">
            <a:extLst>
              <a:ext uri="{FF2B5EF4-FFF2-40B4-BE49-F238E27FC236}">
                <a16:creationId xmlns:a16="http://schemas.microsoft.com/office/drawing/2014/main" id="{EEB60740-47AD-4E8E-8530-09D8F4B7B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230" y="1618438"/>
            <a:ext cx="3288771" cy="27193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1167" dirty="0">
                <a:solidFill>
                  <a:srgbClr val="009C98"/>
                </a:solidFill>
              </a:rPr>
              <a:t>32 000 / 160 = 200 employés</a:t>
            </a:r>
            <a:endParaRPr lang="fr-FR" sz="1167" dirty="0">
              <a:solidFill>
                <a:srgbClr val="009C98"/>
              </a:solidFill>
            </a:endParaRPr>
          </a:p>
        </p:txBody>
      </p:sp>
      <p:sp>
        <p:nvSpPr>
          <p:cNvPr id="18" name="Oval 172">
            <a:extLst>
              <a:ext uri="{FF2B5EF4-FFF2-40B4-BE49-F238E27FC236}">
                <a16:creationId xmlns:a16="http://schemas.microsoft.com/office/drawing/2014/main" id="{ADCF728D-DD40-4A40-B872-B84252FE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701" y="3159172"/>
            <a:ext cx="5552622" cy="355864"/>
          </a:xfrm>
          <a:prstGeom prst="ellipse">
            <a:avLst/>
          </a:prstGeom>
          <a:noFill/>
          <a:ln w="28575">
            <a:solidFill>
              <a:srgbClr val="185FAB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19" name="Oval 166">
            <a:extLst>
              <a:ext uri="{FF2B5EF4-FFF2-40B4-BE49-F238E27FC236}">
                <a16:creationId xmlns:a16="http://schemas.microsoft.com/office/drawing/2014/main" id="{584E3D44-47FE-4FFC-9ACF-088EA75A9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105" y="4832879"/>
            <a:ext cx="5643218" cy="416718"/>
          </a:xfrm>
          <a:prstGeom prst="ellips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997BD24C-7A49-4960-A923-CF1973B8E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1302646"/>
            <a:ext cx="4001416" cy="323165"/>
          </a:xfrm>
          <a:prstGeom prst="rect">
            <a:avLst/>
          </a:prstGeom>
          <a:solidFill>
            <a:srgbClr val="FFFF00"/>
          </a:solidFill>
          <a:ln w="19050">
            <a:noFill/>
            <a:miter lim="800000"/>
            <a:headEnd type="none" w="sm" len="sm"/>
            <a:tailEnd type="none" w="lg" len="med"/>
          </a:ln>
          <a:effectLst/>
        </p:spPr>
        <p:txBody>
          <a:bodyPr wrap="none">
            <a:spAutoFit/>
          </a:bodyPr>
          <a:lstStyle/>
          <a:p>
            <a:r>
              <a:rPr lang="fr-CA" sz="1500" b="1" dirty="0">
                <a:solidFill>
                  <a:srgbClr val="009C98"/>
                </a:solidFill>
              </a:rPr>
              <a:t>Production mensuelle = 160 u.é / employé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93213A4-F763-41D7-9C34-E9F70A6B187B}"/>
              </a:ext>
            </a:extLst>
          </p:cNvPr>
          <p:cNvSpPr/>
          <p:nvPr/>
        </p:nvSpPr>
        <p:spPr bwMode="auto">
          <a:xfrm>
            <a:off x="5013158" y="2251847"/>
            <a:ext cx="655054" cy="3470431"/>
          </a:xfrm>
          <a:prstGeom prst="ellipse">
            <a:avLst/>
          </a:prstGeom>
          <a:noFill/>
          <a:ln w="25400" cap="flat" cmpd="sng" algn="ctr">
            <a:solidFill>
              <a:srgbClr val="009C9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fontAlgn="base">
              <a:spcBef>
                <a:spcPct val="0"/>
              </a:spcBef>
              <a:spcAft>
                <a:spcPct val="0"/>
              </a:spcAft>
            </a:pPr>
            <a:endParaRPr lang="fr-CA" sz="15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47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hybride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430073" y="1355433"/>
          <a:ext cx="7190052" cy="4262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4305389" y="2519726"/>
            <a:ext cx="243496" cy="1193423"/>
          </a:xfrm>
          <a:prstGeom prst="upArrow">
            <a:avLst>
              <a:gd name="adj1" fmla="val 50000"/>
              <a:gd name="adj2" fmla="val 169022"/>
            </a:avLst>
          </a:prstGeom>
          <a:solidFill>
            <a:srgbClr val="F632DA"/>
          </a:solidFill>
          <a:ln w="12700">
            <a:solidFill>
              <a:srgbClr val="F632DA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48885" y="3169225"/>
            <a:ext cx="1968500" cy="7848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b="1" dirty="0">
                <a:solidFill>
                  <a:srgbClr val="F632DA"/>
                </a:solidFill>
              </a:rPr>
              <a:t>Les changements de main d’œuvre se font en « bloc »</a:t>
            </a:r>
          </a:p>
        </p:txBody>
      </p:sp>
    </p:spTree>
    <p:extLst>
      <p:ext uri="{BB962C8B-B14F-4D97-AF65-F5344CB8AC3E}">
        <p14:creationId xmlns:p14="http://schemas.microsoft.com/office/powerpoint/2010/main" val="28133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Stratégie hybride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4D5A2DAF-6F6E-44A3-9FE7-66C5A2071231}"/>
              </a:ext>
            </a:extLst>
          </p:cNvPr>
          <p:cNvGraphicFramePr>
            <a:graphicFrameLocks noGrp="1"/>
          </p:cNvGraphicFramePr>
          <p:nvPr/>
        </p:nvGraphicFramePr>
        <p:xfrm>
          <a:off x="1634431" y="1970828"/>
          <a:ext cx="7001576" cy="3744172"/>
        </p:xfrm>
        <a:graphic>
          <a:graphicData uri="http://schemas.openxmlformats.org/drawingml/2006/table">
            <a:tbl>
              <a:tblPr/>
              <a:tblGrid>
                <a:gridCol w="73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98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4943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Initial</a:t>
                      </a:r>
                    </a:p>
                  </a:txBody>
                  <a:tcPr marL="6491" marR="6491" marT="649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4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8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11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000" b="0" i="0" u="none" strike="noStrike" dirty="0">
                          <a:latin typeface="Arial"/>
                        </a:rPr>
                        <a:t>Final</a:t>
                      </a: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Demande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20 000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38 000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26 000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24 000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Production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6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6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6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2 6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23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250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23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250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23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2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23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250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Stocks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1 300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9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75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10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6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50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11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3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25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8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6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baseline="0" dirty="0">
                          <a:latin typeface="Arial"/>
                        </a:rPr>
                        <a:t>6 00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8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0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9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250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6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500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 750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2 000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Employés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167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140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Embauches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Mises à pied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27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34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</a:t>
                      </a:r>
                      <a:r>
                        <a:rPr lang="fr-CA" sz="1000" b="0" i="0" u="none" strike="noStrike" dirty="0" err="1">
                          <a:latin typeface="Arial"/>
                        </a:rPr>
                        <a:t>supp</a:t>
                      </a:r>
                      <a:r>
                        <a:rPr lang="fr-CA" sz="1000" b="0" i="0" u="none" strike="noStrike" dirty="0">
                          <a:latin typeface="Arial"/>
                        </a:rPr>
                        <a:t>.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1,72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1,72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</a:t>
                      </a:r>
                      <a:r>
                        <a:rPr lang="fr-CA" sz="1000" b="0" i="0" u="none" strike="noStrike" baseline="0" dirty="0">
                          <a:latin typeface="Arial"/>
                        </a:rPr>
                        <a:t>,72</a:t>
                      </a:r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1,72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33,00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33,00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33,00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33,00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5,31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5,31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5,31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5,31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691">
                <a:tc>
                  <a:txBody>
                    <a:bodyPr/>
                    <a:lstStyle/>
                    <a:p>
                      <a:pPr algn="l" fontAlgn="b"/>
                      <a:r>
                        <a:rPr lang="fr-CA" sz="1000" b="0" i="0" u="none" strike="noStrike" dirty="0">
                          <a:latin typeface="Arial"/>
                        </a:rPr>
                        <a:t>Temps mort</a:t>
                      </a: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CA" sz="1000" b="0" i="0" u="none" strike="noStrike" dirty="0">
                        <a:latin typeface="Arial"/>
                      </a:endParaRPr>
                    </a:p>
                  </a:txBody>
                  <a:tcPr marL="6491" marR="6491" marT="64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CA" sz="1000" b="0" i="0" u="none" strike="noStrike" dirty="0">
                          <a:latin typeface="Arial"/>
                        </a:rPr>
                        <a:t>0,00</a:t>
                      </a:r>
                    </a:p>
                  </a:txBody>
                  <a:tcPr marL="6491" marR="6491" marT="64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algn="r" defTabSz="914400" rtl="0" eaLnBrk="1" fontAlgn="b" latinLnBrk="0" hangingPunct="1"/>
                      <a:r>
                        <a:rPr lang="fr-CA" sz="1000" b="0" i="0" u="none" strike="noStrike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0,00</a:t>
                      </a:r>
                    </a:p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fr-CA" sz="1000" b="0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91" marR="6491" marT="649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val 166">
            <a:extLst>
              <a:ext uri="{FF2B5EF4-FFF2-40B4-BE49-F238E27FC236}">
                <a16:creationId xmlns:a16="http://schemas.microsoft.com/office/drawing/2014/main" id="{5A98A7FA-5231-44BB-BA39-18E89EC75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130" y="3125457"/>
            <a:ext cx="5643218" cy="416718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500"/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63A3308F-BF2F-4A55-9D56-DE09D81F2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1295368"/>
            <a:ext cx="4001416" cy="323165"/>
          </a:xfrm>
          <a:prstGeom prst="rect">
            <a:avLst/>
          </a:prstGeom>
          <a:solidFill>
            <a:srgbClr val="FFFF00"/>
          </a:solidFill>
          <a:ln w="19050">
            <a:noFill/>
            <a:miter lim="800000"/>
            <a:headEnd type="none" w="sm" len="sm"/>
            <a:tailEnd type="none" w="lg" len="med"/>
          </a:ln>
          <a:effectLst/>
        </p:spPr>
        <p:txBody>
          <a:bodyPr wrap="none">
            <a:spAutoFit/>
          </a:bodyPr>
          <a:lstStyle/>
          <a:p>
            <a:r>
              <a:rPr lang="fr-CA" sz="1500" b="1" dirty="0">
                <a:solidFill>
                  <a:srgbClr val="009C98"/>
                </a:solidFill>
              </a:rPr>
              <a:t>Production mensuelle = 160 u.é / employé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95D41-FA8F-4007-8683-1E600A3BE8C3}"/>
              </a:ext>
            </a:extLst>
          </p:cNvPr>
          <p:cNvSpPr/>
          <p:nvPr/>
        </p:nvSpPr>
        <p:spPr bwMode="auto">
          <a:xfrm>
            <a:off x="4531896" y="2269139"/>
            <a:ext cx="1443789" cy="401053"/>
          </a:xfrm>
          <a:prstGeom prst="ellipse">
            <a:avLst/>
          </a:prstGeom>
          <a:noFill/>
          <a:ln w="12700" cap="flat" cmpd="sng" algn="ctr">
            <a:solidFill>
              <a:srgbClr val="0A1BBA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fontAlgn="base">
              <a:spcBef>
                <a:spcPct val="0"/>
              </a:spcBef>
              <a:spcAft>
                <a:spcPct val="0"/>
              </a:spcAft>
            </a:pPr>
            <a:endParaRPr lang="fr-CA" sz="1500">
              <a:latin typeface="Arial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1257A52-A872-4838-B651-17B0ADB31DAF}"/>
              </a:ext>
            </a:extLst>
          </p:cNvPr>
          <p:cNvSpPr txBox="1"/>
          <p:nvPr/>
        </p:nvSpPr>
        <p:spPr>
          <a:xfrm>
            <a:off x="5500688" y="1626164"/>
            <a:ext cx="4001416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33" b="1" dirty="0">
                <a:solidFill>
                  <a:srgbClr val="0A1BBA"/>
                </a:solidFill>
              </a:rPr>
              <a:t>Augmentation de la demande et de l’effectif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5746E389-4EEC-4956-8F6A-1C2681195B3C}"/>
              </a:ext>
            </a:extLst>
          </p:cNvPr>
          <p:cNvCxnSpPr/>
          <p:nvPr/>
        </p:nvCxnSpPr>
        <p:spPr bwMode="auto">
          <a:xfrm flipH="1">
            <a:off x="5347369" y="1707666"/>
            <a:ext cx="13368" cy="43190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A1BBA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B5177573-7A6B-43FD-8159-1E33FBF71896}"/>
              </a:ext>
            </a:extLst>
          </p:cNvPr>
          <p:cNvSpPr/>
          <p:nvPr/>
        </p:nvSpPr>
        <p:spPr bwMode="auto">
          <a:xfrm>
            <a:off x="4652211" y="3632718"/>
            <a:ext cx="588210" cy="735263"/>
          </a:xfrm>
          <a:prstGeom prst="ellipse">
            <a:avLst/>
          </a:prstGeom>
          <a:noFill/>
          <a:ln w="12700" cap="flat" cmpd="sng" algn="ctr">
            <a:solidFill>
              <a:srgbClr val="0A1BBA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fontAlgn="base">
              <a:spcBef>
                <a:spcPct val="0"/>
              </a:spcBef>
              <a:spcAft>
                <a:spcPct val="0"/>
              </a:spcAft>
            </a:pPr>
            <a:endParaRPr lang="fr-CA" sz="1500">
              <a:latin typeface="Arial" pitchFamily="34" charset="0"/>
            </a:endParaRP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07FB6C4-B085-431C-B0EE-05658ED09E54}"/>
              </a:ext>
            </a:extLst>
          </p:cNvPr>
          <p:cNvCxnSpPr/>
          <p:nvPr/>
        </p:nvCxnSpPr>
        <p:spPr bwMode="auto">
          <a:xfrm flipH="1" flipV="1">
            <a:off x="5240421" y="4247666"/>
            <a:ext cx="427791" cy="22726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A1BBA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173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FD146A97-0094-44A7-984E-BF4EA6C68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02258"/>
              </p:ext>
            </p:extLst>
          </p:nvPr>
        </p:nvGraphicFramePr>
        <p:xfrm>
          <a:off x="858729" y="1602114"/>
          <a:ext cx="8068172" cy="321085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69709">
                  <a:extLst>
                    <a:ext uri="{9D8B030D-6E8A-4147-A177-3AD203B41FA5}">
                      <a16:colId xmlns:a16="http://schemas.microsoft.com/office/drawing/2014/main" val="1093697422"/>
                    </a:ext>
                  </a:extLst>
                </a:gridCol>
                <a:gridCol w="1532821">
                  <a:extLst>
                    <a:ext uri="{9D8B030D-6E8A-4147-A177-3AD203B41FA5}">
                      <a16:colId xmlns:a16="http://schemas.microsoft.com/office/drawing/2014/main" val="3694238744"/>
                    </a:ext>
                  </a:extLst>
                </a:gridCol>
                <a:gridCol w="1532821">
                  <a:extLst>
                    <a:ext uri="{9D8B030D-6E8A-4147-A177-3AD203B41FA5}">
                      <a16:colId xmlns:a16="http://schemas.microsoft.com/office/drawing/2014/main" val="3484941338"/>
                    </a:ext>
                  </a:extLst>
                </a:gridCol>
                <a:gridCol w="1532821">
                  <a:extLst>
                    <a:ext uri="{9D8B030D-6E8A-4147-A177-3AD203B41FA5}">
                      <a16:colId xmlns:a16="http://schemas.microsoft.com/office/drawing/2014/main" val="986741952"/>
                    </a:ext>
                  </a:extLst>
                </a:gridCol>
              </a:tblGrid>
              <a:tr h="650537">
                <a:tc>
                  <a:txBody>
                    <a:bodyPr/>
                    <a:lstStyle/>
                    <a:p>
                      <a:endParaRPr lang="fr-CA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noProof="0"/>
                        <a:t>Plan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noProof="0"/>
                        <a:t>Plan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noProof="0"/>
                        <a:t>Plan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048173"/>
                  </a:ext>
                </a:extLst>
              </a:tr>
              <a:tr h="331009">
                <a:tc>
                  <a:txBody>
                    <a:bodyPr/>
                    <a:lstStyle/>
                    <a:p>
                      <a:r>
                        <a:rPr lang="fr-CA" noProof="0"/>
                        <a:t>Mouvements de main-d’oeuvre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578756"/>
                  </a:ext>
                </a:extLst>
              </a:tr>
              <a:tr h="331009">
                <a:tc>
                  <a:txBody>
                    <a:bodyPr/>
                    <a:lstStyle/>
                    <a:p>
                      <a:r>
                        <a:rPr lang="fr-CA" noProof="0"/>
                        <a:t>Temps supplémentaire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560945"/>
                  </a:ext>
                </a:extLst>
              </a:tr>
              <a:tr h="331009">
                <a:tc>
                  <a:txBody>
                    <a:bodyPr/>
                    <a:lstStyle/>
                    <a:p>
                      <a:r>
                        <a:rPr lang="fr-CA" noProof="0"/>
                        <a:t>Capacité inutilisée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115489"/>
                  </a:ext>
                </a:extLst>
              </a:tr>
              <a:tr h="331009">
                <a:tc>
                  <a:txBody>
                    <a:bodyPr/>
                    <a:lstStyle/>
                    <a:p>
                      <a:r>
                        <a:rPr lang="fr-CA" noProof="0"/>
                        <a:t>Pénurie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892657"/>
                  </a:ext>
                </a:extLst>
              </a:tr>
              <a:tr h="331009">
                <a:tc>
                  <a:txBody>
                    <a:bodyPr/>
                    <a:lstStyle/>
                    <a:p>
                      <a:r>
                        <a:rPr lang="fr-CA" noProof="0"/>
                        <a:t>Stock de 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977459"/>
                  </a:ext>
                </a:extLst>
              </a:tr>
              <a:tr h="331009">
                <a:tc>
                  <a:txBody>
                    <a:bodyPr/>
                    <a:lstStyle/>
                    <a:p>
                      <a:r>
                        <a:rPr lang="fr-CA" noProof="0"/>
                        <a:t>Espace de stockage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750032"/>
                  </a:ext>
                </a:extLst>
              </a:tr>
              <a:tr h="246088">
                <a:tc>
                  <a:txBody>
                    <a:bodyPr/>
                    <a:lstStyle/>
                    <a:p>
                      <a:r>
                        <a:rPr lang="fr-CA" noProof="0"/>
                        <a:t>Coût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CA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537047"/>
                  </a:ext>
                </a:extLst>
              </a:tr>
            </a:tbl>
          </a:graphicData>
        </a:graphic>
      </p:graphicFrame>
      <p:sp>
        <p:nvSpPr>
          <p:cNvPr id="10" name="Titre 9">
            <a:extLst>
              <a:ext uri="{FF2B5EF4-FFF2-40B4-BE49-F238E27FC236}">
                <a16:creationId xmlns:a16="http://schemas.microsoft.com/office/drawing/2014/main" id="{993BD22C-EBBA-422B-BD42-5D0D7D6C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 fontAlgn="base">
              <a:spcAft>
                <a:spcPct val="0"/>
              </a:spcAft>
            </a:pPr>
            <a:r>
              <a:rPr lang="en-CA" sz="1800" i="1" dirty="0" err="1"/>
              <a:t>Exercice</a:t>
            </a:r>
            <a:br>
              <a:rPr lang="en-CA" sz="1800" i="1" dirty="0"/>
            </a:br>
            <a:r>
              <a:rPr lang="en-CA" sz="3200" dirty="0" err="1">
                <a:latin typeface="Arial Black" panose="020B0A04020102020204" pitchFamily="34" charset="0"/>
              </a:rPr>
              <a:t>Électroflux</a:t>
            </a:r>
            <a:r>
              <a:rPr lang="en-CA" sz="3200" dirty="0">
                <a:latin typeface="Arial Black" panose="020B0A04020102020204" pitchFamily="34" charset="0"/>
              </a:rPr>
              <a:t> (p. 147)</a:t>
            </a:r>
          </a:p>
        </p:txBody>
      </p:sp>
    </p:spTree>
    <p:extLst>
      <p:ext uri="{BB962C8B-B14F-4D97-AF65-F5344CB8AC3E}">
        <p14:creationId xmlns:p14="http://schemas.microsoft.com/office/powerpoint/2010/main" val="22257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993BD22C-EBBA-422B-BD42-5D0D7D6C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 fontAlgn="base">
              <a:spcAft>
                <a:spcPct val="0"/>
              </a:spcAft>
            </a:pPr>
            <a:r>
              <a:rPr lang="en-CA" sz="1800" i="1" dirty="0" err="1"/>
              <a:t>Exercice</a:t>
            </a:r>
            <a:br>
              <a:rPr lang="en-CA" sz="1800" i="1" dirty="0"/>
            </a:br>
            <a:r>
              <a:rPr lang="en-CA" sz="3200" dirty="0" err="1">
                <a:latin typeface="Arial Black" panose="020B0A04020102020204" pitchFamily="34" charset="0"/>
              </a:rPr>
              <a:t>Électroflux</a:t>
            </a:r>
            <a:r>
              <a:rPr lang="en-CA" sz="3200" dirty="0">
                <a:latin typeface="Arial Black" panose="020B0A04020102020204" pitchFamily="34" charset="0"/>
              </a:rPr>
              <a:t> (p. 147)</a:t>
            </a:r>
          </a:p>
        </p:txBody>
      </p:sp>
    </p:spTree>
    <p:extLst>
      <p:ext uri="{BB962C8B-B14F-4D97-AF65-F5344CB8AC3E}">
        <p14:creationId xmlns:p14="http://schemas.microsoft.com/office/powerpoint/2010/main" val="265586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eate a new document." ma:contentTypeScope="" ma:versionID="3c475ebf5c37c9908ef278591141ee10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f940d8203d3249c8262e44e123d73b5d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199680-8D51-4C69-BDCB-0AE59F6A55DF}"/>
</file>

<file path=customXml/itemProps2.xml><?xml version="1.0" encoding="utf-8"?>
<ds:datastoreItem xmlns:ds="http://schemas.openxmlformats.org/officeDocument/2006/customXml" ds:itemID="{76F6E432-A35C-4E70-A04A-CCAD4EF0200A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abcda3d6-2d03-49e1-9293-8daf0cc773fd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E6880A9-1607-4E26-9454-A5F3F84A53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972</Words>
  <Application>Microsoft Office PowerPoint</Application>
  <PresentationFormat>Personnalisé</PresentationFormat>
  <Paragraphs>601</Paragraphs>
  <Slides>16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Lato Light</vt:lpstr>
      <vt:lpstr>Thème HEC</vt:lpstr>
      <vt:lpstr>OPER10500 Gestion des opérations</vt:lpstr>
      <vt:lpstr>Carte conceptuelle</vt:lpstr>
      <vt:lpstr>Carte conceptuelle</vt:lpstr>
      <vt:lpstr>Présentation PowerPoint</vt:lpstr>
      <vt:lpstr>Unités équivalentes</vt:lpstr>
      <vt:lpstr>Types de stratégies</vt:lpstr>
      <vt:lpstr>Stratégie de nivellement</vt:lpstr>
      <vt:lpstr>Stratégie de nivellement – Temps supplémentaire</vt:lpstr>
      <vt:lpstr>Stratégie de nivellement – Temps mort</vt:lpstr>
      <vt:lpstr>Stratégie synchrone</vt:lpstr>
      <vt:lpstr>Stratégie synchrone</vt:lpstr>
      <vt:lpstr>Stratégie hybride</vt:lpstr>
      <vt:lpstr>Stratégie hybride</vt:lpstr>
      <vt:lpstr>Exercice Électroflux (p. 147)</vt:lpstr>
      <vt:lpstr>Exercice Électroflux (p. 147)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OPER10500 Gestion des opérations</dc:title>
  <dc:creator>veronique poirier</dc:creator>
  <cp:lastModifiedBy>Véronique Poirier</cp:lastModifiedBy>
  <cp:revision>28</cp:revision>
  <dcterms:created xsi:type="dcterms:W3CDTF">2020-07-21T19:41:54Z</dcterms:created>
  <dcterms:modified xsi:type="dcterms:W3CDTF">2026-05-20T16:35:39Z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