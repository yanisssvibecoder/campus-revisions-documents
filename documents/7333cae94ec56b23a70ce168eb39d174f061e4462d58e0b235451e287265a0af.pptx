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charts/chart6.xml" ContentType="application/vnd.openxmlformats-officedocument.drawingml.chart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charts/chart7.xml" ContentType="application/vnd.openxmlformats-officedocument.drawingml.chart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88" r:id="rId3"/>
    <p:sldId id="290" r:id="rId4"/>
    <p:sldId id="293" r:id="rId5"/>
    <p:sldId id="294" r:id="rId6"/>
    <p:sldId id="350" r:id="rId7"/>
    <p:sldId id="295" r:id="rId8"/>
    <p:sldId id="296" r:id="rId9"/>
    <p:sldId id="322" r:id="rId10"/>
    <p:sldId id="318" r:id="rId11"/>
    <p:sldId id="316" r:id="rId12"/>
    <p:sldId id="319" r:id="rId13"/>
    <p:sldId id="315" r:id="rId14"/>
    <p:sldId id="314" r:id="rId15"/>
    <p:sldId id="313" r:id="rId16"/>
    <p:sldId id="320" r:id="rId17"/>
    <p:sldId id="333" r:id="rId18"/>
    <p:sldId id="332" r:id="rId19"/>
    <p:sldId id="335" r:id="rId20"/>
    <p:sldId id="334" r:id="rId21"/>
    <p:sldId id="337" r:id="rId22"/>
    <p:sldId id="346" r:id="rId23"/>
    <p:sldId id="347" r:id="rId24"/>
    <p:sldId id="349" r:id="rId25"/>
    <p:sldId id="348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286" r:id="rId34"/>
    <p:sldId id="287" r:id="rId35"/>
    <p:sldId id="336" r:id="rId36"/>
    <p:sldId id="345" r:id="rId37"/>
    <p:sldId id="330" r:id="rId3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6" autoAdjust="0"/>
    <p:restoredTop sz="94627" autoAdjust="0"/>
  </p:normalViewPr>
  <p:slideViewPr>
    <p:cSldViewPr>
      <p:cViewPr varScale="1">
        <p:scale>
          <a:sx n="137" d="100"/>
          <a:sy n="137" d="100"/>
        </p:scale>
        <p:origin x="804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30" y="112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1532453636645616"/>
          <c:y val="2.1849435286430602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32E-2"/>
          <c:y val="0.12757973733583489"/>
          <c:w val="0.87878787878788078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1.0000000000000007E-2</c:v>
                </c:pt>
                <c:pt idx="1">
                  <c:v>1.2000000000000002E-2</c:v>
                </c:pt>
                <c:pt idx="2">
                  <c:v>1.4000000000000002E-2</c:v>
                </c:pt>
                <c:pt idx="3">
                  <c:v>1.6000000000000025E-2</c:v>
                </c:pt>
                <c:pt idx="4">
                  <c:v>1.8000000000000002E-2</c:v>
                </c:pt>
                <c:pt idx="5">
                  <c:v>2.0000000000000014E-2</c:v>
                </c:pt>
                <c:pt idx="6">
                  <c:v>2.2000000000000002E-2</c:v>
                </c:pt>
                <c:pt idx="7">
                  <c:v>2.4000000000000004E-2</c:v>
                </c:pt>
                <c:pt idx="8">
                  <c:v>2.6000000000000002E-2</c:v>
                </c:pt>
                <c:pt idx="9">
                  <c:v>2.8000000000000004E-2</c:v>
                </c:pt>
                <c:pt idx="10">
                  <c:v>3.0000000000000006E-2</c:v>
                </c:pt>
                <c:pt idx="11">
                  <c:v>3.2000000000000049E-2</c:v>
                </c:pt>
                <c:pt idx="12">
                  <c:v>3.4000000000000002E-2</c:v>
                </c:pt>
                <c:pt idx="13">
                  <c:v>3.6000000000000004E-2</c:v>
                </c:pt>
                <c:pt idx="14">
                  <c:v>3.8000000000000006E-2</c:v>
                </c:pt>
                <c:pt idx="15">
                  <c:v>4.0000000000000029E-2</c:v>
                </c:pt>
                <c:pt idx="16">
                  <c:v>4.200000000000003E-2</c:v>
                </c:pt>
                <c:pt idx="17">
                  <c:v>4.4000000000000004E-2</c:v>
                </c:pt>
                <c:pt idx="18">
                  <c:v>4.6000000000000006E-2</c:v>
                </c:pt>
                <c:pt idx="19">
                  <c:v>4.8000000000000008E-2</c:v>
                </c:pt>
                <c:pt idx="20">
                  <c:v>5.000000000000001E-2</c:v>
                </c:pt>
                <c:pt idx="21">
                  <c:v>5.2000000000000005E-2</c:v>
                </c:pt>
                <c:pt idx="22">
                  <c:v>5.4000000000000006E-2</c:v>
                </c:pt>
                <c:pt idx="23">
                  <c:v>5.6000000000000008E-2</c:v>
                </c:pt>
                <c:pt idx="24">
                  <c:v>5.800000000000001E-2</c:v>
                </c:pt>
                <c:pt idx="25">
                  <c:v>6.0000000000000039E-2</c:v>
                </c:pt>
                <c:pt idx="26">
                  <c:v>6.2000000000000041E-2</c:v>
                </c:pt>
                <c:pt idx="27">
                  <c:v>6.4000000000000126E-2</c:v>
                </c:pt>
                <c:pt idx="28">
                  <c:v>6.6000000000000003E-2</c:v>
                </c:pt>
                <c:pt idx="29">
                  <c:v>6.8000000000000033E-2</c:v>
                </c:pt>
                <c:pt idx="30">
                  <c:v>7.0000000000000034E-2</c:v>
                </c:pt>
                <c:pt idx="31">
                  <c:v>7.2000000000000008E-2</c:v>
                </c:pt>
                <c:pt idx="32">
                  <c:v>7.400000000000001E-2</c:v>
                </c:pt>
                <c:pt idx="33">
                  <c:v>7.6000000000000012E-2</c:v>
                </c:pt>
                <c:pt idx="34">
                  <c:v>7.8000000000000028E-2</c:v>
                </c:pt>
                <c:pt idx="35">
                  <c:v>8.0000000000000057E-2</c:v>
                </c:pt>
                <c:pt idx="36">
                  <c:v>8.2000000000000003E-2</c:v>
                </c:pt>
                <c:pt idx="37">
                  <c:v>8.4000000000000061E-2</c:v>
                </c:pt>
                <c:pt idx="38">
                  <c:v>8.6000000000000035E-2</c:v>
                </c:pt>
                <c:pt idx="39">
                  <c:v>8.8000000000000078E-2</c:v>
                </c:pt>
                <c:pt idx="40">
                  <c:v>9.0000000000000038E-2</c:v>
                </c:pt>
                <c:pt idx="41">
                  <c:v>9.2000000000000026E-2</c:v>
                </c:pt>
                <c:pt idx="42">
                  <c:v>9.4000000000000042E-2</c:v>
                </c:pt>
                <c:pt idx="43">
                  <c:v>9.6000000000000016E-2</c:v>
                </c:pt>
                <c:pt idx="44">
                  <c:v>9.800000000000024E-2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0.10800000000000012</c:v>
                </c:pt>
                <c:pt idx="50">
                  <c:v>0.11000000000000001</c:v>
                </c:pt>
                <c:pt idx="51">
                  <c:v>0.11200000000000002</c:v>
                </c:pt>
                <c:pt idx="52">
                  <c:v>0.11400000000000002</c:v>
                </c:pt>
                <c:pt idx="53">
                  <c:v>0.11600000000000003</c:v>
                </c:pt>
                <c:pt idx="54">
                  <c:v>0.11799999999999999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0.12400000000000012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0.15000000000000024</c:v>
                </c:pt>
                <c:pt idx="71">
                  <c:v>0.15200000000000041</c:v>
                </c:pt>
                <c:pt idx="72">
                  <c:v>0.15400000000000041</c:v>
                </c:pt>
                <c:pt idx="73">
                  <c:v>0.15600000000000044</c:v>
                </c:pt>
                <c:pt idx="74">
                  <c:v>0.15800000000000047</c:v>
                </c:pt>
                <c:pt idx="75">
                  <c:v>0.16000000000000003</c:v>
                </c:pt>
                <c:pt idx="76">
                  <c:v>0.16200000000000003</c:v>
                </c:pt>
                <c:pt idx="77">
                  <c:v>0.16400000000000003</c:v>
                </c:pt>
                <c:pt idx="78">
                  <c:v>0.16600000000000004</c:v>
                </c:pt>
                <c:pt idx="79">
                  <c:v>0.16800000000000004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0.18000000000000024</c:v>
                </c:pt>
                <c:pt idx="86">
                  <c:v>0.18200000000000024</c:v>
                </c:pt>
                <c:pt idx="87">
                  <c:v>0.18400000000000041</c:v>
                </c:pt>
                <c:pt idx="88">
                  <c:v>0.18600000000000044</c:v>
                </c:pt>
                <c:pt idx="89">
                  <c:v>0.18800000000000044</c:v>
                </c:pt>
                <c:pt idx="90">
                  <c:v>0.19000000000000003</c:v>
                </c:pt>
                <c:pt idx="91">
                  <c:v>0.19200000000000003</c:v>
                </c:pt>
                <c:pt idx="92">
                  <c:v>0.19400000000000003</c:v>
                </c:pt>
                <c:pt idx="93">
                  <c:v>0.19600000000000004</c:v>
                </c:pt>
                <c:pt idx="94">
                  <c:v>0.19800000000000004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0.21200000000000024</c:v>
                </c:pt>
                <c:pt idx="102">
                  <c:v>0.21400000000000041</c:v>
                </c:pt>
                <c:pt idx="103">
                  <c:v>0.21600000000000041</c:v>
                </c:pt>
                <c:pt idx="104">
                  <c:v>0.21800000000000044</c:v>
                </c:pt>
                <c:pt idx="105">
                  <c:v>0.22000000000000003</c:v>
                </c:pt>
                <c:pt idx="106">
                  <c:v>0.22200000000000003</c:v>
                </c:pt>
                <c:pt idx="107">
                  <c:v>0.22400000000000003</c:v>
                </c:pt>
                <c:pt idx="108">
                  <c:v>0.22600000000000003</c:v>
                </c:pt>
                <c:pt idx="109">
                  <c:v>0.22800000000000004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0.24400000000000024</c:v>
                </c:pt>
                <c:pt idx="118">
                  <c:v>0.24600000000000041</c:v>
                </c:pt>
                <c:pt idx="119">
                  <c:v>0.24800000000000041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0.31000000000000089</c:v>
                </c:pt>
                <c:pt idx="151">
                  <c:v>0.31200000000000089</c:v>
                </c:pt>
                <c:pt idx="152">
                  <c:v>0.31400000000000089</c:v>
                </c:pt>
                <c:pt idx="153">
                  <c:v>0.31600000000000095</c:v>
                </c:pt>
                <c:pt idx="154">
                  <c:v>0.318000000000001</c:v>
                </c:pt>
                <c:pt idx="155">
                  <c:v>0.32000000000000101</c:v>
                </c:pt>
                <c:pt idx="156">
                  <c:v>0.32200000000000101</c:v>
                </c:pt>
                <c:pt idx="157">
                  <c:v>0.32400000000000101</c:v>
                </c:pt>
                <c:pt idx="158">
                  <c:v>0.32600000000000101</c:v>
                </c:pt>
                <c:pt idx="159">
                  <c:v>0.32800000000000101</c:v>
                </c:pt>
                <c:pt idx="160">
                  <c:v>0.33000000000000113</c:v>
                </c:pt>
                <c:pt idx="161">
                  <c:v>0.33200000000000113</c:v>
                </c:pt>
                <c:pt idx="162">
                  <c:v>0.33400000000000113</c:v>
                </c:pt>
                <c:pt idx="163">
                  <c:v>0.33600000000000113</c:v>
                </c:pt>
                <c:pt idx="164">
                  <c:v>0.33800000000000113</c:v>
                </c:pt>
                <c:pt idx="165">
                  <c:v>0.34000000000000008</c:v>
                </c:pt>
                <c:pt idx="166">
                  <c:v>0.34200000000000014</c:v>
                </c:pt>
                <c:pt idx="167">
                  <c:v>0.34400000000000014</c:v>
                </c:pt>
                <c:pt idx="168">
                  <c:v>0.34600000000000036</c:v>
                </c:pt>
                <c:pt idx="169">
                  <c:v>0.34800000000000036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0.37200000000000089</c:v>
                </c:pt>
                <c:pt idx="182">
                  <c:v>0.37400000000000089</c:v>
                </c:pt>
                <c:pt idx="183">
                  <c:v>0.37600000000000089</c:v>
                </c:pt>
                <c:pt idx="184">
                  <c:v>0.37800000000000089</c:v>
                </c:pt>
                <c:pt idx="185">
                  <c:v>0.380000000000001</c:v>
                </c:pt>
                <c:pt idx="186">
                  <c:v>0.38200000000000101</c:v>
                </c:pt>
                <c:pt idx="187">
                  <c:v>0.38400000000000101</c:v>
                </c:pt>
                <c:pt idx="188">
                  <c:v>0.38600000000000101</c:v>
                </c:pt>
                <c:pt idx="189">
                  <c:v>0.38800000000000101</c:v>
                </c:pt>
                <c:pt idx="190">
                  <c:v>0.39000000000000101</c:v>
                </c:pt>
                <c:pt idx="191">
                  <c:v>0.39200000000000113</c:v>
                </c:pt>
                <c:pt idx="192">
                  <c:v>0.39400000000000113</c:v>
                </c:pt>
                <c:pt idx="193">
                  <c:v>0.39600000000000113</c:v>
                </c:pt>
                <c:pt idx="194">
                  <c:v>0.39800000000000113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1318.6508088644148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1222.9147512233001</c:v>
                </c:pt>
                <c:pt idx="10">
                  <c:v>1200.304053663448</c:v>
                </c:pt>
                <c:pt idx="11">
                  <c:v>1178.1972112182348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915.32228938991511</c:v>
                </c:pt>
                <c:pt idx="26">
                  <c:v>899.47273836770046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811.28494271763748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771.29555287904793</c:v>
                </c:pt>
                <c:pt idx="36">
                  <c:v>758.52721247140732</c:v>
                </c:pt>
                <c:pt idx="37">
                  <c:v>746.02873224110419</c:v>
                </c:pt>
                <c:pt idx="38">
                  <c:v>733.79383299585584</c:v>
                </c:pt>
                <c:pt idx="39">
                  <c:v>721.81639074524139</c:v>
                </c:pt>
                <c:pt idx="40">
                  <c:v>710.09043267930906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624.66634736662093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560.73748652824304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505.33340491616423</c:v>
                </c:pt>
                <c:pt idx="63">
                  <c:v>498.03861792591664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470.27474246860197</c:v>
                </c:pt>
                <c:pt idx="68">
                  <c:v>463.67201326827086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444.62837845755394</c:v>
                </c:pt>
                <c:pt idx="72">
                  <c:v>438.52603362354216</c:v>
                </c:pt>
                <c:pt idx="73">
                  <c:v>432.54196164827869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388.62763455007399</c:v>
                </c:pt>
                <c:pt idx="82">
                  <c:v>383.59804246864309</c:v>
                </c:pt>
                <c:pt idx="83">
                  <c:v>378.66330433894672</c:v>
                </c:pt>
                <c:pt idx="84">
                  <c:v>373.82136947110217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359.83258772304401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318.47036488258669</c:v>
                </c:pt>
                <c:pt idx="98">
                  <c:v>314.73711371914823</c:v>
                </c:pt>
                <c:pt idx="99">
                  <c:v>311.0710359886337</c:v>
                </c:pt>
                <c:pt idx="100">
                  <c:v>307.47072040292392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290.40839088867614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274.79605724930349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266.06420329342586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252.47942292485732</c:v>
                </c:pt>
                <c:pt idx="119">
                  <c:v>249.89899326120872</c:v>
                </c:pt>
                <c:pt idx="120">
                  <c:v>247.36193617979092</c:v>
                </c:pt>
                <c:pt idx="121">
                  <c:v>244.86737664598178</c:v>
                </c:pt>
                <c:pt idx="122">
                  <c:v>242.41445901167077</c:v>
                </c:pt>
                <c:pt idx="123">
                  <c:v>240.00234655831048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230.74585206771036</c:v>
                </c:pt>
                <c:pt idx="128">
                  <c:v>228.52584668881556</c:v>
                </c:pt>
                <c:pt idx="129">
                  <c:v>226.34199949913506</c:v>
                </c:pt>
                <c:pt idx="130">
                  <c:v>224.19359440607897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210.09018356921752</c:v>
                </c:pt>
                <c:pt idx="138">
                  <c:v>208.2013403326763</c:v>
                </c:pt>
                <c:pt idx="139">
                  <c:v>206.34215695023164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199.19070756612192</c:v>
                </c:pt>
                <c:pt idx="144">
                  <c:v>197.47144304761304</c:v>
                </c:pt>
                <c:pt idx="145">
                  <c:v>195.77856899241738</c:v>
                </c:pt>
                <c:pt idx="146">
                  <c:v>194.11158063236928</c:v>
                </c:pt>
                <c:pt idx="147">
                  <c:v>192.46998397085628</c:v>
                </c:pt>
                <c:pt idx="148">
                  <c:v>190.85329553652642</c:v>
                </c:pt>
                <c:pt idx="149">
                  <c:v>189.26104214292531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181.65043011381547</c:v>
                </c:pt>
                <c:pt idx="155">
                  <c:v>180.1953971443746</c:v>
                </c:pt>
                <c:pt idx="156">
                  <c:v>178.76175587536034</c:v>
                </c:pt>
                <c:pt idx="157">
                  <c:v>177.34910741061978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173.23325423007111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166.75846848299028</c:v>
                </c:pt>
                <c:pt idx="166">
                  <c:v>165.51812494527957</c:v>
                </c:pt>
                <c:pt idx="167">
                  <c:v>164.29521563628631</c:v>
                </c:pt>
                <c:pt idx="168">
                  <c:v>163.08942400561673</c:v>
                </c:pt>
                <c:pt idx="169">
                  <c:v>161.90044002221563</c:v>
                </c:pt>
                <c:pt idx="170">
                  <c:v>160.72796002940692</c:v>
                </c:pt>
                <c:pt idx="171">
                  <c:v>159.57168660333795</c:v>
                </c:pt>
                <c:pt idx="172">
                  <c:v>158.43132841473681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155.10292058702947</c:v>
                </c:pt>
                <c:pt idx="176">
                  <c:v>154.02342728843183</c:v>
                </c:pt>
                <c:pt idx="177">
                  <c:v>152.95847938406098</c:v>
                </c:pt>
                <c:pt idx="178">
                  <c:v>151.90781938532663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147.84308875985212</c:v>
                </c:pt>
                <c:pt idx="183">
                  <c:v>146.86018448036461</c:v>
                </c:pt>
                <c:pt idx="184">
                  <c:v>145.8901287435859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138.56634746718748</c:v>
                </c:pt>
                <c:pt idx="193">
                  <c:v>137.70239591134199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A6F-4148-9C51-40BE84C7D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2575368"/>
        <c:axId val="422576152"/>
      </c:scatterChart>
      <c:valAx>
        <c:axId val="422575368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996"/>
              <c:y val="0.93621011234818419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2576152"/>
        <c:crosses val="autoZero"/>
        <c:crossBetween val="midCat"/>
      </c:valAx>
      <c:valAx>
        <c:axId val="4225761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2575368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1532453636645616"/>
          <c:y val="2.8568594280514299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278E-2"/>
          <c:y val="0.12757973733583489"/>
          <c:w val="0.87878787878788045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1.0000000000000005E-2</c:v>
                </c:pt>
                <c:pt idx="1">
                  <c:v>1.2E-2</c:v>
                </c:pt>
                <c:pt idx="2">
                  <c:v>1.4E-2</c:v>
                </c:pt>
                <c:pt idx="3">
                  <c:v>1.6000000000000021E-2</c:v>
                </c:pt>
                <c:pt idx="4">
                  <c:v>1.7999999999999999E-2</c:v>
                </c:pt>
                <c:pt idx="5">
                  <c:v>2.0000000000000011E-2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3.0000000000000002E-2</c:v>
                </c:pt>
                <c:pt idx="11">
                  <c:v>3.2000000000000042E-2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4.0000000000000022E-2</c:v>
                </c:pt>
                <c:pt idx="16">
                  <c:v>4.2000000000000023E-2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6.0000000000000032E-2</c:v>
                </c:pt>
                <c:pt idx="26">
                  <c:v>6.2000000000000034E-2</c:v>
                </c:pt>
                <c:pt idx="27">
                  <c:v>6.4000000000000112E-2</c:v>
                </c:pt>
                <c:pt idx="28">
                  <c:v>6.6000000000000003E-2</c:v>
                </c:pt>
                <c:pt idx="29">
                  <c:v>6.8000000000000019E-2</c:v>
                </c:pt>
                <c:pt idx="30">
                  <c:v>7.0000000000000021E-2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7.8000000000000014E-2</c:v>
                </c:pt>
                <c:pt idx="35">
                  <c:v>8.0000000000000043E-2</c:v>
                </c:pt>
                <c:pt idx="36">
                  <c:v>8.2000000000000003E-2</c:v>
                </c:pt>
                <c:pt idx="37">
                  <c:v>8.4000000000000047E-2</c:v>
                </c:pt>
                <c:pt idx="38">
                  <c:v>8.6000000000000021E-2</c:v>
                </c:pt>
                <c:pt idx="39">
                  <c:v>8.8000000000000064E-2</c:v>
                </c:pt>
                <c:pt idx="40">
                  <c:v>9.0000000000000024E-2</c:v>
                </c:pt>
                <c:pt idx="41">
                  <c:v>9.2000000000000026E-2</c:v>
                </c:pt>
                <c:pt idx="42">
                  <c:v>9.4000000000000028E-2</c:v>
                </c:pt>
                <c:pt idx="43">
                  <c:v>9.6000000000000002E-2</c:v>
                </c:pt>
                <c:pt idx="44">
                  <c:v>9.8000000000000226E-2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0.10800000000000012</c:v>
                </c:pt>
                <c:pt idx="50">
                  <c:v>0.11</c:v>
                </c:pt>
                <c:pt idx="51">
                  <c:v>0.112</c:v>
                </c:pt>
                <c:pt idx="52">
                  <c:v>0.114</c:v>
                </c:pt>
                <c:pt idx="53">
                  <c:v>0.11600000000000002</c:v>
                </c:pt>
                <c:pt idx="54">
                  <c:v>0.11799999999999998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0.12400000000000012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0.15000000000000024</c:v>
                </c:pt>
                <c:pt idx="71">
                  <c:v>0.15200000000000038</c:v>
                </c:pt>
                <c:pt idx="72">
                  <c:v>0.15400000000000039</c:v>
                </c:pt>
                <c:pt idx="73">
                  <c:v>0.15600000000000042</c:v>
                </c:pt>
                <c:pt idx="74">
                  <c:v>0.15800000000000042</c:v>
                </c:pt>
                <c:pt idx="75">
                  <c:v>0.16</c:v>
                </c:pt>
                <c:pt idx="76">
                  <c:v>0.16200000000000001</c:v>
                </c:pt>
                <c:pt idx="77">
                  <c:v>0.16400000000000001</c:v>
                </c:pt>
                <c:pt idx="78">
                  <c:v>0.16600000000000001</c:v>
                </c:pt>
                <c:pt idx="79">
                  <c:v>0.16800000000000001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0.18000000000000024</c:v>
                </c:pt>
                <c:pt idx="86">
                  <c:v>0.18200000000000024</c:v>
                </c:pt>
                <c:pt idx="87">
                  <c:v>0.18400000000000039</c:v>
                </c:pt>
                <c:pt idx="88">
                  <c:v>0.18600000000000042</c:v>
                </c:pt>
                <c:pt idx="89">
                  <c:v>0.18800000000000042</c:v>
                </c:pt>
                <c:pt idx="90">
                  <c:v>0.19</c:v>
                </c:pt>
                <c:pt idx="91">
                  <c:v>0.192</c:v>
                </c:pt>
                <c:pt idx="92">
                  <c:v>0.19400000000000001</c:v>
                </c:pt>
                <c:pt idx="93">
                  <c:v>0.19600000000000001</c:v>
                </c:pt>
                <c:pt idx="94">
                  <c:v>0.19800000000000001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0.21200000000000024</c:v>
                </c:pt>
                <c:pt idx="102">
                  <c:v>0.21400000000000038</c:v>
                </c:pt>
                <c:pt idx="103">
                  <c:v>0.21600000000000039</c:v>
                </c:pt>
                <c:pt idx="104">
                  <c:v>0.21800000000000042</c:v>
                </c:pt>
                <c:pt idx="105">
                  <c:v>0.22</c:v>
                </c:pt>
                <c:pt idx="106">
                  <c:v>0.222</c:v>
                </c:pt>
                <c:pt idx="107">
                  <c:v>0.224</c:v>
                </c:pt>
                <c:pt idx="108">
                  <c:v>0.22600000000000001</c:v>
                </c:pt>
                <c:pt idx="109">
                  <c:v>0.22800000000000001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0.24400000000000024</c:v>
                </c:pt>
                <c:pt idx="118">
                  <c:v>0.24600000000000039</c:v>
                </c:pt>
                <c:pt idx="119">
                  <c:v>0.24800000000000039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0.31000000000000077</c:v>
                </c:pt>
                <c:pt idx="151">
                  <c:v>0.31200000000000078</c:v>
                </c:pt>
                <c:pt idx="152">
                  <c:v>0.31400000000000078</c:v>
                </c:pt>
                <c:pt idx="153">
                  <c:v>0.31600000000000084</c:v>
                </c:pt>
                <c:pt idx="154">
                  <c:v>0.31800000000000089</c:v>
                </c:pt>
                <c:pt idx="155">
                  <c:v>0.32000000000000089</c:v>
                </c:pt>
                <c:pt idx="156">
                  <c:v>0.3220000000000009</c:v>
                </c:pt>
                <c:pt idx="157">
                  <c:v>0.3240000000000009</c:v>
                </c:pt>
                <c:pt idx="158">
                  <c:v>0.3260000000000009</c:v>
                </c:pt>
                <c:pt idx="159">
                  <c:v>0.3280000000000009</c:v>
                </c:pt>
                <c:pt idx="160">
                  <c:v>0.33000000000000101</c:v>
                </c:pt>
                <c:pt idx="161">
                  <c:v>0.33200000000000102</c:v>
                </c:pt>
                <c:pt idx="162">
                  <c:v>0.33400000000000102</c:v>
                </c:pt>
                <c:pt idx="163">
                  <c:v>0.33600000000000102</c:v>
                </c:pt>
                <c:pt idx="164">
                  <c:v>0.33800000000000102</c:v>
                </c:pt>
                <c:pt idx="165">
                  <c:v>0.34</c:v>
                </c:pt>
                <c:pt idx="166">
                  <c:v>0.34200000000000008</c:v>
                </c:pt>
                <c:pt idx="167">
                  <c:v>0.34400000000000008</c:v>
                </c:pt>
                <c:pt idx="168">
                  <c:v>0.34600000000000031</c:v>
                </c:pt>
                <c:pt idx="169">
                  <c:v>0.34800000000000031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0.37200000000000077</c:v>
                </c:pt>
                <c:pt idx="182">
                  <c:v>0.37400000000000078</c:v>
                </c:pt>
                <c:pt idx="183">
                  <c:v>0.37600000000000078</c:v>
                </c:pt>
                <c:pt idx="184">
                  <c:v>0.37800000000000078</c:v>
                </c:pt>
                <c:pt idx="185">
                  <c:v>0.38000000000000089</c:v>
                </c:pt>
                <c:pt idx="186">
                  <c:v>0.38200000000000089</c:v>
                </c:pt>
                <c:pt idx="187">
                  <c:v>0.3840000000000009</c:v>
                </c:pt>
                <c:pt idx="188">
                  <c:v>0.3860000000000009</c:v>
                </c:pt>
                <c:pt idx="189">
                  <c:v>0.3880000000000009</c:v>
                </c:pt>
                <c:pt idx="190">
                  <c:v>0.3900000000000009</c:v>
                </c:pt>
                <c:pt idx="191">
                  <c:v>0.39200000000000101</c:v>
                </c:pt>
                <c:pt idx="192">
                  <c:v>0.39400000000000102</c:v>
                </c:pt>
                <c:pt idx="193">
                  <c:v>0.39600000000000102</c:v>
                </c:pt>
                <c:pt idx="194">
                  <c:v>0.39800000000000102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1318.6508088644148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1222.9147512233001</c:v>
                </c:pt>
                <c:pt idx="10">
                  <c:v>1200.304053663448</c:v>
                </c:pt>
                <c:pt idx="11">
                  <c:v>1178.1972112182348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915.32228938991557</c:v>
                </c:pt>
                <c:pt idx="26">
                  <c:v>899.47273836770023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811.28494271763702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771.2955528790477</c:v>
                </c:pt>
                <c:pt idx="36">
                  <c:v>758.52721247140767</c:v>
                </c:pt>
                <c:pt idx="37">
                  <c:v>746.02873224110385</c:v>
                </c:pt>
                <c:pt idx="38">
                  <c:v>733.79383299585561</c:v>
                </c:pt>
                <c:pt idx="39">
                  <c:v>721.81639074524139</c:v>
                </c:pt>
                <c:pt idx="40">
                  <c:v>710.09043267930883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624.6663473666207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560.73748652824304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505.33340491616423</c:v>
                </c:pt>
                <c:pt idx="63">
                  <c:v>498.03861792591675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470.27474246860214</c:v>
                </c:pt>
                <c:pt idx="68">
                  <c:v>463.67201326827103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444.62837845755416</c:v>
                </c:pt>
                <c:pt idx="72">
                  <c:v>438.52603362354216</c:v>
                </c:pt>
                <c:pt idx="73">
                  <c:v>432.54196164827869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388.62763455007399</c:v>
                </c:pt>
                <c:pt idx="82">
                  <c:v>383.5980424686432</c:v>
                </c:pt>
                <c:pt idx="83">
                  <c:v>378.66330433894672</c:v>
                </c:pt>
                <c:pt idx="84">
                  <c:v>373.82136947110234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359.83258772304401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318.47036488258669</c:v>
                </c:pt>
                <c:pt idx="98">
                  <c:v>314.73711371914823</c:v>
                </c:pt>
                <c:pt idx="99">
                  <c:v>311.07103598863392</c:v>
                </c:pt>
                <c:pt idx="100">
                  <c:v>307.47072040292403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290.40839088867625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274.7960572493036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266.06420329342575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252.47942292485743</c:v>
                </c:pt>
                <c:pt idx="119">
                  <c:v>249.89899326120872</c:v>
                </c:pt>
                <c:pt idx="120">
                  <c:v>247.36193617979086</c:v>
                </c:pt>
                <c:pt idx="121">
                  <c:v>244.86737664598169</c:v>
                </c:pt>
                <c:pt idx="122">
                  <c:v>242.41445901167077</c:v>
                </c:pt>
                <c:pt idx="123">
                  <c:v>240.00234655831036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230.74585206771042</c:v>
                </c:pt>
                <c:pt idx="128">
                  <c:v>228.52584668881551</c:v>
                </c:pt>
                <c:pt idx="129">
                  <c:v>226.34199949913506</c:v>
                </c:pt>
                <c:pt idx="130">
                  <c:v>224.19359440607903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210.09018356921752</c:v>
                </c:pt>
                <c:pt idx="138">
                  <c:v>208.20134033267624</c:v>
                </c:pt>
                <c:pt idx="139">
                  <c:v>206.34215695023155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199.19070756612192</c:v>
                </c:pt>
                <c:pt idx="144">
                  <c:v>197.47144304761292</c:v>
                </c:pt>
                <c:pt idx="145">
                  <c:v>195.77856899241738</c:v>
                </c:pt>
                <c:pt idx="146">
                  <c:v>194.11158063236934</c:v>
                </c:pt>
                <c:pt idx="147">
                  <c:v>192.46998397085633</c:v>
                </c:pt>
                <c:pt idx="148">
                  <c:v>190.85329553652642</c:v>
                </c:pt>
                <c:pt idx="149">
                  <c:v>189.26104214292525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181.65043011381547</c:v>
                </c:pt>
                <c:pt idx="155">
                  <c:v>180.1953971443746</c:v>
                </c:pt>
                <c:pt idx="156">
                  <c:v>178.76175587536039</c:v>
                </c:pt>
                <c:pt idx="157">
                  <c:v>177.34910741061969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173.23325423007122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166.75846848299017</c:v>
                </c:pt>
                <c:pt idx="166">
                  <c:v>165.51812494527951</c:v>
                </c:pt>
                <c:pt idx="167">
                  <c:v>164.29521563628637</c:v>
                </c:pt>
                <c:pt idx="168">
                  <c:v>163.08942400561668</c:v>
                </c:pt>
                <c:pt idx="169">
                  <c:v>161.90044002221552</c:v>
                </c:pt>
                <c:pt idx="170">
                  <c:v>160.72796002940697</c:v>
                </c:pt>
                <c:pt idx="171">
                  <c:v>159.57168660333795</c:v>
                </c:pt>
                <c:pt idx="172">
                  <c:v>158.4313284147367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155.10292058702936</c:v>
                </c:pt>
                <c:pt idx="176">
                  <c:v>154.02342728843172</c:v>
                </c:pt>
                <c:pt idx="177">
                  <c:v>152.95847938406089</c:v>
                </c:pt>
                <c:pt idx="178">
                  <c:v>151.90781938532652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147.84308875985218</c:v>
                </c:pt>
                <c:pt idx="183">
                  <c:v>146.86018448036461</c:v>
                </c:pt>
                <c:pt idx="184">
                  <c:v>145.89012874358585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138.56634746718743</c:v>
                </c:pt>
                <c:pt idx="193">
                  <c:v>137.70239591134205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68A-4A7A-86D9-736BB9B3A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2574976"/>
        <c:axId val="422580464"/>
      </c:scatterChart>
      <c:valAx>
        <c:axId val="422574976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963"/>
              <c:y val="0.93621011234818385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2580464"/>
        <c:crosses val="autoZero"/>
        <c:crossBetween val="midCat"/>
      </c:valAx>
      <c:valAx>
        <c:axId val="42258046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2574976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1532453636645616"/>
          <c:y val="2.8568594280514299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236E-2"/>
          <c:y val="0.12757973733583489"/>
          <c:w val="0.87878787878788023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1.0000000000000005E-2</c:v>
                </c:pt>
                <c:pt idx="1">
                  <c:v>1.2E-2</c:v>
                </c:pt>
                <c:pt idx="2">
                  <c:v>1.4E-2</c:v>
                </c:pt>
                <c:pt idx="3">
                  <c:v>1.6000000000000021E-2</c:v>
                </c:pt>
                <c:pt idx="4">
                  <c:v>1.7999999999999999E-2</c:v>
                </c:pt>
                <c:pt idx="5">
                  <c:v>2.0000000000000011E-2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3.0000000000000002E-2</c:v>
                </c:pt>
                <c:pt idx="11">
                  <c:v>3.2000000000000042E-2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4.0000000000000022E-2</c:v>
                </c:pt>
                <c:pt idx="16">
                  <c:v>4.2000000000000023E-2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6.0000000000000032E-2</c:v>
                </c:pt>
                <c:pt idx="26">
                  <c:v>6.2000000000000034E-2</c:v>
                </c:pt>
                <c:pt idx="27">
                  <c:v>6.4000000000000112E-2</c:v>
                </c:pt>
                <c:pt idx="28">
                  <c:v>6.6000000000000003E-2</c:v>
                </c:pt>
                <c:pt idx="29">
                  <c:v>6.8000000000000019E-2</c:v>
                </c:pt>
                <c:pt idx="30">
                  <c:v>7.0000000000000021E-2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7.8000000000000014E-2</c:v>
                </c:pt>
                <c:pt idx="35">
                  <c:v>8.0000000000000043E-2</c:v>
                </c:pt>
                <c:pt idx="36">
                  <c:v>8.2000000000000003E-2</c:v>
                </c:pt>
                <c:pt idx="37">
                  <c:v>8.4000000000000047E-2</c:v>
                </c:pt>
                <c:pt idx="38">
                  <c:v>8.6000000000000021E-2</c:v>
                </c:pt>
                <c:pt idx="39">
                  <c:v>8.8000000000000064E-2</c:v>
                </c:pt>
                <c:pt idx="40">
                  <c:v>9.0000000000000024E-2</c:v>
                </c:pt>
                <c:pt idx="41">
                  <c:v>9.2000000000000026E-2</c:v>
                </c:pt>
                <c:pt idx="42">
                  <c:v>9.4000000000000028E-2</c:v>
                </c:pt>
                <c:pt idx="43">
                  <c:v>9.6000000000000002E-2</c:v>
                </c:pt>
                <c:pt idx="44">
                  <c:v>9.8000000000000226E-2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0.10800000000000012</c:v>
                </c:pt>
                <c:pt idx="50">
                  <c:v>0.11</c:v>
                </c:pt>
                <c:pt idx="51">
                  <c:v>0.112</c:v>
                </c:pt>
                <c:pt idx="52">
                  <c:v>0.114</c:v>
                </c:pt>
                <c:pt idx="53">
                  <c:v>0.11600000000000002</c:v>
                </c:pt>
                <c:pt idx="54">
                  <c:v>0.11799999999999998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0.12400000000000012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0.15000000000000024</c:v>
                </c:pt>
                <c:pt idx="71">
                  <c:v>0.15200000000000033</c:v>
                </c:pt>
                <c:pt idx="72">
                  <c:v>0.15400000000000033</c:v>
                </c:pt>
                <c:pt idx="73">
                  <c:v>0.15600000000000036</c:v>
                </c:pt>
                <c:pt idx="74">
                  <c:v>0.15800000000000036</c:v>
                </c:pt>
                <c:pt idx="75">
                  <c:v>0.16</c:v>
                </c:pt>
                <c:pt idx="76">
                  <c:v>0.16200000000000001</c:v>
                </c:pt>
                <c:pt idx="77">
                  <c:v>0.16400000000000001</c:v>
                </c:pt>
                <c:pt idx="78">
                  <c:v>0.16600000000000001</c:v>
                </c:pt>
                <c:pt idx="79">
                  <c:v>0.16800000000000001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0.18000000000000024</c:v>
                </c:pt>
                <c:pt idx="86">
                  <c:v>0.18200000000000024</c:v>
                </c:pt>
                <c:pt idx="87">
                  <c:v>0.18400000000000033</c:v>
                </c:pt>
                <c:pt idx="88">
                  <c:v>0.18600000000000036</c:v>
                </c:pt>
                <c:pt idx="89">
                  <c:v>0.18800000000000036</c:v>
                </c:pt>
                <c:pt idx="90">
                  <c:v>0.19</c:v>
                </c:pt>
                <c:pt idx="91">
                  <c:v>0.192</c:v>
                </c:pt>
                <c:pt idx="92">
                  <c:v>0.19400000000000001</c:v>
                </c:pt>
                <c:pt idx="93">
                  <c:v>0.19600000000000001</c:v>
                </c:pt>
                <c:pt idx="94">
                  <c:v>0.19800000000000001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0.21200000000000024</c:v>
                </c:pt>
                <c:pt idx="102">
                  <c:v>0.21400000000000033</c:v>
                </c:pt>
                <c:pt idx="103">
                  <c:v>0.21600000000000033</c:v>
                </c:pt>
                <c:pt idx="104">
                  <c:v>0.21800000000000036</c:v>
                </c:pt>
                <c:pt idx="105">
                  <c:v>0.22</c:v>
                </c:pt>
                <c:pt idx="106">
                  <c:v>0.222</c:v>
                </c:pt>
                <c:pt idx="107">
                  <c:v>0.224</c:v>
                </c:pt>
                <c:pt idx="108">
                  <c:v>0.22600000000000001</c:v>
                </c:pt>
                <c:pt idx="109">
                  <c:v>0.22800000000000001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0.24400000000000024</c:v>
                </c:pt>
                <c:pt idx="118">
                  <c:v>0.24600000000000033</c:v>
                </c:pt>
                <c:pt idx="119">
                  <c:v>0.24800000000000033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0.31000000000000066</c:v>
                </c:pt>
                <c:pt idx="151">
                  <c:v>0.31200000000000067</c:v>
                </c:pt>
                <c:pt idx="152">
                  <c:v>0.31400000000000067</c:v>
                </c:pt>
                <c:pt idx="153">
                  <c:v>0.31600000000000072</c:v>
                </c:pt>
                <c:pt idx="154">
                  <c:v>0.31800000000000073</c:v>
                </c:pt>
                <c:pt idx="155">
                  <c:v>0.32000000000000073</c:v>
                </c:pt>
                <c:pt idx="156">
                  <c:v>0.32200000000000073</c:v>
                </c:pt>
                <c:pt idx="157">
                  <c:v>0.32400000000000073</c:v>
                </c:pt>
                <c:pt idx="158">
                  <c:v>0.32600000000000073</c:v>
                </c:pt>
                <c:pt idx="159">
                  <c:v>0.32800000000000074</c:v>
                </c:pt>
                <c:pt idx="160">
                  <c:v>0.3300000000000009</c:v>
                </c:pt>
                <c:pt idx="161">
                  <c:v>0.33200000000000091</c:v>
                </c:pt>
                <c:pt idx="162">
                  <c:v>0.33400000000000091</c:v>
                </c:pt>
                <c:pt idx="163">
                  <c:v>0.33600000000000091</c:v>
                </c:pt>
                <c:pt idx="164">
                  <c:v>0.33800000000000091</c:v>
                </c:pt>
                <c:pt idx="165">
                  <c:v>0.34</c:v>
                </c:pt>
                <c:pt idx="166">
                  <c:v>0.34200000000000008</c:v>
                </c:pt>
                <c:pt idx="167">
                  <c:v>0.34400000000000008</c:v>
                </c:pt>
                <c:pt idx="168">
                  <c:v>0.34600000000000031</c:v>
                </c:pt>
                <c:pt idx="169">
                  <c:v>0.34800000000000031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0.37200000000000066</c:v>
                </c:pt>
                <c:pt idx="182">
                  <c:v>0.37400000000000067</c:v>
                </c:pt>
                <c:pt idx="183">
                  <c:v>0.37600000000000067</c:v>
                </c:pt>
                <c:pt idx="184">
                  <c:v>0.37800000000000067</c:v>
                </c:pt>
                <c:pt idx="185">
                  <c:v>0.38000000000000073</c:v>
                </c:pt>
                <c:pt idx="186">
                  <c:v>0.38200000000000073</c:v>
                </c:pt>
                <c:pt idx="187">
                  <c:v>0.38400000000000073</c:v>
                </c:pt>
                <c:pt idx="188">
                  <c:v>0.38600000000000073</c:v>
                </c:pt>
                <c:pt idx="189">
                  <c:v>0.38800000000000073</c:v>
                </c:pt>
                <c:pt idx="190">
                  <c:v>0.39000000000000073</c:v>
                </c:pt>
                <c:pt idx="191">
                  <c:v>0.3920000000000009</c:v>
                </c:pt>
                <c:pt idx="192">
                  <c:v>0.39400000000000091</c:v>
                </c:pt>
                <c:pt idx="193">
                  <c:v>0.39600000000000091</c:v>
                </c:pt>
                <c:pt idx="194">
                  <c:v>0.39800000000000091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1318.6508088644152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1222.9147512233001</c:v>
                </c:pt>
                <c:pt idx="10">
                  <c:v>1200.304053663448</c:v>
                </c:pt>
                <c:pt idx="11">
                  <c:v>1178.197211218235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915.32228938991602</c:v>
                </c:pt>
                <c:pt idx="26">
                  <c:v>899.47273836769989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811.28494271763657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771.29555287904736</c:v>
                </c:pt>
                <c:pt idx="36">
                  <c:v>758.52721247140789</c:v>
                </c:pt>
                <c:pt idx="37">
                  <c:v>746.02873224110363</c:v>
                </c:pt>
                <c:pt idx="38">
                  <c:v>733.79383299585527</c:v>
                </c:pt>
                <c:pt idx="39">
                  <c:v>721.81639074524139</c:v>
                </c:pt>
                <c:pt idx="40">
                  <c:v>710.09043267930849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624.66634736662036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560.73748652824304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505.33340491616428</c:v>
                </c:pt>
                <c:pt idx="63">
                  <c:v>498.03861792591687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470.27474246860226</c:v>
                </c:pt>
                <c:pt idx="68">
                  <c:v>463.67201326827114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444.62837845755439</c:v>
                </c:pt>
                <c:pt idx="72">
                  <c:v>438.52603362354216</c:v>
                </c:pt>
                <c:pt idx="73">
                  <c:v>432.54196164827869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388.62763455007405</c:v>
                </c:pt>
                <c:pt idx="82">
                  <c:v>383.59804246864337</c:v>
                </c:pt>
                <c:pt idx="83">
                  <c:v>378.66330433894672</c:v>
                </c:pt>
                <c:pt idx="84">
                  <c:v>373.82136947110257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359.83258772304401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318.47036488258669</c:v>
                </c:pt>
                <c:pt idx="98">
                  <c:v>314.73711371914823</c:v>
                </c:pt>
                <c:pt idx="99">
                  <c:v>311.07103598863415</c:v>
                </c:pt>
                <c:pt idx="100">
                  <c:v>307.47072040292414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290.40839088867648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274.79605724930377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266.06420329342558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252.47942292485752</c:v>
                </c:pt>
                <c:pt idx="119">
                  <c:v>249.89899326120872</c:v>
                </c:pt>
                <c:pt idx="120">
                  <c:v>247.3619361797908</c:v>
                </c:pt>
                <c:pt idx="121">
                  <c:v>244.86737664598164</c:v>
                </c:pt>
                <c:pt idx="122">
                  <c:v>242.41445901167077</c:v>
                </c:pt>
                <c:pt idx="123">
                  <c:v>240.00234655831025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230.7458520677105</c:v>
                </c:pt>
                <c:pt idx="128">
                  <c:v>228.52584668881545</c:v>
                </c:pt>
                <c:pt idx="129">
                  <c:v>226.34199949913506</c:v>
                </c:pt>
                <c:pt idx="130">
                  <c:v>224.19359440607909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210.09018356921754</c:v>
                </c:pt>
                <c:pt idx="138">
                  <c:v>208.20134033267615</c:v>
                </c:pt>
                <c:pt idx="139">
                  <c:v>206.34215695023147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199.19070756612192</c:v>
                </c:pt>
                <c:pt idx="144">
                  <c:v>197.47144304761287</c:v>
                </c:pt>
                <c:pt idx="145">
                  <c:v>195.77856899241738</c:v>
                </c:pt>
                <c:pt idx="146">
                  <c:v>194.1115806323694</c:v>
                </c:pt>
                <c:pt idx="147">
                  <c:v>192.46998397085639</c:v>
                </c:pt>
                <c:pt idx="148">
                  <c:v>190.85329553652642</c:v>
                </c:pt>
                <c:pt idx="149">
                  <c:v>189.26104214292519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181.65043011381547</c:v>
                </c:pt>
                <c:pt idx="155">
                  <c:v>180.1953971443746</c:v>
                </c:pt>
                <c:pt idx="156">
                  <c:v>178.76175587536045</c:v>
                </c:pt>
                <c:pt idx="157">
                  <c:v>177.34910741061964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173.23325423007134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166.75846848299005</c:v>
                </c:pt>
                <c:pt idx="166">
                  <c:v>165.51812494527945</c:v>
                </c:pt>
                <c:pt idx="167">
                  <c:v>164.29521563628643</c:v>
                </c:pt>
                <c:pt idx="168">
                  <c:v>163.08942400561662</c:v>
                </c:pt>
                <c:pt idx="169">
                  <c:v>161.90044002221546</c:v>
                </c:pt>
                <c:pt idx="170">
                  <c:v>160.72796002940703</c:v>
                </c:pt>
                <c:pt idx="171">
                  <c:v>159.57168660333795</c:v>
                </c:pt>
                <c:pt idx="172">
                  <c:v>158.43132841473664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155.10292058702925</c:v>
                </c:pt>
                <c:pt idx="176">
                  <c:v>154.02342728843166</c:v>
                </c:pt>
                <c:pt idx="177">
                  <c:v>152.95847938406084</c:v>
                </c:pt>
                <c:pt idx="178">
                  <c:v>151.90781938532646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147.84308875985229</c:v>
                </c:pt>
                <c:pt idx="183">
                  <c:v>146.86018448036461</c:v>
                </c:pt>
                <c:pt idx="184">
                  <c:v>145.89012874358579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138.56634746718737</c:v>
                </c:pt>
                <c:pt idx="193">
                  <c:v>137.70239591134211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8AD-4091-9A68-655DC44EF6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2577328"/>
        <c:axId val="422577720"/>
      </c:scatterChart>
      <c:valAx>
        <c:axId val="422577328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941"/>
              <c:y val="0.93621011234818363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2577720"/>
        <c:crosses val="autoZero"/>
        <c:crossBetween val="midCat"/>
      </c:valAx>
      <c:valAx>
        <c:axId val="42257772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2577328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1677014532923176"/>
          <c:y val="4.2006912268681709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236E-2"/>
          <c:y val="0.12757973733583489"/>
          <c:w val="0.87878787878788023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1.0000000000000005E-2</c:v>
                </c:pt>
                <c:pt idx="1">
                  <c:v>1.2E-2</c:v>
                </c:pt>
                <c:pt idx="2">
                  <c:v>1.4E-2</c:v>
                </c:pt>
                <c:pt idx="3">
                  <c:v>1.6000000000000021E-2</c:v>
                </c:pt>
                <c:pt idx="4">
                  <c:v>1.7999999999999999E-2</c:v>
                </c:pt>
                <c:pt idx="5">
                  <c:v>2.0000000000000011E-2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3.0000000000000002E-2</c:v>
                </c:pt>
                <c:pt idx="11">
                  <c:v>3.2000000000000042E-2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4.0000000000000022E-2</c:v>
                </c:pt>
                <c:pt idx="16">
                  <c:v>4.2000000000000023E-2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6.0000000000000032E-2</c:v>
                </c:pt>
                <c:pt idx="26">
                  <c:v>6.2000000000000034E-2</c:v>
                </c:pt>
                <c:pt idx="27">
                  <c:v>6.4000000000000112E-2</c:v>
                </c:pt>
                <c:pt idx="28">
                  <c:v>6.6000000000000003E-2</c:v>
                </c:pt>
                <c:pt idx="29">
                  <c:v>6.8000000000000019E-2</c:v>
                </c:pt>
                <c:pt idx="30">
                  <c:v>7.0000000000000021E-2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7.8000000000000014E-2</c:v>
                </c:pt>
                <c:pt idx="35">
                  <c:v>8.0000000000000043E-2</c:v>
                </c:pt>
                <c:pt idx="36">
                  <c:v>8.2000000000000003E-2</c:v>
                </c:pt>
                <c:pt idx="37">
                  <c:v>8.4000000000000047E-2</c:v>
                </c:pt>
                <c:pt idx="38">
                  <c:v>8.6000000000000021E-2</c:v>
                </c:pt>
                <c:pt idx="39">
                  <c:v>8.8000000000000064E-2</c:v>
                </c:pt>
                <c:pt idx="40">
                  <c:v>9.0000000000000024E-2</c:v>
                </c:pt>
                <c:pt idx="41">
                  <c:v>9.2000000000000026E-2</c:v>
                </c:pt>
                <c:pt idx="42">
                  <c:v>9.4000000000000028E-2</c:v>
                </c:pt>
                <c:pt idx="43">
                  <c:v>9.6000000000000002E-2</c:v>
                </c:pt>
                <c:pt idx="44">
                  <c:v>9.8000000000000226E-2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0.10800000000000012</c:v>
                </c:pt>
                <c:pt idx="50">
                  <c:v>0.11</c:v>
                </c:pt>
                <c:pt idx="51">
                  <c:v>0.112</c:v>
                </c:pt>
                <c:pt idx="52">
                  <c:v>0.114</c:v>
                </c:pt>
                <c:pt idx="53">
                  <c:v>0.11600000000000002</c:v>
                </c:pt>
                <c:pt idx="54">
                  <c:v>0.11799999999999998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0.12400000000000012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0.15000000000000024</c:v>
                </c:pt>
                <c:pt idx="71">
                  <c:v>0.15200000000000033</c:v>
                </c:pt>
                <c:pt idx="72">
                  <c:v>0.15400000000000033</c:v>
                </c:pt>
                <c:pt idx="73">
                  <c:v>0.15600000000000036</c:v>
                </c:pt>
                <c:pt idx="74">
                  <c:v>0.15800000000000036</c:v>
                </c:pt>
                <c:pt idx="75">
                  <c:v>0.16</c:v>
                </c:pt>
                <c:pt idx="76">
                  <c:v>0.16200000000000001</c:v>
                </c:pt>
                <c:pt idx="77">
                  <c:v>0.16400000000000001</c:v>
                </c:pt>
                <c:pt idx="78">
                  <c:v>0.16600000000000001</c:v>
                </c:pt>
                <c:pt idx="79">
                  <c:v>0.16800000000000001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0.18000000000000024</c:v>
                </c:pt>
                <c:pt idx="86">
                  <c:v>0.18200000000000024</c:v>
                </c:pt>
                <c:pt idx="87">
                  <c:v>0.18400000000000033</c:v>
                </c:pt>
                <c:pt idx="88">
                  <c:v>0.18600000000000036</c:v>
                </c:pt>
                <c:pt idx="89">
                  <c:v>0.18800000000000036</c:v>
                </c:pt>
                <c:pt idx="90">
                  <c:v>0.19</c:v>
                </c:pt>
                <c:pt idx="91">
                  <c:v>0.192</c:v>
                </c:pt>
                <c:pt idx="92">
                  <c:v>0.19400000000000001</c:v>
                </c:pt>
                <c:pt idx="93">
                  <c:v>0.19600000000000001</c:v>
                </c:pt>
                <c:pt idx="94">
                  <c:v>0.19800000000000001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0.21200000000000024</c:v>
                </c:pt>
                <c:pt idx="102">
                  <c:v>0.21400000000000033</c:v>
                </c:pt>
                <c:pt idx="103">
                  <c:v>0.21600000000000033</c:v>
                </c:pt>
                <c:pt idx="104">
                  <c:v>0.21800000000000036</c:v>
                </c:pt>
                <c:pt idx="105">
                  <c:v>0.22</c:v>
                </c:pt>
                <c:pt idx="106">
                  <c:v>0.222</c:v>
                </c:pt>
                <c:pt idx="107">
                  <c:v>0.224</c:v>
                </c:pt>
                <c:pt idx="108">
                  <c:v>0.22600000000000001</c:v>
                </c:pt>
                <c:pt idx="109">
                  <c:v>0.22800000000000001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0.24400000000000024</c:v>
                </c:pt>
                <c:pt idx="118">
                  <c:v>0.24600000000000033</c:v>
                </c:pt>
                <c:pt idx="119">
                  <c:v>0.24800000000000033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0.31000000000000066</c:v>
                </c:pt>
                <c:pt idx="151">
                  <c:v>0.31200000000000067</c:v>
                </c:pt>
                <c:pt idx="152">
                  <c:v>0.31400000000000067</c:v>
                </c:pt>
                <c:pt idx="153">
                  <c:v>0.31600000000000072</c:v>
                </c:pt>
                <c:pt idx="154">
                  <c:v>0.31800000000000073</c:v>
                </c:pt>
                <c:pt idx="155">
                  <c:v>0.32000000000000073</c:v>
                </c:pt>
                <c:pt idx="156">
                  <c:v>0.32200000000000073</c:v>
                </c:pt>
                <c:pt idx="157">
                  <c:v>0.32400000000000073</c:v>
                </c:pt>
                <c:pt idx="158">
                  <c:v>0.32600000000000073</c:v>
                </c:pt>
                <c:pt idx="159">
                  <c:v>0.32800000000000074</c:v>
                </c:pt>
                <c:pt idx="160">
                  <c:v>0.3300000000000009</c:v>
                </c:pt>
                <c:pt idx="161">
                  <c:v>0.33200000000000091</c:v>
                </c:pt>
                <c:pt idx="162">
                  <c:v>0.33400000000000091</c:v>
                </c:pt>
                <c:pt idx="163">
                  <c:v>0.33600000000000091</c:v>
                </c:pt>
                <c:pt idx="164">
                  <c:v>0.33800000000000091</c:v>
                </c:pt>
                <c:pt idx="165">
                  <c:v>0.34</c:v>
                </c:pt>
                <c:pt idx="166">
                  <c:v>0.34200000000000008</c:v>
                </c:pt>
                <c:pt idx="167">
                  <c:v>0.34400000000000008</c:v>
                </c:pt>
                <c:pt idx="168">
                  <c:v>0.34600000000000031</c:v>
                </c:pt>
                <c:pt idx="169">
                  <c:v>0.34800000000000031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0.37200000000000066</c:v>
                </c:pt>
                <c:pt idx="182">
                  <c:v>0.37400000000000067</c:v>
                </c:pt>
                <c:pt idx="183">
                  <c:v>0.37600000000000067</c:v>
                </c:pt>
                <c:pt idx="184">
                  <c:v>0.37800000000000067</c:v>
                </c:pt>
                <c:pt idx="185">
                  <c:v>0.38000000000000073</c:v>
                </c:pt>
                <c:pt idx="186">
                  <c:v>0.38200000000000073</c:v>
                </c:pt>
                <c:pt idx="187">
                  <c:v>0.38400000000000073</c:v>
                </c:pt>
                <c:pt idx="188">
                  <c:v>0.38600000000000073</c:v>
                </c:pt>
                <c:pt idx="189">
                  <c:v>0.38800000000000073</c:v>
                </c:pt>
                <c:pt idx="190">
                  <c:v>0.39000000000000073</c:v>
                </c:pt>
                <c:pt idx="191">
                  <c:v>0.3920000000000009</c:v>
                </c:pt>
                <c:pt idx="192">
                  <c:v>0.39400000000000091</c:v>
                </c:pt>
                <c:pt idx="193">
                  <c:v>0.39600000000000091</c:v>
                </c:pt>
                <c:pt idx="194">
                  <c:v>0.39800000000000091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1318.6508088644152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1222.9147512233001</c:v>
                </c:pt>
                <c:pt idx="10">
                  <c:v>1200.304053663448</c:v>
                </c:pt>
                <c:pt idx="11">
                  <c:v>1178.197211218235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915.32228938991602</c:v>
                </c:pt>
                <c:pt idx="26">
                  <c:v>899.47273836769989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811.28494271763657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771.29555287904736</c:v>
                </c:pt>
                <c:pt idx="36">
                  <c:v>758.52721247140789</c:v>
                </c:pt>
                <c:pt idx="37">
                  <c:v>746.02873224110363</c:v>
                </c:pt>
                <c:pt idx="38">
                  <c:v>733.79383299585527</c:v>
                </c:pt>
                <c:pt idx="39">
                  <c:v>721.81639074524139</c:v>
                </c:pt>
                <c:pt idx="40">
                  <c:v>710.09043267930849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624.66634736662036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560.73748652824304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505.33340491616428</c:v>
                </c:pt>
                <c:pt idx="63">
                  <c:v>498.03861792591687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470.27474246860226</c:v>
                </c:pt>
                <c:pt idx="68">
                  <c:v>463.67201326827114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444.62837845755439</c:v>
                </c:pt>
                <c:pt idx="72">
                  <c:v>438.52603362354216</c:v>
                </c:pt>
                <c:pt idx="73">
                  <c:v>432.54196164827869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388.62763455007405</c:v>
                </c:pt>
                <c:pt idx="82">
                  <c:v>383.59804246864337</c:v>
                </c:pt>
                <c:pt idx="83">
                  <c:v>378.66330433894672</c:v>
                </c:pt>
                <c:pt idx="84">
                  <c:v>373.82136947110257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359.83258772304401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318.47036488258669</c:v>
                </c:pt>
                <c:pt idx="98">
                  <c:v>314.73711371914823</c:v>
                </c:pt>
                <c:pt idx="99">
                  <c:v>311.07103598863415</c:v>
                </c:pt>
                <c:pt idx="100">
                  <c:v>307.47072040292414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290.40839088867648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274.79605724930377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266.06420329342558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252.47942292485752</c:v>
                </c:pt>
                <c:pt idx="119">
                  <c:v>249.89899326120872</c:v>
                </c:pt>
                <c:pt idx="120">
                  <c:v>247.3619361797908</c:v>
                </c:pt>
                <c:pt idx="121">
                  <c:v>244.86737664598164</c:v>
                </c:pt>
                <c:pt idx="122">
                  <c:v>242.41445901167077</c:v>
                </c:pt>
                <c:pt idx="123">
                  <c:v>240.00234655831025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230.7458520677105</c:v>
                </c:pt>
                <c:pt idx="128">
                  <c:v>228.52584668881545</c:v>
                </c:pt>
                <c:pt idx="129">
                  <c:v>226.34199949913506</c:v>
                </c:pt>
                <c:pt idx="130">
                  <c:v>224.19359440607909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210.09018356921754</c:v>
                </c:pt>
                <c:pt idx="138">
                  <c:v>208.20134033267615</c:v>
                </c:pt>
                <c:pt idx="139">
                  <c:v>206.34215695023147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199.19070756612192</c:v>
                </c:pt>
                <c:pt idx="144">
                  <c:v>197.47144304761287</c:v>
                </c:pt>
                <c:pt idx="145">
                  <c:v>195.77856899241738</c:v>
                </c:pt>
                <c:pt idx="146">
                  <c:v>194.1115806323694</c:v>
                </c:pt>
                <c:pt idx="147">
                  <c:v>192.46998397085639</c:v>
                </c:pt>
                <c:pt idx="148">
                  <c:v>190.85329553652642</c:v>
                </c:pt>
                <c:pt idx="149">
                  <c:v>189.26104214292519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181.65043011381547</c:v>
                </c:pt>
                <c:pt idx="155">
                  <c:v>180.1953971443746</c:v>
                </c:pt>
                <c:pt idx="156">
                  <c:v>178.76175587536045</c:v>
                </c:pt>
                <c:pt idx="157">
                  <c:v>177.34910741061964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173.23325423007134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166.75846848299005</c:v>
                </c:pt>
                <c:pt idx="166">
                  <c:v>165.51812494527945</c:v>
                </c:pt>
                <c:pt idx="167">
                  <c:v>164.29521563628643</c:v>
                </c:pt>
                <c:pt idx="168">
                  <c:v>163.08942400561662</c:v>
                </c:pt>
                <c:pt idx="169">
                  <c:v>161.90044002221546</c:v>
                </c:pt>
                <c:pt idx="170">
                  <c:v>160.72796002940703</c:v>
                </c:pt>
                <c:pt idx="171">
                  <c:v>159.57168660333795</c:v>
                </c:pt>
                <c:pt idx="172">
                  <c:v>158.43132841473664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155.10292058702925</c:v>
                </c:pt>
                <c:pt idx="176">
                  <c:v>154.02342728843166</c:v>
                </c:pt>
                <c:pt idx="177">
                  <c:v>152.95847938406084</c:v>
                </c:pt>
                <c:pt idx="178">
                  <c:v>151.90781938532646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147.84308875985229</c:v>
                </c:pt>
                <c:pt idx="183">
                  <c:v>146.86018448036461</c:v>
                </c:pt>
                <c:pt idx="184">
                  <c:v>145.89012874358579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138.56634746718737</c:v>
                </c:pt>
                <c:pt idx="193">
                  <c:v>137.70239591134211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346-448D-B8B3-6D746442E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2580072"/>
        <c:axId val="422580856"/>
      </c:scatterChart>
      <c:valAx>
        <c:axId val="422580072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941"/>
              <c:y val="0.93621011234818363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2580856"/>
        <c:crosses val="autoZero"/>
        <c:crossBetween val="midCat"/>
      </c:valAx>
      <c:valAx>
        <c:axId val="42258085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2580072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1677014532923176"/>
          <c:y val="3.1928173777556149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181E-2"/>
          <c:y val="0.12757973733583489"/>
          <c:w val="0.87878787878788001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1.0000000000000005E-2</c:v>
                </c:pt>
                <c:pt idx="1">
                  <c:v>1.2E-2</c:v>
                </c:pt>
                <c:pt idx="2">
                  <c:v>1.4E-2</c:v>
                </c:pt>
                <c:pt idx="3">
                  <c:v>1.6000000000000021E-2</c:v>
                </c:pt>
                <c:pt idx="4">
                  <c:v>1.7999999999999999E-2</c:v>
                </c:pt>
                <c:pt idx="5">
                  <c:v>2.0000000000000011E-2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3.0000000000000002E-2</c:v>
                </c:pt>
                <c:pt idx="11">
                  <c:v>3.2000000000000042E-2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4.0000000000000022E-2</c:v>
                </c:pt>
                <c:pt idx="16">
                  <c:v>4.2000000000000023E-2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6.0000000000000032E-2</c:v>
                </c:pt>
                <c:pt idx="26">
                  <c:v>6.2000000000000034E-2</c:v>
                </c:pt>
                <c:pt idx="27">
                  <c:v>6.4000000000000112E-2</c:v>
                </c:pt>
                <c:pt idx="28">
                  <c:v>6.6000000000000003E-2</c:v>
                </c:pt>
                <c:pt idx="29">
                  <c:v>6.8000000000000019E-2</c:v>
                </c:pt>
                <c:pt idx="30">
                  <c:v>7.0000000000000021E-2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7.8000000000000014E-2</c:v>
                </c:pt>
                <c:pt idx="35">
                  <c:v>8.0000000000000043E-2</c:v>
                </c:pt>
                <c:pt idx="36">
                  <c:v>8.2000000000000003E-2</c:v>
                </c:pt>
                <c:pt idx="37">
                  <c:v>8.4000000000000047E-2</c:v>
                </c:pt>
                <c:pt idx="38">
                  <c:v>8.6000000000000021E-2</c:v>
                </c:pt>
                <c:pt idx="39">
                  <c:v>8.8000000000000064E-2</c:v>
                </c:pt>
                <c:pt idx="40">
                  <c:v>9.0000000000000024E-2</c:v>
                </c:pt>
                <c:pt idx="41">
                  <c:v>9.2000000000000026E-2</c:v>
                </c:pt>
                <c:pt idx="42">
                  <c:v>9.4000000000000028E-2</c:v>
                </c:pt>
                <c:pt idx="43">
                  <c:v>9.6000000000000002E-2</c:v>
                </c:pt>
                <c:pt idx="44">
                  <c:v>9.8000000000000226E-2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0.10800000000000012</c:v>
                </c:pt>
                <c:pt idx="50">
                  <c:v>0.11</c:v>
                </c:pt>
                <c:pt idx="51">
                  <c:v>0.112</c:v>
                </c:pt>
                <c:pt idx="52">
                  <c:v>0.114</c:v>
                </c:pt>
                <c:pt idx="53">
                  <c:v>0.11600000000000002</c:v>
                </c:pt>
                <c:pt idx="54">
                  <c:v>0.11799999999999998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0.12400000000000012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0.15000000000000024</c:v>
                </c:pt>
                <c:pt idx="71">
                  <c:v>0.15200000000000027</c:v>
                </c:pt>
                <c:pt idx="72">
                  <c:v>0.15400000000000028</c:v>
                </c:pt>
                <c:pt idx="73">
                  <c:v>0.15600000000000031</c:v>
                </c:pt>
                <c:pt idx="74">
                  <c:v>0.15800000000000031</c:v>
                </c:pt>
                <c:pt idx="75">
                  <c:v>0.16</c:v>
                </c:pt>
                <c:pt idx="76">
                  <c:v>0.16200000000000001</c:v>
                </c:pt>
                <c:pt idx="77">
                  <c:v>0.16400000000000001</c:v>
                </c:pt>
                <c:pt idx="78">
                  <c:v>0.16600000000000001</c:v>
                </c:pt>
                <c:pt idx="79">
                  <c:v>0.16800000000000001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0.18000000000000024</c:v>
                </c:pt>
                <c:pt idx="86">
                  <c:v>0.18200000000000024</c:v>
                </c:pt>
                <c:pt idx="87">
                  <c:v>0.18400000000000027</c:v>
                </c:pt>
                <c:pt idx="88">
                  <c:v>0.1860000000000003</c:v>
                </c:pt>
                <c:pt idx="89">
                  <c:v>0.18800000000000031</c:v>
                </c:pt>
                <c:pt idx="90">
                  <c:v>0.19</c:v>
                </c:pt>
                <c:pt idx="91">
                  <c:v>0.192</c:v>
                </c:pt>
                <c:pt idx="92">
                  <c:v>0.19400000000000001</c:v>
                </c:pt>
                <c:pt idx="93">
                  <c:v>0.19600000000000001</c:v>
                </c:pt>
                <c:pt idx="94">
                  <c:v>0.19800000000000001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0.21200000000000024</c:v>
                </c:pt>
                <c:pt idx="102">
                  <c:v>0.21400000000000027</c:v>
                </c:pt>
                <c:pt idx="103">
                  <c:v>0.21600000000000028</c:v>
                </c:pt>
                <c:pt idx="104">
                  <c:v>0.2180000000000003</c:v>
                </c:pt>
                <c:pt idx="105">
                  <c:v>0.22</c:v>
                </c:pt>
                <c:pt idx="106">
                  <c:v>0.222</c:v>
                </c:pt>
                <c:pt idx="107">
                  <c:v>0.224</c:v>
                </c:pt>
                <c:pt idx="108">
                  <c:v>0.22600000000000001</c:v>
                </c:pt>
                <c:pt idx="109">
                  <c:v>0.22800000000000001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0.24400000000000024</c:v>
                </c:pt>
                <c:pt idx="118">
                  <c:v>0.24600000000000027</c:v>
                </c:pt>
                <c:pt idx="119">
                  <c:v>0.24800000000000028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0.31000000000000055</c:v>
                </c:pt>
                <c:pt idx="151">
                  <c:v>0.31200000000000055</c:v>
                </c:pt>
                <c:pt idx="152">
                  <c:v>0.31400000000000056</c:v>
                </c:pt>
                <c:pt idx="153">
                  <c:v>0.31600000000000061</c:v>
                </c:pt>
                <c:pt idx="154">
                  <c:v>0.31800000000000062</c:v>
                </c:pt>
                <c:pt idx="155">
                  <c:v>0.32000000000000062</c:v>
                </c:pt>
                <c:pt idx="156">
                  <c:v>0.32200000000000062</c:v>
                </c:pt>
                <c:pt idx="157">
                  <c:v>0.32400000000000062</c:v>
                </c:pt>
                <c:pt idx="158">
                  <c:v>0.32600000000000062</c:v>
                </c:pt>
                <c:pt idx="159">
                  <c:v>0.32800000000000062</c:v>
                </c:pt>
                <c:pt idx="160">
                  <c:v>0.33000000000000074</c:v>
                </c:pt>
                <c:pt idx="161">
                  <c:v>0.33200000000000074</c:v>
                </c:pt>
                <c:pt idx="162">
                  <c:v>0.33400000000000074</c:v>
                </c:pt>
                <c:pt idx="163">
                  <c:v>0.33600000000000074</c:v>
                </c:pt>
                <c:pt idx="164">
                  <c:v>0.33800000000000074</c:v>
                </c:pt>
                <c:pt idx="165">
                  <c:v>0.34</c:v>
                </c:pt>
                <c:pt idx="166">
                  <c:v>0.34200000000000008</c:v>
                </c:pt>
                <c:pt idx="167">
                  <c:v>0.34400000000000008</c:v>
                </c:pt>
                <c:pt idx="168">
                  <c:v>0.34600000000000031</c:v>
                </c:pt>
                <c:pt idx="169">
                  <c:v>0.34800000000000031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0.37200000000000055</c:v>
                </c:pt>
                <c:pt idx="182">
                  <c:v>0.37400000000000055</c:v>
                </c:pt>
                <c:pt idx="183">
                  <c:v>0.37600000000000056</c:v>
                </c:pt>
                <c:pt idx="184">
                  <c:v>0.37800000000000056</c:v>
                </c:pt>
                <c:pt idx="185">
                  <c:v>0.38000000000000062</c:v>
                </c:pt>
                <c:pt idx="186">
                  <c:v>0.38200000000000062</c:v>
                </c:pt>
                <c:pt idx="187">
                  <c:v>0.38400000000000062</c:v>
                </c:pt>
                <c:pt idx="188">
                  <c:v>0.38600000000000062</c:v>
                </c:pt>
                <c:pt idx="189">
                  <c:v>0.38800000000000062</c:v>
                </c:pt>
                <c:pt idx="190">
                  <c:v>0.39000000000000062</c:v>
                </c:pt>
                <c:pt idx="191">
                  <c:v>0.39200000000000074</c:v>
                </c:pt>
                <c:pt idx="192">
                  <c:v>0.39400000000000074</c:v>
                </c:pt>
                <c:pt idx="193">
                  <c:v>0.39600000000000074</c:v>
                </c:pt>
                <c:pt idx="194">
                  <c:v>0.39800000000000074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1318.6508088644157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1222.9147512232992</c:v>
                </c:pt>
                <c:pt idx="10">
                  <c:v>1200.304053663448</c:v>
                </c:pt>
                <c:pt idx="11">
                  <c:v>1178.1972112182355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915.32228938991636</c:v>
                </c:pt>
                <c:pt idx="26">
                  <c:v>899.47273836769955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811.28494271763611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771.29555287904714</c:v>
                </c:pt>
                <c:pt idx="36">
                  <c:v>758.52721247140835</c:v>
                </c:pt>
                <c:pt idx="37">
                  <c:v>746.02873224110328</c:v>
                </c:pt>
                <c:pt idx="38">
                  <c:v>733.79383299585504</c:v>
                </c:pt>
                <c:pt idx="39">
                  <c:v>721.81639074524139</c:v>
                </c:pt>
                <c:pt idx="40">
                  <c:v>710.09043267930815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624.66634736662013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560.73748652824304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505.3334049161644</c:v>
                </c:pt>
                <c:pt idx="63">
                  <c:v>498.03861792591698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470.27474246860248</c:v>
                </c:pt>
                <c:pt idx="68">
                  <c:v>463.67201326827126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444.62837845755462</c:v>
                </c:pt>
                <c:pt idx="72">
                  <c:v>438.52603362354216</c:v>
                </c:pt>
                <c:pt idx="73">
                  <c:v>432.54196164827869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388.62763455007416</c:v>
                </c:pt>
                <c:pt idx="82">
                  <c:v>383.59804246864354</c:v>
                </c:pt>
                <c:pt idx="83">
                  <c:v>378.66330433894672</c:v>
                </c:pt>
                <c:pt idx="84">
                  <c:v>373.82136947110274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359.83258772304396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318.47036488258669</c:v>
                </c:pt>
                <c:pt idx="98">
                  <c:v>314.73711371914823</c:v>
                </c:pt>
                <c:pt idx="99">
                  <c:v>311.07103598863443</c:v>
                </c:pt>
                <c:pt idx="100">
                  <c:v>307.47072040292426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290.40839088867659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274.79605724930389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266.06420329342546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252.47942292485763</c:v>
                </c:pt>
                <c:pt idx="119">
                  <c:v>249.89899326120872</c:v>
                </c:pt>
                <c:pt idx="120">
                  <c:v>247.36193617979072</c:v>
                </c:pt>
                <c:pt idx="121">
                  <c:v>244.86737664598152</c:v>
                </c:pt>
                <c:pt idx="122">
                  <c:v>242.41445901167077</c:v>
                </c:pt>
                <c:pt idx="123">
                  <c:v>240.00234655831014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230.74585206771056</c:v>
                </c:pt>
                <c:pt idx="128">
                  <c:v>228.52584668881539</c:v>
                </c:pt>
                <c:pt idx="129">
                  <c:v>226.34199949913506</c:v>
                </c:pt>
                <c:pt idx="130">
                  <c:v>224.19359440607914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210.0901835692176</c:v>
                </c:pt>
                <c:pt idx="138">
                  <c:v>208.20134033267607</c:v>
                </c:pt>
                <c:pt idx="139">
                  <c:v>206.34215695023141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199.19070756612197</c:v>
                </c:pt>
                <c:pt idx="144">
                  <c:v>197.47144304761278</c:v>
                </c:pt>
                <c:pt idx="145">
                  <c:v>195.77856899241738</c:v>
                </c:pt>
                <c:pt idx="146">
                  <c:v>194.11158063236945</c:v>
                </c:pt>
                <c:pt idx="147">
                  <c:v>192.46998397085645</c:v>
                </c:pt>
                <c:pt idx="148">
                  <c:v>190.85329553652642</c:v>
                </c:pt>
                <c:pt idx="149">
                  <c:v>189.26104214292513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181.65043011381542</c:v>
                </c:pt>
                <c:pt idx="155">
                  <c:v>180.1953971443746</c:v>
                </c:pt>
                <c:pt idx="156">
                  <c:v>178.76175587536051</c:v>
                </c:pt>
                <c:pt idx="157">
                  <c:v>177.34910741061955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173.23325423007145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166.75846848298994</c:v>
                </c:pt>
                <c:pt idx="166">
                  <c:v>165.5181249452794</c:v>
                </c:pt>
                <c:pt idx="167">
                  <c:v>164.29521563628649</c:v>
                </c:pt>
                <c:pt idx="168">
                  <c:v>163.08942400561656</c:v>
                </c:pt>
                <c:pt idx="169">
                  <c:v>161.90044002221538</c:v>
                </c:pt>
                <c:pt idx="170">
                  <c:v>160.72796002940709</c:v>
                </c:pt>
                <c:pt idx="171">
                  <c:v>159.57168660333795</c:v>
                </c:pt>
                <c:pt idx="172">
                  <c:v>158.43132841473656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155.10292058702913</c:v>
                </c:pt>
                <c:pt idx="176">
                  <c:v>154.02342728843158</c:v>
                </c:pt>
                <c:pt idx="177">
                  <c:v>152.95847938406072</c:v>
                </c:pt>
                <c:pt idx="178">
                  <c:v>151.90781938532638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147.84308875985235</c:v>
                </c:pt>
                <c:pt idx="183">
                  <c:v>146.86018448036461</c:v>
                </c:pt>
                <c:pt idx="184">
                  <c:v>145.89012874358573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138.56634746718731</c:v>
                </c:pt>
                <c:pt idx="193">
                  <c:v>137.70239591134217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546-4513-A0E6-4A5F1192D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3917808"/>
        <c:axId val="423922120"/>
      </c:scatterChart>
      <c:valAx>
        <c:axId val="423917808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913"/>
              <c:y val="0.93621011234818319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3922120"/>
        <c:crosses val="autoZero"/>
        <c:crossBetween val="midCat"/>
      </c:valAx>
      <c:valAx>
        <c:axId val="42392212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3917808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1677014532923176"/>
          <c:y val="2.8568594280514299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111E-2"/>
          <c:y val="0.12757973733583489"/>
          <c:w val="0.87878787878787978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1.0000000000000005E-2</c:v>
                </c:pt>
                <c:pt idx="1">
                  <c:v>1.2E-2</c:v>
                </c:pt>
                <c:pt idx="2">
                  <c:v>1.4E-2</c:v>
                </c:pt>
                <c:pt idx="3">
                  <c:v>1.6000000000000021E-2</c:v>
                </c:pt>
                <c:pt idx="4">
                  <c:v>1.7999999999999999E-2</c:v>
                </c:pt>
                <c:pt idx="5">
                  <c:v>2.0000000000000011E-2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3.0000000000000002E-2</c:v>
                </c:pt>
                <c:pt idx="11">
                  <c:v>3.2000000000000042E-2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4.0000000000000022E-2</c:v>
                </c:pt>
                <c:pt idx="16">
                  <c:v>4.2000000000000023E-2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6.0000000000000032E-2</c:v>
                </c:pt>
                <c:pt idx="26">
                  <c:v>6.2000000000000034E-2</c:v>
                </c:pt>
                <c:pt idx="27">
                  <c:v>6.4000000000000112E-2</c:v>
                </c:pt>
                <c:pt idx="28">
                  <c:v>6.6000000000000003E-2</c:v>
                </c:pt>
                <c:pt idx="29">
                  <c:v>6.8000000000000019E-2</c:v>
                </c:pt>
                <c:pt idx="30">
                  <c:v>7.0000000000000021E-2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7.8000000000000014E-2</c:v>
                </c:pt>
                <c:pt idx="35">
                  <c:v>8.0000000000000043E-2</c:v>
                </c:pt>
                <c:pt idx="36">
                  <c:v>8.2000000000000003E-2</c:v>
                </c:pt>
                <c:pt idx="37">
                  <c:v>8.4000000000000047E-2</c:v>
                </c:pt>
                <c:pt idx="38">
                  <c:v>8.6000000000000021E-2</c:v>
                </c:pt>
                <c:pt idx="39">
                  <c:v>8.8000000000000064E-2</c:v>
                </c:pt>
                <c:pt idx="40">
                  <c:v>9.0000000000000024E-2</c:v>
                </c:pt>
                <c:pt idx="41">
                  <c:v>9.2000000000000026E-2</c:v>
                </c:pt>
                <c:pt idx="42">
                  <c:v>9.4000000000000028E-2</c:v>
                </c:pt>
                <c:pt idx="43">
                  <c:v>9.6000000000000002E-2</c:v>
                </c:pt>
                <c:pt idx="44">
                  <c:v>9.8000000000000184E-2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0.10800000000000011</c:v>
                </c:pt>
                <c:pt idx="50">
                  <c:v>0.11</c:v>
                </c:pt>
                <c:pt idx="51">
                  <c:v>0.112</c:v>
                </c:pt>
                <c:pt idx="52">
                  <c:v>0.114</c:v>
                </c:pt>
                <c:pt idx="53">
                  <c:v>0.11600000000000002</c:v>
                </c:pt>
                <c:pt idx="54">
                  <c:v>0.11799999999999998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0.12400000000000011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0.15000000000000022</c:v>
                </c:pt>
                <c:pt idx="71">
                  <c:v>0.15200000000000022</c:v>
                </c:pt>
                <c:pt idx="72">
                  <c:v>0.15400000000000022</c:v>
                </c:pt>
                <c:pt idx="73">
                  <c:v>0.15600000000000025</c:v>
                </c:pt>
                <c:pt idx="74">
                  <c:v>0.15800000000000025</c:v>
                </c:pt>
                <c:pt idx="75">
                  <c:v>0.16</c:v>
                </c:pt>
                <c:pt idx="76">
                  <c:v>0.16200000000000001</c:v>
                </c:pt>
                <c:pt idx="77">
                  <c:v>0.16400000000000001</c:v>
                </c:pt>
                <c:pt idx="78">
                  <c:v>0.16600000000000001</c:v>
                </c:pt>
                <c:pt idx="79">
                  <c:v>0.16800000000000001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0.18000000000000022</c:v>
                </c:pt>
                <c:pt idx="86">
                  <c:v>0.18200000000000022</c:v>
                </c:pt>
                <c:pt idx="87">
                  <c:v>0.18400000000000022</c:v>
                </c:pt>
                <c:pt idx="88">
                  <c:v>0.18600000000000025</c:v>
                </c:pt>
                <c:pt idx="89">
                  <c:v>0.18800000000000025</c:v>
                </c:pt>
                <c:pt idx="90">
                  <c:v>0.19</c:v>
                </c:pt>
                <c:pt idx="91">
                  <c:v>0.192</c:v>
                </c:pt>
                <c:pt idx="92">
                  <c:v>0.19400000000000001</c:v>
                </c:pt>
                <c:pt idx="93">
                  <c:v>0.19600000000000001</c:v>
                </c:pt>
                <c:pt idx="94">
                  <c:v>0.19800000000000001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0.21200000000000022</c:v>
                </c:pt>
                <c:pt idx="102">
                  <c:v>0.21400000000000022</c:v>
                </c:pt>
                <c:pt idx="103">
                  <c:v>0.21600000000000022</c:v>
                </c:pt>
                <c:pt idx="104">
                  <c:v>0.21800000000000025</c:v>
                </c:pt>
                <c:pt idx="105">
                  <c:v>0.22</c:v>
                </c:pt>
                <c:pt idx="106">
                  <c:v>0.222</c:v>
                </c:pt>
                <c:pt idx="107">
                  <c:v>0.224</c:v>
                </c:pt>
                <c:pt idx="108">
                  <c:v>0.22600000000000001</c:v>
                </c:pt>
                <c:pt idx="109">
                  <c:v>0.22800000000000001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0.24400000000000022</c:v>
                </c:pt>
                <c:pt idx="118">
                  <c:v>0.24600000000000022</c:v>
                </c:pt>
                <c:pt idx="119">
                  <c:v>0.24800000000000022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0.31000000000000044</c:v>
                </c:pt>
                <c:pt idx="151">
                  <c:v>0.31200000000000044</c:v>
                </c:pt>
                <c:pt idx="152">
                  <c:v>0.31400000000000045</c:v>
                </c:pt>
                <c:pt idx="153">
                  <c:v>0.3160000000000005</c:v>
                </c:pt>
                <c:pt idx="154">
                  <c:v>0.3180000000000005</c:v>
                </c:pt>
                <c:pt idx="155">
                  <c:v>0.32000000000000051</c:v>
                </c:pt>
                <c:pt idx="156">
                  <c:v>0.32200000000000051</c:v>
                </c:pt>
                <c:pt idx="157">
                  <c:v>0.32400000000000051</c:v>
                </c:pt>
                <c:pt idx="158">
                  <c:v>0.32600000000000051</c:v>
                </c:pt>
                <c:pt idx="159">
                  <c:v>0.32800000000000051</c:v>
                </c:pt>
                <c:pt idx="160">
                  <c:v>0.33000000000000057</c:v>
                </c:pt>
                <c:pt idx="161">
                  <c:v>0.33200000000000057</c:v>
                </c:pt>
                <c:pt idx="162">
                  <c:v>0.33400000000000057</c:v>
                </c:pt>
                <c:pt idx="163">
                  <c:v>0.33600000000000058</c:v>
                </c:pt>
                <c:pt idx="164">
                  <c:v>0.33800000000000058</c:v>
                </c:pt>
                <c:pt idx="165">
                  <c:v>0.34</c:v>
                </c:pt>
                <c:pt idx="166">
                  <c:v>0.34200000000000008</c:v>
                </c:pt>
                <c:pt idx="167">
                  <c:v>0.34400000000000008</c:v>
                </c:pt>
                <c:pt idx="168">
                  <c:v>0.34600000000000031</c:v>
                </c:pt>
                <c:pt idx="169">
                  <c:v>0.34800000000000031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0.37200000000000044</c:v>
                </c:pt>
                <c:pt idx="182">
                  <c:v>0.37400000000000044</c:v>
                </c:pt>
                <c:pt idx="183">
                  <c:v>0.37600000000000044</c:v>
                </c:pt>
                <c:pt idx="184">
                  <c:v>0.37800000000000045</c:v>
                </c:pt>
                <c:pt idx="185">
                  <c:v>0.3800000000000005</c:v>
                </c:pt>
                <c:pt idx="186">
                  <c:v>0.38200000000000051</c:v>
                </c:pt>
                <c:pt idx="187">
                  <c:v>0.38400000000000051</c:v>
                </c:pt>
                <c:pt idx="188">
                  <c:v>0.38600000000000051</c:v>
                </c:pt>
                <c:pt idx="189">
                  <c:v>0.38800000000000051</c:v>
                </c:pt>
                <c:pt idx="190">
                  <c:v>0.39000000000000051</c:v>
                </c:pt>
                <c:pt idx="191">
                  <c:v>0.39200000000000057</c:v>
                </c:pt>
                <c:pt idx="192">
                  <c:v>0.39400000000000057</c:v>
                </c:pt>
                <c:pt idx="193">
                  <c:v>0.39600000000000057</c:v>
                </c:pt>
                <c:pt idx="194">
                  <c:v>0.39800000000000058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1318.6508088644164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1222.9147512232987</c:v>
                </c:pt>
                <c:pt idx="10">
                  <c:v>1200.304053663448</c:v>
                </c:pt>
                <c:pt idx="11">
                  <c:v>1178.1972112182361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915.32228938991682</c:v>
                </c:pt>
                <c:pt idx="26">
                  <c:v>899.47273836769909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811.28494271763566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771.29555287904691</c:v>
                </c:pt>
                <c:pt idx="36">
                  <c:v>758.52721247140869</c:v>
                </c:pt>
                <c:pt idx="37">
                  <c:v>746.02873224110283</c:v>
                </c:pt>
                <c:pt idx="38">
                  <c:v>733.79383299585481</c:v>
                </c:pt>
                <c:pt idx="39">
                  <c:v>721.81639074524139</c:v>
                </c:pt>
                <c:pt idx="40">
                  <c:v>710.0904326793077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624.6663473666199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560.73748652824293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505.33340491616451</c:v>
                </c:pt>
                <c:pt idx="63">
                  <c:v>498.03861792591709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470.2747424686026</c:v>
                </c:pt>
                <c:pt idx="68">
                  <c:v>463.67201326827148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444.62837845755485</c:v>
                </c:pt>
                <c:pt idx="72">
                  <c:v>438.52603362354216</c:v>
                </c:pt>
                <c:pt idx="73">
                  <c:v>432.54196164827874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388.62763455007428</c:v>
                </c:pt>
                <c:pt idx="82">
                  <c:v>383.59804246864365</c:v>
                </c:pt>
                <c:pt idx="83">
                  <c:v>378.66330433894672</c:v>
                </c:pt>
                <c:pt idx="84">
                  <c:v>373.82136947110297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359.83258772304384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318.47036488258681</c:v>
                </c:pt>
                <c:pt idx="98">
                  <c:v>314.73711371914823</c:v>
                </c:pt>
                <c:pt idx="99">
                  <c:v>311.07103598863472</c:v>
                </c:pt>
                <c:pt idx="100">
                  <c:v>307.47072040292448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290.40839088867676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274.79605724930406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266.06420329342535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252.47942292485772</c:v>
                </c:pt>
                <c:pt idx="119">
                  <c:v>249.89899326120872</c:v>
                </c:pt>
                <c:pt idx="120">
                  <c:v>247.36193617979066</c:v>
                </c:pt>
                <c:pt idx="121">
                  <c:v>244.86737664598147</c:v>
                </c:pt>
                <c:pt idx="122">
                  <c:v>242.41445901167077</c:v>
                </c:pt>
                <c:pt idx="123">
                  <c:v>240.00234655831002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230.74585206771062</c:v>
                </c:pt>
                <c:pt idx="128">
                  <c:v>228.52584668881534</c:v>
                </c:pt>
                <c:pt idx="129">
                  <c:v>226.34199949913506</c:v>
                </c:pt>
                <c:pt idx="130">
                  <c:v>224.1935944060792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210.09018356921766</c:v>
                </c:pt>
                <c:pt idx="138">
                  <c:v>208.20134033267601</c:v>
                </c:pt>
                <c:pt idx="139">
                  <c:v>206.3421569502313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199.19070756612203</c:v>
                </c:pt>
                <c:pt idx="144">
                  <c:v>197.47144304761269</c:v>
                </c:pt>
                <c:pt idx="145">
                  <c:v>195.77856899241738</c:v>
                </c:pt>
                <c:pt idx="146">
                  <c:v>194.11158063236951</c:v>
                </c:pt>
                <c:pt idx="147">
                  <c:v>192.4699839708565</c:v>
                </c:pt>
                <c:pt idx="148">
                  <c:v>190.85329553652642</c:v>
                </c:pt>
                <c:pt idx="149">
                  <c:v>189.26104214292508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181.65043011381536</c:v>
                </c:pt>
                <c:pt idx="155">
                  <c:v>180.1953971443746</c:v>
                </c:pt>
                <c:pt idx="156">
                  <c:v>178.76175587536056</c:v>
                </c:pt>
                <c:pt idx="157">
                  <c:v>177.34910741061947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173.23325423007157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166.75846848298983</c:v>
                </c:pt>
                <c:pt idx="166">
                  <c:v>165.51812494527934</c:v>
                </c:pt>
                <c:pt idx="167">
                  <c:v>164.29521563628654</c:v>
                </c:pt>
                <c:pt idx="168">
                  <c:v>163.08942400561651</c:v>
                </c:pt>
                <c:pt idx="169">
                  <c:v>161.90044002221529</c:v>
                </c:pt>
                <c:pt idx="170">
                  <c:v>160.72796002940714</c:v>
                </c:pt>
                <c:pt idx="171">
                  <c:v>159.57168660333795</c:v>
                </c:pt>
                <c:pt idx="172">
                  <c:v>158.43132841473647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155.10292058702902</c:v>
                </c:pt>
                <c:pt idx="176">
                  <c:v>154.02342728843149</c:v>
                </c:pt>
                <c:pt idx="177">
                  <c:v>152.95847938406067</c:v>
                </c:pt>
                <c:pt idx="178">
                  <c:v>151.90781938532629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147.84308875985244</c:v>
                </c:pt>
                <c:pt idx="183">
                  <c:v>146.86018448036461</c:v>
                </c:pt>
                <c:pt idx="184">
                  <c:v>145.89012874358568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138.56634746718726</c:v>
                </c:pt>
                <c:pt idx="193">
                  <c:v>137.70239591134222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127-4B42-85AF-13B6ED3AF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3916240"/>
        <c:axId val="423918592"/>
      </c:scatterChart>
      <c:valAx>
        <c:axId val="423916240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891"/>
              <c:y val="0.93621011234818285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3918592"/>
        <c:crosses val="autoZero"/>
        <c:crossBetween val="midCat"/>
      </c:valAx>
      <c:valAx>
        <c:axId val="42391859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3916240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lang="fr-CA" sz="2000" baseline="0" dirty="0">
                <a:solidFill>
                  <a:schemeClr val="tx1"/>
                </a:solidFill>
              </a:rPr>
              <a:t>Valeur de l'obligation en fonction des taux d'intérêt au marché</a:t>
            </a:r>
          </a:p>
        </c:rich>
      </c:tx>
      <c:layout>
        <c:manualLayout>
          <c:xMode val="edge"/>
          <c:yMode val="edge"/>
          <c:x val="0.12255258118033403"/>
          <c:y val="3.1928173777556149E-2"/>
        </c:manualLayout>
      </c:layout>
      <c:overlay val="0"/>
      <c:spPr>
        <a:noFill/>
        <a:ln w="23427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292929292929307E-2"/>
          <c:y val="0.12757973733583489"/>
          <c:w val="0.87878787878787945"/>
          <c:h val="0.75422138836772978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1.0000000000000005E-2</c:v>
                </c:pt>
                <c:pt idx="1">
                  <c:v>1.2E-2</c:v>
                </c:pt>
                <c:pt idx="2">
                  <c:v>1.4E-2</c:v>
                </c:pt>
                <c:pt idx="3">
                  <c:v>1.6000000000000021E-2</c:v>
                </c:pt>
                <c:pt idx="4">
                  <c:v>1.7999999999999999E-2</c:v>
                </c:pt>
                <c:pt idx="5">
                  <c:v>2.0000000000000011E-2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3.0000000000000002E-2</c:v>
                </c:pt>
                <c:pt idx="11">
                  <c:v>3.2000000000000042E-2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4.0000000000000022E-2</c:v>
                </c:pt>
                <c:pt idx="16">
                  <c:v>4.2000000000000023E-2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6.0000000000000032E-2</c:v>
                </c:pt>
                <c:pt idx="26">
                  <c:v>6.2000000000000034E-2</c:v>
                </c:pt>
                <c:pt idx="27">
                  <c:v>6.4000000000000085E-2</c:v>
                </c:pt>
                <c:pt idx="28">
                  <c:v>6.6000000000000003E-2</c:v>
                </c:pt>
                <c:pt idx="29">
                  <c:v>6.8000000000000019E-2</c:v>
                </c:pt>
                <c:pt idx="30">
                  <c:v>7.0000000000000021E-2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7.8000000000000014E-2</c:v>
                </c:pt>
                <c:pt idx="35">
                  <c:v>8.0000000000000043E-2</c:v>
                </c:pt>
                <c:pt idx="36">
                  <c:v>8.2000000000000003E-2</c:v>
                </c:pt>
                <c:pt idx="37">
                  <c:v>8.4000000000000047E-2</c:v>
                </c:pt>
                <c:pt idx="38">
                  <c:v>8.6000000000000021E-2</c:v>
                </c:pt>
                <c:pt idx="39">
                  <c:v>8.8000000000000064E-2</c:v>
                </c:pt>
                <c:pt idx="40">
                  <c:v>9.0000000000000024E-2</c:v>
                </c:pt>
                <c:pt idx="41">
                  <c:v>9.2000000000000026E-2</c:v>
                </c:pt>
                <c:pt idx="42">
                  <c:v>9.4000000000000028E-2</c:v>
                </c:pt>
                <c:pt idx="43">
                  <c:v>9.6000000000000002E-2</c:v>
                </c:pt>
                <c:pt idx="44">
                  <c:v>9.8000000000000129E-2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0.10800000000000008</c:v>
                </c:pt>
                <c:pt idx="50">
                  <c:v>0.11</c:v>
                </c:pt>
                <c:pt idx="51">
                  <c:v>0.112</c:v>
                </c:pt>
                <c:pt idx="52">
                  <c:v>0.114</c:v>
                </c:pt>
                <c:pt idx="53">
                  <c:v>0.11600000000000002</c:v>
                </c:pt>
                <c:pt idx="54">
                  <c:v>0.11799999999999998</c:v>
                </c:pt>
                <c:pt idx="55">
                  <c:v>0.12000000000000002</c:v>
                </c:pt>
                <c:pt idx="56">
                  <c:v>0.12200000000000008</c:v>
                </c:pt>
                <c:pt idx="57">
                  <c:v>0.12400000000000008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0.14600000000000016</c:v>
                </c:pt>
                <c:pt idx="69">
                  <c:v>0.14800000000000016</c:v>
                </c:pt>
                <c:pt idx="70">
                  <c:v>0.15000000000000016</c:v>
                </c:pt>
                <c:pt idx="71">
                  <c:v>0.15200000000000016</c:v>
                </c:pt>
                <c:pt idx="72">
                  <c:v>0.15400000000000016</c:v>
                </c:pt>
                <c:pt idx="73">
                  <c:v>0.15600000000000017</c:v>
                </c:pt>
                <c:pt idx="74">
                  <c:v>0.15800000000000017</c:v>
                </c:pt>
                <c:pt idx="75">
                  <c:v>0.16</c:v>
                </c:pt>
                <c:pt idx="76">
                  <c:v>0.16200000000000001</c:v>
                </c:pt>
                <c:pt idx="77">
                  <c:v>0.16400000000000001</c:v>
                </c:pt>
                <c:pt idx="78">
                  <c:v>0.16600000000000001</c:v>
                </c:pt>
                <c:pt idx="79">
                  <c:v>0.16800000000000001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0.17600000000000016</c:v>
                </c:pt>
                <c:pt idx="84">
                  <c:v>0.17800000000000016</c:v>
                </c:pt>
                <c:pt idx="85">
                  <c:v>0.18000000000000016</c:v>
                </c:pt>
                <c:pt idx="86">
                  <c:v>0.18200000000000016</c:v>
                </c:pt>
                <c:pt idx="87">
                  <c:v>0.18400000000000016</c:v>
                </c:pt>
                <c:pt idx="88">
                  <c:v>0.18600000000000017</c:v>
                </c:pt>
                <c:pt idx="89">
                  <c:v>0.18800000000000017</c:v>
                </c:pt>
                <c:pt idx="90">
                  <c:v>0.19</c:v>
                </c:pt>
                <c:pt idx="91">
                  <c:v>0.192</c:v>
                </c:pt>
                <c:pt idx="92">
                  <c:v>0.19400000000000001</c:v>
                </c:pt>
                <c:pt idx="93">
                  <c:v>0.19600000000000001</c:v>
                </c:pt>
                <c:pt idx="94">
                  <c:v>0.19800000000000001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0.20800000000000016</c:v>
                </c:pt>
                <c:pt idx="100">
                  <c:v>0.21000000000000016</c:v>
                </c:pt>
                <c:pt idx="101">
                  <c:v>0.21200000000000016</c:v>
                </c:pt>
                <c:pt idx="102">
                  <c:v>0.21400000000000016</c:v>
                </c:pt>
                <c:pt idx="103">
                  <c:v>0.21600000000000016</c:v>
                </c:pt>
                <c:pt idx="104">
                  <c:v>0.21800000000000017</c:v>
                </c:pt>
                <c:pt idx="105">
                  <c:v>0.22</c:v>
                </c:pt>
                <c:pt idx="106">
                  <c:v>0.222</c:v>
                </c:pt>
                <c:pt idx="107">
                  <c:v>0.224</c:v>
                </c:pt>
                <c:pt idx="108">
                  <c:v>0.22600000000000001</c:v>
                </c:pt>
                <c:pt idx="109">
                  <c:v>0.22800000000000001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0.24000000000000016</c:v>
                </c:pt>
                <c:pt idx="116">
                  <c:v>0.24200000000000016</c:v>
                </c:pt>
                <c:pt idx="117">
                  <c:v>0.24400000000000016</c:v>
                </c:pt>
                <c:pt idx="118">
                  <c:v>0.24600000000000016</c:v>
                </c:pt>
                <c:pt idx="119">
                  <c:v>0.24800000000000016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0.30800000000000033</c:v>
                </c:pt>
                <c:pt idx="150">
                  <c:v>0.31000000000000033</c:v>
                </c:pt>
                <c:pt idx="151">
                  <c:v>0.31200000000000033</c:v>
                </c:pt>
                <c:pt idx="152">
                  <c:v>0.31400000000000033</c:v>
                </c:pt>
                <c:pt idx="153">
                  <c:v>0.31600000000000039</c:v>
                </c:pt>
                <c:pt idx="154">
                  <c:v>0.31800000000000039</c:v>
                </c:pt>
                <c:pt idx="155">
                  <c:v>0.3200000000000004</c:v>
                </c:pt>
                <c:pt idx="156">
                  <c:v>0.3220000000000004</c:v>
                </c:pt>
                <c:pt idx="157">
                  <c:v>0.3240000000000004</c:v>
                </c:pt>
                <c:pt idx="158">
                  <c:v>0.3260000000000004</c:v>
                </c:pt>
                <c:pt idx="159">
                  <c:v>0.3280000000000004</c:v>
                </c:pt>
                <c:pt idx="160">
                  <c:v>0.33000000000000046</c:v>
                </c:pt>
                <c:pt idx="161">
                  <c:v>0.33200000000000046</c:v>
                </c:pt>
                <c:pt idx="162">
                  <c:v>0.33400000000000046</c:v>
                </c:pt>
                <c:pt idx="163">
                  <c:v>0.33600000000000046</c:v>
                </c:pt>
                <c:pt idx="164">
                  <c:v>0.33800000000000047</c:v>
                </c:pt>
                <c:pt idx="165">
                  <c:v>0.34</c:v>
                </c:pt>
                <c:pt idx="166">
                  <c:v>0.34200000000000008</c:v>
                </c:pt>
                <c:pt idx="167">
                  <c:v>0.34400000000000008</c:v>
                </c:pt>
                <c:pt idx="168">
                  <c:v>0.34600000000000031</c:v>
                </c:pt>
                <c:pt idx="169">
                  <c:v>0.34800000000000031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0.37000000000000033</c:v>
                </c:pt>
                <c:pt idx="181">
                  <c:v>0.37200000000000033</c:v>
                </c:pt>
                <c:pt idx="182">
                  <c:v>0.37400000000000033</c:v>
                </c:pt>
                <c:pt idx="183">
                  <c:v>0.37600000000000033</c:v>
                </c:pt>
                <c:pt idx="184">
                  <c:v>0.37800000000000034</c:v>
                </c:pt>
                <c:pt idx="185">
                  <c:v>0.38000000000000039</c:v>
                </c:pt>
                <c:pt idx="186">
                  <c:v>0.38200000000000039</c:v>
                </c:pt>
                <c:pt idx="187">
                  <c:v>0.3840000000000004</c:v>
                </c:pt>
                <c:pt idx="188">
                  <c:v>0.3860000000000004</c:v>
                </c:pt>
                <c:pt idx="189">
                  <c:v>0.3880000000000004</c:v>
                </c:pt>
                <c:pt idx="190">
                  <c:v>0.3900000000000004</c:v>
                </c:pt>
                <c:pt idx="191">
                  <c:v>0.39200000000000046</c:v>
                </c:pt>
                <c:pt idx="192">
                  <c:v>0.39400000000000046</c:v>
                </c:pt>
                <c:pt idx="193">
                  <c:v>0.39600000000000046</c:v>
                </c:pt>
                <c:pt idx="194">
                  <c:v>0.39800000000000046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1318.6508088644168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1222.9147512232983</c:v>
                </c:pt>
                <c:pt idx="10">
                  <c:v>1200.304053663448</c:v>
                </c:pt>
                <c:pt idx="11">
                  <c:v>1178.1972112182366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915.32228938991716</c:v>
                </c:pt>
                <c:pt idx="26">
                  <c:v>899.47273836769875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825.19876688657291</c:v>
                </c:pt>
                <c:pt idx="32">
                  <c:v>811.28494271763532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771.29555287904668</c:v>
                </c:pt>
                <c:pt idx="36">
                  <c:v>758.52721247140914</c:v>
                </c:pt>
                <c:pt idx="37">
                  <c:v>746.02873224110226</c:v>
                </c:pt>
                <c:pt idx="38">
                  <c:v>733.79383299585459</c:v>
                </c:pt>
                <c:pt idx="39">
                  <c:v>721.81639074524139</c:v>
                </c:pt>
                <c:pt idx="40">
                  <c:v>710.09043267930713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624.66634736661968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560.7374865282427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505.33340491616462</c:v>
                </c:pt>
                <c:pt idx="63">
                  <c:v>498.03861792591721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470.27474246860277</c:v>
                </c:pt>
                <c:pt idx="68">
                  <c:v>463.6720132682716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444.62837845755507</c:v>
                </c:pt>
                <c:pt idx="72">
                  <c:v>438.52603362354216</c:v>
                </c:pt>
                <c:pt idx="73">
                  <c:v>432.54196164827886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409.73729821889668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388.62763455007439</c:v>
                </c:pt>
                <c:pt idx="82">
                  <c:v>383.59804246864388</c:v>
                </c:pt>
                <c:pt idx="83">
                  <c:v>378.66330433894672</c:v>
                </c:pt>
                <c:pt idx="84">
                  <c:v>373.82136947110314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359.83258772304373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346.60966897613696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318.47036488258692</c:v>
                </c:pt>
                <c:pt idx="98">
                  <c:v>314.73711371914834</c:v>
                </c:pt>
                <c:pt idx="99">
                  <c:v>311.07103598863495</c:v>
                </c:pt>
                <c:pt idx="100">
                  <c:v>307.4707204029246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290.40839088867693</c:v>
                </c:pt>
                <c:pt idx="106">
                  <c:v>287.17476122569587</c:v>
                </c:pt>
                <c:pt idx="107">
                  <c:v>283.99787420890868</c:v>
                </c:pt>
                <c:pt idx="108">
                  <c:v>280.8765554713388</c:v>
                </c:pt>
                <c:pt idx="109">
                  <c:v>277.80965714955431</c:v>
                </c:pt>
                <c:pt idx="110">
                  <c:v>274.79605724930428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266.06420329342518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252.47942292485783</c:v>
                </c:pt>
                <c:pt idx="119">
                  <c:v>249.89899326120877</c:v>
                </c:pt>
                <c:pt idx="120">
                  <c:v>247.36193617979058</c:v>
                </c:pt>
                <c:pt idx="121">
                  <c:v>244.86737664598141</c:v>
                </c:pt>
                <c:pt idx="122">
                  <c:v>242.41445901167077</c:v>
                </c:pt>
                <c:pt idx="123">
                  <c:v>240.00234655830991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230.7458520677107</c:v>
                </c:pt>
                <c:pt idx="128">
                  <c:v>228.52584668881528</c:v>
                </c:pt>
                <c:pt idx="129">
                  <c:v>226.34199949913506</c:v>
                </c:pt>
                <c:pt idx="130">
                  <c:v>224.19359440607926</c:v>
                </c:pt>
                <c:pt idx="131">
                  <c:v>222.07993097438077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210.09018356921771</c:v>
                </c:pt>
                <c:pt idx="138">
                  <c:v>208.2013403326759</c:v>
                </c:pt>
                <c:pt idx="139">
                  <c:v>206.34215695023124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199.19070756612209</c:v>
                </c:pt>
                <c:pt idx="144">
                  <c:v>197.47144304761264</c:v>
                </c:pt>
                <c:pt idx="145">
                  <c:v>195.77856899241738</c:v>
                </c:pt>
                <c:pt idx="146">
                  <c:v>194.11158063236957</c:v>
                </c:pt>
                <c:pt idx="147">
                  <c:v>192.46998397085656</c:v>
                </c:pt>
                <c:pt idx="148">
                  <c:v>190.85329553652642</c:v>
                </c:pt>
                <c:pt idx="149">
                  <c:v>189.26104214292502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181.6504301138153</c:v>
                </c:pt>
                <c:pt idx="155">
                  <c:v>180.1953971443746</c:v>
                </c:pt>
                <c:pt idx="156">
                  <c:v>178.76175587536062</c:v>
                </c:pt>
                <c:pt idx="157">
                  <c:v>177.34910741061941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173.23325423007168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166.75846848298971</c:v>
                </c:pt>
                <c:pt idx="166">
                  <c:v>165.51812494527928</c:v>
                </c:pt>
                <c:pt idx="167">
                  <c:v>164.2952156362866</c:v>
                </c:pt>
                <c:pt idx="168">
                  <c:v>163.08942400561645</c:v>
                </c:pt>
                <c:pt idx="169">
                  <c:v>161.90044002221524</c:v>
                </c:pt>
                <c:pt idx="170">
                  <c:v>160.7279600294072</c:v>
                </c:pt>
                <c:pt idx="171">
                  <c:v>159.57168660333795</c:v>
                </c:pt>
                <c:pt idx="172">
                  <c:v>158.43132841473641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155.10292058702896</c:v>
                </c:pt>
                <c:pt idx="176">
                  <c:v>154.02342728843144</c:v>
                </c:pt>
                <c:pt idx="177">
                  <c:v>152.95847938406061</c:v>
                </c:pt>
                <c:pt idx="178">
                  <c:v>151.90781938532623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147.84308875985252</c:v>
                </c:pt>
                <c:pt idx="183">
                  <c:v>146.86018448036461</c:v>
                </c:pt>
                <c:pt idx="184">
                  <c:v>145.89012874358562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142.13399150173697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138.5663474671872</c:v>
                </c:pt>
                <c:pt idx="193">
                  <c:v>137.70239591134228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438-4AAD-8898-929A7429E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3918984"/>
        <c:axId val="423916632"/>
      </c:scatterChart>
      <c:valAx>
        <c:axId val="423918984"/>
        <c:scaling>
          <c:orientation val="minMax"/>
          <c:max val="0.4200000000000003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Taux de rendement à l'échéance (TRE)</a:t>
                </a:r>
              </a:p>
            </c:rich>
          </c:tx>
          <c:layout>
            <c:manualLayout>
              <c:xMode val="edge"/>
              <c:yMode val="edge"/>
              <c:x val="0.38608197285783863"/>
              <c:y val="0.93621011234818252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spPr>
          <a:ln w="2928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7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fr-FR"/>
          </a:p>
        </c:txPr>
        <c:crossAx val="423916632"/>
        <c:crosses val="autoZero"/>
        <c:crossBetween val="midCat"/>
      </c:valAx>
      <c:valAx>
        <c:axId val="42391663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>
                    <a:solidFill>
                      <a:schemeClr val="tx1"/>
                    </a:solidFill>
                  </a:rPr>
                  <a:t>Valeur de  l'obligationn</a:t>
                </a:r>
              </a:p>
            </c:rich>
          </c:tx>
          <c:layout>
            <c:manualLayout>
              <c:xMode val="edge"/>
              <c:yMode val="edge"/>
              <c:x val="4.0404040404040404E-3"/>
              <c:y val="0.38273921200750471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txPr>
          <a:bodyPr rot="0" vert="horz"/>
          <a:lstStyle/>
          <a:p>
            <a:pPr>
              <a:defRPr baseline="0">
                <a:solidFill>
                  <a:schemeClr val="tx1"/>
                </a:solidFill>
              </a:defRPr>
            </a:pPr>
            <a:endParaRPr lang="fr-FR"/>
          </a:p>
        </c:txPr>
        <c:crossAx val="423918984"/>
        <c:crosses val="autoZero"/>
        <c:crossBetween val="midCat"/>
      </c:valAx>
      <c:spPr>
        <a:noFill/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</c:chartSpace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FD2B91-2161-439D-B3E5-D7B1753A15C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9C20E204-1983-4533-9C36-9FDDE5729ED9}">
      <dgm:prSet phldrT="[Texte]"/>
      <dgm:spPr/>
      <dgm:t>
        <a:bodyPr/>
        <a:lstStyle/>
        <a:p>
          <a:r>
            <a:rPr lang="fr-CA" dirty="0"/>
            <a:t>Valeur plus élevée (</a:t>
          </a:r>
          <a:r>
            <a:rPr lang="fr-CA" dirty="0" err="1"/>
            <a:t>ceteris</a:t>
          </a:r>
          <a:r>
            <a:rPr lang="fr-CA" dirty="0"/>
            <a:t> </a:t>
          </a:r>
          <a:r>
            <a:rPr lang="fr-CA" dirty="0" err="1"/>
            <a:t>paribus</a:t>
          </a:r>
          <a:r>
            <a:rPr lang="fr-CA" dirty="0"/>
            <a:t>)</a:t>
          </a:r>
        </a:p>
      </dgm:t>
    </dgm:pt>
    <dgm:pt modelId="{024C269B-11FD-431F-8D77-F110B744B8FF}" type="parTrans" cxnId="{C30F9CAA-7D0D-4FF1-BEC6-F2926DD06FD7}">
      <dgm:prSet/>
      <dgm:spPr/>
      <dgm:t>
        <a:bodyPr/>
        <a:lstStyle/>
        <a:p>
          <a:endParaRPr lang="fr-CA"/>
        </a:p>
      </dgm:t>
    </dgm:pt>
    <dgm:pt modelId="{0C91BB58-4223-4875-8C41-8E0779D46D53}" type="sibTrans" cxnId="{C30F9CAA-7D0D-4FF1-BEC6-F2926DD06FD7}">
      <dgm:prSet/>
      <dgm:spPr/>
      <dgm:t>
        <a:bodyPr/>
        <a:lstStyle/>
        <a:p>
          <a:endParaRPr lang="fr-CA"/>
        </a:p>
      </dgm:t>
    </dgm:pt>
    <dgm:pt modelId="{CC5DCAF3-53EE-40FD-BE2B-F4901D647B32}">
      <dgm:prSet phldrT="[Texte]"/>
      <dgm:spPr/>
      <dgm:t>
        <a:bodyPr/>
        <a:lstStyle/>
        <a:p>
          <a:r>
            <a:rPr lang="fr-CA" dirty="0"/>
            <a:t>Valeur plus faible (</a:t>
          </a:r>
          <a:r>
            <a:rPr lang="fr-CA" dirty="0" err="1"/>
            <a:t>ceteris</a:t>
          </a:r>
          <a:r>
            <a:rPr lang="fr-CA" dirty="0"/>
            <a:t> </a:t>
          </a:r>
          <a:r>
            <a:rPr lang="fr-CA" dirty="0" err="1"/>
            <a:t>paribus</a:t>
          </a:r>
          <a:r>
            <a:rPr lang="fr-CA" dirty="0"/>
            <a:t>)</a:t>
          </a:r>
        </a:p>
      </dgm:t>
    </dgm:pt>
    <dgm:pt modelId="{5312EA8E-FBF9-4F1D-8CC2-7339D217F11B}" type="parTrans" cxnId="{285CDDBB-2438-49E6-8622-57CB7B9410D0}">
      <dgm:prSet/>
      <dgm:spPr/>
      <dgm:t>
        <a:bodyPr/>
        <a:lstStyle/>
        <a:p>
          <a:endParaRPr lang="fr-CA"/>
        </a:p>
      </dgm:t>
    </dgm:pt>
    <dgm:pt modelId="{A503772B-1658-43DD-8D11-38C3FD22D055}" type="sibTrans" cxnId="{285CDDBB-2438-49E6-8622-57CB7B9410D0}">
      <dgm:prSet/>
      <dgm:spPr/>
      <dgm:t>
        <a:bodyPr/>
        <a:lstStyle/>
        <a:p>
          <a:endParaRPr lang="fr-CA"/>
        </a:p>
      </dgm:t>
    </dgm:pt>
    <dgm:pt modelId="{19838A97-E5C2-4055-8B52-B99BD11193DC}">
      <dgm:prSet phldrT="[Texte]"/>
      <dgm:spPr/>
      <dgm:t>
        <a:bodyPr/>
        <a:lstStyle/>
        <a:p>
          <a:r>
            <a:rPr lang="fr-CA" dirty="0"/>
            <a:t>Option de rétractation (obligation rétractable)</a:t>
          </a:r>
        </a:p>
      </dgm:t>
    </dgm:pt>
    <dgm:pt modelId="{20E95A5B-B011-4952-B528-4A4F5B2BB1FF}" type="parTrans" cxnId="{7AF6FF86-2C9C-4946-BA00-3D5DBCB0FD10}">
      <dgm:prSet/>
      <dgm:spPr/>
      <dgm:t>
        <a:bodyPr/>
        <a:lstStyle/>
        <a:p>
          <a:endParaRPr lang="fr-CA"/>
        </a:p>
      </dgm:t>
    </dgm:pt>
    <dgm:pt modelId="{5797D6AE-77B9-40C9-B4F2-4C737CBC0249}" type="sibTrans" cxnId="{7AF6FF86-2C9C-4946-BA00-3D5DBCB0FD10}">
      <dgm:prSet/>
      <dgm:spPr/>
      <dgm:t>
        <a:bodyPr/>
        <a:lstStyle/>
        <a:p>
          <a:endParaRPr lang="fr-CA"/>
        </a:p>
      </dgm:t>
    </dgm:pt>
    <dgm:pt modelId="{4683CC1D-3708-49C8-A5B9-CC18A38616EF}">
      <dgm:prSet phldrT="[Texte]"/>
      <dgm:spPr/>
      <dgm:t>
        <a:bodyPr/>
        <a:lstStyle/>
        <a:p>
          <a:r>
            <a:rPr lang="fr-CA" dirty="0"/>
            <a:t>Titre plus liquide (plus fréquemment transigé sur les marchés)</a:t>
          </a:r>
        </a:p>
      </dgm:t>
    </dgm:pt>
    <dgm:pt modelId="{0D7DB61F-7DB4-4CA8-99E6-211F9EFBAB60}" type="parTrans" cxnId="{455C4F2F-54EE-4295-B8B6-D356CB96D25C}">
      <dgm:prSet/>
      <dgm:spPr/>
      <dgm:t>
        <a:bodyPr/>
        <a:lstStyle/>
        <a:p>
          <a:endParaRPr lang="fr-CA"/>
        </a:p>
      </dgm:t>
    </dgm:pt>
    <dgm:pt modelId="{AC22E399-F469-4011-828D-71FCB0143A19}" type="sibTrans" cxnId="{455C4F2F-54EE-4295-B8B6-D356CB96D25C}">
      <dgm:prSet/>
      <dgm:spPr/>
      <dgm:t>
        <a:bodyPr/>
        <a:lstStyle/>
        <a:p>
          <a:endParaRPr lang="fr-CA"/>
        </a:p>
      </dgm:t>
    </dgm:pt>
    <dgm:pt modelId="{7A58D6B3-C924-47DD-BD12-7EDE09524AB0}">
      <dgm:prSet phldrT="[Texte]"/>
      <dgm:spPr/>
      <dgm:t>
        <a:bodyPr/>
        <a:lstStyle/>
        <a:p>
          <a:r>
            <a:rPr lang="fr-CA" dirty="0"/>
            <a:t>Option de rachat</a:t>
          </a:r>
        </a:p>
      </dgm:t>
    </dgm:pt>
    <dgm:pt modelId="{696CDBE2-F4DF-461A-925D-69240460343B}" type="parTrans" cxnId="{D8A2F253-2B14-4797-8DD8-E724BF5BEC47}">
      <dgm:prSet/>
      <dgm:spPr/>
      <dgm:t>
        <a:bodyPr/>
        <a:lstStyle/>
        <a:p>
          <a:endParaRPr lang="fr-CA"/>
        </a:p>
      </dgm:t>
    </dgm:pt>
    <dgm:pt modelId="{8505001B-91DE-4953-9527-3A5F05A20860}" type="sibTrans" cxnId="{D8A2F253-2B14-4797-8DD8-E724BF5BEC47}">
      <dgm:prSet/>
      <dgm:spPr/>
      <dgm:t>
        <a:bodyPr/>
        <a:lstStyle/>
        <a:p>
          <a:endParaRPr lang="fr-CA"/>
        </a:p>
      </dgm:t>
    </dgm:pt>
    <dgm:pt modelId="{90CE6FAF-2738-4E27-81D8-4AE447BE5219}">
      <dgm:prSet phldrT="[Texte]"/>
      <dgm:spPr/>
      <dgm:t>
        <a:bodyPr/>
        <a:lstStyle/>
        <a:p>
          <a:r>
            <a:rPr lang="fr-CA" dirty="0"/>
            <a:t>Titre moins liquide (moins fréquemment transigé sur les marchés)</a:t>
          </a:r>
        </a:p>
      </dgm:t>
    </dgm:pt>
    <dgm:pt modelId="{93C87DB4-358C-43FC-A98E-510B266F8D55}" type="parTrans" cxnId="{CB6400DB-080D-454E-8B4E-EF6F1445C482}">
      <dgm:prSet/>
      <dgm:spPr/>
      <dgm:t>
        <a:bodyPr/>
        <a:lstStyle/>
        <a:p>
          <a:endParaRPr lang="fr-CA"/>
        </a:p>
      </dgm:t>
    </dgm:pt>
    <dgm:pt modelId="{C9CD75AF-CC13-4C5F-91A5-17167DB54461}" type="sibTrans" cxnId="{CB6400DB-080D-454E-8B4E-EF6F1445C482}">
      <dgm:prSet/>
      <dgm:spPr/>
      <dgm:t>
        <a:bodyPr/>
        <a:lstStyle/>
        <a:p>
          <a:endParaRPr lang="fr-CA"/>
        </a:p>
      </dgm:t>
    </dgm:pt>
    <dgm:pt modelId="{82B0D7E3-B31E-4336-A578-19BBCABEE068}">
      <dgm:prSet phldrT="[Texte]"/>
      <dgm:spPr/>
      <dgm:t>
        <a:bodyPr/>
        <a:lstStyle/>
        <a:p>
          <a:r>
            <a:rPr lang="fr-CA" dirty="0"/>
            <a:t>Option de conversion (obligation convertible)</a:t>
          </a:r>
        </a:p>
      </dgm:t>
    </dgm:pt>
    <dgm:pt modelId="{C876C907-6C46-44F6-B5B6-D9E8C63B0ACF}" type="parTrans" cxnId="{A2C856B3-CA13-436F-80B9-66095AD5686C}">
      <dgm:prSet/>
      <dgm:spPr/>
      <dgm:t>
        <a:bodyPr/>
        <a:lstStyle/>
        <a:p>
          <a:endParaRPr lang="fr-CA"/>
        </a:p>
      </dgm:t>
    </dgm:pt>
    <dgm:pt modelId="{632F5B7A-2D75-432C-A04B-DEB6D93D6C5C}" type="sibTrans" cxnId="{A2C856B3-CA13-436F-80B9-66095AD5686C}">
      <dgm:prSet/>
      <dgm:spPr/>
      <dgm:t>
        <a:bodyPr/>
        <a:lstStyle/>
        <a:p>
          <a:endParaRPr lang="fr-CA"/>
        </a:p>
      </dgm:t>
    </dgm:pt>
    <dgm:pt modelId="{66D36141-A823-4CBF-A41F-F4C00FEC8943}" type="pres">
      <dgm:prSet presAssocID="{AAFD2B91-2161-439D-B3E5-D7B1753A15C1}" presName="linear" presStyleCnt="0">
        <dgm:presLayoutVars>
          <dgm:dir/>
          <dgm:animLvl val="lvl"/>
          <dgm:resizeHandles val="exact"/>
        </dgm:presLayoutVars>
      </dgm:prSet>
      <dgm:spPr/>
    </dgm:pt>
    <dgm:pt modelId="{FE526D61-B189-40AE-9FA3-5B80B83454BE}" type="pres">
      <dgm:prSet presAssocID="{9C20E204-1983-4533-9C36-9FDDE5729ED9}" presName="parentLin" presStyleCnt="0"/>
      <dgm:spPr/>
    </dgm:pt>
    <dgm:pt modelId="{2FCB1AC4-59EA-4447-ABBC-73FCAD422314}" type="pres">
      <dgm:prSet presAssocID="{9C20E204-1983-4533-9C36-9FDDE5729ED9}" presName="parentLeftMargin" presStyleLbl="node1" presStyleIdx="0" presStyleCnt="2"/>
      <dgm:spPr/>
    </dgm:pt>
    <dgm:pt modelId="{AB94F510-6591-49BF-AECE-F7A9D2305DF5}" type="pres">
      <dgm:prSet presAssocID="{9C20E204-1983-4533-9C36-9FDDE5729E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05DA2B9-BF22-4F19-8E1F-493076EC5CD0}" type="pres">
      <dgm:prSet presAssocID="{9C20E204-1983-4533-9C36-9FDDE5729ED9}" presName="negativeSpace" presStyleCnt="0"/>
      <dgm:spPr/>
    </dgm:pt>
    <dgm:pt modelId="{78DC1A26-61F5-4156-8235-337D47206B70}" type="pres">
      <dgm:prSet presAssocID="{9C20E204-1983-4533-9C36-9FDDE5729ED9}" presName="childText" presStyleLbl="conFgAcc1" presStyleIdx="0" presStyleCnt="2">
        <dgm:presLayoutVars>
          <dgm:bulletEnabled val="1"/>
        </dgm:presLayoutVars>
      </dgm:prSet>
      <dgm:spPr/>
    </dgm:pt>
    <dgm:pt modelId="{6095723C-DD01-441B-A6F8-21471890AC3E}" type="pres">
      <dgm:prSet presAssocID="{0C91BB58-4223-4875-8C41-8E0779D46D53}" presName="spaceBetweenRectangles" presStyleCnt="0"/>
      <dgm:spPr/>
    </dgm:pt>
    <dgm:pt modelId="{CDD60EF1-2BEC-4027-A233-77BF2B31C2FE}" type="pres">
      <dgm:prSet presAssocID="{CC5DCAF3-53EE-40FD-BE2B-F4901D647B32}" presName="parentLin" presStyleCnt="0"/>
      <dgm:spPr/>
    </dgm:pt>
    <dgm:pt modelId="{9DBB0FE3-43E5-4E4A-A85F-F2F73762278A}" type="pres">
      <dgm:prSet presAssocID="{CC5DCAF3-53EE-40FD-BE2B-F4901D647B32}" presName="parentLeftMargin" presStyleLbl="node1" presStyleIdx="0" presStyleCnt="2"/>
      <dgm:spPr/>
    </dgm:pt>
    <dgm:pt modelId="{71DB0C09-B051-479D-8E8F-DEE18368EC28}" type="pres">
      <dgm:prSet presAssocID="{CC5DCAF3-53EE-40FD-BE2B-F4901D647B3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D2A6DC9-705F-4BB8-89E6-0D9D2DCCF1E1}" type="pres">
      <dgm:prSet presAssocID="{CC5DCAF3-53EE-40FD-BE2B-F4901D647B32}" presName="negativeSpace" presStyleCnt="0"/>
      <dgm:spPr/>
    </dgm:pt>
    <dgm:pt modelId="{663CD5FE-DA89-43FD-A854-84CCAFF9A311}" type="pres">
      <dgm:prSet presAssocID="{CC5DCAF3-53EE-40FD-BE2B-F4901D647B3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F0D9901-4624-453B-BF39-57AFB082FFF9}" type="presOf" srcId="{4683CC1D-3708-49C8-A5B9-CC18A38616EF}" destId="{78DC1A26-61F5-4156-8235-337D47206B70}" srcOrd="0" destOrd="2" presId="urn:microsoft.com/office/officeart/2005/8/layout/list1"/>
    <dgm:cxn modelId="{3BFA3D0E-D3A4-48E1-A247-DF41627B9652}" type="presOf" srcId="{7A58D6B3-C924-47DD-BD12-7EDE09524AB0}" destId="{663CD5FE-DA89-43FD-A854-84CCAFF9A311}" srcOrd="0" destOrd="0" presId="urn:microsoft.com/office/officeart/2005/8/layout/list1"/>
    <dgm:cxn modelId="{8F9DF026-C52A-4A5F-9AA4-C05BEF03D057}" type="presOf" srcId="{19838A97-E5C2-4055-8B52-B99BD11193DC}" destId="{78DC1A26-61F5-4156-8235-337D47206B70}" srcOrd="0" destOrd="1" presId="urn:microsoft.com/office/officeart/2005/8/layout/list1"/>
    <dgm:cxn modelId="{455C4F2F-54EE-4295-B8B6-D356CB96D25C}" srcId="{9C20E204-1983-4533-9C36-9FDDE5729ED9}" destId="{4683CC1D-3708-49C8-A5B9-CC18A38616EF}" srcOrd="2" destOrd="0" parTransId="{0D7DB61F-7DB4-4CA8-99E6-211F9EFBAB60}" sibTransId="{AC22E399-F469-4011-828D-71FCB0143A19}"/>
    <dgm:cxn modelId="{1867D463-2990-4022-BFB9-BCDFC2FB0FA7}" type="presOf" srcId="{9C20E204-1983-4533-9C36-9FDDE5729ED9}" destId="{AB94F510-6591-49BF-AECE-F7A9D2305DF5}" srcOrd="1" destOrd="0" presId="urn:microsoft.com/office/officeart/2005/8/layout/list1"/>
    <dgm:cxn modelId="{BCFE996D-30F6-42C5-A936-6A7D4EDB40F7}" type="presOf" srcId="{AAFD2B91-2161-439D-B3E5-D7B1753A15C1}" destId="{66D36141-A823-4CBF-A41F-F4C00FEC8943}" srcOrd="0" destOrd="0" presId="urn:microsoft.com/office/officeart/2005/8/layout/list1"/>
    <dgm:cxn modelId="{D8A2F253-2B14-4797-8DD8-E724BF5BEC47}" srcId="{CC5DCAF3-53EE-40FD-BE2B-F4901D647B32}" destId="{7A58D6B3-C924-47DD-BD12-7EDE09524AB0}" srcOrd="0" destOrd="0" parTransId="{696CDBE2-F4DF-461A-925D-69240460343B}" sibTransId="{8505001B-91DE-4953-9527-3A5F05A20860}"/>
    <dgm:cxn modelId="{17684D7B-1B53-4E3A-8736-4BDD40A1F240}" type="presOf" srcId="{90CE6FAF-2738-4E27-81D8-4AE447BE5219}" destId="{663CD5FE-DA89-43FD-A854-84CCAFF9A311}" srcOrd="0" destOrd="1" presId="urn:microsoft.com/office/officeart/2005/8/layout/list1"/>
    <dgm:cxn modelId="{7AF6FF86-2C9C-4946-BA00-3D5DBCB0FD10}" srcId="{9C20E204-1983-4533-9C36-9FDDE5729ED9}" destId="{19838A97-E5C2-4055-8B52-B99BD11193DC}" srcOrd="1" destOrd="0" parTransId="{20E95A5B-B011-4952-B528-4A4F5B2BB1FF}" sibTransId="{5797D6AE-77B9-40C9-B4F2-4C737CBC0249}"/>
    <dgm:cxn modelId="{C30F9CAA-7D0D-4FF1-BEC6-F2926DD06FD7}" srcId="{AAFD2B91-2161-439D-B3E5-D7B1753A15C1}" destId="{9C20E204-1983-4533-9C36-9FDDE5729ED9}" srcOrd="0" destOrd="0" parTransId="{024C269B-11FD-431F-8D77-F110B744B8FF}" sibTransId="{0C91BB58-4223-4875-8C41-8E0779D46D53}"/>
    <dgm:cxn modelId="{A2C856B3-CA13-436F-80B9-66095AD5686C}" srcId="{9C20E204-1983-4533-9C36-9FDDE5729ED9}" destId="{82B0D7E3-B31E-4336-A578-19BBCABEE068}" srcOrd="0" destOrd="0" parTransId="{C876C907-6C46-44F6-B5B6-D9E8C63B0ACF}" sibTransId="{632F5B7A-2D75-432C-A04B-DEB6D93D6C5C}"/>
    <dgm:cxn modelId="{82A8B0B8-E483-46BE-B051-3E3A6BAFE5C1}" type="presOf" srcId="{82B0D7E3-B31E-4336-A578-19BBCABEE068}" destId="{78DC1A26-61F5-4156-8235-337D47206B70}" srcOrd="0" destOrd="0" presId="urn:microsoft.com/office/officeart/2005/8/layout/list1"/>
    <dgm:cxn modelId="{285CDDBB-2438-49E6-8622-57CB7B9410D0}" srcId="{AAFD2B91-2161-439D-B3E5-D7B1753A15C1}" destId="{CC5DCAF3-53EE-40FD-BE2B-F4901D647B32}" srcOrd="1" destOrd="0" parTransId="{5312EA8E-FBF9-4F1D-8CC2-7339D217F11B}" sibTransId="{A503772B-1658-43DD-8D11-38C3FD22D055}"/>
    <dgm:cxn modelId="{7E3714C2-3D9C-491A-8A95-03765DAB764C}" type="presOf" srcId="{CC5DCAF3-53EE-40FD-BE2B-F4901D647B32}" destId="{9DBB0FE3-43E5-4E4A-A85F-F2F73762278A}" srcOrd="0" destOrd="0" presId="urn:microsoft.com/office/officeart/2005/8/layout/list1"/>
    <dgm:cxn modelId="{8CC40DD9-D77B-4560-99AA-D607E40AED10}" type="presOf" srcId="{9C20E204-1983-4533-9C36-9FDDE5729ED9}" destId="{2FCB1AC4-59EA-4447-ABBC-73FCAD422314}" srcOrd="0" destOrd="0" presId="urn:microsoft.com/office/officeart/2005/8/layout/list1"/>
    <dgm:cxn modelId="{CB6400DB-080D-454E-8B4E-EF6F1445C482}" srcId="{CC5DCAF3-53EE-40FD-BE2B-F4901D647B32}" destId="{90CE6FAF-2738-4E27-81D8-4AE447BE5219}" srcOrd="1" destOrd="0" parTransId="{93C87DB4-358C-43FC-A98E-510B266F8D55}" sibTransId="{C9CD75AF-CC13-4C5F-91A5-17167DB54461}"/>
    <dgm:cxn modelId="{F70133DF-03F9-44C2-8AB2-F19560891A94}" type="presOf" srcId="{CC5DCAF3-53EE-40FD-BE2B-F4901D647B32}" destId="{71DB0C09-B051-479D-8E8F-DEE18368EC28}" srcOrd="1" destOrd="0" presId="urn:microsoft.com/office/officeart/2005/8/layout/list1"/>
    <dgm:cxn modelId="{53134D34-0DB1-4714-805C-3F21D6CB06DE}" type="presParOf" srcId="{66D36141-A823-4CBF-A41F-F4C00FEC8943}" destId="{FE526D61-B189-40AE-9FA3-5B80B83454BE}" srcOrd="0" destOrd="0" presId="urn:microsoft.com/office/officeart/2005/8/layout/list1"/>
    <dgm:cxn modelId="{74EBF3FF-71C9-463C-BF5E-9AAB8CBA57EF}" type="presParOf" srcId="{FE526D61-B189-40AE-9FA3-5B80B83454BE}" destId="{2FCB1AC4-59EA-4447-ABBC-73FCAD422314}" srcOrd="0" destOrd="0" presId="urn:microsoft.com/office/officeart/2005/8/layout/list1"/>
    <dgm:cxn modelId="{4627E4C8-5919-471D-A00D-301BBC8FC4FA}" type="presParOf" srcId="{FE526D61-B189-40AE-9FA3-5B80B83454BE}" destId="{AB94F510-6591-49BF-AECE-F7A9D2305DF5}" srcOrd="1" destOrd="0" presId="urn:microsoft.com/office/officeart/2005/8/layout/list1"/>
    <dgm:cxn modelId="{827197D1-8301-45B7-B4D5-703D4A9A3805}" type="presParOf" srcId="{66D36141-A823-4CBF-A41F-F4C00FEC8943}" destId="{405DA2B9-BF22-4F19-8E1F-493076EC5CD0}" srcOrd="1" destOrd="0" presId="urn:microsoft.com/office/officeart/2005/8/layout/list1"/>
    <dgm:cxn modelId="{8B4F4045-6152-42E0-906C-54DF95E5132C}" type="presParOf" srcId="{66D36141-A823-4CBF-A41F-F4C00FEC8943}" destId="{78DC1A26-61F5-4156-8235-337D47206B70}" srcOrd="2" destOrd="0" presId="urn:microsoft.com/office/officeart/2005/8/layout/list1"/>
    <dgm:cxn modelId="{1CFDA991-E988-40C6-95E3-3ED7C0C79825}" type="presParOf" srcId="{66D36141-A823-4CBF-A41F-F4C00FEC8943}" destId="{6095723C-DD01-441B-A6F8-21471890AC3E}" srcOrd="3" destOrd="0" presId="urn:microsoft.com/office/officeart/2005/8/layout/list1"/>
    <dgm:cxn modelId="{4381B262-CC2F-45F7-815F-734A48DB8708}" type="presParOf" srcId="{66D36141-A823-4CBF-A41F-F4C00FEC8943}" destId="{CDD60EF1-2BEC-4027-A233-77BF2B31C2FE}" srcOrd="4" destOrd="0" presId="urn:microsoft.com/office/officeart/2005/8/layout/list1"/>
    <dgm:cxn modelId="{844F92A1-D3B2-4FCF-A9A2-4507751F2AD7}" type="presParOf" srcId="{CDD60EF1-2BEC-4027-A233-77BF2B31C2FE}" destId="{9DBB0FE3-43E5-4E4A-A85F-F2F73762278A}" srcOrd="0" destOrd="0" presId="urn:microsoft.com/office/officeart/2005/8/layout/list1"/>
    <dgm:cxn modelId="{C35BE28F-14B5-4891-8D21-A5AC2D3CA34D}" type="presParOf" srcId="{CDD60EF1-2BEC-4027-A233-77BF2B31C2FE}" destId="{71DB0C09-B051-479D-8E8F-DEE18368EC28}" srcOrd="1" destOrd="0" presId="urn:microsoft.com/office/officeart/2005/8/layout/list1"/>
    <dgm:cxn modelId="{57DFFAAA-A303-4592-BCD3-9461EB7B8CA4}" type="presParOf" srcId="{66D36141-A823-4CBF-A41F-F4C00FEC8943}" destId="{1D2A6DC9-705F-4BB8-89E6-0D9D2DCCF1E1}" srcOrd="5" destOrd="0" presId="urn:microsoft.com/office/officeart/2005/8/layout/list1"/>
    <dgm:cxn modelId="{6FD782C7-CD11-4C6E-843B-34218501684C}" type="presParOf" srcId="{66D36141-A823-4CBF-A41F-F4C00FEC8943}" destId="{663CD5FE-DA89-43FD-A854-84CCAFF9A3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BCE9A6-C713-41A9-92B6-D48C5D01B083}" type="doc">
      <dgm:prSet loTypeId="urn:microsoft.com/office/officeart/2005/8/layout/vList4" loCatId="list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fr-CA"/>
        </a:p>
      </dgm:t>
    </dgm:pt>
    <dgm:pt modelId="{04EEAA54-4C98-4097-8EB0-D9058E8E084A}">
      <dgm:prSet phldrT="[Texte]"/>
      <dgm:spPr/>
      <dgm:t>
        <a:bodyPr/>
        <a:lstStyle/>
        <a:p>
          <a:r>
            <a:rPr lang="fr-CA" dirty="0"/>
            <a:t>Prévision de </a:t>
          </a:r>
          <a:r>
            <a:rPr lang="fr-CA" dirty="0">
              <a:solidFill>
                <a:schemeClr val="accent3"/>
              </a:solidFill>
            </a:rPr>
            <a:t>hausse</a:t>
          </a:r>
          <a:r>
            <a:rPr lang="fr-CA" dirty="0"/>
            <a:t> des taux d’intérêt</a:t>
          </a:r>
        </a:p>
      </dgm:t>
    </dgm:pt>
    <dgm:pt modelId="{853C9778-88A2-4E8C-94C2-94BCF0F46DED}" type="parTrans" cxnId="{B2CB76B5-B710-44E0-AD02-14B0C4CB4273}">
      <dgm:prSet/>
      <dgm:spPr/>
      <dgm:t>
        <a:bodyPr/>
        <a:lstStyle/>
        <a:p>
          <a:endParaRPr lang="fr-CA"/>
        </a:p>
      </dgm:t>
    </dgm:pt>
    <dgm:pt modelId="{E9230D56-3B56-4BE1-827B-167E5C69A3D9}" type="sibTrans" cxnId="{B2CB76B5-B710-44E0-AD02-14B0C4CB4273}">
      <dgm:prSet/>
      <dgm:spPr/>
      <dgm:t>
        <a:bodyPr/>
        <a:lstStyle/>
        <a:p>
          <a:endParaRPr lang="fr-CA"/>
        </a:p>
      </dgm:t>
    </dgm:pt>
    <dgm:pt modelId="{D632A0BC-6B90-4413-9A30-1A645DD40A2D}">
      <dgm:prSet phldrT="[Texte]"/>
      <dgm:spPr/>
      <dgm:t>
        <a:bodyPr/>
        <a:lstStyle/>
        <a:p>
          <a:r>
            <a:rPr lang="fr-CA" dirty="0">
              <a:solidFill>
                <a:schemeClr val="accent3"/>
              </a:solidFill>
            </a:rPr>
            <a:t>↘</a:t>
          </a:r>
          <a:r>
            <a:rPr lang="fr-CA" dirty="0"/>
            <a:t> des prix des obligations</a:t>
          </a:r>
        </a:p>
      </dgm:t>
    </dgm:pt>
    <dgm:pt modelId="{D321094A-8F95-4708-9AB7-AEA15DE2B981}" type="parTrans" cxnId="{4B9A4697-45E3-4549-9B39-50FFE473DF4A}">
      <dgm:prSet/>
      <dgm:spPr/>
      <dgm:t>
        <a:bodyPr/>
        <a:lstStyle/>
        <a:p>
          <a:endParaRPr lang="fr-CA"/>
        </a:p>
      </dgm:t>
    </dgm:pt>
    <dgm:pt modelId="{AA424A57-457E-40BE-9D91-0E905E9C91DE}" type="sibTrans" cxnId="{4B9A4697-45E3-4549-9B39-50FFE473DF4A}">
      <dgm:prSet/>
      <dgm:spPr/>
      <dgm:t>
        <a:bodyPr/>
        <a:lstStyle/>
        <a:p>
          <a:endParaRPr lang="fr-CA"/>
        </a:p>
      </dgm:t>
    </dgm:pt>
    <dgm:pt modelId="{780991B6-C7BD-4CB1-8A64-815115D7570B}">
      <dgm:prSet phldrT="[Texte]"/>
      <dgm:spPr/>
      <dgm:t>
        <a:bodyPr/>
        <a:lstStyle/>
        <a:p>
          <a:r>
            <a:rPr lang="fr-CA" dirty="0">
              <a:solidFill>
                <a:schemeClr val="accent3"/>
              </a:solidFill>
            </a:rPr>
            <a:t>↗</a:t>
          </a:r>
          <a:r>
            <a:rPr lang="fr-CA" dirty="0"/>
            <a:t> du TC ou </a:t>
          </a:r>
          <a:r>
            <a:rPr lang="fr-CA" dirty="0">
              <a:solidFill>
                <a:schemeClr val="accent3"/>
              </a:solidFill>
            </a:rPr>
            <a:t>↘</a:t>
          </a:r>
          <a:r>
            <a:rPr lang="fr-CA" dirty="0"/>
            <a:t>échéance </a:t>
          </a:r>
        </a:p>
      </dgm:t>
    </dgm:pt>
    <dgm:pt modelId="{115EE46C-6786-4042-A400-01E6E95C3B56}" type="parTrans" cxnId="{C5C1271E-C460-477D-BF76-8D03462CBD60}">
      <dgm:prSet/>
      <dgm:spPr/>
      <dgm:t>
        <a:bodyPr/>
        <a:lstStyle/>
        <a:p>
          <a:endParaRPr lang="fr-CA"/>
        </a:p>
      </dgm:t>
    </dgm:pt>
    <dgm:pt modelId="{7112E61A-AD42-4B80-90B3-DFA0EC7EA42F}" type="sibTrans" cxnId="{C5C1271E-C460-477D-BF76-8D03462CBD60}">
      <dgm:prSet/>
      <dgm:spPr/>
      <dgm:t>
        <a:bodyPr/>
        <a:lstStyle/>
        <a:p>
          <a:endParaRPr lang="fr-CA"/>
        </a:p>
      </dgm:t>
    </dgm:pt>
    <dgm:pt modelId="{A2FEE176-5AE9-43AA-95D3-B353D594F255}">
      <dgm:prSet phldrT="[Texte]"/>
      <dgm:spPr/>
      <dgm:t>
        <a:bodyPr/>
        <a:lstStyle/>
        <a:p>
          <a:r>
            <a:rPr lang="fr-CA" dirty="0"/>
            <a:t>Prévision de </a:t>
          </a:r>
          <a:r>
            <a:rPr lang="fr-CA" dirty="0">
              <a:solidFill>
                <a:schemeClr val="accent2"/>
              </a:solidFill>
            </a:rPr>
            <a:t>baisse</a:t>
          </a:r>
          <a:r>
            <a:rPr lang="fr-CA" dirty="0"/>
            <a:t> des taux d’intérêt</a:t>
          </a:r>
        </a:p>
      </dgm:t>
    </dgm:pt>
    <dgm:pt modelId="{29AACC1F-7ACF-4B32-A906-66EF8BDA3310}" type="parTrans" cxnId="{3CE60714-E646-4682-BC36-E829EA508F2A}">
      <dgm:prSet/>
      <dgm:spPr/>
      <dgm:t>
        <a:bodyPr/>
        <a:lstStyle/>
        <a:p>
          <a:endParaRPr lang="fr-CA"/>
        </a:p>
      </dgm:t>
    </dgm:pt>
    <dgm:pt modelId="{59E2F478-A582-4D13-8FB4-4DE8CBB830A2}" type="sibTrans" cxnId="{3CE60714-E646-4682-BC36-E829EA508F2A}">
      <dgm:prSet/>
      <dgm:spPr/>
      <dgm:t>
        <a:bodyPr/>
        <a:lstStyle/>
        <a:p>
          <a:endParaRPr lang="fr-CA"/>
        </a:p>
      </dgm:t>
    </dgm:pt>
    <dgm:pt modelId="{AB73A05C-E3C6-4B01-8E7E-8DD6A2583122}">
      <dgm:prSet phldrT="[Texte]"/>
      <dgm:spPr/>
      <dgm:t>
        <a:bodyPr/>
        <a:lstStyle/>
        <a:p>
          <a:r>
            <a:rPr lang="fr-CA" dirty="0">
              <a:solidFill>
                <a:schemeClr val="accent2"/>
              </a:solidFill>
            </a:rPr>
            <a:t>↗</a:t>
          </a:r>
          <a:r>
            <a:rPr lang="fr-CA" dirty="0"/>
            <a:t> des prix des obligations</a:t>
          </a:r>
        </a:p>
      </dgm:t>
    </dgm:pt>
    <dgm:pt modelId="{8664E2E7-C0C4-44D6-B874-53A256159650}" type="parTrans" cxnId="{B30D5A43-53D7-42EE-9A8B-0D4583180927}">
      <dgm:prSet/>
      <dgm:spPr/>
      <dgm:t>
        <a:bodyPr/>
        <a:lstStyle/>
        <a:p>
          <a:endParaRPr lang="fr-CA"/>
        </a:p>
      </dgm:t>
    </dgm:pt>
    <dgm:pt modelId="{95F919D2-5395-490E-B1E2-D27CCBFC1301}" type="sibTrans" cxnId="{B30D5A43-53D7-42EE-9A8B-0D4583180927}">
      <dgm:prSet/>
      <dgm:spPr/>
      <dgm:t>
        <a:bodyPr/>
        <a:lstStyle/>
        <a:p>
          <a:endParaRPr lang="fr-CA"/>
        </a:p>
      </dgm:t>
    </dgm:pt>
    <dgm:pt modelId="{21162E27-9AA8-443C-8864-C69A09F7163B}">
      <dgm:prSet phldrT="[Texte]"/>
      <dgm:spPr/>
      <dgm:t>
        <a:bodyPr/>
        <a:lstStyle/>
        <a:p>
          <a:r>
            <a:rPr lang="fr-CA" dirty="0">
              <a:solidFill>
                <a:schemeClr val="accent3"/>
              </a:solidFill>
            </a:rPr>
            <a:t>↘</a:t>
          </a:r>
          <a:r>
            <a:rPr lang="fr-CA" dirty="0"/>
            <a:t>de la volatilité (durée)</a:t>
          </a:r>
        </a:p>
      </dgm:t>
    </dgm:pt>
    <dgm:pt modelId="{3DF7FEBD-0A29-4CDB-95DB-4FB6954D1593}" type="parTrans" cxnId="{3F1EAF9F-15AD-444F-8C50-A2F6F5A3EF10}">
      <dgm:prSet/>
      <dgm:spPr/>
      <dgm:t>
        <a:bodyPr/>
        <a:lstStyle/>
        <a:p>
          <a:endParaRPr lang="fr-CA"/>
        </a:p>
      </dgm:t>
    </dgm:pt>
    <dgm:pt modelId="{C761A2ED-1C8E-4535-BC07-A7FB5AA9E9A0}" type="sibTrans" cxnId="{3F1EAF9F-15AD-444F-8C50-A2F6F5A3EF10}">
      <dgm:prSet/>
      <dgm:spPr/>
      <dgm:t>
        <a:bodyPr/>
        <a:lstStyle/>
        <a:p>
          <a:endParaRPr lang="fr-CA"/>
        </a:p>
      </dgm:t>
    </dgm:pt>
    <dgm:pt modelId="{C692FEBD-CAED-4483-A976-9608DA86DD4D}">
      <dgm:prSet/>
      <dgm:spPr/>
      <dgm:t>
        <a:bodyPr/>
        <a:lstStyle/>
        <a:p>
          <a:r>
            <a:rPr lang="fr-CA" dirty="0">
              <a:solidFill>
                <a:schemeClr val="accent2"/>
              </a:solidFill>
            </a:rPr>
            <a:t>↗</a:t>
          </a:r>
          <a:r>
            <a:rPr lang="fr-CA" dirty="0"/>
            <a:t> de la volatilité (durée)</a:t>
          </a:r>
        </a:p>
      </dgm:t>
    </dgm:pt>
    <dgm:pt modelId="{EF46A38E-0DDB-430D-8A40-5F1EBE49D693}" type="parTrans" cxnId="{2ECD8AEB-C676-4FAF-B429-F8E850CFAE3C}">
      <dgm:prSet/>
      <dgm:spPr/>
      <dgm:t>
        <a:bodyPr/>
        <a:lstStyle/>
        <a:p>
          <a:endParaRPr lang="fr-CA"/>
        </a:p>
      </dgm:t>
    </dgm:pt>
    <dgm:pt modelId="{D59B4316-3FCD-463D-AB44-0F449CBBD67D}" type="sibTrans" cxnId="{2ECD8AEB-C676-4FAF-B429-F8E850CFAE3C}">
      <dgm:prSet/>
      <dgm:spPr/>
      <dgm:t>
        <a:bodyPr/>
        <a:lstStyle/>
        <a:p>
          <a:endParaRPr lang="fr-CA"/>
        </a:p>
      </dgm:t>
    </dgm:pt>
    <dgm:pt modelId="{E964D16F-2E44-4FD7-8083-2815681A0A2E}">
      <dgm:prSet/>
      <dgm:spPr/>
      <dgm:t>
        <a:bodyPr/>
        <a:lstStyle/>
        <a:p>
          <a:r>
            <a:rPr lang="fr-CA" dirty="0">
              <a:solidFill>
                <a:schemeClr val="accent2"/>
              </a:solidFill>
            </a:rPr>
            <a:t>↘</a:t>
          </a:r>
          <a:r>
            <a:rPr lang="fr-CA" dirty="0"/>
            <a:t> du TC ou </a:t>
          </a:r>
          <a:r>
            <a:rPr lang="fr-CA" dirty="0">
              <a:solidFill>
                <a:schemeClr val="accent2"/>
              </a:solidFill>
            </a:rPr>
            <a:t>↗ </a:t>
          </a:r>
          <a:r>
            <a:rPr lang="fr-CA" dirty="0"/>
            <a:t>échéance</a:t>
          </a:r>
        </a:p>
      </dgm:t>
    </dgm:pt>
    <dgm:pt modelId="{9295785A-4761-4430-95E0-3828FE908A15}" type="parTrans" cxnId="{D85CF975-015E-4244-A8B1-66E85AF91021}">
      <dgm:prSet/>
      <dgm:spPr/>
      <dgm:t>
        <a:bodyPr/>
        <a:lstStyle/>
        <a:p>
          <a:endParaRPr lang="fr-CA"/>
        </a:p>
      </dgm:t>
    </dgm:pt>
    <dgm:pt modelId="{62B6CCF9-A9BC-48DC-921E-678804C62D2A}" type="sibTrans" cxnId="{D85CF975-015E-4244-A8B1-66E85AF91021}">
      <dgm:prSet/>
      <dgm:spPr/>
      <dgm:t>
        <a:bodyPr/>
        <a:lstStyle/>
        <a:p>
          <a:endParaRPr lang="fr-CA"/>
        </a:p>
      </dgm:t>
    </dgm:pt>
    <dgm:pt modelId="{E014C89A-0E4F-4286-AA6A-864838D517B0}" type="pres">
      <dgm:prSet presAssocID="{D1BCE9A6-C713-41A9-92B6-D48C5D01B083}" presName="linear" presStyleCnt="0">
        <dgm:presLayoutVars>
          <dgm:dir/>
          <dgm:resizeHandles val="exact"/>
        </dgm:presLayoutVars>
      </dgm:prSet>
      <dgm:spPr/>
    </dgm:pt>
    <dgm:pt modelId="{2F419B77-B81D-4FE2-891E-EAEAEC803864}" type="pres">
      <dgm:prSet presAssocID="{04EEAA54-4C98-4097-8EB0-D9058E8E084A}" presName="comp" presStyleCnt="0"/>
      <dgm:spPr/>
    </dgm:pt>
    <dgm:pt modelId="{05C495C6-C067-4869-B99E-675790255414}" type="pres">
      <dgm:prSet presAssocID="{04EEAA54-4C98-4097-8EB0-D9058E8E084A}" presName="box" presStyleLbl="node1" presStyleIdx="0" presStyleCnt="2"/>
      <dgm:spPr/>
    </dgm:pt>
    <dgm:pt modelId="{CDEDD620-3D73-45A2-B720-9468BFA9BD9E}" type="pres">
      <dgm:prSet presAssocID="{04EEAA54-4C98-4097-8EB0-D9058E8E084A}" presName="img" presStyleLbl="fgImgPlace1" presStyleIdx="0" presStyleCnt="2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6FAF2B5-657C-483D-AA92-CDE214BD79D0}" type="pres">
      <dgm:prSet presAssocID="{04EEAA54-4C98-4097-8EB0-D9058E8E084A}" presName="text" presStyleLbl="node1" presStyleIdx="0" presStyleCnt="2">
        <dgm:presLayoutVars>
          <dgm:bulletEnabled val="1"/>
        </dgm:presLayoutVars>
      </dgm:prSet>
      <dgm:spPr/>
    </dgm:pt>
    <dgm:pt modelId="{B830AFC6-E1A5-4A16-8461-A01DDC5D8193}" type="pres">
      <dgm:prSet presAssocID="{E9230D56-3B56-4BE1-827B-167E5C69A3D9}" presName="spacer" presStyleCnt="0"/>
      <dgm:spPr/>
    </dgm:pt>
    <dgm:pt modelId="{09185EAE-C0A8-483B-87EB-DE378BE87BD4}" type="pres">
      <dgm:prSet presAssocID="{A2FEE176-5AE9-43AA-95D3-B353D594F255}" presName="comp" presStyleCnt="0"/>
      <dgm:spPr/>
    </dgm:pt>
    <dgm:pt modelId="{3220E0E4-2DAC-4E15-88AF-89A72801B173}" type="pres">
      <dgm:prSet presAssocID="{A2FEE176-5AE9-43AA-95D3-B353D594F255}" presName="box" presStyleLbl="node1" presStyleIdx="1" presStyleCnt="2"/>
      <dgm:spPr/>
    </dgm:pt>
    <dgm:pt modelId="{E8115B20-C7B2-49F1-A25A-8D6337016F2A}" type="pres">
      <dgm:prSet presAssocID="{A2FEE176-5AE9-43AA-95D3-B353D594F255}" presName="img" presStyleLbl="fgImgPlace1" presStyleIdx="1" presStyleCnt="2"/>
      <dgm:spPr/>
    </dgm:pt>
    <dgm:pt modelId="{9AF44559-F5C1-404B-AAAC-2291ACC0E9C8}" type="pres">
      <dgm:prSet presAssocID="{A2FEE176-5AE9-43AA-95D3-B353D594F255}" presName="text" presStyleLbl="node1" presStyleIdx="1" presStyleCnt="2">
        <dgm:presLayoutVars>
          <dgm:bulletEnabled val="1"/>
        </dgm:presLayoutVars>
      </dgm:prSet>
      <dgm:spPr/>
    </dgm:pt>
  </dgm:ptLst>
  <dgm:cxnLst>
    <dgm:cxn modelId="{135C6808-8DA9-4262-9CEF-688095856DC9}" type="presOf" srcId="{A2FEE176-5AE9-43AA-95D3-B353D594F255}" destId="{3220E0E4-2DAC-4E15-88AF-89A72801B173}" srcOrd="0" destOrd="0" presId="urn:microsoft.com/office/officeart/2005/8/layout/vList4"/>
    <dgm:cxn modelId="{3CE60714-E646-4682-BC36-E829EA508F2A}" srcId="{D1BCE9A6-C713-41A9-92B6-D48C5D01B083}" destId="{A2FEE176-5AE9-43AA-95D3-B353D594F255}" srcOrd="1" destOrd="0" parTransId="{29AACC1F-7ACF-4B32-A906-66EF8BDA3310}" sibTransId="{59E2F478-A582-4D13-8FB4-4DE8CBB830A2}"/>
    <dgm:cxn modelId="{DF339715-D771-4B10-ABDF-7C5D17896BA8}" type="presOf" srcId="{D1BCE9A6-C713-41A9-92B6-D48C5D01B083}" destId="{E014C89A-0E4F-4286-AA6A-864838D517B0}" srcOrd="0" destOrd="0" presId="urn:microsoft.com/office/officeart/2005/8/layout/vList4"/>
    <dgm:cxn modelId="{F82CC519-6471-4F0D-A33F-08D52D4EA773}" type="presOf" srcId="{D632A0BC-6B90-4413-9A30-1A645DD40A2D}" destId="{C6FAF2B5-657C-483D-AA92-CDE214BD79D0}" srcOrd="1" destOrd="1" presId="urn:microsoft.com/office/officeart/2005/8/layout/vList4"/>
    <dgm:cxn modelId="{C5C1271E-C460-477D-BF76-8D03462CBD60}" srcId="{04EEAA54-4C98-4097-8EB0-D9058E8E084A}" destId="{780991B6-C7BD-4CB1-8A64-815115D7570B}" srcOrd="2" destOrd="0" parTransId="{115EE46C-6786-4042-A400-01E6E95C3B56}" sibTransId="{7112E61A-AD42-4B80-90B3-DFA0EC7EA42F}"/>
    <dgm:cxn modelId="{76B8BD34-43F8-49CF-A288-11AC8AD48522}" type="presOf" srcId="{E964D16F-2E44-4FD7-8083-2815681A0A2E}" destId="{9AF44559-F5C1-404B-AAAC-2291ACC0E9C8}" srcOrd="1" destOrd="3" presId="urn:microsoft.com/office/officeart/2005/8/layout/vList4"/>
    <dgm:cxn modelId="{2786A55D-DB89-4834-8C5D-D6A41C393795}" type="presOf" srcId="{C692FEBD-CAED-4483-A976-9608DA86DD4D}" destId="{3220E0E4-2DAC-4E15-88AF-89A72801B173}" srcOrd="0" destOrd="2" presId="urn:microsoft.com/office/officeart/2005/8/layout/vList4"/>
    <dgm:cxn modelId="{B30D5A43-53D7-42EE-9A8B-0D4583180927}" srcId="{A2FEE176-5AE9-43AA-95D3-B353D594F255}" destId="{AB73A05C-E3C6-4B01-8E7E-8DD6A2583122}" srcOrd="0" destOrd="0" parTransId="{8664E2E7-C0C4-44D6-B874-53A256159650}" sibTransId="{95F919D2-5395-490E-B1E2-D27CCBFC1301}"/>
    <dgm:cxn modelId="{4617F169-209E-471E-81F7-CF8B52A4F3C4}" type="presOf" srcId="{21162E27-9AA8-443C-8864-C69A09F7163B}" destId="{05C495C6-C067-4869-B99E-675790255414}" srcOrd="0" destOrd="2" presId="urn:microsoft.com/office/officeart/2005/8/layout/vList4"/>
    <dgm:cxn modelId="{7220604C-EEBF-448B-80CA-382203B537A4}" type="presOf" srcId="{AB73A05C-E3C6-4B01-8E7E-8DD6A2583122}" destId="{9AF44559-F5C1-404B-AAAC-2291ACC0E9C8}" srcOrd="1" destOrd="1" presId="urn:microsoft.com/office/officeart/2005/8/layout/vList4"/>
    <dgm:cxn modelId="{BE92BA6D-662D-4A21-AE8B-866D5C518D6D}" type="presOf" srcId="{780991B6-C7BD-4CB1-8A64-815115D7570B}" destId="{05C495C6-C067-4869-B99E-675790255414}" srcOrd="0" destOrd="3" presId="urn:microsoft.com/office/officeart/2005/8/layout/vList4"/>
    <dgm:cxn modelId="{740F5C72-EE08-4C88-AE26-B80934533C57}" type="presOf" srcId="{A2FEE176-5AE9-43AA-95D3-B353D594F255}" destId="{9AF44559-F5C1-404B-AAAC-2291ACC0E9C8}" srcOrd="1" destOrd="0" presId="urn:microsoft.com/office/officeart/2005/8/layout/vList4"/>
    <dgm:cxn modelId="{BA41C753-4359-4FED-9FD7-F65BDF67A71A}" type="presOf" srcId="{D632A0BC-6B90-4413-9A30-1A645DD40A2D}" destId="{05C495C6-C067-4869-B99E-675790255414}" srcOrd="0" destOrd="1" presId="urn:microsoft.com/office/officeart/2005/8/layout/vList4"/>
    <dgm:cxn modelId="{D85CF975-015E-4244-A8B1-66E85AF91021}" srcId="{A2FEE176-5AE9-43AA-95D3-B353D594F255}" destId="{E964D16F-2E44-4FD7-8083-2815681A0A2E}" srcOrd="2" destOrd="0" parTransId="{9295785A-4761-4430-95E0-3828FE908A15}" sibTransId="{62B6CCF9-A9BC-48DC-921E-678804C62D2A}"/>
    <dgm:cxn modelId="{0E91558D-7351-4464-A8F5-0D4BE7D5CF74}" type="presOf" srcId="{E964D16F-2E44-4FD7-8083-2815681A0A2E}" destId="{3220E0E4-2DAC-4E15-88AF-89A72801B173}" srcOrd="0" destOrd="3" presId="urn:microsoft.com/office/officeart/2005/8/layout/vList4"/>
    <dgm:cxn modelId="{4B9A4697-45E3-4549-9B39-50FFE473DF4A}" srcId="{04EEAA54-4C98-4097-8EB0-D9058E8E084A}" destId="{D632A0BC-6B90-4413-9A30-1A645DD40A2D}" srcOrd="0" destOrd="0" parTransId="{D321094A-8F95-4708-9AB7-AEA15DE2B981}" sibTransId="{AA424A57-457E-40BE-9D91-0E905E9C91DE}"/>
    <dgm:cxn modelId="{3F1EAF9F-15AD-444F-8C50-A2F6F5A3EF10}" srcId="{04EEAA54-4C98-4097-8EB0-D9058E8E084A}" destId="{21162E27-9AA8-443C-8864-C69A09F7163B}" srcOrd="1" destOrd="0" parTransId="{3DF7FEBD-0A29-4CDB-95DB-4FB6954D1593}" sibTransId="{C761A2ED-1C8E-4535-BC07-A7FB5AA9E9A0}"/>
    <dgm:cxn modelId="{D5D58DB1-FCF1-4438-A8D4-C448C4E91923}" type="presOf" srcId="{C692FEBD-CAED-4483-A976-9608DA86DD4D}" destId="{9AF44559-F5C1-404B-AAAC-2291ACC0E9C8}" srcOrd="1" destOrd="2" presId="urn:microsoft.com/office/officeart/2005/8/layout/vList4"/>
    <dgm:cxn modelId="{B2CB76B5-B710-44E0-AD02-14B0C4CB4273}" srcId="{D1BCE9A6-C713-41A9-92B6-D48C5D01B083}" destId="{04EEAA54-4C98-4097-8EB0-D9058E8E084A}" srcOrd="0" destOrd="0" parTransId="{853C9778-88A2-4E8C-94C2-94BCF0F46DED}" sibTransId="{E9230D56-3B56-4BE1-827B-167E5C69A3D9}"/>
    <dgm:cxn modelId="{527EA8B7-77CE-4DEC-B995-4E15E06A1E98}" type="presOf" srcId="{21162E27-9AA8-443C-8864-C69A09F7163B}" destId="{C6FAF2B5-657C-483D-AA92-CDE214BD79D0}" srcOrd="1" destOrd="2" presId="urn:microsoft.com/office/officeart/2005/8/layout/vList4"/>
    <dgm:cxn modelId="{2ECD8AEB-C676-4FAF-B429-F8E850CFAE3C}" srcId="{A2FEE176-5AE9-43AA-95D3-B353D594F255}" destId="{C692FEBD-CAED-4483-A976-9608DA86DD4D}" srcOrd="1" destOrd="0" parTransId="{EF46A38E-0DDB-430D-8A40-5F1EBE49D693}" sibTransId="{D59B4316-3FCD-463D-AB44-0F449CBBD67D}"/>
    <dgm:cxn modelId="{F82B14EC-02C7-4B20-81FB-A8D610D71B85}" type="presOf" srcId="{04EEAA54-4C98-4097-8EB0-D9058E8E084A}" destId="{C6FAF2B5-657C-483D-AA92-CDE214BD79D0}" srcOrd="1" destOrd="0" presId="urn:microsoft.com/office/officeart/2005/8/layout/vList4"/>
    <dgm:cxn modelId="{11F939F1-2461-4356-8693-3093E0F77625}" type="presOf" srcId="{780991B6-C7BD-4CB1-8A64-815115D7570B}" destId="{C6FAF2B5-657C-483D-AA92-CDE214BD79D0}" srcOrd="1" destOrd="3" presId="urn:microsoft.com/office/officeart/2005/8/layout/vList4"/>
    <dgm:cxn modelId="{7351ACF8-5EA6-410C-8E00-4B7F11F99A30}" type="presOf" srcId="{AB73A05C-E3C6-4B01-8E7E-8DD6A2583122}" destId="{3220E0E4-2DAC-4E15-88AF-89A72801B173}" srcOrd="0" destOrd="1" presId="urn:microsoft.com/office/officeart/2005/8/layout/vList4"/>
    <dgm:cxn modelId="{D7B6DAF8-54BF-44E4-98C1-69099D0DEC5B}" type="presOf" srcId="{04EEAA54-4C98-4097-8EB0-D9058E8E084A}" destId="{05C495C6-C067-4869-B99E-675790255414}" srcOrd="0" destOrd="0" presId="urn:microsoft.com/office/officeart/2005/8/layout/vList4"/>
    <dgm:cxn modelId="{616BBB25-73D2-4461-882E-D75FA3C1B8DE}" type="presParOf" srcId="{E014C89A-0E4F-4286-AA6A-864838D517B0}" destId="{2F419B77-B81D-4FE2-891E-EAEAEC803864}" srcOrd="0" destOrd="0" presId="urn:microsoft.com/office/officeart/2005/8/layout/vList4"/>
    <dgm:cxn modelId="{FA0832C4-3816-42C7-A441-EEF59FCE863A}" type="presParOf" srcId="{2F419B77-B81D-4FE2-891E-EAEAEC803864}" destId="{05C495C6-C067-4869-B99E-675790255414}" srcOrd="0" destOrd="0" presId="urn:microsoft.com/office/officeart/2005/8/layout/vList4"/>
    <dgm:cxn modelId="{DE1F0BDB-0598-4A21-A4EA-A89BBAB2519D}" type="presParOf" srcId="{2F419B77-B81D-4FE2-891E-EAEAEC803864}" destId="{CDEDD620-3D73-45A2-B720-9468BFA9BD9E}" srcOrd="1" destOrd="0" presId="urn:microsoft.com/office/officeart/2005/8/layout/vList4"/>
    <dgm:cxn modelId="{DBCC9C48-52F3-45DD-BA0B-D5100136A6BC}" type="presParOf" srcId="{2F419B77-B81D-4FE2-891E-EAEAEC803864}" destId="{C6FAF2B5-657C-483D-AA92-CDE214BD79D0}" srcOrd="2" destOrd="0" presId="urn:microsoft.com/office/officeart/2005/8/layout/vList4"/>
    <dgm:cxn modelId="{D430E1AF-8B8C-4275-AF8C-25CCF868DB73}" type="presParOf" srcId="{E014C89A-0E4F-4286-AA6A-864838D517B0}" destId="{B830AFC6-E1A5-4A16-8461-A01DDC5D8193}" srcOrd="1" destOrd="0" presId="urn:microsoft.com/office/officeart/2005/8/layout/vList4"/>
    <dgm:cxn modelId="{5654911E-7542-4913-9E62-98FD3B74BD0B}" type="presParOf" srcId="{E014C89A-0E4F-4286-AA6A-864838D517B0}" destId="{09185EAE-C0A8-483B-87EB-DE378BE87BD4}" srcOrd="2" destOrd="0" presId="urn:microsoft.com/office/officeart/2005/8/layout/vList4"/>
    <dgm:cxn modelId="{ED6BBA2B-640C-42D0-9341-BE3E3ECA6988}" type="presParOf" srcId="{09185EAE-C0A8-483B-87EB-DE378BE87BD4}" destId="{3220E0E4-2DAC-4E15-88AF-89A72801B173}" srcOrd="0" destOrd="0" presId="urn:microsoft.com/office/officeart/2005/8/layout/vList4"/>
    <dgm:cxn modelId="{7AE34FD2-2C42-4D0C-9925-AD35BFB91AB6}" type="presParOf" srcId="{09185EAE-C0A8-483B-87EB-DE378BE87BD4}" destId="{E8115B20-C7B2-49F1-A25A-8D6337016F2A}" srcOrd="1" destOrd="0" presId="urn:microsoft.com/office/officeart/2005/8/layout/vList4"/>
    <dgm:cxn modelId="{FCF0D583-0E6F-493A-AF22-79C89F33F996}" type="presParOf" srcId="{09185EAE-C0A8-483B-87EB-DE378BE87BD4}" destId="{9AF44559-F5C1-404B-AAAC-2291ACC0E9C8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06FCE6-3AC8-4307-A99F-F5DCD9D5CA21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B388476-5B18-42C1-A951-A18660D2A4BB}">
      <dgm:prSet phldrT="[Texte]" custT="1"/>
      <dgm:spPr/>
      <dgm:t>
        <a:bodyPr/>
        <a:lstStyle/>
        <a:p>
          <a:r>
            <a:rPr lang="fr-CA" sz="2800" dirty="0"/>
            <a:t>Risque de crédit </a:t>
          </a:r>
          <a:r>
            <a:rPr lang="fr-CA" sz="1200" dirty="0"/>
            <a:t>(risque de défaut que présente l’émetteur)</a:t>
          </a:r>
          <a:endParaRPr lang="fr-CA" sz="3100" dirty="0"/>
        </a:p>
      </dgm:t>
    </dgm:pt>
    <dgm:pt modelId="{20D1C359-9A72-4013-AE9F-76492AF96737}" type="parTrans" cxnId="{209CF363-2BCF-4975-8489-4B35F3EABC8F}">
      <dgm:prSet/>
      <dgm:spPr/>
      <dgm:t>
        <a:bodyPr/>
        <a:lstStyle/>
        <a:p>
          <a:endParaRPr lang="fr-CA"/>
        </a:p>
      </dgm:t>
    </dgm:pt>
    <dgm:pt modelId="{4966527C-92AB-45BA-8E60-0D14C7CF1F01}" type="sibTrans" cxnId="{209CF363-2BCF-4975-8489-4B35F3EABC8F}">
      <dgm:prSet/>
      <dgm:spPr/>
      <dgm:t>
        <a:bodyPr/>
        <a:lstStyle/>
        <a:p>
          <a:endParaRPr lang="fr-CA"/>
        </a:p>
      </dgm:t>
    </dgm:pt>
    <dgm:pt modelId="{57839EB2-D206-4FFD-ABAF-5DA92B4AD453}">
      <dgm:prSet phldrT="[Texte]" custT="1"/>
      <dgm:spPr/>
      <dgm:t>
        <a:bodyPr/>
        <a:lstStyle/>
        <a:p>
          <a:r>
            <a:rPr lang="fr-CA" sz="2800" dirty="0"/>
            <a:t>Risque de taux d’intérêt </a:t>
          </a:r>
          <a:r>
            <a:rPr lang="fr-CA" sz="1200" dirty="0"/>
            <a:t>(risque de </a:t>
          </a:r>
          <a:r>
            <a:rPr lang="fr-CA" sz="1200" dirty="0">
              <a:latin typeface="Symbol" panose="05050102010706020507" pitchFamily="18" charset="2"/>
            </a:rPr>
            <a:t>D</a:t>
          </a:r>
          <a:r>
            <a:rPr lang="fr-CA" sz="1200" dirty="0"/>
            <a:t> des taux d’intérêt)</a:t>
          </a:r>
        </a:p>
      </dgm:t>
    </dgm:pt>
    <dgm:pt modelId="{F9F01858-7DA9-4FF7-979C-6A0619D840E6}" type="parTrans" cxnId="{F316C845-E5DF-44D8-A9EA-5FBF8AB8D742}">
      <dgm:prSet/>
      <dgm:spPr/>
      <dgm:t>
        <a:bodyPr/>
        <a:lstStyle/>
        <a:p>
          <a:endParaRPr lang="fr-CA"/>
        </a:p>
      </dgm:t>
    </dgm:pt>
    <dgm:pt modelId="{78C53B58-D8EE-49FA-90F8-5B464F02483E}" type="sibTrans" cxnId="{F316C845-E5DF-44D8-A9EA-5FBF8AB8D742}">
      <dgm:prSet/>
      <dgm:spPr/>
      <dgm:t>
        <a:bodyPr/>
        <a:lstStyle/>
        <a:p>
          <a:endParaRPr lang="fr-CA"/>
        </a:p>
      </dgm:t>
    </dgm:pt>
    <dgm:pt modelId="{E6E126AD-9CF0-450E-8DE9-CDD91EC4D0FE}">
      <dgm:prSet phldrT="[Texte]" custT="1"/>
      <dgm:spPr/>
      <dgm:t>
        <a:bodyPr/>
        <a:lstStyle/>
        <a:p>
          <a:r>
            <a:rPr lang="fr-CA" sz="1400" dirty="0"/>
            <a:t>Représenté par la taux exigé (TRE)</a:t>
          </a:r>
        </a:p>
      </dgm:t>
    </dgm:pt>
    <dgm:pt modelId="{4332414F-C8D3-4F54-8191-6209217ED7A0}" type="parTrans" cxnId="{C97C30ED-F62D-4136-A70A-E1D1CBD16452}">
      <dgm:prSet/>
      <dgm:spPr/>
      <dgm:t>
        <a:bodyPr/>
        <a:lstStyle/>
        <a:p>
          <a:endParaRPr lang="fr-CA"/>
        </a:p>
      </dgm:t>
    </dgm:pt>
    <dgm:pt modelId="{74CEEE92-285B-407E-8F62-5387F958B51D}" type="sibTrans" cxnId="{C97C30ED-F62D-4136-A70A-E1D1CBD16452}">
      <dgm:prSet/>
      <dgm:spPr/>
      <dgm:t>
        <a:bodyPr/>
        <a:lstStyle/>
        <a:p>
          <a:endParaRPr lang="fr-CA"/>
        </a:p>
      </dgm:t>
    </dgm:pt>
    <dgm:pt modelId="{F7673440-22CC-4146-A529-2D3FFCF85DD2}">
      <dgm:prSet phldrT="[Texte]" custT="1"/>
      <dgm:spPr/>
      <dgm:t>
        <a:bodyPr/>
        <a:lstStyle/>
        <a:p>
          <a:r>
            <a:rPr lang="fr-CA" sz="2000" dirty="0"/>
            <a:t>Représenté par la « durée » de l’obligation</a:t>
          </a:r>
        </a:p>
      </dgm:t>
    </dgm:pt>
    <dgm:pt modelId="{4C1E4BAC-68A7-45AC-A53E-E723FC0E4B10}" type="parTrans" cxnId="{B07FEB99-BBFB-416C-AD2A-360F8CB91EBB}">
      <dgm:prSet/>
      <dgm:spPr/>
      <dgm:t>
        <a:bodyPr/>
        <a:lstStyle/>
        <a:p>
          <a:endParaRPr lang="fr-CA"/>
        </a:p>
      </dgm:t>
    </dgm:pt>
    <dgm:pt modelId="{DA6A417E-A798-4F93-BC8F-CF669C85FEBD}" type="sibTrans" cxnId="{B07FEB99-BBFB-416C-AD2A-360F8CB91EBB}">
      <dgm:prSet/>
      <dgm:spPr/>
      <dgm:t>
        <a:bodyPr/>
        <a:lstStyle/>
        <a:p>
          <a:endParaRPr lang="fr-CA"/>
        </a:p>
      </dgm:t>
    </dgm:pt>
    <dgm:pt modelId="{8719E3BE-9183-47CF-8708-06324AB93F56}">
      <dgm:prSet phldrT="[Texte]" custT="1"/>
      <dgm:spPr/>
      <dgm:t>
        <a:bodyPr/>
        <a:lstStyle/>
        <a:p>
          <a:r>
            <a:rPr lang="en-CA" sz="1400" dirty="0"/>
            <a:t>Utilisation de cote </a:t>
          </a:r>
          <a:r>
            <a:rPr lang="en-CA" sz="1400" dirty="0" err="1"/>
            <a:t>dans</a:t>
          </a:r>
          <a:r>
            <a:rPr lang="en-CA" sz="1400" dirty="0"/>
            <a:t> le </a:t>
          </a:r>
          <a:r>
            <a:rPr lang="en-CA" sz="1400" dirty="0" err="1"/>
            <a:t>marché</a:t>
          </a:r>
          <a:r>
            <a:rPr lang="en-CA" sz="1400" dirty="0"/>
            <a:t> pour signifier la </a:t>
          </a:r>
          <a:r>
            <a:rPr lang="en-CA" sz="1400" dirty="0" err="1"/>
            <a:t>qualité</a:t>
          </a:r>
          <a:r>
            <a:rPr lang="en-CA" sz="1400" dirty="0"/>
            <a:t> de </a:t>
          </a:r>
          <a:r>
            <a:rPr lang="en-CA" sz="1400" dirty="0" err="1"/>
            <a:t>crédit</a:t>
          </a:r>
          <a:r>
            <a:rPr lang="en-CA" sz="1400" dirty="0"/>
            <a:t> (AAA, AA, A, BBB, BB, B, CCC, CC, C, D)</a:t>
          </a:r>
          <a:endParaRPr lang="fr-CA" sz="1400" dirty="0"/>
        </a:p>
      </dgm:t>
    </dgm:pt>
    <dgm:pt modelId="{6EA4FC8E-B74F-429A-9EB0-CE980C676207}" type="parTrans" cxnId="{CF2B980C-9DD7-4909-8629-4254B1481747}">
      <dgm:prSet/>
      <dgm:spPr/>
      <dgm:t>
        <a:bodyPr/>
        <a:lstStyle/>
        <a:p>
          <a:endParaRPr lang="fr-CA"/>
        </a:p>
      </dgm:t>
    </dgm:pt>
    <dgm:pt modelId="{76046012-EEF5-43AC-AC00-4CB6CF917670}" type="sibTrans" cxnId="{CF2B980C-9DD7-4909-8629-4254B1481747}">
      <dgm:prSet/>
      <dgm:spPr/>
      <dgm:t>
        <a:bodyPr/>
        <a:lstStyle/>
        <a:p>
          <a:endParaRPr lang="fr-CA"/>
        </a:p>
      </dgm:t>
    </dgm:pt>
    <dgm:pt modelId="{DCB97A36-658D-4768-8EC4-57696D90E5B7}">
      <dgm:prSet phldrT="[Texte]" custT="1"/>
      <dgm:spPr/>
      <dgm:t>
        <a:bodyPr/>
        <a:lstStyle/>
        <a:p>
          <a:r>
            <a:rPr lang="fr-CA" sz="2000" dirty="0"/>
            <a:t>Sensibilité du prix vs variation des taux d’intérêt</a:t>
          </a:r>
        </a:p>
      </dgm:t>
    </dgm:pt>
    <dgm:pt modelId="{0EC927D1-3C93-4C80-8F8F-9AB647C76301}" type="parTrans" cxnId="{DE39AEFF-3C36-46B8-8746-4BA03B5BF0E2}">
      <dgm:prSet/>
      <dgm:spPr/>
      <dgm:t>
        <a:bodyPr/>
        <a:lstStyle/>
        <a:p>
          <a:endParaRPr lang="fr-CA"/>
        </a:p>
      </dgm:t>
    </dgm:pt>
    <dgm:pt modelId="{7B370F01-CC59-4C37-97F1-1B0DC1F803F1}" type="sibTrans" cxnId="{DE39AEFF-3C36-46B8-8746-4BA03B5BF0E2}">
      <dgm:prSet/>
      <dgm:spPr/>
      <dgm:t>
        <a:bodyPr/>
        <a:lstStyle/>
        <a:p>
          <a:endParaRPr lang="fr-CA"/>
        </a:p>
      </dgm:t>
    </dgm:pt>
    <dgm:pt modelId="{B84DB44F-111B-412B-ACEC-940640F7BF15}" type="pres">
      <dgm:prSet presAssocID="{E006FCE6-3AC8-4307-A99F-F5DCD9D5CA21}" presName="linear" presStyleCnt="0">
        <dgm:presLayoutVars>
          <dgm:dir/>
          <dgm:resizeHandles val="exact"/>
        </dgm:presLayoutVars>
      </dgm:prSet>
      <dgm:spPr/>
    </dgm:pt>
    <dgm:pt modelId="{326FC10F-6C43-483D-B11A-A6E8453CF9C1}" type="pres">
      <dgm:prSet presAssocID="{2B388476-5B18-42C1-A951-A18660D2A4BB}" presName="comp" presStyleCnt="0"/>
      <dgm:spPr/>
    </dgm:pt>
    <dgm:pt modelId="{17A3102D-6FB2-4109-B698-0CD6F0F672D9}" type="pres">
      <dgm:prSet presAssocID="{2B388476-5B18-42C1-A951-A18660D2A4BB}" presName="box" presStyleLbl="node1" presStyleIdx="0" presStyleCnt="2"/>
      <dgm:spPr/>
    </dgm:pt>
    <dgm:pt modelId="{59DB760A-3567-450E-A36C-C6A13E83F2C4}" type="pres">
      <dgm:prSet presAssocID="{2B388476-5B18-42C1-A951-A18660D2A4BB}" presName="img" presStyleLbl="fgImgPlace1" presStyleIdx="0" presStyleCnt="2"/>
      <dgm:spPr/>
    </dgm:pt>
    <dgm:pt modelId="{14FED300-9C6B-434A-8F37-FDEAD6D60ED4}" type="pres">
      <dgm:prSet presAssocID="{2B388476-5B18-42C1-A951-A18660D2A4BB}" presName="text" presStyleLbl="node1" presStyleIdx="0" presStyleCnt="2">
        <dgm:presLayoutVars>
          <dgm:bulletEnabled val="1"/>
        </dgm:presLayoutVars>
      </dgm:prSet>
      <dgm:spPr/>
    </dgm:pt>
    <dgm:pt modelId="{E6B97CE3-D408-463D-82AA-C38AA36B3108}" type="pres">
      <dgm:prSet presAssocID="{4966527C-92AB-45BA-8E60-0D14C7CF1F01}" presName="spacer" presStyleCnt="0"/>
      <dgm:spPr/>
    </dgm:pt>
    <dgm:pt modelId="{F391D040-EC49-4FAD-97A7-E05DCC76EB59}" type="pres">
      <dgm:prSet presAssocID="{57839EB2-D206-4FFD-ABAF-5DA92B4AD453}" presName="comp" presStyleCnt="0"/>
      <dgm:spPr/>
    </dgm:pt>
    <dgm:pt modelId="{F89591B1-E028-4C9B-8394-6EB1E3DE2979}" type="pres">
      <dgm:prSet presAssocID="{57839EB2-D206-4FFD-ABAF-5DA92B4AD453}" presName="box" presStyleLbl="node1" presStyleIdx="1" presStyleCnt="2"/>
      <dgm:spPr/>
    </dgm:pt>
    <dgm:pt modelId="{798737B1-ABF4-4FFF-9EEA-EFEDBDED2489}" type="pres">
      <dgm:prSet presAssocID="{57839EB2-D206-4FFD-ABAF-5DA92B4AD453}" presName="img" presStyleLbl="fgImgPlace1" presStyleIdx="1" presStyleCnt="2"/>
      <dgm:spPr/>
    </dgm:pt>
    <dgm:pt modelId="{95B1174B-C33D-4AF7-A4EF-DD3AF067C29D}" type="pres">
      <dgm:prSet presAssocID="{57839EB2-D206-4FFD-ABAF-5DA92B4AD453}" presName="text" presStyleLbl="node1" presStyleIdx="1" presStyleCnt="2">
        <dgm:presLayoutVars>
          <dgm:bulletEnabled val="1"/>
        </dgm:presLayoutVars>
      </dgm:prSet>
      <dgm:spPr/>
    </dgm:pt>
  </dgm:ptLst>
  <dgm:cxnLst>
    <dgm:cxn modelId="{CF2B980C-9DD7-4909-8629-4254B1481747}" srcId="{2B388476-5B18-42C1-A951-A18660D2A4BB}" destId="{8719E3BE-9183-47CF-8708-06324AB93F56}" srcOrd="1" destOrd="0" parTransId="{6EA4FC8E-B74F-429A-9EB0-CE980C676207}" sibTransId="{76046012-EEF5-43AC-AC00-4CB6CF917670}"/>
    <dgm:cxn modelId="{1234E934-44EA-46EE-BF41-B5BC268F26C4}" type="presOf" srcId="{F7673440-22CC-4146-A529-2D3FFCF85DD2}" destId="{95B1174B-C33D-4AF7-A4EF-DD3AF067C29D}" srcOrd="1" destOrd="1" presId="urn:microsoft.com/office/officeart/2005/8/layout/vList4"/>
    <dgm:cxn modelId="{282E183B-5A71-44F7-A9EE-2D548F425B34}" type="presOf" srcId="{DCB97A36-658D-4768-8EC4-57696D90E5B7}" destId="{95B1174B-C33D-4AF7-A4EF-DD3AF067C29D}" srcOrd="1" destOrd="2" presId="urn:microsoft.com/office/officeart/2005/8/layout/vList4"/>
    <dgm:cxn modelId="{209CF363-2BCF-4975-8489-4B35F3EABC8F}" srcId="{E006FCE6-3AC8-4307-A99F-F5DCD9D5CA21}" destId="{2B388476-5B18-42C1-A951-A18660D2A4BB}" srcOrd="0" destOrd="0" parTransId="{20D1C359-9A72-4013-AE9F-76492AF96737}" sibTransId="{4966527C-92AB-45BA-8E60-0D14C7CF1F01}"/>
    <dgm:cxn modelId="{F316C845-E5DF-44D8-A9EA-5FBF8AB8D742}" srcId="{E006FCE6-3AC8-4307-A99F-F5DCD9D5CA21}" destId="{57839EB2-D206-4FFD-ABAF-5DA92B4AD453}" srcOrd="1" destOrd="0" parTransId="{F9F01858-7DA9-4FF7-979C-6A0619D840E6}" sibTransId="{78C53B58-D8EE-49FA-90F8-5B464F02483E}"/>
    <dgm:cxn modelId="{6624DC4F-7C3C-44BC-AAD3-8AE194387BEE}" type="presOf" srcId="{2B388476-5B18-42C1-A951-A18660D2A4BB}" destId="{14FED300-9C6B-434A-8F37-FDEAD6D60ED4}" srcOrd="1" destOrd="0" presId="urn:microsoft.com/office/officeart/2005/8/layout/vList4"/>
    <dgm:cxn modelId="{5A31E357-C7E0-49F6-A65C-FCD6E4FD6600}" type="presOf" srcId="{8719E3BE-9183-47CF-8708-06324AB93F56}" destId="{17A3102D-6FB2-4109-B698-0CD6F0F672D9}" srcOrd="0" destOrd="2" presId="urn:microsoft.com/office/officeart/2005/8/layout/vList4"/>
    <dgm:cxn modelId="{0B934D58-902E-4CD5-A7E2-786B227041C9}" type="presOf" srcId="{E6E126AD-9CF0-450E-8DE9-CDD91EC4D0FE}" destId="{14FED300-9C6B-434A-8F37-FDEAD6D60ED4}" srcOrd="1" destOrd="1" presId="urn:microsoft.com/office/officeart/2005/8/layout/vList4"/>
    <dgm:cxn modelId="{91D12781-4C99-42C3-90C9-0A9C0E74366C}" type="presOf" srcId="{E6E126AD-9CF0-450E-8DE9-CDD91EC4D0FE}" destId="{17A3102D-6FB2-4109-B698-0CD6F0F672D9}" srcOrd="0" destOrd="1" presId="urn:microsoft.com/office/officeart/2005/8/layout/vList4"/>
    <dgm:cxn modelId="{B07FEB99-BBFB-416C-AD2A-360F8CB91EBB}" srcId="{57839EB2-D206-4FFD-ABAF-5DA92B4AD453}" destId="{F7673440-22CC-4146-A529-2D3FFCF85DD2}" srcOrd="0" destOrd="0" parTransId="{4C1E4BAC-68A7-45AC-A53E-E723FC0E4B10}" sibTransId="{DA6A417E-A798-4F93-BC8F-CF669C85FEBD}"/>
    <dgm:cxn modelId="{9F047FB2-3A01-4DF5-A729-08C19570D8FE}" type="presOf" srcId="{8719E3BE-9183-47CF-8708-06324AB93F56}" destId="{14FED300-9C6B-434A-8F37-FDEAD6D60ED4}" srcOrd="1" destOrd="2" presId="urn:microsoft.com/office/officeart/2005/8/layout/vList4"/>
    <dgm:cxn modelId="{7686D6BB-63BA-4CEA-AB8E-10DC7834F415}" type="presOf" srcId="{F7673440-22CC-4146-A529-2D3FFCF85DD2}" destId="{F89591B1-E028-4C9B-8394-6EB1E3DE2979}" srcOrd="0" destOrd="1" presId="urn:microsoft.com/office/officeart/2005/8/layout/vList4"/>
    <dgm:cxn modelId="{356FB7BF-FD50-47D3-AFF4-D2E43CCF8E76}" type="presOf" srcId="{E006FCE6-3AC8-4307-A99F-F5DCD9D5CA21}" destId="{B84DB44F-111B-412B-ACEC-940640F7BF15}" srcOrd="0" destOrd="0" presId="urn:microsoft.com/office/officeart/2005/8/layout/vList4"/>
    <dgm:cxn modelId="{082AF4CD-A0FB-4E37-BD9B-14AE0C6184E8}" type="presOf" srcId="{57839EB2-D206-4FFD-ABAF-5DA92B4AD453}" destId="{95B1174B-C33D-4AF7-A4EF-DD3AF067C29D}" srcOrd="1" destOrd="0" presId="urn:microsoft.com/office/officeart/2005/8/layout/vList4"/>
    <dgm:cxn modelId="{3459FBD5-0351-46A8-B1F3-A67E5CEB5C45}" type="presOf" srcId="{2B388476-5B18-42C1-A951-A18660D2A4BB}" destId="{17A3102D-6FB2-4109-B698-0CD6F0F672D9}" srcOrd="0" destOrd="0" presId="urn:microsoft.com/office/officeart/2005/8/layout/vList4"/>
    <dgm:cxn modelId="{D12A52D7-9694-4AE4-89EB-C16F41E05D95}" type="presOf" srcId="{DCB97A36-658D-4768-8EC4-57696D90E5B7}" destId="{F89591B1-E028-4C9B-8394-6EB1E3DE2979}" srcOrd="0" destOrd="2" presId="urn:microsoft.com/office/officeart/2005/8/layout/vList4"/>
    <dgm:cxn modelId="{356AC8D8-D4BA-4E4E-817C-5A0B11405629}" type="presOf" srcId="{57839EB2-D206-4FFD-ABAF-5DA92B4AD453}" destId="{F89591B1-E028-4C9B-8394-6EB1E3DE2979}" srcOrd="0" destOrd="0" presId="urn:microsoft.com/office/officeart/2005/8/layout/vList4"/>
    <dgm:cxn modelId="{C97C30ED-F62D-4136-A70A-E1D1CBD16452}" srcId="{2B388476-5B18-42C1-A951-A18660D2A4BB}" destId="{E6E126AD-9CF0-450E-8DE9-CDD91EC4D0FE}" srcOrd="0" destOrd="0" parTransId="{4332414F-C8D3-4F54-8191-6209217ED7A0}" sibTransId="{74CEEE92-285B-407E-8F62-5387F958B51D}"/>
    <dgm:cxn modelId="{DE39AEFF-3C36-46B8-8746-4BA03B5BF0E2}" srcId="{57839EB2-D206-4FFD-ABAF-5DA92B4AD453}" destId="{DCB97A36-658D-4768-8EC4-57696D90E5B7}" srcOrd="1" destOrd="0" parTransId="{0EC927D1-3C93-4C80-8F8F-9AB647C76301}" sibTransId="{7B370F01-CC59-4C37-97F1-1B0DC1F803F1}"/>
    <dgm:cxn modelId="{03279536-D05E-4C07-AAE9-96F1BC920D01}" type="presParOf" srcId="{B84DB44F-111B-412B-ACEC-940640F7BF15}" destId="{326FC10F-6C43-483D-B11A-A6E8453CF9C1}" srcOrd="0" destOrd="0" presId="urn:microsoft.com/office/officeart/2005/8/layout/vList4"/>
    <dgm:cxn modelId="{5680A25C-7CAB-4D8F-8A8A-A544A8441910}" type="presParOf" srcId="{326FC10F-6C43-483D-B11A-A6E8453CF9C1}" destId="{17A3102D-6FB2-4109-B698-0CD6F0F672D9}" srcOrd="0" destOrd="0" presId="urn:microsoft.com/office/officeart/2005/8/layout/vList4"/>
    <dgm:cxn modelId="{E1B4DA66-8B9A-4E3F-9300-DBA9CAE2D6A1}" type="presParOf" srcId="{326FC10F-6C43-483D-B11A-A6E8453CF9C1}" destId="{59DB760A-3567-450E-A36C-C6A13E83F2C4}" srcOrd="1" destOrd="0" presId="urn:microsoft.com/office/officeart/2005/8/layout/vList4"/>
    <dgm:cxn modelId="{80334907-C8B3-4AF7-8E78-E1B187780489}" type="presParOf" srcId="{326FC10F-6C43-483D-B11A-A6E8453CF9C1}" destId="{14FED300-9C6B-434A-8F37-FDEAD6D60ED4}" srcOrd="2" destOrd="0" presId="urn:microsoft.com/office/officeart/2005/8/layout/vList4"/>
    <dgm:cxn modelId="{ACFC0A54-BD00-45C4-A928-B3A95BB365C1}" type="presParOf" srcId="{B84DB44F-111B-412B-ACEC-940640F7BF15}" destId="{E6B97CE3-D408-463D-82AA-C38AA36B3108}" srcOrd="1" destOrd="0" presId="urn:microsoft.com/office/officeart/2005/8/layout/vList4"/>
    <dgm:cxn modelId="{3A4EA568-C958-4A00-BD8E-74DB5732829C}" type="presParOf" srcId="{B84DB44F-111B-412B-ACEC-940640F7BF15}" destId="{F391D040-EC49-4FAD-97A7-E05DCC76EB59}" srcOrd="2" destOrd="0" presId="urn:microsoft.com/office/officeart/2005/8/layout/vList4"/>
    <dgm:cxn modelId="{8768F8CB-BF81-454A-80B3-8203B8FD4098}" type="presParOf" srcId="{F391D040-EC49-4FAD-97A7-E05DCC76EB59}" destId="{F89591B1-E028-4C9B-8394-6EB1E3DE2979}" srcOrd="0" destOrd="0" presId="urn:microsoft.com/office/officeart/2005/8/layout/vList4"/>
    <dgm:cxn modelId="{EEF74A51-3C65-4DA9-9773-715EDAEE7CA4}" type="presParOf" srcId="{F391D040-EC49-4FAD-97A7-E05DCC76EB59}" destId="{798737B1-ABF4-4FFF-9EEA-EFEDBDED2489}" srcOrd="1" destOrd="0" presId="urn:microsoft.com/office/officeart/2005/8/layout/vList4"/>
    <dgm:cxn modelId="{051F6F8C-EBC4-4EE5-9174-4C61459F954D}" type="presParOf" srcId="{F391D040-EC49-4FAD-97A7-E05DCC76EB59}" destId="{95B1174B-C33D-4AF7-A4EF-DD3AF067C29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C1A26-61F5-4156-8235-337D47206B70}">
      <dsp:nvSpPr>
        <dsp:cNvPr id="0" name=""/>
        <dsp:cNvSpPr/>
      </dsp:nvSpPr>
      <dsp:spPr>
        <a:xfrm>
          <a:off x="0" y="291424"/>
          <a:ext cx="8185150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259" tIns="354076" rIns="63525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Option de conversion (obligation convertible)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Option de rétractation (obligation rétractable)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Titre plus liquide (plus fréquemment transigé sur les marchés)</a:t>
          </a:r>
        </a:p>
      </dsp:txBody>
      <dsp:txXfrm>
        <a:off x="0" y="291424"/>
        <a:ext cx="8185150" cy="1231650"/>
      </dsp:txXfrm>
    </dsp:sp>
    <dsp:sp modelId="{AB94F510-6591-49BF-AECE-F7A9D2305DF5}">
      <dsp:nvSpPr>
        <dsp:cNvPr id="0" name=""/>
        <dsp:cNvSpPr/>
      </dsp:nvSpPr>
      <dsp:spPr>
        <a:xfrm>
          <a:off x="409257" y="40504"/>
          <a:ext cx="5729605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565" tIns="0" rIns="21656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Valeur plus élevée (</a:t>
          </a:r>
          <a:r>
            <a:rPr lang="fr-CA" sz="1700" kern="1200" dirty="0" err="1"/>
            <a:t>ceteris</a:t>
          </a:r>
          <a:r>
            <a:rPr lang="fr-CA" sz="1700" kern="1200" dirty="0"/>
            <a:t> </a:t>
          </a:r>
          <a:r>
            <a:rPr lang="fr-CA" sz="1700" kern="1200" dirty="0" err="1"/>
            <a:t>paribus</a:t>
          </a:r>
          <a:r>
            <a:rPr lang="fr-CA" sz="1700" kern="1200" dirty="0"/>
            <a:t>)</a:t>
          </a:r>
        </a:p>
      </dsp:txBody>
      <dsp:txXfrm>
        <a:off x="433755" y="65002"/>
        <a:ext cx="5680609" cy="452844"/>
      </dsp:txXfrm>
    </dsp:sp>
    <dsp:sp modelId="{663CD5FE-DA89-43FD-A854-84CCAFF9A311}">
      <dsp:nvSpPr>
        <dsp:cNvPr id="0" name=""/>
        <dsp:cNvSpPr/>
      </dsp:nvSpPr>
      <dsp:spPr>
        <a:xfrm>
          <a:off x="0" y="1865795"/>
          <a:ext cx="818515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259" tIns="354076" rIns="63525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Option de rachat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Titre moins liquide (moins fréquemment transigé sur les marchés)</a:t>
          </a:r>
        </a:p>
      </dsp:txBody>
      <dsp:txXfrm>
        <a:off x="0" y="1865795"/>
        <a:ext cx="8185150" cy="963900"/>
      </dsp:txXfrm>
    </dsp:sp>
    <dsp:sp modelId="{71DB0C09-B051-479D-8E8F-DEE18368EC28}">
      <dsp:nvSpPr>
        <dsp:cNvPr id="0" name=""/>
        <dsp:cNvSpPr/>
      </dsp:nvSpPr>
      <dsp:spPr>
        <a:xfrm>
          <a:off x="409257" y="1614874"/>
          <a:ext cx="5729605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565" tIns="0" rIns="21656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Valeur plus faible (</a:t>
          </a:r>
          <a:r>
            <a:rPr lang="fr-CA" sz="1700" kern="1200" dirty="0" err="1"/>
            <a:t>ceteris</a:t>
          </a:r>
          <a:r>
            <a:rPr lang="fr-CA" sz="1700" kern="1200" dirty="0"/>
            <a:t> </a:t>
          </a:r>
          <a:r>
            <a:rPr lang="fr-CA" sz="1700" kern="1200" dirty="0" err="1"/>
            <a:t>paribus</a:t>
          </a:r>
          <a:r>
            <a:rPr lang="fr-CA" sz="1700" kern="1200" dirty="0"/>
            <a:t>)</a:t>
          </a:r>
        </a:p>
      </dsp:txBody>
      <dsp:txXfrm>
        <a:off x="433755" y="1639372"/>
        <a:ext cx="5680609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495C6-C067-4869-B99E-675790255414}">
      <dsp:nvSpPr>
        <dsp:cNvPr id="0" name=""/>
        <dsp:cNvSpPr/>
      </dsp:nvSpPr>
      <dsp:spPr>
        <a:xfrm>
          <a:off x="0" y="0"/>
          <a:ext cx="8185150" cy="13664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 dirty="0"/>
            <a:t>Prévision de </a:t>
          </a:r>
          <a:r>
            <a:rPr lang="fr-CA" sz="2100" kern="1200" dirty="0">
              <a:solidFill>
                <a:schemeClr val="accent3"/>
              </a:solidFill>
            </a:rPr>
            <a:t>hausse</a:t>
          </a:r>
          <a:r>
            <a:rPr lang="fr-CA" sz="2100" kern="1200" dirty="0"/>
            <a:t> des taux d’intérêt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olidFill>
                <a:schemeClr val="accent3"/>
              </a:solidFill>
            </a:rPr>
            <a:t>↘</a:t>
          </a:r>
          <a:r>
            <a:rPr lang="fr-CA" sz="1600" kern="1200" dirty="0"/>
            <a:t> des prix des obligations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olidFill>
                <a:schemeClr val="accent3"/>
              </a:solidFill>
            </a:rPr>
            <a:t>↘</a:t>
          </a:r>
          <a:r>
            <a:rPr lang="fr-CA" sz="1600" kern="1200" dirty="0"/>
            <a:t>de la volatilité (durée)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olidFill>
                <a:schemeClr val="accent3"/>
              </a:solidFill>
            </a:rPr>
            <a:t>↗</a:t>
          </a:r>
          <a:r>
            <a:rPr lang="fr-CA" sz="1600" kern="1200" dirty="0"/>
            <a:t> du TC ou </a:t>
          </a:r>
          <a:r>
            <a:rPr lang="fr-CA" sz="1600" kern="1200" dirty="0">
              <a:solidFill>
                <a:schemeClr val="accent3"/>
              </a:solidFill>
            </a:rPr>
            <a:t>↘</a:t>
          </a:r>
          <a:r>
            <a:rPr lang="fr-CA" sz="1600" kern="1200" dirty="0"/>
            <a:t>échéance </a:t>
          </a:r>
        </a:p>
      </dsp:txBody>
      <dsp:txXfrm>
        <a:off x="1773672" y="0"/>
        <a:ext cx="6411477" cy="1366428"/>
      </dsp:txXfrm>
    </dsp:sp>
    <dsp:sp modelId="{CDEDD620-3D73-45A2-B720-9468BFA9BD9E}">
      <dsp:nvSpPr>
        <dsp:cNvPr id="0" name=""/>
        <dsp:cNvSpPr/>
      </dsp:nvSpPr>
      <dsp:spPr>
        <a:xfrm>
          <a:off x="136642" y="136642"/>
          <a:ext cx="1637030" cy="109314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220E0E4-2DAC-4E15-88AF-89A72801B173}">
      <dsp:nvSpPr>
        <dsp:cNvPr id="0" name=""/>
        <dsp:cNvSpPr/>
      </dsp:nvSpPr>
      <dsp:spPr>
        <a:xfrm>
          <a:off x="0" y="1503071"/>
          <a:ext cx="8185150" cy="13664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612329"/>
                <a:satOff val="-34065"/>
                <a:lumOff val="35321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612329"/>
                <a:satOff val="-34065"/>
                <a:lumOff val="35321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612329"/>
                <a:satOff val="-34065"/>
                <a:lumOff val="3532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 dirty="0"/>
            <a:t>Prévision de </a:t>
          </a:r>
          <a:r>
            <a:rPr lang="fr-CA" sz="2100" kern="1200" dirty="0">
              <a:solidFill>
                <a:schemeClr val="accent2"/>
              </a:solidFill>
            </a:rPr>
            <a:t>baisse</a:t>
          </a:r>
          <a:r>
            <a:rPr lang="fr-CA" sz="2100" kern="1200" dirty="0"/>
            <a:t> des taux d’intérêt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olidFill>
                <a:schemeClr val="accent2"/>
              </a:solidFill>
            </a:rPr>
            <a:t>↗</a:t>
          </a:r>
          <a:r>
            <a:rPr lang="fr-CA" sz="1600" kern="1200" dirty="0"/>
            <a:t> des prix des obligations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olidFill>
                <a:schemeClr val="accent2"/>
              </a:solidFill>
            </a:rPr>
            <a:t>↗</a:t>
          </a:r>
          <a:r>
            <a:rPr lang="fr-CA" sz="1600" kern="1200" dirty="0"/>
            <a:t> de la volatilité (durée)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olidFill>
                <a:schemeClr val="accent2"/>
              </a:solidFill>
            </a:rPr>
            <a:t>↘</a:t>
          </a:r>
          <a:r>
            <a:rPr lang="fr-CA" sz="1600" kern="1200" dirty="0"/>
            <a:t> du TC ou </a:t>
          </a:r>
          <a:r>
            <a:rPr lang="fr-CA" sz="1600" kern="1200" dirty="0">
              <a:solidFill>
                <a:schemeClr val="accent2"/>
              </a:solidFill>
            </a:rPr>
            <a:t>↗ </a:t>
          </a:r>
          <a:r>
            <a:rPr lang="fr-CA" sz="1600" kern="1200" dirty="0"/>
            <a:t>échéance</a:t>
          </a:r>
        </a:p>
      </dsp:txBody>
      <dsp:txXfrm>
        <a:off x="1773672" y="1503071"/>
        <a:ext cx="6411477" cy="1366428"/>
      </dsp:txXfrm>
    </dsp:sp>
    <dsp:sp modelId="{E8115B20-C7B2-49F1-A25A-8D6337016F2A}">
      <dsp:nvSpPr>
        <dsp:cNvPr id="0" name=""/>
        <dsp:cNvSpPr/>
      </dsp:nvSpPr>
      <dsp:spPr>
        <a:xfrm>
          <a:off x="136642" y="1639713"/>
          <a:ext cx="1637030" cy="1093142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99818"/>
            <a:satOff val="-3035"/>
            <a:lumOff val="1037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3102D-6FB2-4109-B698-0CD6F0F672D9}">
      <dsp:nvSpPr>
        <dsp:cNvPr id="0" name=""/>
        <dsp:cNvSpPr/>
      </dsp:nvSpPr>
      <dsp:spPr>
        <a:xfrm>
          <a:off x="0" y="0"/>
          <a:ext cx="8185150" cy="13664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dirty="0"/>
            <a:t>Risque de crédit </a:t>
          </a:r>
          <a:r>
            <a:rPr lang="fr-CA" sz="1200" kern="1200" dirty="0"/>
            <a:t>(risque de défaut que présente l’émetteur)</a:t>
          </a:r>
          <a:endParaRPr lang="fr-CA" sz="31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/>
            <a:t>Représenté par la taux exigé (TRE)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Utilisation de cote </a:t>
          </a:r>
          <a:r>
            <a:rPr lang="en-CA" sz="1400" kern="1200" dirty="0" err="1"/>
            <a:t>dans</a:t>
          </a:r>
          <a:r>
            <a:rPr lang="en-CA" sz="1400" kern="1200" dirty="0"/>
            <a:t> le </a:t>
          </a:r>
          <a:r>
            <a:rPr lang="en-CA" sz="1400" kern="1200" dirty="0" err="1"/>
            <a:t>marché</a:t>
          </a:r>
          <a:r>
            <a:rPr lang="en-CA" sz="1400" kern="1200" dirty="0"/>
            <a:t> pour signifier la </a:t>
          </a:r>
          <a:r>
            <a:rPr lang="en-CA" sz="1400" kern="1200" dirty="0" err="1"/>
            <a:t>qualité</a:t>
          </a:r>
          <a:r>
            <a:rPr lang="en-CA" sz="1400" kern="1200" dirty="0"/>
            <a:t> de </a:t>
          </a:r>
          <a:r>
            <a:rPr lang="en-CA" sz="1400" kern="1200" dirty="0" err="1"/>
            <a:t>crédit</a:t>
          </a:r>
          <a:r>
            <a:rPr lang="en-CA" sz="1400" kern="1200" dirty="0"/>
            <a:t> (AAA, AA, A, BBB, BB, B, CCC, CC, C, D)</a:t>
          </a:r>
          <a:endParaRPr lang="fr-CA" sz="1400" kern="1200" dirty="0"/>
        </a:p>
      </dsp:txBody>
      <dsp:txXfrm>
        <a:off x="1773672" y="0"/>
        <a:ext cx="6411477" cy="1366428"/>
      </dsp:txXfrm>
    </dsp:sp>
    <dsp:sp modelId="{59DB760A-3567-450E-A36C-C6A13E83F2C4}">
      <dsp:nvSpPr>
        <dsp:cNvPr id="0" name=""/>
        <dsp:cNvSpPr/>
      </dsp:nvSpPr>
      <dsp:spPr>
        <a:xfrm>
          <a:off x="136642" y="136642"/>
          <a:ext cx="1637030" cy="1093142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591B1-E028-4C9B-8394-6EB1E3DE2979}">
      <dsp:nvSpPr>
        <dsp:cNvPr id="0" name=""/>
        <dsp:cNvSpPr/>
      </dsp:nvSpPr>
      <dsp:spPr>
        <a:xfrm>
          <a:off x="0" y="1503071"/>
          <a:ext cx="8185150" cy="13664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dirty="0"/>
            <a:t>Risque de taux d’intérêt </a:t>
          </a:r>
          <a:r>
            <a:rPr lang="fr-CA" sz="1200" kern="1200" dirty="0"/>
            <a:t>(risque de </a:t>
          </a:r>
          <a:r>
            <a:rPr lang="fr-CA" sz="1200" kern="1200" dirty="0">
              <a:latin typeface="Symbol" panose="05050102010706020507" pitchFamily="18" charset="2"/>
            </a:rPr>
            <a:t>D</a:t>
          </a:r>
          <a:r>
            <a:rPr lang="fr-CA" sz="1200" kern="1200" dirty="0"/>
            <a:t> des taux d’intérêt)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dirty="0"/>
            <a:t>Représenté par la « durée » de l’obligation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dirty="0"/>
            <a:t>Sensibilité du prix vs variation des taux d’intérêt</a:t>
          </a:r>
        </a:p>
      </dsp:txBody>
      <dsp:txXfrm>
        <a:off x="1773672" y="1503071"/>
        <a:ext cx="6411477" cy="1366428"/>
      </dsp:txXfrm>
    </dsp:sp>
    <dsp:sp modelId="{798737B1-ABF4-4FFF-9EEA-EFEDBDED2489}">
      <dsp:nvSpPr>
        <dsp:cNvPr id="0" name=""/>
        <dsp:cNvSpPr/>
      </dsp:nvSpPr>
      <dsp:spPr>
        <a:xfrm>
          <a:off x="136642" y="1639713"/>
          <a:ext cx="1637030" cy="1093142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0.19913</cdr:x>
      <cdr:y>0.35748</cdr:y>
    </cdr:from>
    <cdr:to>
      <cdr:x>0.29147</cdr:x>
      <cdr:y>0.43024</cdr:y>
    </cdr:to>
    <cdr:sp macro="" textlink="">
      <cdr:nvSpPr>
        <cdr:cNvPr id="3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749406" y="1801811"/>
          <a:ext cx="811213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1000$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0.19913</cdr:x>
      <cdr:y>0.35748</cdr:y>
    </cdr:from>
    <cdr:to>
      <cdr:x>0.29147</cdr:x>
      <cdr:y>0.43024</cdr:y>
    </cdr:to>
    <cdr:sp macro="" textlink="">
      <cdr:nvSpPr>
        <cdr:cNvPr id="3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749406" y="1801811"/>
          <a:ext cx="811213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1000$</a:t>
          </a:r>
        </a:p>
      </cdr:txBody>
    </cdr:sp>
  </cdr:relSizeAnchor>
  <cdr:relSizeAnchor xmlns:cdr="http://schemas.openxmlformats.org/drawingml/2006/chartDrawing">
    <cdr:from>
      <cdr:x>0.29671</cdr:x>
      <cdr:y>0.48504</cdr:y>
    </cdr:from>
    <cdr:to>
      <cdr:x>0.41127</cdr:x>
      <cdr:y>0.5578</cdr:y>
    </cdr:to>
    <cdr:sp macro="" textlink="">
      <cdr:nvSpPr>
        <cdr:cNvPr id="13" name="Text Box 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606662" y="2444753"/>
          <a:ext cx="1006475" cy="36671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655,03$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0.19913</cdr:x>
      <cdr:y>0.35748</cdr:y>
    </cdr:from>
    <cdr:to>
      <cdr:x>0.29147</cdr:x>
      <cdr:y>0.43024</cdr:y>
    </cdr:to>
    <cdr:sp macro="" textlink="">
      <cdr:nvSpPr>
        <cdr:cNvPr id="3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749406" y="1801811"/>
          <a:ext cx="811213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1000$</a:t>
          </a:r>
        </a:p>
      </cdr:txBody>
    </cdr:sp>
  </cdr:relSizeAnchor>
  <cdr:relSizeAnchor xmlns:cdr="http://schemas.openxmlformats.org/drawingml/2006/chartDrawing">
    <cdr:from>
      <cdr:x>0.29671</cdr:x>
      <cdr:y>0.48504</cdr:y>
    </cdr:from>
    <cdr:to>
      <cdr:x>0.41127</cdr:x>
      <cdr:y>0.5578</cdr:y>
    </cdr:to>
    <cdr:sp macro="" textlink="">
      <cdr:nvSpPr>
        <cdr:cNvPr id="13" name="Text Box 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2606662" y="2444753"/>
          <a:ext cx="1006475" cy="36671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655,03$</a:t>
          </a:r>
        </a:p>
      </cdr:txBody>
    </cdr:sp>
  </cdr:relSizeAnchor>
  <cdr:relSizeAnchor xmlns:cdr="http://schemas.openxmlformats.org/drawingml/2006/chartDrawing">
    <cdr:from>
      <cdr:x>0.56505</cdr:x>
      <cdr:y>0.20157</cdr:y>
    </cdr:from>
    <cdr:to>
      <cdr:x>0.90333</cdr:x>
      <cdr:y>0.27716</cdr:y>
    </cdr:to>
    <cdr:grpSp>
      <cdr:nvGrpSpPr>
        <cdr:cNvPr id="14" name="Groupe 13">
          <a:extLst xmlns:a="http://schemas.openxmlformats.org/drawingml/2006/main">
            <a:ext uri="{FF2B5EF4-FFF2-40B4-BE49-F238E27FC236}">
              <a16:creationId xmlns:a16="http://schemas.microsoft.com/office/drawing/2014/main" id="{E631BBE8-7DE2-4114-B146-B6BDE332CEED}"/>
            </a:ext>
          </a:extLst>
        </cdr:cNvPr>
        <cdr:cNvGrpSpPr/>
      </cdr:nvGrpSpPr>
      <cdr:grpSpPr>
        <a:xfrm xmlns:a="http://schemas.openxmlformats.org/drawingml/2006/main">
          <a:off x="4964091" y="761982"/>
          <a:ext cx="2971866" cy="285748"/>
          <a:chOff x="5272088" y="2565400"/>
          <a:chExt cx="2971800" cy="381000"/>
        </a:xfrm>
      </cdr:grpSpPr>
      <cdr:sp macro="" textlink="">
        <cdr:nvSpPr>
          <cdr:cNvPr id="15" name="Text Box 12"/>
          <cdr:cNvSpPr txBox="1">
            <a:spLocks xmlns:a="http://schemas.openxmlformats.org/drawingml/2006/main" noChangeArrowheads="1"/>
          </cdr:cNvSpPr>
        </cdr:nvSpPr>
        <cdr:spPr bwMode="auto">
          <a:xfrm xmlns:a="http://schemas.openxmlformats.org/drawingml/2006/main">
            <a:off x="5272088" y="2579688"/>
            <a:ext cx="587375" cy="36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 lim="800000"/>
            <a:headEnd/>
            <a:tailEnd/>
          </a:ln>
          <a:effectLst xmlns:a="http://schemas.openxmlformats.org/drawingml/2006/main"/>
        </cdr:spPr>
        <cdr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r>
              <a:rPr lang="fr-CA">
                <a:latin typeface="Tahoma" pitchFamily="34" charset="0"/>
              </a:rPr>
              <a:t>TRE</a:t>
            </a:r>
          </a:p>
        </cdr:txBody>
      </cdr:sp>
      <cdr:sp macro="" textlink="">
        <cdr:nvSpPr>
          <cdr:cNvPr id="16" name="Text Box 13"/>
          <cdr:cNvSpPr txBox="1">
            <a:spLocks xmlns:a="http://schemas.openxmlformats.org/drawingml/2006/main" noChangeArrowheads="1"/>
          </cdr:cNvSpPr>
        </cdr:nvSpPr>
        <cdr:spPr bwMode="auto">
          <a:xfrm xmlns:a="http://schemas.openxmlformats.org/drawingml/2006/main">
            <a:off x="6516688" y="2565400"/>
            <a:ext cx="517525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 lim="800000"/>
            <a:headEnd/>
            <a:tailEnd/>
          </a:ln>
          <a:effectLst xmlns:a="http://schemas.openxmlformats.org/drawingml/2006/main"/>
        </cdr:spPr>
        <cdr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r>
              <a:rPr lang="fr-CA" dirty="0">
                <a:latin typeface="Tahoma" pitchFamily="34" charset="0"/>
              </a:rPr>
              <a:t>=&gt;</a:t>
            </a:r>
          </a:p>
        </cdr:txBody>
      </cdr:sp>
      <cdr:sp macro="" textlink="">
        <cdr:nvSpPr>
          <cdr:cNvPr id="17" name="Text Box 14"/>
          <cdr:cNvSpPr txBox="1">
            <a:spLocks xmlns:a="http://schemas.openxmlformats.org/drawingml/2006/main" noChangeArrowheads="1"/>
          </cdr:cNvSpPr>
        </cdr:nvSpPr>
        <cdr:spPr bwMode="auto">
          <a:xfrm xmlns:a="http://schemas.openxmlformats.org/drawingml/2006/main">
            <a:off x="7288213" y="2579688"/>
            <a:ext cx="557212" cy="36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 lim="800000"/>
            <a:headEnd/>
            <a:tailEnd/>
          </a:ln>
          <a:effectLst xmlns:a="http://schemas.openxmlformats.org/drawingml/2006/main"/>
        </cdr:spPr>
        <cdr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r>
              <a:rPr lang="fr-CA">
                <a:latin typeface="Tahoma" pitchFamily="34" charset="0"/>
              </a:rPr>
              <a:t>Prix</a:t>
            </a:r>
          </a:p>
        </cdr:txBody>
      </cdr:sp>
      <cdr:sp macro="" textlink="">
        <cdr:nvSpPr>
          <cdr:cNvPr id="18" name="Line 15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>
            <a:off x="7956550" y="2636838"/>
            <a:ext cx="287338" cy="28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Text" lastClr="000000"/>
            </a:solidFill>
            <a:round/>
            <a:headEnd/>
            <a:tailEnd type="triangle" w="med" len="med"/>
          </a:ln>
          <a:effectLst xmlns:a="http://schemas.openxmlformats.org/drawingml/2006/main"/>
        </cdr:spPr>
        <cdr:txBody>
          <a:bodyPr xmlns:a="http://schemas.openxmlformats.org/drawingml/2006/main"/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endParaRPr lang="fr-CA"/>
          </a:p>
        </cdr:txBody>
      </cdr:sp>
      <cdr:sp macro="" textlink="">
        <cdr:nvSpPr>
          <cdr:cNvPr id="19" name="Line 16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V="1">
            <a:off x="5940425" y="2636838"/>
            <a:ext cx="360363" cy="21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Text" lastClr="000000"/>
            </a:solidFill>
            <a:round/>
            <a:headEnd/>
            <a:tailEnd type="triangle" w="med" len="med"/>
          </a:ln>
          <a:effectLst xmlns:a="http://schemas.openxmlformats.org/drawingml/2006/main"/>
        </cdr:spPr>
        <cdr:txBody>
          <a:bodyPr xmlns:a="http://schemas.openxmlformats.org/drawingml/2006/main"/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endParaRPr lang="fr-CA"/>
          </a:p>
        </cdr:txBody>
      </cdr:sp>
    </cdr:grpSp>
  </cdr:relSizeAnchor>
  <cdr:relSizeAnchor xmlns:cdr="http://schemas.openxmlformats.org/drawingml/2006/chartDrawing">
    <cdr:from>
      <cdr:x>0.19913</cdr:x>
      <cdr:y>0.74016</cdr:y>
    </cdr:from>
    <cdr:to>
      <cdr:x>0.28858</cdr:x>
      <cdr:y>0.74047</cdr:y>
    </cdr:to>
    <cdr:sp macro="" textlink="">
      <cdr:nvSpPr>
        <cdr:cNvPr id="26" name="Connecteur droit avec flèche 25"/>
        <cdr:cNvSpPr/>
      </cdr:nvSpPr>
      <cdr:spPr>
        <a:xfrm xmlns:a="http://schemas.openxmlformats.org/drawingml/2006/main">
          <a:off x="1749406" y="3730637"/>
          <a:ext cx="785818" cy="1588"/>
        </a:xfrm>
        <a:prstGeom xmlns:a="http://schemas.openxmlformats.org/drawingml/2006/main" prst="straightConnector1">
          <a:avLst/>
        </a:prstGeom>
        <a:ln xmlns:a="http://schemas.openxmlformats.org/drawingml/2006/main" w="25400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>
            <a:ln w="25400">
              <a:solidFill>
                <a:schemeClr val="tx1"/>
              </a:solidFill>
              <a:tailEnd type="triangle"/>
            </a:ln>
          </a:endParaRPr>
        </a:p>
      </cdr:txBody>
    </cdr:sp>
  </cdr:relSizeAnchor>
  <cdr:relSizeAnchor xmlns:cdr="http://schemas.openxmlformats.org/drawingml/2006/chartDrawing">
    <cdr:from>
      <cdr:x>0.14212</cdr:x>
      <cdr:y>0.41433</cdr:y>
    </cdr:from>
    <cdr:to>
      <cdr:x>0.1423</cdr:x>
      <cdr:y>0.55606</cdr:y>
    </cdr:to>
    <cdr:sp macro="" textlink="">
      <cdr:nvSpPr>
        <cdr:cNvPr id="30" name="Connecteur droit avec flèche 29"/>
        <cdr:cNvSpPr/>
      </cdr:nvSpPr>
      <cdr:spPr>
        <a:xfrm xmlns:a="http://schemas.openxmlformats.org/drawingml/2006/main" rot="5400000">
          <a:off x="1248546" y="2088357"/>
          <a:ext cx="1588" cy="714380"/>
        </a:xfrm>
        <a:prstGeom xmlns:a="http://schemas.openxmlformats.org/drawingml/2006/main" prst="straightConnector1">
          <a:avLst/>
        </a:prstGeom>
        <a:ln xmlns:a="http://schemas.openxmlformats.org/drawingml/2006/main" w="25400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0.14221</cdr:x>
      <cdr:y>0.21575</cdr:y>
    </cdr:from>
    <cdr:to>
      <cdr:x>0.27918</cdr:x>
      <cdr:y>0.2885</cdr:y>
    </cdr:to>
    <cdr:sp macro="" textlink="">
      <cdr:nvSpPr>
        <cdr:cNvPr id="2" name="Text Box 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49340" y="1087431"/>
          <a:ext cx="1203325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1 200,30$</a:t>
          </a:r>
        </a:p>
      </cdr:txBody>
    </cdr:sp>
  </cdr:relSizeAnchor>
  <cdr:relSizeAnchor xmlns:cdr="http://schemas.openxmlformats.org/drawingml/2006/chartDrawing">
    <cdr:from>
      <cdr:x>0.19913</cdr:x>
      <cdr:y>0.35748</cdr:y>
    </cdr:from>
    <cdr:to>
      <cdr:x>0.29147</cdr:x>
      <cdr:y>0.43024</cdr:y>
    </cdr:to>
    <cdr:sp macro="" textlink="">
      <cdr:nvSpPr>
        <cdr:cNvPr id="3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749406" y="1801811"/>
          <a:ext cx="811213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1000$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0.14221</cdr:x>
      <cdr:y>0.21575</cdr:y>
    </cdr:from>
    <cdr:to>
      <cdr:x>0.27918</cdr:x>
      <cdr:y>0.2885</cdr:y>
    </cdr:to>
    <cdr:sp macro="" textlink="">
      <cdr:nvSpPr>
        <cdr:cNvPr id="2" name="Text Box 9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49340" y="1087431"/>
          <a:ext cx="1203325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1 200,30$</a:t>
          </a:r>
        </a:p>
      </cdr:txBody>
    </cdr:sp>
  </cdr:relSizeAnchor>
  <cdr:relSizeAnchor xmlns:cdr="http://schemas.openxmlformats.org/drawingml/2006/chartDrawing">
    <cdr:from>
      <cdr:x>0.19913</cdr:x>
      <cdr:y>0.35748</cdr:y>
    </cdr:from>
    <cdr:to>
      <cdr:x>0.29147</cdr:x>
      <cdr:y>0.43024</cdr:y>
    </cdr:to>
    <cdr:sp macro="" textlink="">
      <cdr:nvSpPr>
        <cdr:cNvPr id="3" name="Text Box 8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749406" y="1801811"/>
          <a:ext cx="811213" cy="36671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fr-CA" dirty="0">
              <a:latin typeface="Tahoma" pitchFamily="34" charset="0"/>
            </a:rPr>
            <a:t>1000$</a:t>
          </a:r>
        </a:p>
      </cdr:txBody>
    </cdr:sp>
  </cdr:relSizeAnchor>
  <cdr:relSizeAnchor xmlns:cdr="http://schemas.openxmlformats.org/drawingml/2006/chartDrawing">
    <cdr:from>
      <cdr:x>0.54879</cdr:x>
      <cdr:y>0.20157</cdr:y>
    </cdr:from>
    <cdr:to>
      <cdr:x>0.89537</cdr:x>
      <cdr:y>0.27716</cdr:y>
    </cdr:to>
    <cdr:grpSp>
      <cdr:nvGrpSpPr>
        <cdr:cNvPr id="4" name="Groupe 3">
          <a:extLst xmlns:a="http://schemas.openxmlformats.org/drawingml/2006/main">
            <a:ext uri="{FF2B5EF4-FFF2-40B4-BE49-F238E27FC236}">
              <a16:creationId xmlns:a16="http://schemas.microsoft.com/office/drawing/2014/main" id="{9150431E-2079-4621-9B24-B6436CBC2387}"/>
            </a:ext>
          </a:extLst>
        </cdr:cNvPr>
        <cdr:cNvGrpSpPr/>
      </cdr:nvGrpSpPr>
      <cdr:grpSpPr>
        <a:xfrm xmlns:a="http://schemas.openxmlformats.org/drawingml/2006/main">
          <a:off x="4821244" y="761982"/>
          <a:ext cx="3044783" cy="285748"/>
          <a:chOff x="5272088" y="2565400"/>
          <a:chExt cx="3044825" cy="381000"/>
        </a:xfrm>
      </cdr:grpSpPr>
      <cdr:sp macro="" textlink="">
        <cdr:nvSpPr>
          <cdr:cNvPr id="5" name="Text Box 12"/>
          <cdr:cNvSpPr txBox="1">
            <a:spLocks xmlns:a="http://schemas.openxmlformats.org/drawingml/2006/main" noChangeArrowheads="1"/>
          </cdr:cNvSpPr>
        </cdr:nvSpPr>
        <cdr:spPr bwMode="auto">
          <a:xfrm xmlns:a="http://schemas.openxmlformats.org/drawingml/2006/main">
            <a:off x="5272088" y="2579688"/>
            <a:ext cx="587375" cy="36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 lim="800000"/>
            <a:headEnd/>
            <a:tailEnd/>
          </a:ln>
          <a:effectLst xmlns:a="http://schemas.openxmlformats.org/drawingml/2006/main"/>
        </cdr:spPr>
        <cdr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r>
              <a:rPr lang="fr-CA" dirty="0">
                <a:latin typeface="Tahoma" pitchFamily="34" charset="0"/>
              </a:rPr>
              <a:t>TRE</a:t>
            </a:r>
          </a:p>
        </cdr:txBody>
      </cdr:sp>
      <cdr:sp macro="" textlink="">
        <cdr:nvSpPr>
          <cdr:cNvPr id="6" name="Text Box 13"/>
          <cdr:cNvSpPr txBox="1">
            <a:spLocks xmlns:a="http://schemas.openxmlformats.org/drawingml/2006/main" noChangeArrowheads="1"/>
          </cdr:cNvSpPr>
        </cdr:nvSpPr>
        <cdr:spPr bwMode="auto">
          <a:xfrm xmlns:a="http://schemas.openxmlformats.org/drawingml/2006/main">
            <a:off x="6516688" y="2565400"/>
            <a:ext cx="517525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 lim="800000"/>
            <a:headEnd/>
            <a:tailEnd/>
          </a:ln>
          <a:effectLst xmlns:a="http://schemas.openxmlformats.org/drawingml/2006/main"/>
        </cdr:spPr>
        <cdr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r>
              <a:rPr lang="fr-CA" dirty="0">
                <a:latin typeface="Tahoma" pitchFamily="34" charset="0"/>
              </a:rPr>
              <a:t>=&gt;</a:t>
            </a:r>
          </a:p>
        </cdr:txBody>
      </cdr:sp>
      <cdr:sp macro="" textlink="">
        <cdr:nvSpPr>
          <cdr:cNvPr id="7" name="Text Box 14"/>
          <cdr:cNvSpPr txBox="1">
            <a:spLocks xmlns:a="http://schemas.openxmlformats.org/drawingml/2006/main" noChangeArrowheads="1"/>
          </cdr:cNvSpPr>
        </cdr:nvSpPr>
        <cdr:spPr bwMode="auto">
          <a:xfrm xmlns:a="http://schemas.openxmlformats.org/drawingml/2006/main">
            <a:off x="7288213" y="2579688"/>
            <a:ext cx="557212" cy="36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 lim="800000"/>
            <a:headEnd/>
            <a:tailEnd/>
          </a:ln>
          <a:effectLst xmlns:a="http://schemas.openxmlformats.org/drawingml/2006/main"/>
        </cdr:spPr>
        <cdr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r>
              <a:rPr lang="fr-CA" dirty="0">
                <a:latin typeface="Tahoma" pitchFamily="34" charset="0"/>
              </a:rPr>
              <a:t>Prix</a:t>
            </a:r>
          </a:p>
        </cdr:txBody>
      </cdr:sp>
      <cdr:sp macro="" textlink="">
        <cdr:nvSpPr>
          <cdr:cNvPr id="8" name="Line 15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>
            <a:off x="6011863" y="2636838"/>
            <a:ext cx="287337" cy="28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Text" lastClr="000000"/>
            </a:solidFill>
            <a:round/>
            <a:headEnd/>
            <a:tailEnd type="triangle" w="med" len="med"/>
          </a:ln>
          <a:effectLst xmlns:a="http://schemas.openxmlformats.org/drawingml/2006/main"/>
        </cdr:spPr>
        <cdr:txBody>
          <a:bodyPr xmlns:a="http://schemas.openxmlformats.org/drawingml/2006/main"/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endParaRPr lang="fr-CA"/>
          </a:p>
        </cdr:txBody>
      </cdr:sp>
      <cdr:sp macro="" textlink="">
        <cdr:nvSpPr>
          <cdr:cNvPr id="9" name="Line 16"/>
          <cdr:cNvSpPr>
            <a:spLocks xmlns:a="http://schemas.openxmlformats.org/drawingml/2006/main" noChangeShapeType="1"/>
          </cdr:cNvSpPr>
        </cdr:nvSpPr>
        <cdr:spPr bwMode="auto">
          <a:xfrm xmlns:a="http://schemas.openxmlformats.org/drawingml/2006/main" flipV="1">
            <a:off x="7956550" y="2636838"/>
            <a:ext cx="360363" cy="21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Text" lastClr="000000"/>
            </a:solidFill>
            <a:round/>
            <a:headEnd/>
            <a:tailEnd type="triangle" w="med" len="med"/>
          </a:ln>
          <a:effectLst xmlns:a="http://schemas.openxmlformats.org/drawingml/2006/main"/>
        </cdr:spPr>
        <cdr:txBody>
          <a:bodyPr xmlns:a="http://schemas.openxmlformats.org/drawingml/2006/main"/>
          <a:lstStyle xmlns:a="http://schemas.openxmlformats.org/drawingml/2006/main"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/>
              </a:defRPr>
            </a:lvl9pPr>
          </a:lstStyle>
          <a:p xmlns:a="http://schemas.openxmlformats.org/drawingml/2006/main">
            <a:endParaRPr lang="fr-CA"/>
          </a:p>
        </cdr:txBody>
      </cdr:sp>
    </cdr:grpSp>
  </cdr:relSizeAnchor>
  <cdr:relSizeAnchor xmlns:cdr="http://schemas.openxmlformats.org/drawingml/2006/chartDrawing">
    <cdr:from>
      <cdr:x>0.15034</cdr:x>
      <cdr:y>0.62677</cdr:y>
    </cdr:from>
    <cdr:to>
      <cdr:x>0.19913</cdr:x>
      <cdr:y>0.62709</cdr:y>
    </cdr:to>
    <cdr:sp macro="" textlink="">
      <cdr:nvSpPr>
        <cdr:cNvPr id="14" name="Connecteur droit avec flèche 13"/>
        <cdr:cNvSpPr/>
      </cdr:nvSpPr>
      <cdr:spPr>
        <a:xfrm xmlns:a="http://schemas.openxmlformats.org/drawingml/2006/main" rot="10800000">
          <a:off x="1320778" y="3159133"/>
          <a:ext cx="428628" cy="1588"/>
        </a:xfrm>
        <a:prstGeom xmlns:a="http://schemas.openxmlformats.org/drawingml/2006/main" prst="straightConnector1">
          <a:avLst/>
        </a:prstGeom>
        <a:ln xmlns:a="http://schemas.openxmlformats.org/drawingml/2006/main" w="25400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  <cdr:relSizeAnchor xmlns:cdr="http://schemas.openxmlformats.org/drawingml/2006/chartDrawing">
    <cdr:from>
      <cdr:x>0.11772</cdr:x>
      <cdr:y>0.28677</cdr:y>
    </cdr:from>
    <cdr:to>
      <cdr:x>0.1179</cdr:x>
      <cdr:y>0.41433</cdr:y>
    </cdr:to>
    <cdr:sp macro="" textlink="">
      <cdr:nvSpPr>
        <cdr:cNvPr id="17" name="Connecteur droit avec flèche 16"/>
        <cdr:cNvSpPr/>
      </cdr:nvSpPr>
      <cdr:spPr>
        <a:xfrm xmlns:a="http://schemas.openxmlformats.org/drawingml/2006/main" rot="5400000" flipH="1" flipV="1">
          <a:off x="1034232" y="1445415"/>
          <a:ext cx="1588" cy="642942"/>
        </a:xfrm>
        <a:prstGeom xmlns:a="http://schemas.openxmlformats.org/drawingml/2006/main" prst="straightConnector1">
          <a:avLst/>
        </a:prstGeom>
        <a:ln xmlns:a="http://schemas.openxmlformats.org/drawingml/2006/main" w="25400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164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21566785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5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3858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6518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7312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685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639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3949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E4B237D4-D237-4209-A6F9-A690B5C2DBBE}" type="slidenum">
              <a:rPr lang="fr-CA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076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FCFA56F3-0D84-4B01-A76F-E92948C57A70}" type="slidenum">
              <a:rPr lang="fr-CA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8286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13/05/2020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316" y="4587974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8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4.emf"/><Relationship Id="rId2" Type="http://schemas.openxmlformats.org/officeDocument/2006/relationships/tags" Target="../tags/tag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10" Type="http://schemas.openxmlformats.org/officeDocument/2006/relationships/image" Target="../media/image5.jpeg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oleObject" Target="../embeddings/oleObject2.bin"/><Relationship Id="rId3" Type="http://schemas.openxmlformats.org/officeDocument/2006/relationships/tags" Target="../tags/tag22.xml"/><Relationship Id="rId21" Type="http://schemas.openxmlformats.org/officeDocument/2006/relationships/image" Target="../media/image7.emf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slideLayout" Target="../slideLayouts/slideLayout11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oleObject" Target="../embeddings/oleObject3.bin"/><Relationship Id="rId1" Type="http://schemas.openxmlformats.org/officeDocument/2006/relationships/vmlDrawing" Target="../drawings/vmlDrawing2.v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image" Target="../media/image6.emf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37.xml"/><Relationship Id="rId7" Type="http://schemas.openxmlformats.org/officeDocument/2006/relationships/oleObject" Target="../embeddings/oleObject4.bin"/><Relationship Id="rId2" Type="http://schemas.openxmlformats.org/officeDocument/2006/relationships/tags" Target="../tags/tag36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chart" Target="../charts/chart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tags" Target="../tags/tag4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tags" Target="../tags/tag5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9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9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chart" Target="../charts/chart6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chart" Target="../charts/chart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9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7" Type="http://schemas.openxmlformats.org/officeDocument/2006/relationships/image" Target="../media/image14.png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36.xml"/><Relationship Id="rId4" Type="http://schemas.openxmlformats.org/officeDocument/2006/relationships/tags" Target="../tags/tag1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tags" Target="../tags/tag181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12" Type="http://schemas.openxmlformats.org/officeDocument/2006/relationships/tags" Target="../tags/tag18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6" Type="http://schemas.openxmlformats.org/officeDocument/2006/relationships/tags" Target="../tags/tag184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5" Type="http://schemas.openxmlformats.org/officeDocument/2006/relationships/tags" Target="../tags/tag173.xml"/><Relationship Id="rId15" Type="http://schemas.openxmlformats.org/officeDocument/2006/relationships/tags" Target="../tags/tag183.xml"/><Relationship Id="rId10" Type="http://schemas.openxmlformats.org/officeDocument/2006/relationships/tags" Target="../tags/tag178.xml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tags" Target="../tags/tag18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13" Type="http://schemas.openxmlformats.org/officeDocument/2006/relationships/tags" Target="../tags/tag197.xml"/><Relationship Id="rId18" Type="http://schemas.openxmlformats.org/officeDocument/2006/relationships/tags" Target="../tags/tag202.xml"/><Relationship Id="rId26" Type="http://schemas.openxmlformats.org/officeDocument/2006/relationships/tags" Target="../tags/tag210.xml"/><Relationship Id="rId3" Type="http://schemas.openxmlformats.org/officeDocument/2006/relationships/tags" Target="../tags/tag187.xml"/><Relationship Id="rId21" Type="http://schemas.openxmlformats.org/officeDocument/2006/relationships/tags" Target="../tags/tag205.xml"/><Relationship Id="rId7" Type="http://schemas.openxmlformats.org/officeDocument/2006/relationships/tags" Target="../tags/tag191.xml"/><Relationship Id="rId12" Type="http://schemas.openxmlformats.org/officeDocument/2006/relationships/tags" Target="../tags/tag196.xml"/><Relationship Id="rId17" Type="http://schemas.openxmlformats.org/officeDocument/2006/relationships/tags" Target="../tags/tag201.xml"/><Relationship Id="rId25" Type="http://schemas.openxmlformats.org/officeDocument/2006/relationships/tags" Target="../tags/tag209.xml"/><Relationship Id="rId2" Type="http://schemas.openxmlformats.org/officeDocument/2006/relationships/tags" Target="../tags/tag186.xml"/><Relationship Id="rId16" Type="http://schemas.openxmlformats.org/officeDocument/2006/relationships/tags" Target="../tags/tag200.xml"/><Relationship Id="rId20" Type="http://schemas.openxmlformats.org/officeDocument/2006/relationships/tags" Target="../tags/tag204.xml"/><Relationship Id="rId29" Type="http://schemas.openxmlformats.org/officeDocument/2006/relationships/tags" Target="../tags/tag213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tags" Target="../tags/tag195.xml"/><Relationship Id="rId24" Type="http://schemas.openxmlformats.org/officeDocument/2006/relationships/tags" Target="../tags/tag208.xml"/><Relationship Id="rId5" Type="http://schemas.openxmlformats.org/officeDocument/2006/relationships/tags" Target="../tags/tag189.xml"/><Relationship Id="rId15" Type="http://schemas.openxmlformats.org/officeDocument/2006/relationships/tags" Target="../tags/tag199.xml"/><Relationship Id="rId23" Type="http://schemas.openxmlformats.org/officeDocument/2006/relationships/tags" Target="../tags/tag207.xml"/><Relationship Id="rId28" Type="http://schemas.openxmlformats.org/officeDocument/2006/relationships/tags" Target="../tags/tag212.xml"/><Relationship Id="rId10" Type="http://schemas.openxmlformats.org/officeDocument/2006/relationships/tags" Target="../tags/tag194.xml"/><Relationship Id="rId19" Type="http://schemas.openxmlformats.org/officeDocument/2006/relationships/tags" Target="../tags/tag203.xml"/><Relationship Id="rId4" Type="http://schemas.openxmlformats.org/officeDocument/2006/relationships/tags" Target="../tags/tag188.xml"/><Relationship Id="rId9" Type="http://schemas.openxmlformats.org/officeDocument/2006/relationships/tags" Target="../tags/tag193.xml"/><Relationship Id="rId14" Type="http://schemas.openxmlformats.org/officeDocument/2006/relationships/tags" Target="../tags/tag198.xml"/><Relationship Id="rId22" Type="http://schemas.openxmlformats.org/officeDocument/2006/relationships/tags" Target="../tags/tag206.xml"/><Relationship Id="rId27" Type="http://schemas.openxmlformats.org/officeDocument/2006/relationships/tags" Target="../tags/tag211.xml"/><Relationship Id="rId30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tags" Target="../tags/tag216.xml"/><Relationship Id="rId7" Type="http://schemas.openxmlformats.org/officeDocument/2006/relationships/diagramLayout" Target="../diagrams/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diagramData" Target="../diagrams/data2.xml"/><Relationship Id="rId5" Type="http://schemas.openxmlformats.org/officeDocument/2006/relationships/slideLayout" Target="../slideLayouts/slideLayout2.xml"/><Relationship Id="rId10" Type="http://schemas.microsoft.com/office/2007/relationships/diagramDrawing" Target="../diagrams/drawing2.xml"/><Relationship Id="rId4" Type="http://schemas.openxmlformats.org/officeDocument/2006/relationships/tags" Target="../tags/tag217.xml"/><Relationship Id="rId9" Type="http://schemas.openxmlformats.org/officeDocument/2006/relationships/diagramColors" Target="../diagrams/colors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diagramData" Target="../diagrams/data3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12" Type="http://schemas.openxmlformats.org/officeDocument/2006/relationships/slideLayout" Target="../slideLayouts/slideLayout2.xml"/><Relationship Id="rId17" Type="http://schemas.microsoft.com/office/2007/relationships/diagramDrawing" Target="../diagrams/drawing3.xml"/><Relationship Id="rId2" Type="http://schemas.openxmlformats.org/officeDocument/2006/relationships/tags" Target="../tags/tag219.xml"/><Relationship Id="rId16" Type="http://schemas.openxmlformats.org/officeDocument/2006/relationships/diagramColors" Target="../diagrams/colors3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5" Type="http://schemas.openxmlformats.org/officeDocument/2006/relationships/tags" Target="../tags/tag222.xml"/><Relationship Id="rId15" Type="http://schemas.openxmlformats.org/officeDocument/2006/relationships/diagramQuickStyle" Target="../diagrams/quickStyle3.xml"/><Relationship Id="rId10" Type="http://schemas.openxmlformats.org/officeDocument/2006/relationships/tags" Target="../tags/tag227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diagramLayout" Target="../diagrams/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Chapitre 7</a:t>
            </a:r>
            <a:r>
              <a:rPr lang="fr-CA"/>
              <a:t>: </a:t>
            </a:r>
            <a:br>
              <a:rPr lang="fr-CA"/>
            </a:br>
            <a:r>
              <a:rPr lang="fr-CA"/>
              <a:t>le </a:t>
            </a:r>
            <a:r>
              <a:rPr lang="fr-CA" dirty="0"/>
              <a:t>marché obligataire</a:t>
            </a:r>
            <a:br>
              <a:rPr lang="fr-CA" dirty="0"/>
            </a:b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fr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Plan de présentation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383507"/>
            <a:ext cx="8485814" cy="3402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Introduction à l’évaluation de titre</a:t>
            </a:r>
          </a:p>
          <a:p>
            <a:pPr marL="0" indent="0">
              <a:buNone/>
            </a:pPr>
            <a:r>
              <a:rPr lang="fr-CA" sz="2400" dirty="0"/>
              <a:t>Les obligations</a:t>
            </a:r>
          </a:p>
          <a:p>
            <a:pPr marL="269875" lvl="1" indent="0">
              <a:buNone/>
            </a:pPr>
            <a:r>
              <a:rPr lang="fr-CA" sz="2400" dirty="0"/>
              <a:t>Obligation: description</a:t>
            </a:r>
          </a:p>
          <a:p>
            <a:pPr marL="269875" lvl="1" indent="0">
              <a:buNone/>
            </a:pPr>
            <a:r>
              <a:rPr lang="fr-CA" sz="2400" dirty="0"/>
              <a:t>Obligation: son évaluation</a:t>
            </a:r>
          </a:p>
          <a:p>
            <a:pPr marL="269875" lvl="1" indent="0">
              <a:buNone/>
            </a:pPr>
            <a:r>
              <a:rPr lang="fr-CA" sz="2400" dirty="0"/>
              <a:t>Obligation: la notion de durée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sz="2300" dirty="0"/>
              <a:t>Introduction: l’évaluation de titre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57200" y="1221582"/>
            <a:ext cx="8147050" cy="356473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fr-CA" sz="2000" dirty="0"/>
              <a:t>Nous avons vu que la valeur de tous les actifs financiers est déterminée par les </a:t>
            </a:r>
            <a:r>
              <a:rPr lang="fr-CA" sz="2000" dirty="0">
                <a:solidFill>
                  <a:schemeClr val="accent1"/>
                </a:solidFill>
              </a:rPr>
              <a:t>flux</a:t>
            </a:r>
            <a:r>
              <a:rPr lang="fr-CA" sz="2000" dirty="0"/>
              <a:t> </a:t>
            </a:r>
            <a:r>
              <a:rPr lang="fr-CA" sz="2000" dirty="0">
                <a:solidFill>
                  <a:schemeClr val="accent1"/>
                </a:solidFill>
              </a:rPr>
              <a:t>monétaires</a:t>
            </a:r>
            <a:r>
              <a:rPr lang="fr-CA" sz="2000" dirty="0"/>
              <a:t> futurs liés à cet actif :</a:t>
            </a:r>
          </a:p>
          <a:p>
            <a:pPr>
              <a:lnSpc>
                <a:spcPct val="120000"/>
              </a:lnSpc>
              <a:buFontTx/>
              <a:buNone/>
            </a:pPr>
            <a:endParaRPr lang="fr-CA" dirty="0"/>
          </a:p>
          <a:p>
            <a:pPr>
              <a:lnSpc>
                <a:spcPct val="120000"/>
              </a:lnSpc>
              <a:buFontTx/>
              <a:buNone/>
            </a:pPr>
            <a:endParaRPr lang="fr-CA" dirty="0"/>
          </a:p>
          <a:p>
            <a:pPr>
              <a:lnSpc>
                <a:spcPct val="120000"/>
              </a:lnSpc>
              <a:buFontTx/>
              <a:buNone/>
            </a:pPr>
            <a:endParaRPr lang="fr-CA" dirty="0"/>
          </a:p>
          <a:p>
            <a:pPr>
              <a:lnSpc>
                <a:spcPct val="120000"/>
              </a:lnSpc>
              <a:buFontTx/>
              <a:buNone/>
            </a:pPr>
            <a:r>
              <a:rPr lang="fr-CA" dirty="0"/>
              <a:t>	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fr-CA" sz="2000" dirty="0"/>
              <a:t>Ainsi, tous les actifs financiers peuvent être évalués à l’aide des seuls trois formules vues précédemment: le montant simple, l’annuité et la perpétuité</a:t>
            </a:r>
          </a:p>
          <a:p>
            <a:pPr>
              <a:lnSpc>
                <a:spcPct val="80000"/>
              </a:lnSpc>
              <a:buFontTx/>
              <a:buNone/>
            </a:pPr>
            <a:endParaRPr lang="fr-CA" sz="2000" dirty="0"/>
          </a:p>
          <a:p>
            <a:pPr>
              <a:lnSpc>
                <a:spcPct val="80000"/>
              </a:lnSpc>
              <a:buFontTx/>
              <a:buNone/>
            </a:pPr>
            <a:endParaRPr lang="fr-CA" sz="2000" dirty="0"/>
          </a:p>
          <a:p>
            <a:pPr>
              <a:lnSpc>
                <a:spcPct val="80000"/>
              </a:lnSpc>
              <a:buFontTx/>
              <a:buNone/>
            </a:pPr>
            <a:endParaRPr lang="fr-CA" sz="2000" dirty="0"/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93385230"/>
              </p:ext>
            </p:extLst>
          </p:nvPr>
        </p:nvGraphicFramePr>
        <p:xfrm>
          <a:off x="2771800" y="1995686"/>
          <a:ext cx="31464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8" name="Equation" r:id="rId6" imgW="1218960" imgH="431640" progId="Equation.3">
                  <p:embed/>
                </p:oleObj>
              </mc:Choice>
              <mc:Fallback>
                <p:oleObj name="Equation" r:id="rId6" imgW="12189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995686"/>
                        <a:ext cx="3146425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Obligation: description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229600" cy="350996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2800" dirty="0"/>
              <a:t>Une obligation est un titre </a:t>
            </a:r>
            <a:r>
              <a:rPr lang="fr-CA" sz="2800" dirty="0">
                <a:solidFill>
                  <a:schemeClr val="accent1"/>
                </a:solidFill>
              </a:rPr>
              <a:t>de dette (créance) </a:t>
            </a:r>
            <a:r>
              <a:rPr lang="fr-CA" sz="2800" dirty="0"/>
              <a:t>par lequel l’émetteur s’engage à verser le capital et les intérêts dans le futur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CA" sz="2800" dirty="0"/>
              <a:t>L’émetteur peut être un gouvernement (fédéral, provincial ou municipal) ou une entreprise</a:t>
            </a:r>
          </a:p>
          <a:p>
            <a:pPr marL="268920" lvl="1" indent="0">
              <a:lnSpc>
                <a:spcPct val="120000"/>
              </a:lnSpc>
              <a:buNone/>
            </a:pPr>
            <a:r>
              <a:rPr lang="fr-CA" sz="2400" dirty="0"/>
              <a:t>Le document légal émis par l’émetteur: </a:t>
            </a:r>
            <a:r>
              <a:rPr lang="fr-CA" sz="2400" dirty="0">
                <a:solidFill>
                  <a:schemeClr val="accent1"/>
                </a:solidFill>
              </a:rPr>
              <a:t>acte de fiducie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CA" sz="2800" dirty="0"/>
              <a:t>L’obligation est garantie par un </a:t>
            </a:r>
            <a:r>
              <a:rPr lang="fr-CA" sz="2800" dirty="0">
                <a:solidFill>
                  <a:schemeClr val="accent1"/>
                </a:solidFill>
              </a:rPr>
              <a:t>actif</a:t>
            </a:r>
            <a:r>
              <a:rPr lang="fr-CA" sz="2800" dirty="0"/>
              <a:t> qui permet au détenteur de l’obligation de saisir en cas de défaut de paiement</a:t>
            </a:r>
          </a:p>
          <a:p>
            <a:pPr marL="268920" lvl="1" indent="0">
              <a:lnSpc>
                <a:spcPct val="120000"/>
              </a:lnSpc>
              <a:buNone/>
            </a:pPr>
            <a:r>
              <a:rPr lang="fr-CA" sz="2300" dirty="0"/>
              <a:t>Le document légal émis par l’émetteur: </a:t>
            </a:r>
            <a:r>
              <a:rPr lang="fr-CA" sz="2300" dirty="0">
                <a:solidFill>
                  <a:schemeClr val="accent1"/>
                </a:solidFill>
              </a:rPr>
              <a:t>acte de fiducie</a:t>
            </a:r>
          </a:p>
          <a:p>
            <a:pPr marL="268920" lvl="1" indent="0">
              <a:lnSpc>
                <a:spcPct val="120000"/>
              </a:lnSpc>
              <a:buNone/>
            </a:pPr>
            <a:r>
              <a:rPr lang="fr-CA" sz="2300" dirty="0"/>
              <a:t>Les émissions gouvernementales sont garanties par la capacité de </a:t>
            </a:r>
            <a:r>
              <a:rPr lang="fr-CA" sz="2300" dirty="0">
                <a:solidFill>
                  <a:schemeClr val="accent1"/>
                </a:solidFill>
              </a:rPr>
              <a:t>taxation</a:t>
            </a:r>
            <a:r>
              <a:rPr lang="fr-CA" sz="2300" dirty="0"/>
              <a:t> de </a:t>
            </a:r>
            <a:br>
              <a:rPr lang="fr-CA" sz="2300" dirty="0"/>
            </a:br>
            <a:r>
              <a:rPr lang="fr-CA" sz="2300" dirty="0"/>
              <a:t>celle-ci</a:t>
            </a:r>
          </a:p>
          <a:p>
            <a:pPr marL="268920" lvl="1" indent="0">
              <a:lnSpc>
                <a:spcPct val="120000"/>
              </a:lnSpc>
              <a:buNone/>
            </a:pPr>
            <a:r>
              <a:rPr lang="fr-CA" sz="2300" dirty="0"/>
              <a:t>Lorsqu’aucun actif n’est adossé, l’obligation s’appelle plutôt une </a:t>
            </a:r>
            <a:r>
              <a:rPr lang="fr-CA" sz="2300" dirty="0">
                <a:solidFill>
                  <a:schemeClr val="accent1"/>
                </a:solidFill>
              </a:rPr>
              <a:t>débenture</a:t>
            </a:r>
            <a:endParaRPr lang="fr-CA" sz="2300" dirty="0"/>
          </a:p>
          <a:p>
            <a:pPr lvl="1">
              <a:lnSpc>
                <a:spcPct val="80000"/>
              </a:lnSpc>
            </a:pPr>
            <a:endParaRPr lang="fr-CA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description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94690" y="1288909"/>
            <a:ext cx="8229600" cy="3290888"/>
          </a:xfrm>
        </p:spPr>
        <p:txBody>
          <a:bodyPr>
            <a:normAutofit/>
          </a:bodyPr>
          <a:lstStyle/>
          <a:p>
            <a:pPr marL="269875" indent="-269875"/>
            <a:r>
              <a:rPr lang="fr-CA" sz="2000" dirty="0"/>
              <a:t>L’obligation traditionnelle verse les </a:t>
            </a:r>
            <a:r>
              <a:rPr lang="fr-CA" sz="2000" dirty="0">
                <a:solidFill>
                  <a:schemeClr val="accent1"/>
                </a:solidFill>
              </a:rPr>
              <a:t>intérêts</a:t>
            </a:r>
            <a:r>
              <a:rPr lang="fr-CA" sz="2000" dirty="0"/>
              <a:t> </a:t>
            </a:r>
            <a:br>
              <a:rPr lang="fr-CA" sz="2000" dirty="0"/>
            </a:br>
            <a:r>
              <a:rPr lang="fr-CA" sz="2000" dirty="0"/>
              <a:t>(aussi appelé coupon) à tous les 6 mois et le capital est remboursé à l’échéance</a:t>
            </a:r>
          </a:p>
          <a:p>
            <a:pPr marL="269875" indent="-269875">
              <a:lnSpc>
                <a:spcPct val="90000"/>
              </a:lnSpc>
            </a:pPr>
            <a:endParaRPr lang="fr-CA" sz="2000" dirty="0"/>
          </a:p>
          <a:p>
            <a:pPr marL="269875" indent="-269875">
              <a:lnSpc>
                <a:spcPct val="90000"/>
              </a:lnSpc>
            </a:pPr>
            <a:endParaRPr lang="fr-CA" sz="2000" dirty="0"/>
          </a:p>
          <a:p>
            <a:pPr marL="269875" indent="-269875">
              <a:lnSpc>
                <a:spcPct val="90000"/>
              </a:lnSpc>
            </a:pPr>
            <a:endParaRPr lang="fr-CA" sz="2000" dirty="0"/>
          </a:p>
          <a:p>
            <a:pPr marL="269875" indent="-269875">
              <a:lnSpc>
                <a:spcPct val="90000"/>
              </a:lnSpc>
            </a:pPr>
            <a:endParaRPr lang="fr-CA" sz="2000" dirty="0"/>
          </a:p>
          <a:p>
            <a:pPr marL="269875" indent="-269875">
              <a:lnSpc>
                <a:spcPct val="90000"/>
              </a:lnSpc>
            </a:pPr>
            <a:r>
              <a:rPr lang="fr-CA" sz="2000" dirty="0"/>
              <a:t>L’obligation peut rembourser </a:t>
            </a:r>
            <a:r>
              <a:rPr lang="fr-CA" sz="2000" dirty="0">
                <a:solidFill>
                  <a:schemeClr val="accent1"/>
                </a:solidFill>
              </a:rPr>
              <a:t>intérêt</a:t>
            </a:r>
            <a:r>
              <a:rPr lang="fr-CA" sz="2000" dirty="0"/>
              <a:t> et </a:t>
            </a:r>
            <a:r>
              <a:rPr lang="fr-CA" sz="2000" dirty="0">
                <a:solidFill>
                  <a:schemeClr val="accent1"/>
                </a:solidFill>
              </a:rPr>
              <a:t>capital</a:t>
            </a:r>
            <a:r>
              <a:rPr lang="fr-CA" sz="2000" dirty="0"/>
              <a:t> à l’échéance</a:t>
            </a:r>
          </a:p>
        </p:txBody>
      </p:sp>
      <p:grpSp>
        <p:nvGrpSpPr>
          <p:cNvPr id="2" name="Groupe 1"/>
          <p:cNvGrpSpPr/>
          <p:nvPr>
            <p:custDataLst>
              <p:tags r:id="rId3"/>
            </p:custDataLst>
          </p:nvPr>
        </p:nvGrpSpPr>
        <p:grpSpPr>
          <a:xfrm>
            <a:off x="971600" y="2387083"/>
            <a:ext cx="6532151" cy="970180"/>
            <a:chOff x="1476375" y="2301479"/>
            <a:chExt cx="6532151" cy="970180"/>
          </a:xfrm>
        </p:grpSpPr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>
              <a:off x="1476375" y="2463404"/>
              <a:ext cx="38179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>
              <a:off x="5294314" y="2463404"/>
              <a:ext cx="935037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6229351" y="2463404"/>
              <a:ext cx="1439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7669213" y="2301479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673417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>
              <a:off x="1476375" y="2301479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>
              <a:off x="248602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356552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>
              <a:off x="4645025" y="2355057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2124075" y="2571750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6372225" y="2571750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4356100" y="2571750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3203575" y="2571750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>
              <a:off x="7306090" y="2625328"/>
              <a:ext cx="702436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fr-CA" sz="1200" dirty="0">
                  <a:latin typeface="Tahoma" pitchFamily="34" charset="0"/>
                </a:rPr>
                <a:t>Coupon</a:t>
              </a:r>
            </a:p>
            <a:p>
              <a:pPr algn="ctr"/>
              <a:r>
                <a:rPr lang="fr-CA" sz="1200" dirty="0">
                  <a:latin typeface="Tahoma" pitchFamily="34" charset="0"/>
                </a:rPr>
                <a:t>+</a:t>
              </a:r>
            </a:p>
            <a:p>
              <a:pPr algn="ctr"/>
              <a:r>
                <a:rPr lang="fr-CA" sz="1200" dirty="0">
                  <a:latin typeface="Tahoma" pitchFamily="34" charset="0"/>
                </a:rPr>
                <a:t>capital</a:t>
              </a:r>
            </a:p>
          </p:txBody>
        </p:sp>
      </p:grpSp>
      <p:grpSp>
        <p:nvGrpSpPr>
          <p:cNvPr id="3" name="Groupe 2"/>
          <p:cNvGrpSpPr/>
          <p:nvPr>
            <p:custDataLst>
              <p:tags r:id="rId4"/>
            </p:custDataLst>
          </p:nvPr>
        </p:nvGrpSpPr>
        <p:grpSpPr>
          <a:xfrm>
            <a:off x="971600" y="4001690"/>
            <a:ext cx="6829671" cy="600848"/>
            <a:chOff x="1476375" y="4138613"/>
            <a:chExt cx="6829671" cy="600848"/>
          </a:xfrm>
        </p:grpSpPr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>
              <a:off x="1476375" y="4300538"/>
              <a:ext cx="38179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>
              <a:off x="5294314" y="4300538"/>
              <a:ext cx="935037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>
              <a:off x="6229351" y="4300538"/>
              <a:ext cx="1439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5" name="Line 21"/>
            <p:cNvSpPr>
              <a:spLocks noChangeShapeType="1"/>
            </p:cNvSpPr>
            <p:nvPr/>
          </p:nvSpPr>
          <p:spPr bwMode="auto">
            <a:xfrm>
              <a:off x="7669213" y="4138613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6" name="Line 22"/>
            <p:cNvSpPr>
              <a:spLocks noChangeShapeType="1"/>
            </p:cNvSpPr>
            <p:nvPr/>
          </p:nvSpPr>
          <p:spPr bwMode="auto">
            <a:xfrm>
              <a:off x="6734175" y="4192191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7" name="Line 23"/>
            <p:cNvSpPr>
              <a:spLocks noChangeShapeType="1"/>
            </p:cNvSpPr>
            <p:nvPr/>
          </p:nvSpPr>
          <p:spPr bwMode="auto">
            <a:xfrm>
              <a:off x="1476375" y="4138613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8" name="Line 24"/>
            <p:cNvSpPr>
              <a:spLocks noChangeShapeType="1"/>
            </p:cNvSpPr>
            <p:nvPr/>
          </p:nvSpPr>
          <p:spPr bwMode="auto">
            <a:xfrm>
              <a:off x="2486025" y="4192191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9" name="Line 25"/>
            <p:cNvSpPr>
              <a:spLocks noChangeShapeType="1"/>
            </p:cNvSpPr>
            <p:nvPr/>
          </p:nvSpPr>
          <p:spPr bwMode="auto">
            <a:xfrm>
              <a:off x="3565525" y="4192191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30" name="Line 26"/>
            <p:cNvSpPr>
              <a:spLocks noChangeShapeType="1"/>
            </p:cNvSpPr>
            <p:nvPr/>
          </p:nvSpPr>
          <p:spPr bwMode="auto">
            <a:xfrm>
              <a:off x="4645025" y="4192191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31" name="Text Box 27"/>
            <p:cNvSpPr txBox="1">
              <a:spLocks noChangeArrowheads="1"/>
            </p:cNvSpPr>
            <p:nvPr/>
          </p:nvSpPr>
          <p:spPr bwMode="auto">
            <a:xfrm>
              <a:off x="7008575" y="4462462"/>
              <a:ext cx="129747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fr-CA" sz="1200" dirty="0">
                  <a:latin typeface="Tahoma" pitchFamily="34" charset="0"/>
                </a:rPr>
                <a:t>Capital + intérêt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2800" dirty="0"/>
              <a:t>Titre à revenu fixe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47324" y="1393968"/>
            <a:ext cx="3754759" cy="3518297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CA" sz="2800" b="0" cap="none" dirty="0"/>
              <a:t>Obligation: catégorie des titres à revenu fixe les </a:t>
            </a:r>
            <a:r>
              <a:rPr lang="fr-CA" sz="2800" b="0" cap="none" dirty="0" err="1"/>
              <a:t>FMs</a:t>
            </a:r>
            <a:r>
              <a:rPr lang="fr-CA" sz="2800" b="0" cap="none" dirty="0"/>
              <a:t> sont fixés à l’avance et resteront les mêmes tout au long de la durée de vie de l’obligation pour l’obligation traditionnelle, on retrouve </a:t>
            </a:r>
            <a:br>
              <a:rPr lang="fr-CA" sz="2800" b="0" cap="none" dirty="0"/>
            </a:br>
            <a:r>
              <a:rPr lang="fr-CA" sz="2800" b="0" cap="none" dirty="0"/>
              <a:t>2 types de </a:t>
            </a:r>
            <a:r>
              <a:rPr lang="fr-CA" sz="2800" b="0" cap="none" dirty="0" err="1"/>
              <a:t>FMs</a:t>
            </a:r>
            <a:r>
              <a:rPr lang="fr-CA" sz="2800" b="0" cap="none" dirty="0"/>
              <a:t> qui seront versés au prêteur :</a:t>
            </a:r>
          </a:p>
          <a:p>
            <a:pPr>
              <a:lnSpc>
                <a:spcPct val="120000"/>
              </a:lnSpc>
            </a:pPr>
            <a:endParaRPr lang="fr-CA" sz="2800" b="0" cap="none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2500" cap="none" dirty="0">
                <a:solidFill>
                  <a:schemeClr val="accent3"/>
                </a:solidFill>
              </a:rPr>
              <a:t>Valeur nominale (emprunt, habituellement 1 000 $)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A" sz="2500" cap="none" dirty="0">
                <a:solidFill>
                  <a:schemeClr val="accent1"/>
                </a:solidFill>
              </a:rPr>
              <a:t>Coupons (intérêts, habituellement versé aux semestres)</a:t>
            </a:r>
            <a:endParaRPr lang="fr-CA" sz="2200" cap="none" dirty="0">
              <a:solidFill>
                <a:schemeClr val="accent1"/>
              </a:solidFill>
            </a:endParaRPr>
          </a:p>
          <a:p>
            <a:pPr lvl="1">
              <a:lnSpc>
                <a:spcPct val="80000"/>
              </a:lnSpc>
            </a:pPr>
            <a:endParaRPr lang="fr-CA" sz="2400" dirty="0"/>
          </a:p>
        </p:txBody>
      </p:sp>
      <p:pic>
        <p:nvPicPr>
          <p:cNvPr id="51202" name="Picture 2" descr="http://media.liveauctiongroup.net/i/14441/14654705_1.jpg?v=8CF8FF78761FFD0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386" y="51470"/>
            <a:ext cx="4752528" cy="48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>
            <p:custDataLst>
              <p:tags r:id="rId4"/>
            </p:custDataLst>
          </p:nvPr>
        </p:nvSpPr>
        <p:spPr>
          <a:xfrm>
            <a:off x="4499992" y="204787"/>
            <a:ext cx="4320480" cy="3303067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/>
          <p:cNvSpPr/>
          <p:nvPr>
            <p:custDataLst>
              <p:tags r:id="rId5"/>
            </p:custDataLst>
          </p:nvPr>
        </p:nvSpPr>
        <p:spPr>
          <a:xfrm>
            <a:off x="4521698" y="3507854"/>
            <a:ext cx="4320480" cy="1224136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Ellipse 3"/>
          <p:cNvSpPr/>
          <p:nvPr>
            <p:custDataLst>
              <p:tags r:id="rId6"/>
            </p:custDataLst>
          </p:nvPr>
        </p:nvSpPr>
        <p:spPr>
          <a:xfrm>
            <a:off x="4716016" y="483518"/>
            <a:ext cx="720080" cy="52079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Ellipse 8"/>
          <p:cNvSpPr/>
          <p:nvPr>
            <p:custDataLst>
              <p:tags r:id="rId7"/>
            </p:custDataLst>
          </p:nvPr>
        </p:nvSpPr>
        <p:spPr>
          <a:xfrm>
            <a:off x="7857073" y="493759"/>
            <a:ext cx="720080" cy="52079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Rectangle 9"/>
          <p:cNvSpPr/>
          <p:nvPr>
            <p:custDataLst>
              <p:tags r:id="rId8"/>
            </p:custDataLst>
          </p:nvPr>
        </p:nvSpPr>
        <p:spPr>
          <a:xfrm>
            <a:off x="7092280" y="3867894"/>
            <a:ext cx="864096" cy="487346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94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Obligation : son évaluation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468313" y="1168004"/>
            <a:ext cx="7991475" cy="3780234"/>
          </a:xfrm>
        </p:spPr>
        <p:txBody>
          <a:bodyPr>
            <a:normAutofit fontScale="92500" lnSpcReduction="20000"/>
          </a:bodyPr>
          <a:lstStyle/>
          <a:p>
            <a:pPr marL="269875" indent="-269875"/>
            <a:r>
              <a:rPr lang="fr-CA" sz="2800" dirty="0"/>
              <a:t>Le zéro-coupon</a:t>
            </a:r>
          </a:p>
          <a:p>
            <a:endParaRPr lang="fr-CA" sz="2800" dirty="0"/>
          </a:p>
          <a:p>
            <a:endParaRPr lang="fr-CA" sz="2800" dirty="0"/>
          </a:p>
          <a:p>
            <a:endParaRPr lang="fr-CA" sz="2800" dirty="0"/>
          </a:p>
          <a:p>
            <a:pPr marL="269875" indent="-269875"/>
            <a:r>
              <a:rPr lang="fr-CA" sz="2800" dirty="0"/>
              <a:t>L’obligation conventionnelle</a:t>
            </a:r>
            <a:endParaRPr lang="fr-CA" sz="2800" dirty="0">
              <a:solidFill>
                <a:schemeClr val="accent1"/>
              </a:solidFill>
            </a:endParaRPr>
          </a:p>
          <a:p>
            <a:endParaRPr lang="fr-CA" sz="2800" dirty="0"/>
          </a:p>
          <a:p>
            <a:endParaRPr lang="fr-CA" sz="2800" dirty="0"/>
          </a:p>
          <a:p>
            <a:pPr>
              <a:buFontTx/>
              <a:buNone/>
            </a:pPr>
            <a:endParaRPr lang="fr-CA" sz="2800" dirty="0"/>
          </a:p>
          <a:p>
            <a:pPr>
              <a:buFontTx/>
              <a:buNone/>
            </a:pPr>
            <a:r>
              <a:rPr lang="fr-CA" sz="2800" dirty="0"/>
              <a:t>	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quarter" idx="2"/>
            <p:custDataLst>
              <p:tags r:id="rId4"/>
            </p:custDataLst>
          </p:nvPr>
        </p:nvGraphicFramePr>
        <p:xfrm>
          <a:off x="2105025" y="1924050"/>
          <a:ext cx="428466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0" name="Equation" r:id="rId18" imgW="1612800" imgH="253800" progId="Equation.3">
                  <p:embed/>
                </p:oleObj>
              </mc:Choice>
              <mc:Fallback>
                <p:oleObj name="Equation" r:id="rId18" imgW="161280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1924050"/>
                        <a:ext cx="4284663" cy="67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7" name="Object 29"/>
          <p:cNvGraphicFramePr>
            <a:graphicFrameLocks noGrp="1" noChangeAspect="1"/>
          </p:cNvGraphicFramePr>
          <p:nvPr>
            <p:ph sz="quarter" idx="3"/>
            <p:custDataLst>
              <p:tags r:id="rId5"/>
            </p:custDataLst>
          </p:nvPr>
        </p:nvGraphicFramePr>
        <p:xfrm>
          <a:off x="2325688" y="3944938"/>
          <a:ext cx="427513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1" name="Equation" r:id="rId20" imgW="3022560" imgH="482400" progId="Equation.3">
                  <p:embed/>
                </p:oleObj>
              </mc:Choice>
              <mc:Fallback>
                <p:oleObj name="Equation" r:id="rId20" imgW="3022560" imgH="4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3944938"/>
                        <a:ext cx="4275137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258888" y="1707356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34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5076825" y="1707356"/>
            <a:ext cx="93503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35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011863" y="1707356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36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7451725" y="1545431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37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516688" y="159901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38" name="Line 1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1258888" y="1545431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39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268538" y="159901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40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348038" y="159901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41" name="Line 1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427538" y="159901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22542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625616" y="1869281"/>
            <a:ext cx="16363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fr-CA" sz="1200">
                <a:latin typeface="Tahoma" pitchFamily="34" charset="0"/>
              </a:rPr>
              <a:t>Valeur nominale (VN)</a:t>
            </a:r>
          </a:p>
        </p:txBody>
      </p:sp>
      <p:grpSp>
        <p:nvGrpSpPr>
          <p:cNvPr id="2" name="Groupe 1"/>
          <p:cNvGrpSpPr/>
          <p:nvPr>
            <p:custDataLst>
              <p:tags r:id="rId16"/>
            </p:custDataLst>
          </p:nvPr>
        </p:nvGrpSpPr>
        <p:grpSpPr>
          <a:xfrm>
            <a:off x="1258888" y="3165872"/>
            <a:ext cx="6818766" cy="916603"/>
            <a:chOff x="1258888" y="3165872"/>
            <a:chExt cx="6818766" cy="916603"/>
          </a:xfrm>
        </p:grpSpPr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>
              <a:off x="1258888" y="3327797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44" name="Line 16"/>
            <p:cNvSpPr>
              <a:spLocks noChangeShapeType="1"/>
            </p:cNvSpPr>
            <p:nvPr/>
          </p:nvSpPr>
          <p:spPr bwMode="auto">
            <a:xfrm>
              <a:off x="5076825" y="3327797"/>
              <a:ext cx="93503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45" name="Line 17"/>
            <p:cNvSpPr>
              <a:spLocks noChangeShapeType="1"/>
            </p:cNvSpPr>
            <p:nvPr/>
          </p:nvSpPr>
          <p:spPr bwMode="auto">
            <a:xfrm>
              <a:off x="6011863" y="3327797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46" name="Line 18"/>
            <p:cNvSpPr>
              <a:spLocks noChangeShapeType="1"/>
            </p:cNvSpPr>
            <p:nvPr/>
          </p:nvSpPr>
          <p:spPr bwMode="auto">
            <a:xfrm>
              <a:off x="7451725" y="316587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47" name="Line 19"/>
            <p:cNvSpPr>
              <a:spLocks noChangeShapeType="1"/>
            </p:cNvSpPr>
            <p:nvPr/>
          </p:nvSpPr>
          <p:spPr bwMode="auto">
            <a:xfrm>
              <a:off x="651668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>
              <a:off x="1258888" y="3165872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>
              <a:off x="22685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50" name="Line 22"/>
            <p:cNvSpPr>
              <a:spLocks noChangeShapeType="1"/>
            </p:cNvSpPr>
            <p:nvPr/>
          </p:nvSpPr>
          <p:spPr bwMode="auto">
            <a:xfrm>
              <a:off x="33480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51" name="Line 23"/>
            <p:cNvSpPr>
              <a:spLocks noChangeShapeType="1"/>
            </p:cNvSpPr>
            <p:nvPr/>
          </p:nvSpPr>
          <p:spPr bwMode="auto">
            <a:xfrm>
              <a:off x="4427538" y="3219450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2552" name="Text Box 24"/>
            <p:cNvSpPr txBox="1">
              <a:spLocks noChangeArrowheads="1"/>
            </p:cNvSpPr>
            <p:nvPr/>
          </p:nvSpPr>
          <p:spPr bwMode="auto">
            <a:xfrm>
              <a:off x="1906589" y="3436144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2553" name="Text Box 25"/>
            <p:cNvSpPr txBox="1">
              <a:spLocks noChangeArrowheads="1"/>
            </p:cNvSpPr>
            <p:nvPr/>
          </p:nvSpPr>
          <p:spPr bwMode="auto">
            <a:xfrm>
              <a:off x="6154739" y="3436144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2554" name="Text Box 26"/>
            <p:cNvSpPr txBox="1">
              <a:spLocks noChangeArrowheads="1"/>
            </p:cNvSpPr>
            <p:nvPr/>
          </p:nvSpPr>
          <p:spPr bwMode="auto">
            <a:xfrm>
              <a:off x="4138614" y="3436144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2555" name="Text Box 27"/>
            <p:cNvSpPr txBox="1">
              <a:spLocks noChangeArrowheads="1"/>
            </p:cNvSpPr>
            <p:nvPr/>
          </p:nvSpPr>
          <p:spPr bwMode="auto">
            <a:xfrm>
              <a:off x="2986089" y="3436144"/>
              <a:ext cx="6799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coupon</a:t>
              </a:r>
            </a:p>
          </p:txBody>
        </p:sp>
        <p:sp>
          <p:nvSpPr>
            <p:cNvPr id="22556" name="Text Box 28"/>
            <p:cNvSpPr txBox="1">
              <a:spLocks noChangeArrowheads="1"/>
            </p:cNvSpPr>
            <p:nvPr/>
          </p:nvSpPr>
          <p:spPr bwMode="auto">
            <a:xfrm>
              <a:off x="6801985" y="3436144"/>
              <a:ext cx="127566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fr-CA" sz="1200">
                  <a:latin typeface="Tahoma" pitchFamily="34" charset="0"/>
                </a:rPr>
                <a:t>Coupon</a:t>
              </a:r>
            </a:p>
            <a:p>
              <a:pPr algn="ctr"/>
              <a:r>
                <a:rPr lang="fr-CA" sz="1200">
                  <a:latin typeface="Tahoma" pitchFamily="34" charset="0"/>
                </a:rPr>
                <a:t>+</a:t>
              </a:r>
            </a:p>
            <a:p>
              <a:pPr algn="ctr"/>
              <a:r>
                <a:rPr lang="fr-CA" sz="1200">
                  <a:latin typeface="Tahoma" pitchFamily="34" charset="0"/>
                </a:rPr>
                <a:t>Valeur nominale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nimBg="1"/>
      <p:bldP spid="22534" grpId="0" animBg="1"/>
      <p:bldP spid="22535" grpId="0" animBg="1"/>
      <p:bldP spid="22536" grpId="0" animBg="1"/>
      <p:bldP spid="22537" grpId="0" animBg="1"/>
      <p:bldP spid="22538" grpId="0" animBg="1"/>
      <p:bldP spid="22539" grpId="0" animBg="1"/>
      <p:bldP spid="22540" grpId="0" animBg="1"/>
      <p:bldP spid="22541" grpId="0" animBg="1"/>
      <p:bldP spid="225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68313" y="195263"/>
            <a:ext cx="8229600" cy="827485"/>
          </a:xfrm>
        </p:spPr>
        <p:txBody>
          <a:bodyPr/>
          <a:lstStyle/>
          <a:p>
            <a:r>
              <a:rPr lang="fr-CA"/>
              <a:t>Obligation: son évaluation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006078"/>
            <a:ext cx="8229600" cy="3923126"/>
          </a:xfrm>
        </p:spPr>
        <p:txBody>
          <a:bodyPr>
            <a:normAutofit fontScale="92500" lnSpcReduction="20000"/>
          </a:bodyPr>
          <a:lstStyle/>
          <a:p>
            <a:pPr marL="177800" indent="-177800" algn="just"/>
            <a:r>
              <a:rPr lang="fr-CA" sz="1900" dirty="0"/>
              <a:t>Exemple de valorisation : une obligation nord-américaine d’une valeur nominale de 1 000 $ porte un taux de coupon de 5 %, et vient à échéance dans exactement 12 ans. Si vous exigez un TRE (taux de rendement à l’échéance) de 8 %, quelle est la valeur au marché de l’obligation? </a:t>
            </a:r>
            <a:br>
              <a:rPr lang="fr-CA" sz="1900" dirty="0"/>
            </a:br>
            <a:r>
              <a:rPr lang="fr-CA" sz="1900" dirty="0"/>
              <a:t>(</a:t>
            </a:r>
            <a:r>
              <a:rPr lang="fr-CA" sz="1900" dirty="0" err="1"/>
              <a:t>rép</a:t>
            </a:r>
            <a:r>
              <a:rPr lang="fr-CA" sz="1900" dirty="0"/>
              <a:t>: 771,30 $)</a:t>
            </a:r>
          </a:p>
          <a:p>
            <a:pPr algn="just"/>
            <a:endParaRPr lang="fr-CA" sz="2400" dirty="0"/>
          </a:p>
          <a:p>
            <a:pPr algn="just"/>
            <a:endParaRPr lang="fr-CA" sz="2400" dirty="0"/>
          </a:p>
          <a:p>
            <a:pPr algn="just"/>
            <a:endParaRPr lang="fr-CA" sz="2400" dirty="0"/>
          </a:p>
          <a:p>
            <a:pPr algn="just"/>
            <a:endParaRPr lang="fr-CA" sz="2400" dirty="0"/>
          </a:p>
          <a:p>
            <a:pPr algn="just">
              <a:buNone/>
            </a:pPr>
            <a:r>
              <a:rPr lang="fr-CA" sz="2400" dirty="0"/>
              <a:t>	</a:t>
            </a:r>
            <a:r>
              <a:rPr lang="fr-CA" sz="2400" b="1" dirty="0">
                <a:solidFill>
                  <a:schemeClr val="accent1"/>
                </a:solidFill>
              </a:rPr>
              <a:t>Note: Sauf indication contraire, l’obligation </a:t>
            </a:r>
            <a:br>
              <a:rPr lang="fr-CA" sz="2400" b="1" dirty="0">
                <a:solidFill>
                  <a:schemeClr val="accent1"/>
                </a:solidFill>
              </a:rPr>
            </a:br>
            <a:r>
              <a:rPr lang="fr-CA" sz="2400" b="1" dirty="0">
                <a:solidFill>
                  <a:schemeClr val="accent1"/>
                </a:solidFill>
              </a:rPr>
              <a:t>(type nord-américaine) verse toujours des </a:t>
            </a:r>
            <a:r>
              <a:rPr lang="fr-CA" sz="2400" b="1" dirty="0">
                <a:solidFill>
                  <a:schemeClr val="accent3"/>
                </a:solidFill>
              </a:rPr>
              <a:t>coupons semestriels</a:t>
            </a:r>
            <a:r>
              <a:rPr lang="fr-CA" sz="2400" b="1" dirty="0">
                <a:solidFill>
                  <a:schemeClr val="accent1"/>
                </a:solidFill>
              </a:rPr>
              <a:t>, donc </a:t>
            </a:r>
            <a:r>
              <a:rPr lang="fr-CA" sz="2400" b="1" dirty="0">
                <a:solidFill>
                  <a:schemeClr val="accent3"/>
                </a:solidFill>
              </a:rPr>
              <a:t>TC et TRE sont des taux nominaux à capitalisation semestrielle</a:t>
            </a:r>
            <a:r>
              <a:rPr lang="fr-CA" sz="2400" b="1" dirty="0">
                <a:solidFill>
                  <a:schemeClr val="accent1"/>
                </a:solidFill>
              </a:rPr>
              <a:t>.</a:t>
            </a:r>
          </a:p>
        </p:txBody>
      </p:sp>
      <p:grpSp>
        <p:nvGrpSpPr>
          <p:cNvPr id="2" name="Groupe 1"/>
          <p:cNvGrpSpPr/>
          <p:nvPr>
            <p:custDataLst>
              <p:tags r:id="rId4"/>
            </p:custDataLst>
          </p:nvPr>
        </p:nvGrpSpPr>
        <p:grpSpPr>
          <a:xfrm>
            <a:off x="1763688" y="2140238"/>
            <a:ext cx="6480861" cy="916603"/>
            <a:chOff x="1428728" y="2463404"/>
            <a:chExt cx="6480861" cy="916603"/>
          </a:xfrm>
        </p:grpSpPr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1428729" y="2625329"/>
              <a:ext cx="38179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57" name="Line 5"/>
            <p:cNvSpPr>
              <a:spLocks noChangeShapeType="1"/>
            </p:cNvSpPr>
            <p:nvPr/>
          </p:nvSpPr>
          <p:spPr bwMode="auto">
            <a:xfrm>
              <a:off x="5246665" y="2625329"/>
              <a:ext cx="93503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6181703" y="2625329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7621565" y="246340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6686528" y="2516982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1428728" y="2463404"/>
              <a:ext cx="0" cy="323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2438378" y="2516982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3517878" y="2516982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>
              <a:off x="4597378" y="2516982"/>
              <a:ext cx="0" cy="216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3565" name="Text Box 13"/>
            <p:cNvSpPr txBox="1">
              <a:spLocks noChangeArrowheads="1"/>
            </p:cNvSpPr>
            <p:nvPr/>
          </p:nvSpPr>
          <p:spPr bwMode="auto">
            <a:xfrm>
              <a:off x="2220890" y="2733676"/>
              <a:ext cx="43473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25$</a:t>
              </a:r>
            </a:p>
          </p:txBody>
        </p:sp>
        <p:sp>
          <p:nvSpPr>
            <p:cNvPr id="23566" name="Text Box 14"/>
            <p:cNvSpPr txBox="1">
              <a:spLocks noChangeArrowheads="1"/>
            </p:cNvSpPr>
            <p:nvPr/>
          </p:nvSpPr>
          <p:spPr bwMode="auto">
            <a:xfrm>
              <a:off x="6470628" y="2733676"/>
              <a:ext cx="43473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25$</a:t>
              </a:r>
            </a:p>
          </p:txBody>
        </p:sp>
        <p:sp>
          <p:nvSpPr>
            <p:cNvPr id="23567" name="Text Box 15"/>
            <p:cNvSpPr txBox="1">
              <a:spLocks noChangeArrowheads="1"/>
            </p:cNvSpPr>
            <p:nvPr/>
          </p:nvSpPr>
          <p:spPr bwMode="auto">
            <a:xfrm>
              <a:off x="4454503" y="2733676"/>
              <a:ext cx="43473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25$</a:t>
              </a:r>
            </a:p>
          </p:txBody>
        </p:sp>
        <p:sp>
          <p:nvSpPr>
            <p:cNvPr id="23568" name="Text Box 16"/>
            <p:cNvSpPr txBox="1">
              <a:spLocks noChangeArrowheads="1"/>
            </p:cNvSpPr>
            <p:nvPr/>
          </p:nvSpPr>
          <p:spPr bwMode="auto">
            <a:xfrm>
              <a:off x="3301978" y="2733676"/>
              <a:ext cx="43473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pitchFamily="34" charset="0"/>
                </a:rPr>
                <a:t>25$</a:t>
              </a:r>
            </a:p>
          </p:txBody>
        </p: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7308142" y="2733676"/>
              <a:ext cx="60144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fr-CA" sz="1200">
                  <a:latin typeface="Tahoma" pitchFamily="34" charset="0"/>
                </a:rPr>
                <a:t>25$</a:t>
              </a:r>
            </a:p>
            <a:p>
              <a:pPr algn="ctr"/>
              <a:r>
                <a:rPr lang="fr-CA" sz="1200">
                  <a:latin typeface="Tahoma" pitchFamily="34" charset="0"/>
                </a:rPr>
                <a:t>+</a:t>
              </a:r>
            </a:p>
            <a:p>
              <a:pPr algn="ctr"/>
              <a:r>
                <a:rPr lang="fr-CA" sz="1200">
                  <a:latin typeface="Tahoma" pitchFamily="34" charset="0"/>
                </a:rPr>
                <a:t>1000$</a:t>
              </a:r>
            </a:p>
          </p:txBody>
        </p:sp>
      </p:grpSp>
      <p:graphicFrame>
        <p:nvGraphicFramePr>
          <p:cNvPr id="23570" name="Object 18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28951854"/>
              </p:ext>
            </p:extLst>
          </p:nvPr>
        </p:nvGraphicFramePr>
        <p:xfrm>
          <a:off x="899592" y="2687509"/>
          <a:ext cx="6452789" cy="81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6" name="Equation" r:id="rId7" imgW="3314520" imgH="482400" progId="Equation.3">
                  <p:embed/>
                </p:oleObj>
              </mc:Choice>
              <mc:Fallback>
                <p:oleObj name="Equation" r:id="rId7" imgW="331452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687509"/>
                        <a:ext cx="6452789" cy="813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7597864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5229054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2786050" y="3161113"/>
            <a:ext cx="0" cy="1232306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 flipV="1">
            <a:off x="1000100" y="3161114"/>
            <a:ext cx="17145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98300263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2786050" y="3161113"/>
            <a:ext cx="0" cy="1232306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 flipV="1">
            <a:off x="1000100" y="3161114"/>
            <a:ext cx="17145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3370934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2" name="Line 8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476375" y="2139553"/>
            <a:ext cx="0" cy="2214563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3" name="Line 9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1000100" y="2143122"/>
            <a:ext cx="433387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ZoneTexte 7"/>
          <p:cNvSpPr txBox="1"/>
          <p:nvPr>
            <p:custDataLst>
              <p:tags r:id="rId7"/>
            </p:custDataLst>
          </p:nvPr>
        </p:nvSpPr>
        <p:spPr>
          <a:xfrm>
            <a:off x="1331640" y="4382828"/>
            <a:ext cx="3766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dirty="0"/>
              <a:t>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7316292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2" name="Line 8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476375" y="2139553"/>
            <a:ext cx="0" cy="2214563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3" name="Line 9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1000100" y="2143122"/>
            <a:ext cx="433387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ZoneTexte 7"/>
          <p:cNvSpPr txBox="1"/>
          <p:nvPr>
            <p:custDataLst>
              <p:tags r:id="rId7"/>
            </p:custDataLst>
          </p:nvPr>
        </p:nvSpPr>
        <p:spPr>
          <a:xfrm>
            <a:off x="1331640" y="4382828"/>
            <a:ext cx="3766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dirty="0"/>
              <a:t>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6812498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4140200" y="3706416"/>
            <a:ext cx="0" cy="6477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1042988" y="3706416"/>
            <a:ext cx="30972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1476375" y="2139553"/>
            <a:ext cx="0" cy="2214563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1000100" y="2143122"/>
            <a:ext cx="433387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4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272089" y="1934766"/>
            <a:ext cx="5918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pitchFamily="34" charset="0"/>
              </a:rPr>
              <a:t>TRE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516689" y="1924050"/>
            <a:ext cx="5212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=&gt;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288213" y="1934766"/>
            <a:ext cx="5613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</a:p>
        </p:txBody>
      </p:sp>
      <p:sp>
        <p:nvSpPr>
          <p:cNvPr id="3175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6011863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8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156325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9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8027988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60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7885113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61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958976" y="2420541"/>
            <a:ext cx="1996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Obligation au pair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Obligation: son évaluation</a:t>
            </a:r>
          </a:p>
        </p:txBody>
      </p:sp>
      <p:graphicFrame>
        <p:nvGraphicFramePr>
          <p:cNvPr id="20" name="Object 2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7844160"/>
              </p:ext>
            </p:extLst>
          </p:nvPr>
        </p:nvGraphicFramePr>
        <p:xfrm>
          <a:off x="179389" y="1059657"/>
          <a:ext cx="8785225" cy="378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3174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908175" y="2625328"/>
            <a:ext cx="0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4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971550" y="2625329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4140200" y="3706416"/>
            <a:ext cx="0" cy="6477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1042988" y="3706416"/>
            <a:ext cx="30972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1476375" y="2139553"/>
            <a:ext cx="0" cy="2214563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1042989" y="2139554"/>
            <a:ext cx="433387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4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272089" y="1934766"/>
            <a:ext cx="5918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TRE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516689" y="1924050"/>
            <a:ext cx="5212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=&gt;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288213" y="1934766"/>
            <a:ext cx="5613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Prix</a:t>
            </a:r>
          </a:p>
        </p:txBody>
      </p:sp>
      <p:sp>
        <p:nvSpPr>
          <p:cNvPr id="3175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6011863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8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156325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59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8027988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60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7885113" y="1924051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31761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958976" y="2420541"/>
            <a:ext cx="1996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Obligation au pair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600201" y="1934766"/>
            <a:ext cx="9589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à prime</a:t>
            </a:r>
          </a:p>
        </p:txBody>
      </p:sp>
      <p:sp>
        <p:nvSpPr>
          <p:cNvPr id="31763" name="Text Box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192589" y="3393282"/>
            <a:ext cx="13548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à escompte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Obligation: autres caractéristiques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229600" cy="3020690"/>
          </a:xfrm>
        </p:spPr>
        <p:txBody>
          <a:bodyPr>
            <a:normAutofit fontScale="92500" lnSpcReduction="10000"/>
          </a:bodyPr>
          <a:lstStyle/>
          <a:p>
            <a:r>
              <a:rPr lang="fr-CA" dirty="0"/>
              <a:t>Obligation avec clauses optionnelles:</a:t>
            </a:r>
          </a:p>
          <a:p>
            <a:pPr marL="269875" lvl="1" indent="0">
              <a:buNone/>
            </a:pPr>
            <a:r>
              <a:rPr lang="fr-CA" sz="2400" dirty="0"/>
              <a:t>Obligation rétractable</a:t>
            </a:r>
          </a:p>
          <a:p>
            <a:pPr marL="446088" lvl="1" indent="-176213">
              <a:buNone/>
            </a:pPr>
            <a:r>
              <a:rPr lang="fr-CA" sz="2400" dirty="0"/>
              <a:t>	</a:t>
            </a:r>
            <a:r>
              <a:rPr lang="fr-CA" sz="2000" dirty="0"/>
              <a:t>Le détenteur peut retourner le titre (prix et période spécifiée)</a:t>
            </a:r>
            <a:endParaRPr lang="fr-CA" sz="2400" dirty="0"/>
          </a:p>
          <a:p>
            <a:pPr marL="269875" lvl="1" indent="0">
              <a:buNone/>
            </a:pPr>
            <a:r>
              <a:rPr lang="fr-CA" sz="2400" dirty="0"/>
              <a:t>Obligation rachetable</a:t>
            </a:r>
          </a:p>
          <a:p>
            <a:pPr marL="446088" lvl="1" indent="-176213">
              <a:buNone/>
            </a:pPr>
            <a:r>
              <a:rPr lang="fr-CA" sz="2400" dirty="0"/>
              <a:t>	</a:t>
            </a:r>
            <a:r>
              <a:rPr lang="fr-CA" sz="2000" dirty="0"/>
              <a:t>L’émetteur peut racheter le titre (prix et période spécifiée)</a:t>
            </a:r>
            <a:endParaRPr lang="fr-CA" sz="2400" dirty="0"/>
          </a:p>
          <a:p>
            <a:pPr marL="269875" lvl="1" indent="0">
              <a:buNone/>
            </a:pPr>
            <a:r>
              <a:rPr lang="fr-CA" sz="2400" dirty="0"/>
              <a:t>Obligation convertible</a:t>
            </a:r>
          </a:p>
          <a:p>
            <a:pPr lvl="1">
              <a:buNone/>
            </a:pPr>
            <a:r>
              <a:rPr lang="fr-CA" sz="2400" dirty="0"/>
              <a:t>	</a:t>
            </a:r>
            <a:r>
              <a:rPr lang="fr-CA" sz="2000" dirty="0"/>
              <a:t>Le détenteur peut convertir le titre en actions (ratio et </a:t>
            </a:r>
            <a:r>
              <a:rPr lang="fr-CA" sz="2000" dirty="0" err="1"/>
              <a:t>pér</a:t>
            </a:r>
            <a:r>
              <a:rPr lang="fr-CA" sz="2000" dirty="0"/>
              <a:t>. spécifiée)</a:t>
            </a:r>
            <a:endParaRPr lang="fr-CA" sz="2400" dirty="0"/>
          </a:p>
          <a:p>
            <a:r>
              <a:rPr lang="fr-CA" dirty="0"/>
              <a:t>Points de base: hausse de 50 points de base = hausse de 0,50 %</a:t>
            </a:r>
          </a:p>
          <a:p>
            <a:r>
              <a:rPr lang="fr-CA" dirty="0"/>
              <a:t>Lecture de la cotation d’une obligation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36468595"/>
              </p:ext>
            </p:extLst>
          </p:nvPr>
        </p:nvGraphicFramePr>
        <p:xfrm>
          <a:off x="562600" y="4248611"/>
          <a:ext cx="8102600" cy="553403"/>
        </p:xfrm>
        <a:graphic>
          <a:graphicData uri="http://schemas.openxmlformats.org/drawingml/2006/table">
            <a:tbl>
              <a:tblPr/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Émetteur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Taux de coupon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Échéance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Cote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TRE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Gouv du QC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8,25%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1</a:t>
                      </a:r>
                      <a:r>
                        <a:rPr kumimoji="0" lang="fr-CA" sz="1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er</a:t>
                      </a: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 août 2028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129.75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pitchFamily="-111" charset="0"/>
                          <a:ea typeface="ＭＳ Ｐゴシック" pitchFamily="-111" charset="-128"/>
                        </a:rPr>
                        <a:t>6.49%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Obligation: autres caractéristiques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7859216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Prix de l’obligation vs caractéristiques</a:t>
            </a:r>
          </a:p>
          <a:p>
            <a:pPr marL="0" indent="0">
              <a:buNone/>
            </a:pPr>
            <a:r>
              <a:rPr lang="fr-CA" sz="1600" dirty="0"/>
              <a:t>Toutes choses étant égales par ailleurs, prix + ou – élevé qu’une obligation traditionnelle:</a:t>
            </a:r>
            <a:endParaRPr lang="fr-CA" sz="2400" u="sng" dirty="0"/>
          </a:p>
          <a:p>
            <a:pPr marL="631825" indent="-273050">
              <a:buFont typeface="Wingdings" panose="05000000000000000000" pitchFamily="2" charset="2"/>
              <a:buChar char="§"/>
            </a:pPr>
            <a:r>
              <a:rPr lang="fr-CA" sz="2400" dirty="0"/>
              <a:t>Option de rétractation	</a:t>
            </a:r>
          </a:p>
          <a:p>
            <a:pPr marL="631825" indent="-273050">
              <a:buFont typeface="Wingdings" panose="05000000000000000000" pitchFamily="2" charset="2"/>
              <a:buChar char="§"/>
            </a:pPr>
            <a:r>
              <a:rPr lang="fr-CA" sz="2400" dirty="0"/>
              <a:t>Option de rachat			</a:t>
            </a:r>
          </a:p>
          <a:p>
            <a:pPr marL="631825" indent="-273050">
              <a:buFont typeface="Wingdings" panose="05000000000000000000" pitchFamily="2" charset="2"/>
              <a:buChar char="§"/>
            </a:pPr>
            <a:r>
              <a:rPr lang="fr-CA" sz="2400" dirty="0"/>
              <a:t>Option de conversion		</a:t>
            </a:r>
          </a:p>
          <a:p>
            <a:pPr marL="631825" indent="-273050">
              <a:buFont typeface="Wingdings" panose="05000000000000000000" pitchFamily="2" charset="2"/>
              <a:buChar char="§"/>
            </a:pPr>
            <a:r>
              <a:rPr lang="fr-CA" sz="2400" dirty="0"/>
              <a:t>Liquidité élevé du titre</a:t>
            </a:r>
          </a:p>
          <a:p>
            <a:pPr marL="631825" indent="-273050">
              <a:buFont typeface="Wingdings" panose="05000000000000000000" pitchFamily="2" charset="2"/>
              <a:buChar char="§"/>
            </a:pPr>
            <a:r>
              <a:rPr lang="fr-CA" sz="2400" dirty="0"/>
              <a:t>Meilleure cote de crédit</a:t>
            </a:r>
          </a:p>
        </p:txBody>
      </p:sp>
      <p:sp>
        <p:nvSpPr>
          <p:cNvPr id="4" name="Espace réservé du contenu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7452320" y="1200151"/>
            <a:ext cx="1009667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fr-CA" sz="2400" u="sng" dirty="0"/>
              <a:t>Prix</a:t>
            </a:r>
          </a:p>
          <a:p>
            <a:pPr marL="0" indent="0" algn="ctr">
              <a:buFont typeface="Arial" pitchFamily="34" charset="0"/>
              <a:buNone/>
            </a:pPr>
            <a:endParaRPr lang="fr-CA" sz="1600" dirty="0"/>
          </a:p>
          <a:p>
            <a:pPr marL="0" indent="0" algn="ctr">
              <a:buFont typeface="Arial" pitchFamily="34" charset="0"/>
              <a:buNone/>
            </a:pPr>
            <a:r>
              <a:rPr lang="fr-CA" sz="2400" dirty="0"/>
              <a:t>+</a:t>
            </a:r>
          </a:p>
          <a:p>
            <a:pPr marL="0" indent="0" algn="ctr">
              <a:buFont typeface="Arial" pitchFamily="34" charset="0"/>
              <a:buNone/>
            </a:pPr>
            <a:r>
              <a:rPr lang="fr-CA" sz="2400" dirty="0"/>
              <a:t>-</a:t>
            </a:r>
          </a:p>
          <a:p>
            <a:pPr marL="0" indent="0" algn="ctr">
              <a:buFont typeface="Arial" pitchFamily="34" charset="0"/>
              <a:buNone/>
            </a:pPr>
            <a:r>
              <a:rPr lang="fr-CA" sz="2400" dirty="0"/>
              <a:t>+</a:t>
            </a:r>
          </a:p>
          <a:p>
            <a:pPr marL="0" indent="0" algn="ctr">
              <a:buFont typeface="Arial" pitchFamily="34" charset="0"/>
              <a:buNone/>
            </a:pPr>
            <a:r>
              <a:rPr lang="fr-CA" sz="2400" dirty="0"/>
              <a:t>+</a:t>
            </a:r>
          </a:p>
          <a:p>
            <a:pPr marL="0" indent="0" algn="ctr">
              <a:buFont typeface="Arial" pitchFamily="34" charset="0"/>
              <a:buNone/>
            </a:pPr>
            <a:r>
              <a:rPr lang="fr-CA" sz="24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1580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Obligation: autres caractéristiques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61584028"/>
              </p:ext>
            </p:extLst>
          </p:nvPr>
        </p:nvGraphicFramePr>
        <p:xfrm>
          <a:off x="479425" y="1419225"/>
          <a:ext cx="818515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752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Obligation: risque de crédit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1800" u="sng" dirty="0"/>
              <a:t>Risque de crédit</a:t>
            </a:r>
            <a:r>
              <a:rPr lang="fr-CA" sz="1800" dirty="0"/>
              <a:t>: représente la probabilité que l’émetteur fasse défaut sur les paiements. Cette probabilité est représentée par une </a:t>
            </a:r>
            <a:r>
              <a:rPr lang="fr-CA" sz="1800" u="sng" dirty="0">
                <a:solidFill>
                  <a:schemeClr val="accent1"/>
                </a:solidFill>
              </a:rPr>
              <a:t>cote de crédit</a:t>
            </a:r>
          </a:p>
          <a:p>
            <a:pPr marL="0" indent="0">
              <a:buNone/>
            </a:pPr>
            <a:endParaRPr lang="fr-CA" u="sng" dirty="0">
              <a:solidFill>
                <a:schemeClr val="accent1"/>
              </a:solidFill>
            </a:endParaRPr>
          </a:p>
          <a:p>
            <a:r>
              <a:rPr lang="fr-CA" sz="2400" dirty="0"/>
              <a:t>Les cotes de crédit sont émises par les agences de crédit</a:t>
            </a:r>
          </a:p>
          <a:p>
            <a:endParaRPr lang="fr-CA" sz="2400" dirty="0"/>
          </a:p>
          <a:p>
            <a:r>
              <a:rPr lang="fr-CA" sz="2400" dirty="0"/>
              <a:t>Les cotes sont révisées selon l’évolution de la firme et l’évolution de l’économie</a:t>
            </a:r>
          </a:p>
        </p:txBody>
      </p:sp>
    </p:spTree>
    <p:extLst>
      <p:ext uri="{BB962C8B-B14F-4D97-AF65-F5344CB8AC3E}">
        <p14:creationId xmlns:p14="http://schemas.microsoft.com/office/powerpoint/2010/main" val="87075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Obligation: risque de</a:t>
            </a:r>
            <a:br>
              <a:rPr lang="fr-CA" dirty="0"/>
            </a:br>
            <a:r>
              <a:rPr lang="fr-CA" dirty="0"/>
              <a:t>crédit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8800" y="1203598"/>
            <a:ext cx="3229104" cy="3738070"/>
          </a:xfrm>
        </p:spPr>
        <p:txBody>
          <a:bodyPr>
            <a:normAutofit fontScale="47500" lnSpcReduction="20000"/>
          </a:bodyPr>
          <a:lstStyle/>
          <a:p>
            <a:r>
              <a:rPr lang="fr-CA" sz="4000" dirty="0"/>
              <a:t>Exemple de cote de crédit selon 3 types d’agence de crédit :</a:t>
            </a:r>
          </a:p>
          <a:p>
            <a:endParaRPr lang="fr-CA" sz="2000" dirty="0"/>
          </a:p>
          <a:p>
            <a:r>
              <a:rPr lang="fr-CA" sz="2800" dirty="0"/>
              <a:t>Standard &amp; </a:t>
            </a:r>
            <a:r>
              <a:rPr lang="fr-CA" sz="2800" dirty="0" err="1"/>
              <a:t>Poor’s</a:t>
            </a:r>
            <a:endParaRPr lang="fr-CA" sz="2800" dirty="0"/>
          </a:p>
          <a:p>
            <a:r>
              <a:rPr lang="fr-CA" sz="2800" dirty="0"/>
              <a:t>Moody’s</a:t>
            </a:r>
          </a:p>
          <a:p>
            <a:r>
              <a:rPr lang="fr-CA" sz="2800" dirty="0" err="1"/>
              <a:t>Fitch</a:t>
            </a:r>
            <a:endParaRPr lang="fr-CA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2000" dirty="0"/>
          </a:p>
          <a:p>
            <a:r>
              <a:rPr lang="fr-CA" sz="4000" dirty="0"/>
              <a:t>Pour l’investisseur : </a:t>
            </a:r>
            <a:br>
              <a:rPr lang="fr-CA" sz="4000" dirty="0"/>
            </a:br>
            <a:r>
              <a:rPr lang="fr-CA" sz="4000" dirty="0"/>
              <a:t>2 catégories</a:t>
            </a:r>
          </a:p>
          <a:p>
            <a:endParaRPr lang="fr-CA" sz="2000" dirty="0"/>
          </a:p>
          <a:p>
            <a:r>
              <a:rPr lang="fr-CA" sz="2800" dirty="0"/>
              <a:t>Obligation de qualité</a:t>
            </a:r>
          </a:p>
          <a:p>
            <a:pPr marL="627063" lvl="1" indent="-169863">
              <a:buFont typeface="Wingdings" panose="05000000000000000000" pitchFamily="2" charset="2"/>
              <a:buChar char="§"/>
            </a:pPr>
            <a:r>
              <a:rPr lang="fr-CA" sz="1800" dirty="0"/>
              <a:t>Investment grade</a:t>
            </a:r>
          </a:p>
          <a:p>
            <a:r>
              <a:rPr lang="fr-CA" sz="2800" dirty="0"/>
              <a:t>Obligation de pacotille</a:t>
            </a:r>
          </a:p>
          <a:p>
            <a:pPr marL="627063" lvl="1" indent="-169863">
              <a:buFont typeface="Wingdings" panose="05000000000000000000" pitchFamily="2" charset="2"/>
              <a:buChar char="§"/>
            </a:pPr>
            <a:r>
              <a:rPr lang="fr-CA" sz="1800" dirty="0"/>
              <a:t>Non-</a:t>
            </a:r>
            <a:r>
              <a:rPr lang="fr-CA" sz="1800" dirty="0" err="1"/>
              <a:t>investment</a:t>
            </a:r>
            <a:r>
              <a:rPr lang="fr-CA" sz="1800" dirty="0"/>
              <a:t> grade</a:t>
            </a:r>
          </a:p>
          <a:p>
            <a:pPr marL="627063" lvl="1" indent="-169863">
              <a:buFont typeface="Wingdings" panose="05000000000000000000" pitchFamily="2" charset="2"/>
              <a:buChar char="§"/>
            </a:pPr>
            <a:r>
              <a:rPr lang="fr-CA" sz="1800" dirty="0"/>
              <a:t>High-</a:t>
            </a:r>
            <a:r>
              <a:rPr lang="fr-CA" sz="1800" dirty="0" err="1"/>
              <a:t>yield</a:t>
            </a:r>
            <a:r>
              <a:rPr lang="fr-CA" sz="1800" dirty="0"/>
              <a:t> bond</a:t>
            </a:r>
          </a:p>
          <a:p>
            <a:pPr marL="627063" lvl="1" indent="-169863">
              <a:buFont typeface="Wingdings" panose="05000000000000000000" pitchFamily="2" charset="2"/>
              <a:buChar char="§"/>
            </a:pPr>
            <a:r>
              <a:rPr lang="fr-CA" sz="1800" dirty="0"/>
              <a:t>Junk bond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algn="r"/>
            <a:r>
              <a:rPr lang="fr-CA" sz="1000" dirty="0"/>
              <a:t>Source: wwwmarketdeal.com</a:t>
            </a:r>
          </a:p>
        </p:txBody>
      </p:sp>
      <p:pic>
        <p:nvPicPr>
          <p:cNvPr id="51206" name="Picture 6" descr="06.13.14 Vito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950" y="432107"/>
            <a:ext cx="466725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940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2759" y="411510"/>
            <a:ext cx="4331030" cy="792088"/>
          </a:xfrm>
        </p:spPr>
        <p:txBody>
          <a:bodyPr>
            <a:normAutofit fontScale="90000"/>
          </a:bodyPr>
          <a:lstStyle/>
          <a:p>
            <a:r>
              <a:rPr lang="fr-CA" dirty="0"/>
              <a:t>Obligation: cote de crédit pour certains pays &amp; entreprises</a:t>
            </a:r>
            <a:br>
              <a:rPr lang="fr-CA" dirty="0"/>
            </a:br>
            <a:r>
              <a:rPr lang="fr-CA" sz="1100" dirty="0"/>
              <a:t>Banque centrale du Canada (2016) et Globe &amp; Mail (2012)</a:t>
            </a:r>
          </a:p>
        </p:txBody>
      </p:sp>
      <p:pic>
        <p:nvPicPr>
          <p:cNvPr id="7" name="Imag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2759" y="1347614"/>
            <a:ext cx="4331030" cy="342160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04048" y="267494"/>
            <a:ext cx="3634168" cy="464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61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Obligation: risque de crédit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199" y="1165994"/>
            <a:ext cx="8229600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Matrice de transition &amp; défauts</a:t>
            </a:r>
            <a:endParaRPr lang="fr-CA" sz="1600" dirty="0"/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726" y="1838445"/>
            <a:ext cx="9026545" cy="2590800"/>
          </a:xfrm>
          <a:prstGeom prst="rect">
            <a:avLst/>
          </a:prstGeom>
        </p:spPr>
      </p:pic>
      <p:sp>
        <p:nvSpPr>
          <p:cNvPr id="5" name="Ellipse 4"/>
          <p:cNvSpPr/>
          <p:nvPr>
            <p:custDataLst>
              <p:tags r:id="rId4"/>
            </p:custDataLst>
          </p:nvPr>
        </p:nvSpPr>
        <p:spPr>
          <a:xfrm>
            <a:off x="8316416" y="1923678"/>
            <a:ext cx="827583" cy="273630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/>
          <p:cNvSpPr/>
          <p:nvPr>
            <p:custDataLst>
              <p:tags r:id="rId5"/>
            </p:custDataLst>
          </p:nvPr>
        </p:nvSpPr>
        <p:spPr>
          <a:xfrm rot="1070362">
            <a:off x="977813" y="3268015"/>
            <a:ext cx="6627639" cy="216024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ZoneTexte 6"/>
          <p:cNvSpPr txBox="1"/>
          <p:nvPr>
            <p:custDataLst>
              <p:tags r:id="rId6"/>
            </p:custDataLst>
          </p:nvPr>
        </p:nvSpPr>
        <p:spPr>
          <a:xfrm>
            <a:off x="7596336" y="1923678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50" dirty="0" err="1">
                <a:solidFill>
                  <a:schemeClr val="accent1"/>
                </a:solidFill>
              </a:rPr>
              <a:t>Whitdrawn</a:t>
            </a:r>
            <a:endParaRPr lang="fr-CA" sz="1050" dirty="0">
              <a:solidFill>
                <a:schemeClr val="accent1"/>
              </a:solidFill>
            </a:endParaRPr>
          </a:p>
        </p:txBody>
      </p:sp>
      <p:sp>
        <p:nvSpPr>
          <p:cNvPr id="8" name="ZoneTexte 7"/>
          <p:cNvSpPr txBox="1"/>
          <p:nvPr>
            <p:custDataLst>
              <p:tags r:id="rId7"/>
            </p:custDataLst>
          </p:nvPr>
        </p:nvSpPr>
        <p:spPr>
          <a:xfrm>
            <a:off x="8454802" y="1929779"/>
            <a:ext cx="674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50" dirty="0">
                <a:solidFill>
                  <a:schemeClr val="accent1"/>
                </a:solidFill>
              </a:rPr>
              <a:t>Défaut</a:t>
            </a:r>
          </a:p>
        </p:txBody>
      </p:sp>
    </p:spTree>
    <p:extLst>
      <p:ext uri="{BB962C8B-B14F-4D97-AF65-F5344CB8AC3E}">
        <p14:creationId xmlns:p14="http://schemas.microsoft.com/office/powerpoint/2010/main" val="51656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Effet Fisher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09604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sz="3000" dirty="0"/>
              <a:t>(1 + </a:t>
            </a:r>
            <a:r>
              <a:rPr lang="fr-FR" sz="3000" dirty="0" err="1"/>
              <a:t>r</a:t>
            </a:r>
            <a:r>
              <a:rPr lang="fr-FR" sz="3000" baseline="-25000" dirty="0" err="1"/>
              <a:t>Nominal</a:t>
            </a:r>
            <a:r>
              <a:rPr lang="fr-FR" sz="3000" dirty="0"/>
              <a:t>) = (1 + </a:t>
            </a:r>
            <a:r>
              <a:rPr lang="fr-FR" sz="3000" dirty="0" err="1"/>
              <a:t>r</a:t>
            </a:r>
            <a:r>
              <a:rPr lang="fr-FR" sz="3000" baseline="-25000" dirty="0" err="1"/>
              <a:t>Réel</a:t>
            </a:r>
            <a:r>
              <a:rPr lang="fr-FR" sz="3000" dirty="0"/>
              <a:t>)(1 + </a:t>
            </a:r>
            <a:r>
              <a:rPr lang="fr-FR" sz="3000" dirty="0" err="1"/>
              <a:t>h</a:t>
            </a:r>
            <a:r>
              <a:rPr lang="fr-FR" sz="3000" baseline="-25000" dirty="0" err="1"/>
              <a:t>Inflation</a:t>
            </a:r>
            <a:r>
              <a:rPr lang="fr-FR" sz="3000" dirty="0"/>
              <a:t>)</a:t>
            </a:r>
          </a:p>
          <a:p>
            <a:pPr marL="0" indent="0" algn="ctr">
              <a:lnSpc>
                <a:spcPct val="90000"/>
              </a:lnSpc>
              <a:buNone/>
            </a:pPr>
            <a:endParaRPr lang="fr-FR" sz="2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fr-FR" sz="2000" dirty="0" err="1"/>
              <a:t>Approx</a:t>
            </a:r>
            <a:r>
              <a:rPr lang="fr-FR" sz="2000" dirty="0"/>
              <a:t>:    </a:t>
            </a:r>
            <a:r>
              <a:rPr lang="fr-FR" sz="2000" dirty="0" err="1"/>
              <a:t>r</a:t>
            </a:r>
            <a:r>
              <a:rPr lang="fr-FR" sz="2000" baseline="-25000" dirty="0" err="1"/>
              <a:t>Nominal</a:t>
            </a:r>
            <a:r>
              <a:rPr lang="fr-FR" sz="2000" dirty="0"/>
              <a:t>   =   </a:t>
            </a:r>
            <a:r>
              <a:rPr lang="fr-FR" sz="2000" dirty="0" err="1"/>
              <a:t>r</a:t>
            </a:r>
            <a:r>
              <a:rPr lang="fr-FR" sz="2000" baseline="-25000" dirty="0" err="1"/>
              <a:t>Réel</a:t>
            </a:r>
            <a:r>
              <a:rPr lang="fr-FR" sz="2000" baseline="-25000"/>
              <a:t>   </a:t>
            </a:r>
            <a:r>
              <a:rPr lang="fr-FR" sz="2000" dirty="0"/>
              <a:t>+</a:t>
            </a:r>
            <a:r>
              <a:rPr lang="fr-FR" sz="2000"/>
              <a:t>    </a:t>
            </a:r>
            <a:r>
              <a:rPr lang="fr-FR" sz="2000" dirty="0" err="1"/>
              <a:t>h</a:t>
            </a:r>
            <a:r>
              <a:rPr lang="fr-FR" sz="2000" baseline="-25000" dirty="0" err="1"/>
              <a:t>Inflation</a:t>
            </a:r>
            <a:endParaRPr lang="fr-FR" sz="2000" dirty="0"/>
          </a:p>
          <a:p>
            <a:pPr lvl="1">
              <a:lnSpc>
                <a:spcPct val="90000"/>
              </a:lnSpc>
            </a:pPr>
            <a:endParaRPr lang="fr-FR" sz="2000" dirty="0"/>
          </a:p>
          <a:p>
            <a:pPr marL="268920" lvl="1" indent="0">
              <a:lnSpc>
                <a:spcPct val="90000"/>
              </a:lnSpc>
              <a:buNone/>
            </a:pPr>
            <a:r>
              <a:rPr lang="fr-FR" sz="2000" dirty="0"/>
              <a:t>Inflation : augmentation des prix dans le temps</a:t>
            </a:r>
          </a:p>
          <a:p>
            <a:pPr marL="268920" lvl="1" indent="0">
              <a:lnSpc>
                <a:spcPct val="90000"/>
              </a:lnSpc>
              <a:buNone/>
            </a:pPr>
            <a:r>
              <a:rPr lang="fr-FR" sz="2000" dirty="0"/>
              <a:t>Rendement réel : rendement obtenu après inflation</a:t>
            </a:r>
          </a:p>
          <a:p>
            <a:pPr marL="268920" lvl="1" indent="0">
              <a:lnSpc>
                <a:spcPct val="90000"/>
              </a:lnSpc>
              <a:buNone/>
            </a:pPr>
            <a:r>
              <a:rPr lang="fr-FR" sz="2000" dirty="0"/>
              <a:t>Rendement nominal : rendement d’un investissement </a:t>
            </a:r>
            <a:r>
              <a:rPr lang="fr-FR" sz="1200" dirty="0"/>
              <a:t>(supposez le annuel)</a:t>
            </a: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Ex.: On place 10 $ pour un an à un taux de 8 % plutôt que de s’acheter un sac de lait qui coûte également 10 $. Un an plus tard, le sac de lait vaut 10,30 $. Décomposez le rendement nominal.</a:t>
            </a:r>
          </a:p>
        </p:txBody>
      </p:sp>
    </p:spTree>
    <p:extLst>
      <p:ext uri="{BB962C8B-B14F-4D97-AF65-F5344CB8AC3E}">
        <p14:creationId xmlns:p14="http://schemas.microsoft.com/office/powerpoint/2010/main" val="287414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1" y="204787"/>
            <a:ext cx="4114799" cy="871538"/>
          </a:xfrm>
        </p:spPr>
        <p:txBody>
          <a:bodyPr/>
          <a:lstStyle/>
          <a:p>
            <a:r>
              <a:rPr lang="fr-CA" dirty="0"/>
              <a:t>Structure à terme des taux d’intérêt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57201" y="1076326"/>
            <a:ext cx="4114799" cy="3518297"/>
          </a:xfrm>
        </p:spPr>
        <p:txBody>
          <a:bodyPr>
            <a:noAutofit/>
          </a:bodyPr>
          <a:lstStyle/>
          <a:p>
            <a:r>
              <a:rPr lang="fr-CA" sz="1400" b="0" cap="none" dirty="0"/>
              <a:t>La courbe des taux d’intérêt représente en quelque sorte l’anticipation des taux d’intérêt dans le futur :</a:t>
            </a:r>
          </a:p>
          <a:p>
            <a:endParaRPr lang="fr-CA" sz="1400" b="0" cap="none" dirty="0"/>
          </a:p>
          <a:p>
            <a:r>
              <a:rPr lang="fr-CA" sz="1400" b="0" u="sng" cap="none" dirty="0">
                <a:solidFill>
                  <a:schemeClr val="accent1"/>
                </a:solidFill>
              </a:rPr>
              <a:t>Courbe normale</a:t>
            </a:r>
            <a:r>
              <a:rPr lang="fr-CA" sz="1400" b="0" cap="none" dirty="0">
                <a:solidFill>
                  <a:schemeClr val="accent1"/>
                </a:solidFill>
              </a:rPr>
              <a:t> </a:t>
            </a:r>
            <a:r>
              <a:rPr lang="fr-CA" sz="1400" b="0" cap="none" dirty="0"/>
              <a:t>: hausse anticipé des taux d’intérêt</a:t>
            </a:r>
          </a:p>
          <a:p>
            <a:endParaRPr lang="fr-CA" sz="1400" b="0" cap="none" dirty="0"/>
          </a:p>
          <a:p>
            <a:r>
              <a:rPr lang="fr-CA" sz="1400" b="0" u="sng" cap="none" dirty="0">
                <a:solidFill>
                  <a:schemeClr val="accent1"/>
                </a:solidFill>
              </a:rPr>
              <a:t>Pentification</a:t>
            </a:r>
            <a:r>
              <a:rPr lang="fr-CA" sz="1400" b="0" cap="none" dirty="0">
                <a:solidFill>
                  <a:schemeClr val="accent1"/>
                </a:solidFill>
              </a:rPr>
              <a:t> </a:t>
            </a:r>
            <a:r>
              <a:rPr lang="fr-CA" sz="1400" b="0" cap="none" dirty="0"/>
              <a:t>: la hausse sera plus marquée qu’initialement anticipée</a:t>
            </a:r>
          </a:p>
          <a:p>
            <a:endParaRPr lang="fr-CA" sz="1400" b="0" cap="none" dirty="0"/>
          </a:p>
          <a:p>
            <a:r>
              <a:rPr lang="fr-CA" sz="1400" b="0" u="sng" cap="none" dirty="0">
                <a:solidFill>
                  <a:schemeClr val="accent1"/>
                </a:solidFill>
              </a:rPr>
              <a:t>Aplatissement</a:t>
            </a:r>
            <a:r>
              <a:rPr lang="fr-CA" sz="1400" b="0" cap="none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CA" sz="1400" b="0" cap="none" dirty="0"/>
              <a:t>: la hausse des taux sera moins marquée qu’initialement anticipée (ou aucune hausse)</a:t>
            </a:r>
          </a:p>
          <a:p>
            <a:endParaRPr lang="fr-CA" sz="1400" b="0" cap="none" dirty="0"/>
          </a:p>
          <a:p>
            <a:r>
              <a:rPr lang="fr-CA" sz="1400" b="0" u="sng" cap="none" dirty="0">
                <a:solidFill>
                  <a:schemeClr val="accent1"/>
                </a:solidFill>
              </a:rPr>
              <a:t>Inversion</a:t>
            </a:r>
            <a:r>
              <a:rPr lang="fr-CA" sz="1400" b="0" cap="none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CA" sz="1400" b="0" cap="none" dirty="0"/>
              <a:t>: réduction anticipé des taux d’intérêt</a:t>
            </a:r>
          </a:p>
        </p:txBody>
      </p:sp>
      <p:pic>
        <p:nvPicPr>
          <p:cNvPr id="11" name="Imag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88024" y="640556"/>
            <a:ext cx="4218409" cy="384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78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1" y="204787"/>
            <a:ext cx="4114799" cy="871538"/>
          </a:xfrm>
        </p:spPr>
        <p:txBody>
          <a:bodyPr/>
          <a:lstStyle/>
          <a:p>
            <a:r>
              <a:rPr lang="fr-CA" dirty="0"/>
              <a:t>Structure à terme des taux d’intérêt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57201" y="1076326"/>
            <a:ext cx="4114799" cy="3518297"/>
          </a:xfrm>
        </p:spPr>
        <p:txBody>
          <a:bodyPr>
            <a:normAutofit lnSpcReduction="10000"/>
          </a:bodyPr>
          <a:lstStyle/>
          <a:p>
            <a:r>
              <a:rPr lang="fr-CA" sz="1800" b="0" cap="none" dirty="0"/>
              <a:t>La structure (courbe) des taux d’intérêt représente le niveau exigé des taux d’intérêt selon l’échéance de l’obligation.</a:t>
            </a:r>
          </a:p>
          <a:p>
            <a:endParaRPr lang="fr-CA" sz="1800" b="0" cap="none" dirty="0"/>
          </a:p>
          <a:p>
            <a:r>
              <a:rPr lang="fr-CA" sz="1800" b="0" cap="none" dirty="0"/>
              <a:t>Graphiquement, on retrouve les éléments du taux de la décomposition de Fisher + la partie risque du taux</a:t>
            </a:r>
          </a:p>
          <a:p>
            <a:endParaRPr lang="fr-CA" sz="1000" b="0" cap="none" dirty="0"/>
          </a:p>
          <a:p>
            <a:r>
              <a:rPr lang="fr-CA" sz="1800" b="0" cap="none" dirty="0"/>
              <a:t>Rendement =	Inflation</a:t>
            </a:r>
          </a:p>
          <a:p>
            <a:pPr marL="1970088" indent="-176213">
              <a:buFont typeface="Symbol" panose="05050102010706020507" pitchFamily="18" charset="2"/>
              <a:buChar char=""/>
            </a:pPr>
            <a:r>
              <a:rPr lang="fr-CA" sz="1800" b="0" cap="none" dirty="0"/>
              <a:t>Taux réel</a:t>
            </a:r>
          </a:p>
          <a:p>
            <a:pPr marL="1970088" indent="-176213">
              <a:buFont typeface="Symbol" panose="05050102010706020507" pitchFamily="18" charset="2"/>
              <a:buChar char=""/>
            </a:pPr>
            <a:r>
              <a:rPr lang="fr-CA" sz="1800" b="0" cap="none" dirty="0"/>
              <a:t>Prime de risque</a:t>
            </a:r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788024" y="123478"/>
            <a:ext cx="3716660" cy="4706611"/>
          </a:xfrm>
          <a:prstGeom prst="rect">
            <a:avLst/>
          </a:prstGeom>
        </p:spPr>
      </p:pic>
      <p:cxnSp>
        <p:nvCxnSpPr>
          <p:cNvPr id="9" name="Connecteur droit 8"/>
          <p:cNvCxnSpPr/>
          <p:nvPr>
            <p:custDataLst>
              <p:tags r:id="rId4"/>
            </p:custDataLst>
          </p:nvPr>
        </p:nvCxnSpPr>
        <p:spPr>
          <a:xfrm flipH="1">
            <a:off x="7524328" y="2355726"/>
            <a:ext cx="50405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>
            <p:custDataLst>
              <p:tags r:id="rId5"/>
            </p:custDataLst>
          </p:nvPr>
        </p:nvCxnSpPr>
        <p:spPr>
          <a:xfrm flipH="1">
            <a:off x="7524328" y="4407462"/>
            <a:ext cx="50405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813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Obligation: la notion de durée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21582"/>
            <a:ext cx="8229600" cy="335041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2000" dirty="0"/>
              <a:t>Représente la </a:t>
            </a:r>
            <a:r>
              <a:rPr lang="fr-CA" sz="2000" dirty="0">
                <a:solidFill>
                  <a:schemeClr val="accent1"/>
                </a:solidFill>
              </a:rPr>
              <a:t>volatilité </a:t>
            </a:r>
            <a:r>
              <a:rPr lang="fr-CA" sz="2000" dirty="0"/>
              <a:t>du prix de l’obligation par rapport aux </a:t>
            </a:r>
            <a:r>
              <a:rPr lang="fr-CA" sz="2000" dirty="0">
                <a:solidFill>
                  <a:schemeClr val="accent1"/>
                </a:solidFill>
              </a:rPr>
              <a:t>taux d’intérêt</a:t>
            </a:r>
            <a:r>
              <a:rPr lang="fr-CA" sz="20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fr-CA" sz="2000" dirty="0"/>
          </a:p>
          <a:p>
            <a:pPr lvl="1">
              <a:lnSpc>
                <a:spcPct val="90000"/>
              </a:lnSpc>
            </a:pPr>
            <a:r>
              <a:rPr lang="fr-CA" sz="2000" dirty="0"/>
              <a:t>Pour un même taux de coupon 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000" dirty="0"/>
              <a:t>	échéance élevée </a:t>
            </a:r>
            <a:r>
              <a:rPr lang="fr-CA" sz="2000" dirty="0">
                <a:sym typeface="Symbol" pitchFamily="18" charset="2"/>
              </a:rPr>
              <a:t> durée </a:t>
            </a:r>
            <a:r>
              <a:rPr lang="fr-CA" sz="2000" dirty="0">
                <a:solidFill>
                  <a:schemeClr val="accent1"/>
                </a:solidFill>
                <a:sym typeface="Symbol" pitchFamily="18" charset="2"/>
              </a:rPr>
              <a:t>élevée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fr-CA" sz="20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Pour une même échéance 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CA" sz="2000" dirty="0">
                <a:sym typeface="Symbol" pitchFamily="18" charset="2"/>
              </a:rPr>
              <a:t>	taux de coupon élevé  durée </a:t>
            </a:r>
            <a:r>
              <a:rPr lang="fr-CA" sz="2000" dirty="0">
                <a:solidFill>
                  <a:schemeClr val="accent1"/>
                </a:solidFill>
                <a:sym typeface="Symbol" pitchFamily="18" charset="2"/>
              </a:rPr>
              <a:t>faible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fr-CA" sz="2000" dirty="0">
              <a:sym typeface="Symbol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2000" dirty="0"/>
              <a:t>Aucun calcul de durée n’est requis.</a:t>
            </a:r>
          </a:p>
        </p:txBody>
      </p:sp>
    </p:spTree>
    <p:extLst>
      <p:ext uri="{BB962C8B-B14F-4D97-AF65-F5344CB8AC3E}">
        <p14:creationId xmlns:p14="http://schemas.microsoft.com/office/powerpoint/2010/main" val="311901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2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Représentation de la durée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075240" cy="453498"/>
          </a:xfrm>
        </p:spPr>
        <p:txBody>
          <a:bodyPr>
            <a:normAutofit/>
          </a:bodyPr>
          <a:lstStyle/>
          <a:p>
            <a:r>
              <a:rPr lang="fr-CA" dirty="0"/>
              <a:t>Durée: </a:t>
            </a:r>
            <a:r>
              <a:rPr lang="fr-CA" dirty="0" err="1"/>
              <a:t>FMs</a:t>
            </a:r>
            <a:r>
              <a:rPr lang="fr-CA" dirty="0"/>
              <a:t> moyens pondérés par le </a:t>
            </a:r>
            <a:r>
              <a:rPr lang="fr-CA" dirty="0">
                <a:solidFill>
                  <a:schemeClr val="accent1"/>
                </a:solidFill>
              </a:rPr>
              <a:t>temps</a:t>
            </a:r>
          </a:p>
        </p:txBody>
      </p:sp>
      <p:cxnSp>
        <p:nvCxnSpPr>
          <p:cNvPr id="5" name="Connecteur droit avec flèche 4"/>
          <p:cNvCxnSpPr/>
          <p:nvPr>
            <p:custDataLst>
              <p:tags r:id="rId3"/>
            </p:custDataLst>
          </p:nvPr>
        </p:nvCxnSpPr>
        <p:spPr>
          <a:xfrm>
            <a:off x="1043608" y="2625756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>
            <p:custDataLst>
              <p:tags r:id="rId4"/>
            </p:custDataLst>
          </p:nvPr>
        </p:nvCxnSpPr>
        <p:spPr>
          <a:xfrm>
            <a:off x="1043608" y="2490741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1403648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2051720" y="2247714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2699792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3382431" y="1673217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5" name="Connecteur droit avec flèche 24"/>
          <p:cNvCxnSpPr/>
          <p:nvPr>
            <p:custDataLst>
              <p:tags r:id="rId9"/>
            </p:custDataLst>
          </p:nvPr>
        </p:nvCxnSpPr>
        <p:spPr>
          <a:xfrm>
            <a:off x="1151620" y="4307428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>
            <p:custDataLst>
              <p:tags r:id="rId10"/>
            </p:custDataLst>
          </p:nvPr>
        </p:nvCxnSpPr>
        <p:spPr>
          <a:xfrm>
            <a:off x="1151620" y="4172413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>
            <p:custDataLst>
              <p:tags r:id="rId11"/>
            </p:custDataLst>
          </p:nvPr>
        </p:nvSpPr>
        <p:spPr>
          <a:xfrm>
            <a:off x="1511660" y="4239920"/>
            <a:ext cx="288032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Rectangle 27"/>
          <p:cNvSpPr/>
          <p:nvPr>
            <p:custDataLst>
              <p:tags r:id="rId12"/>
            </p:custDataLst>
          </p:nvPr>
        </p:nvSpPr>
        <p:spPr>
          <a:xfrm>
            <a:off x="2159732" y="4239920"/>
            <a:ext cx="288032" cy="6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9" name="Rectangle 28"/>
          <p:cNvSpPr/>
          <p:nvPr>
            <p:custDataLst>
              <p:tags r:id="rId13"/>
            </p:custDataLst>
          </p:nvPr>
        </p:nvSpPr>
        <p:spPr>
          <a:xfrm>
            <a:off x="2843808" y="4239920"/>
            <a:ext cx="252028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0" name="Rectangle 29"/>
          <p:cNvSpPr/>
          <p:nvPr>
            <p:custDataLst>
              <p:tags r:id="rId14"/>
            </p:custDataLst>
          </p:nvPr>
        </p:nvSpPr>
        <p:spPr>
          <a:xfrm>
            <a:off x="3490443" y="3354889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7640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Représentation de la durée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075240" cy="453498"/>
          </a:xfrm>
        </p:spPr>
        <p:txBody>
          <a:bodyPr>
            <a:normAutofit/>
          </a:bodyPr>
          <a:lstStyle/>
          <a:p>
            <a:r>
              <a:rPr lang="fr-CA" dirty="0"/>
              <a:t>Durée : </a:t>
            </a:r>
            <a:r>
              <a:rPr lang="fr-CA" dirty="0" err="1"/>
              <a:t>FMs</a:t>
            </a:r>
            <a:r>
              <a:rPr lang="fr-CA" dirty="0"/>
              <a:t> moyens pondérés par le </a:t>
            </a:r>
            <a:r>
              <a:rPr lang="fr-CA" dirty="0">
                <a:solidFill>
                  <a:schemeClr val="accent1"/>
                </a:solidFill>
              </a:rPr>
              <a:t>temps</a:t>
            </a:r>
          </a:p>
        </p:txBody>
      </p:sp>
      <p:cxnSp>
        <p:nvCxnSpPr>
          <p:cNvPr id="5" name="Connecteur droit avec flèche 4"/>
          <p:cNvCxnSpPr/>
          <p:nvPr>
            <p:custDataLst>
              <p:tags r:id="rId3"/>
            </p:custDataLst>
          </p:nvPr>
        </p:nvCxnSpPr>
        <p:spPr>
          <a:xfrm>
            <a:off x="1043608" y="2625756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>
            <p:custDataLst>
              <p:tags r:id="rId4"/>
            </p:custDataLst>
          </p:nvPr>
        </p:nvCxnSpPr>
        <p:spPr>
          <a:xfrm>
            <a:off x="1043608" y="2490741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1403648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2051720" y="2247714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2699792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3382431" y="1673217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5" name="Connecteur droit avec flèche 24"/>
          <p:cNvCxnSpPr/>
          <p:nvPr>
            <p:custDataLst>
              <p:tags r:id="rId9"/>
            </p:custDataLst>
          </p:nvPr>
        </p:nvCxnSpPr>
        <p:spPr>
          <a:xfrm>
            <a:off x="1151620" y="4307428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>
            <p:custDataLst>
              <p:tags r:id="rId10"/>
            </p:custDataLst>
          </p:nvPr>
        </p:nvCxnSpPr>
        <p:spPr>
          <a:xfrm>
            <a:off x="1151620" y="4172413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>
            <p:custDataLst>
              <p:tags r:id="rId11"/>
            </p:custDataLst>
          </p:nvPr>
        </p:nvSpPr>
        <p:spPr>
          <a:xfrm>
            <a:off x="1511660" y="4239920"/>
            <a:ext cx="288032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Rectangle 27"/>
          <p:cNvSpPr/>
          <p:nvPr>
            <p:custDataLst>
              <p:tags r:id="rId12"/>
            </p:custDataLst>
          </p:nvPr>
        </p:nvSpPr>
        <p:spPr>
          <a:xfrm>
            <a:off x="2159732" y="4239920"/>
            <a:ext cx="288032" cy="6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9" name="Rectangle 28"/>
          <p:cNvSpPr/>
          <p:nvPr>
            <p:custDataLst>
              <p:tags r:id="rId13"/>
            </p:custDataLst>
          </p:nvPr>
        </p:nvSpPr>
        <p:spPr>
          <a:xfrm>
            <a:off x="2843808" y="4239920"/>
            <a:ext cx="252028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0" name="Rectangle 29"/>
          <p:cNvSpPr/>
          <p:nvPr>
            <p:custDataLst>
              <p:tags r:id="rId14"/>
            </p:custDataLst>
          </p:nvPr>
        </p:nvSpPr>
        <p:spPr>
          <a:xfrm>
            <a:off x="3490443" y="3354889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6" name="Connecteur droit avec flèche 5"/>
          <p:cNvCxnSpPr>
            <a:cxnSpLocks noChangeAspect="1"/>
          </p:cNvCxnSpPr>
          <p:nvPr>
            <p:custDataLst>
              <p:tags r:id="rId15"/>
            </p:custDataLst>
          </p:nvPr>
        </p:nvCxnSpPr>
        <p:spPr>
          <a:xfrm flipV="1">
            <a:off x="2851611" y="2626872"/>
            <a:ext cx="7804" cy="133900"/>
          </a:xfrm>
          <a:prstGeom prst="straightConnector1">
            <a:avLst/>
          </a:prstGeom>
          <a:ln w="9525">
            <a:solidFill>
              <a:schemeClr val="accent1">
                <a:shade val="95000"/>
                <a:satMod val="105000"/>
                <a:alpha val="65000"/>
              </a:schemeClr>
            </a:solidFill>
            <a:headEnd w="lg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>
            <p:custDataLst>
              <p:tags r:id="rId16"/>
            </p:custDataLst>
          </p:nvPr>
        </p:nvSpPr>
        <p:spPr>
          <a:xfrm>
            <a:off x="1710126" y="2745797"/>
            <a:ext cx="2298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>
                <a:solidFill>
                  <a:schemeClr val="accent1"/>
                </a:solidFill>
              </a:rPr>
              <a:t>Point d’équilibre</a:t>
            </a:r>
          </a:p>
          <a:p>
            <a:r>
              <a:rPr lang="fr-CA" dirty="0">
                <a:solidFill>
                  <a:schemeClr val="accent1"/>
                </a:solidFill>
              </a:rPr>
              <a:t>= Durée de l’obligation</a:t>
            </a:r>
          </a:p>
        </p:txBody>
      </p:sp>
    </p:spTree>
    <p:extLst>
      <p:ext uri="{BB962C8B-B14F-4D97-AF65-F5344CB8AC3E}">
        <p14:creationId xmlns:p14="http://schemas.microsoft.com/office/powerpoint/2010/main" val="1142802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Représentation de la durée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075240" cy="453498"/>
          </a:xfrm>
        </p:spPr>
        <p:txBody>
          <a:bodyPr>
            <a:normAutofit/>
          </a:bodyPr>
          <a:lstStyle/>
          <a:p>
            <a:r>
              <a:rPr lang="fr-CA" dirty="0"/>
              <a:t>Durée: </a:t>
            </a:r>
            <a:r>
              <a:rPr lang="fr-CA" dirty="0" err="1"/>
              <a:t>FMs</a:t>
            </a:r>
            <a:r>
              <a:rPr lang="fr-CA" dirty="0"/>
              <a:t> moyens pondérés par le </a:t>
            </a:r>
            <a:r>
              <a:rPr lang="fr-CA" dirty="0">
                <a:solidFill>
                  <a:schemeClr val="accent1"/>
                </a:solidFill>
              </a:rPr>
              <a:t>temps</a:t>
            </a:r>
          </a:p>
        </p:txBody>
      </p:sp>
      <p:cxnSp>
        <p:nvCxnSpPr>
          <p:cNvPr id="5" name="Connecteur droit avec flèche 4"/>
          <p:cNvCxnSpPr/>
          <p:nvPr>
            <p:custDataLst>
              <p:tags r:id="rId3"/>
            </p:custDataLst>
          </p:nvPr>
        </p:nvCxnSpPr>
        <p:spPr>
          <a:xfrm>
            <a:off x="1043608" y="2625756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>
            <p:custDataLst>
              <p:tags r:id="rId4"/>
            </p:custDataLst>
          </p:nvPr>
        </p:nvCxnSpPr>
        <p:spPr>
          <a:xfrm>
            <a:off x="1043608" y="2490741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1403648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2051720" y="2247714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2699792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3382431" y="1673217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5" name="Connecteur droit avec flèche 24"/>
          <p:cNvCxnSpPr/>
          <p:nvPr>
            <p:custDataLst>
              <p:tags r:id="rId9"/>
            </p:custDataLst>
          </p:nvPr>
        </p:nvCxnSpPr>
        <p:spPr>
          <a:xfrm>
            <a:off x="1151620" y="4307428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>
            <p:custDataLst>
              <p:tags r:id="rId10"/>
            </p:custDataLst>
          </p:nvPr>
        </p:nvCxnSpPr>
        <p:spPr>
          <a:xfrm>
            <a:off x="1151620" y="4172413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>
            <p:custDataLst>
              <p:tags r:id="rId11"/>
            </p:custDataLst>
          </p:nvPr>
        </p:nvSpPr>
        <p:spPr>
          <a:xfrm>
            <a:off x="1511660" y="4239920"/>
            <a:ext cx="288032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Rectangle 27"/>
          <p:cNvSpPr/>
          <p:nvPr>
            <p:custDataLst>
              <p:tags r:id="rId12"/>
            </p:custDataLst>
          </p:nvPr>
        </p:nvSpPr>
        <p:spPr>
          <a:xfrm>
            <a:off x="2159732" y="4239920"/>
            <a:ext cx="288032" cy="6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9" name="Rectangle 28"/>
          <p:cNvSpPr/>
          <p:nvPr>
            <p:custDataLst>
              <p:tags r:id="rId13"/>
            </p:custDataLst>
          </p:nvPr>
        </p:nvSpPr>
        <p:spPr>
          <a:xfrm>
            <a:off x="2843808" y="4239920"/>
            <a:ext cx="252028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0" name="Rectangle 29"/>
          <p:cNvSpPr/>
          <p:nvPr>
            <p:custDataLst>
              <p:tags r:id="rId14"/>
            </p:custDataLst>
          </p:nvPr>
        </p:nvSpPr>
        <p:spPr>
          <a:xfrm>
            <a:off x="3490443" y="3354889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9" name="Groupe 8"/>
          <p:cNvGrpSpPr/>
          <p:nvPr>
            <p:custDataLst>
              <p:tags r:id="rId15"/>
            </p:custDataLst>
          </p:nvPr>
        </p:nvGrpSpPr>
        <p:grpSpPr>
          <a:xfrm>
            <a:off x="2467256" y="2626873"/>
            <a:ext cx="757130" cy="765256"/>
            <a:chOff x="2467256" y="3502496"/>
            <a:chExt cx="757130" cy="1020340"/>
          </a:xfrm>
        </p:grpSpPr>
        <p:cxnSp>
          <p:nvCxnSpPr>
            <p:cNvPr id="6" name="Connecteur droit avec flèche 5"/>
            <p:cNvCxnSpPr>
              <a:cxnSpLocks noChangeAspect="1"/>
              <a:stCxn id="10" idx="0"/>
            </p:cNvCxnSpPr>
            <p:nvPr/>
          </p:nvCxnSpPr>
          <p:spPr>
            <a:xfrm flipV="1">
              <a:off x="2845821" y="3502496"/>
              <a:ext cx="13594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/>
            <p:cNvSpPr txBox="1"/>
            <p:nvPr/>
          </p:nvSpPr>
          <p:spPr>
            <a:xfrm>
              <a:off x="2467256" y="4030394"/>
              <a:ext cx="75713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13" name="Groupe 12"/>
          <p:cNvGrpSpPr/>
          <p:nvPr>
            <p:custDataLst>
              <p:tags r:id="rId16"/>
            </p:custDataLst>
          </p:nvPr>
        </p:nvGrpSpPr>
        <p:grpSpPr>
          <a:xfrm>
            <a:off x="2959460" y="4307428"/>
            <a:ext cx="757130" cy="625889"/>
            <a:chOff x="2959460" y="4307428"/>
            <a:chExt cx="757130" cy="625889"/>
          </a:xfrm>
        </p:grpSpPr>
        <p:cxnSp>
          <p:nvCxnSpPr>
            <p:cNvPr id="19" name="Connecteur droit avec flèche 18"/>
            <p:cNvCxnSpPr>
              <a:cxnSpLocks noChangeAspect="1"/>
              <a:stCxn id="20" idx="0"/>
            </p:cNvCxnSpPr>
            <p:nvPr/>
          </p:nvCxnSpPr>
          <p:spPr>
            <a:xfrm flipV="1">
              <a:off x="3338025" y="4307428"/>
              <a:ext cx="0" cy="256557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/>
            <p:cNvSpPr txBox="1"/>
            <p:nvPr/>
          </p:nvSpPr>
          <p:spPr>
            <a:xfrm>
              <a:off x="2959460" y="4563985"/>
              <a:ext cx="757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440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Représentation de la durée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200151"/>
            <a:ext cx="8075240" cy="453498"/>
          </a:xfrm>
        </p:spPr>
        <p:txBody>
          <a:bodyPr>
            <a:normAutofit/>
          </a:bodyPr>
          <a:lstStyle/>
          <a:p>
            <a:r>
              <a:rPr lang="fr-CA" dirty="0"/>
              <a:t>Durée: </a:t>
            </a:r>
            <a:r>
              <a:rPr lang="fr-CA" dirty="0" err="1"/>
              <a:t>FMs</a:t>
            </a:r>
            <a:r>
              <a:rPr lang="fr-CA" dirty="0"/>
              <a:t> moyens pondérés par le </a:t>
            </a:r>
            <a:r>
              <a:rPr lang="fr-CA" dirty="0">
                <a:solidFill>
                  <a:schemeClr val="accent1"/>
                </a:solidFill>
              </a:rPr>
              <a:t>temps</a:t>
            </a:r>
          </a:p>
        </p:txBody>
      </p:sp>
      <p:cxnSp>
        <p:nvCxnSpPr>
          <p:cNvPr id="5" name="Connecteur droit avec flèche 4"/>
          <p:cNvCxnSpPr/>
          <p:nvPr>
            <p:custDataLst>
              <p:tags r:id="rId3"/>
            </p:custDataLst>
          </p:nvPr>
        </p:nvCxnSpPr>
        <p:spPr>
          <a:xfrm>
            <a:off x="1043608" y="2625756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>
            <p:custDataLst>
              <p:tags r:id="rId4"/>
            </p:custDataLst>
          </p:nvPr>
        </p:nvCxnSpPr>
        <p:spPr>
          <a:xfrm>
            <a:off x="1043608" y="2490741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1403648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2051720" y="2247714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2699792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3382431" y="1673217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5" name="Connecteur droit avec flèche 24"/>
          <p:cNvCxnSpPr/>
          <p:nvPr>
            <p:custDataLst>
              <p:tags r:id="rId9"/>
            </p:custDataLst>
          </p:nvPr>
        </p:nvCxnSpPr>
        <p:spPr>
          <a:xfrm>
            <a:off x="1151620" y="4307428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>
            <p:custDataLst>
              <p:tags r:id="rId10"/>
            </p:custDataLst>
          </p:nvPr>
        </p:nvCxnSpPr>
        <p:spPr>
          <a:xfrm>
            <a:off x="1151620" y="4172413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>
            <p:custDataLst>
              <p:tags r:id="rId11"/>
            </p:custDataLst>
          </p:nvPr>
        </p:nvSpPr>
        <p:spPr>
          <a:xfrm>
            <a:off x="1511660" y="4239920"/>
            <a:ext cx="288032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Rectangle 27"/>
          <p:cNvSpPr/>
          <p:nvPr>
            <p:custDataLst>
              <p:tags r:id="rId12"/>
            </p:custDataLst>
          </p:nvPr>
        </p:nvSpPr>
        <p:spPr>
          <a:xfrm>
            <a:off x="2159732" y="4239920"/>
            <a:ext cx="288032" cy="6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9" name="Rectangle 28"/>
          <p:cNvSpPr/>
          <p:nvPr>
            <p:custDataLst>
              <p:tags r:id="rId13"/>
            </p:custDataLst>
          </p:nvPr>
        </p:nvSpPr>
        <p:spPr>
          <a:xfrm>
            <a:off x="2843808" y="4239920"/>
            <a:ext cx="252028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0" name="Rectangle 29"/>
          <p:cNvSpPr/>
          <p:nvPr>
            <p:custDataLst>
              <p:tags r:id="rId14"/>
            </p:custDataLst>
          </p:nvPr>
        </p:nvSpPr>
        <p:spPr>
          <a:xfrm>
            <a:off x="3490443" y="3354889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33" name="Connecteur droit avec flèche 32"/>
          <p:cNvCxnSpPr/>
          <p:nvPr>
            <p:custDataLst>
              <p:tags r:id="rId15"/>
            </p:custDataLst>
          </p:nvPr>
        </p:nvCxnSpPr>
        <p:spPr>
          <a:xfrm>
            <a:off x="4932040" y="2625756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>
            <p:custDataLst>
              <p:tags r:id="rId16"/>
            </p:custDataLst>
          </p:nvPr>
        </p:nvCxnSpPr>
        <p:spPr>
          <a:xfrm>
            <a:off x="4932040" y="2490741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>
            <p:custDataLst>
              <p:tags r:id="rId17"/>
            </p:custDataLst>
          </p:nvPr>
        </p:nvSpPr>
        <p:spPr>
          <a:xfrm>
            <a:off x="5292080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6" name="Rectangle 35"/>
          <p:cNvSpPr/>
          <p:nvPr>
            <p:custDataLst>
              <p:tags r:id="rId18"/>
            </p:custDataLst>
          </p:nvPr>
        </p:nvSpPr>
        <p:spPr>
          <a:xfrm>
            <a:off x="5940152" y="2247714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7" name="Rectangle 36"/>
          <p:cNvSpPr/>
          <p:nvPr>
            <p:custDataLst>
              <p:tags r:id="rId19"/>
            </p:custDataLst>
          </p:nvPr>
        </p:nvSpPr>
        <p:spPr>
          <a:xfrm>
            <a:off x="6588224" y="224771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8" name="Rectangle 37"/>
          <p:cNvSpPr/>
          <p:nvPr>
            <p:custDataLst>
              <p:tags r:id="rId20"/>
            </p:custDataLst>
          </p:nvPr>
        </p:nvSpPr>
        <p:spPr>
          <a:xfrm>
            <a:off x="7270863" y="1673217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39" name="Connecteur droit avec flèche 38"/>
          <p:cNvCxnSpPr/>
          <p:nvPr>
            <p:custDataLst>
              <p:tags r:id="rId21"/>
            </p:custDataLst>
          </p:nvPr>
        </p:nvCxnSpPr>
        <p:spPr>
          <a:xfrm>
            <a:off x="4932040" y="4282692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>
            <p:custDataLst>
              <p:tags r:id="rId22"/>
            </p:custDataLst>
          </p:nvPr>
        </p:nvCxnSpPr>
        <p:spPr>
          <a:xfrm>
            <a:off x="4932040" y="4147677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>
            <p:custDataLst>
              <p:tags r:id="rId23"/>
            </p:custDataLst>
          </p:nvPr>
        </p:nvSpPr>
        <p:spPr>
          <a:xfrm>
            <a:off x="5292080" y="3904650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2" name="Rectangle 41"/>
          <p:cNvSpPr/>
          <p:nvPr>
            <p:custDataLst>
              <p:tags r:id="rId24"/>
            </p:custDataLst>
          </p:nvPr>
        </p:nvSpPr>
        <p:spPr>
          <a:xfrm>
            <a:off x="5940152" y="3904650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3" name="Rectangle 42"/>
          <p:cNvSpPr/>
          <p:nvPr>
            <p:custDataLst>
              <p:tags r:id="rId25"/>
            </p:custDataLst>
          </p:nvPr>
        </p:nvSpPr>
        <p:spPr>
          <a:xfrm>
            <a:off x="6588224" y="3354889"/>
            <a:ext cx="288032" cy="92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31" name="Groupe 30"/>
          <p:cNvGrpSpPr/>
          <p:nvPr>
            <p:custDataLst>
              <p:tags r:id="rId26"/>
            </p:custDataLst>
          </p:nvPr>
        </p:nvGrpSpPr>
        <p:grpSpPr>
          <a:xfrm>
            <a:off x="2467256" y="2626873"/>
            <a:ext cx="757130" cy="765256"/>
            <a:chOff x="2467256" y="3502496"/>
            <a:chExt cx="757130" cy="1020340"/>
          </a:xfrm>
        </p:grpSpPr>
        <p:cxnSp>
          <p:nvCxnSpPr>
            <p:cNvPr id="32" name="Connecteur droit avec flèche 31"/>
            <p:cNvCxnSpPr>
              <a:cxnSpLocks noChangeAspect="1"/>
              <a:stCxn id="45" idx="0"/>
            </p:cNvCxnSpPr>
            <p:nvPr/>
          </p:nvCxnSpPr>
          <p:spPr>
            <a:xfrm flipV="1">
              <a:off x="2845821" y="3502496"/>
              <a:ext cx="13594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ZoneTexte 44"/>
            <p:cNvSpPr txBox="1"/>
            <p:nvPr/>
          </p:nvSpPr>
          <p:spPr>
            <a:xfrm>
              <a:off x="2467256" y="4030394"/>
              <a:ext cx="75713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46" name="Groupe 45"/>
          <p:cNvGrpSpPr/>
          <p:nvPr>
            <p:custDataLst>
              <p:tags r:id="rId27"/>
            </p:custDataLst>
          </p:nvPr>
        </p:nvGrpSpPr>
        <p:grpSpPr>
          <a:xfrm>
            <a:off x="2969822" y="4307428"/>
            <a:ext cx="757130" cy="682514"/>
            <a:chOff x="2969822" y="5632908"/>
            <a:chExt cx="757130" cy="1020339"/>
          </a:xfrm>
        </p:grpSpPr>
        <p:cxnSp>
          <p:nvCxnSpPr>
            <p:cNvPr id="47" name="Connecteur droit avec flèche 46"/>
            <p:cNvCxnSpPr>
              <a:cxnSpLocks noChangeAspect="1"/>
              <a:stCxn id="48" idx="0"/>
            </p:cNvCxnSpPr>
            <p:nvPr/>
          </p:nvCxnSpPr>
          <p:spPr>
            <a:xfrm flipV="1">
              <a:off x="3348387" y="5632908"/>
              <a:ext cx="13594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ZoneTexte 47"/>
            <p:cNvSpPr txBox="1"/>
            <p:nvPr/>
          </p:nvSpPr>
          <p:spPr>
            <a:xfrm>
              <a:off x="2969822" y="6160805"/>
              <a:ext cx="75713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49" name="Groupe 48"/>
          <p:cNvGrpSpPr/>
          <p:nvPr>
            <p:custDataLst>
              <p:tags r:id="rId28"/>
            </p:custDataLst>
          </p:nvPr>
        </p:nvGrpSpPr>
        <p:grpSpPr>
          <a:xfrm>
            <a:off x="6353675" y="2628050"/>
            <a:ext cx="757130" cy="765256"/>
            <a:chOff x="2969822" y="5750982"/>
            <a:chExt cx="757130" cy="1020340"/>
          </a:xfrm>
        </p:grpSpPr>
        <p:cxnSp>
          <p:nvCxnSpPr>
            <p:cNvPr id="50" name="Connecteur droit avec flèche 49"/>
            <p:cNvCxnSpPr>
              <a:cxnSpLocks noChangeAspect="1"/>
              <a:stCxn id="51" idx="0"/>
            </p:cNvCxnSpPr>
            <p:nvPr/>
          </p:nvCxnSpPr>
          <p:spPr>
            <a:xfrm flipV="1">
              <a:off x="3348387" y="5750982"/>
              <a:ext cx="13594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ZoneTexte 50"/>
            <p:cNvSpPr txBox="1"/>
            <p:nvPr/>
          </p:nvSpPr>
          <p:spPr>
            <a:xfrm>
              <a:off x="2969822" y="6278880"/>
              <a:ext cx="75713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52" name="Groupe 51"/>
          <p:cNvGrpSpPr/>
          <p:nvPr>
            <p:custDataLst>
              <p:tags r:id="rId29"/>
            </p:custDataLst>
          </p:nvPr>
        </p:nvGrpSpPr>
        <p:grpSpPr>
          <a:xfrm>
            <a:off x="5940152" y="4290108"/>
            <a:ext cx="757130" cy="699834"/>
            <a:chOff x="2969822" y="5750982"/>
            <a:chExt cx="757130" cy="1020340"/>
          </a:xfrm>
        </p:grpSpPr>
        <p:cxnSp>
          <p:nvCxnSpPr>
            <p:cNvPr id="53" name="Connecteur droit avec flèche 52"/>
            <p:cNvCxnSpPr>
              <a:cxnSpLocks noChangeAspect="1"/>
              <a:stCxn id="54" idx="0"/>
            </p:cNvCxnSpPr>
            <p:nvPr/>
          </p:nvCxnSpPr>
          <p:spPr>
            <a:xfrm flipV="1">
              <a:off x="3348387" y="5750982"/>
              <a:ext cx="13594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ZoneTexte 53"/>
            <p:cNvSpPr txBox="1"/>
            <p:nvPr/>
          </p:nvSpPr>
          <p:spPr>
            <a:xfrm>
              <a:off x="2969822" y="6278880"/>
              <a:ext cx="75713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73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Pour un gestionnaire de PF obligataire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479425" y="1419225"/>
          <a:ext cx="818515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25" name="Groupe 24"/>
          <p:cNvGrpSpPr/>
          <p:nvPr>
            <p:custDataLst>
              <p:tags r:id="rId3"/>
            </p:custDataLst>
          </p:nvPr>
        </p:nvGrpSpPr>
        <p:grpSpPr>
          <a:xfrm>
            <a:off x="611560" y="1588773"/>
            <a:ext cx="1656184" cy="1169224"/>
            <a:chOff x="755576" y="1466847"/>
            <a:chExt cx="1368152" cy="1169224"/>
          </a:xfrm>
        </p:grpSpPr>
        <p:grpSp>
          <p:nvGrpSpPr>
            <p:cNvPr id="16" name="Groupe 15"/>
            <p:cNvGrpSpPr/>
            <p:nvPr/>
          </p:nvGrpSpPr>
          <p:grpSpPr>
            <a:xfrm>
              <a:off x="755576" y="1466847"/>
              <a:ext cx="1368152" cy="888879"/>
              <a:chOff x="755576" y="3252553"/>
              <a:chExt cx="1368152" cy="888879"/>
            </a:xfrm>
          </p:grpSpPr>
          <p:cxnSp>
            <p:nvCxnSpPr>
              <p:cNvPr id="17" name="Connecteur droit 16"/>
              <p:cNvCxnSpPr/>
              <p:nvPr/>
            </p:nvCxnSpPr>
            <p:spPr>
              <a:xfrm>
                <a:off x="755576" y="3939902"/>
                <a:ext cx="1368152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827584" y="3795886"/>
                <a:ext cx="72008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187624" y="3788466"/>
                <a:ext cx="72008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554210" y="3795886"/>
                <a:ext cx="65462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1908847" y="3252553"/>
                <a:ext cx="60853" cy="6546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cxnSp>
            <p:nvCxnSpPr>
              <p:cNvPr id="22" name="Connecteur droit avec flèche 21"/>
              <p:cNvCxnSpPr/>
              <p:nvPr/>
            </p:nvCxnSpPr>
            <p:spPr>
              <a:xfrm flipV="1">
                <a:off x="1691680" y="3939902"/>
                <a:ext cx="0" cy="20153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ZoneTexte 22"/>
            <p:cNvSpPr txBox="1"/>
            <p:nvPr/>
          </p:nvSpPr>
          <p:spPr>
            <a:xfrm>
              <a:off x="1553821" y="2328294"/>
              <a:ext cx="330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b="1" dirty="0">
                  <a:solidFill>
                    <a:schemeClr val="tx2"/>
                  </a:solidFill>
                </a:rPr>
                <a:t>D</a:t>
              </a:r>
            </a:p>
          </p:txBody>
        </p:sp>
      </p:grpSp>
      <p:grpSp>
        <p:nvGrpSpPr>
          <p:cNvPr id="44" name="Groupe 43"/>
          <p:cNvGrpSpPr/>
          <p:nvPr>
            <p:custDataLst>
              <p:tags r:id="rId4"/>
            </p:custDataLst>
          </p:nvPr>
        </p:nvGrpSpPr>
        <p:grpSpPr>
          <a:xfrm>
            <a:off x="611560" y="3080478"/>
            <a:ext cx="1656184" cy="1201955"/>
            <a:chOff x="755576" y="1434116"/>
            <a:chExt cx="1368152" cy="1201955"/>
          </a:xfrm>
        </p:grpSpPr>
        <p:grpSp>
          <p:nvGrpSpPr>
            <p:cNvPr id="45" name="Groupe 44"/>
            <p:cNvGrpSpPr/>
            <p:nvPr/>
          </p:nvGrpSpPr>
          <p:grpSpPr>
            <a:xfrm>
              <a:off x="755576" y="1434116"/>
              <a:ext cx="1368152" cy="921610"/>
              <a:chOff x="755576" y="3219822"/>
              <a:chExt cx="1368152" cy="921610"/>
            </a:xfrm>
          </p:grpSpPr>
          <p:cxnSp>
            <p:nvCxnSpPr>
              <p:cNvPr id="47" name="Connecteur droit 46"/>
              <p:cNvCxnSpPr/>
              <p:nvPr/>
            </p:nvCxnSpPr>
            <p:spPr>
              <a:xfrm>
                <a:off x="755576" y="3939902"/>
                <a:ext cx="1368152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>
                <a:off x="827584" y="3795886"/>
                <a:ext cx="72008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1187624" y="3788466"/>
                <a:ext cx="72008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1554210" y="3795886"/>
                <a:ext cx="65462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1908847" y="3219822"/>
                <a:ext cx="60853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cxnSp>
            <p:nvCxnSpPr>
              <p:cNvPr id="52" name="Connecteur droit avec flèche 51"/>
              <p:cNvCxnSpPr/>
              <p:nvPr/>
            </p:nvCxnSpPr>
            <p:spPr>
              <a:xfrm flipV="1">
                <a:off x="1691680" y="3939902"/>
                <a:ext cx="0" cy="20153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ZoneTexte 45"/>
            <p:cNvSpPr txBox="1"/>
            <p:nvPr/>
          </p:nvSpPr>
          <p:spPr>
            <a:xfrm>
              <a:off x="1553821" y="2328294"/>
              <a:ext cx="330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b="1" dirty="0">
                  <a:solidFill>
                    <a:schemeClr val="tx2"/>
                  </a:solidFill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3916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Deux risques à ne pas confondre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70829228"/>
              </p:ext>
            </p:extLst>
          </p:nvPr>
        </p:nvGraphicFramePr>
        <p:xfrm>
          <a:off x="479425" y="1419225"/>
          <a:ext cx="818515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cxnSp>
        <p:nvCxnSpPr>
          <p:cNvPr id="6" name="Connecteur droit avec flèche 5"/>
          <p:cNvCxnSpPr/>
          <p:nvPr>
            <p:custDataLst>
              <p:tags r:id="rId3"/>
            </p:custDataLst>
          </p:nvPr>
        </p:nvCxnSpPr>
        <p:spPr>
          <a:xfrm>
            <a:off x="827584" y="2521197"/>
            <a:ext cx="1296144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>
            <p:custDataLst>
              <p:tags r:id="rId4"/>
            </p:custDataLst>
          </p:nvPr>
        </p:nvCxnSpPr>
        <p:spPr>
          <a:xfrm flipV="1">
            <a:off x="827584" y="1657101"/>
            <a:ext cx="0" cy="86409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rme libre 9"/>
          <p:cNvSpPr/>
          <p:nvPr>
            <p:custDataLst>
              <p:tags r:id="rId5"/>
            </p:custDataLst>
          </p:nvPr>
        </p:nvSpPr>
        <p:spPr>
          <a:xfrm>
            <a:off x="1023257" y="1711242"/>
            <a:ext cx="838200" cy="696686"/>
          </a:xfrm>
          <a:custGeom>
            <a:avLst/>
            <a:gdLst>
              <a:gd name="connsiteX0" fmla="*/ 0 w 838200"/>
              <a:gd name="connsiteY0" fmla="*/ 0 h 696686"/>
              <a:gd name="connsiteX1" fmla="*/ 141514 w 838200"/>
              <a:gd name="connsiteY1" fmla="*/ 468086 h 696686"/>
              <a:gd name="connsiteX2" fmla="*/ 838200 w 838200"/>
              <a:gd name="connsiteY2" fmla="*/ 696686 h 6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696686">
                <a:moveTo>
                  <a:pt x="0" y="0"/>
                </a:moveTo>
                <a:cubicBezTo>
                  <a:pt x="907" y="175986"/>
                  <a:pt x="1814" y="351972"/>
                  <a:pt x="141514" y="468086"/>
                </a:cubicBezTo>
                <a:cubicBezTo>
                  <a:pt x="281214" y="584200"/>
                  <a:pt x="725714" y="660400"/>
                  <a:pt x="838200" y="69668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2" name="Connecteur droit 11"/>
          <p:cNvCxnSpPr/>
          <p:nvPr>
            <p:custDataLst>
              <p:tags r:id="rId6"/>
            </p:custDataLst>
          </p:nvPr>
        </p:nvCxnSpPr>
        <p:spPr>
          <a:xfrm>
            <a:off x="755576" y="3939902"/>
            <a:ext cx="136815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827584" y="3795886"/>
            <a:ext cx="7200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/>
          <p:cNvSpPr/>
          <p:nvPr>
            <p:custDataLst>
              <p:tags r:id="rId8"/>
            </p:custDataLst>
          </p:nvPr>
        </p:nvSpPr>
        <p:spPr>
          <a:xfrm>
            <a:off x="1187624" y="3788466"/>
            <a:ext cx="7200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/>
          <p:cNvSpPr/>
          <p:nvPr>
            <p:custDataLst>
              <p:tags r:id="rId9"/>
            </p:custDataLst>
          </p:nvPr>
        </p:nvSpPr>
        <p:spPr>
          <a:xfrm>
            <a:off x="1554210" y="3795886"/>
            <a:ext cx="6546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1908847" y="3219822"/>
            <a:ext cx="60853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7" name="Connecteur droit avec flèche 16"/>
          <p:cNvCxnSpPr/>
          <p:nvPr>
            <p:custDataLst>
              <p:tags r:id="rId11"/>
            </p:custDataLst>
          </p:nvPr>
        </p:nvCxnSpPr>
        <p:spPr>
          <a:xfrm flipV="1">
            <a:off x="1691680" y="3939902"/>
            <a:ext cx="0" cy="2796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929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1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5911" y="1172381"/>
            <a:ext cx="8229600" cy="37036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sz="2000" dirty="0"/>
              <a:t>Il y a 6 ans, une obligation de type nord-américaine a été émise aux conditions suivantes:</a:t>
            </a:r>
          </a:p>
          <a:p>
            <a:pPr marL="1082675" indent="-365125">
              <a:buFont typeface="Wingdings" pitchFamily="2" charset="2"/>
              <a:buChar char="§"/>
            </a:pPr>
            <a:r>
              <a:rPr lang="fr-CA" sz="2000" dirty="0"/>
              <a:t>Échéance : 20 ans</a:t>
            </a:r>
          </a:p>
          <a:p>
            <a:pPr marL="1082675" indent="-365125">
              <a:buFont typeface="Wingdings" pitchFamily="2" charset="2"/>
              <a:buChar char="§"/>
            </a:pPr>
            <a:r>
              <a:rPr lang="fr-CA" sz="2000" dirty="0"/>
              <a:t>Taux de rendement à l’échéance : 8 %</a:t>
            </a:r>
          </a:p>
          <a:p>
            <a:pPr marL="1082675" indent="-365125">
              <a:buFont typeface="Wingdings" pitchFamily="2" charset="2"/>
              <a:buChar char="§"/>
            </a:pPr>
            <a:r>
              <a:rPr lang="fr-CA" sz="2000" dirty="0"/>
              <a:t>Valeur nominale : 1 000 $</a:t>
            </a:r>
          </a:p>
          <a:p>
            <a:pPr marL="1082675" indent="-365125">
              <a:buFont typeface="Wingdings" pitchFamily="2" charset="2"/>
              <a:buChar char="§"/>
            </a:pPr>
            <a:endParaRPr lang="fr-CA" sz="1800" dirty="0"/>
          </a:p>
          <a:p>
            <a:pPr marL="182563" indent="-182563"/>
            <a:r>
              <a:rPr lang="fr-CA" sz="2000" dirty="0"/>
              <a:t>Quel est le taux de coupon </a:t>
            </a:r>
            <a:r>
              <a:rPr lang="fr-CA" sz="1400" dirty="0"/>
              <a:t>(probable)</a:t>
            </a:r>
            <a:r>
              <a:rPr lang="fr-CA" sz="2000" dirty="0"/>
              <a:t>?</a:t>
            </a:r>
          </a:p>
          <a:p>
            <a:pPr marL="182563" indent="-182563"/>
            <a:r>
              <a:rPr lang="fr-CA" sz="2000" dirty="0"/>
              <a:t>Quel était alors le prix au marché </a:t>
            </a:r>
            <a:r>
              <a:rPr lang="fr-CA" sz="1400" dirty="0"/>
              <a:t>(probable)</a:t>
            </a:r>
            <a:r>
              <a:rPr lang="fr-CA" sz="2000" dirty="0"/>
              <a:t>?</a:t>
            </a:r>
          </a:p>
          <a:p>
            <a:pPr marL="182563" indent="-182563"/>
            <a:r>
              <a:rPr lang="fr-CA" sz="2000" dirty="0"/>
              <a:t>Quel est le prix si le TRE est de 9,5 %? </a:t>
            </a:r>
            <a:r>
              <a:rPr lang="fr-CA" sz="2000" dirty="0">
                <a:solidFill>
                  <a:schemeClr val="bg2">
                    <a:lumMod val="90000"/>
                  </a:schemeClr>
                </a:solidFill>
              </a:rPr>
              <a:t>(889,35$)</a:t>
            </a:r>
          </a:p>
          <a:p>
            <a:pPr marL="182563" indent="-182563"/>
            <a:r>
              <a:rPr lang="fr-CA" sz="2000" dirty="0"/>
              <a:t>À combien les taux (TRE) devrait-il se situer pour que l’obligation se transige à 1 030 $ </a:t>
            </a:r>
            <a:r>
              <a:rPr lang="fr-CA" sz="2000" dirty="0">
                <a:solidFill>
                  <a:schemeClr val="bg2">
                    <a:lumMod val="90000"/>
                  </a:schemeClr>
                </a:solidFill>
              </a:rPr>
              <a:t>(établir l’équation</a:t>
            </a:r>
            <a:r>
              <a:rPr lang="fr-CA" sz="800" dirty="0">
                <a:solidFill>
                  <a:schemeClr val="bg2">
                    <a:lumMod val="90000"/>
                  </a:schemeClr>
                </a:solidFill>
              </a:rPr>
              <a:t>(7,632…%)</a:t>
            </a:r>
            <a:r>
              <a:rPr lang="fr-CA" sz="2000" dirty="0">
                <a:solidFill>
                  <a:schemeClr val="bg2">
                    <a:lumMod val="90000"/>
                  </a:schemeClr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2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769"/>
            <a:ext cx="8211544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Pour des raisons de liquidité, un émetteur projette émettre une obligation dont le versement des coupons semestriels ne débutera que dans exactement 3 ans. Le taux de coupon de cette obligation et le taux de rendement à l’échéance serait de 8 %. L’échéance prévue est de 10 ans.</a:t>
            </a:r>
          </a:p>
          <a:p>
            <a:pPr marL="0" indent="0">
              <a:buNone/>
            </a:pPr>
            <a:endParaRPr lang="fr-CA" sz="1200" dirty="0"/>
          </a:p>
          <a:p>
            <a:pPr marL="182563" indent="-182563"/>
            <a:r>
              <a:rPr lang="fr-CA" sz="2000" dirty="0"/>
              <a:t>À quel prix devrait se faire cette émission de titre? </a:t>
            </a:r>
            <a:r>
              <a:rPr lang="fr-CA" sz="2000" dirty="0">
                <a:solidFill>
                  <a:schemeClr val="bg2">
                    <a:lumMod val="90000"/>
                  </a:schemeClr>
                </a:solidFill>
              </a:rPr>
              <a:t>(821,93$)</a:t>
            </a:r>
          </a:p>
          <a:p>
            <a:pPr marL="177800" indent="0">
              <a:buNone/>
              <a:tabLst>
                <a:tab pos="177800" algn="l"/>
              </a:tabLst>
            </a:pPr>
            <a:r>
              <a:rPr lang="fr-CA" sz="2000" dirty="0"/>
              <a:t>L’émetteur convient plutôt d’émettre des obligation de type zéro-coupon. </a:t>
            </a:r>
          </a:p>
          <a:p>
            <a:pPr marL="182563" indent="-182563"/>
            <a:r>
              <a:rPr lang="fr-CA" sz="2000" dirty="0"/>
              <a:t>Quel serait alors le prix du titre à l’émission?</a:t>
            </a:r>
            <a:r>
              <a:rPr lang="fr-CA" sz="2000" dirty="0">
                <a:solidFill>
                  <a:schemeClr val="bg2"/>
                </a:solidFill>
              </a:rPr>
              <a:t> </a:t>
            </a:r>
            <a:r>
              <a:rPr lang="fr-CA" sz="2000" dirty="0">
                <a:solidFill>
                  <a:schemeClr val="bg2">
                    <a:lumMod val="90000"/>
                  </a:schemeClr>
                </a:solidFill>
              </a:rPr>
              <a:t>(456,39$)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3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4390" y="1172381"/>
            <a:ext cx="8229600" cy="940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Il est possible de retrouver le cours des obligations à partir des taux affichés.</a:t>
            </a:r>
          </a:p>
          <a:p>
            <a:pPr marL="0" indent="0">
              <a:buNone/>
            </a:pPr>
            <a:r>
              <a:rPr lang="fr-CA" sz="1800" dirty="0"/>
              <a:t>Quel serait le prix affiché (cours) pour certains titres suivants?</a:t>
            </a:r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8800" y="1913045"/>
            <a:ext cx="8215220" cy="270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83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Exercice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229600" cy="396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Un conseiller financier doit acheter une obligation émise par le gouvernement du Canada à un client. Il a retenu les 4 titres suivants :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pPr marL="182563" indent="-182563"/>
            <a:r>
              <a:rPr lang="fr-CA" sz="2000" dirty="0"/>
              <a:t>S’il anticipe une baisse générale des taux d’intérêt (uniforme selon les échéances), quelle obligation devrait-il privilégier? </a:t>
            </a:r>
            <a:r>
              <a:rPr lang="fr-CA" sz="2000" dirty="0">
                <a:solidFill>
                  <a:schemeClr val="bg2"/>
                </a:solidFill>
              </a:rPr>
              <a:t>(D)</a:t>
            </a:r>
          </a:p>
          <a:p>
            <a:pPr marL="182563" indent="-182563"/>
            <a:r>
              <a:rPr lang="fr-CA" sz="2000" dirty="0"/>
              <a:t>Et qu’en serait-il s’il anticipait une hausse des taux? </a:t>
            </a:r>
            <a:r>
              <a:rPr lang="fr-CA" sz="2000" dirty="0">
                <a:solidFill>
                  <a:schemeClr val="bg2"/>
                </a:solidFill>
              </a:rPr>
              <a:t>(A)</a:t>
            </a:r>
          </a:p>
          <a:p>
            <a:pPr marL="0" indent="0">
              <a:buNone/>
            </a:pPr>
            <a:endParaRPr lang="fr-CA" sz="1200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1534037"/>
              </p:ext>
            </p:extLst>
          </p:nvPr>
        </p:nvGraphicFramePr>
        <p:xfrm>
          <a:off x="1950394" y="1995686"/>
          <a:ext cx="5286411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Obligation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Taux de coupon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Échéance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A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6 %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Sept.</a:t>
                      </a:r>
                      <a:r>
                        <a:rPr lang="fr-CA" sz="1400" baseline="0" dirty="0"/>
                        <a:t> 2017</a:t>
                      </a:r>
                      <a:endParaRPr lang="fr-CA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B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3 %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/>
                        <a:t>Sept.</a:t>
                      </a:r>
                      <a:r>
                        <a:rPr lang="fr-CA" sz="1400" baseline="0" dirty="0"/>
                        <a:t> 2017</a:t>
                      </a:r>
                      <a:endParaRPr lang="fr-CA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C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6 %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/>
                        <a:t>Sept.</a:t>
                      </a:r>
                      <a:r>
                        <a:rPr lang="fr-CA" sz="1400" baseline="0" dirty="0"/>
                        <a:t> 2030</a:t>
                      </a:r>
                      <a:endParaRPr lang="fr-CA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3 %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/>
                        <a:t>Sept.</a:t>
                      </a:r>
                      <a:r>
                        <a:rPr lang="fr-CA" sz="1400" baseline="0" dirty="0"/>
                        <a:t> 2030</a:t>
                      </a:r>
                      <a:endParaRPr lang="fr-CA" sz="1400" dirty="0"/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481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21757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4F02C9-6C04-8941-98AF-7C66FC1B9807}" vid="{378BFC92-88BE-C343-AA7D-4E1AA329E8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PowerPoint_officiel_HEC_Mtl_16-10_DEMO_1</Template>
  <TotalTime>1829</TotalTime>
  <Words>1771</Words>
  <Application>Microsoft Office PowerPoint</Application>
  <PresentationFormat>Affichage à l'écran (16:9)</PresentationFormat>
  <Paragraphs>317</Paragraphs>
  <Slides>37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5" baseType="lpstr">
      <vt:lpstr>Arial</vt:lpstr>
      <vt:lpstr>Calibri</vt:lpstr>
      <vt:lpstr>Georgia</vt:lpstr>
      <vt:lpstr>Symbol</vt:lpstr>
      <vt:lpstr>Tahoma</vt:lpstr>
      <vt:lpstr>Wingdings</vt:lpstr>
      <vt:lpstr>Thème HEC</vt:lpstr>
      <vt:lpstr>Equation</vt:lpstr>
      <vt:lpstr>Chapitre 7:  le marché obligataire </vt:lpstr>
      <vt:lpstr>Plan de présentation</vt:lpstr>
      <vt:lpstr>Introduction: l’évaluation de titre</vt:lpstr>
      <vt:lpstr>Obligation: description</vt:lpstr>
      <vt:lpstr>Obligation: description</vt:lpstr>
      <vt:lpstr>Titre à revenu fixe</vt:lpstr>
      <vt:lpstr>Obligation : son évaluation</vt:lpstr>
      <vt:lpstr>Obligation: son évaluation</vt:lpstr>
      <vt:lpstr>Obligation: son évaluation</vt:lpstr>
      <vt:lpstr>Obligation: son évaluation</vt:lpstr>
      <vt:lpstr>Obligation: son évaluation</vt:lpstr>
      <vt:lpstr>Obligation: son évaluation</vt:lpstr>
      <vt:lpstr>Obligation: son évaluation</vt:lpstr>
      <vt:lpstr>Obligation: son évaluation</vt:lpstr>
      <vt:lpstr>Obligation: son évaluation</vt:lpstr>
      <vt:lpstr>Obligation: autres caractéristiques</vt:lpstr>
      <vt:lpstr>Obligation: autres caractéristiques</vt:lpstr>
      <vt:lpstr>Obligation: autres caractéristiques</vt:lpstr>
      <vt:lpstr>Obligation: risque de crédit</vt:lpstr>
      <vt:lpstr>Obligation: risque de crédit</vt:lpstr>
      <vt:lpstr>Obligation: cote de crédit pour certains pays &amp; entreprises Banque centrale du Canada (2016) et Globe &amp; Mail (2012)</vt:lpstr>
      <vt:lpstr>Obligation: risque de crédit</vt:lpstr>
      <vt:lpstr>Effet Fisher</vt:lpstr>
      <vt:lpstr>Structure à terme des taux d’intérêt</vt:lpstr>
      <vt:lpstr>Structure à terme des taux d’intérêt</vt:lpstr>
      <vt:lpstr>Obligation: la notion de durée</vt:lpstr>
      <vt:lpstr>Représentation de la durée</vt:lpstr>
      <vt:lpstr>Représentation de la durée</vt:lpstr>
      <vt:lpstr>Représentation de la durée</vt:lpstr>
      <vt:lpstr>Représentation de la durée</vt:lpstr>
      <vt:lpstr>Pour un gestionnaire de PF obligataire</vt:lpstr>
      <vt:lpstr>Deux risques à ne pas confondre</vt:lpstr>
      <vt:lpstr>Exercice 1</vt:lpstr>
      <vt:lpstr>Exercice 2</vt:lpstr>
      <vt:lpstr>Exercice 3</vt:lpstr>
      <vt:lpstr>Exercice 4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jean-philippe tarte</cp:lastModifiedBy>
  <cp:revision>107</cp:revision>
  <dcterms:created xsi:type="dcterms:W3CDTF">2009-10-06T16:37:55Z</dcterms:created>
  <dcterms:modified xsi:type="dcterms:W3CDTF">2020-05-13T15:30:17Z</dcterms:modified>
</cp:coreProperties>
</file>