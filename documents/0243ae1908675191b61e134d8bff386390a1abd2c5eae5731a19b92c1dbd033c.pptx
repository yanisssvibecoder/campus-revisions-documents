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notesMasterIdLst>
    <p:notesMasterId r:id="rId19"/>
  </p:notesMasterIdLst>
  <p:sldIdLst>
    <p:sldId id="918" r:id="rId3"/>
    <p:sldId id="919" r:id="rId4"/>
    <p:sldId id="930" r:id="rId5"/>
    <p:sldId id="441" r:id="rId6"/>
    <p:sldId id="931" r:id="rId7"/>
    <p:sldId id="923" r:id="rId8"/>
    <p:sldId id="565" r:id="rId9"/>
    <p:sldId id="560" r:id="rId10"/>
    <p:sldId id="925" r:id="rId11"/>
    <p:sldId id="926" r:id="rId12"/>
    <p:sldId id="916" r:id="rId13"/>
    <p:sldId id="912" r:id="rId14"/>
    <p:sldId id="932" r:id="rId15"/>
    <p:sldId id="933" r:id="rId16"/>
    <p:sldId id="914" r:id="rId17"/>
    <p:sldId id="921"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A75AF2-7929-42EB-B1FC-E45212C4D5C0}">
          <p14:sldIdLst>
            <p14:sldId id="918"/>
            <p14:sldId id="919"/>
            <p14:sldId id="930"/>
            <p14:sldId id="441"/>
            <p14:sldId id="931"/>
            <p14:sldId id="923"/>
            <p14:sldId id="565"/>
            <p14:sldId id="560"/>
            <p14:sldId id="925"/>
            <p14:sldId id="926"/>
            <p14:sldId id="916"/>
            <p14:sldId id="912"/>
            <p14:sldId id="932"/>
            <p14:sldId id="933"/>
            <p14:sldId id="914"/>
            <p14:sldId id="9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412" autoAdjust="0"/>
  </p:normalViewPr>
  <p:slideViewPr>
    <p:cSldViewPr snapToGrid="0">
      <p:cViewPr varScale="1">
        <p:scale>
          <a:sx n="51" d="100"/>
          <a:sy n="51" d="100"/>
        </p:scale>
        <p:origin x="125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AEBE9B-C35A-4E43-A14D-F21EDBA2653F}"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445F089-13B8-4200-BDE6-E1D938E56D5D}">
      <dgm:prSet custT="1"/>
      <dgm:spPr/>
      <dgm:t>
        <a:bodyPr/>
        <a:lstStyle/>
        <a:p>
          <a:pPr>
            <a:lnSpc>
              <a:spcPct val="100000"/>
            </a:lnSpc>
            <a:defRPr cap="all"/>
          </a:pPr>
          <a:r>
            <a:rPr lang="fr-CA" sz="1400" dirty="0"/>
            <a:t>L’écoblanchiment dans ce secteur implique que les </a:t>
          </a:r>
          <a:r>
            <a:rPr lang="fr-CA" sz="1400" u="sng" dirty="0"/>
            <a:t>banques prétendent être respectueuses de l’environnement ou exagèrent leurs efforts </a:t>
          </a:r>
          <a:r>
            <a:rPr lang="fr-CA" sz="1400" dirty="0"/>
            <a:t>en matière de durabilité, alors qu’en réalité, leurs </a:t>
          </a:r>
          <a:r>
            <a:rPr lang="fr-CA" sz="1400" u="sng" dirty="0"/>
            <a:t>pratiques commerciales continuent de nuire considérablement à l’environnement</a:t>
          </a:r>
          <a:r>
            <a:rPr lang="fr-CA" sz="1400" dirty="0"/>
            <a:t>….</a:t>
          </a:r>
          <a:endParaRPr lang="en-US" sz="1400" dirty="0"/>
        </a:p>
      </dgm:t>
    </dgm:pt>
    <dgm:pt modelId="{B38BCB07-DE67-4C83-B523-76B04F0776E9}" type="parTrans" cxnId="{138531B9-03D1-46C3-9513-55204E1B44D4}">
      <dgm:prSet/>
      <dgm:spPr/>
      <dgm:t>
        <a:bodyPr/>
        <a:lstStyle/>
        <a:p>
          <a:endParaRPr lang="en-US" sz="2400"/>
        </a:p>
      </dgm:t>
    </dgm:pt>
    <dgm:pt modelId="{249926DF-2C6F-41B5-B88E-8B281B1684D7}" type="sibTrans" cxnId="{138531B9-03D1-46C3-9513-55204E1B44D4}">
      <dgm:prSet/>
      <dgm:spPr/>
      <dgm:t>
        <a:bodyPr/>
        <a:lstStyle/>
        <a:p>
          <a:endParaRPr lang="en-US" sz="2400"/>
        </a:p>
      </dgm:t>
    </dgm:pt>
    <dgm:pt modelId="{BA5958B3-F17E-4F56-A106-374E165FA2BA}">
      <dgm:prSet custT="1"/>
      <dgm:spPr/>
      <dgm:t>
        <a:bodyPr/>
        <a:lstStyle/>
        <a:p>
          <a:pPr>
            <a:lnSpc>
              <a:spcPct val="100000"/>
            </a:lnSpc>
            <a:defRPr cap="all"/>
          </a:pPr>
          <a:r>
            <a:rPr lang="fr-CA" sz="1400" b="1"/>
            <a:t>En 2022, la Banque Royale du Canada (RBC) a été identifiée comme le plus </a:t>
          </a:r>
          <a:r>
            <a:rPr lang="fr-CA" sz="1400" b="1" u="sng"/>
            <a:t>grand bailleur de fonds mondial des combustibles fossiles, </a:t>
          </a:r>
          <a:r>
            <a:rPr lang="fr-CA" sz="1400" b="1"/>
            <a:t>avec des investissements totalisant 42,1 milliards de dollars au cours de cette seule année.</a:t>
          </a:r>
          <a:endParaRPr lang="en-US" sz="1400"/>
        </a:p>
      </dgm:t>
    </dgm:pt>
    <dgm:pt modelId="{83A8D1F0-99F8-4F5B-ABC7-2AFEEAD4730B}" type="parTrans" cxnId="{88630F85-DD0E-4804-90E5-453D38E652C5}">
      <dgm:prSet/>
      <dgm:spPr/>
      <dgm:t>
        <a:bodyPr/>
        <a:lstStyle/>
        <a:p>
          <a:endParaRPr lang="en-US" sz="2400"/>
        </a:p>
      </dgm:t>
    </dgm:pt>
    <dgm:pt modelId="{9F3DFC26-C99F-45B4-9AD1-531DB0788AA3}" type="sibTrans" cxnId="{88630F85-DD0E-4804-90E5-453D38E652C5}">
      <dgm:prSet/>
      <dgm:spPr/>
      <dgm:t>
        <a:bodyPr/>
        <a:lstStyle/>
        <a:p>
          <a:endParaRPr lang="en-US" sz="2400"/>
        </a:p>
      </dgm:t>
    </dgm:pt>
    <dgm:pt modelId="{22922E27-E8F3-49FB-82B8-27FAA2CCCF52}" type="pres">
      <dgm:prSet presAssocID="{B6AEBE9B-C35A-4E43-A14D-F21EDBA2653F}" presName="root" presStyleCnt="0">
        <dgm:presLayoutVars>
          <dgm:dir/>
          <dgm:resizeHandles val="exact"/>
        </dgm:presLayoutVars>
      </dgm:prSet>
      <dgm:spPr/>
    </dgm:pt>
    <dgm:pt modelId="{83C25A9D-2531-4381-B323-E4436CAF99A6}" type="pres">
      <dgm:prSet presAssocID="{D445F089-13B8-4200-BDE6-E1D938E56D5D}" presName="compNode" presStyleCnt="0"/>
      <dgm:spPr/>
    </dgm:pt>
    <dgm:pt modelId="{04C299AC-09A8-4EC2-9591-4F7D53CE2B3F}" type="pres">
      <dgm:prSet presAssocID="{D445F089-13B8-4200-BDE6-E1D938E56D5D}" presName="iconBgRect" presStyleLbl="bgShp" presStyleIdx="0" presStyleCnt="2"/>
      <dgm:spPr/>
    </dgm:pt>
    <dgm:pt modelId="{B1C6B946-84EB-40FD-BCAB-6336F7B98F8E}" type="pres">
      <dgm:prSet presAssocID="{D445F089-13B8-4200-BDE6-E1D938E56D5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1F95D259-51F8-4323-827F-FD3C6D1001C9}" type="pres">
      <dgm:prSet presAssocID="{D445F089-13B8-4200-BDE6-E1D938E56D5D}" presName="spaceRect" presStyleCnt="0"/>
      <dgm:spPr/>
    </dgm:pt>
    <dgm:pt modelId="{0977BF2E-C1EA-4D26-A85B-23FE50B60F38}" type="pres">
      <dgm:prSet presAssocID="{D445F089-13B8-4200-BDE6-E1D938E56D5D}" presName="textRect" presStyleLbl="revTx" presStyleIdx="0" presStyleCnt="2">
        <dgm:presLayoutVars>
          <dgm:chMax val="1"/>
          <dgm:chPref val="1"/>
        </dgm:presLayoutVars>
      </dgm:prSet>
      <dgm:spPr/>
    </dgm:pt>
    <dgm:pt modelId="{B8CFB361-1DC2-447E-8B90-845F6108D50F}" type="pres">
      <dgm:prSet presAssocID="{249926DF-2C6F-41B5-B88E-8B281B1684D7}" presName="sibTrans" presStyleCnt="0"/>
      <dgm:spPr/>
    </dgm:pt>
    <dgm:pt modelId="{104F7AC0-5461-40B8-BD2F-4FAD929EEB7C}" type="pres">
      <dgm:prSet presAssocID="{BA5958B3-F17E-4F56-A106-374E165FA2BA}" presName="compNode" presStyleCnt="0"/>
      <dgm:spPr/>
    </dgm:pt>
    <dgm:pt modelId="{E37C0F9A-C55E-425E-B49D-449F218930F0}" type="pres">
      <dgm:prSet presAssocID="{BA5958B3-F17E-4F56-A106-374E165FA2BA}" presName="iconBgRect" presStyleLbl="bgShp" presStyleIdx="1" presStyleCnt="2"/>
      <dgm:spPr/>
    </dgm:pt>
    <dgm:pt modelId="{2B17A96B-0AF8-4891-BCDB-CC310CD90D21}" type="pres">
      <dgm:prSet presAssocID="{BA5958B3-F17E-4F56-A106-374E165FA2B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arty Mask"/>
        </a:ext>
      </dgm:extLst>
    </dgm:pt>
    <dgm:pt modelId="{A53B1F4E-8B45-4911-9F91-23E9AB10FFE1}" type="pres">
      <dgm:prSet presAssocID="{BA5958B3-F17E-4F56-A106-374E165FA2BA}" presName="spaceRect" presStyleCnt="0"/>
      <dgm:spPr/>
    </dgm:pt>
    <dgm:pt modelId="{36FAB129-2A95-4C4A-A6DC-09EBB30F302D}" type="pres">
      <dgm:prSet presAssocID="{BA5958B3-F17E-4F56-A106-374E165FA2BA}" presName="textRect" presStyleLbl="revTx" presStyleIdx="1" presStyleCnt="2">
        <dgm:presLayoutVars>
          <dgm:chMax val="1"/>
          <dgm:chPref val="1"/>
        </dgm:presLayoutVars>
      </dgm:prSet>
      <dgm:spPr/>
    </dgm:pt>
  </dgm:ptLst>
  <dgm:cxnLst>
    <dgm:cxn modelId="{C8C1050F-E904-4E21-AEF9-54D175532F29}" type="presOf" srcId="{BA5958B3-F17E-4F56-A106-374E165FA2BA}" destId="{36FAB129-2A95-4C4A-A6DC-09EBB30F302D}" srcOrd="0" destOrd="0" presId="urn:microsoft.com/office/officeart/2018/5/layout/IconCircleLabelList"/>
    <dgm:cxn modelId="{1578BD7B-B13D-4430-8E7F-B6061D718548}" type="presOf" srcId="{B6AEBE9B-C35A-4E43-A14D-F21EDBA2653F}" destId="{22922E27-E8F3-49FB-82B8-27FAA2CCCF52}" srcOrd="0" destOrd="0" presId="urn:microsoft.com/office/officeart/2018/5/layout/IconCircleLabelList"/>
    <dgm:cxn modelId="{88630F85-DD0E-4804-90E5-453D38E652C5}" srcId="{B6AEBE9B-C35A-4E43-A14D-F21EDBA2653F}" destId="{BA5958B3-F17E-4F56-A106-374E165FA2BA}" srcOrd="1" destOrd="0" parTransId="{83A8D1F0-99F8-4F5B-ABC7-2AFEEAD4730B}" sibTransId="{9F3DFC26-C99F-45B4-9AD1-531DB0788AA3}"/>
    <dgm:cxn modelId="{138531B9-03D1-46C3-9513-55204E1B44D4}" srcId="{B6AEBE9B-C35A-4E43-A14D-F21EDBA2653F}" destId="{D445F089-13B8-4200-BDE6-E1D938E56D5D}" srcOrd="0" destOrd="0" parTransId="{B38BCB07-DE67-4C83-B523-76B04F0776E9}" sibTransId="{249926DF-2C6F-41B5-B88E-8B281B1684D7}"/>
    <dgm:cxn modelId="{64139FEF-417A-49AE-AB6D-805B52E609DE}" type="presOf" srcId="{D445F089-13B8-4200-BDE6-E1D938E56D5D}" destId="{0977BF2E-C1EA-4D26-A85B-23FE50B60F38}" srcOrd="0" destOrd="0" presId="urn:microsoft.com/office/officeart/2018/5/layout/IconCircleLabelList"/>
    <dgm:cxn modelId="{9C95C1B2-25B7-49D9-BE81-F36462DC18DA}" type="presParOf" srcId="{22922E27-E8F3-49FB-82B8-27FAA2CCCF52}" destId="{83C25A9D-2531-4381-B323-E4436CAF99A6}" srcOrd="0" destOrd="0" presId="urn:microsoft.com/office/officeart/2018/5/layout/IconCircleLabelList"/>
    <dgm:cxn modelId="{BD9A9CE4-CFF0-419C-BFF4-5779284EC1BB}" type="presParOf" srcId="{83C25A9D-2531-4381-B323-E4436CAF99A6}" destId="{04C299AC-09A8-4EC2-9591-4F7D53CE2B3F}" srcOrd="0" destOrd="0" presId="urn:microsoft.com/office/officeart/2018/5/layout/IconCircleLabelList"/>
    <dgm:cxn modelId="{C79BDA39-11E8-42B7-848F-353A9C4AFCD4}" type="presParOf" srcId="{83C25A9D-2531-4381-B323-E4436CAF99A6}" destId="{B1C6B946-84EB-40FD-BCAB-6336F7B98F8E}" srcOrd="1" destOrd="0" presId="urn:microsoft.com/office/officeart/2018/5/layout/IconCircleLabelList"/>
    <dgm:cxn modelId="{EBAC2A55-7F6A-4613-9299-2F61E19122F3}" type="presParOf" srcId="{83C25A9D-2531-4381-B323-E4436CAF99A6}" destId="{1F95D259-51F8-4323-827F-FD3C6D1001C9}" srcOrd="2" destOrd="0" presId="urn:microsoft.com/office/officeart/2018/5/layout/IconCircleLabelList"/>
    <dgm:cxn modelId="{63738AF8-06C3-4C47-89B1-EA410794CF40}" type="presParOf" srcId="{83C25A9D-2531-4381-B323-E4436CAF99A6}" destId="{0977BF2E-C1EA-4D26-A85B-23FE50B60F38}" srcOrd="3" destOrd="0" presId="urn:microsoft.com/office/officeart/2018/5/layout/IconCircleLabelList"/>
    <dgm:cxn modelId="{B33C9551-9C6C-4A6A-BDEA-508990301E36}" type="presParOf" srcId="{22922E27-E8F3-49FB-82B8-27FAA2CCCF52}" destId="{B8CFB361-1DC2-447E-8B90-845F6108D50F}" srcOrd="1" destOrd="0" presId="urn:microsoft.com/office/officeart/2018/5/layout/IconCircleLabelList"/>
    <dgm:cxn modelId="{4150D421-9637-4295-9D9D-0911AA3EDFCD}" type="presParOf" srcId="{22922E27-E8F3-49FB-82B8-27FAA2CCCF52}" destId="{104F7AC0-5461-40B8-BD2F-4FAD929EEB7C}" srcOrd="2" destOrd="0" presId="urn:microsoft.com/office/officeart/2018/5/layout/IconCircleLabelList"/>
    <dgm:cxn modelId="{938A4673-42EC-47D7-96BF-472622CCAF51}" type="presParOf" srcId="{104F7AC0-5461-40B8-BD2F-4FAD929EEB7C}" destId="{E37C0F9A-C55E-425E-B49D-449F218930F0}" srcOrd="0" destOrd="0" presId="urn:microsoft.com/office/officeart/2018/5/layout/IconCircleLabelList"/>
    <dgm:cxn modelId="{DF5F29A9-C4F1-42F1-8ADA-F51F81F1B27F}" type="presParOf" srcId="{104F7AC0-5461-40B8-BD2F-4FAD929EEB7C}" destId="{2B17A96B-0AF8-4891-BCDB-CC310CD90D21}" srcOrd="1" destOrd="0" presId="urn:microsoft.com/office/officeart/2018/5/layout/IconCircleLabelList"/>
    <dgm:cxn modelId="{C8F780EA-3A2E-4C20-9AA7-488B2335AA7D}" type="presParOf" srcId="{104F7AC0-5461-40B8-BD2F-4FAD929EEB7C}" destId="{A53B1F4E-8B45-4911-9F91-23E9AB10FFE1}" srcOrd="2" destOrd="0" presId="urn:microsoft.com/office/officeart/2018/5/layout/IconCircleLabelList"/>
    <dgm:cxn modelId="{8EB9DA07-CF4E-4822-8249-AE7ACBAA168F}" type="presParOf" srcId="{104F7AC0-5461-40B8-BD2F-4FAD929EEB7C}" destId="{36FAB129-2A95-4C4A-A6DC-09EBB30F302D}"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299AC-09A8-4EC2-9591-4F7D53CE2B3F}">
      <dsp:nvSpPr>
        <dsp:cNvPr id="0" name=""/>
        <dsp:cNvSpPr/>
      </dsp:nvSpPr>
      <dsp:spPr>
        <a:xfrm>
          <a:off x="552880" y="313115"/>
          <a:ext cx="1544062" cy="15440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C6B946-84EB-40FD-BCAB-6336F7B98F8E}">
      <dsp:nvSpPr>
        <dsp:cNvPr id="0" name=""/>
        <dsp:cNvSpPr/>
      </dsp:nvSpPr>
      <dsp:spPr>
        <a:xfrm>
          <a:off x="881943" y="642178"/>
          <a:ext cx="885937" cy="885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77BF2E-C1EA-4D26-A85B-23FE50B60F38}">
      <dsp:nvSpPr>
        <dsp:cNvPr id="0" name=""/>
        <dsp:cNvSpPr/>
      </dsp:nvSpPr>
      <dsp:spPr>
        <a:xfrm>
          <a:off x="59287" y="2338116"/>
          <a:ext cx="2531250" cy="2413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fr-CA" sz="1400" kern="1200" dirty="0"/>
            <a:t>L’écoblanchiment dans ce secteur implique que les </a:t>
          </a:r>
          <a:r>
            <a:rPr lang="fr-CA" sz="1400" u="sng" kern="1200" dirty="0"/>
            <a:t>banques prétendent être respectueuses de l’environnement ou exagèrent leurs efforts </a:t>
          </a:r>
          <a:r>
            <a:rPr lang="fr-CA" sz="1400" kern="1200" dirty="0"/>
            <a:t>en matière de durabilité, alors qu’en réalité, leurs </a:t>
          </a:r>
          <a:r>
            <a:rPr lang="fr-CA" sz="1400" u="sng" kern="1200" dirty="0"/>
            <a:t>pratiques commerciales continuent de nuire considérablement à l’environnement</a:t>
          </a:r>
          <a:r>
            <a:rPr lang="fr-CA" sz="1400" kern="1200" dirty="0"/>
            <a:t>….</a:t>
          </a:r>
          <a:endParaRPr lang="en-US" sz="1400" kern="1200" dirty="0"/>
        </a:p>
      </dsp:txBody>
      <dsp:txXfrm>
        <a:off x="59287" y="2338116"/>
        <a:ext cx="2531250" cy="2413125"/>
      </dsp:txXfrm>
    </dsp:sp>
    <dsp:sp modelId="{E37C0F9A-C55E-425E-B49D-449F218930F0}">
      <dsp:nvSpPr>
        <dsp:cNvPr id="0" name=""/>
        <dsp:cNvSpPr/>
      </dsp:nvSpPr>
      <dsp:spPr>
        <a:xfrm>
          <a:off x="3527099" y="313115"/>
          <a:ext cx="1544062" cy="15440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17A96B-0AF8-4891-BCDB-CC310CD90D21}">
      <dsp:nvSpPr>
        <dsp:cNvPr id="0" name=""/>
        <dsp:cNvSpPr/>
      </dsp:nvSpPr>
      <dsp:spPr>
        <a:xfrm>
          <a:off x="3856162" y="642178"/>
          <a:ext cx="885937" cy="885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FAB129-2A95-4C4A-A6DC-09EBB30F302D}">
      <dsp:nvSpPr>
        <dsp:cNvPr id="0" name=""/>
        <dsp:cNvSpPr/>
      </dsp:nvSpPr>
      <dsp:spPr>
        <a:xfrm>
          <a:off x="3033505" y="2338116"/>
          <a:ext cx="2531250" cy="2413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fr-CA" sz="1400" b="1" kern="1200"/>
            <a:t>En 2022, la Banque Royale du Canada (RBC) a été identifiée comme le plus </a:t>
          </a:r>
          <a:r>
            <a:rPr lang="fr-CA" sz="1400" b="1" u="sng" kern="1200"/>
            <a:t>grand bailleur de fonds mondial des combustibles fossiles, </a:t>
          </a:r>
          <a:r>
            <a:rPr lang="fr-CA" sz="1400" b="1" kern="1200"/>
            <a:t>avec des investissements totalisant 42,1 milliards de dollars au cours de cette seule année.</a:t>
          </a:r>
          <a:endParaRPr lang="en-US" sz="1400" kern="1200"/>
        </a:p>
      </dsp:txBody>
      <dsp:txXfrm>
        <a:off x="3033505" y="2338116"/>
        <a:ext cx="2531250" cy="241312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54AE3-50F2-44EE-B1EB-3502A3D474D5}" type="datetimeFigureOut">
              <a:rPr lang="fr-CA" smtClean="0"/>
              <a:t>2025-08-17</a:t>
            </a:fld>
            <a:endParaRPr lang="fr-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Cliquez pour modifier les styles de texte principaux</a:t>
            </a:r>
          </a:p>
          <a:p>
            <a:pPr lvl="1"/>
            <a:r>
              <a:rPr lang="en-US"/>
              <a:t>Deuxième niveau</a:t>
            </a:r>
          </a:p>
          <a:p>
            <a:pPr lvl="2"/>
            <a:r>
              <a:rPr lang="en-US"/>
              <a:t>Troisième niveau</a:t>
            </a:r>
          </a:p>
          <a:p>
            <a:pPr lvl="3"/>
            <a:r>
              <a:rPr lang="en-US"/>
              <a:t>Quatrième niveau</a:t>
            </a:r>
          </a:p>
          <a:p>
            <a:pPr lvl="4"/>
            <a:r>
              <a:rPr lang="en-US"/>
              <a:t>Cinquième niveau</a:t>
            </a:r>
            <a:endParaRPr lang="fr-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B2A49-13FA-483D-9C82-0BB3F29B353A}" type="slidenum">
              <a:rPr lang="fr-CA" smtClean="0"/>
              <a:t>‹#›</a:t>
            </a:fld>
            <a:endParaRPr lang="fr-CA"/>
          </a:p>
        </p:txBody>
      </p:sp>
    </p:spTree>
    <p:extLst>
      <p:ext uri="{BB962C8B-B14F-4D97-AF65-F5344CB8AC3E}">
        <p14:creationId xmlns:p14="http://schemas.microsoft.com/office/powerpoint/2010/main" val="2665736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1E4B2A49-13FA-483D-9C82-0BB3F29B353A}" type="slidenum">
              <a:rPr lang="fr-CA" smtClean="0"/>
              <a:t>2</a:t>
            </a:fld>
            <a:endParaRPr lang="fr-CA"/>
          </a:p>
        </p:txBody>
      </p:sp>
    </p:spTree>
    <p:extLst>
      <p:ext uri="{BB962C8B-B14F-4D97-AF65-F5344CB8AC3E}">
        <p14:creationId xmlns:p14="http://schemas.microsoft.com/office/powerpoint/2010/main" val="553115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255DEA30-6F50-4834-B9A9-17A2A41D4712}" type="slidenum">
              <a:rPr lang="fr-CA" smtClean="0"/>
              <a:t>4</a:t>
            </a:fld>
            <a:endParaRPr lang="fr-CA"/>
          </a:p>
        </p:txBody>
      </p:sp>
    </p:spTree>
    <p:extLst>
      <p:ext uri="{BB962C8B-B14F-4D97-AF65-F5344CB8AC3E}">
        <p14:creationId xmlns:p14="http://schemas.microsoft.com/office/powerpoint/2010/main" val="1873373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fr-CA" dirty="0"/>
          </a:p>
        </p:txBody>
      </p:sp>
      <p:sp>
        <p:nvSpPr>
          <p:cNvPr id="4" name="Slide Number Placeholder 3"/>
          <p:cNvSpPr>
            <a:spLocks noGrp="1"/>
          </p:cNvSpPr>
          <p:nvPr>
            <p:ph type="sldNum" sz="quarter" idx="5"/>
          </p:nvPr>
        </p:nvSpPr>
        <p:spPr/>
        <p:txBody>
          <a:bodyPr/>
          <a:lstStyle/>
          <a:p>
            <a:pPr>
              <a:defRPr/>
            </a:pPr>
            <a:fld id="{EAE70A47-D1EB-9E4D-9598-4C2E126E0F18}" type="slidenum">
              <a:rPr lang="fr-CA" smtClean="0"/>
              <a:t>5</a:t>
            </a:fld>
            <a:endParaRPr lang="fr-CA"/>
          </a:p>
        </p:txBody>
      </p:sp>
    </p:spTree>
    <p:extLst>
      <p:ext uri="{BB962C8B-B14F-4D97-AF65-F5344CB8AC3E}">
        <p14:creationId xmlns:p14="http://schemas.microsoft.com/office/powerpoint/2010/main" val="576601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1E4B2A49-13FA-483D-9C82-0BB3F29B353A}" type="slidenum">
              <a:rPr lang="fr-CA" smtClean="0"/>
              <a:t>6</a:t>
            </a:fld>
            <a:endParaRPr lang="fr-CA"/>
          </a:p>
        </p:txBody>
      </p:sp>
    </p:spTree>
    <p:extLst>
      <p:ext uri="{BB962C8B-B14F-4D97-AF65-F5344CB8AC3E}">
        <p14:creationId xmlns:p14="http://schemas.microsoft.com/office/powerpoint/2010/main" val="4162588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5DEA30-6F50-4834-B9A9-17A2A41D4712}"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t>7</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7006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E70A47-D1EB-9E4D-9598-4C2E126E0F18}" type="slidenum">
              <a:rPr kumimoji="0" lang="fr-CA" sz="1200" b="0" i="0" u="none" strike="noStrike" kern="1200" cap="none" spc="0" normalizeH="0" baseline="0" noProof="0" smtClean="0">
                <a:ln>
                  <a:noFill/>
                </a:ln>
                <a:solidFill>
                  <a:prstClr val="black"/>
                </a:solidFill>
                <a:effectLst/>
                <a:uLnTx/>
                <a:uFillTx/>
                <a:latin typeface="Calibri" charset="0"/>
                <a:ea typeface="+mn-ea"/>
                <a:cs typeface="+mn-cs"/>
              </a:rPr>
              <a:t>9</a:t>
            </a:fld>
            <a:endParaRPr kumimoji="0" lang="fr-CA" sz="1200" b="0" i="0" u="none" strike="noStrike" kern="1200" cap="none" spc="0" normalizeH="0" baseline="0" noProof="0">
              <a:ln>
                <a:noFill/>
              </a:ln>
              <a:solidFill>
                <a:prstClr val="black"/>
              </a:solidFill>
              <a:effectLst/>
              <a:uLnTx/>
              <a:uFillTx/>
              <a:latin typeface="Calibri" charset="0"/>
              <a:ea typeface="+mn-ea"/>
              <a:cs typeface="+mn-cs"/>
            </a:endParaRPr>
          </a:p>
        </p:txBody>
      </p:sp>
    </p:spTree>
    <p:extLst>
      <p:ext uri="{BB962C8B-B14F-4D97-AF65-F5344CB8AC3E}">
        <p14:creationId xmlns:p14="http://schemas.microsoft.com/office/powerpoint/2010/main" val="4094684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2" name="Rectangle 11"/>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9" name="Sous-titr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Espace réservé de la date 27"/>
          <p:cNvSpPr>
            <a:spLocks noGrp="1"/>
          </p:cNvSpPr>
          <p:nvPr>
            <p:ph type="dt" sz="half" idx="10"/>
          </p:nvPr>
        </p:nvSpPr>
        <p:spPr/>
        <p:txBody>
          <a:bodyPr/>
          <a:lstStyle/>
          <a:p>
            <a:pPr>
              <a:defRPr/>
            </a:pPr>
            <a:r>
              <a:rPr lang="en-US"/>
              <a:t>©Pierre Durand, 26/12/08</a:t>
            </a:r>
            <a:endParaRPr lang="fr-CA"/>
          </a:p>
        </p:txBody>
      </p:sp>
      <p:sp>
        <p:nvSpPr>
          <p:cNvPr id="17" name="Espace réservé du pied de page 16"/>
          <p:cNvSpPr>
            <a:spLocks noGrp="1"/>
          </p:cNvSpPr>
          <p:nvPr>
            <p:ph type="ftr" sz="quarter" idx="11"/>
          </p:nvPr>
        </p:nvSpPr>
        <p:spPr/>
        <p:txBody>
          <a:bodyPr/>
          <a:lstStyle/>
          <a:p>
            <a:pPr>
              <a:defRPr/>
            </a:pPr>
            <a:endParaRPr lang="en-CA"/>
          </a:p>
        </p:txBody>
      </p:sp>
      <p:sp>
        <p:nvSpPr>
          <p:cNvPr id="7" name="Connecteur droit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13" name="Ellipse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4" name="Ellipse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9" name="Espace réservé du numéro de diapositive 28"/>
          <p:cNvSpPr>
            <a:spLocks noGrp="1"/>
          </p:cNvSpPr>
          <p:nvPr>
            <p:ph type="sldNum" sz="quarter" idx="12"/>
          </p:nvPr>
        </p:nvSpPr>
        <p:spPr>
          <a:xfrm>
            <a:off x="5791200" y="2199453"/>
            <a:ext cx="609600" cy="441325"/>
          </a:xfrm>
        </p:spPr>
        <p:txBody>
          <a:bodyPr/>
          <a:lstStyle>
            <a:lvl1pPr>
              <a:defRPr>
                <a:solidFill>
                  <a:schemeClr val="accent3">
                    <a:shade val="75000"/>
                  </a:schemeClr>
                </a:solidFill>
              </a:defRPr>
            </a:lvl1pPr>
          </a:lstStyle>
          <a:p>
            <a:pPr>
              <a:defRPr/>
            </a:pPr>
            <a:fld id="{E35F0CD6-4D21-B546-A7CD-3307EDD2EECA}" type="slidenum">
              <a:rPr lang="fr-CA" smtClean="0"/>
              <a:pPr>
                <a:defRPr/>
              </a:pPr>
              <a:t>‹#›</a:t>
            </a:fld>
            <a:endParaRPr lang="fr-CA"/>
          </a:p>
        </p:txBody>
      </p:sp>
      <p:sp>
        <p:nvSpPr>
          <p:cNvPr id="8" name="Titr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77223636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Espace réservé de la date 3"/>
          <p:cNvSpPr>
            <a:spLocks noGrp="1"/>
          </p:cNvSpPr>
          <p:nvPr>
            <p:ph type="dt" sz="half" idx="10"/>
          </p:nvPr>
        </p:nvSpPr>
        <p:spPr/>
        <p:txBody>
          <a:bodyPr/>
          <a:lstStyle/>
          <a:p>
            <a:pPr>
              <a:defRPr/>
            </a:pPr>
            <a:r>
              <a:rPr lang="en-US"/>
              <a:t>©Pierre Durand, 26/12/08</a:t>
            </a:r>
            <a:endParaRPr lang="fr-CA"/>
          </a:p>
        </p:txBody>
      </p:sp>
      <p:sp>
        <p:nvSpPr>
          <p:cNvPr id="5" name="Espace réservé du pied de page 4"/>
          <p:cNvSpPr>
            <a:spLocks noGrp="1"/>
          </p:cNvSpPr>
          <p:nvPr>
            <p:ph type="ftr" sz="quarter" idx="11"/>
          </p:nvPr>
        </p:nvSpPr>
        <p:spPr/>
        <p:txBody>
          <a:bodyPr/>
          <a:lstStyle/>
          <a:p>
            <a:pPr>
              <a:defRPr/>
            </a:pPr>
            <a:endParaRPr lang="en-CA"/>
          </a:p>
        </p:txBody>
      </p:sp>
      <p:sp>
        <p:nvSpPr>
          <p:cNvPr id="6" name="Espace réservé du numéro de diapositive 5"/>
          <p:cNvSpPr>
            <a:spLocks noGrp="1"/>
          </p:cNvSpPr>
          <p:nvPr>
            <p:ph type="sldNum" sz="quarter" idx="12"/>
          </p:nvPr>
        </p:nvSpPr>
        <p:spPr>
          <a:xfrm>
            <a:off x="5815584" y="1026375"/>
            <a:ext cx="609600" cy="441325"/>
          </a:xfrm>
        </p:spPr>
        <p:txBody>
          <a:bodyPr/>
          <a:lstStyle/>
          <a:p>
            <a:pPr>
              <a:defRPr/>
            </a:pPr>
            <a:fld id="{A36EBACF-F565-E244-8230-FFB82DCE4B7F}" type="slidenum">
              <a:rPr lang="fr-CA" smtClean="0"/>
              <a:pPr>
                <a:defRPr/>
              </a:pPr>
              <a:t>‹#›</a:t>
            </a:fld>
            <a:endParaRPr lang="fr-CA"/>
          </a:p>
        </p:txBody>
      </p:sp>
      <p:sp>
        <p:nvSpPr>
          <p:cNvPr id="8" name="Espace réservé du contenu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3449432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3" name="Espace réservé du texte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5" name="Espace réservé du pied de page 4"/>
          <p:cNvSpPr>
            <a:spLocks noGrp="1"/>
          </p:cNvSpPr>
          <p:nvPr>
            <p:ph type="ftr" sz="quarter" idx="11"/>
          </p:nvPr>
        </p:nvSpPr>
        <p:spPr/>
        <p:txBody>
          <a:bodyPr/>
          <a:lstStyle/>
          <a:p>
            <a:pPr>
              <a:defRPr/>
            </a:pPr>
            <a:endParaRPr lang="en-CA"/>
          </a:p>
        </p:txBody>
      </p:sp>
      <p:sp>
        <p:nvSpPr>
          <p:cNvPr id="4" name="Espace réservé de la date 3"/>
          <p:cNvSpPr>
            <a:spLocks noGrp="1"/>
          </p:cNvSpPr>
          <p:nvPr>
            <p:ph type="dt" sz="half" idx="10"/>
          </p:nvPr>
        </p:nvSpPr>
        <p:spPr/>
        <p:txBody>
          <a:bodyPr/>
          <a:lstStyle/>
          <a:p>
            <a:pPr>
              <a:defRPr/>
            </a:pPr>
            <a:r>
              <a:rPr lang="en-US"/>
              <a:t>©Pierre Durand, 26/12/08</a:t>
            </a:r>
            <a:endParaRPr lang="fr-CA"/>
          </a:p>
        </p:txBody>
      </p:sp>
      <p:sp>
        <p:nvSpPr>
          <p:cNvPr id="8" name="Connecteur droit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0" name="Ellipse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1" name="Ellipse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6" name="Espace réservé du numéro de diapositive 5"/>
          <p:cNvSpPr>
            <a:spLocks noGrp="1"/>
          </p:cNvSpPr>
          <p:nvPr>
            <p:ph type="sldNum" sz="quarter" idx="12"/>
          </p:nvPr>
        </p:nvSpPr>
        <p:spPr>
          <a:xfrm>
            <a:off x="5791200" y="2199453"/>
            <a:ext cx="609600" cy="441325"/>
          </a:xfrm>
        </p:spPr>
        <p:txBody>
          <a:bodyPr/>
          <a:lstStyle>
            <a:lvl1pPr>
              <a:defRPr>
                <a:solidFill>
                  <a:schemeClr val="accent3">
                    <a:shade val="75000"/>
                  </a:schemeClr>
                </a:solidFill>
              </a:defRPr>
            </a:lvl1pPr>
          </a:lstStyle>
          <a:p>
            <a:pPr>
              <a:defRPr/>
            </a:pPr>
            <a:fld id="{40A84BC4-1EC8-4347-BACB-34E35B1682E4}" type="slidenum">
              <a:rPr lang="fr-CA" smtClean="0"/>
              <a:pPr>
                <a:defRPr/>
              </a:pPr>
              <a:t>‹#›</a:t>
            </a:fld>
            <a:endParaRPr lang="fr-CA"/>
          </a:p>
        </p:txBody>
      </p:sp>
      <p:sp>
        <p:nvSpPr>
          <p:cNvPr id="2" name="Titr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43888511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Espace réservé de la date 4"/>
          <p:cNvSpPr>
            <a:spLocks noGrp="1"/>
          </p:cNvSpPr>
          <p:nvPr>
            <p:ph type="dt" sz="half" idx="10"/>
          </p:nvPr>
        </p:nvSpPr>
        <p:spPr>
          <a:xfrm>
            <a:off x="7721600" y="6409944"/>
            <a:ext cx="4059936" cy="365760"/>
          </a:xfrm>
        </p:spPr>
        <p:txBody>
          <a:bodyPr/>
          <a:lstStyle/>
          <a:p>
            <a:pPr>
              <a:defRPr/>
            </a:pPr>
            <a:r>
              <a:rPr lang="en-US"/>
              <a:t>©Pierre Durand, 26/12/08</a:t>
            </a:r>
            <a:endParaRPr lang="fr-CA"/>
          </a:p>
        </p:txBody>
      </p:sp>
      <p:sp>
        <p:nvSpPr>
          <p:cNvPr id="6" name="Espace réservé du pied de page 5"/>
          <p:cNvSpPr>
            <a:spLocks noGrp="1"/>
          </p:cNvSpPr>
          <p:nvPr>
            <p:ph type="ftr" sz="quarter" idx="11"/>
          </p:nvPr>
        </p:nvSpPr>
        <p:spPr/>
        <p:txBody>
          <a:bodyPr/>
          <a:lstStyle/>
          <a:p>
            <a:pPr>
              <a:defRPr/>
            </a:pPr>
            <a:endParaRPr lang="en-CA"/>
          </a:p>
        </p:txBody>
      </p:sp>
      <p:sp>
        <p:nvSpPr>
          <p:cNvPr id="7" name="Espace réservé du numéro de diapositive 6"/>
          <p:cNvSpPr>
            <a:spLocks noGrp="1"/>
          </p:cNvSpPr>
          <p:nvPr>
            <p:ph type="sldNum" sz="quarter" idx="12"/>
          </p:nvPr>
        </p:nvSpPr>
        <p:spPr/>
        <p:txBody>
          <a:bodyPr/>
          <a:lstStyle/>
          <a:p>
            <a:pPr>
              <a:defRPr/>
            </a:pPr>
            <a:fld id="{ABF2028E-C067-4D44-8983-070EB99985B1}" type="slidenum">
              <a:rPr lang="fr-CA" smtClean="0"/>
              <a:pPr>
                <a:defRPr/>
              </a:pPr>
              <a:t>‹#›</a:t>
            </a:fld>
            <a:endParaRPr lang="fr-CA"/>
          </a:p>
        </p:txBody>
      </p:sp>
      <p:sp>
        <p:nvSpPr>
          <p:cNvPr id="8" name="Connecteur droit 7"/>
          <p:cNvSpPr>
            <a:spLocks noChangeShapeType="1"/>
          </p:cNvSpPr>
          <p:nvPr/>
        </p:nvSpPr>
        <p:spPr bwMode="auto">
          <a:xfrm flipV="1">
            <a:off x="6084109"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0" name="Espace réservé du contenu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Espace réservé du contenu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37641803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3" name="Espace réservé du texte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Espace réservé du texte 3"/>
          <p:cNvSpPr>
            <a:spLocks noGrp="1"/>
          </p:cNvSpPr>
          <p:nvPr>
            <p:ph type="body" sz="half" idx="3"/>
          </p:nvPr>
        </p:nvSpPr>
        <p:spPr>
          <a:xfrm>
            <a:off x="6388442"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Espace réservé de la date 6"/>
          <p:cNvSpPr>
            <a:spLocks noGrp="1"/>
          </p:cNvSpPr>
          <p:nvPr>
            <p:ph type="dt" sz="half" idx="10"/>
          </p:nvPr>
        </p:nvSpPr>
        <p:spPr/>
        <p:txBody>
          <a:bodyPr/>
          <a:lstStyle/>
          <a:p>
            <a:pPr>
              <a:defRPr/>
            </a:pPr>
            <a:r>
              <a:rPr lang="en-US"/>
              <a:t>©Pierre Durand, 26/12/08</a:t>
            </a:r>
            <a:endParaRPr lang="fr-CA"/>
          </a:p>
        </p:txBody>
      </p:sp>
      <p:sp>
        <p:nvSpPr>
          <p:cNvPr id="8" name="Espace réservé du pied de page 7"/>
          <p:cNvSpPr>
            <a:spLocks noGrp="1"/>
          </p:cNvSpPr>
          <p:nvPr>
            <p:ph type="ftr" sz="quarter" idx="11"/>
          </p:nvPr>
        </p:nvSpPr>
        <p:spPr>
          <a:xfrm>
            <a:off x="406400" y="6409944"/>
            <a:ext cx="4775200" cy="365760"/>
          </a:xfrm>
        </p:spPr>
        <p:txBody>
          <a:bodyPr/>
          <a:lstStyle/>
          <a:p>
            <a:pPr>
              <a:defRPr/>
            </a:pPr>
            <a:endParaRPr lang="en-CA"/>
          </a:p>
        </p:txBody>
      </p:sp>
      <p:sp>
        <p:nvSpPr>
          <p:cNvPr id="15" name="Connecteur droit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24" name="Espace réservé du contenu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Espace réservé du contenu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Ellipse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7" name="Ellipse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9" name="Espace réservé du numéro de diapositive 8"/>
          <p:cNvSpPr>
            <a:spLocks noGrp="1"/>
          </p:cNvSpPr>
          <p:nvPr>
            <p:ph type="sldNum" sz="quarter" idx="12"/>
          </p:nvPr>
        </p:nvSpPr>
        <p:spPr>
          <a:xfrm>
            <a:off x="5791200" y="1042419"/>
            <a:ext cx="609600" cy="441325"/>
          </a:xfrm>
        </p:spPr>
        <p:txBody>
          <a:bodyPr/>
          <a:lstStyle>
            <a:lvl1pPr algn="ctr">
              <a:defRPr/>
            </a:lvl1pPr>
          </a:lstStyle>
          <a:p>
            <a:pPr>
              <a:defRPr/>
            </a:pPr>
            <a:fld id="{5B8A2EBE-6792-174C-88F3-8C5CBC1F17F1}" type="slidenum">
              <a:rPr lang="fr-CA" smtClean="0"/>
              <a:pPr>
                <a:defRPr/>
              </a:pPr>
              <a:t>‹#›</a:t>
            </a:fld>
            <a:endParaRPr lang="fr-CA"/>
          </a:p>
        </p:txBody>
      </p:sp>
      <p:sp>
        <p:nvSpPr>
          <p:cNvPr id="23" name="Titre 22"/>
          <p:cNvSpPr>
            <a:spLocks noGrp="1"/>
          </p:cNvSpPr>
          <p:nvPr>
            <p:ph type="title"/>
          </p:nvPr>
        </p:nvSpPr>
        <p:spPr/>
        <p:txBody>
          <a:bodyPr rtlCol="0" anchor="b" anchorCtr="0"/>
          <a:lstStyle/>
          <a:p>
            <a:r>
              <a:rPr kumimoji="0" lang="en-US"/>
              <a:t>Click to edit Master title style</a:t>
            </a:r>
          </a:p>
        </p:txBody>
      </p:sp>
    </p:spTree>
    <p:extLst>
      <p:ext uri="{BB962C8B-B14F-4D97-AF65-F5344CB8AC3E}">
        <p14:creationId xmlns:p14="http://schemas.microsoft.com/office/powerpoint/2010/main" val="130242535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3" name="Espace réservé de la date 2"/>
          <p:cNvSpPr>
            <a:spLocks noGrp="1"/>
          </p:cNvSpPr>
          <p:nvPr>
            <p:ph type="dt" sz="half" idx="10"/>
          </p:nvPr>
        </p:nvSpPr>
        <p:spPr/>
        <p:txBody>
          <a:bodyPr/>
          <a:lstStyle/>
          <a:p>
            <a:pPr>
              <a:defRPr/>
            </a:pPr>
            <a:r>
              <a:rPr lang="en-US"/>
              <a:t>©Pierre Durand, 26/12/08</a:t>
            </a:r>
            <a:endParaRPr lang="fr-CA"/>
          </a:p>
        </p:txBody>
      </p:sp>
      <p:sp>
        <p:nvSpPr>
          <p:cNvPr id="4" name="Espace réservé du pied de page 3"/>
          <p:cNvSpPr>
            <a:spLocks noGrp="1"/>
          </p:cNvSpPr>
          <p:nvPr>
            <p:ph type="ftr" sz="quarter" idx="11"/>
          </p:nvPr>
        </p:nvSpPr>
        <p:spPr/>
        <p:txBody>
          <a:bodyPr/>
          <a:lstStyle/>
          <a:p>
            <a:pPr>
              <a:defRPr/>
            </a:pPr>
            <a:endParaRPr lang="en-CA"/>
          </a:p>
        </p:txBody>
      </p:sp>
      <p:sp>
        <p:nvSpPr>
          <p:cNvPr id="5" name="Espace réservé du numéro de diapositive 4"/>
          <p:cNvSpPr>
            <a:spLocks noGrp="1"/>
          </p:cNvSpPr>
          <p:nvPr>
            <p:ph type="sldNum" sz="quarter" idx="12"/>
          </p:nvPr>
        </p:nvSpPr>
        <p:spPr>
          <a:xfrm>
            <a:off x="5791200" y="1036023"/>
            <a:ext cx="609600" cy="441325"/>
          </a:xfrm>
        </p:spPr>
        <p:txBody>
          <a:bodyPr/>
          <a:lstStyle/>
          <a:p>
            <a:pPr>
              <a:defRPr/>
            </a:pPr>
            <a:fld id="{861EDDE8-0149-AA4A-A83C-46DB0EFB8942}" type="slidenum">
              <a:rPr lang="fr-CA" smtClean="0"/>
              <a:pPr>
                <a:defRPr/>
              </a:pPr>
              <a:t>‹#›</a:t>
            </a:fld>
            <a:endParaRPr lang="fr-CA"/>
          </a:p>
        </p:txBody>
      </p:sp>
    </p:spTree>
    <p:extLst>
      <p:ext uri="{BB962C8B-B14F-4D97-AF65-F5344CB8AC3E}">
        <p14:creationId xmlns:p14="http://schemas.microsoft.com/office/powerpoint/2010/main" val="151083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5" name="Rectangle 4"/>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2" name="Espace réservé de la date 1"/>
          <p:cNvSpPr>
            <a:spLocks noGrp="1"/>
          </p:cNvSpPr>
          <p:nvPr>
            <p:ph type="dt" sz="half" idx="10"/>
          </p:nvPr>
        </p:nvSpPr>
        <p:spPr/>
        <p:txBody>
          <a:bodyPr/>
          <a:lstStyle/>
          <a:p>
            <a:pPr>
              <a:defRPr/>
            </a:pPr>
            <a:r>
              <a:rPr lang="en-US"/>
              <a:t>©Pierre Durand, 26/12/08</a:t>
            </a:r>
            <a:endParaRPr lang="fr-CA"/>
          </a:p>
        </p:txBody>
      </p:sp>
      <p:sp>
        <p:nvSpPr>
          <p:cNvPr id="3" name="Espace réservé du pied de page 2"/>
          <p:cNvSpPr>
            <a:spLocks noGrp="1"/>
          </p:cNvSpPr>
          <p:nvPr>
            <p:ph type="ftr" sz="quarter" idx="11"/>
          </p:nvPr>
        </p:nvSpPr>
        <p:spPr/>
        <p:txBody>
          <a:bodyPr/>
          <a:lstStyle/>
          <a:p>
            <a:pPr>
              <a:defRPr/>
            </a:pPr>
            <a:endParaRPr lang="en-CA"/>
          </a:p>
        </p:txBody>
      </p:sp>
      <p:sp>
        <p:nvSpPr>
          <p:cNvPr id="4" name="Espace réservé du numéro de diapositive 3"/>
          <p:cNvSpPr>
            <a:spLocks noGrp="1"/>
          </p:cNvSpPr>
          <p:nvPr>
            <p:ph type="sldNum" sz="quarter" idx="12"/>
          </p:nvPr>
        </p:nvSpPr>
        <p:spPr>
          <a:xfrm>
            <a:off x="5689600" y="6324600"/>
            <a:ext cx="812800" cy="441324"/>
          </a:xfrm>
        </p:spPr>
        <p:txBody>
          <a:bodyPr/>
          <a:lstStyle>
            <a:lvl1pPr>
              <a:defRPr>
                <a:solidFill>
                  <a:srgbClr val="FFFFFF"/>
                </a:solidFill>
              </a:defRPr>
            </a:lvl1pPr>
          </a:lstStyle>
          <a:p>
            <a:pPr>
              <a:defRPr/>
            </a:pPr>
            <a:fld id="{FECB675A-C08F-B341-8220-619FA1DC7B26}" type="slidenum">
              <a:rPr lang="fr-CA" smtClean="0"/>
              <a:pPr>
                <a:defRPr/>
              </a:pPr>
              <a:t>‹#›</a:t>
            </a:fld>
            <a:endParaRPr lang="fr-CA"/>
          </a:p>
        </p:txBody>
      </p:sp>
    </p:spTree>
    <p:extLst>
      <p:ext uri="{BB962C8B-B14F-4D97-AF65-F5344CB8AC3E}">
        <p14:creationId xmlns:p14="http://schemas.microsoft.com/office/powerpoint/2010/main" val="1875720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 name="Titr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Espace réservé du texte 2"/>
          <p:cNvSpPr>
            <a:spLocks noGrp="1"/>
          </p:cNvSpPr>
          <p:nvPr>
            <p:ph type="body" idx="2"/>
          </p:nvPr>
        </p:nvSpPr>
        <p:spPr>
          <a:xfrm>
            <a:off x="508000" y="1981203"/>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9" name="Connecteur droit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20" name="Espace réservé du contenu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Ellipse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1" name="Ellipse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7" name="Espace réservé du numéro de diapositive 6"/>
          <p:cNvSpPr>
            <a:spLocks noGrp="1"/>
          </p:cNvSpPr>
          <p:nvPr>
            <p:ph type="sldNum" sz="quarter" idx="12"/>
          </p:nvPr>
        </p:nvSpPr>
        <p:spPr>
          <a:xfrm>
            <a:off x="1828800" y="312741"/>
            <a:ext cx="609600" cy="441325"/>
          </a:xfrm>
        </p:spPr>
        <p:txBody>
          <a:bodyPr/>
          <a:lstStyle>
            <a:lvl1pPr>
              <a:defRPr>
                <a:solidFill>
                  <a:schemeClr val="accent3">
                    <a:shade val="75000"/>
                  </a:schemeClr>
                </a:solidFill>
              </a:defRPr>
            </a:lvl1pPr>
          </a:lstStyle>
          <a:p>
            <a:pPr>
              <a:defRPr/>
            </a:pPr>
            <a:fld id="{BBDB02C3-5F1B-B44C-B459-4336E1CAFA9F}" type="slidenum">
              <a:rPr lang="fr-CA" smtClean="0"/>
              <a:pPr>
                <a:defRPr/>
              </a:pPr>
              <a:t>‹#›</a:t>
            </a:fld>
            <a:endParaRPr lang="fr-CA"/>
          </a:p>
        </p:txBody>
      </p:sp>
      <p:sp>
        <p:nvSpPr>
          <p:cNvPr id="21" name="Rectangle 20"/>
          <p:cNvSpPr>
            <a:spLocks noChangeArrowheads="1"/>
          </p:cNvSpPr>
          <p:nvPr/>
        </p:nvSpPr>
        <p:spPr bwMode="auto">
          <a:xfrm>
            <a:off x="199136" y="638838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5" name="Espace réservé de la date 4"/>
          <p:cNvSpPr>
            <a:spLocks noGrp="1"/>
          </p:cNvSpPr>
          <p:nvPr>
            <p:ph type="dt" sz="half" idx="10"/>
          </p:nvPr>
        </p:nvSpPr>
        <p:spPr/>
        <p:txBody>
          <a:bodyPr/>
          <a:lstStyle/>
          <a:p>
            <a:pPr>
              <a:defRPr/>
            </a:pPr>
            <a:r>
              <a:rPr lang="en-US"/>
              <a:t>©Pierre Durand, 26/12/08</a:t>
            </a:r>
            <a:endParaRPr lang="fr-CA"/>
          </a:p>
        </p:txBody>
      </p:sp>
      <p:sp>
        <p:nvSpPr>
          <p:cNvPr id="6" name="Espace réservé du pied de page 5"/>
          <p:cNvSpPr>
            <a:spLocks noGrp="1"/>
          </p:cNvSpPr>
          <p:nvPr>
            <p:ph type="ftr" sz="quarter" idx="11"/>
          </p:nvPr>
        </p:nvSpPr>
        <p:spPr>
          <a:xfrm>
            <a:off x="402336" y="6410848"/>
            <a:ext cx="4511040" cy="365760"/>
          </a:xfrm>
        </p:spPr>
        <p:txBody>
          <a:bodyPr/>
          <a:lstStyle/>
          <a:p>
            <a:pPr>
              <a:defRPr/>
            </a:pPr>
            <a:endParaRPr lang="en-CA"/>
          </a:p>
        </p:txBody>
      </p:sp>
    </p:spTree>
    <p:extLst>
      <p:ext uri="{BB962C8B-B14F-4D97-AF65-F5344CB8AC3E}">
        <p14:creationId xmlns:p14="http://schemas.microsoft.com/office/powerpoint/2010/main" val="376846999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12" name="Ellipse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3" name="Ellipse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7" name="Espace réservé du numéro de diapositive 6"/>
          <p:cNvSpPr>
            <a:spLocks noGrp="1"/>
          </p:cNvSpPr>
          <p:nvPr>
            <p:ph type="sldNum" sz="quarter" idx="12"/>
          </p:nvPr>
        </p:nvSpPr>
        <p:spPr>
          <a:xfrm>
            <a:off x="1828800" y="312741"/>
            <a:ext cx="609600" cy="441325"/>
          </a:xfrm>
        </p:spPr>
        <p:txBody>
          <a:bodyPr/>
          <a:lstStyle/>
          <a:p>
            <a:pPr>
              <a:defRPr/>
            </a:pPr>
            <a:fld id="{3E8D161A-6432-D34D-8060-2B7E4E95406D}" type="slidenum">
              <a:rPr lang="fr-CA" smtClean="0"/>
              <a:pPr>
                <a:defRPr/>
              </a:pPr>
              <a:t>‹#›</a:t>
            </a:fld>
            <a:endParaRPr lang="fr-CA"/>
          </a:p>
        </p:txBody>
      </p:sp>
      <p:sp>
        <p:nvSpPr>
          <p:cNvPr id="2" name="Titr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Espace réservé pour une image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Espace réservé du texte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8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5" name="Espace réservé de la date 4"/>
          <p:cNvSpPr>
            <a:spLocks noGrp="1"/>
          </p:cNvSpPr>
          <p:nvPr>
            <p:ph type="dt" sz="half" idx="10"/>
          </p:nvPr>
        </p:nvSpPr>
        <p:spPr>
          <a:xfrm>
            <a:off x="7717536" y="6404984"/>
            <a:ext cx="4059936" cy="365760"/>
          </a:xfrm>
        </p:spPr>
        <p:txBody>
          <a:bodyPr/>
          <a:lstStyle/>
          <a:p>
            <a:pPr>
              <a:defRPr/>
            </a:pPr>
            <a:r>
              <a:rPr lang="en-US"/>
              <a:t>©Pierre Durand, 26/12/08</a:t>
            </a:r>
            <a:endParaRPr lang="fr-CA"/>
          </a:p>
        </p:txBody>
      </p:sp>
      <p:sp>
        <p:nvSpPr>
          <p:cNvPr id="6" name="Espace réservé du pied de page 5"/>
          <p:cNvSpPr>
            <a:spLocks noGrp="1"/>
          </p:cNvSpPr>
          <p:nvPr>
            <p:ph type="ftr" sz="quarter" idx="11"/>
          </p:nvPr>
        </p:nvSpPr>
        <p:spPr>
          <a:xfrm>
            <a:off x="402336" y="6410848"/>
            <a:ext cx="4779264" cy="365760"/>
          </a:xfrm>
        </p:spPr>
        <p:txBody>
          <a:bodyPr/>
          <a:lstStyle/>
          <a:p>
            <a:pPr>
              <a:defRPr/>
            </a:pPr>
            <a:endParaRPr lang="en-CA"/>
          </a:p>
        </p:txBody>
      </p:sp>
    </p:spTree>
    <p:extLst>
      <p:ext uri="{BB962C8B-B14F-4D97-AF65-F5344CB8AC3E}">
        <p14:creationId xmlns:p14="http://schemas.microsoft.com/office/powerpoint/2010/main" val="2063473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3" name="Espace réservé du texte vertical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Espace réservé de la date 3"/>
          <p:cNvSpPr>
            <a:spLocks noGrp="1"/>
          </p:cNvSpPr>
          <p:nvPr>
            <p:ph type="dt" sz="half" idx="10"/>
          </p:nvPr>
        </p:nvSpPr>
        <p:spPr/>
        <p:txBody>
          <a:bodyPr/>
          <a:lstStyle/>
          <a:p>
            <a:pPr>
              <a:defRPr/>
            </a:pPr>
            <a:r>
              <a:rPr lang="en-US"/>
              <a:t>©Pierre Durand, 26/12/08</a:t>
            </a:r>
            <a:endParaRPr lang="fr-CA"/>
          </a:p>
        </p:txBody>
      </p:sp>
      <p:sp>
        <p:nvSpPr>
          <p:cNvPr id="5" name="Espace réservé du pied de page 4"/>
          <p:cNvSpPr>
            <a:spLocks noGrp="1"/>
          </p:cNvSpPr>
          <p:nvPr>
            <p:ph type="ftr" sz="quarter" idx="11"/>
          </p:nvPr>
        </p:nvSpPr>
        <p:spPr/>
        <p:txBody>
          <a:bodyPr/>
          <a:lstStyle/>
          <a:p>
            <a:pPr>
              <a:defRPr/>
            </a:pPr>
            <a:endParaRPr lang="en-CA"/>
          </a:p>
        </p:txBody>
      </p:sp>
      <p:sp>
        <p:nvSpPr>
          <p:cNvPr id="6" name="Espace réservé du numéro de diapositive 5"/>
          <p:cNvSpPr>
            <a:spLocks noGrp="1"/>
          </p:cNvSpPr>
          <p:nvPr>
            <p:ph type="sldNum" sz="quarter" idx="12"/>
          </p:nvPr>
        </p:nvSpPr>
        <p:spPr/>
        <p:txBody>
          <a:bodyPr/>
          <a:lstStyle/>
          <a:p>
            <a:pPr>
              <a:defRPr/>
            </a:pPr>
            <a:fld id="{3A8BD0FE-F1B9-E04E-9CB6-498F2CF828A1}" type="slidenum">
              <a:rPr lang="fr-CA" smtClean="0"/>
              <a:pPr>
                <a:defRPr/>
              </a:pPr>
              <a:t>‹#›</a:t>
            </a:fld>
            <a:endParaRPr lang="fr-CA"/>
          </a:p>
        </p:txBody>
      </p:sp>
    </p:spTree>
    <p:extLst>
      <p:ext uri="{BB962C8B-B14F-4D97-AF65-F5344CB8AC3E}">
        <p14:creationId xmlns:p14="http://schemas.microsoft.com/office/powerpoint/2010/main" val="402066324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1" name="Rectangle 10"/>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13" name="Connecteur droit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4" name="Ellipse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Ellipse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6" name="Espace réservé du numéro de diapositive 5"/>
          <p:cNvSpPr>
            <a:spLocks noGrp="1"/>
          </p:cNvSpPr>
          <p:nvPr>
            <p:ph type="sldNum" sz="quarter" idx="12"/>
          </p:nvPr>
        </p:nvSpPr>
        <p:spPr>
          <a:xfrm>
            <a:off x="9221216" y="3009904"/>
            <a:ext cx="609600" cy="441325"/>
          </a:xfrm>
        </p:spPr>
        <p:txBody>
          <a:bodyPr/>
          <a:lstStyle/>
          <a:p>
            <a:pPr>
              <a:defRPr/>
            </a:pPr>
            <a:fld id="{09EE5842-AA29-D448-9B4F-ADEC99BBE270}" type="slidenum">
              <a:rPr lang="fr-CA" smtClean="0"/>
              <a:pPr>
                <a:defRPr/>
              </a:pPr>
              <a:t>‹#›</a:t>
            </a:fld>
            <a:endParaRPr lang="fr-CA"/>
          </a:p>
        </p:txBody>
      </p:sp>
      <p:sp>
        <p:nvSpPr>
          <p:cNvPr id="3" name="Espace réservé du texte vertical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Espace réservé de la date 3"/>
          <p:cNvSpPr>
            <a:spLocks noGrp="1"/>
          </p:cNvSpPr>
          <p:nvPr>
            <p:ph type="dt" sz="half" idx="10"/>
          </p:nvPr>
        </p:nvSpPr>
        <p:spPr/>
        <p:txBody>
          <a:bodyPr/>
          <a:lstStyle/>
          <a:p>
            <a:pPr>
              <a:defRPr/>
            </a:pPr>
            <a:r>
              <a:rPr lang="en-US"/>
              <a:t>©Pierre Durand, 26/12/08</a:t>
            </a:r>
            <a:endParaRPr lang="fr-CA"/>
          </a:p>
        </p:txBody>
      </p:sp>
      <p:sp>
        <p:nvSpPr>
          <p:cNvPr id="5" name="Espace réservé du pied de page 4"/>
          <p:cNvSpPr>
            <a:spLocks noGrp="1"/>
          </p:cNvSpPr>
          <p:nvPr>
            <p:ph type="ftr" sz="quarter" idx="11"/>
          </p:nvPr>
        </p:nvSpPr>
        <p:spPr/>
        <p:txBody>
          <a:bodyPr/>
          <a:lstStyle/>
          <a:p>
            <a:pPr>
              <a:defRPr/>
            </a:pPr>
            <a:endParaRPr lang="en-CA"/>
          </a:p>
        </p:txBody>
      </p:sp>
      <p:sp>
        <p:nvSpPr>
          <p:cNvPr id="2" name="Titre vertical 1"/>
          <p:cNvSpPr>
            <a:spLocks noGrp="1"/>
          </p:cNvSpPr>
          <p:nvPr>
            <p:ph type="title" orient="vert"/>
          </p:nvPr>
        </p:nvSpPr>
        <p:spPr>
          <a:xfrm>
            <a:off x="9855200" y="304804"/>
            <a:ext cx="1930400" cy="5851525"/>
          </a:xfrm>
        </p:spPr>
        <p:txBody>
          <a:bodyPr vert="eaVert"/>
          <a:lstStyle/>
          <a:p>
            <a:r>
              <a:rPr kumimoji="0" lang="en-US"/>
              <a:t>Click to edit Master title style</a:t>
            </a:r>
          </a:p>
        </p:txBody>
      </p:sp>
    </p:spTree>
    <p:extLst>
      <p:ext uri="{BB962C8B-B14F-4D97-AF65-F5344CB8AC3E}">
        <p14:creationId xmlns:p14="http://schemas.microsoft.com/office/powerpoint/2010/main" val="17254404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age Titre">
    <p:spTree>
      <p:nvGrpSpPr>
        <p:cNvPr id="1" name=""/>
        <p:cNvGrpSpPr/>
        <p:nvPr/>
      </p:nvGrpSpPr>
      <p:grpSpPr>
        <a:xfrm>
          <a:off x="0" y="0"/>
          <a:ext cx="0" cy="0"/>
          <a:chOff x="0" y="0"/>
          <a:chExt cx="0" cy="0"/>
        </a:xfrm>
      </p:grpSpPr>
      <p:pic>
        <p:nvPicPr>
          <p:cNvPr id="7" name="Tour UdeM"/>
          <p:cNvPicPr>
            <a:picLocks noChangeAspect="1"/>
          </p:cNvPicPr>
          <p:nvPr userDrawn="1"/>
        </p:nvPicPr>
        <p:blipFill rotWithShape="1">
          <a:blip r:embed="rId2" cstate="hqprint">
            <a:extLst>
              <a:ext uri="{28A0092B-C50C-407E-A947-70E740481C1C}">
                <a14:useLocalDpi xmlns:a14="http://schemas.microsoft.com/office/drawing/2010/main" val="0"/>
              </a:ext>
            </a:extLst>
          </a:blip>
          <a:srcRect b="10735"/>
          <a:stretch/>
        </p:blipFill>
        <p:spPr>
          <a:xfrm>
            <a:off x="0" y="4"/>
            <a:ext cx="12192000" cy="7091401"/>
          </a:xfrm>
          <a:prstGeom prst="rect">
            <a:avLst/>
          </a:prstGeom>
        </p:spPr>
      </p:pic>
      <p:sp>
        <p:nvSpPr>
          <p:cNvPr id="17" name="Rectangle 16">
            <a:extLst>
              <a:ext uri="{FF2B5EF4-FFF2-40B4-BE49-F238E27FC236}">
                <a16:creationId xmlns:a16="http://schemas.microsoft.com/office/drawing/2014/main" id="{D9805552-F195-4C67-AE72-94F541781C2F}"/>
              </a:ext>
            </a:extLst>
          </p:cNvPr>
          <p:cNvSpPr/>
          <p:nvPr userDrawn="1"/>
        </p:nvSpPr>
        <p:spPr>
          <a:xfrm>
            <a:off x="5847348" y="745960"/>
            <a:ext cx="6344653" cy="56285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fr-CA" sz="1800"/>
          </a:p>
        </p:txBody>
      </p:sp>
      <p:pic>
        <p:nvPicPr>
          <p:cNvPr id="13" name="Logo-UdeM" hidden="1"/>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404517" y="5588281"/>
            <a:ext cx="1347219" cy="612984"/>
          </a:xfrm>
          <a:prstGeom prst="rect">
            <a:avLst/>
          </a:prstGeom>
        </p:spPr>
      </p:pic>
      <p:pic>
        <p:nvPicPr>
          <p:cNvPr id="2" name="logoUdeM-service/faculté" hidden="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88253" y="5294778"/>
            <a:ext cx="2877291" cy="968688"/>
          </a:xfrm>
          <a:prstGeom prst="rect">
            <a:avLst/>
          </a:prstGeom>
        </p:spPr>
      </p:pic>
      <p:sp>
        <p:nvSpPr>
          <p:cNvPr id="19" name="Texte-date"/>
          <p:cNvSpPr>
            <a:spLocks noGrp="1"/>
          </p:cNvSpPr>
          <p:nvPr userDrawn="1">
            <p:ph type="body" sz="quarter" idx="15" hasCustomPrompt="1"/>
          </p:nvPr>
        </p:nvSpPr>
        <p:spPr>
          <a:xfrm>
            <a:off x="5847345" y="5186635"/>
            <a:ext cx="3204000" cy="288000"/>
          </a:xfrm>
        </p:spPr>
        <p:txBody>
          <a:bodyPr lIns="504000" rIns="504000" anchor="b">
            <a:noAutofit/>
          </a:bodyPr>
          <a:lstStyle>
            <a:lvl1pPr>
              <a:spcBef>
                <a:spcPts val="0"/>
              </a:spcBef>
              <a:defRPr sz="825" b="0" baseline="0">
                <a:solidFill>
                  <a:schemeClr val="accent2"/>
                </a:solidFill>
              </a:defRPr>
            </a:lvl1pPr>
            <a:lvl2pPr>
              <a:defRPr sz="1800">
                <a:solidFill>
                  <a:schemeClr val="accent2"/>
                </a:solidFill>
              </a:defRPr>
            </a:lvl2pPr>
            <a:lvl3pPr>
              <a:defRPr sz="1800">
                <a:solidFill>
                  <a:schemeClr val="accent2"/>
                </a:solidFill>
              </a:defRPr>
            </a:lvl3pPr>
            <a:lvl4pPr>
              <a:defRPr sz="1800">
                <a:solidFill>
                  <a:schemeClr val="accent2"/>
                </a:solidFill>
              </a:defRPr>
            </a:lvl4pPr>
            <a:lvl5pPr>
              <a:defRPr sz="1500">
                <a:solidFill>
                  <a:schemeClr val="accent2"/>
                </a:solidFill>
              </a:defRPr>
            </a:lvl5pPr>
          </a:lstStyle>
          <a:p>
            <a:pPr lvl="0"/>
            <a:r>
              <a:rPr lang="fr-FR" dirty="0"/>
              <a:t>Date</a:t>
            </a:r>
          </a:p>
        </p:txBody>
      </p:sp>
      <p:sp>
        <p:nvSpPr>
          <p:cNvPr id="6" name="Texte-NomPresentateur"/>
          <p:cNvSpPr>
            <a:spLocks noGrp="1"/>
          </p:cNvSpPr>
          <p:nvPr userDrawn="1">
            <p:ph type="body" sz="quarter" idx="14" hasCustomPrompt="1"/>
          </p:nvPr>
        </p:nvSpPr>
        <p:spPr>
          <a:xfrm>
            <a:off x="5847347" y="4492901"/>
            <a:ext cx="6344655" cy="684213"/>
          </a:xfrm>
        </p:spPr>
        <p:txBody>
          <a:bodyPr lIns="504000" rIns="504000" anchor="b">
            <a:noAutofit/>
          </a:bodyPr>
          <a:lstStyle>
            <a:lvl1pPr>
              <a:spcBef>
                <a:spcPts val="0"/>
              </a:spcBef>
              <a:defRPr sz="1200" b="1" baseline="0">
                <a:solidFill>
                  <a:schemeClr val="accent2"/>
                </a:solidFill>
              </a:defRPr>
            </a:lvl1pPr>
            <a:lvl2pPr>
              <a:defRPr sz="1800">
                <a:solidFill>
                  <a:schemeClr val="accent2"/>
                </a:solidFill>
              </a:defRPr>
            </a:lvl2pPr>
            <a:lvl3pPr>
              <a:defRPr sz="1800">
                <a:solidFill>
                  <a:schemeClr val="accent2"/>
                </a:solidFill>
              </a:defRPr>
            </a:lvl3pPr>
            <a:lvl4pPr>
              <a:defRPr sz="1800">
                <a:solidFill>
                  <a:schemeClr val="accent2"/>
                </a:solidFill>
              </a:defRPr>
            </a:lvl4pPr>
            <a:lvl5pPr>
              <a:defRPr sz="1500">
                <a:solidFill>
                  <a:schemeClr val="accent2"/>
                </a:solidFill>
              </a:defRPr>
            </a:lvl5pPr>
          </a:lstStyle>
          <a:p>
            <a:pPr lvl="0"/>
            <a:r>
              <a:rPr lang="fr-FR" dirty="0"/>
              <a:t>Prénom Nom du présentateur</a:t>
            </a:r>
          </a:p>
        </p:txBody>
      </p:sp>
      <p:sp>
        <p:nvSpPr>
          <p:cNvPr id="3" name="Espace réservé du texte 2">
            <a:extLst>
              <a:ext uri="{FF2B5EF4-FFF2-40B4-BE49-F238E27FC236}">
                <a16:creationId xmlns:a16="http://schemas.microsoft.com/office/drawing/2014/main" id="{077B64BA-960D-4BDC-89A3-A7E560177446}"/>
              </a:ext>
            </a:extLst>
          </p:cNvPr>
          <p:cNvSpPr>
            <a:spLocks noGrp="1"/>
          </p:cNvSpPr>
          <p:nvPr userDrawn="1">
            <p:ph type="body" sz="quarter" idx="13"/>
          </p:nvPr>
        </p:nvSpPr>
        <p:spPr>
          <a:xfrm>
            <a:off x="5847348" y="745956"/>
            <a:ext cx="6344653" cy="3496554"/>
          </a:xfrm>
          <a:solidFill>
            <a:schemeClr val="tx2"/>
          </a:solidFill>
        </p:spPr>
        <p:txBody>
          <a:bodyPr lIns="504000" tIns="468000" rIns="504000" bIns="288000" anchor="t">
            <a:normAutofit/>
          </a:bodyPr>
          <a:lstStyle>
            <a:lvl1pPr marL="0" indent="0" algn="l">
              <a:lnSpc>
                <a:spcPct val="90000"/>
              </a:lnSpc>
              <a:spcBef>
                <a:spcPts val="375"/>
              </a:spcBef>
              <a:buFontTx/>
              <a:buNone/>
              <a:defRPr sz="2700">
                <a:solidFill>
                  <a:schemeClr val="accent2"/>
                </a:solidFill>
              </a:defRPr>
            </a:lvl1pPr>
          </a:lstStyle>
          <a:p>
            <a:pPr lvl="0"/>
            <a:r>
              <a:rPr lang="fr-FR" dirty="0"/>
              <a:t>Modifier les styles du texte du masque</a:t>
            </a:r>
          </a:p>
        </p:txBody>
      </p:sp>
      <p:pic>
        <p:nvPicPr>
          <p:cNvPr id="18" name="logoUdeM-et-du-monde_F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45888" y="5502013"/>
            <a:ext cx="2946112" cy="824400"/>
          </a:xfrm>
          <a:prstGeom prst="rect">
            <a:avLst/>
          </a:prstGeom>
        </p:spPr>
      </p:pic>
    </p:spTree>
    <p:extLst>
      <p:ext uri="{BB962C8B-B14F-4D97-AF65-F5344CB8AC3E}">
        <p14:creationId xmlns:p14="http://schemas.microsoft.com/office/powerpoint/2010/main" val="1978158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6017" userDrawn="1">
          <p15:clr>
            <a:srgbClr val="FBAE40"/>
          </p15:clr>
        </p15:guide>
        <p15:guide id="4" pos="7469" userDrawn="1">
          <p15:clr>
            <a:srgbClr val="FBAE40"/>
          </p15:clr>
        </p15:guide>
        <p15:guide id="5" orient="horz" pos="3861" userDrawn="1">
          <p15:clr>
            <a:srgbClr val="FBAE40"/>
          </p15:clr>
        </p15:guide>
        <p15:guide id="6" orient="horz" pos="356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r>
              <a:rPr lang="en-US"/>
              <a:t>©Pierre Durand, 26/12/08</a:t>
            </a:r>
            <a:endParaRPr lang="fr-CA"/>
          </a:p>
        </p:txBody>
      </p:sp>
      <p:sp>
        <p:nvSpPr>
          <p:cNvPr id="5" name="Footer Placeholder 4"/>
          <p:cNvSpPr>
            <a:spLocks noGrp="1"/>
          </p:cNvSpPr>
          <p:nvPr>
            <p:ph type="ftr" sz="quarter" idx="11"/>
          </p:nvPr>
        </p:nvSpPr>
        <p:spPr/>
        <p:txBody>
          <a:bodyPr/>
          <a:lstStyle/>
          <a:p>
            <a:pPr>
              <a:defRPr/>
            </a:pPr>
            <a:endParaRPr lang="en-CA"/>
          </a:p>
        </p:txBody>
      </p:sp>
      <p:sp>
        <p:nvSpPr>
          <p:cNvPr id="6" name="Slide Number Placeholder 5"/>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42090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©Pierre Durand, 26/12/08</a:t>
            </a:r>
            <a:endParaRPr lang="fr-CA"/>
          </a:p>
        </p:txBody>
      </p:sp>
      <p:sp>
        <p:nvSpPr>
          <p:cNvPr id="5" name="Footer Placeholder 4"/>
          <p:cNvSpPr>
            <a:spLocks noGrp="1"/>
          </p:cNvSpPr>
          <p:nvPr>
            <p:ph type="ftr" sz="quarter" idx="11"/>
          </p:nvPr>
        </p:nvSpPr>
        <p:spPr/>
        <p:txBody>
          <a:bodyPr/>
          <a:lstStyle/>
          <a:p>
            <a:pPr>
              <a:defRPr/>
            </a:pPr>
            <a:endParaRPr lang="en-CA"/>
          </a:p>
        </p:txBody>
      </p:sp>
      <p:sp>
        <p:nvSpPr>
          <p:cNvPr id="6" name="Slide Number Placeholder 5"/>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416913933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©Pierre Durand, 26/12/08</a:t>
            </a:r>
            <a:endParaRPr lang="fr-CA"/>
          </a:p>
        </p:txBody>
      </p:sp>
      <p:sp>
        <p:nvSpPr>
          <p:cNvPr id="5" name="Footer Placeholder 4"/>
          <p:cNvSpPr>
            <a:spLocks noGrp="1"/>
          </p:cNvSpPr>
          <p:nvPr>
            <p:ph type="ftr" sz="quarter" idx="11"/>
          </p:nvPr>
        </p:nvSpPr>
        <p:spPr/>
        <p:txBody>
          <a:bodyPr/>
          <a:lstStyle/>
          <a:p>
            <a:pPr>
              <a:defRPr/>
            </a:pPr>
            <a:endParaRPr lang="en-CA"/>
          </a:p>
        </p:txBody>
      </p:sp>
      <p:sp>
        <p:nvSpPr>
          <p:cNvPr id="6" name="Slide Number Placeholder 5"/>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22934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©Pierre Durand, 26/12/08</a:t>
            </a:r>
            <a:endParaRPr lang="fr-CA"/>
          </a:p>
        </p:txBody>
      </p:sp>
      <p:sp>
        <p:nvSpPr>
          <p:cNvPr id="6" name="Footer Placeholder 5"/>
          <p:cNvSpPr>
            <a:spLocks noGrp="1"/>
          </p:cNvSpPr>
          <p:nvPr>
            <p:ph type="ftr" sz="quarter" idx="11"/>
          </p:nvPr>
        </p:nvSpPr>
        <p:spPr/>
        <p:txBody>
          <a:bodyPr/>
          <a:lstStyle/>
          <a:p>
            <a:pPr>
              <a:defRPr/>
            </a:pPr>
            <a:endParaRPr lang="en-CA"/>
          </a:p>
        </p:txBody>
      </p:sp>
      <p:sp>
        <p:nvSpPr>
          <p:cNvPr id="7" name="Slide Number Placeholder 6"/>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242387462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©Pierre Durand, 26/12/08</a:t>
            </a:r>
            <a:endParaRPr lang="fr-CA"/>
          </a:p>
        </p:txBody>
      </p:sp>
      <p:sp>
        <p:nvSpPr>
          <p:cNvPr id="8" name="Footer Placeholder 7"/>
          <p:cNvSpPr>
            <a:spLocks noGrp="1"/>
          </p:cNvSpPr>
          <p:nvPr>
            <p:ph type="ftr" sz="quarter" idx="11"/>
          </p:nvPr>
        </p:nvSpPr>
        <p:spPr/>
        <p:txBody>
          <a:bodyPr/>
          <a:lstStyle/>
          <a:p>
            <a:pPr>
              <a:defRPr/>
            </a:pPr>
            <a:endParaRPr lang="en-CA"/>
          </a:p>
        </p:txBody>
      </p:sp>
      <p:sp>
        <p:nvSpPr>
          <p:cNvPr id="9" name="Slide Number Placeholder 8"/>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140571143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r>
              <a:rPr lang="en-US"/>
              <a:t>©Pierre Durand, 26/12/08</a:t>
            </a:r>
            <a:endParaRPr lang="fr-CA"/>
          </a:p>
        </p:txBody>
      </p:sp>
      <p:sp>
        <p:nvSpPr>
          <p:cNvPr id="4" name="Footer Placeholder 3"/>
          <p:cNvSpPr>
            <a:spLocks noGrp="1"/>
          </p:cNvSpPr>
          <p:nvPr>
            <p:ph type="ftr" sz="quarter" idx="11"/>
          </p:nvPr>
        </p:nvSpPr>
        <p:spPr/>
        <p:txBody>
          <a:bodyPr/>
          <a:lstStyle/>
          <a:p>
            <a:pPr>
              <a:defRPr/>
            </a:pPr>
            <a:endParaRPr lang="en-CA"/>
          </a:p>
        </p:txBody>
      </p:sp>
      <p:sp>
        <p:nvSpPr>
          <p:cNvPr id="5" name="Slide Number Placeholder 4"/>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520083495"/>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r>
              <a:rPr lang="en-US"/>
              <a:t>©Pierre Durand, 26/12/08</a:t>
            </a:r>
            <a:endParaRPr lang="fr-CA"/>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CA"/>
          </a:p>
        </p:txBody>
      </p:sp>
      <p:sp>
        <p:nvSpPr>
          <p:cNvPr id="9" name="Slide Number Placeholder 8"/>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256148462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r>
              <a:rPr lang="en-US"/>
              <a:t>©Pierre Durand, 26/12/08</a:t>
            </a:r>
            <a:endParaRPr lang="fr-C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endParaRPr lang="en-CA"/>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299406954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©Pierre Durand, 26/12/08</a:t>
            </a:r>
            <a:endParaRPr lang="fr-CA"/>
          </a:p>
        </p:txBody>
      </p:sp>
      <p:sp>
        <p:nvSpPr>
          <p:cNvPr id="6" name="Footer Placeholder 5"/>
          <p:cNvSpPr>
            <a:spLocks noGrp="1"/>
          </p:cNvSpPr>
          <p:nvPr>
            <p:ph type="ftr" sz="quarter" idx="11"/>
          </p:nvPr>
        </p:nvSpPr>
        <p:spPr/>
        <p:txBody>
          <a:bodyPr/>
          <a:lstStyle/>
          <a:p>
            <a:pPr>
              <a:defRPr/>
            </a:pPr>
            <a:endParaRPr lang="en-CA"/>
          </a:p>
        </p:txBody>
      </p:sp>
      <p:sp>
        <p:nvSpPr>
          <p:cNvPr id="7" name="Slide Number Placeholder 6"/>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3362844603"/>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©Pierre Durand, 26/12/08</a:t>
            </a:r>
            <a:endParaRPr lang="fr-CA"/>
          </a:p>
        </p:txBody>
      </p:sp>
      <p:sp>
        <p:nvSpPr>
          <p:cNvPr id="5" name="Footer Placeholder 4"/>
          <p:cNvSpPr>
            <a:spLocks noGrp="1"/>
          </p:cNvSpPr>
          <p:nvPr>
            <p:ph type="ftr" sz="quarter" idx="11"/>
          </p:nvPr>
        </p:nvSpPr>
        <p:spPr/>
        <p:txBody>
          <a:bodyPr/>
          <a:lstStyle/>
          <a:p>
            <a:pPr>
              <a:defRPr/>
            </a:pPr>
            <a:endParaRPr lang="en-CA"/>
          </a:p>
        </p:txBody>
      </p:sp>
      <p:sp>
        <p:nvSpPr>
          <p:cNvPr id="6" name="Slide Number Placeholder 5"/>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3552103618"/>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©Pierre Durand, 26/12/08</a:t>
            </a:r>
            <a:endParaRPr lang="fr-CA"/>
          </a:p>
        </p:txBody>
      </p:sp>
      <p:sp>
        <p:nvSpPr>
          <p:cNvPr id="5" name="Footer Placeholder 4"/>
          <p:cNvSpPr>
            <a:spLocks noGrp="1"/>
          </p:cNvSpPr>
          <p:nvPr>
            <p:ph type="ftr" sz="quarter" idx="11"/>
          </p:nvPr>
        </p:nvSpPr>
        <p:spPr/>
        <p:txBody>
          <a:bodyPr/>
          <a:lstStyle/>
          <a:p>
            <a:pPr>
              <a:defRPr/>
            </a:pPr>
            <a:endParaRPr lang="en-CA"/>
          </a:p>
        </p:txBody>
      </p:sp>
      <p:sp>
        <p:nvSpPr>
          <p:cNvPr id="6" name="Slide Number Placeholder 5"/>
          <p:cNvSpPr>
            <a:spLocks noGrp="1"/>
          </p:cNvSpPr>
          <p:nvPr>
            <p:ph type="sldNum" sz="quarter" idx="12"/>
          </p:nvPr>
        </p:nvSpPr>
        <p:spPr/>
        <p:txBody>
          <a:bodyPr/>
          <a:lstStyle/>
          <a:p>
            <a:pPr>
              <a:defRPr/>
            </a:pPr>
            <a:fld id="{0585649F-876E-A447-8403-6DEDC0440903}" type="slidenum">
              <a:rPr lang="fr-CA" smtClean="0"/>
              <a:pPr>
                <a:defRPr/>
              </a:pPr>
              <a:t>‹#›</a:t>
            </a:fld>
            <a:endParaRPr lang="fr-CA"/>
          </a:p>
        </p:txBody>
      </p:sp>
    </p:spTree>
    <p:extLst>
      <p:ext uri="{BB962C8B-B14F-4D97-AF65-F5344CB8AC3E}">
        <p14:creationId xmlns:p14="http://schemas.microsoft.com/office/powerpoint/2010/main" val="279435707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6" name="Rectangle 15"/>
          <p:cNvSpPr>
            <a:spLocks noChangeArrowheads="1"/>
          </p:cNvSpPr>
          <p:nvPr/>
        </p:nvSpPr>
        <p:spPr bwMode="white">
          <a:xfrm>
            <a:off x="0" y="3"/>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9" name="Rectangle 8"/>
          <p:cNvSpPr>
            <a:spLocks noChangeArrowheads="1"/>
          </p:cNvSpPr>
          <p:nvPr/>
        </p:nvSpPr>
        <p:spPr bwMode="auto">
          <a:xfrm>
            <a:off x="199136" y="638838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4" name="Espace réservé de la date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pPr>
              <a:defRPr/>
            </a:pPr>
            <a:r>
              <a:rPr lang="en-US"/>
              <a:t>©Pierre Durand, 26/12/08</a:t>
            </a:r>
            <a:endParaRPr lang="fr-CA"/>
          </a:p>
        </p:txBody>
      </p:sp>
      <p:sp>
        <p:nvSpPr>
          <p:cNvPr id="3" name="Espace réservé du pied de page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pPr>
              <a:defRPr/>
            </a:pPr>
            <a:endParaRPr lang="en-CA"/>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sz="1800" dirty="0">
              <a:solidFill>
                <a:prstClr val="black"/>
              </a:solidFill>
            </a:endParaRPr>
          </a:p>
        </p:txBody>
      </p:sp>
      <p:sp>
        <p:nvSpPr>
          <p:cNvPr id="10" name="Connecteur droit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sz="1800">
              <a:solidFill>
                <a:prstClr val="black"/>
              </a:solidFill>
            </a:endParaRPr>
          </a:p>
        </p:txBody>
      </p:sp>
      <p:sp>
        <p:nvSpPr>
          <p:cNvPr id="12" name="Ellipse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Ellipse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3" name="Espace réservé du numéro de diapositive 22"/>
          <p:cNvSpPr>
            <a:spLocks noGrp="1"/>
          </p:cNvSpPr>
          <p:nvPr>
            <p:ph type="sldNum" sz="quarter" idx="4"/>
          </p:nvPr>
        </p:nvSpPr>
        <p:spPr>
          <a:xfrm>
            <a:off x="5791200" y="1040177"/>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0585649F-876E-A447-8403-6DEDC0440903}" type="slidenum">
              <a:rPr lang="fr-CA" smtClean="0"/>
              <a:t>‹#›</a:t>
            </a:fld>
            <a:endParaRPr lang="fr-CA"/>
          </a:p>
        </p:txBody>
      </p:sp>
      <p:sp>
        <p:nvSpPr>
          <p:cNvPr id="22" name="Espace réservé du titre 21"/>
          <p:cNvSpPr>
            <a:spLocks noGrp="1"/>
          </p:cNvSpPr>
          <p:nvPr>
            <p:ph type="title"/>
          </p:nvPr>
        </p:nvSpPr>
        <p:spPr>
          <a:xfrm>
            <a:off x="402336" y="228600"/>
            <a:ext cx="113792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extLst>
      <p:ext uri="{BB962C8B-B14F-4D97-AF65-F5344CB8AC3E}">
        <p14:creationId xmlns:p14="http://schemas.microsoft.com/office/powerpoint/2010/main" val="32859641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r>
              <a:rPr lang="en-US"/>
              <a:t>©Pierre Durand, 26/12/08</a:t>
            </a:r>
            <a:endParaRPr lang="fr-CA"/>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CA"/>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0585649F-876E-A447-8403-6DEDC0440903}" type="slidenum">
              <a:rPr lang="fr-CA" smtClean="0"/>
              <a:t>‹#›</a:t>
            </a:fld>
            <a:endParaRPr lang="fr-CA"/>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5598537"/>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2.jpe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hyperlink" Target="https://www.reuters.com/article/us-australia-mining-indigenous-idUSKCN2AV0OU" TargetMode="External"/><Relationship Id="rId5" Type="http://schemas.openxmlformats.org/officeDocument/2006/relationships/hyperlink" Target="https://www.cbc.ca/news/business/air-canada-bonuses-returned-1.6055825" TargetMode="Externa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hyperlink" Target="https://www.gsi-alliance.org/wp-content/uploads/2023/12/GSIA-Report-2022.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hyperlink" Target="https://www.sustainalytics.com/esg-rating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s://www.euronews.com/green/2022/09/08/love-coffee-pods-but-hate-the-waste-this-swiss-company-has-invented-a-green-alternative" TargetMode="Externa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Layout" Target="../diagrams/layout1.xml"/><Relationship Id="rId7" Type="http://schemas.openxmlformats.org/officeDocument/2006/relationships/image" Target="../media/image33.emf"/><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35.sv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fossilfreefunds.org/" TargetMode="Externa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hyperlink" Target="https://fossilfreefunds.org/fund/ishares-esg-aware-msci-usa-etf/ESGU/fossil-fuel-investments/FS0000CP0D/F00000XMD2" TargetMode="Externa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hyperlink" Target="https://www.investopedia.com/sustainable-investing-4427774" TargetMode="External"/><Relationship Id="rId7" Type="http://schemas.openxmlformats.org/officeDocument/2006/relationships/hyperlink" Target="https://investor.vanguard.com/investment-products/etfs/profile/esgv" TargetMode="External"/><Relationship Id="rId2" Type="http://schemas.openxmlformats.org/officeDocument/2006/relationships/hyperlink" Target="https://www.finance-investissement.com/" TargetMode="External"/><Relationship Id="rId1" Type="http://schemas.openxmlformats.org/officeDocument/2006/relationships/slideLayout" Target="../slideLayouts/slideLayout19.xml"/><Relationship Id="rId6" Type="http://schemas.openxmlformats.org/officeDocument/2006/relationships/hyperlink" Target="https://www.msci.com/our-solutions/esg-investing/esg-fund-ratings-climate-search-tool/funds/" TargetMode="External"/><Relationship Id="rId5" Type="http://schemas.openxmlformats.org/officeDocument/2006/relationships/hyperlink" Target="https://www.retaildive.com/news/nike-faces-lawsuit-greenwashing-claims/650282/" TargetMode="External"/><Relationship Id="rId4" Type="http://schemas.openxmlformats.org/officeDocument/2006/relationships/hyperlink" Target="https://www.greenbiz.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CE3F-EA88-316A-BA25-61E3A68BFC5B}"/>
              </a:ext>
            </a:extLst>
          </p:cNvPr>
          <p:cNvSpPr>
            <a:spLocks noGrp="1"/>
          </p:cNvSpPr>
          <p:nvPr>
            <p:ph type="title"/>
          </p:nvPr>
        </p:nvSpPr>
        <p:spPr>
          <a:xfrm>
            <a:off x="3540805" y="748157"/>
            <a:ext cx="7970613" cy="1450757"/>
          </a:xfrm>
          <a:solidFill>
            <a:schemeClr val="bg1"/>
          </a:solidFill>
        </p:spPr>
        <p:txBody>
          <a:bodyPr>
            <a:normAutofit/>
          </a:bodyPr>
          <a:lstStyle/>
          <a:p>
            <a:r>
              <a:rPr lang="en-CA" dirty="0"/>
              <a:t>Chronique financière… </a:t>
            </a:r>
            <a:r>
              <a:rPr lang="en-CA" dirty="0">
                <a:solidFill>
                  <a:srgbClr val="C00000"/>
                </a:solidFill>
                <a:latin typeface="Ink Free" panose="03080402000500000000" pitchFamily="66" charset="0"/>
              </a:rPr>
              <a:t>ESG !</a:t>
            </a:r>
            <a:endParaRPr lang="fr-CA" dirty="0">
              <a:solidFill>
                <a:srgbClr val="C00000"/>
              </a:solidFill>
              <a:latin typeface="Ink Free" panose="03080402000500000000" pitchFamily="66" charset="0"/>
            </a:endParaRPr>
          </a:p>
        </p:txBody>
      </p:sp>
      <p:sp>
        <p:nvSpPr>
          <p:cNvPr id="3" name="Content Placeholder 2">
            <a:extLst>
              <a:ext uri="{FF2B5EF4-FFF2-40B4-BE49-F238E27FC236}">
                <a16:creationId xmlns:a16="http://schemas.microsoft.com/office/drawing/2014/main" id="{BD2F2975-8E17-55BC-C605-1DF6AB103270}"/>
              </a:ext>
            </a:extLst>
          </p:cNvPr>
          <p:cNvSpPr>
            <a:spLocks noGrp="1"/>
          </p:cNvSpPr>
          <p:nvPr>
            <p:ph idx="1"/>
          </p:nvPr>
        </p:nvSpPr>
        <p:spPr>
          <a:xfrm>
            <a:off x="3670126" y="2680570"/>
            <a:ext cx="8392438" cy="4334005"/>
          </a:xfrm>
        </p:spPr>
        <p:txBody>
          <a:bodyPr>
            <a:normAutofit/>
          </a:bodyPr>
          <a:lstStyle/>
          <a:p>
            <a:r>
              <a:rPr lang="fr-CA" sz="2900" b="1" dirty="0"/>
              <a:t>Séance 1 : </a:t>
            </a:r>
            <a:r>
              <a:rPr lang="fr-CA" sz="2900" dirty="0"/>
              <a:t>Introduction</a:t>
            </a:r>
          </a:p>
          <a:p>
            <a:endParaRPr lang="fr-CA" sz="200" dirty="0"/>
          </a:p>
          <a:p>
            <a:r>
              <a:rPr lang="en-US" sz="2900" dirty="0">
                <a:solidFill>
                  <a:srgbClr val="C00000"/>
                </a:solidFill>
                <a:latin typeface="Ink Free" panose="03080402000500000000" pitchFamily="66" charset="0"/>
              </a:rPr>
              <a:t>Comprendre l'ESG : impacts financiers et responsabilité des entreprises.</a:t>
            </a:r>
            <a:endParaRPr lang="en-CA" sz="1100" dirty="0"/>
          </a:p>
          <a:p>
            <a:endParaRPr lang="en-CA" sz="1100" dirty="0"/>
          </a:p>
          <a:p>
            <a:endParaRPr lang="en-CA" sz="1100" dirty="0"/>
          </a:p>
          <a:p>
            <a:endParaRPr lang="en-CA" sz="1100" dirty="0"/>
          </a:p>
          <a:p>
            <a:endParaRPr lang="en-CA" sz="1100" dirty="0"/>
          </a:p>
          <a:p>
            <a:endParaRPr lang="en-CA" sz="1100" dirty="0"/>
          </a:p>
          <a:p>
            <a:endParaRPr lang="en-CA" sz="1100" dirty="0"/>
          </a:p>
          <a:p>
            <a:r>
              <a:rPr lang="fr-CA" sz="2400" dirty="0">
                <a:solidFill>
                  <a:schemeClr val="bg1"/>
                </a:solidFill>
              </a:rPr>
              <a:t>©Mélanie Harris (2024)</a:t>
            </a:r>
          </a:p>
        </p:txBody>
      </p:sp>
      <p:pic>
        <p:nvPicPr>
          <p:cNvPr id="18" name="Picture 17" descr="Calculatrice, stylo, boussole, argent et un papier avec graphiques imprimés">
            <a:extLst>
              <a:ext uri="{FF2B5EF4-FFF2-40B4-BE49-F238E27FC236}">
                <a16:creationId xmlns:a16="http://schemas.microsoft.com/office/drawing/2014/main" id="{021DAD8B-EBF5-3F41-5E07-1916D317DA5C}"/>
              </a:ext>
            </a:extLst>
          </p:cNvPr>
          <p:cNvPicPr>
            <a:picLocks noChangeAspect="1"/>
          </p:cNvPicPr>
          <p:nvPr/>
        </p:nvPicPr>
        <p:blipFill rotWithShape="1">
          <a:blip r:embed="rId2"/>
          <a:srcRect l="36804" r="32583" b="1"/>
          <a:stretch/>
        </p:blipFill>
        <p:spPr>
          <a:xfrm>
            <a:off x="0" y="-12128"/>
            <a:ext cx="3490702" cy="6870127"/>
          </a:xfrm>
          <a:prstGeom prst="rect">
            <a:avLst/>
          </a:prstGeom>
        </p:spPr>
      </p:pic>
      <p:sp>
        <p:nvSpPr>
          <p:cNvPr id="7" name="Rectangle 6">
            <a:extLst>
              <a:ext uri="{FF2B5EF4-FFF2-40B4-BE49-F238E27FC236}">
                <a16:creationId xmlns:a16="http://schemas.microsoft.com/office/drawing/2014/main" id="{F5E848BD-0572-4689-BFEC-99A4DA31A242}"/>
              </a:ext>
            </a:extLst>
          </p:cNvPr>
          <p:cNvSpPr/>
          <p:nvPr/>
        </p:nvSpPr>
        <p:spPr>
          <a:xfrm>
            <a:off x="4408200" y="4812058"/>
            <a:ext cx="4185616" cy="628250"/>
          </a:xfrm>
          <a:custGeom>
            <a:avLst/>
            <a:gdLst>
              <a:gd name="connsiteX0" fmla="*/ 0 w 4185616"/>
              <a:gd name="connsiteY0" fmla="*/ 0 h 628250"/>
              <a:gd name="connsiteX1" fmla="*/ 655747 w 4185616"/>
              <a:gd name="connsiteY1" fmla="*/ 0 h 628250"/>
              <a:gd name="connsiteX2" fmla="*/ 1269637 w 4185616"/>
              <a:gd name="connsiteY2" fmla="*/ 0 h 628250"/>
              <a:gd name="connsiteX3" fmla="*/ 2050952 w 4185616"/>
              <a:gd name="connsiteY3" fmla="*/ 0 h 628250"/>
              <a:gd name="connsiteX4" fmla="*/ 2832267 w 4185616"/>
              <a:gd name="connsiteY4" fmla="*/ 0 h 628250"/>
              <a:gd name="connsiteX5" fmla="*/ 3488013 w 4185616"/>
              <a:gd name="connsiteY5" fmla="*/ 0 h 628250"/>
              <a:gd name="connsiteX6" fmla="*/ 4185616 w 4185616"/>
              <a:gd name="connsiteY6" fmla="*/ 0 h 628250"/>
              <a:gd name="connsiteX7" fmla="*/ 4185616 w 4185616"/>
              <a:gd name="connsiteY7" fmla="*/ 628250 h 628250"/>
              <a:gd name="connsiteX8" fmla="*/ 3404301 w 4185616"/>
              <a:gd name="connsiteY8" fmla="*/ 628250 h 628250"/>
              <a:gd name="connsiteX9" fmla="*/ 2748555 w 4185616"/>
              <a:gd name="connsiteY9" fmla="*/ 628250 h 628250"/>
              <a:gd name="connsiteX10" fmla="*/ 2176520 w 4185616"/>
              <a:gd name="connsiteY10" fmla="*/ 628250 h 628250"/>
              <a:gd name="connsiteX11" fmla="*/ 1562630 w 4185616"/>
              <a:gd name="connsiteY11" fmla="*/ 628250 h 628250"/>
              <a:gd name="connsiteX12" fmla="*/ 865027 w 4185616"/>
              <a:gd name="connsiteY12" fmla="*/ 628250 h 628250"/>
              <a:gd name="connsiteX13" fmla="*/ 0 w 4185616"/>
              <a:gd name="connsiteY13" fmla="*/ 628250 h 628250"/>
              <a:gd name="connsiteX14" fmla="*/ 0 w 4185616"/>
              <a:gd name="connsiteY14" fmla="*/ 0 h 62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85616" h="628250" extrusionOk="0">
                <a:moveTo>
                  <a:pt x="0" y="0"/>
                </a:moveTo>
                <a:cubicBezTo>
                  <a:pt x="141772" y="-18766"/>
                  <a:pt x="360120" y="-31141"/>
                  <a:pt x="655747" y="0"/>
                </a:cubicBezTo>
                <a:cubicBezTo>
                  <a:pt x="951374" y="31141"/>
                  <a:pt x="972410" y="26241"/>
                  <a:pt x="1269637" y="0"/>
                </a:cubicBezTo>
                <a:cubicBezTo>
                  <a:pt x="1566864" y="-26241"/>
                  <a:pt x="1768697" y="-24272"/>
                  <a:pt x="2050952" y="0"/>
                </a:cubicBezTo>
                <a:cubicBezTo>
                  <a:pt x="2333207" y="24272"/>
                  <a:pt x="2620039" y="20614"/>
                  <a:pt x="2832267" y="0"/>
                </a:cubicBezTo>
                <a:cubicBezTo>
                  <a:pt x="3044496" y="-20614"/>
                  <a:pt x="3297458" y="3611"/>
                  <a:pt x="3488013" y="0"/>
                </a:cubicBezTo>
                <a:cubicBezTo>
                  <a:pt x="3678568" y="-3611"/>
                  <a:pt x="3861752" y="-7976"/>
                  <a:pt x="4185616" y="0"/>
                </a:cubicBezTo>
                <a:cubicBezTo>
                  <a:pt x="4205637" y="141044"/>
                  <a:pt x="4191918" y="484467"/>
                  <a:pt x="4185616" y="628250"/>
                </a:cubicBezTo>
                <a:cubicBezTo>
                  <a:pt x="3875420" y="608314"/>
                  <a:pt x="3604572" y="635969"/>
                  <a:pt x="3404301" y="628250"/>
                </a:cubicBezTo>
                <a:cubicBezTo>
                  <a:pt x="3204030" y="620531"/>
                  <a:pt x="3059429" y="660673"/>
                  <a:pt x="2748555" y="628250"/>
                </a:cubicBezTo>
                <a:cubicBezTo>
                  <a:pt x="2437681" y="595827"/>
                  <a:pt x="2430159" y="617266"/>
                  <a:pt x="2176520" y="628250"/>
                </a:cubicBezTo>
                <a:cubicBezTo>
                  <a:pt x="1922881" y="639234"/>
                  <a:pt x="1778928" y="646462"/>
                  <a:pt x="1562630" y="628250"/>
                </a:cubicBezTo>
                <a:cubicBezTo>
                  <a:pt x="1346332" y="610039"/>
                  <a:pt x="1099238" y="646173"/>
                  <a:pt x="865027" y="628250"/>
                </a:cubicBezTo>
                <a:cubicBezTo>
                  <a:pt x="630816" y="610327"/>
                  <a:pt x="287519" y="637954"/>
                  <a:pt x="0" y="628250"/>
                </a:cubicBezTo>
                <a:cubicBezTo>
                  <a:pt x="-4188" y="387648"/>
                  <a:pt x="21636" y="282408"/>
                  <a:pt x="0" y="0"/>
                </a:cubicBezTo>
                <a:close/>
              </a:path>
            </a:pathLst>
          </a:custGeom>
          <a:noFill/>
          <a:ln>
            <a:solidFill>
              <a:schemeClr val="tx1"/>
            </a:solidFill>
            <a:prstDash val="solid"/>
            <a:extLst>
              <a:ext uri="{C807C97D-BFC1-408E-A445-0C87EB9F89A2}">
                <ask:lineSketchStyleProps xmlns:ask="http://schemas.microsoft.com/office/drawing/2018/sketchyshapes" sd="1114559647">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500" dirty="0">
                <a:solidFill>
                  <a:schemeClr val="tx1"/>
                </a:solidFill>
                <a:latin typeface="Ink Free" panose="03080402000500000000" pitchFamily="66" charset="0"/>
              </a:rPr>
              <a:t>Non </a:t>
            </a:r>
            <a:r>
              <a:rPr lang="fr-CA" sz="2500" dirty="0" err="1">
                <a:solidFill>
                  <a:schemeClr val="tx1"/>
                </a:solidFill>
                <a:latin typeface="Ink Free" panose="03080402000500000000" pitchFamily="66" charset="0"/>
              </a:rPr>
              <a:t>soumis </a:t>
            </a:r>
            <a:r>
              <a:rPr lang="fr-CA" sz="2500" dirty="0">
                <a:solidFill>
                  <a:schemeClr val="tx1"/>
                </a:solidFill>
                <a:latin typeface="Ink Free" panose="03080402000500000000" pitchFamily="66" charset="0"/>
              </a:rPr>
              <a:t>à </a:t>
            </a:r>
            <a:r>
              <a:rPr lang="fr-CA" sz="2500" dirty="0" err="1">
                <a:solidFill>
                  <a:schemeClr val="tx1"/>
                </a:solidFill>
                <a:latin typeface="Ink Free" panose="03080402000500000000" pitchFamily="66" charset="0"/>
              </a:rPr>
              <a:t>examen</a:t>
            </a:r>
            <a:endParaRPr lang="fr-CA" sz="2500" dirty="0">
              <a:solidFill>
                <a:schemeClr val="tx1"/>
              </a:solidFill>
              <a:latin typeface="Ink Free" panose="03080402000500000000" pitchFamily="66" charset="0"/>
            </a:endParaRPr>
          </a:p>
        </p:txBody>
      </p:sp>
      <p:pic>
        <p:nvPicPr>
          <p:cNvPr id="4" name="Espace réservé du contenu 5">
            <a:extLst>
              <a:ext uri="{FF2B5EF4-FFF2-40B4-BE49-F238E27FC236}">
                <a16:creationId xmlns:a16="http://schemas.microsoft.com/office/drawing/2014/main" id="{8D093517-8AE3-6AA4-6C5D-DD0150FF0B27}"/>
              </a:ext>
            </a:extLst>
          </p:cNvPr>
          <p:cNvPicPr>
            <a:picLocks noGrp="1"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41293" y="151843"/>
            <a:ext cx="3720228" cy="1292744"/>
          </a:xfrm>
          <a:prstGeom prst="rect">
            <a:avLst/>
          </a:prstGeom>
        </p:spPr>
      </p:pic>
      <p:pic>
        <p:nvPicPr>
          <p:cNvPr id="1026" name="Picture 2" descr="Danger ">
            <a:extLst>
              <a:ext uri="{FF2B5EF4-FFF2-40B4-BE49-F238E27FC236}">
                <a16:creationId xmlns:a16="http://schemas.microsoft.com/office/drawing/2014/main" id="{0F9BD5A2-3E2A-DE97-03E7-D2DA9D656A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644" y="4749628"/>
            <a:ext cx="753110" cy="753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261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9B6E51-DB08-C092-547D-B5CB75DADD75}"/>
              </a:ext>
            </a:extLst>
          </p:cNvPr>
          <p:cNvSpPr>
            <a:spLocks noGrp="1"/>
          </p:cNvSpPr>
          <p:nvPr>
            <p:ph type="sldNum" sz="quarter" idx="12"/>
          </p:nvPr>
        </p:nvSpPr>
        <p:spPr/>
        <p:txBody>
          <a:bodyPr/>
          <a:lstStyle/>
          <a:p>
            <a:pPr>
              <a:defRPr/>
            </a:pPr>
            <a:fld id="{0585649F-876E-A447-8403-6DEDC0440903}" type="slidenum">
              <a:rPr lang="fr-CA" smtClean="0"/>
              <a:t>2</a:t>
            </a:fld>
            <a:endParaRPr lang="fr-CA"/>
          </a:p>
        </p:txBody>
      </p:sp>
      <p:sp>
        <p:nvSpPr>
          <p:cNvPr id="6" name="TextBox 5">
            <a:extLst>
              <a:ext uri="{FF2B5EF4-FFF2-40B4-BE49-F238E27FC236}">
                <a16:creationId xmlns:a16="http://schemas.microsoft.com/office/drawing/2014/main" id="{B48B3045-E4DA-D05B-BDAD-0CBABA364F12}"/>
              </a:ext>
            </a:extLst>
          </p:cNvPr>
          <p:cNvSpPr txBox="1"/>
          <p:nvPr/>
        </p:nvSpPr>
        <p:spPr>
          <a:xfrm>
            <a:off x="1652588" y="161837"/>
            <a:ext cx="8886824" cy="584775"/>
          </a:xfrm>
          <a:prstGeom prst="rect">
            <a:avLst/>
          </a:prstGeom>
          <a:noFill/>
        </p:spPr>
        <p:txBody>
          <a:bodyPr wrap="square">
            <a:spAutoFit/>
          </a:bodyPr>
          <a:lstStyle/>
          <a:p>
            <a:pPr algn="ctr"/>
            <a:r>
              <a:rPr lang="en-US" sz="3200" dirty="0">
                <a:solidFill>
                  <a:srgbClr val="0070C0"/>
                </a:solidFill>
              </a:rPr>
              <a:t>Objectifs</a:t>
            </a:r>
            <a:endParaRPr lang="fr-CA" sz="3200" dirty="0"/>
          </a:p>
        </p:txBody>
      </p:sp>
      <p:sp>
        <p:nvSpPr>
          <p:cNvPr id="7" name="TextBox 6">
            <a:extLst>
              <a:ext uri="{FF2B5EF4-FFF2-40B4-BE49-F238E27FC236}">
                <a16:creationId xmlns:a16="http://schemas.microsoft.com/office/drawing/2014/main" id="{DBC72B4D-6E5B-AAA1-F788-EB3FAEA1F614}"/>
              </a:ext>
            </a:extLst>
          </p:cNvPr>
          <p:cNvSpPr txBox="1"/>
          <p:nvPr/>
        </p:nvSpPr>
        <p:spPr>
          <a:xfrm>
            <a:off x="1776414" y="857250"/>
            <a:ext cx="4433886" cy="3557588"/>
          </a:xfrm>
          <a:prstGeom prst="rect">
            <a:avLst/>
          </a:prstGeom>
        </p:spPr>
        <p:txBody>
          <a:bodyPr vert="horz" lIns="0" tIns="45720" rIns="0" bIns="45720" rtlCol="0">
            <a:noAutofit/>
          </a:bodyPr>
          <a:lstStyle/>
          <a:p>
            <a:pPr marL="91440" indent="-91440">
              <a:lnSpc>
                <a:spcPct val="90000"/>
              </a:lnSpc>
              <a:spcBef>
                <a:spcPts val="1200"/>
              </a:spcBef>
              <a:spcAft>
                <a:spcPts val="200"/>
              </a:spcAft>
              <a:buClr>
                <a:srgbClr val="E48312"/>
              </a:buClr>
              <a:buSzPct val="100000"/>
              <a:buFont typeface="Wingdings 2" panose="05020102010507070707" pitchFamily="18" charset="2"/>
              <a:buChar char=""/>
              <a:defRPr/>
            </a:pPr>
            <a:endParaRPr lang="en-US" sz="2800" dirty="0">
              <a:solidFill>
                <a:srgbClr val="000000">
                  <a:lumMod val="75000"/>
                  <a:lumOff val="25000"/>
                </a:srgbClr>
              </a:solidFill>
            </a:endParaRPr>
          </a:p>
          <a:p>
            <a:pPr marL="91440" indent="-91440">
              <a:lnSpc>
                <a:spcPct val="90000"/>
              </a:lnSpc>
              <a:spcBef>
                <a:spcPts val="1200"/>
              </a:spcBef>
              <a:spcAft>
                <a:spcPts val="200"/>
              </a:spcAft>
              <a:buClr>
                <a:srgbClr val="E48312"/>
              </a:buClr>
              <a:buSzPct val="100000"/>
              <a:buFont typeface="Wingdings 2" panose="05020102010507070707" pitchFamily="18" charset="2"/>
              <a:buChar char=""/>
              <a:defRPr/>
            </a:pPr>
            <a:r>
              <a:rPr lang="en-US" sz="2800" dirty="0">
                <a:solidFill>
                  <a:srgbClr val="000000">
                    <a:lumMod val="75000"/>
                    <a:lumOff val="25000"/>
                  </a:srgbClr>
                </a:solidFill>
              </a:rPr>
              <a:t>Explorer l'investissement ESG : ses avantages, ses défis et son impact sur la responsabilité des entreprises.</a:t>
            </a:r>
          </a:p>
          <a:p>
            <a:pPr marL="91440" indent="-91440">
              <a:lnSpc>
                <a:spcPct val="90000"/>
              </a:lnSpc>
              <a:spcBef>
                <a:spcPts val="1200"/>
              </a:spcBef>
              <a:spcAft>
                <a:spcPts val="200"/>
              </a:spcAft>
              <a:buClr>
                <a:srgbClr val="E48312"/>
              </a:buClr>
              <a:buSzPct val="100000"/>
              <a:buFont typeface="Wingdings 2" panose="05020102010507070707" pitchFamily="18" charset="2"/>
              <a:buChar char=""/>
              <a:defRPr/>
            </a:pPr>
            <a:endParaRPr lang="en-US" sz="2800" dirty="0">
              <a:solidFill>
                <a:srgbClr val="000000">
                  <a:lumMod val="75000"/>
                  <a:lumOff val="25000"/>
                </a:srgbClr>
              </a:solidFill>
            </a:endParaRPr>
          </a:p>
          <a:p>
            <a:pPr marL="91440" indent="-91440">
              <a:lnSpc>
                <a:spcPct val="90000"/>
              </a:lnSpc>
              <a:spcBef>
                <a:spcPts val="1200"/>
              </a:spcBef>
              <a:spcAft>
                <a:spcPts val="200"/>
              </a:spcAft>
              <a:buClr>
                <a:srgbClr val="E48312"/>
              </a:buClr>
              <a:buSzPct val="100000"/>
              <a:buFont typeface="Wingdings 2" panose="05020102010507070707" pitchFamily="18" charset="2"/>
              <a:buChar char=""/>
              <a:defRPr/>
            </a:pPr>
            <a:r>
              <a:rPr lang="en-US" sz="2800" dirty="0">
                <a:solidFill>
                  <a:srgbClr val="000000">
                    <a:lumMod val="75000"/>
                    <a:lumOff val="25000"/>
                  </a:srgbClr>
                </a:solidFill>
              </a:rPr>
              <a:t>Comprendre le </a:t>
            </a:r>
            <a:r>
              <a:rPr lang="en-US" sz="2800" dirty="0" err="1">
                <a:solidFill>
                  <a:srgbClr val="000000">
                    <a:lumMod val="75000"/>
                    <a:lumOff val="25000"/>
                  </a:srgbClr>
                </a:solidFill>
              </a:rPr>
              <a:t>écoblanchiement</a:t>
            </a:r>
            <a:r>
              <a:rPr lang="en-US" sz="2800" dirty="0">
                <a:solidFill>
                  <a:srgbClr val="000000">
                    <a:lumMod val="75000"/>
                    <a:lumOff val="25000"/>
                  </a:srgbClr>
                </a:solidFill>
              </a:rPr>
              <a:t> et comment identifier les allégations ESG trompeuses.</a:t>
            </a:r>
          </a:p>
          <a:p>
            <a:pPr marL="91440" indent="-91440">
              <a:lnSpc>
                <a:spcPct val="90000"/>
              </a:lnSpc>
              <a:spcBef>
                <a:spcPts val="1200"/>
              </a:spcBef>
              <a:spcAft>
                <a:spcPts val="200"/>
              </a:spcAft>
              <a:buClr>
                <a:srgbClr val="E48312"/>
              </a:buClr>
              <a:buSzPct val="100000"/>
              <a:buFont typeface="Wingdings 2" panose="05020102010507070707" pitchFamily="18" charset="2"/>
              <a:buChar char=""/>
              <a:defRPr/>
            </a:pPr>
            <a:endParaRPr lang="fr-CA" sz="2000" dirty="0">
              <a:solidFill>
                <a:srgbClr val="000000">
                  <a:lumMod val="75000"/>
                  <a:lumOff val="25000"/>
                </a:srgbClr>
              </a:solidFill>
              <a:latin typeface="Calibri" panose="020F0502020204030204"/>
            </a:endParaRPr>
          </a:p>
          <a:p>
            <a:pPr>
              <a:lnSpc>
                <a:spcPct val="90000"/>
              </a:lnSpc>
              <a:spcBef>
                <a:spcPct val="20000"/>
              </a:spcBef>
              <a:buClr>
                <a:schemeClr val="accent1"/>
              </a:buClr>
              <a:buSzPct val="85000"/>
              <a:buFont typeface="Calibri" panose="020F0502020204030204" pitchFamily="34" charset="0"/>
              <a:defRPr/>
            </a:pPr>
            <a:endParaRPr lang="en-US" sz="1600" dirty="0">
              <a:solidFill>
                <a:schemeClr val="tx1">
                  <a:lumMod val="75000"/>
                  <a:lumOff val="25000"/>
                </a:schemeClr>
              </a:solidFill>
            </a:endParaRPr>
          </a:p>
        </p:txBody>
      </p:sp>
      <p:pic>
        <p:nvPicPr>
          <p:cNvPr id="2051" name="Picture 3" descr="What Is ESG Investing?">
            <a:extLst>
              <a:ext uri="{FF2B5EF4-FFF2-40B4-BE49-F238E27FC236}">
                <a16:creationId xmlns:a16="http://schemas.microsoft.com/office/drawing/2014/main" id="{E69293EE-7101-096B-6FBD-5E67FE7E51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3368" y="2015184"/>
            <a:ext cx="3606037" cy="239965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528344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5B4C8-B096-E482-C58C-F81F075C3AFA}"/>
              </a:ext>
            </a:extLst>
          </p:cNvPr>
          <p:cNvSpPr>
            <a:spLocks noGrp="1"/>
          </p:cNvSpPr>
          <p:nvPr>
            <p:ph type="title"/>
          </p:nvPr>
        </p:nvSpPr>
        <p:spPr>
          <a:xfrm>
            <a:off x="288100" y="379476"/>
            <a:ext cx="11461314" cy="1122636"/>
          </a:xfrm>
        </p:spPr>
        <p:txBody>
          <a:bodyPr>
            <a:normAutofit/>
          </a:bodyPr>
          <a:lstStyle/>
          <a:p>
            <a:r>
              <a:rPr lang="en-US" sz="3200" dirty="0">
                <a:latin typeface="Ink Free" panose="03080402000500000000" pitchFamily="66" charset="0"/>
              </a:rPr>
              <a:t>Comment l'ESG peut-il influencer le comportement des entreprises et favoriser le changement ?</a:t>
            </a:r>
            <a:endParaRPr lang="fr-CA" dirty="0">
              <a:latin typeface="Ink Free" panose="03080402000500000000" pitchFamily="66" charset="0"/>
            </a:endParaRPr>
          </a:p>
        </p:txBody>
      </p:sp>
      <p:sp>
        <p:nvSpPr>
          <p:cNvPr id="4" name="Content Placeholder 3">
            <a:extLst>
              <a:ext uri="{FF2B5EF4-FFF2-40B4-BE49-F238E27FC236}">
                <a16:creationId xmlns:a16="http://schemas.microsoft.com/office/drawing/2014/main" id="{F1E4BE53-98D0-7803-C4E6-A880ED74FBEA}"/>
              </a:ext>
            </a:extLst>
          </p:cNvPr>
          <p:cNvSpPr>
            <a:spLocks noGrp="1"/>
          </p:cNvSpPr>
          <p:nvPr>
            <p:ph idx="1"/>
          </p:nvPr>
        </p:nvSpPr>
        <p:spPr>
          <a:xfrm>
            <a:off x="288100" y="1963038"/>
            <a:ext cx="11686782" cy="4380613"/>
          </a:xfrm>
        </p:spPr>
        <p:txBody>
          <a:bodyPr>
            <a:normAutofit/>
          </a:bodyPr>
          <a:lstStyle/>
          <a:p>
            <a:r>
              <a:rPr lang="en-US" sz="2400" b="1" dirty="0"/>
              <a:t>Le pouvoir de l'ESG</a:t>
            </a:r>
          </a:p>
          <a:p>
            <a:pPr lvl="1">
              <a:buFont typeface="Arial" panose="020B0604020202020204" pitchFamily="34" charset="0"/>
              <a:buChar char="•"/>
            </a:pPr>
            <a:r>
              <a:rPr lang="en-US" sz="2200" dirty="0"/>
              <a:t>Les principes ESG redéfinissent le comportement des entreprises et les alignent sur les attentes de la société.</a:t>
            </a:r>
          </a:p>
          <a:p>
            <a:pPr marL="0" indent="0">
              <a:buNone/>
            </a:pPr>
            <a:r>
              <a:rPr lang="en-US" sz="2400" b="1" dirty="0" err="1"/>
              <a:t>Pourquoi</a:t>
            </a:r>
            <a:r>
              <a:rPr lang="en-US" sz="2400" b="1" dirty="0"/>
              <a:t> est-ce important </a:t>
            </a:r>
            <a:r>
              <a:rPr lang="en-US" sz="2400" dirty="0"/>
              <a:t>?</a:t>
            </a:r>
          </a:p>
          <a:p>
            <a:pPr marL="742950" lvl="1" indent="-285750">
              <a:buFont typeface="Arial" panose="020B0604020202020204" pitchFamily="34" charset="0"/>
              <a:buChar char="•"/>
            </a:pPr>
            <a:r>
              <a:rPr lang="en-US" sz="2000" dirty="0"/>
              <a:t>L'ESG tient les entreprises responsables de leur impact environnemental et social.</a:t>
            </a:r>
          </a:p>
          <a:p>
            <a:pPr marL="742950" lvl="1" indent="-285750">
              <a:buFont typeface="Arial" panose="020B0604020202020204" pitchFamily="34" charset="0"/>
              <a:buChar char="•"/>
            </a:pPr>
            <a:r>
              <a:rPr lang="en-US" sz="2400" dirty="0">
                <a:solidFill>
                  <a:srgbClr val="C00000"/>
                </a:solidFill>
                <a:latin typeface="Ink Free" panose="03080402000500000000" pitchFamily="66" charset="0"/>
              </a:rPr>
              <a:t>La surveillance exercée par le public et les investisseurs dans le cadre des référentiels ESG a contraint les entreprises à </a:t>
            </a:r>
            <a:r>
              <a:rPr lang="en-US" sz="2400" u="sng" dirty="0">
                <a:solidFill>
                  <a:srgbClr val="C00000"/>
                </a:solidFill>
                <a:latin typeface="Ink Free" panose="03080402000500000000" pitchFamily="66" charset="0"/>
              </a:rPr>
              <a:t>modifier des comportements qui, auparavant, n'étaient soumis à aucun contrôle.</a:t>
            </a:r>
          </a:p>
          <a:p>
            <a:r>
              <a:rPr lang="en-US" sz="2400" b="1" dirty="0"/>
              <a:t>Exemples</a:t>
            </a:r>
            <a:endParaRPr lang="en-US" sz="2400" dirty="0"/>
          </a:p>
          <a:p>
            <a:pPr lvl="1">
              <a:buFont typeface="Arial" panose="020B0604020202020204" pitchFamily="34" charset="0"/>
              <a:buChar char="•"/>
            </a:pPr>
            <a:r>
              <a:rPr lang="en-US" sz="2200" b="1" dirty="0"/>
              <a:t>Positif : </a:t>
            </a:r>
            <a:r>
              <a:rPr lang="en-US" sz="2200" dirty="0"/>
              <a:t>l'utilisation par Apple d'« aluminium vert » dans ses MacBook afin de réduire ses émissions.</a:t>
            </a:r>
          </a:p>
          <a:p>
            <a:pPr lvl="1">
              <a:buFont typeface="Arial" panose="020B0604020202020204" pitchFamily="34" charset="0"/>
              <a:buChar char="•"/>
            </a:pPr>
            <a:r>
              <a:rPr lang="en-US" sz="2200" b="1" dirty="0"/>
              <a:t>Difficile : </a:t>
            </a:r>
            <a:r>
              <a:rPr lang="en-US" sz="2200" dirty="0"/>
              <a:t>les poursuites judiciaires intentées contre Nike pour son manque de durabilité. </a:t>
            </a:r>
          </a:p>
          <a:p>
            <a:pPr marL="742950" lvl="1" indent="-285750">
              <a:buFont typeface="Arial" panose="020B0604020202020204" pitchFamily="34" charset="0"/>
              <a:buChar char="•"/>
            </a:pPr>
            <a:endParaRPr lang="en-US" sz="2400" u="sng" dirty="0">
              <a:solidFill>
                <a:srgbClr val="C00000"/>
              </a:solidFill>
              <a:latin typeface="Ink Free" panose="03080402000500000000" pitchFamily="66" charset="0"/>
            </a:endParaRPr>
          </a:p>
          <a:p>
            <a:endParaRPr lang="en-US" b="0" i="0" dirty="0">
              <a:solidFill>
                <a:srgbClr val="1A1B1B"/>
              </a:solidFill>
              <a:effectLst/>
              <a:latin typeface="+mj-lt"/>
            </a:endParaRPr>
          </a:p>
          <a:p>
            <a:endParaRPr lang="en-US" dirty="0">
              <a:latin typeface="+mj-lt"/>
            </a:endParaRPr>
          </a:p>
          <a:p>
            <a:endParaRPr lang="fr-CA" dirty="0">
              <a:latin typeface="+mj-lt"/>
            </a:endParaRPr>
          </a:p>
        </p:txBody>
      </p:sp>
      <p:sp>
        <p:nvSpPr>
          <p:cNvPr id="3" name="Slide Number Placeholder 2">
            <a:extLst>
              <a:ext uri="{FF2B5EF4-FFF2-40B4-BE49-F238E27FC236}">
                <a16:creationId xmlns:a16="http://schemas.microsoft.com/office/drawing/2014/main" id="{71BFE575-CA56-96F5-7E0A-EB13D3BE0A8F}"/>
              </a:ext>
            </a:extLst>
          </p:cNvPr>
          <p:cNvSpPr>
            <a:spLocks noGrp="1"/>
          </p:cNvSpPr>
          <p:nvPr>
            <p:ph type="sldNum" sz="quarter" idx="12"/>
          </p:nvPr>
        </p:nvSpPr>
        <p:spPr/>
        <p:txBody>
          <a:bodyPr/>
          <a:lstStyle/>
          <a:p>
            <a:pPr>
              <a:defRPr/>
            </a:pPr>
            <a:fld id="{A36EBACF-F565-E244-8230-FFB82DCE4B7F}" type="slidenum">
              <a:rPr lang="fr-CA" smtClean="0"/>
              <a:t>3</a:t>
            </a:fld>
            <a:endParaRPr lang="fr-CA"/>
          </a:p>
        </p:txBody>
      </p:sp>
    </p:spTree>
    <p:extLst>
      <p:ext uri="{BB962C8B-B14F-4D97-AF65-F5344CB8AC3E}">
        <p14:creationId xmlns:p14="http://schemas.microsoft.com/office/powerpoint/2010/main" val="2220350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431A855-2E66-4BAD-A246-30A3B5C21373}"/>
              </a:ext>
            </a:extLst>
          </p:cNvPr>
          <p:cNvSpPr>
            <a:spLocks noGrp="1"/>
          </p:cNvSpPr>
          <p:nvPr>
            <p:ph type="title"/>
          </p:nvPr>
        </p:nvSpPr>
        <p:spPr>
          <a:xfrm>
            <a:off x="103374" y="-640464"/>
            <a:ext cx="9996298" cy="1450757"/>
          </a:xfrm>
        </p:spPr>
        <p:txBody>
          <a:bodyPr>
            <a:normAutofit/>
          </a:bodyPr>
          <a:lstStyle/>
          <a:p>
            <a:r>
              <a:rPr lang="en-US" sz="3200" dirty="0">
                <a:latin typeface="Ink Free" panose="03080402000500000000" pitchFamily="66" charset="0"/>
              </a:rPr>
              <a:t>Études de cas : l'ESG en action</a:t>
            </a:r>
          </a:p>
        </p:txBody>
      </p:sp>
      <p:sp>
        <p:nvSpPr>
          <p:cNvPr id="3" name="Slide Number Placeholder 2">
            <a:extLst>
              <a:ext uri="{FF2B5EF4-FFF2-40B4-BE49-F238E27FC236}">
                <a16:creationId xmlns:a16="http://schemas.microsoft.com/office/drawing/2014/main" id="{B075F4D3-D6D1-4E8D-9F2A-EA10368675AB}"/>
              </a:ext>
            </a:extLst>
          </p:cNvPr>
          <p:cNvSpPr>
            <a:spLocks noGrp="1"/>
          </p:cNvSpPr>
          <p:nvPr>
            <p:ph type="sldNum" sz="quarter" idx="12"/>
          </p:nvPr>
        </p:nvSpPr>
        <p:spPr/>
        <p:txBody>
          <a:bodyPr anchor="ctr">
            <a:normAutofit/>
          </a:bodyPr>
          <a:lstStyle/>
          <a:p>
            <a:pPr>
              <a:spcAft>
                <a:spcPts val="600"/>
              </a:spcAft>
            </a:pPr>
            <a:fld id="{707C2F0C-A6A4-44C9-B109-8FE1FD9A5A06}" type="slidenum">
              <a:rPr lang="fr-CA" smtClean="0">
                <a:solidFill>
                  <a:srgbClr val="8CADAE">
                    <a:shade val="75000"/>
                  </a:srgbClr>
                </a:solidFill>
              </a:rPr>
              <a:pPr>
                <a:spcAft>
                  <a:spcPts val="600"/>
                </a:spcAft>
              </a:pPr>
              <a:t>4</a:t>
            </a:fld>
            <a:endParaRPr lang="fr-CA">
              <a:solidFill>
                <a:srgbClr val="8CADAE">
                  <a:shade val="75000"/>
                </a:srgbClr>
              </a:solidFill>
            </a:endParaRPr>
          </a:p>
        </p:txBody>
      </p:sp>
      <p:sp>
        <p:nvSpPr>
          <p:cNvPr id="9" name="TextBox 8">
            <a:extLst>
              <a:ext uri="{FF2B5EF4-FFF2-40B4-BE49-F238E27FC236}">
                <a16:creationId xmlns:a16="http://schemas.microsoft.com/office/drawing/2014/main" id="{97146D68-FA54-4AEC-A56B-CF3DE2A277A7}"/>
              </a:ext>
            </a:extLst>
          </p:cNvPr>
          <p:cNvSpPr txBox="1"/>
          <p:nvPr/>
        </p:nvSpPr>
        <p:spPr>
          <a:xfrm>
            <a:off x="103373" y="810293"/>
            <a:ext cx="6481675" cy="5552289"/>
          </a:xfrm>
          <a:prstGeom prst="rect">
            <a:avLst/>
          </a:prstGeom>
          <a:solidFill>
            <a:schemeClr val="bg1">
              <a:lumMod val="95000"/>
            </a:schemeClr>
          </a:solidFill>
        </p:spPr>
        <p:txBody>
          <a:bodyPr wrap="square">
            <a:spAutoFit/>
          </a:bodyPr>
          <a:lstStyle/>
          <a:p>
            <a:pPr>
              <a:spcBef>
                <a:spcPct val="20000"/>
              </a:spcBef>
              <a:buClr>
                <a:srgbClr val="4F81BD"/>
              </a:buClr>
              <a:buSzPct val="85000"/>
              <a:defRPr/>
            </a:pPr>
            <a:r>
              <a:rPr lang="fr-CA" b="1" dirty="0">
                <a:solidFill>
                  <a:prstClr val="black"/>
                </a:solidFill>
                <a:latin typeface="+mj-lt"/>
              </a:rPr>
              <a:t>Air Canada 2021</a:t>
            </a:r>
          </a:p>
          <a:p>
            <a:pPr marL="274320" indent="-274320">
              <a:spcBef>
                <a:spcPct val="20000"/>
              </a:spcBef>
              <a:buClr>
                <a:srgbClr val="4F81BD"/>
              </a:buClr>
              <a:buSzPct val="85000"/>
              <a:buFont typeface="Wingdings 2"/>
              <a:buChar char=""/>
              <a:defRPr/>
            </a:pPr>
            <a:r>
              <a:rPr lang="en-US" sz="1600" dirty="0">
                <a:solidFill>
                  <a:prstClr val="black"/>
                </a:solidFill>
                <a:latin typeface="+mj-lt"/>
              </a:rPr>
              <a:t>Avril 2021 : Ottawa a accordé plus de 5 milliards de dollars de prêts remboursables à Air Canada. </a:t>
            </a:r>
          </a:p>
          <a:p>
            <a:pPr marL="274320" indent="-274320">
              <a:spcBef>
                <a:spcPct val="20000"/>
              </a:spcBef>
              <a:buClr>
                <a:srgbClr val="4F81BD"/>
              </a:buClr>
              <a:buSzPct val="85000"/>
              <a:buFont typeface="Wingdings 2"/>
              <a:buChar char=""/>
              <a:defRPr/>
            </a:pPr>
            <a:r>
              <a:rPr lang="en-US" sz="1600" dirty="0">
                <a:solidFill>
                  <a:prstClr val="black"/>
                </a:solidFill>
                <a:latin typeface="+mj-lt"/>
              </a:rPr>
              <a:t>Plus de la moitié des 21 700 employés licenciés en 2020 sans subvention salariale</a:t>
            </a:r>
          </a:p>
          <a:p>
            <a:pPr marL="274320" indent="-274320">
              <a:spcBef>
                <a:spcPct val="20000"/>
              </a:spcBef>
              <a:buClr>
                <a:srgbClr val="4F81BD"/>
              </a:buClr>
              <a:buSzPct val="85000"/>
              <a:buFont typeface="Wingdings 2"/>
              <a:buChar char=""/>
              <a:defRPr/>
            </a:pPr>
            <a:r>
              <a:rPr lang="en-US" sz="1600" dirty="0">
                <a:solidFill>
                  <a:prstClr val="black"/>
                </a:solidFill>
                <a:latin typeface="+mj-lt"/>
              </a:rPr>
              <a:t>En mai 2021, on a appris que le conseil d'administration avait approuvé une prime de 20 millions de dollars pour les cadres supérieurs</a:t>
            </a:r>
          </a:p>
          <a:p>
            <a:pPr marL="274320" indent="-274320">
              <a:spcBef>
                <a:spcPct val="20000"/>
              </a:spcBef>
              <a:buClr>
                <a:srgbClr val="4F81BD"/>
              </a:buClr>
              <a:buSzPct val="85000"/>
              <a:buFont typeface="Wingdings 2"/>
              <a:buChar char=""/>
              <a:defRPr/>
            </a:pPr>
            <a:r>
              <a:rPr lang="en-US" sz="1600" dirty="0">
                <a:solidFill>
                  <a:prstClr val="black"/>
                </a:solidFill>
                <a:latin typeface="+mj-lt"/>
              </a:rPr>
              <a:t>« C'est une honte, c'est immoral et scandaleux », a déclaré le président du syndicat des agents de bord d'Air Canada.</a:t>
            </a:r>
          </a:p>
          <a:p>
            <a:pPr marL="274320" indent="-274320">
              <a:spcBef>
                <a:spcPct val="20000"/>
              </a:spcBef>
              <a:buClr>
                <a:srgbClr val="4F81BD"/>
              </a:buClr>
              <a:buSzPct val="85000"/>
              <a:buFont typeface="Wingdings 2"/>
              <a:buChar char=""/>
              <a:defRPr/>
            </a:pPr>
            <a:r>
              <a:rPr lang="en-US" sz="1600" dirty="0">
                <a:solidFill>
                  <a:prstClr val="black"/>
                </a:solidFill>
                <a:latin typeface="+mj-lt"/>
              </a:rPr>
              <a:t>« Des primes inacceptables », a déclaré Justin Trudeau</a:t>
            </a:r>
          </a:p>
          <a:p>
            <a:pPr marL="274320" indent="-274320">
              <a:spcBef>
                <a:spcPct val="20000"/>
              </a:spcBef>
              <a:buClr>
                <a:srgbClr val="4F81BD"/>
              </a:buClr>
              <a:buSzPct val="85000"/>
              <a:buFont typeface="Wingdings 2"/>
              <a:buChar char=""/>
              <a:defRPr/>
            </a:pPr>
            <a:r>
              <a:rPr lang="en-US" sz="1600" dirty="0">
                <a:solidFill>
                  <a:prstClr val="black"/>
                </a:solidFill>
                <a:latin typeface="+mj-lt"/>
              </a:rPr>
              <a:t>Conséquence : début juin 2021, les dirigeants ont décidé de faire don de leurs primes à une fondation</a:t>
            </a:r>
          </a:p>
          <a:p>
            <a:pPr>
              <a:spcBef>
                <a:spcPct val="20000"/>
              </a:spcBef>
              <a:buClr>
                <a:srgbClr val="4F81BD"/>
              </a:buClr>
              <a:buSzPct val="85000"/>
              <a:defRPr/>
            </a:pPr>
            <a:endParaRPr lang="fr-CA" sz="1600" b="1" dirty="0">
              <a:solidFill>
                <a:prstClr val="black"/>
              </a:solidFill>
              <a:latin typeface="+mj-lt"/>
            </a:endParaRPr>
          </a:p>
          <a:p>
            <a:pPr>
              <a:spcBef>
                <a:spcPct val="20000"/>
              </a:spcBef>
              <a:buClr>
                <a:srgbClr val="4F81BD"/>
              </a:buClr>
              <a:buSzPct val="85000"/>
              <a:defRPr/>
            </a:pPr>
            <a:r>
              <a:rPr lang="fr-CA" b="1" dirty="0">
                <a:solidFill>
                  <a:prstClr val="black"/>
                </a:solidFill>
                <a:latin typeface="+mj-lt"/>
              </a:rPr>
              <a:t>Rio Tinto 2020</a:t>
            </a:r>
          </a:p>
          <a:p>
            <a:pPr marL="274320" indent="-274320">
              <a:spcBef>
                <a:spcPct val="20000"/>
              </a:spcBef>
              <a:buClr>
                <a:srgbClr val="4F81BD"/>
              </a:buClr>
              <a:buSzPct val="85000"/>
              <a:buFont typeface="Wingdings 2"/>
              <a:buChar char=""/>
              <a:defRPr/>
            </a:pPr>
            <a:r>
              <a:rPr lang="en-US" sz="1600" dirty="0">
                <a:solidFill>
                  <a:prstClr val="black"/>
                </a:solidFill>
                <a:latin typeface="+mj-lt"/>
              </a:rPr>
              <a:t>Scandale lié à un site aborigène en Australie. </a:t>
            </a:r>
          </a:p>
          <a:p>
            <a:pPr marL="274320" indent="-274320">
              <a:spcBef>
                <a:spcPct val="20000"/>
              </a:spcBef>
              <a:buClr>
                <a:srgbClr val="4F81BD"/>
              </a:buClr>
              <a:buSzPct val="85000"/>
              <a:buFont typeface="Wingdings 2"/>
              <a:buChar char=""/>
              <a:defRPr/>
            </a:pPr>
            <a:r>
              <a:rPr lang="en-US" sz="1600" dirty="0">
                <a:solidFill>
                  <a:prstClr val="black"/>
                </a:solidFill>
                <a:latin typeface="+mj-lt"/>
              </a:rPr>
              <a:t>Destruction d'un site sacré vieux de 46 000 ans.</a:t>
            </a:r>
          </a:p>
          <a:p>
            <a:pPr marL="274320" indent="-274320">
              <a:spcBef>
                <a:spcPct val="20000"/>
              </a:spcBef>
              <a:buClr>
                <a:srgbClr val="4F81BD"/>
              </a:buClr>
              <a:buSzPct val="85000"/>
              <a:buFont typeface="Wingdings 2"/>
              <a:buChar char=""/>
              <a:defRPr/>
            </a:pPr>
            <a:r>
              <a:rPr lang="en-US" sz="1600" dirty="0">
                <a:solidFill>
                  <a:prstClr val="black"/>
                </a:solidFill>
                <a:latin typeface="+mj-lt"/>
              </a:rPr>
              <a:t>Conséquences : le PDG et président de Rio Tinto, le président de la division minerai de fer et de nombreux autres cadres supérieurs ont quitté l'entreprise après des discussions avec le conseil d'administration.</a:t>
            </a:r>
          </a:p>
        </p:txBody>
      </p:sp>
      <p:pic>
        <p:nvPicPr>
          <p:cNvPr id="12" name="Picture 2" descr="Des avions d'Air Canada.">
            <a:extLst>
              <a:ext uri="{FF2B5EF4-FFF2-40B4-BE49-F238E27FC236}">
                <a16:creationId xmlns:a16="http://schemas.microsoft.com/office/drawing/2014/main" id="{9170DD8A-F0BF-4A69-A08B-40CCB37F7C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9419" y="367491"/>
            <a:ext cx="3477060" cy="29174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8" name="Picture 4">
            <a:extLst>
              <a:ext uri="{FF2B5EF4-FFF2-40B4-BE49-F238E27FC236}">
                <a16:creationId xmlns:a16="http://schemas.microsoft.com/office/drawing/2014/main" id="{0801F701-3A22-4A4D-960D-DEDEA75B51A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9419" y="3525953"/>
            <a:ext cx="3477062" cy="27037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TextBox 7">
            <a:extLst>
              <a:ext uri="{FF2B5EF4-FFF2-40B4-BE49-F238E27FC236}">
                <a16:creationId xmlns:a16="http://schemas.microsoft.com/office/drawing/2014/main" id="{D7BC7FF9-0900-46E3-AE21-B3B625AE2A12}"/>
              </a:ext>
            </a:extLst>
          </p:cNvPr>
          <p:cNvSpPr txBox="1"/>
          <p:nvPr/>
        </p:nvSpPr>
        <p:spPr>
          <a:xfrm>
            <a:off x="10558573" y="1554449"/>
            <a:ext cx="1307820" cy="1200329"/>
          </a:xfrm>
          <a:prstGeom prst="rect">
            <a:avLst/>
          </a:prstGeom>
          <a:noFill/>
        </p:spPr>
        <p:txBody>
          <a:bodyPr wrap="square">
            <a:spAutoFit/>
          </a:bodyPr>
          <a:lstStyle/>
          <a:p>
            <a:pPr>
              <a:spcBef>
                <a:spcPct val="20000"/>
              </a:spcBef>
              <a:buClr>
                <a:srgbClr val="4F81BD"/>
              </a:buClr>
              <a:buSzPct val="85000"/>
              <a:defRPr/>
            </a:pPr>
            <a:r>
              <a:rPr lang="fr-FR" sz="1200" dirty="0">
                <a:solidFill>
                  <a:srgbClr val="222222"/>
                </a:solidFill>
                <a:latin typeface="+mj-lt"/>
                <a:hlinkClick r:id="rId5"/>
              </a:rPr>
              <a:t>https://www.cbc.ca/news/business/air-canada-bonuses-returned-1.60</a:t>
            </a:r>
            <a:r>
              <a:rPr lang="en-US" sz="1200" dirty="0">
                <a:solidFill>
                  <a:prstClr val="black"/>
                </a:solidFill>
                <a:latin typeface="+mj-lt"/>
              </a:rPr>
              <a:t>55825 </a:t>
            </a:r>
            <a:endParaRPr lang="fr-FR" sz="1200" dirty="0">
              <a:solidFill>
                <a:srgbClr val="222222"/>
              </a:solidFill>
              <a:latin typeface="+mj-lt"/>
            </a:endParaRPr>
          </a:p>
        </p:txBody>
      </p:sp>
      <p:sp>
        <p:nvSpPr>
          <p:cNvPr id="10" name="TextBox 9">
            <a:extLst>
              <a:ext uri="{FF2B5EF4-FFF2-40B4-BE49-F238E27FC236}">
                <a16:creationId xmlns:a16="http://schemas.microsoft.com/office/drawing/2014/main" id="{0AE51A12-9B10-4DEA-A8D5-E99E2F9884C1}"/>
              </a:ext>
            </a:extLst>
          </p:cNvPr>
          <p:cNvSpPr txBox="1"/>
          <p:nvPr/>
        </p:nvSpPr>
        <p:spPr>
          <a:xfrm>
            <a:off x="10655278" y="3944119"/>
            <a:ext cx="1072859" cy="1569660"/>
          </a:xfrm>
          <a:prstGeom prst="rect">
            <a:avLst/>
          </a:prstGeom>
          <a:noFill/>
        </p:spPr>
        <p:txBody>
          <a:bodyPr wrap="square">
            <a:spAutoFit/>
          </a:bodyPr>
          <a:lstStyle/>
          <a:p>
            <a:pPr>
              <a:spcBef>
                <a:spcPct val="20000"/>
              </a:spcBef>
              <a:buClr>
                <a:srgbClr val="4F81BD"/>
              </a:buClr>
              <a:buSzPct val="85000"/>
              <a:defRPr/>
            </a:pPr>
            <a:r>
              <a:rPr lang="fr-CA" sz="1200" dirty="0">
                <a:solidFill>
                  <a:prstClr val="black"/>
                </a:solidFill>
                <a:latin typeface="+mj-lt"/>
                <a:hlinkClick r:id="rId6"/>
              </a:rPr>
              <a:t>https://www.reuters.</a:t>
            </a:r>
            <a:r>
              <a:rPr lang="en-US" sz="1200" dirty="0">
                <a:solidFill>
                  <a:prstClr val="black"/>
                </a:solidFill>
                <a:latin typeface="+mj-lt"/>
              </a:rPr>
              <a:t>com/article/us-australia-mining-indigenous-idUSKCN2AV0OU </a:t>
            </a:r>
            <a:endParaRPr lang="fr-CA" sz="1200" dirty="0">
              <a:solidFill>
                <a:prstClr val="black"/>
              </a:solidFill>
              <a:latin typeface="+mj-lt"/>
            </a:endParaRPr>
          </a:p>
        </p:txBody>
      </p:sp>
      <p:pic>
        <p:nvPicPr>
          <p:cNvPr id="2" name="Graphic 1" descr="Open hand with plant outline">
            <a:extLst>
              <a:ext uri="{FF2B5EF4-FFF2-40B4-BE49-F238E27FC236}">
                <a16:creationId xmlns:a16="http://schemas.microsoft.com/office/drawing/2014/main" id="{C0BAAF37-ADAF-27A2-6946-CFE816B7DE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16479" y="-45965"/>
            <a:ext cx="1550459" cy="1550459"/>
          </a:xfrm>
          <a:prstGeom prst="rect">
            <a:avLst/>
          </a:prstGeom>
        </p:spPr>
      </p:pic>
    </p:spTree>
    <p:extLst>
      <p:ext uri="{BB962C8B-B14F-4D97-AF65-F5344CB8AC3E}">
        <p14:creationId xmlns:p14="http://schemas.microsoft.com/office/powerpoint/2010/main" val="4254841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C153BF-2758-45E6-8974-E9DE3418F914}"/>
              </a:ext>
            </a:extLst>
          </p:cNvPr>
          <p:cNvSpPr/>
          <p:nvPr/>
        </p:nvSpPr>
        <p:spPr>
          <a:xfrm>
            <a:off x="0" y="3966889"/>
            <a:ext cx="12192000" cy="2492896"/>
          </a:xfrm>
          <a:prstGeom prst="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Title 10">
            <a:extLst>
              <a:ext uri="{FF2B5EF4-FFF2-40B4-BE49-F238E27FC236}">
                <a16:creationId xmlns:a16="http://schemas.microsoft.com/office/drawing/2014/main" id="{2F56E94A-A798-D58A-6A9D-D8F3B0AA5D3A}"/>
              </a:ext>
            </a:extLst>
          </p:cNvPr>
          <p:cNvSpPr>
            <a:spLocks noGrp="1"/>
          </p:cNvSpPr>
          <p:nvPr>
            <p:ph type="title"/>
          </p:nvPr>
        </p:nvSpPr>
        <p:spPr>
          <a:xfrm>
            <a:off x="75156" y="-126580"/>
            <a:ext cx="9441353" cy="1450757"/>
          </a:xfrm>
        </p:spPr>
        <p:txBody>
          <a:bodyPr>
            <a:normAutofit/>
          </a:bodyPr>
          <a:lstStyle/>
          <a:p>
            <a:r>
              <a:rPr lang="fr-CA" sz="3000" dirty="0"/>
              <a:t>Guerre Russie - Ukraine, mars 2022</a:t>
            </a:r>
            <a:br>
              <a:rPr lang="fr-CA" sz="3000" dirty="0"/>
            </a:br>
            <a:endParaRPr lang="fr-CA" sz="3000" dirty="0"/>
          </a:p>
        </p:txBody>
      </p:sp>
      <p:sp>
        <p:nvSpPr>
          <p:cNvPr id="3" name="Slide Number Placeholder 2">
            <a:extLst>
              <a:ext uri="{FF2B5EF4-FFF2-40B4-BE49-F238E27FC236}">
                <a16:creationId xmlns:a16="http://schemas.microsoft.com/office/drawing/2014/main" id="{122CB76B-562D-4A6E-8AA5-51CBCAF96A33}"/>
              </a:ext>
            </a:extLst>
          </p:cNvPr>
          <p:cNvSpPr>
            <a:spLocks noGrp="1"/>
          </p:cNvSpPr>
          <p:nvPr>
            <p:ph type="sldNum" sz="quarter" idx="12"/>
          </p:nvPr>
        </p:nvSpPr>
        <p:spPr/>
        <p:txBody>
          <a:bodyPr/>
          <a:lstStyle/>
          <a:p>
            <a:pPr>
              <a:defRPr/>
            </a:pPr>
            <a:fld id="{A36EBACF-F565-E244-8230-FFB82DCE4B7F}" type="slidenum">
              <a:rPr lang="fr-CA" smtClean="0"/>
              <a:t>5</a:t>
            </a:fld>
            <a:endParaRPr lang="fr-CA"/>
          </a:p>
        </p:txBody>
      </p:sp>
      <p:pic>
        <p:nvPicPr>
          <p:cNvPr id="6" name="Picture 5">
            <a:extLst>
              <a:ext uri="{FF2B5EF4-FFF2-40B4-BE49-F238E27FC236}">
                <a16:creationId xmlns:a16="http://schemas.microsoft.com/office/drawing/2014/main" id="{45D25387-E673-44F3-B778-001DCF795903}"/>
              </a:ext>
            </a:extLst>
          </p:cNvPr>
          <p:cNvPicPr>
            <a:picLocks noChangeAspect="1"/>
          </p:cNvPicPr>
          <p:nvPr/>
        </p:nvPicPr>
        <p:blipFill>
          <a:blip r:embed="rId3">
            <a:alphaModFix amt="70000"/>
          </a:blip>
          <a:stretch>
            <a:fillRect/>
          </a:stretch>
        </p:blipFill>
        <p:spPr>
          <a:xfrm>
            <a:off x="9316810" y="358894"/>
            <a:ext cx="2607968" cy="132368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2" name="TextBox 11">
            <a:extLst>
              <a:ext uri="{FF2B5EF4-FFF2-40B4-BE49-F238E27FC236}">
                <a16:creationId xmlns:a16="http://schemas.microsoft.com/office/drawing/2014/main" id="{8E7C55B6-B41E-4782-831D-803E53A94E80}"/>
              </a:ext>
            </a:extLst>
          </p:cNvPr>
          <p:cNvSpPr txBox="1"/>
          <p:nvPr/>
        </p:nvSpPr>
        <p:spPr>
          <a:xfrm>
            <a:off x="0" y="1324178"/>
            <a:ext cx="11924778" cy="4905958"/>
          </a:xfrm>
          <a:prstGeom prst="rect">
            <a:avLst/>
          </a:prstGeom>
          <a:noFill/>
        </p:spPr>
        <p:txBody>
          <a:bodyPr wrap="square">
            <a:spAutoFit/>
          </a:bodyPr>
          <a:lstStyle/>
          <a:p>
            <a:pPr marL="274320" indent="-274320">
              <a:spcBef>
                <a:spcPct val="20000"/>
              </a:spcBef>
              <a:buClr>
                <a:srgbClr val="4F81BD"/>
              </a:buClr>
              <a:buSzPct val="85000"/>
              <a:buFont typeface="Wingdings 2"/>
              <a:buChar char=""/>
              <a:defRPr/>
            </a:pPr>
            <a:r>
              <a:rPr lang="fr-FR" sz="2000" dirty="0"/>
              <a:t>Levi Strauss &amp;amp; Co, McDonald’s, Heineken</a:t>
            </a:r>
          </a:p>
          <a:p>
            <a:pPr marL="274320" indent="-274320">
              <a:spcBef>
                <a:spcPct val="20000"/>
              </a:spcBef>
              <a:buClr>
                <a:srgbClr val="4F81BD"/>
              </a:buClr>
              <a:buSzPct val="85000"/>
              <a:buFont typeface="Wingdings 2"/>
              <a:buChar char=""/>
              <a:defRPr/>
            </a:pPr>
            <a:r>
              <a:rPr lang="fr-FR" sz="2000" dirty="0" err="1"/>
              <a:t>Mothercare</a:t>
            </a:r>
            <a:r>
              <a:rPr lang="fr-FR" sz="2000" dirty="0"/>
              <a:t>, Imperial Brands, Coca-Cola, Starbucks. Pepsi, </a:t>
            </a:r>
          </a:p>
          <a:p>
            <a:pPr>
              <a:spcBef>
                <a:spcPct val="20000"/>
              </a:spcBef>
              <a:buClr>
                <a:srgbClr val="4F81BD"/>
              </a:buClr>
              <a:buSzPct val="85000"/>
              <a:defRPr/>
            </a:pPr>
            <a:r>
              <a:rPr lang="fr-FR" sz="2000" dirty="0"/>
              <a:t>     Netflix. </a:t>
            </a:r>
            <a:r>
              <a:rPr lang="fr-FR" sz="2000" dirty="0" err="1"/>
              <a:t>H&amp;amp;M</a:t>
            </a:r>
            <a:r>
              <a:rPr lang="fr-FR" sz="2000" dirty="0"/>
              <a:t>, Zara….</a:t>
            </a:r>
          </a:p>
          <a:p>
            <a:pPr marL="274320" indent="-274320">
              <a:spcBef>
                <a:spcPct val="20000"/>
              </a:spcBef>
              <a:buClr>
                <a:srgbClr val="4F81BD"/>
              </a:buClr>
              <a:buSzPct val="85000"/>
              <a:buFont typeface="Wingdings 2"/>
              <a:buChar char=""/>
              <a:defRPr/>
            </a:pPr>
            <a:endParaRPr lang="fr-FR" sz="2000" dirty="0"/>
          </a:p>
          <a:p>
            <a:pPr marL="274320" indent="-274320">
              <a:spcBef>
                <a:spcPct val="20000"/>
              </a:spcBef>
              <a:buClr>
                <a:srgbClr val="4F81BD"/>
              </a:buClr>
              <a:buSzPct val="85000"/>
              <a:buFont typeface="Wingdings 2"/>
              <a:buChar char=""/>
              <a:defRPr/>
            </a:pPr>
            <a:r>
              <a:rPr lang="en-US" sz="2000" dirty="0"/>
              <a:t>De </a:t>
            </a:r>
            <a:r>
              <a:rPr lang="en-US" sz="2000" b="1" dirty="0"/>
              <a:t>nombreuses entreprises internationales ont décidé de se retirer de Russie </a:t>
            </a:r>
            <a:r>
              <a:rPr lang="en-US" sz="2000" dirty="0"/>
              <a:t>pour protester contre l'invasion de l'Ukraine, se conformer aux sanctions ou éviter les risques, l'incertitude et la mauvaise publicité associés à leur présence dans ce pays. </a:t>
            </a:r>
            <a:endParaRPr lang="fr-FR" sz="2000" dirty="0"/>
          </a:p>
          <a:p>
            <a:pPr>
              <a:spcBef>
                <a:spcPct val="20000"/>
              </a:spcBef>
              <a:buClr>
                <a:srgbClr val="4F81BD"/>
              </a:buClr>
              <a:buSzPct val="85000"/>
              <a:defRPr/>
            </a:pPr>
            <a:endParaRPr lang="en-US" sz="2400" b="1" dirty="0">
              <a:solidFill>
                <a:prstClr val="black"/>
              </a:solidFill>
              <a:latin typeface="Georgia"/>
            </a:endParaRPr>
          </a:p>
          <a:p>
            <a:pPr>
              <a:spcBef>
                <a:spcPct val="20000"/>
              </a:spcBef>
              <a:buClr>
                <a:srgbClr val="4F81BD"/>
              </a:buClr>
              <a:buSzPct val="85000"/>
              <a:defRPr/>
            </a:pPr>
            <a:r>
              <a:rPr lang="en-US" sz="2000" b="1" dirty="0">
                <a:solidFill>
                  <a:prstClr val="black"/>
                </a:solidFill>
                <a:latin typeface="Georgia"/>
              </a:rPr>
              <a:t>Par conséquent...</a:t>
            </a:r>
          </a:p>
          <a:p>
            <a:pPr>
              <a:spcBef>
                <a:spcPct val="20000"/>
              </a:spcBef>
              <a:buClr>
                <a:srgbClr val="4F81BD"/>
              </a:buClr>
              <a:buSzPct val="85000"/>
              <a:defRPr/>
            </a:pPr>
            <a:r>
              <a:rPr lang="en-US" sz="2000" dirty="0">
                <a:solidFill>
                  <a:prstClr val="black"/>
                </a:solidFill>
                <a:latin typeface="Georgia"/>
              </a:rPr>
              <a:t>Autrefois... il y a 15 ans ? Les grandes entreprises publiques avaient pour mission de </a:t>
            </a:r>
            <a:r>
              <a:rPr lang="en-US" sz="2000" b="1" dirty="0">
                <a:solidFill>
                  <a:prstClr val="black"/>
                </a:solidFill>
                <a:latin typeface="Georgia"/>
              </a:rPr>
              <a:t>maximiser les flux de trésorerie pour leurs actionnaires</a:t>
            </a:r>
            <a:r>
              <a:rPr lang="en-US" sz="2000" dirty="0">
                <a:solidFill>
                  <a:prstClr val="black"/>
                </a:solidFill>
                <a:latin typeface="Georgia"/>
              </a:rPr>
              <a:t> ; elles pouvaient se retirer d'une zone de guerre pour éviter les risques, mais on ne s'attendait pas à ce que toutes les entreprises publiques prennent </a:t>
            </a:r>
            <a:r>
              <a:rPr lang="en-US" sz="2000" dirty="0">
                <a:solidFill>
                  <a:prstClr val="black"/>
                </a:solidFill>
                <a:latin typeface="Ink Free" panose="03080402000500000000" pitchFamily="66" charset="0"/>
              </a:rPr>
              <a:t>position </a:t>
            </a:r>
            <a:r>
              <a:rPr lang="en-US" sz="2000" dirty="0">
                <a:solidFill>
                  <a:prstClr val="black"/>
                </a:solidFill>
                <a:latin typeface="Georgia"/>
              </a:rPr>
              <a:t>sur toutes les questions importantes. </a:t>
            </a:r>
            <a:r>
              <a:rPr lang="en-US" sz="2100" dirty="0">
                <a:solidFill>
                  <a:srgbClr val="FF0000"/>
                </a:solidFill>
                <a:latin typeface="Ink Free" panose="03080402000500000000" pitchFamily="66" charset="0"/>
              </a:rPr>
              <a:t>Dans le nouveau monde de l'investissement environnemental, social et de gouvernance, les entreprises sont </a:t>
            </a:r>
            <a:r>
              <a:rPr lang="en-US" sz="2100" b="1" dirty="0">
                <a:solidFill>
                  <a:srgbClr val="FF0000"/>
                </a:solidFill>
                <a:latin typeface="Ink Free" panose="03080402000500000000" pitchFamily="66" charset="0"/>
              </a:rPr>
              <a:t>censées être des acteurs moraux</a:t>
            </a:r>
            <a:r>
              <a:rPr lang="en-US" sz="2100" dirty="0">
                <a:solidFill>
                  <a:srgbClr val="FF0000"/>
                </a:solidFill>
                <a:latin typeface="Ink Free" panose="03080402000500000000" pitchFamily="66" charset="0"/>
              </a:rPr>
              <a:t>.</a:t>
            </a:r>
            <a:endParaRPr lang="fr-CA" sz="2100" dirty="0">
              <a:solidFill>
                <a:srgbClr val="FF0000"/>
              </a:solidFill>
              <a:latin typeface="Ink Free" panose="03080402000500000000" pitchFamily="66" charset="0"/>
            </a:endParaRPr>
          </a:p>
        </p:txBody>
      </p:sp>
      <p:pic>
        <p:nvPicPr>
          <p:cNvPr id="8" name="Picture 7">
            <a:extLst>
              <a:ext uri="{FF2B5EF4-FFF2-40B4-BE49-F238E27FC236}">
                <a16:creationId xmlns:a16="http://schemas.microsoft.com/office/drawing/2014/main" id="{ED4A8138-F7CA-4D3B-8E2D-B56C5A323C89}"/>
              </a:ext>
            </a:extLst>
          </p:cNvPr>
          <p:cNvPicPr>
            <a:picLocks noChangeAspect="1"/>
          </p:cNvPicPr>
          <p:nvPr/>
        </p:nvPicPr>
        <p:blipFill>
          <a:blip r:embed="rId4">
            <a:alphaModFix amt="70000"/>
          </a:blip>
          <a:stretch>
            <a:fillRect/>
          </a:stretch>
        </p:blipFill>
        <p:spPr>
          <a:xfrm>
            <a:off x="6708842" y="1130994"/>
            <a:ext cx="2607968" cy="146830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09742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utput image">
            <a:extLst>
              <a:ext uri="{FF2B5EF4-FFF2-40B4-BE49-F238E27FC236}">
                <a16:creationId xmlns:a16="http://schemas.microsoft.com/office/drawing/2014/main" id="{D9DE0029-BF14-1498-BA91-75D5A645A68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72823" y="1605463"/>
            <a:ext cx="6571780" cy="427165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7DC303AB-5F27-74F8-6179-4937BF339550}"/>
              </a:ext>
            </a:extLst>
          </p:cNvPr>
          <p:cNvSpPr>
            <a:spLocks noGrp="1"/>
          </p:cNvSpPr>
          <p:nvPr>
            <p:ph type="sldNum" sz="quarter" idx="12"/>
          </p:nvPr>
        </p:nvSpPr>
        <p:spPr>
          <a:xfrm>
            <a:off x="8949344" y="6459786"/>
            <a:ext cx="984019" cy="365125"/>
          </a:xfrm>
        </p:spPr>
        <p:txBody>
          <a:bodyPr>
            <a:normAutofit/>
          </a:bodyPr>
          <a:lstStyle/>
          <a:p>
            <a:pPr>
              <a:spcAft>
                <a:spcPts val="600"/>
              </a:spcAft>
              <a:defRPr/>
            </a:pPr>
            <a:fld id="{0585649F-876E-A447-8403-6DEDC0440903}" type="slidenum">
              <a:rPr lang="fr-CA" smtClean="0"/>
              <a:pPr>
                <a:spcAft>
                  <a:spcPts val="600"/>
                </a:spcAft>
                <a:defRPr/>
              </a:pPr>
              <a:t>6</a:t>
            </a:fld>
            <a:endParaRPr lang="fr-CA"/>
          </a:p>
        </p:txBody>
      </p:sp>
      <p:sp>
        <p:nvSpPr>
          <p:cNvPr id="4" name="TextBox 3">
            <a:extLst>
              <a:ext uri="{FF2B5EF4-FFF2-40B4-BE49-F238E27FC236}">
                <a16:creationId xmlns:a16="http://schemas.microsoft.com/office/drawing/2014/main" id="{2938495A-9D6D-F348-F0E2-44DF6BA49A62}"/>
              </a:ext>
            </a:extLst>
          </p:cNvPr>
          <p:cNvSpPr txBox="1"/>
          <p:nvPr/>
        </p:nvSpPr>
        <p:spPr>
          <a:xfrm>
            <a:off x="1524000" y="5983786"/>
            <a:ext cx="9191428" cy="369332"/>
          </a:xfrm>
          <a:prstGeom prst="rect">
            <a:avLst/>
          </a:prstGeom>
          <a:noFill/>
        </p:spPr>
        <p:txBody>
          <a:bodyPr wrap="square">
            <a:spAutoFit/>
          </a:bodyPr>
          <a:lstStyle/>
          <a:p>
            <a:r>
              <a:rPr lang="fr-CA" dirty="0">
                <a:hlinkClick r:id="rId4"/>
              </a:rPr>
              <a:t>https://www.gsi-alliance.org/wp-content/uploads/2023/12/GSIA-Report-2022.</a:t>
            </a:r>
            <a:r>
              <a:rPr lang="fr-CA" dirty="0"/>
              <a:t>pdf </a:t>
            </a:r>
          </a:p>
        </p:txBody>
      </p:sp>
      <p:sp>
        <p:nvSpPr>
          <p:cNvPr id="6" name="TextBox 5">
            <a:extLst>
              <a:ext uri="{FF2B5EF4-FFF2-40B4-BE49-F238E27FC236}">
                <a16:creationId xmlns:a16="http://schemas.microsoft.com/office/drawing/2014/main" id="{D7FD1B4E-EE4F-0B53-1D48-047141957A3B}"/>
              </a:ext>
            </a:extLst>
          </p:cNvPr>
          <p:cNvSpPr txBox="1"/>
          <p:nvPr/>
        </p:nvSpPr>
        <p:spPr>
          <a:xfrm>
            <a:off x="8193424" y="2805038"/>
            <a:ext cx="3768931" cy="2246769"/>
          </a:xfrm>
          <a:prstGeom prst="rect">
            <a:avLst/>
          </a:prstGeom>
          <a:noFill/>
        </p:spPr>
        <p:txBody>
          <a:bodyPr wrap="square">
            <a:spAutoFit/>
          </a:bodyPr>
          <a:lstStyle/>
          <a:p>
            <a:r>
              <a:rPr lang="en-US" sz="2000" dirty="0">
                <a:latin typeface="Ink Free" panose="03080402000500000000" pitchFamily="66" charset="0"/>
              </a:rPr>
              <a:t>Croissance annuelle composée de 13 % sur 5 ans</a:t>
            </a:r>
          </a:p>
          <a:p>
            <a:r>
              <a:rPr lang="en-US" sz="2000" dirty="0">
                <a:latin typeface="Ink Free" panose="03080402000500000000" pitchFamily="66" charset="0"/>
              </a:rPr>
              <a:t>
Cette croissance rapide témoigne de l'intérêt croissant des investisseurs institutionnels pour les entreprises notées ESG.</a:t>
            </a:r>
            <a:endParaRPr lang="fr-CA" sz="2000" dirty="0">
              <a:latin typeface="Ink Free" panose="03080402000500000000" pitchFamily="66" charset="0"/>
            </a:endParaRPr>
          </a:p>
        </p:txBody>
      </p:sp>
      <p:sp>
        <p:nvSpPr>
          <p:cNvPr id="7" name="Title 1">
            <a:extLst>
              <a:ext uri="{FF2B5EF4-FFF2-40B4-BE49-F238E27FC236}">
                <a16:creationId xmlns:a16="http://schemas.microsoft.com/office/drawing/2014/main" id="{F1D08CB6-20A7-B193-7E23-CA18A28FAA58}"/>
              </a:ext>
            </a:extLst>
          </p:cNvPr>
          <p:cNvSpPr txBox="1">
            <a:spLocks/>
          </p:cNvSpPr>
          <p:nvPr/>
        </p:nvSpPr>
        <p:spPr>
          <a:xfrm>
            <a:off x="225680" y="233159"/>
            <a:ext cx="9852209" cy="758952"/>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a:solidFill>
                  <a:srgbClr val="FF0000"/>
                </a:solidFill>
              </a:rPr>
              <a:t>Croissance phénoménale des investissements ESG au fil du temps, reflétant la demande pour ces derniers</a:t>
            </a:r>
          </a:p>
        </p:txBody>
      </p:sp>
      <p:sp>
        <p:nvSpPr>
          <p:cNvPr id="5" name="TextBox 4">
            <a:extLst>
              <a:ext uri="{FF2B5EF4-FFF2-40B4-BE49-F238E27FC236}">
                <a16:creationId xmlns:a16="http://schemas.microsoft.com/office/drawing/2014/main" id="{B8509B14-7201-4C25-3270-66DF49CC34B1}"/>
              </a:ext>
            </a:extLst>
          </p:cNvPr>
          <p:cNvSpPr txBox="1"/>
          <p:nvPr/>
        </p:nvSpPr>
        <p:spPr>
          <a:xfrm>
            <a:off x="2463494" y="2634612"/>
            <a:ext cx="4274547" cy="1015663"/>
          </a:xfrm>
          <a:prstGeom prst="rect">
            <a:avLst/>
          </a:prstGeom>
          <a:noFill/>
        </p:spPr>
        <p:txBody>
          <a:bodyPr wrap="square">
            <a:spAutoFit/>
          </a:bodyPr>
          <a:lstStyle/>
          <a:p>
            <a:r>
              <a:rPr lang="en-US" sz="2000" b="1" dirty="0">
                <a:solidFill>
                  <a:srgbClr val="C00000"/>
                </a:solidFill>
              </a:rPr>
              <a:t>Défi : </a:t>
            </a:r>
            <a:r>
              <a:rPr lang="en-US" sz="2000" dirty="0">
                <a:solidFill>
                  <a:srgbClr val="C00000"/>
                </a:solidFill>
              </a:rPr>
              <a:t>veiller à ce que la croissance rapide ne conduise pas au </a:t>
            </a:r>
            <a:r>
              <a:rPr lang="en-US" sz="2000" dirty="0" err="1">
                <a:solidFill>
                  <a:srgbClr val="C00000"/>
                </a:solidFill>
              </a:rPr>
              <a:t>écoblanchiement</a:t>
            </a:r>
            <a:r>
              <a:rPr lang="en-US" sz="2000" dirty="0">
                <a:solidFill>
                  <a:srgbClr val="C00000"/>
                </a:solidFill>
              </a:rPr>
              <a:t> !</a:t>
            </a:r>
          </a:p>
        </p:txBody>
      </p:sp>
      <p:sp>
        <p:nvSpPr>
          <p:cNvPr id="8" name="Arrow: Right 7">
            <a:extLst>
              <a:ext uri="{FF2B5EF4-FFF2-40B4-BE49-F238E27FC236}">
                <a16:creationId xmlns:a16="http://schemas.microsoft.com/office/drawing/2014/main" id="{96663127-8A59-979A-032E-B4169788B311}"/>
              </a:ext>
            </a:extLst>
          </p:cNvPr>
          <p:cNvSpPr/>
          <p:nvPr/>
        </p:nvSpPr>
        <p:spPr>
          <a:xfrm rot="17873637">
            <a:off x="5879483" y="3377901"/>
            <a:ext cx="2792841" cy="4874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TextBox 9">
            <a:extLst>
              <a:ext uri="{FF2B5EF4-FFF2-40B4-BE49-F238E27FC236}">
                <a16:creationId xmlns:a16="http://schemas.microsoft.com/office/drawing/2014/main" id="{C56EB7CF-F9A6-289F-DFCF-E0CDA2A10597}"/>
              </a:ext>
            </a:extLst>
          </p:cNvPr>
          <p:cNvSpPr txBox="1"/>
          <p:nvPr/>
        </p:nvSpPr>
        <p:spPr>
          <a:xfrm>
            <a:off x="8193424" y="2015883"/>
            <a:ext cx="3606554" cy="646331"/>
          </a:xfrm>
          <a:prstGeom prst="rect">
            <a:avLst/>
          </a:prstGeom>
          <a:noFill/>
        </p:spPr>
        <p:txBody>
          <a:bodyPr wrap="square">
            <a:spAutoFit/>
          </a:bodyPr>
          <a:lstStyle/>
          <a:p>
            <a:r>
              <a:rPr lang="en-US" b="1" dirty="0">
                <a:solidFill>
                  <a:schemeClr val="accent1"/>
                </a:solidFill>
              </a:rPr>
              <a:t>Augmentation du </a:t>
            </a:r>
            <a:r>
              <a:rPr lang="en-US" b="1" dirty="0" err="1">
                <a:solidFill>
                  <a:schemeClr val="accent1"/>
                </a:solidFill>
              </a:rPr>
              <a:t>écoblanchiement</a:t>
            </a:r>
            <a:r>
              <a:rPr lang="en-US" b="1" dirty="0">
                <a:solidFill>
                  <a:schemeClr val="accent1"/>
                </a:solidFill>
              </a:rPr>
              <a:t> et des scandales ESG</a:t>
            </a:r>
            <a:endParaRPr lang="fr-CA" dirty="0">
              <a:solidFill>
                <a:schemeClr val="accent1"/>
              </a:solidFill>
            </a:endParaRPr>
          </a:p>
        </p:txBody>
      </p:sp>
    </p:spTree>
    <p:extLst>
      <p:ext uri="{BB962C8B-B14F-4D97-AF65-F5344CB8AC3E}">
        <p14:creationId xmlns:p14="http://schemas.microsoft.com/office/powerpoint/2010/main" val="427330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431A855-2E66-4BAD-A246-30A3B5C21373}"/>
              </a:ext>
            </a:extLst>
          </p:cNvPr>
          <p:cNvSpPr>
            <a:spLocks noGrp="1"/>
          </p:cNvSpPr>
          <p:nvPr>
            <p:ph type="title"/>
          </p:nvPr>
        </p:nvSpPr>
        <p:spPr>
          <a:xfrm>
            <a:off x="425885" y="344480"/>
            <a:ext cx="9817796" cy="758952"/>
          </a:xfrm>
        </p:spPr>
        <p:txBody>
          <a:bodyPr>
            <a:noAutofit/>
          </a:bodyPr>
          <a:lstStyle/>
          <a:p>
            <a:r>
              <a:rPr lang="en-US" sz="3200" dirty="0">
                <a:solidFill>
                  <a:srgbClr val="FF0000"/>
                </a:solidFill>
              </a:rPr>
              <a:t>Certaines sociétés se spécialisent dans l'évaluation des performances ESG des entreprises.</a:t>
            </a:r>
          </a:p>
        </p:txBody>
      </p:sp>
      <p:pic>
        <p:nvPicPr>
          <p:cNvPr id="16" name="Content Placeholder 15" descr="Table&#10;&#10;Description automatically generated with medium confidence">
            <a:extLst>
              <a:ext uri="{FF2B5EF4-FFF2-40B4-BE49-F238E27FC236}">
                <a16:creationId xmlns:a16="http://schemas.microsoft.com/office/drawing/2014/main" id="{D53BE70E-A633-441E-B32E-5461F4CC0F98}"/>
              </a:ext>
            </a:extLst>
          </p:cNvPr>
          <p:cNvPicPr>
            <a:picLocks noGrp="1" noChangeAspect="1"/>
          </p:cNvPicPr>
          <p:nvPr>
            <p:ph idx="1"/>
          </p:nvPr>
        </p:nvPicPr>
        <p:blipFill>
          <a:blip r:embed="rId3"/>
          <a:stretch>
            <a:fillRect/>
          </a:stretch>
        </p:blipFill>
        <p:spPr>
          <a:xfrm>
            <a:off x="6977651" y="2553069"/>
            <a:ext cx="4522780" cy="3661298"/>
          </a:xfrm>
        </p:spPr>
      </p:pic>
      <p:sp>
        <p:nvSpPr>
          <p:cNvPr id="3" name="Slide Number Placeholder 2">
            <a:extLst>
              <a:ext uri="{FF2B5EF4-FFF2-40B4-BE49-F238E27FC236}">
                <a16:creationId xmlns:a16="http://schemas.microsoft.com/office/drawing/2014/main" id="{B075F4D3-D6D1-4E8D-9F2A-EA10368675AB}"/>
              </a:ext>
            </a:extLst>
          </p:cNvPr>
          <p:cNvSpPr>
            <a:spLocks noGrp="1"/>
          </p:cNvSpPr>
          <p:nvPr>
            <p:ph type="sldNum" sz="quarter" idx="12"/>
          </p:nvPr>
        </p:nvSpPr>
        <p:spPr>
          <a:xfrm>
            <a:off x="5885688" y="1026373"/>
            <a:ext cx="457200" cy="441325"/>
          </a:xfrm>
        </p:spPr>
        <p:txBody>
          <a:bodyPr anchor="ctr">
            <a:normAutofit/>
          </a:bodyPr>
          <a:lstStyle/>
          <a:p>
            <a:pPr algn="ctr">
              <a:spcAft>
                <a:spcPts val="600"/>
              </a:spcAft>
              <a:defRPr/>
            </a:pPr>
            <a:fld id="{707C2F0C-A6A4-44C9-B109-8FE1FD9A5A06}" type="slidenum">
              <a:rPr lang="fr-CA" sz="1600">
                <a:solidFill>
                  <a:srgbClr val="8CADAE">
                    <a:shade val="75000"/>
                  </a:srgbClr>
                </a:solidFill>
                <a:latin typeface="Georgia"/>
              </a:rPr>
              <a:pPr algn="ctr">
                <a:spcAft>
                  <a:spcPts val="600"/>
                </a:spcAft>
                <a:defRPr/>
              </a:pPr>
              <a:t>7</a:t>
            </a:fld>
            <a:endParaRPr lang="fr-CA" sz="1600">
              <a:solidFill>
                <a:srgbClr val="8CADAE">
                  <a:shade val="75000"/>
                </a:srgbClr>
              </a:solidFill>
              <a:latin typeface="Georgia"/>
            </a:endParaRPr>
          </a:p>
        </p:txBody>
      </p:sp>
      <p:sp>
        <p:nvSpPr>
          <p:cNvPr id="12" name="TextBox 11">
            <a:extLst>
              <a:ext uri="{FF2B5EF4-FFF2-40B4-BE49-F238E27FC236}">
                <a16:creationId xmlns:a16="http://schemas.microsoft.com/office/drawing/2014/main" id="{BF0D9944-1F45-4205-ACDA-1CFCF4211BD1}"/>
              </a:ext>
            </a:extLst>
          </p:cNvPr>
          <p:cNvSpPr txBox="1"/>
          <p:nvPr/>
        </p:nvSpPr>
        <p:spPr>
          <a:xfrm>
            <a:off x="1700304" y="6377713"/>
            <a:ext cx="4392649" cy="338554"/>
          </a:xfrm>
          <a:prstGeom prst="rect">
            <a:avLst/>
          </a:prstGeom>
          <a:noFill/>
        </p:spPr>
        <p:txBody>
          <a:bodyPr wrap="square">
            <a:spAutoFit/>
          </a:bodyPr>
          <a:lstStyle/>
          <a:p>
            <a:pPr>
              <a:defRPr/>
            </a:pPr>
            <a:r>
              <a:rPr lang="fr-CA" sz="1600" dirty="0">
                <a:solidFill>
                  <a:prstClr val="black"/>
                </a:solidFill>
                <a:latin typeface="Georgia"/>
                <a:hlinkClick r:id="rId4"/>
              </a:rPr>
              <a:t>https://www.sustainalytics.</a:t>
            </a:r>
            <a:r>
              <a:rPr lang="fr-CA" sz="1600" dirty="0">
                <a:solidFill>
                  <a:prstClr val="black"/>
                </a:solidFill>
                <a:latin typeface="Georgia"/>
              </a:rPr>
              <a:t>com/esg-ratings/ </a:t>
            </a:r>
          </a:p>
        </p:txBody>
      </p:sp>
      <p:sp>
        <p:nvSpPr>
          <p:cNvPr id="4" name="TextBox 3">
            <a:extLst>
              <a:ext uri="{FF2B5EF4-FFF2-40B4-BE49-F238E27FC236}">
                <a16:creationId xmlns:a16="http://schemas.microsoft.com/office/drawing/2014/main" id="{6F4BB09E-E71A-4FD9-ADAC-0477FA5A1235}"/>
              </a:ext>
            </a:extLst>
          </p:cNvPr>
          <p:cNvSpPr txBox="1"/>
          <p:nvPr/>
        </p:nvSpPr>
        <p:spPr>
          <a:xfrm>
            <a:off x="1601468" y="4154213"/>
            <a:ext cx="3282216" cy="1815882"/>
          </a:xfrm>
          <a:prstGeom prst="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marL="285750" indent="-285750">
              <a:buFont typeface="Arial" panose="020B0604020202020204" pitchFamily="34" charset="0"/>
              <a:buChar char="•"/>
              <a:defRPr/>
            </a:pPr>
            <a:r>
              <a:rPr lang="en-US" sz="1400" dirty="0">
                <a:solidFill>
                  <a:prstClr val="black"/>
                </a:solidFill>
                <a:latin typeface="Georgia"/>
              </a:rPr>
              <a:t>Apple utilise de l'aluminium vert dans ses MacBook et ses Audi</a:t>
            </a:r>
          </a:p>
          <a:p>
            <a:pPr marL="285750" indent="-285750">
              <a:buFont typeface="Arial" panose="020B0604020202020204" pitchFamily="34" charset="0"/>
              <a:buChar char="•"/>
              <a:defRPr/>
            </a:pPr>
            <a:r>
              <a:rPr lang="en-US" sz="1400" dirty="0">
                <a:solidFill>
                  <a:prstClr val="black"/>
                </a:solidFill>
                <a:latin typeface="Georgia"/>
              </a:rPr>
              <a:t>
Les canettes de bière Michelob Ultra seront également produites à partir du même aluminium vert</a:t>
            </a:r>
          </a:p>
          <a:p>
            <a:pPr marL="285750" indent="-285750">
              <a:buFont typeface="Arial" panose="020B0604020202020204" pitchFamily="34" charset="0"/>
              <a:buChar char="•"/>
              <a:defRPr/>
            </a:pPr>
            <a:r>
              <a:rPr lang="en-US" sz="1400" dirty="0">
                <a:solidFill>
                  <a:prstClr val="black"/>
                </a:solidFill>
                <a:latin typeface="Georgia"/>
              </a:rPr>
              <a:t>
« Processus sans carbone »</a:t>
            </a:r>
            <a:endParaRPr lang="fr-CA" sz="1400" dirty="0">
              <a:solidFill>
                <a:prstClr val="black"/>
              </a:solidFill>
              <a:latin typeface="Georgia"/>
            </a:endParaRPr>
          </a:p>
        </p:txBody>
      </p:sp>
      <p:pic>
        <p:nvPicPr>
          <p:cNvPr id="7" name="Picture 6" descr="Timeline&#10;&#10;Description automatically generated">
            <a:extLst>
              <a:ext uri="{FF2B5EF4-FFF2-40B4-BE49-F238E27FC236}">
                <a16:creationId xmlns:a16="http://schemas.microsoft.com/office/drawing/2014/main" id="{1A2CB93B-CBBC-4F54-AED3-1991A74CCF7E}"/>
              </a:ext>
            </a:extLst>
          </p:cNvPr>
          <p:cNvPicPr>
            <a:picLocks noChangeAspect="1"/>
          </p:cNvPicPr>
          <p:nvPr/>
        </p:nvPicPr>
        <p:blipFill>
          <a:blip r:embed="rId5"/>
          <a:stretch>
            <a:fillRect/>
          </a:stretch>
        </p:blipFill>
        <p:spPr>
          <a:xfrm>
            <a:off x="5795448" y="1682892"/>
            <a:ext cx="3443593" cy="1497529"/>
          </a:xfrm>
          <a:prstGeom prst="rect">
            <a:avLst/>
          </a:prstGeom>
        </p:spPr>
      </p:pic>
      <p:pic>
        <p:nvPicPr>
          <p:cNvPr id="14" name="Picture 13" descr="Graphical user interface, application&#10;&#10;Description automatically generated">
            <a:extLst>
              <a:ext uri="{FF2B5EF4-FFF2-40B4-BE49-F238E27FC236}">
                <a16:creationId xmlns:a16="http://schemas.microsoft.com/office/drawing/2014/main" id="{150A748E-4566-458A-B127-36CF87752E8A}"/>
              </a:ext>
            </a:extLst>
          </p:cNvPr>
          <p:cNvPicPr>
            <a:picLocks noChangeAspect="1"/>
          </p:cNvPicPr>
          <p:nvPr/>
        </p:nvPicPr>
        <p:blipFill>
          <a:blip r:embed="rId6"/>
          <a:stretch>
            <a:fillRect/>
          </a:stretch>
        </p:blipFill>
        <p:spPr>
          <a:xfrm>
            <a:off x="1190567" y="1376747"/>
            <a:ext cx="4104019" cy="2369848"/>
          </a:xfrm>
          <a:prstGeom prst="rect">
            <a:avLst/>
          </a:prstGeom>
        </p:spPr>
      </p:pic>
      <p:pic>
        <p:nvPicPr>
          <p:cNvPr id="7170" name="Picture 2" descr="ESG Ratings Are Wildly Inconsistent | Is It On The Way Out?">
            <a:extLst>
              <a:ext uri="{FF2B5EF4-FFF2-40B4-BE49-F238E27FC236}">
                <a16:creationId xmlns:a16="http://schemas.microsoft.com/office/drawing/2014/main" id="{A1568203-BD78-8BA1-7C64-8FB442B2DB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3910" y="643633"/>
            <a:ext cx="3342205" cy="159889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128299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descr="Meeting">
            <a:extLst>
              <a:ext uri="{FF2B5EF4-FFF2-40B4-BE49-F238E27FC236}">
                <a16:creationId xmlns:a16="http://schemas.microsoft.com/office/drawing/2014/main" id="{FF14DCE4-46C3-4F3D-9BC3-17288E1FDB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1201" y="173859"/>
            <a:ext cx="914400" cy="914400"/>
          </a:xfrm>
          <a:prstGeom prst="rect">
            <a:avLst/>
          </a:prstGeom>
        </p:spPr>
      </p:pic>
      <p:sp>
        <p:nvSpPr>
          <p:cNvPr id="11" name="Title 1">
            <a:extLst>
              <a:ext uri="{FF2B5EF4-FFF2-40B4-BE49-F238E27FC236}">
                <a16:creationId xmlns:a16="http://schemas.microsoft.com/office/drawing/2014/main" id="{2431A855-2E66-4BAD-A246-30A3B5C21373}"/>
              </a:ext>
            </a:extLst>
          </p:cNvPr>
          <p:cNvSpPr>
            <a:spLocks noGrp="1"/>
          </p:cNvSpPr>
          <p:nvPr>
            <p:ph type="title"/>
          </p:nvPr>
        </p:nvSpPr>
        <p:spPr>
          <a:xfrm>
            <a:off x="1825752" y="228600"/>
            <a:ext cx="8534400" cy="758952"/>
          </a:xfrm>
        </p:spPr>
        <p:txBody>
          <a:bodyPr>
            <a:normAutofit/>
          </a:bodyPr>
          <a:lstStyle/>
          <a:p>
            <a:r>
              <a:rPr lang="en-US" sz="3100" dirty="0">
                <a:solidFill>
                  <a:srgbClr val="FF0000"/>
                </a:solidFill>
              </a:rPr>
              <a:t>Notation ESG par secteur d'activité</a:t>
            </a:r>
          </a:p>
        </p:txBody>
      </p:sp>
      <p:sp>
        <p:nvSpPr>
          <p:cNvPr id="3" name="Slide Number Placeholder 2">
            <a:extLst>
              <a:ext uri="{FF2B5EF4-FFF2-40B4-BE49-F238E27FC236}">
                <a16:creationId xmlns:a16="http://schemas.microsoft.com/office/drawing/2014/main" id="{B075F4D3-D6D1-4E8D-9F2A-EA10368675AB}"/>
              </a:ext>
            </a:extLst>
          </p:cNvPr>
          <p:cNvSpPr>
            <a:spLocks noGrp="1"/>
          </p:cNvSpPr>
          <p:nvPr>
            <p:ph type="sldNum" sz="quarter" idx="12"/>
          </p:nvPr>
        </p:nvSpPr>
        <p:spPr>
          <a:xfrm>
            <a:off x="5885688" y="1026373"/>
            <a:ext cx="457200" cy="441325"/>
          </a:xfrm>
        </p:spPr>
        <p:txBody>
          <a:bodyPr anchor="ctr">
            <a:normAutofit/>
          </a:bodyPr>
          <a:lstStyle/>
          <a:p>
            <a:pPr>
              <a:spcAft>
                <a:spcPts val="600"/>
              </a:spcAft>
            </a:pPr>
            <a:fld id="{707C2F0C-A6A4-44C9-B109-8FE1FD9A5A06}" type="slidenum">
              <a:rPr lang="fr-CA" smtClean="0">
                <a:solidFill>
                  <a:srgbClr val="8CADAE">
                    <a:shade val="75000"/>
                  </a:srgbClr>
                </a:solidFill>
              </a:rPr>
              <a:pPr>
                <a:spcAft>
                  <a:spcPts val="600"/>
                </a:spcAft>
              </a:pPr>
              <a:t>8</a:t>
            </a:fld>
            <a:endParaRPr lang="fr-CA">
              <a:solidFill>
                <a:srgbClr val="8CADAE">
                  <a:shade val="75000"/>
                </a:srgbClr>
              </a:solidFill>
            </a:endParaRPr>
          </a:p>
        </p:txBody>
      </p:sp>
      <p:pic>
        <p:nvPicPr>
          <p:cNvPr id="9" name="Picture 8">
            <a:extLst>
              <a:ext uri="{FF2B5EF4-FFF2-40B4-BE49-F238E27FC236}">
                <a16:creationId xmlns:a16="http://schemas.microsoft.com/office/drawing/2014/main" id="{F2F7E734-160A-4696-A8B6-8600DF6027AD}"/>
              </a:ext>
            </a:extLst>
          </p:cNvPr>
          <p:cNvPicPr>
            <a:picLocks noChangeAspect="1"/>
          </p:cNvPicPr>
          <p:nvPr/>
        </p:nvPicPr>
        <p:blipFill>
          <a:blip r:embed="rId4"/>
          <a:stretch>
            <a:fillRect/>
          </a:stretch>
        </p:blipFill>
        <p:spPr>
          <a:xfrm>
            <a:off x="2440735" y="1088259"/>
            <a:ext cx="7587667" cy="5094340"/>
          </a:xfrm>
          <a:prstGeom prst="rect">
            <a:avLst/>
          </a:prstGeom>
        </p:spPr>
      </p:pic>
    </p:spTree>
    <p:extLst>
      <p:ext uri="{BB962C8B-B14F-4D97-AF65-F5344CB8AC3E}">
        <p14:creationId xmlns:p14="http://schemas.microsoft.com/office/powerpoint/2010/main" val="310319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EC84-F137-471E-8DA0-759650215E10}"/>
              </a:ext>
            </a:extLst>
          </p:cNvPr>
          <p:cNvSpPr>
            <a:spLocks noGrp="1"/>
          </p:cNvSpPr>
          <p:nvPr>
            <p:ph type="title"/>
          </p:nvPr>
        </p:nvSpPr>
        <p:spPr>
          <a:xfrm>
            <a:off x="400834" y="650897"/>
            <a:ext cx="11411210" cy="758952"/>
          </a:xfrm>
        </p:spPr>
        <p:txBody>
          <a:bodyPr>
            <a:normAutofit fontScale="90000"/>
          </a:bodyPr>
          <a:lstStyle/>
          <a:p>
            <a:r>
              <a:rPr lang="en-US" dirty="0" err="1"/>
              <a:t>Écoblanchiment</a:t>
            </a:r>
            <a:r>
              <a:rPr lang="en-US" dirty="0"/>
              <a:t> – Quand l'ESG devient un piège marketing…</a:t>
            </a:r>
            <a:endParaRPr lang="fr-CA" dirty="0">
              <a:solidFill>
                <a:schemeClr val="tx2">
                  <a:lumMod val="60000"/>
                  <a:lumOff val="40000"/>
                </a:schemeClr>
              </a:solidFill>
            </a:endParaRPr>
          </a:p>
        </p:txBody>
      </p:sp>
      <p:sp>
        <p:nvSpPr>
          <p:cNvPr id="4" name="Content Placeholder 3">
            <a:extLst>
              <a:ext uri="{FF2B5EF4-FFF2-40B4-BE49-F238E27FC236}">
                <a16:creationId xmlns:a16="http://schemas.microsoft.com/office/drawing/2014/main" id="{184B5F2B-88A1-4D3C-AEE2-86EEE9BEEDD4}"/>
              </a:ext>
            </a:extLst>
          </p:cNvPr>
          <p:cNvSpPr>
            <a:spLocks noGrp="1"/>
          </p:cNvSpPr>
          <p:nvPr>
            <p:ph idx="1"/>
          </p:nvPr>
        </p:nvSpPr>
        <p:spPr>
          <a:xfrm>
            <a:off x="563671" y="1843463"/>
            <a:ext cx="5977498" cy="4363641"/>
          </a:xfrm>
        </p:spPr>
        <p:txBody>
          <a:bodyPr>
            <a:normAutofit lnSpcReduction="10000"/>
          </a:bodyPr>
          <a:lstStyle/>
          <a:p>
            <a:pPr marL="0" indent="0">
              <a:buNone/>
            </a:pPr>
            <a:r>
              <a:rPr lang="fr-CA" sz="2800" dirty="0" err="1">
                <a:latin typeface="Ink Free" panose="03080402000500000000" pitchFamily="66" charset="0"/>
              </a:rPr>
              <a:t>Qu'est-ce que c'est </a:t>
            </a:r>
            <a:r>
              <a:rPr lang="fr-CA" sz="2800" dirty="0">
                <a:latin typeface="Ink Free" panose="03080402000500000000" pitchFamily="66" charset="0"/>
              </a:rPr>
              <a:t>?</a:t>
            </a:r>
            <a:endParaRPr lang="fr-CA" sz="2800" b="1" dirty="0">
              <a:latin typeface="Ink Free" panose="03080402000500000000" pitchFamily="66" charset="0"/>
            </a:endParaRPr>
          </a:p>
          <a:p>
            <a:pPr>
              <a:buFont typeface="Wingdings 2" panose="05020102010507070707" pitchFamily="18" charset="2"/>
              <a:buChar char=""/>
            </a:pPr>
            <a:r>
              <a:rPr lang="en-US" sz="2400" b="1" dirty="0"/>
              <a:t>Définition : </a:t>
            </a:r>
            <a:r>
              <a:rPr lang="en-US" sz="2400" dirty="0"/>
              <a:t>Le </a:t>
            </a:r>
            <a:r>
              <a:rPr lang="en-US" sz="2400" dirty="0" err="1"/>
              <a:t>écoblanchiment</a:t>
            </a:r>
            <a:r>
              <a:rPr lang="en-US" sz="2400" dirty="0"/>
              <a:t> se produit lorsque des entreprises se présentent comme respectueuses de l'environnement ou socialement responsables alors que leurs actions ne correspondent pas à ces affirmations.</a:t>
            </a:r>
          </a:p>
          <a:p>
            <a:pPr>
              <a:buFont typeface="Wingdings 2" panose="05020102010507070707" pitchFamily="18" charset="2"/>
              <a:buChar char=""/>
            </a:pPr>
            <a:endParaRPr lang="en-US" sz="2400" dirty="0"/>
          </a:p>
          <a:p>
            <a:pPr>
              <a:buFont typeface="Wingdings 2" panose="05020102010507070707" pitchFamily="18" charset="2"/>
              <a:buChar char=""/>
            </a:pPr>
            <a:r>
              <a:rPr lang="en-US" sz="2400" b="1" dirty="0"/>
              <a:t>Pourquoi est-ce important ? </a:t>
            </a:r>
            <a:r>
              <a:rPr lang="en-US" sz="2400" dirty="0"/>
              <a:t>Cela sape la confiance dans les initiatives ESG, induit en erreur les investisseurs et les consommateurs, et ralentit les progrès vers la durabilité. </a:t>
            </a:r>
          </a:p>
          <a:p>
            <a:pPr lvl="1"/>
            <a:endParaRPr lang="fr-FR" sz="2000" dirty="0"/>
          </a:p>
          <a:p>
            <a:pPr lvl="1"/>
            <a:endParaRPr lang="fr-FR" sz="2000" dirty="0"/>
          </a:p>
          <a:p>
            <a:pPr lvl="1"/>
            <a:endParaRPr lang="fr-FR" sz="2000" dirty="0"/>
          </a:p>
          <a:p>
            <a:endParaRPr lang="fr-FR" dirty="0"/>
          </a:p>
          <a:p>
            <a:endParaRPr lang="fr-FR" dirty="0"/>
          </a:p>
          <a:p>
            <a:pPr marL="274320" lvl="1" indent="0">
              <a:buNone/>
            </a:pPr>
            <a:endParaRPr lang="fr-CA" sz="2000" dirty="0"/>
          </a:p>
        </p:txBody>
      </p:sp>
      <p:sp>
        <p:nvSpPr>
          <p:cNvPr id="3" name="Slide Number Placeholder 2">
            <a:extLst>
              <a:ext uri="{FF2B5EF4-FFF2-40B4-BE49-F238E27FC236}">
                <a16:creationId xmlns:a16="http://schemas.microsoft.com/office/drawing/2014/main" id="{29B77B85-8D04-4F78-B6D0-275595311019}"/>
              </a:ext>
            </a:extLst>
          </p:cNvPr>
          <p:cNvSpPr>
            <a:spLocks noGrp="1"/>
          </p:cNvSpPr>
          <p:nvPr>
            <p:ph type="sldNum" sz="quarter" idx="12"/>
          </p:nvPr>
        </p:nvSpPr>
        <p:spPr/>
        <p:txBody>
          <a:bodyPr/>
          <a:lstStyle/>
          <a:p>
            <a:pPr>
              <a:defRPr/>
            </a:pPr>
            <a:fld id="{A36EBACF-F565-E244-8230-FFB82DCE4B7F}" type="slidenum">
              <a:rPr lang="fr-CA">
                <a:solidFill>
                  <a:srgbClr val="9BBB59">
                    <a:shade val="75000"/>
                  </a:srgbClr>
                </a:solidFill>
                <a:latin typeface="Georgia"/>
              </a:rPr>
              <a:t>9</a:t>
            </a:fld>
            <a:endParaRPr lang="fr-CA">
              <a:solidFill>
                <a:srgbClr val="9BBB59">
                  <a:shade val="75000"/>
                </a:srgbClr>
              </a:solidFill>
              <a:latin typeface="Georgia"/>
            </a:endParaRPr>
          </a:p>
        </p:txBody>
      </p:sp>
      <p:pic>
        <p:nvPicPr>
          <p:cNvPr id="5" name="Picture 2" descr="Greenwashing And ESG: What You Need To Know">
            <a:extLst>
              <a:ext uri="{FF2B5EF4-FFF2-40B4-BE49-F238E27FC236}">
                <a16:creationId xmlns:a16="http://schemas.microsoft.com/office/drawing/2014/main" id="{CC3CDC91-C907-80F6-2C14-52AEF2F28815}"/>
              </a:ext>
            </a:extLst>
          </p:cNvPr>
          <p:cNvPicPr>
            <a:picLocks noChangeAspect="1" noChangeArrowheads="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7642066" y="927561"/>
            <a:ext cx="3012759" cy="16938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8" name="Picture 4" descr="&quot;Do the right thing&quot; sculpture at the Nike headquarters in 2018">
            <a:extLst>
              <a:ext uri="{FF2B5EF4-FFF2-40B4-BE49-F238E27FC236}">
                <a16:creationId xmlns:a16="http://schemas.microsoft.com/office/drawing/2014/main" id="{75CE3103-27EC-E6D5-7EB8-4939069AD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6061" y="2963332"/>
            <a:ext cx="2425387" cy="136428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F4B1F59-3266-F0C0-E353-F10CCBCC7CED}"/>
              </a:ext>
            </a:extLst>
          </p:cNvPr>
          <p:cNvSpPr txBox="1"/>
          <p:nvPr/>
        </p:nvSpPr>
        <p:spPr>
          <a:xfrm>
            <a:off x="6541169" y="4655034"/>
            <a:ext cx="5143480" cy="1477328"/>
          </a:xfrm>
          <a:prstGeom prst="rect">
            <a:avLst/>
          </a:prstGeom>
          <a:noFill/>
        </p:spPr>
        <p:txBody>
          <a:bodyPr wrap="square" rtlCol="0">
            <a:spAutoFit/>
          </a:bodyPr>
          <a:lstStyle/>
          <a:p>
            <a:pPr algn="ctr"/>
            <a:r>
              <a:rPr lang="en-US" sz="1500" dirty="0">
                <a:latin typeface="Ink Free" panose="03080402000500000000" pitchFamily="66" charset="0"/>
              </a:rPr>
              <a:t>Mai 2023 : Nike est poursuivie en justice pour </a:t>
            </a:r>
            <a:r>
              <a:rPr lang="en-US" sz="1500" dirty="0" err="1">
                <a:latin typeface="Ink Free" panose="03080402000500000000" pitchFamily="66" charset="0"/>
              </a:rPr>
              <a:t>écoblanchiement</a:t>
            </a:r>
            <a:r>
              <a:rPr lang="en-US" sz="1500" dirty="0">
                <a:latin typeface="Ink Free" panose="03080402000500000000" pitchFamily="66" charset="0"/>
              </a:rPr>
              <a:t>. </a:t>
            </a:r>
          </a:p>
          <a:p>
            <a:pPr algn="ctr"/>
            <a:endParaRPr lang="en-US" sz="1500" dirty="0">
              <a:latin typeface="Ink Free" panose="03080402000500000000" pitchFamily="66" charset="0"/>
            </a:endParaRPr>
          </a:p>
          <a:p>
            <a:pPr algn="ctr"/>
            <a:r>
              <a:rPr lang="en-US" sz="1500" dirty="0">
                <a:latin typeface="Ink Free" panose="03080402000500000000" pitchFamily="66" charset="0"/>
              </a:rPr>
              <a:t>Sur les 2 452 produits répertoriés par Nike dans sa collection durable, « seuls 239 produits sont réellement fabriqués à partir de matériaux recyclés », soit environ 10 %.</a:t>
            </a:r>
            <a:endParaRPr lang="fr-CA" sz="1500" dirty="0"/>
          </a:p>
        </p:txBody>
      </p:sp>
    </p:spTree>
    <p:extLst>
      <p:ext uri="{BB962C8B-B14F-4D97-AF65-F5344CB8AC3E}">
        <p14:creationId xmlns:p14="http://schemas.microsoft.com/office/powerpoint/2010/main" val="160971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5B4C8-B096-E482-C58C-F81F075C3AFA}"/>
              </a:ext>
            </a:extLst>
          </p:cNvPr>
          <p:cNvSpPr>
            <a:spLocks noGrp="1"/>
          </p:cNvSpPr>
          <p:nvPr>
            <p:ph type="title"/>
          </p:nvPr>
        </p:nvSpPr>
        <p:spPr>
          <a:xfrm>
            <a:off x="551146" y="379476"/>
            <a:ext cx="7693892" cy="1122636"/>
          </a:xfrm>
        </p:spPr>
        <p:txBody>
          <a:bodyPr>
            <a:normAutofit/>
          </a:bodyPr>
          <a:lstStyle/>
          <a:p>
            <a:r>
              <a:rPr lang="en-US" sz="3200" dirty="0">
                <a:latin typeface="Ink Free" panose="03080402000500000000" pitchFamily="66" charset="0"/>
              </a:rPr>
              <a:t>Les militants pour le climat poursuivent les </a:t>
            </a:r>
            <a:r>
              <a:rPr lang="en-US" sz="3200" dirty="0" err="1">
                <a:latin typeface="Ink Free" panose="03080402000500000000" pitchFamily="66" charset="0"/>
              </a:rPr>
              <a:t>entreprises</a:t>
            </a:r>
            <a:r>
              <a:rPr lang="en-US" sz="3200" dirty="0">
                <a:latin typeface="Ink Free" panose="03080402000500000000" pitchFamily="66" charset="0"/>
              </a:rPr>
              <a:t> </a:t>
            </a:r>
            <a:r>
              <a:rPr lang="en-US" sz="3200" dirty="0" err="1">
                <a:latin typeface="Ink Free" panose="03080402000500000000" pitchFamily="66" charset="0"/>
              </a:rPr>
              <a:t>devant</a:t>
            </a:r>
            <a:r>
              <a:rPr lang="en-US" sz="3200" dirty="0">
                <a:latin typeface="Ink Free" panose="03080402000500000000" pitchFamily="66" charset="0"/>
              </a:rPr>
              <a:t> les tribunaux...</a:t>
            </a:r>
            <a:endParaRPr lang="fr-CA" dirty="0">
              <a:latin typeface="Ink Free" panose="03080402000500000000" pitchFamily="66" charset="0"/>
            </a:endParaRPr>
          </a:p>
        </p:txBody>
      </p:sp>
      <p:sp>
        <p:nvSpPr>
          <p:cNvPr id="4" name="Content Placeholder 3">
            <a:extLst>
              <a:ext uri="{FF2B5EF4-FFF2-40B4-BE49-F238E27FC236}">
                <a16:creationId xmlns:a16="http://schemas.microsoft.com/office/drawing/2014/main" id="{F1E4BE53-98D0-7803-C4E6-A880ED74FBEA}"/>
              </a:ext>
            </a:extLst>
          </p:cNvPr>
          <p:cNvSpPr>
            <a:spLocks noGrp="1"/>
          </p:cNvSpPr>
          <p:nvPr>
            <p:ph idx="1"/>
          </p:nvPr>
        </p:nvSpPr>
        <p:spPr>
          <a:xfrm>
            <a:off x="538620" y="1963037"/>
            <a:ext cx="11173216" cy="4813594"/>
          </a:xfrm>
        </p:spPr>
        <p:txBody>
          <a:bodyPr>
            <a:normAutofit/>
          </a:bodyPr>
          <a:lstStyle/>
          <a:p>
            <a:r>
              <a:rPr lang="en-US" b="0" i="0" dirty="0">
                <a:solidFill>
                  <a:srgbClr val="1A1B1B"/>
                </a:solidFill>
                <a:effectLst/>
                <a:latin typeface="+mj-lt"/>
              </a:rPr>
              <a:t>En juillet 2022, un juge fédéral américain de Californie a donné son accord préliminaire à un règlement de 10 millions de dollars (9,5 millions d'euros) après que la société </a:t>
            </a:r>
            <a:r>
              <a:rPr lang="en-US" b="1" i="0" u="none" strike="noStrike" dirty="0">
                <a:effectLst/>
                <a:latin typeface="+mj-lt"/>
                <a:hlinkClick r:id="rId2"/>
              </a:rPr>
              <a:t>de café</a:t>
            </a:r>
            <a:r>
              <a:rPr lang="en-US" b="0" i="0" dirty="0">
                <a:solidFill>
                  <a:srgbClr val="1A1B1B"/>
                </a:solidFill>
                <a:effectLst/>
                <a:latin typeface="+mj-lt"/>
              </a:rPr>
              <a:t> en dosettes </a:t>
            </a:r>
            <a:r>
              <a:rPr lang="en-US" b="1" i="0" dirty="0">
                <a:solidFill>
                  <a:srgbClr val="1A1B1B"/>
                </a:solidFill>
                <a:effectLst/>
                <a:latin typeface="+mj-lt"/>
              </a:rPr>
              <a:t>Keurig </a:t>
            </a:r>
            <a:r>
              <a:rPr lang="en-US" b="0" i="0" dirty="0">
                <a:solidFill>
                  <a:srgbClr val="1A1B1B"/>
                </a:solidFill>
                <a:effectLst/>
                <a:latin typeface="+mj-lt"/>
              </a:rPr>
              <a:t>ait été poursuivie par des consommateurs qui l'accusaient de commercialiser de manière trompeuse ses dosettes K-Cups comme étant recyclables, alors qu'elles ne le sont pas dans de nombreuses localités. Keurig a nié toute faute et toute responsabilité.</a:t>
            </a:r>
          </a:p>
          <a:p>
            <a:endParaRPr lang="en-US" b="0" i="0" dirty="0">
              <a:solidFill>
                <a:srgbClr val="1A1B1B"/>
              </a:solidFill>
              <a:effectLst/>
              <a:latin typeface="+mj-lt"/>
            </a:endParaRPr>
          </a:p>
          <a:p>
            <a:r>
              <a:rPr lang="en-US" b="1" dirty="0">
                <a:solidFill>
                  <a:srgbClr val="1A1B1B"/>
                </a:solidFill>
                <a:latin typeface="+mj-lt"/>
              </a:rPr>
              <a:t>Vanguard : </a:t>
            </a:r>
            <a:r>
              <a:rPr lang="en-US" dirty="0">
                <a:solidFill>
                  <a:srgbClr val="1A1B1B"/>
                </a:solidFill>
                <a:latin typeface="+mj-lt"/>
              </a:rPr>
              <a:t>Le géant de l'investissement a été poursuivi en justice par la Commission australienne des valeurs mobilières et des investissements (ASIC) pour avoir prétendument exposé l'un de ses fonds indiciels obligataires éthiques à des investissements dans les énergies fossiles dans une mesure supérieure à celle présentée aux investisseurs.</a:t>
            </a:r>
          </a:p>
          <a:p>
            <a:endParaRPr lang="en-US" dirty="0">
              <a:solidFill>
                <a:srgbClr val="1A1B1B"/>
              </a:solidFill>
              <a:latin typeface="+mj-lt"/>
            </a:endParaRPr>
          </a:p>
          <a:p>
            <a:r>
              <a:rPr lang="en-US" sz="3200" dirty="0">
                <a:solidFill>
                  <a:srgbClr val="1A1B1B"/>
                </a:solidFill>
                <a:latin typeface="+mj-lt"/>
              </a:rPr>
              <a:t>Et bien d'autres exemples encore...</a:t>
            </a:r>
          </a:p>
          <a:p>
            <a:endParaRPr lang="en-US" b="0" i="0" dirty="0">
              <a:solidFill>
                <a:srgbClr val="1A1B1B"/>
              </a:solidFill>
              <a:effectLst/>
              <a:latin typeface="+mj-lt"/>
            </a:endParaRPr>
          </a:p>
          <a:p>
            <a:endParaRPr lang="en-US" dirty="0">
              <a:latin typeface="+mj-lt"/>
            </a:endParaRPr>
          </a:p>
          <a:p>
            <a:endParaRPr lang="fr-CA" dirty="0">
              <a:latin typeface="+mj-lt"/>
            </a:endParaRPr>
          </a:p>
        </p:txBody>
      </p:sp>
      <p:sp>
        <p:nvSpPr>
          <p:cNvPr id="3" name="Slide Number Placeholder 2">
            <a:extLst>
              <a:ext uri="{FF2B5EF4-FFF2-40B4-BE49-F238E27FC236}">
                <a16:creationId xmlns:a16="http://schemas.microsoft.com/office/drawing/2014/main" id="{71BFE575-CA56-96F5-7E0A-EB13D3BE0A8F}"/>
              </a:ext>
            </a:extLst>
          </p:cNvPr>
          <p:cNvSpPr>
            <a:spLocks noGrp="1"/>
          </p:cNvSpPr>
          <p:nvPr>
            <p:ph type="sldNum" sz="quarter" idx="12"/>
          </p:nvPr>
        </p:nvSpPr>
        <p:spPr/>
        <p:txBody>
          <a:bodyPr/>
          <a:lstStyle/>
          <a:p>
            <a:pPr>
              <a:defRPr/>
            </a:pPr>
            <a:fld id="{A36EBACF-F565-E244-8230-FFB82DCE4B7F}" type="slidenum">
              <a:rPr lang="fr-CA" smtClean="0"/>
              <a:t>10</a:t>
            </a:fld>
            <a:endParaRPr lang="fr-CA"/>
          </a:p>
        </p:txBody>
      </p:sp>
      <p:pic>
        <p:nvPicPr>
          <p:cNvPr id="1026" name="Picture 2" descr="Climate change litigation has more than doubled in the past seven years.">
            <a:extLst>
              <a:ext uri="{FF2B5EF4-FFF2-40B4-BE49-F238E27FC236}">
                <a16:creationId xmlns:a16="http://schemas.microsoft.com/office/drawing/2014/main" id="{F1600A05-BE81-90FF-69D2-CEE1A8A86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8015" y="244855"/>
            <a:ext cx="2790567" cy="1569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31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7F62622-AE17-545F-0BFC-C4BD22588E50}"/>
              </a:ext>
            </a:extLst>
          </p:cNvPr>
          <p:cNvSpPr>
            <a:spLocks noGrp="1"/>
          </p:cNvSpPr>
          <p:nvPr>
            <p:ph type="sldNum" sz="quarter" idx="12"/>
          </p:nvPr>
        </p:nvSpPr>
        <p:spPr/>
        <p:txBody>
          <a:bodyPr/>
          <a:lstStyle/>
          <a:p>
            <a:pPr>
              <a:defRPr/>
            </a:pPr>
            <a:fld id="{A36EBACF-F565-E244-8230-FFB82DCE4B7F}" type="slidenum">
              <a:rPr lang="fr-CA" smtClean="0"/>
              <a:pPr>
                <a:defRPr/>
              </a:pPr>
              <a:t>11</a:t>
            </a:fld>
            <a:endParaRPr lang="fr-CA"/>
          </a:p>
        </p:txBody>
      </p:sp>
      <p:sp>
        <p:nvSpPr>
          <p:cNvPr id="2" name="Title 1">
            <a:extLst>
              <a:ext uri="{FF2B5EF4-FFF2-40B4-BE49-F238E27FC236}">
                <a16:creationId xmlns:a16="http://schemas.microsoft.com/office/drawing/2014/main" id="{82F069C1-3699-2BF7-BDE0-47E733C00F25}"/>
              </a:ext>
            </a:extLst>
          </p:cNvPr>
          <p:cNvSpPr>
            <a:spLocks noGrp="1"/>
          </p:cNvSpPr>
          <p:nvPr>
            <p:ph type="title" idx="4294967295"/>
          </p:nvPr>
        </p:nvSpPr>
        <p:spPr>
          <a:xfrm>
            <a:off x="250521" y="325038"/>
            <a:ext cx="9991450" cy="758825"/>
          </a:xfrm>
        </p:spPr>
        <p:txBody>
          <a:bodyPr>
            <a:normAutofit/>
          </a:bodyPr>
          <a:lstStyle/>
          <a:p>
            <a:r>
              <a:rPr lang="fr-CA" sz="3200" dirty="0">
                <a:latin typeface="Ink Free" panose="03080402000500000000" pitchFamily="66" charset="0"/>
              </a:rPr>
              <a:t>…et aussi des banques et des sociétés d’investissement</a:t>
            </a:r>
          </a:p>
        </p:txBody>
      </p:sp>
      <p:graphicFrame>
        <p:nvGraphicFramePr>
          <p:cNvPr id="18" name="Content Placeholder 3">
            <a:extLst>
              <a:ext uri="{FF2B5EF4-FFF2-40B4-BE49-F238E27FC236}">
                <a16:creationId xmlns:a16="http://schemas.microsoft.com/office/drawing/2014/main" id="{D067423E-2128-8177-66AB-26154C37E488}"/>
              </a:ext>
            </a:extLst>
          </p:cNvPr>
          <p:cNvGraphicFramePr>
            <a:graphicFrameLocks noGrp="1"/>
          </p:cNvGraphicFramePr>
          <p:nvPr>
            <p:ph idx="4294967295"/>
            <p:extLst>
              <p:ext uri="{D42A27DB-BD31-4B8C-83A1-F6EECF244321}">
                <p14:modId xmlns:p14="http://schemas.microsoft.com/office/powerpoint/2010/main" val="2025155827"/>
              </p:ext>
            </p:extLst>
          </p:nvPr>
        </p:nvGraphicFramePr>
        <p:xfrm>
          <a:off x="350729" y="1239646"/>
          <a:ext cx="5624043" cy="5064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171C0B20-9909-C98F-96BC-093D210EC9A9}"/>
              </a:ext>
            </a:extLst>
          </p:cNvPr>
          <p:cNvSpPr txBox="1"/>
          <p:nvPr/>
        </p:nvSpPr>
        <p:spPr>
          <a:xfrm>
            <a:off x="227556" y="6228404"/>
            <a:ext cx="11736887" cy="584775"/>
          </a:xfrm>
          <a:prstGeom prst="rect">
            <a:avLst/>
          </a:prstGeom>
          <a:solidFill>
            <a:schemeClr val="accent6">
              <a:lumMod val="20000"/>
              <a:lumOff val="80000"/>
            </a:schemeClr>
          </a:solidFill>
        </p:spPr>
        <p:txBody>
          <a:bodyPr wrap="square">
            <a:spAutoFit/>
          </a:bodyPr>
          <a:lstStyle/>
          <a:p>
            <a:r>
              <a:rPr lang="fr-CA" sz="1600" dirty="0">
                <a:solidFill>
                  <a:srgbClr val="FF0000"/>
                </a:solidFill>
                <a:latin typeface="Ink Free" panose="03080402000500000000" pitchFamily="66" charset="0"/>
              </a:rPr>
              <a:t>La question de l’écoblanchiment dans les banques canadiennes met en évidence le </a:t>
            </a:r>
            <a:r>
              <a:rPr lang="fr-CA" sz="1600" b="1" u="sng" dirty="0">
                <a:solidFill>
                  <a:srgbClr val="FF0000"/>
                </a:solidFill>
                <a:latin typeface="Ink Free" panose="03080402000500000000" pitchFamily="66" charset="0"/>
              </a:rPr>
              <a:t>défi complexe que représente l’alignement des intérêts financiers sur la durabilité environnementale.</a:t>
            </a:r>
          </a:p>
        </p:txBody>
      </p:sp>
      <p:pic>
        <p:nvPicPr>
          <p:cNvPr id="7" name="Picture 6">
            <a:extLst>
              <a:ext uri="{FF2B5EF4-FFF2-40B4-BE49-F238E27FC236}">
                <a16:creationId xmlns:a16="http://schemas.microsoft.com/office/drawing/2014/main" id="{5BDD4FD4-2CBB-BD5F-0B46-C524301D6426}"/>
              </a:ext>
            </a:extLst>
          </p:cNvPr>
          <p:cNvPicPr>
            <a:picLocks noChangeAspect="1"/>
          </p:cNvPicPr>
          <p:nvPr/>
        </p:nvPicPr>
        <p:blipFill>
          <a:blip r:embed="rId7"/>
          <a:stretch>
            <a:fillRect/>
          </a:stretch>
        </p:blipFill>
        <p:spPr>
          <a:xfrm>
            <a:off x="7346951" y="2269560"/>
            <a:ext cx="3206751" cy="2448633"/>
          </a:xfrm>
          <a:prstGeom prst="rect">
            <a:avLst/>
          </a:prstGeom>
        </p:spPr>
      </p:pic>
      <p:sp>
        <p:nvSpPr>
          <p:cNvPr id="10" name="TextBox 9">
            <a:extLst>
              <a:ext uri="{FF2B5EF4-FFF2-40B4-BE49-F238E27FC236}">
                <a16:creationId xmlns:a16="http://schemas.microsoft.com/office/drawing/2014/main" id="{B53DDAC3-83AA-4820-7629-3D9AA4358BF2}"/>
              </a:ext>
            </a:extLst>
          </p:cNvPr>
          <p:cNvSpPr txBox="1"/>
          <p:nvPr/>
        </p:nvSpPr>
        <p:spPr>
          <a:xfrm>
            <a:off x="6407729" y="4934982"/>
            <a:ext cx="5228950" cy="1107996"/>
          </a:xfrm>
          <a:prstGeom prst="rect">
            <a:avLst/>
          </a:prstGeom>
          <a:noFill/>
        </p:spPr>
        <p:txBody>
          <a:bodyPr wrap="square">
            <a:spAutoFit/>
          </a:bodyPr>
          <a:lstStyle/>
          <a:p>
            <a:r>
              <a:rPr lang="fr-CA" dirty="0">
                <a:latin typeface="+mj-lt"/>
              </a:rPr>
              <a:t>Les </a:t>
            </a:r>
            <a:r>
              <a:rPr lang="fr-CA" b="1" dirty="0">
                <a:latin typeface="+mj-lt"/>
              </a:rPr>
              <a:t>régimes de retraite </a:t>
            </a:r>
            <a:r>
              <a:rPr lang="fr-CA" dirty="0">
                <a:latin typeface="+mj-lt"/>
              </a:rPr>
              <a:t>sont les </a:t>
            </a:r>
            <a:r>
              <a:rPr lang="fr-CA" u="sng" dirty="0">
                <a:latin typeface="+mj-lt"/>
              </a:rPr>
              <a:t>institutions les plus engagées dans la transition verte</a:t>
            </a:r>
          </a:p>
          <a:p>
            <a:endParaRPr lang="fr-CA" dirty="0">
              <a:latin typeface="+mj-lt"/>
            </a:endParaRPr>
          </a:p>
          <a:p>
            <a:r>
              <a:rPr lang="fr-CA" sz="1200" dirty="0">
                <a:latin typeface="+mj-lt"/>
              </a:rPr>
              <a:t>Source: </a:t>
            </a:r>
            <a:r>
              <a:rPr lang="fr-CA" sz="1200" dirty="0" err="1">
                <a:latin typeface="+mj-lt"/>
              </a:rPr>
              <a:t>Investors</a:t>
            </a:r>
            <a:r>
              <a:rPr lang="fr-CA" sz="1200" dirty="0">
                <a:latin typeface="+mj-lt"/>
              </a:rPr>
              <a:t> for Paris Compliance 2024</a:t>
            </a:r>
            <a:endParaRPr lang="fr-CA" sz="1200" dirty="0"/>
          </a:p>
        </p:txBody>
      </p:sp>
      <p:sp>
        <p:nvSpPr>
          <p:cNvPr id="13" name="TextBox 12">
            <a:extLst>
              <a:ext uri="{FF2B5EF4-FFF2-40B4-BE49-F238E27FC236}">
                <a16:creationId xmlns:a16="http://schemas.microsoft.com/office/drawing/2014/main" id="{7AB1A008-ADD5-10BA-287D-6E8C84052DA6}"/>
              </a:ext>
            </a:extLst>
          </p:cNvPr>
          <p:cNvSpPr txBox="1"/>
          <p:nvPr/>
        </p:nvSpPr>
        <p:spPr>
          <a:xfrm>
            <a:off x="6407729" y="1410513"/>
            <a:ext cx="4578931" cy="707886"/>
          </a:xfrm>
          <a:prstGeom prst="rect">
            <a:avLst/>
          </a:prstGeom>
          <a:noFill/>
        </p:spPr>
        <p:txBody>
          <a:bodyPr wrap="square">
            <a:spAutoFit/>
          </a:bodyPr>
          <a:lstStyle/>
          <a:p>
            <a:r>
              <a:rPr lang="fr-CA" sz="2000" b="1" u="sng" dirty="0">
                <a:latin typeface="+mj-lt"/>
              </a:rPr>
              <a:t>Les banques boudent les énergies renouvelables…</a:t>
            </a:r>
            <a:endParaRPr lang="en-US" sz="2000" b="1" u="sng" dirty="0">
              <a:latin typeface="+mj-lt"/>
            </a:endParaRPr>
          </a:p>
        </p:txBody>
      </p:sp>
      <p:pic>
        <p:nvPicPr>
          <p:cNvPr id="16" name="Graphic 15" descr="Bank outline">
            <a:extLst>
              <a:ext uri="{FF2B5EF4-FFF2-40B4-BE49-F238E27FC236}">
                <a16:creationId xmlns:a16="http://schemas.microsoft.com/office/drawing/2014/main" id="{81664CEA-07F1-CDEB-CBAC-1F495D5AD4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96502" y="953313"/>
            <a:ext cx="914400" cy="914400"/>
          </a:xfrm>
          <a:prstGeom prst="rect">
            <a:avLst/>
          </a:prstGeom>
        </p:spPr>
      </p:pic>
    </p:spTree>
    <p:extLst>
      <p:ext uri="{BB962C8B-B14F-4D97-AF65-F5344CB8AC3E}">
        <p14:creationId xmlns:p14="http://schemas.microsoft.com/office/powerpoint/2010/main" val="3253663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2E7BE-8161-1E72-1F1E-C7947BAEA3BB}"/>
              </a:ext>
            </a:extLst>
          </p:cNvPr>
          <p:cNvSpPr>
            <a:spLocks noGrp="1"/>
          </p:cNvSpPr>
          <p:nvPr>
            <p:ph type="title"/>
          </p:nvPr>
        </p:nvSpPr>
        <p:spPr>
          <a:xfrm>
            <a:off x="1489426" y="138937"/>
            <a:ext cx="8628485" cy="758952"/>
          </a:xfrm>
        </p:spPr>
        <p:txBody>
          <a:bodyPr>
            <a:noAutofit/>
          </a:bodyPr>
          <a:lstStyle/>
          <a:p>
            <a:br>
              <a:rPr lang="fr-CA" sz="2800" dirty="0">
                <a:solidFill>
                  <a:srgbClr val="0070C0"/>
                </a:solidFill>
              </a:rPr>
            </a:br>
            <a:r>
              <a:rPr lang="fr-CA" sz="2800" dirty="0">
                <a:solidFill>
                  <a:srgbClr val="0070C0"/>
                </a:solidFill>
              </a:rPr>
              <a:t>Et </a:t>
            </a:r>
            <a:r>
              <a:rPr lang="fr-CA" sz="3200" u="sng" dirty="0">
                <a:solidFill>
                  <a:srgbClr val="FF0000"/>
                </a:solidFill>
              </a:rPr>
              <a:t>investissements</a:t>
            </a:r>
            <a:r>
              <a:rPr lang="fr-CA" sz="2800" dirty="0">
                <a:solidFill>
                  <a:srgbClr val="0070C0"/>
                </a:solidFill>
              </a:rPr>
              <a:t> ‘ESG’! </a:t>
            </a:r>
            <a:r>
              <a:rPr lang="fr-CA" sz="2800" dirty="0">
                <a:solidFill>
                  <a:srgbClr val="0070C0"/>
                </a:solidFill>
                <a:latin typeface="Ink Free" panose="03080402000500000000" pitchFamily="66" charset="0"/>
              </a:rPr>
              <a:t>Sont-ils 100% ESG?!</a:t>
            </a:r>
            <a:endParaRPr lang="fr-CA" sz="4000" dirty="0">
              <a:solidFill>
                <a:srgbClr val="0070C0"/>
              </a:solidFill>
              <a:latin typeface="Ink Free" panose="03080402000500000000" pitchFamily="66" charset="0"/>
            </a:endParaRPr>
          </a:p>
        </p:txBody>
      </p:sp>
      <p:sp>
        <p:nvSpPr>
          <p:cNvPr id="3" name="Slide Number Placeholder 2">
            <a:extLst>
              <a:ext uri="{FF2B5EF4-FFF2-40B4-BE49-F238E27FC236}">
                <a16:creationId xmlns:a16="http://schemas.microsoft.com/office/drawing/2014/main" id="{84B090D8-D8A6-432D-BB7E-35485EB8CDF6}"/>
              </a:ext>
            </a:extLst>
          </p:cNvPr>
          <p:cNvSpPr>
            <a:spLocks noGrp="1"/>
          </p:cNvSpPr>
          <p:nvPr>
            <p:ph type="sldNum" sz="quarter" idx="12"/>
          </p:nvPr>
        </p:nvSpPr>
        <p:spPr/>
        <p:txBody>
          <a:bodyPr/>
          <a:lstStyle/>
          <a:p>
            <a:pPr>
              <a:defRPr/>
            </a:pPr>
            <a:fld id="{A36EBACF-F565-E244-8230-FFB82DCE4B7F}" type="slidenum">
              <a:rPr lang="fr-CA" smtClean="0"/>
              <a:pPr>
                <a:defRPr/>
              </a:pPr>
              <a:t>12</a:t>
            </a:fld>
            <a:endParaRPr lang="fr-CA"/>
          </a:p>
        </p:txBody>
      </p:sp>
      <p:sp>
        <p:nvSpPr>
          <p:cNvPr id="4" name="Content Placeholder 3">
            <a:extLst>
              <a:ext uri="{FF2B5EF4-FFF2-40B4-BE49-F238E27FC236}">
                <a16:creationId xmlns:a16="http://schemas.microsoft.com/office/drawing/2014/main" id="{02DE34D1-6AD2-5112-51DF-0C7C34C0ADF8}"/>
              </a:ext>
            </a:extLst>
          </p:cNvPr>
          <p:cNvSpPr>
            <a:spLocks noGrp="1"/>
          </p:cNvSpPr>
          <p:nvPr>
            <p:ph sz="quarter" idx="1"/>
          </p:nvPr>
        </p:nvSpPr>
        <p:spPr>
          <a:xfrm>
            <a:off x="400832" y="1200870"/>
            <a:ext cx="11448789" cy="4456260"/>
          </a:xfrm>
          <a:solidFill>
            <a:schemeClr val="bg1"/>
          </a:solidFill>
        </p:spPr>
        <p:txBody>
          <a:bodyPr>
            <a:normAutofit fontScale="85000" lnSpcReduction="20000"/>
          </a:bodyPr>
          <a:lstStyle/>
          <a:p>
            <a:pPr>
              <a:buFont typeface="Wingdings 2" panose="05020102010507070707" pitchFamily="18" charset="2"/>
              <a:buChar char=""/>
            </a:pPr>
            <a:r>
              <a:rPr lang="fr-CA" sz="2300" dirty="0"/>
              <a:t>L'investissement ESG est une stratégie qui permet aux investisseurs de placer leur argent dans des entreprises qui obtiennent de bons résultats selon des mesures indépendantes de leurs pratiques ESG.</a:t>
            </a:r>
          </a:p>
          <a:p>
            <a:pPr>
              <a:buFont typeface="Wingdings 2" panose="05020102010507070707" pitchFamily="18" charset="2"/>
              <a:buChar char=""/>
            </a:pPr>
            <a:endParaRPr lang="fr-CA" sz="300" dirty="0"/>
          </a:p>
          <a:p>
            <a:pPr>
              <a:buFont typeface="Wingdings 2" panose="05020102010507070707" pitchFamily="18" charset="2"/>
              <a:buChar char=""/>
            </a:pPr>
            <a:r>
              <a:rPr lang="fr-CA" sz="2300" dirty="0"/>
              <a:t>Le nombre de gestionnaires d'investissement déclarant au moins un fonds ESG dans leurs portefeuilles a augmenté de 300 % depuis 2016.</a:t>
            </a:r>
          </a:p>
          <a:p>
            <a:pPr>
              <a:buFont typeface="Wingdings 2" panose="05020102010507070707" pitchFamily="18" charset="2"/>
              <a:buChar char=""/>
            </a:pPr>
            <a:endParaRPr lang="fr-CA" sz="300" dirty="0"/>
          </a:p>
          <a:p>
            <a:pPr>
              <a:buFont typeface="Wingdings 2" panose="05020102010507070707" pitchFamily="18" charset="2"/>
              <a:buChar char=""/>
            </a:pPr>
            <a:r>
              <a:rPr lang="fr-CA" sz="2300" dirty="0">
                <a:solidFill>
                  <a:srgbClr val="FF0000"/>
                </a:solidFill>
                <a:latin typeface="Ink Free" panose="03080402000500000000" pitchFamily="66" charset="0"/>
              </a:rPr>
              <a:t>L'intérêt accru </a:t>
            </a:r>
            <a:r>
              <a:rPr lang="fr-CA" sz="2300" dirty="0"/>
              <a:t>pour </a:t>
            </a:r>
            <a:r>
              <a:rPr lang="fr-CA" sz="2300" dirty="0">
                <a:solidFill>
                  <a:srgbClr val="FF0000"/>
                </a:solidFill>
                <a:latin typeface="Ink Free" panose="03080402000500000000" pitchFamily="66" charset="0"/>
              </a:rPr>
              <a:t>l'investissement ESG </a:t>
            </a:r>
            <a:r>
              <a:rPr lang="fr-CA" sz="2300" dirty="0"/>
              <a:t>a attiré des acteurs moins consciencieux visant à profiter de la tendance…</a:t>
            </a:r>
          </a:p>
          <a:p>
            <a:pPr>
              <a:buFont typeface="Wingdings 2" panose="05020102010507070707" pitchFamily="18" charset="2"/>
              <a:buChar char=""/>
            </a:pPr>
            <a:endParaRPr lang="fr-CA" sz="300" dirty="0"/>
          </a:p>
          <a:p>
            <a:pPr>
              <a:buFont typeface="Wingdings 2" panose="05020102010507070707" pitchFamily="18" charset="2"/>
              <a:buChar char=""/>
            </a:pPr>
            <a:r>
              <a:rPr lang="fr-CA" sz="2300" dirty="0">
                <a:solidFill>
                  <a:srgbClr val="FF0000"/>
                </a:solidFill>
                <a:latin typeface="Ink Free" panose="03080402000500000000" pitchFamily="66" charset="0"/>
              </a:rPr>
              <a:t>L'écoblanchiment est devenu un problème majeur pour l'ESG</a:t>
            </a:r>
            <a:r>
              <a:rPr lang="fr-CA" sz="2300" dirty="0"/>
              <a:t>. Des études ont montré que de plus en plus de fonds ESG incluent des entreprises qui sont loin d'être des parangons de responsabilité sociale et environnementale…</a:t>
            </a:r>
          </a:p>
          <a:p>
            <a:pPr>
              <a:buFont typeface="Wingdings 2" panose="05020102010507070707" pitchFamily="18" charset="2"/>
              <a:buChar char=""/>
            </a:pPr>
            <a:endParaRPr lang="fr-CA" sz="300" dirty="0"/>
          </a:p>
          <a:p>
            <a:pPr>
              <a:buFont typeface="Wingdings 2" panose="05020102010507070707" pitchFamily="18" charset="2"/>
              <a:buChar char=""/>
            </a:pPr>
            <a:r>
              <a:rPr lang="fr-CA" sz="2300" dirty="0"/>
              <a:t>En 2021, ‘The Economist’ a étudié les 20 plus grands fonds ESG au monde ; il a constaté que chacun d'entre eux détenait des investissements dans des producteurs de combustibles fossiles, tandis que d'autres détenaient des participations dans des producteurs de pétrole, des mines de charbon, des jeux d'argent, de l'alcool et du tabac.</a:t>
            </a:r>
          </a:p>
          <a:p>
            <a:pPr marL="0" indent="0">
              <a:buNone/>
            </a:pPr>
            <a:endParaRPr lang="en-CA" b="1" dirty="0"/>
          </a:p>
          <a:p>
            <a:pPr marL="0" indent="0">
              <a:buNone/>
            </a:pPr>
            <a:endParaRPr lang="en-CA" b="1" dirty="0"/>
          </a:p>
          <a:p>
            <a:pPr marL="0" indent="0">
              <a:buNone/>
            </a:pPr>
            <a:endParaRPr lang="en-CA" b="1" dirty="0"/>
          </a:p>
          <a:p>
            <a:pPr marL="0" indent="0">
              <a:buNone/>
            </a:pPr>
            <a:endParaRPr lang="en-CA" b="1" dirty="0"/>
          </a:p>
          <a:p>
            <a:pPr marL="0" indent="0">
              <a:buNone/>
            </a:pPr>
            <a:endParaRPr lang="en-CA" b="1" dirty="0"/>
          </a:p>
          <a:p>
            <a:pPr marL="0" indent="0">
              <a:buNone/>
            </a:pPr>
            <a:endParaRPr lang="en-CA" b="1" dirty="0"/>
          </a:p>
          <a:p>
            <a:pPr lvl="1"/>
            <a:endParaRPr lang="fr-CA" dirty="0"/>
          </a:p>
        </p:txBody>
      </p:sp>
      <p:sp>
        <p:nvSpPr>
          <p:cNvPr id="7" name="TextBox 6">
            <a:extLst>
              <a:ext uri="{FF2B5EF4-FFF2-40B4-BE49-F238E27FC236}">
                <a16:creationId xmlns:a16="http://schemas.microsoft.com/office/drawing/2014/main" id="{7872419C-E686-F96C-BAC2-8DFCCD90527A}"/>
              </a:ext>
            </a:extLst>
          </p:cNvPr>
          <p:cNvSpPr txBox="1"/>
          <p:nvPr/>
        </p:nvSpPr>
        <p:spPr>
          <a:xfrm>
            <a:off x="1704715" y="5656781"/>
            <a:ext cx="8776855" cy="830997"/>
          </a:xfrm>
          <a:prstGeom prst="rect">
            <a:avLst/>
          </a:prstGeom>
          <a:solidFill>
            <a:schemeClr val="accent6">
              <a:lumMod val="20000"/>
              <a:lumOff val="80000"/>
            </a:schemeClr>
          </a:solidFill>
        </p:spPr>
        <p:txBody>
          <a:bodyPr wrap="square">
            <a:spAutoFit/>
          </a:bodyPr>
          <a:lstStyle/>
          <a:p>
            <a:r>
              <a:rPr lang="fr-CA" sz="1600" dirty="0">
                <a:solidFill>
                  <a:srgbClr val="333333"/>
                </a:solidFill>
                <a:latin typeface="Ink Free" panose="03080402000500000000" pitchFamily="66" charset="0"/>
              </a:rPr>
              <a:t>Si vous êtes préoccupé par l'investissement durable, il existe des moyens d'examiner minutieusement vos investissements pour déterminer s'ils sont réellement bénéfiques pour la société et la planète sans dépendre directement d'un label ESG. </a:t>
            </a:r>
            <a:endParaRPr lang="fr-CA" sz="1600" b="1" dirty="0">
              <a:latin typeface="Ink Free" panose="03080402000500000000" pitchFamily="66" charset="0"/>
            </a:endParaRPr>
          </a:p>
        </p:txBody>
      </p:sp>
      <p:sp>
        <p:nvSpPr>
          <p:cNvPr id="6" name="TextBox 5">
            <a:extLst>
              <a:ext uri="{FF2B5EF4-FFF2-40B4-BE49-F238E27FC236}">
                <a16:creationId xmlns:a16="http://schemas.microsoft.com/office/drawing/2014/main" id="{357B37CF-EE62-B3D5-2DFD-9ED0A126FE4C}"/>
              </a:ext>
            </a:extLst>
          </p:cNvPr>
          <p:cNvSpPr txBox="1"/>
          <p:nvPr/>
        </p:nvSpPr>
        <p:spPr>
          <a:xfrm>
            <a:off x="7090891" y="6178414"/>
            <a:ext cx="4572000" cy="369332"/>
          </a:xfrm>
          <a:prstGeom prst="rect">
            <a:avLst/>
          </a:prstGeom>
          <a:noFill/>
        </p:spPr>
        <p:txBody>
          <a:bodyPr wrap="square">
            <a:spAutoFit/>
          </a:bodyPr>
          <a:lstStyle/>
          <a:p>
            <a:r>
              <a:rPr lang="fr-CA" dirty="0">
                <a:hlinkClick r:id="rId2"/>
              </a:rPr>
              <a:t>https://fossilfreefunds.org/</a:t>
            </a:r>
            <a:r>
              <a:rPr lang="fr-CA" dirty="0"/>
              <a:t>  </a:t>
            </a:r>
          </a:p>
        </p:txBody>
      </p:sp>
      <p:sp>
        <p:nvSpPr>
          <p:cNvPr id="8" name="object 30">
            <a:extLst>
              <a:ext uri="{FF2B5EF4-FFF2-40B4-BE49-F238E27FC236}">
                <a16:creationId xmlns:a16="http://schemas.microsoft.com/office/drawing/2014/main" id="{68812E4F-6F62-B4D4-B504-50CF829CE3BA}"/>
              </a:ext>
            </a:extLst>
          </p:cNvPr>
          <p:cNvSpPr/>
          <p:nvPr/>
        </p:nvSpPr>
        <p:spPr>
          <a:xfrm>
            <a:off x="6961068" y="6091991"/>
            <a:ext cx="3156844" cy="632460"/>
          </a:xfrm>
          <a:prstGeom prst="rect">
            <a:avLst/>
          </a:prstGeom>
          <a:blipFill>
            <a:blip r:embed="rId3" cstate="print">
              <a:grayscl/>
            </a:blip>
            <a:stretch>
              <a:fillRect/>
            </a:stretch>
          </a:blipFill>
        </p:spPr>
        <p:txBody>
          <a:bodyPr wrap="square" lIns="0" tIns="0" rIns="0" bIns="0" rtlCol="0"/>
          <a:lstStyle/>
          <a:p>
            <a:endParaRPr/>
          </a:p>
        </p:txBody>
      </p:sp>
    </p:spTree>
    <p:extLst>
      <p:ext uri="{BB962C8B-B14F-4D97-AF65-F5344CB8AC3E}">
        <p14:creationId xmlns:p14="http://schemas.microsoft.com/office/powerpoint/2010/main" val="2045035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CC9B5-B546-0751-B5E6-DA8C68D9E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8B7A6-C481-C799-2938-74015209E412}"/>
              </a:ext>
            </a:extLst>
          </p:cNvPr>
          <p:cNvSpPr>
            <a:spLocks noGrp="1"/>
          </p:cNvSpPr>
          <p:nvPr>
            <p:ph type="title"/>
          </p:nvPr>
        </p:nvSpPr>
        <p:spPr>
          <a:xfrm>
            <a:off x="1716027" y="8400"/>
            <a:ext cx="8842247" cy="1450757"/>
          </a:xfrm>
        </p:spPr>
        <p:txBody>
          <a:bodyPr>
            <a:normAutofit/>
          </a:bodyPr>
          <a:lstStyle/>
          <a:p>
            <a:r>
              <a:rPr lang="fr-CA" sz="3200" dirty="0">
                <a:solidFill>
                  <a:srgbClr val="0070C0"/>
                </a:solidFill>
              </a:rPr>
              <a:t>Exemple….</a:t>
            </a:r>
            <a:r>
              <a:rPr lang="en-US" sz="3200" dirty="0">
                <a:solidFill>
                  <a:srgbClr val="0070C0"/>
                </a:solidFill>
              </a:rPr>
              <a:t> </a:t>
            </a:r>
            <a:r>
              <a:rPr lang="en-US" sz="3200" b="1" dirty="0">
                <a:solidFill>
                  <a:srgbClr val="0070C0"/>
                </a:solidFill>
              </a:rPr>
              <a:t>Blackrock: </a:t>
            </a:r>
            <a:r>
              <a:rPr lang="en-US" sz="3200" dirty="0">
                <a:solidFill>
                  <a:srgbClr val="0070C0"/>
                </a:solidFill>
              </a:rPr>
              <a:t>iShares </a:t>
            </a:r>
            <a:r>
              <a:rPr lang="en-US" sz="3200" dirty="0">
                <a:solidFill>
                  <a:schemeClr val="accent2"/>
                </a:solidFill>
              </a:rPr>
              <a:t>ESG</a:t>
            </a:r>
            <a:r>
              <a:rPr lang="en-US" sz="3200" dirty="0">
                <a:solidFill>
                  <a:srgbClr val="0070C0"/>
                </a:solidFill>
              </a:rPr>
              <a:t> Aware MSCI USA ETF </a:t>
            </a:r>
            <a:r>
              <a:rPr lang="en-US" sz="2200" dirty="0">
                <a:solidFill>
                  <a:srgbClr val="0070C0"/>
                </a:solidFill>
              </a:rPr>
              <a:t>(</a:t>
            </a:r>
            <a:r>
              <a:rPr lang="en-US" sz="2200" dirty="0" err="1">
                <a:solidFill>
                  <a:srgbClr val="0070C0"/>
                </a:solidFill>
              </a:rPr>
              <a:t>mai</a:t>
            </a:r>
            <a:r>
              <a:rPr lang="en-US" sz="2200" dirty="0">
                <a:solidFill>
                  <a:srgbClr val="0070C0"/>
                </a:solidFill>
              </a:rPr>
              <a:t> 2025)</a:t>
            </a:r>
            <a:br>
              <a:rPr lang="en-US" b="1" i="0" dirty="0">
                <a:solidFill>
                  <a:srgbClr val="333333"/>
                </a:solidFill>
                <a:effectLst/>
                <a:latin typeface="Montserrat" panose="00000500000000000000" pitchFamily="2" charset="0"/>
              </a:rPr>
            </a:br>
            <a:endParaRPr lang="fr-CA" dirty="0">
              <a:solidFill>
                <a:srgbClr val="0070C0"/>
              </a:solidFill>
            </a:endParaRPr>
          </a:p>
        </p:txBody>
      </p:sp>
      <p:sp>
        <p:nvSpPr>
          <p:cNvPr id="3" name="Slide Number Placeholder 2">
            <a:extLst>
              <a:ext uri="{FF2B5EF4-FFF2-40B4-BE49-F238E27FC236}">
                <a16:creationId xmlns:a16="http://schemas.microsoft.com/office/drawing/2014/main" id="{084A8003-88E3-0577-9BCE-895904D1A824}"/>
              </a:ext>
            </a:extLst>
          </p:cNvPr>
          <p:cNvSpPr>
            <a:spLocks noGrp="1"/>
          </p:cNvSpPr>
          <p:nvPr>
            <p:ph type="sldNum" sz="quarter" idx="12"/>
          </p:nvPr>
        </p:nvSpPr>
        <p:spPr/>
        <p:txBody>
          <a:bodyPr/>
          <a:lstStyle/>
          <a:p>
            <a:pPr>
              <a:defRPr/>
            </a:pPr>
            <a:fld id="{A36EBACF-F565-E244-8230-FFB82DCE4B7F}" type="slidenum">
              <a:rPr lang="fr-CA" smtClean="0"/>
              <a:pPr>
                <a:defRPr/>
              </a:pPr>
              <a:t>13</a:t>
            </a:fld>
            <a:endParaRPr lang="fr-CA"/>
          </a:p>
        </p:txBody>
      </p:sp>
      <p:sp>
        <p:nvSpPr>
          <p:cNvPr id="4" name="Content Placeholder 3">
            <a:extLst>
              <a:ext uri="{FF2B5EF4-FFF2-40B4-BE49-F238E27FC236}">
                <a16:creationId xmlns:a16="http://schemas.microsoft.com/office/drawing/2014/main" id="{CCEA0A7F-6FC3-0F3E-9522-97F8C89F2FCF}"/>
              </a:ext>
            </a:extLst>
          </p:cNvPr>
          <p:cNvSpPr>
            <a:spLocks noGrp="1"/>
          </p:cNvSpPr>
          <p:nvPr>
            <p:ph sz="quarter" idx="1"/>
          </p:nvPr>
        </p:nvSpPr>
        <p:spPr>
          <a:xfrm>
            <a:off x="325676" y="1016001"/>
            <a:ext cx="11411211" cy="5108221"/>
          </a:xfrm>
          <a:solidFill>
            <a:schemeClr val="bg1"/>
          </a:solidFill>
        </p:spPr>
        <p:txBody>
          <a:bodyPr>
            <a:normAutofit lnSpcReduction="10000"/>
          </a:bodyPr>
          <a:lstStyle/>
          <a:p>
            <a:r>
              <a:rPr lang="fr-CA" b="1" u="sng" dirty="0"/>
              <a:t>Ce que le fonds promet :</a:t>
            </a:r>
          </a:p>
          <a:p>
            <a:pPr>
              <a:buFont typeface="Wingdings" panose="05000000000000000000" pitchFamily="2" charset="2"/>
              <a:buChar char="Ø"/>
            </a:pPr>
            <a:r>
              <a:rPr lang="fr-CA" dirty="0"/>
              <a:t>Positionné comme un </a:t>
            </a:r>
            <a:r>
              <a:rPr lang="fr-CA" b="1" dirty="0"/>
              <a:t>fonds ESG "amélioré"</a:t>
            </a:r>
            <a:r>
              <a:rPr lang="fr-CA" dirty="0"/>
              <a:t>, filtrant les entreprises à haut risque environnemental, social ou de gouvernance.</a:t>
            </a:r>
          </a:p>
          <a:p>
            <a:pPr>
              <a:buFont typeface="Wingdings" panose="05000000000000000000" pitchFamily="2" charset="2"/>
              <a:buChar char="Ø"/>
            </a:pPr>
            <a:r>
              <a:rPr lang="fr-CA" dirty="0"/>
              <a:t>Objectif annoncé : </a:t>
            </a:r>
            <a:r>
              <a:rPr lang="fr-CA" b="1" dirty="0"/>
              <a:t>réduire l'empreinte carbone</a:t>
            </a:r>
            <a:r>
              <a:rPr lang="fr-CA" dirty="0"/>
              <a:t>, favoriser la transparence, exclure les activités controversées.</a:t>
            </a:r>
          </a:p>
          <a:p>
            <a:pPr marL="0" indent="0">
              <a:buNone/>
            </a:pPr>
            <a:r>
              <a:rPr lang="fr-CA" b="1" u="sng" dirty="0"/>
              <a:t>Ce qu'on y retrouve selon </a:t>
            </a:r>
            <a:r>
              <a:rPr lang="fr-CA" b="1" u="sng" dirty="0" err="1"/>
              <a:t>Fossil</a:t>
            </a:r>
            <a:r>
              <a:rPr lang="fr-CA" b="1" u="sng" dirty="0"/>
              <a:t> Free Funds:</a:t>
            </a:r>
          </a:p>
          <a:p>
            <a:pPr>
              <a:buFont typeface="Arial" panose="020B0604020202020204" pitchFamily="34" charset="0"/>
              <a:buChar char="•"/>
            </a:pPr>
            <a:r>
              <a:rPr lang="en-CA" dirty="0"/>
              <a:t>Le fonds a </a:t>
            </a:r>
            <a:r>
              <a:rPr lang="en-CA" dirty="0" err="1"/>
              <a:t>une</a:t>
            </a:r>
            <a:r>
              <a:rPr lang="en-CA" dirty="0"/>
              <a:t> exposition aux </a:t>
            </a:r>
            <a:r>
              <a:rPr lang="en-CA" dirty="0" err="1"/>
              <a:t>énergies</a:t>
            </a:r>
            <a:r>
              <a:rPr lang="en-CA" dirty="0"/>
              <a:t> </a:t>
            </a:r>
            <a:r>
              <a:rPr lang="en-CA" dirty="0" err="1"/>
              <a:t>fossiles</a:t>
            </a:r>
            <a:r>
              <a:rPr lang="en-CA" dirty="0"/>
              <a:t> de 7%.  </a:t>
            </a:r>
          </a:p>
          <a:p>
            <a:pPr>
              <a:buFont typeface="Arial" panose="020B0604020202020204" pitchFamily="34" charset="0"/>
              <a:buChar char="•"/>
            </a:pPr>
            <a:r>
              <a:rPr lang="en-CA" dirty="0"/>
              <a:t>Près de 1 milliard de dollars... </a:t>
            </a:r>
          </a:p>
          <a:p>
            <a:r>
              <a:rPr lang="fr-CA" b="1" u="sng" dirty="0"/>
              <a:t>Pourquoi c'est problématique :</a:t>
            </a:r>
          </a:p>
          <a:p>
            <a:pPr>
              <a:buFont typeface="Wingdings" panose="05000000000000000000" pitchFamily="2" charset="2"/>
              <a:buChar char="Ø"/>
            </a:pPr>
            <a:r>
              <a:rPr lang="fr-CA" dirty="0"/>
              <a:t>L'étiquette "ESG" crée une impression trompeuse :</a:t>
            </a:r>
          </a:p>
          <a:p>
            <a:pPr marL="742950" lvl="1" indent="-285750">
              <a:buFont typeface="Courier New" panose="02070309020205020404" pitchFamily="49" charset="0"/>
              <a:buChar char="o"/>
            </a:pPr>
            <a:r>
              <a:rPr lang="fr-CA" dirty="0">
                <a:solidFill>
                  <a:schemeClr val="accent3">
                    <a:lumMod val="75000"/>
                  </a:schemeClr>
                </a:solidFill>
              </a:rPr>
              <a:t>Ces entreprises sont parmi les </a:t>
            </a:r>
            <a:r>
              <a:rPr lang="fr-CA" b="1" dirty="0">
                <a:solidFill>
                  <a:schemeClr val="accent3">
                    <a:lumMod val="75000"/>
                  </a:schemeClr>
                </a:solidFill>
              </a:rPr>
              <a:t>principaux émetteurs mondiaux de CO2</a:t>
            </a:r>
            <a:r>
              <a:rPr lang="fr-CA" dirty="0">
                <a:solidFill>
                  <a:schemeClr val="accent3">
                    <a:lumMod val="75000"/>
                  </a:schemeClr>
                </a:solidFill>
              </a:rPr>
              <a:t>.</a:t>
            </a:r>
          </a:p>
          <a:p>
            <a:pPr marL="742950" lvl="1" indent="-285750">
              <a:buFont typeface="Courier New" panose="02070309020205020404" pitchFamily="49" charset="0"/>
              <a:buChar char="o"/>
            </a:pPr>
            <a:r>
              <a:rPr lang="fr-CA" dirty="0">
                <a:solidFill>
                  <a:schemeClr val="accent3">
                    <a:lumMod val="75000"/>
                  </a:schemeClr>
                </a:solidFill>
              </a:rPr>
              <a:t>Leur inclusion </a:t>
            </a:r>
            <a:r>
              <a:rPr lang="fr-CA" b="1" dirty="0">
                <a:solidFill>
                  <a:schemeClr val="accent3">
                    <a:lumMod val="75000"/>
                  </a:schemeClr>
                </a:solidFill>
              </a:rPr>
              <a:t>contredit les attentes de durabilité</a:t>
            </a:r>
            <a:r>
              <a:rPr lang="fr-CA" dirty="0">
                <a:solidFill>
                  <a:schemeClr val="accent3">
                    <a:lumMod val="75000"/>
                  </a:schemeClr>
                </a:solidFill>
              </a:rPr>
              <a:t> des investisseurs sensibles aux enjeux climatiques.</a:t>
            </a:r>
          </a:p>
          <a:p>
            <a:pPr>
              <a:buFont typeface="Wingdings" panose="05000000000000000000" pitchFamily="2" charset="2"/>
              <a:buChar char="Ø"/>
            </a:pPr>
            <a:r>
              <a:rPr lang="fr-CA" dirty="0"/>
              <a:t>Cela reflète un phénomène croissant : </a:t>
            </a:r>
            <a:r>
              <a:rPr lang="fr-CA" b="1" dirty="0"/>
              <a:t>l'écoblanchiment financier</a:t>
            </a:r>
            <a:r>
              <a:rPr lang="fr-CA" dirty="0"/>
              <a:t> via des labels ESG peu contrôlés.</a:t>
            </a:r>
          </a:p>
          <a:p>
            <a:pPr>
              <a:buFont typeface="Arial" panose="020B0604020202020204" pitchFamily="34" charset="0"/>
              <a:buChar char="•"/>
            </a:pPr>
            <a:endParaRPr lang="fr-CA" dirty="0"/>
          </a:p>
          <a:p>
            <a:pPr>
              <a:buFont typeface="Wingdings 2" panose="05020102010507070707" pitchFamily="18" charset="2"/>
              <a:buChar char=""/>
            </a:pPr>
            <a:endParaRPr lang="fr-CA" sz="2200" dirty="0"/>
          </a:p>
        </p:txBody>
      </p:sp>
      <p:sp>
        <p:nvSpPr>
          <p:cNvPr id="11" name="TextBox 10">
            <a:extLst>
              <a:ext uri="{FF2B5EF4-FFF2-40B4-BE49-F238E27FC236}">
                <a16:creationId xmlns:a16="http://schemas.microsoft.com/office/drawing/2014/main" id="{7ABAA2E2-B1BA-7D53-25AC-610EEC390AF0}"/>
              </a:ext>
            </a:extLst>
          </p:cNvPr>
          <p:cNvSpPr txBox="1"/>
          <p:nvPr/>
        </p:nvSpPr>
        <p:spPr>
          <a:xfrm>
            <a:off x="1539467" y="6413269"/>
            <a:ext cx="9793111" cy="307777"/>
          </a:xfrm>
          <a:prstGeom prst="rect">
            <a:avLst/>
          </a:prstGeom>
          <a:noFill/>
        </p:spPr>
        <p:txBody>
          <a:bodyPr wrap="square">
            <a:spAutoFit/>
          </a:bodyPr>
          <a:lstStyle/>
          <a:p>
            <a:r>
              <a:rPr lang="en-CA" sz="1400" dirty="0">
                <a:hlinkClick r:id="rId2"/>
              </a:rPr>
              <a:t>https://fossilfreefunds.org/fund/ishares-esg-aware-msci-usa-etf/ESGU/fossil-fuel-investments/FS0000CP0D/F00000XMD2</a:t>
            </a:r>
            <a:r>
              <a:rPr lang="en-CA" sz="1400" dirty="0"/>
              <a:t> </a:t>
            </a:r>
          </a:p>
        </p:txBody>
      </p:sp>
      <p:pic>
        <p:nvPicPr>
          <p:cNvPr id="2050" name="Picture 2" descr="How BlackRock made ESG the hottest ...">
            <a:extLst>
              <a:ext uri="{FF2B5EF4-FFF2-40B4-BE49-F238E27FC236}">
                <a16:creationId xmlns:a16="http://schemas.microsoft.com/office/drawing/2014/main" id="{12ECF16D-3CC0-4C87-9EB8-54F6A5CEA4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4345" y="2630467"/>
            <a:ext cx="3111979" cy="207088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3" name="object 30">
            <a:extLst>
              <a:ext uri="{FF2B5EF4-FFF2-40B4-BE49-F238E27FC236}">
                <a16:creationId xmlns:a16="http://schemas.microsoft.com/office/drawing/2014/main" id="{A29C7950-7699-29FA-4FEE-4127AED3D38B}"/>
              </a:ext>
            </a:extLst>
          </p:cNvPr>
          <p:cNvSpPr/>
          <p:nvPr/>
        </p:nvSpPr>
        <p:spPr>
          <a:xfrm>
            <a:off x="5824603" y="0"/>
            <a:ext cx="1823389" cy="632460"/>
          </a:xfrm>
          <a:prstGeom prst="rect">
            <a:avLst/>
          </a:prstGeom>
          <a:blipFill>
            <a:blip r:embed="rId4" cstate="print">
              <a:grayscl/>
            </a:blip>
            <a:stretch>
              <a:fillRect/>
            </a:stretch>
          </a:blipFill>
        </p:spPr>
        <p:txBody>
          <a:bodyPr wrap="square" lIns="0" tIns="0" rIns="0" bIns="0" rtlCol="0"/>
          <a:lstStyle/>
          <a:p>
            <a:endParaRPr/>
          </a:p>
        </p:txBody>
      </p:sp>
    </p:spTree>
    <p:extLst>
      <p:ext uri="{BB962C8B-B14F-4D97-AF65-F5344CB8AC3E}">
        <p14:creationId xmlns:p14="http://schemas.microsoft.com/office/powerpoint/2010/main" val="365295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32C1-729A-4189-C3D7-CF35331B99F2}"/>
              </a:ext>
            </a:extLst>
          </p:cNvPr>
          <p:cNvSpPr>
            <a:spLocks noGrp="1"/>
          </p:cNvSpPr>
          <p:nvPr>
            <p:ph type="title"/>
          </p:nvPr>
        </p:nvSpPr>
        <p:spPr>
          <a:xfrm>
            <a:off x="1999500" y="4550230"/>
            <a:ext cx="8181805" cy="1057655"/>
          </a:xfrm>
        </p:spPr>
        <p:txBody>
          <a:bodyPr vert="horz" lIns="91440" tIns="45720" rIns="91440" bIns="45720" rtlCol="0" anchor="b">
            <a:normAutofit/>
          </a:bodyPr>
          <a:lstStyle/>
          <a:p>
            <a:endParaRPr lang="en-US" sz="5200">
              <a:solidFill>
                <a:schemeClr val="tx1">
                  <a:lumMod val="85000"/>
                  <a:lumOff val="15000"/>
                </a:schemeClr>
              </a:solidFill>
            </a:endParaRPr>
          </a:p>
        </p:txBody>
      </p:sp>
      <p:pic>
        <p:nvPicPr>
          <p:cNvPr id="7" name="Content Placeholder 6">
            <a:extLst>
              <a:ext uri="{FF2B5EF4-FFF2-40B4-BE49-F238E27FC236}">
                <a16:creationId xmlns:a16="http://schemas.microsoft.com/office/drawing/2014/main" id="{CD26617C-95A7-B914-67B4-16584A07151A}"/>
              </a:ext>
            </a:extLst>
          </p:cNvPr>
          <p:cNvPicPr>
            <a:picLocks noGrp="1" noChangeAspect="1"/>
          </p:cNvPicPr>
          <p:nvPr>
            <p:ph idx="1"/>
          </p:nvPr>
        </p:nvPicPr>
        <p:blipFill>
          <a:blip r:embed="rId2"/>
          <a:stretch>
            <a:fillRect/>
          </a:stretch>
        </p:blipFill>
        <p:spPr>
          <a:xfrm>
            <a:off x="1656121" y="1027611"/>
            <a:ext cx="4463882" cy="2979640"/>
          </a:xfrm>
          <a:prstGeom prst="rect">
            <a:avLst/>
          </a:prstGeom>
        </p:spPr>
      </p:pic>
      <p:pic>
        <p:nvPicPr>
          <p:cNvPr id="6" name="Picture 5">
            <a:extLst>
              <a:ext uri="{FF2B5EF4-FFF2-40B4-BE49-F238E27FC236}">
                <a16:creationId xmlns:a16="http://schemas.microsoft.com/office/drawing/2014/main" id="{3927C3C3-E60E-7390-3C8D-D7982007615C}"/>
              </a:ext>
            </a:extLst>
          </p:cNvPr>
          <p:cNvPicPr>
            <a:picLocks noChangeAspect="1"/>
          </p:cNvPicPr>
          <p:nvPr/>
        </p:nvPicPr>
        <p:blipFill>
          <a:blip r:embed="rId3"/>
          <a:stretch>
            <a:fillRect/>
          </a:stretch>
        </p:blipFill>
        <p:spPr>
          <a:xfrm>
            <a:off x="6703913" y="650244"/>
            <a:ext cx="3185154" cy="4789706"/>
          </a:xfrm>
          <a:prstGeom prst="rect">
            <a:avLst/>
          </a:prstGeom>
        </p:spPr>
      </p:pic>
      <p:sp>
        <p:nvSpPr>
          <p:cNvPr id="4" name="Slide Number Placeholder 3">
            <a:extLst>
              <a:ext uri="{FF2B5EF4-FFF2-40B4-BE49-F238E27FC236}">
                <a16:creationId xmlns:a16="http://schemas.microsoft.com/office/drawing/2014/main" id="{D001751B-5F0F-039C-EF9C-21C4386EE5DF}"/>
              </a:ext>
            </a:extLst>
          </p:cNvPr>
          <p:cNvSpPr>
            <a:spLocks noGrp="1"/>
          </p:cNvSpPr>
          <p:nvPr>
            <p:ph type="sldNum" sz="quarter" idx="12"/>
          </p:nvPr>
        </p:nvSpPr>
        <p:spPr>
          <a:xfrm>
            <a:off x="8949344" y="6459786"/>
            <a:ext cx="984019" cy="365125"/>
          </a:xfrm>
        </p:spPr>
        <p:txBody>
          <a:bodyPr vert="horz" lIns="91440" tIns="45720" rIns="91440" bIns="45720" rtlCol="0" anchor="ctr">
            <a:normAutofit/>
          </a:bodyPr>
          <a:lstStyle/>
          <a:p>
            <a:pPr defTabSz="457200">
              <a:spcAft>
                <a:spcPts val="600"/>
              </a:spcAft>
              <a:defRPr/>
            </a:pPr>
            <a:fld id="{0585649F-876E-A447-8403-6DEDC0440903}" type="slidenum">
              <a:rPr lang="en-US" smtClean="0"/>
              <a:pPr defTabSz="457200">
                <a:spcAft>
                  <a:spcPts val="600"/>
                </a:spcAft>
                <a:defRPr/>
              </a:pPr>
              <a:t>14</a:t>
            </a:fld>
            <a:endParaRPr lang="en-US"/>
          </a:p>
        </p:txBody>
      </p:sp>
      <p:pic>
        <p:nvPicPr>
          <p:cNvPr id="8" name="Picture 2" descr="Enhances iShares Sustainable ETF ...">
            <a:extLst>
              <a:ext uri="{FF2B5EF4-FFF2-40B4-BE49-F238E27FC236}">
                <a16:creationId xmlns:a16="http://schemas.microsoft.com/office/drawing/2014/main" id="{2883F628-6649-240E-E191-6A4690F5EC8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302933" y="4469553"/>
            <a:ext cx="3571394" cy="1785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235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FF3B4550-39E1-B43C-2D2F-3DC849DBC9B5}"/>
              </a:ext>
            </a:extLst>
          </p:cNvPr>
          <p:cNvSpPr/>
          <p:nvPr/>
        </p:nvSpPr>
        <p:spPr>
          <a:xfrm>
            <a:off x="1633728" y="5079576"/>
            <a:ext cx="8919972" cy="154982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le 1">
            <a:extLst>
              <a:ext uri="{FF2B5EF4-FFF2-40B4-BE49-F238E27FC236}">
                <a16:creationId xmlns:a16="http://schemas.microsoft.com/office/drawing/2014/main" id="{3DFA24D8-1460-FE66-A3A5-EC1744C5EFBF}"/>
              </a:ext>
            </a:extLst>
          </p:cNvPr>
          <p:cNvSpPr>
            <a:spLocks noGrp="1"/>
          </p:cNvSpPr>
          <p:nvPr>
            <p:ph type="title"/>
          </p:nvPr>
        </p:nvSpPr>
        <p:spPr>
          <a:xfrm>
            <a:off x="1825753" y="-546714"/>
            <a:ext cx="7543800" cy="1450757"/>
          </a:xfrm>
        </p:spPr>
        <p:txBody>
          <a:bodyPr/>
          <a:lstStyle/>
          <a:p>
            <a:r>
              <a:rPr lang="fr-CA" sz="3200" dirty="0">
                <a:solidFill>
                  <a:srgbClr val="0070C0"/>
                </a:solidFill>
              </a:rPr>
              <a:t>Exemple….</a:t>
            </a:r>
            <a:r>
              <a:rPr lang="en-US" sz="3200" dirty="0">
                <a:solidFill>
                  <a:srgbClr val="0070C0"/>
                </a:solidFill>
              </a:rPr>
              <a:t> </a:t>
            </a:r>
            <a:r>
              <a:rPr lang="en-US" sz="3200" b="1" dirty="0">
                <a:solidFill>
                  <a:srgbClr val="0070C0"/>
                </a:solidFill>
              </a:rPr>
              <a:t>Vanguard:</a:t>
            </a:r>
            <a:r>
              <a:rPr lang="en-US" sz="3200" dirty="0">
                <a:solidFill>
                  <a:srgbClr val="0070C0"/>
                </a:solidFill>
              </a:rPr>
              <a:t> </a:t>
            </a:r>
            <a:r>
              <a:rPr lang="en-US" sz="3200" b="1" dirty="0">
                <a:solidFill>
                  <a:schemeClr val="accent2"/>
                </a:solidFill>
              </a:rPr>
              <a:t>ESG</a:t>
            </a:r>
            <a:r>
              <a:rPr lang="en-US" sz="3200" dirty="0">
                <a:solidFill>
                  <a:srgbClr val="0070C0"/>
                </a:solidFill>
              </a:rPr>
              <a:t> U.S. Stock ETF </a:t>
            </a:r>
            <a:r>
              <a:rPr lang="en-US" sz="2000" dirty="0">
                <a:solidFill>
                  <a:srgbClr val="0070C0"/>
                </a:solidFill>
              </a:rPr>
              <a:t>(</a:t>
            </a:r>
            <a:r>
              <a:rPr lang="en-US" sz="2000" dirty="0" err="1">
                <a:solidFill>
                  <a:srgbClr val="0070C0"/>
                </a:solidFill>
              </a:rPr>
              <a:t>mai</a:t>
            </a:r>
            <a:r>
              <a:rPr lang="en-US" sz="2000" dirty="0">
                <a:solidFill>
                  <a:srgbClr val="0070C0"/>
                </a:solidFill>
              </a:rPr>
              <a:t> 2024)</a:t>
            </a:r>
            <a:endParaRPr lang="fr-CA" dirty="0">
              <a:solidFill>
                <a:srgbClr val="0070C0"/>
              </a:solidFill>
            </a:endParaRPr>
          </a:p>
        </p:txBody>
      </p:sp>
      <p:sp>
        <p:nvSpPr>
          <p:cNvPr id="3" name="Slide Number Placeholder 2">
            <a:extLst>
              <a:ext uri="{FF2B5EF4-FFF2-40B4-BE49-F238E27FC236}">
                <a16:creationId xmlns:a16="http://schemas.microsoft.com/office/drawing/2014/main" id="{B820B034-36DA-AFA8-D320-1656E8EFB4F5}"/>
              </a:ext>
            </a:extLst>
          </p:cNvPr>
          <p:cNvSpPr>
            <a:spLocks noGrp="1"/>
          </p:cNvSpPr>
          <p:nvPr>
            <p:ph type="sldNum" sz="quarter" idx="12"/>
          </p:nvPr>
        </p:nvSpPr>
        <p:spPr/>
        <p:txBody>
          <a:bodyPr/>
          <a:lstStyle/>
          <a:p>
            <a:pPr>
              <a:defRPr/>
            </a:pPr>
            <a:fld id="{A36EBACF-F565-E244-8230-FFB82DCE4B7F}" type="slidenum">
              <a:rPr lang="fr-CA" smtClean="0"/>
              <a:pPr>
                <a:defRPr/>
              </a:pPr>
              <a:t>15</a:t>
            </a:fld>
            <a:endParaRPr lang="fr-CA"/>
          </a:p>
        </p:txBody>
      </p:sp>
      <p:sp>
        <p:nvSpPr>
          <p:cNvPr id="4" name="Content Placeholder 3">
            <a:extLst>
              <a:ext uri="{FF2B5EF4-FFF2-40B4-BE49-F238E27FC236}">
                <a16:creationId xmlns:a16="http://schemas.microsoft.com/office/drawing/2014/main" id="{4812774F-B064-E580-4713-D9E444188CE5}"/>
              </a:ext>
            </a:extLst>
          </p:cNvPr>
          <p:cNvSpPr>
            <a:spLocks noGrp="1"/>
          </p:cNvSpPr>
          <p:nvPr>
            <p:ph sz="quarter" idx="1"/>
          </p:nvPr>
        </p:nvSpPr>
        <p:spPr>
          <a:xfrm>
            <a:off x="1633728" y="1357491"/>
            <a:ext cx="8503920" cy="911352"/>
          </a:xfrm>
        </p:spPr>
        <p:txBody>
          <a:bodyPr>
            <a:normAutofit/>
          </a:bodyPr>
          <a:lstStyle/>
          <a:p>
            <a:pPr>
              <a:buFont typeface="Wingdings 2" panose="05020102010507070707" pitchFamily="18" charset="2"/>
              <a:buChar char=""/>
            </a:pPr>
            <a:r>
              <a:rPr lang="en-CA" sz="2200" dirty="0"/>
              <a:t>1480 actions </a:t>
            </a:r>
            <a:r>
              <a:rPr lang="en-CA" sz="2200" dirty="0" err="1"/>
              <a:t>américaines</a:t>
            </a:r>
            <a:r>
              <a:rPr lang="en-CA" sz="2200" dirty="0"/>
              <a:t>…</a:t>
            </a:r>
          </a:p>
          <a:p>
            <a:pPr>
              <a:buFont typeface="Wingdings 2" panose="05020102010507070707" pitchFamily="18" charset="2"/>
              <a:buChar char=""/>
            </a:pPr>
            <a:r>
              <a:rPr lang="en-CA" sz="2200" dirty="0"/>
              <a:t>Le fonds a </a:t>
            </a:r>
            <a:r>
              <a:rPr lang="en-CA" sz="2200" dirty="0" err="1"/>
              <a:t>une</a:t>
            </a:r>
            <a:r>
              <a:rPr lang="en-CA" sz="2200" dirty="0"/>
              <a:t> exposition aux </a:t>
            </a:r>
            <a:r>
              <a:rPr lang="en-CA" sz="2200" dirty="0" err="1"/>
              <a:t>énergies</a:t>
            </a:r>
            <a:r>
              <a:rPr lang="en-CA" sz="2200" dirty="0"/>
              <a:t> </a:t>
            </a:r>
            <a:r>
              <a:rPr lang="en-CA" sz="2200" dirty="0" err="1"/>
              <a:t>fossiles</a:t>
            </a:r>
            <a:r>
              <a:rPr lang="en-CA" sz="2200" dirty="0"/>
              <a:t> de 0.39%... </a:t>
            </a:r>
            <a:endParaRPr lang="fr-CA" sz="2200" dirty="0"/>
          </a:p>
        </p:txBody>
      </p:sp>
      <p:pic>
        <p:nvPicPr>
          <p:cNvPr id="6" name="Picture 5">
            <a:extLst>
              <a:ext uri="{FF2B5EF4-FFF2-40B4-BE49-F238E27FC236}">
                <a16:creationId xmlns:a16="http://schemas.microsoft.com/office/drawing/2014/main" id="{88BB4AA8-8D38-4D93-3578-09144BCD1E4C}"/>
              </a:ext>
            </a:extLst>
          </p:cNvPr>
          <p:cNvPicPr>
            <a:picLocks noChangeAspect="1"/>
          </p:cNvPicPr>
          <p:nvPr/>
        </p:nvPicPr>
        <p:blipFill>
          <a:blip r:embed="rId2"/>
          <a:stretch>
            <a:fillRect/>
          </a:stretch>
        </p:blipFill>
        <p:spPr>
          <a:xfrm>
            <a:off x="1825753" y="2292803"/>
            <a:ext cx="4818888" cy="1066938"/>
          </a:xfrm>
          <a:prstGeom prst="rect">
            <a:avLst/>
          </a:prstGeom>
        </p:spPr>
      </p:pic>
      <p:pic>
        <p:nvPicPr>
          <p:cNvPr id="8" name="Picture 7">
            <a:extLst>
              <a:ext uri="{FF2B5EF4-FFF2-40B4-BE49-F238E27FC236}">
                <a16:creationId xmlns:a16="http://schemas.microsoft.com/office/drawing/2014/main" id="{697231F2-E5F4-72A7-058C-F41A3E2AF973}"/>
              </a:ext>
            </a:extLst>
          </p:cNvPr>
          <p:cNvPicPr>
            <a:picLocks noChangeAspect="1"/>
          </p:cNvPicPr>
          <p:nvPr/>
        </p:nvPicPr>
        <p:blipFill>
          <a:blip r:embed="rId3"/>
          <a:stretch>
            <a:fillRect/>
          </a:stretch>
        </p:blipFill>
        <p:spPr>
          <a:xfrm>
            <a:off x="1901572" y="3405603"/>
            <a:ext cx="4667250" cy="1628110"/>
          </a:xfrm>
          <a:prstGeom prst="rect">
            <a:avLst/>
          </a:prstGeom>
        </p:spPr>
      </p:pic>
      <p:pic>
        <p:nvPicPr>
          <p:cNvPr id="10" name="Picture 9">
            <a:extLst>
              <a:ext uri="{FF2B5EF4-FFF2-40B4-BE49-F238E27FC236}">
                <a16:creationId xmlns:a16="http://schemas.microsoft.com/office/drawing/2014/main" id="{84C8B52C-5A24-42F2-3033-678B4D1FD5BA}"/>
              </a:ext>
            </a:extLst>
          </p:cNvPr>
          <p:cNvPicPr>
            <a:picLocks noChangeAspect="1"/>
          </p:cNvPicPr>
          <p:nvPr/>
        </p:nvPicPr>
        <p:blipFill>
          <a:blip r:embed="rId4"/>
          <a:stretch>
            <a:fillRect/>
          </a:stretch>
        </p:blipFill>
        <p:spPr>
          <a:xfrm>
            <a:off x="6793786" y="2590435"/>
            <a:ext cx="3566366" cy="2035692"/>
          </a:xfrm>
          <a:prstGeom prst="rect">
            <a:avLst/>
          </a:prstGeom>
        </p:spPr>
      </p:pic>
      <p:sp>
        <p:nvSpPr>
          <p:cNvPr id="12" name="TextBox 11">
            <a:extLst>
              <a:ext uri="{FF2B5EF4-FFF2-40B4-BE49-F238E27FC236}">
                <a16:creationId xmlns:a16="http://schemas.microsoft.com/office/drawing/2014/main" id="{38F620BF-26B6-9F88-A220-9BCDB529C3EA}"/>
              </a:ext>
            </a:extLst>
          </p:cNvPr>
          <p:cNvSpPr txBox="1"/>
          <p:nvPr/>
        </p:nvSpPr>
        <p:spPr>
          <a:xfrm>
            <a:off x="5023712" y="5297646"/>
            <a:ext cx="5336441" cy="1323439"/>
          </a:xfrm>
          <a:prstGeom prst="rect">
            <a:avLst/>
          </a:prstGeom>
          <a:noFill/>
        </p:spPr>
        <p:txBody>
          <a:bodyPr wrap="square">
            <a:spAutoFit/>
          </a:bodyPr>
          <a:lstStyle/>
          <a:p>
            <a:r>
              <a:rPr lang="en-US" sz="1600" dirty="0" err="1">
                <a:solidFill>
                  <a:srgbClr val="000000"/>
                </a:solidFill>
                <a:latin typeface="Ink Free" panose="03080402000500000000" pitchFamily="66" charset="0"/>
              </a:rPr>
              <a:t>Graphique</a:t>
            </a:r>
            <a:r>
              <a:rPr lang="en-US" sz="1600" dirty="0">
                <a:solidFill>
                  <a:srgbClr val="000000"/>
                </a:solidFill>
                <a:latin typeface="Ink Free" panose="03080402000500000000" pitchFamily="66" charset="0"/>
              </a:rPr>
              <a:t>: </a:t>
            </a:r>
            <a:r>
              <a:rPr lang="fr-CA" sz="1600" dirty="0">
                <a:solidFill>
                  <a:srgbClr val="000000"/>
                </a:solidFill>
                <a:latin typeface="Ink Free" panose="03080402000500000000" pitchFamily="66" charset="0"/>
              </a:rPr>
              <a:t>Répartition des fonds selon la notation ESG </a:t>
            </a:r>
          </a:p>
          <a:p>
            <a:endParaRPr lang="fr-CA" sz="1600" dirty="0">
              <a:solidFill>
                <a:srgbClr val="000000"/>
              </a:solidFill>
              <a:latin typeface="Ink Free" panose="03080402000500000000" pitchFamily="66" charset="0"/>
            </a:endParaRPr>
          </a:p>
          <a:p>
            <a:r>
              <a:rPr lang="en-US" sz="1600" dirty="0">
                <a:solidFill>
                  <a:srgbClr val="000000"/>
                </a:solidFill>
                <a:latin typeface="Ink Free" panose="03080402000500000000" pitchFamily="66" charset="0"/>
              </a:rPr>
              <a:t>Rouge: </a:t>
            </a:r>
            <a:r>
              <a:rPr lang="fr-CA" sz="1600" dirty="0">
                <a:solidFill>
                  <a:srgbClr val="000000"/>
                </a:solidFill>
                <a:latin typeface="Ink Free" panose="03080402000500000000" pitchFamily="66" charset="0"/>
              </a:rPr>
              <a:t>Une entreprise à la traîne de son secteur en raison de sa forte exposition aux risques ESG et de son incapacité à les gérer.</a:t>
            </a:r>
            <a:endParaRPr lang="fr-CA" sz="1600" dirty="0">
              <a:latin typeface="Ink Free" panose="03080402000500000000" pitchFamily="66" charset="0"/>
            </a:endParaRPr>
          </a:p>
        </p:txBody>
      </p:sp>
      <p:pic>
        <p:nvPicPr>
          <p:cNvPr id="14" name="Picture 13">
            <a:extLst>
              <a:ext uri="{FF2B5EF4-FFF2-40B4-BE49-F238E27FC236}">
                <a16:creationId xmlns:a16="http://schemas.microsoft.com/office/drawing/2014/main" id="{0B11B81A-2DA3-3606-7B15-636506A28B1B}"/>
              </a:ext>
            </a:extLst>
          </p:cNvPr>
          <p:cNvPicPr>
            <a:picLocks noChangeAspect="1"/>
          </p:cNvPicPr>
          <p:nvPr/>
        </p:nvPicPr>
        <p:blipFill>
          <a:blip r:embed="rId5"/>
          <a:stretch>
            <a:fillRect/>
          </a:stretch>
        </p:blipFill>
        <p:spPr>
          <a:xfrm>
            <a:off x="2657476" y="5296768"/>
            <a:ext cx="2270191" cy="1230153"/>
          </a:xfrm>
          <a:prstGeom prst="rect">
            <a:avLst/>
          </a:prstGeom>
        </p:spPr>
      </p:pic>
      <p:sp>
        <p:nvSpPr>
          <p:cNvPr id="5" name="object 30">
            <a:extLst>
              <a:ext uri="{FF2B5EF4-FFF2-40B4-BE49-F238E27FC236}">
                <a16:creationId xmlns:a16="http://schemas.microsoft.com/office/drawing/2014/main" id="{BEB9229A-6AEA-9AD1-C076-6C323FF4725F}"/>
              </a:ext>
            </a:extLst>
          </p:cNvPr>
          <p:cNvSpPr/>
          <p:nvPr/>
        </p:nvSpPr>
        <p:spPr>
          <a:xfrm>
            <a:off x="5293832" y="53108"/>
            <a:ext cx="1499954" cy="632460"/>
          </a:xfrm>
          <a:prstGeom prst="rect">
            <a:avLst/>
          </a:prstGeom>
          <a:blipFill>
            <a:blip r:embed="rId6" cstate="print">
              <a:grayscl/>
            </a:blip>
            <a:stretch>
              <a:fillRect/>
            </a:stretch>
          </a:blipFill>
        </p:spPr>
        <p:txBody>
          <a:bodyPr wrap="square" lIns="0" tIns="0" rIns="0" bIns="0" rtlCol="0"/>
          <a:lstStyle/>
          <a:p>
            <a:endParaRPr/>
          </a:p>
        </p:txBody>
      </p:sp>
    </p:spTree>
    <p:extLst>
      <p:ext uri="{BB962C8B-B14F-4D97-AF65-F5344CB8AC3E}">
        <p14:creationId xmlns:p14="http://schemas.microsoft.com/office/powerpoint/2010/main" val="106498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698321-29D8-F8D5-D99F-DA930BD84CCB}"/>
              </a:ext>
            </a:extLst>
          </p:cNvPr>
          <p:cNvSpPr>
            <a:spLocks noGrp="1"/>
          </p:cNvSpPr>
          <p:nvPr>
            <p:ph type="sldNum" sz="quarter" idx="12"/>
          </p:nvPr>
        </p:nvSpPr>
        <p:spPr/>
        <p:txBody>
          <a:bodyPr/>
          <a:lstStyle/>
          <a:p>
            <a:pPr>
              <a:defRPr/>
            </a:pPr>
            <a:fld id="{0585649F-876E-A447-8403-6DEDC0440903}" type="slidenum">
              <a:rPr lang="fr-CA" smtClean="0"/>
              <a:pPr>
                <a:defRPr/>
              </a:pPr>
              <a:t>16</a:t>
            </a:fld>
            <a:endParaRPr lang="fr-CA"/>
          </a:p>
        </p:txBody>
      </p:sp>
      <p:sp>
        <p:nvSpPr>
          <p:cNvPr id="3" name="Title 1">
            <a:extLst>
              <a:ext uri="{FF2B5EF4-FFF2-40B4-BE49-F238E27FC236}">
                <a16:creationId xmlns:a16="http://schemas.microsoft.com/office/drawing/2014/main" id="{66AA9FCD-F5C7-3B77-C778-EAB185554DE9}"/>
              </a:ext>
            </a:extLst>
          </p:cNvPr>
          <p:cNvSpPr txBox="1">
            <a:spLocks/>
          </p:cNvSpPr>
          <p:nvPr/>
        </p:nvSpPr>
        <p:spPr>
          <a:xfrm>
            <a:off x="1745671" y="115488"/>
            <a:ext cx="8534400" cy="75882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fr-CA" sz="3000" dirty="0">
                <a:solidFill>
                  <a:srgbClr val="0070C0"/>
                </a:solidFill>
                <a:latin typeface="Ink Free" panose="03080402000500000000" pitchFamily="66" charset="0"/>
              </a:rPr>
              <a:t>En savoir plus? </a:t>
            </a:r>
            <a:r>
              <a:rPr lang="fr-CA" sz="3000" dirty="0">
                <a:solidFill>
                  <a:srgbClr val="0070C0"/>
                </a:solidFill>
                <a:latin typeface="Ink Free" panose="03080402000500000000" pitchFamily="66" charset="0"/>
                <a:sym typeface="Wingdings" panose="05000000000000000000" pitchFamily="2" charset="2"/>
              </a:rPr>
              <a:t></a:t>
            </a:r>
          </a:p>
        </p:txBody>
      </p:sp>
      <p:sp>
        <p:nvSpPr>
          <p:cNvPr id="5" name="TextBox 4">
            <a:extLst>
              <a:ext uri="{FF2B5EF4-FFF2-40B4-BE49-F238E27FC236}">
                <a16:creationId xmlns:a16="http://schemas.microsoft.com/office/drawing/2014/main" id="{F7BE7F87-4894-8C56-3B4A-AB796D3F3D6C}"/>
              </a:ext>
            </a:extLst>
          </p:cNvPr>
          <p:cNvSpPr txBox="1"/>
          <p:nvPr/>
        </p:nvSpPr>
        <p:spPr>
          <a:xfrm>
            <a:off x="234863" y="1318286"/>
            <a:ext cx="11957137" cy="4093428"/>
          </a:xfrm>
          <a:prstGeom prst="rect">
            <a:avLst/>
          </a:prstGeom>
          <a:noFill/>
        </p:spPr>
        <p:txBody>
          <a:bodyPr wrap="square">
            <a:spAutoFit/>
          </a:bodyPr>
          <a:lstStyle/>
          <a:p>
            <a:pPr algn="l"/>
            <a:r>
              <a:rPr lang="fr-CA" sz="2200" b="1" dirty="0">
                <a:solidFill>
                  <a:srgbClr val="0D0D0D"/>
                </a:solidFill>
                <a:latin typeface="Söhne"/>
              </a:rPr>
              <a:t>Livres</a:t>
            </a:r>
          </a:p>
          <a:p>
            <a:pPr algn="l">
              <a:buFont typeface="+mj-lt"/>
              <a:buAutoNum type="arabicPeriod"/>
            </a:pPr>
            <a:r>
              <a:rPr lang="fr-CA" b="1" dirty="0">
                <a:solidFill>
                  <a:srgbClr val="0D0D0D"/>
                </a:solidFill>
                <a:latin typeface="Söhne"/>
              </a:rPr>
              <a:t>"Finance durable : une nouvelle finance pour le XXIe siècle"</a:t>
            </a:r>
            <a:r>
              <a:rPr lang="fr-CA" dirty="0">
                <a:solidFill>
                  <a:srgbClr val="0D0D0D"/>
                </a:solidFill>
                <a:latin typeface="Söhne"/>
              </a:rPr>
              <a:t> par Thierry </a:t>
            </a:r>
            <a:r>
              <a:rPr lang="fr-CA" dirty="0" err="1">
                <a:solidFill>
                  <a:srgbClr val="0D0D0D"/>
                </a:solidFill>
                <a:latin typeface="Söhne"/>
              </a:rPr>
              <a:t>Philipponnat</a:t>
            </a:r>
            <a:r>
              <a:rPr lang="fr-CA" dirty="0">
                <a:solidFill>
                  <a:srgbClr val="0D0D0D"/>
                </a:solidFill>
                <a:latin typeface="Söhne"/>
              </a:rPr>
              <a:t> et Ludovic </a:t>
            </a:r>
            <a:r>
              <a:rPr lang="fr-CA" dirty="0" err="1">
                <a:solidFill>
                  <a:srgbClr val="0D0D0D"/>
                </a:solidFill>
                <a:latin typeface="Söhne"/>
              </a:rPr>
              <a:t>Suttor</a:t>
            </a:r>
            <a:r>
              <a:rPr lang="fr-CA" dirty="0">
                <a:solidFill>
                  <a:srgbClr val="0D0D0D"/>
                </a:solidFill>
                <a:latin typeface="Söhne"/>
              </a:rPr>
              <a:t>-Sorel</a:t>
            </a:r>
          </a:p>
          <a:p>
            <a:pPr lvl="1" algn="l"/>
            <a:r>
              <a:rPr lang="fr-CA" dirty="0">
                <a:solidFill>
                  <a:srgbClr val="0D0D0D"/>
                </a:solidFill>
                <a:latin typeface="Söhne"/>
              </a:rPr>
              <a:t>Un livre qui explique les principes de la finance durable et son importance pour le futur.</a:t>
            </a:r>
          </a:p>
          <a:p>
            <a:pPr algn="l">
              <a:buFont typeface="+mj-lt"/>
              <a:buAutoNum type="arabicPeriod"/>
            </a:pPr>
            <a:r>
              <a:rPr lang="fr-CA" b="1" dirty="0">
                <a:solidFill>
                  <a:srgbClr val="0D0D0D"/>
                </a:solidFill>
                <a:latin typeface="Söhne"/>
              </a:rPr>
              <a:t>"La comptabilité et le développement durable"</a:t>
            </a:r>
            <a:r>
              <a:rPr lang="fr-CA" dirty="0">
                <a:solidFill>
                  <a:srgbClr val="0D0D0D"/>
                </a:solidFill>
                <a:latin typeface="Söhne"/>
              </a:rPr>
              <a:t> par Jacques Richard</a:t>
            </a:r>
          </a:p>
          <a:p>
            <a:pPr lvl="1" algn="l"/>
            <a:r>
              <a:rPr lang="fr-CA" dirty="0">
                <a:solidFill>
                  <a:srgbClr val="0D0D0D"/>
                </a:solidFill>
                <a:latin typeface="Söhne"/>
              </a:rPr>
              <a:t>Cet ouvrage explore comment les principes de la comptabilité peuvent s'intégrer dans les pratiques de développement durable des entreprises.</a:t>
            </a:r>
          </a:p>
          <a:p>
            <a:pPr lvl="1" algn="l"/>
            <a:endParaRPr lang="fr-CA" dirty="0">
              <a:solidFill>
                <a:srgbClr val="0D0D0D"/>
              </a:solidFill>
              <a:latin typeface="Söhne"/>
            </a:endParaRPr>
          </a:p>
          <a:p>
            <a:pPr algn="l"/>
            <a:r>
              <a:rPr lang="fr-CA" sz="2200" b="1" dirty="0">
                <a:solidFill>
                  <a:srgbClr val="0D0D0D"/>
                </a:solidFill>
                <a:latin typeface="Söhne"/>
              </a:rPr>
              <a:t>Articles</a:t>
            </a:r>
          </a:p>
          <a:p>
            <a:pPr algn="l">
              <a:buFont typeface="+mj-lt"/>
              <a:buAutoNum type="arabicPeriod"/>
            </a:pPr>
            <a:r>
              <a:rPr lang="fr-CA" b="1" dirty="0">
                <a:solidFill>
                  <a:srgbClr val="0D0D0D"/>
                </a:solidFill>
                <a:latin typeface="Söhne"/>
              </a:rPr>
              <a:t>"Investissement ESG : principe et critères"</a:t>
            </a:r>
            <a:r>
              <a:rPr lang="fr-CA" dirty="0">
                <a:solidFill>
                  <a:srgbClr val="0D0D0D"/>
                </a:solidFill>
                <a:latin typeface="Söhne"/>
              </a:rPr>
              <a:t> sur le site de Finance et Investissement</a:t>
            </a:r>
          </a:p>
          <a:p>
            <a:pPr lvl="1" algn="l"/>
            <a:r>
              <a:rPr lang="fr-CA" dirty="0">
                <a:solidFill>
                  <a:srgbClr val="0D0D0D"/>
                </a:solidFill>
                <a:latin typeface="Söhne"/>
              </a:rPr>
              <a:t>Un article détaillant les critères ESG, leur importance pour les investisseurs et l'impact sur les décisions d'investissement.</a:t>
            </a:r>
          </a:p>
          <a:p>
            <a:pPr lvl="1" algn="l"/>
            <a:r>
              <a:rPr lang="fr-CA" dirty="0">
                <a:solidFill>
                  <a:srgbClr val="0D0D0D"/>
                </a:solidFill>
                <a:latin typeface="Söhne"/>
              </a:rPr>
              <a:t>Lien : </a:t>
            </a:r>
            <a:r>
              <a:rPr lang="fr-CA" dirty="0">
                <a:solidFill>
                  <a:srgbClr val="0D0D0D"/>
                </a:solidFill>
                <a:latin typeface="Söhne"/>
                <a:hlinkClick r:id="rId2"/>
              </a:rPr>
              <a:t>Finance et Investissement</a:t>
            </a:r>
            <a:r>
              <a:rPr lang="fr-CA" dirty="0">
                <a:solidFill>
                  <a:srgbClr val="0D0D0D"/>
                </a:solidFill>
                <a:latin typeface="Söhne"/>
              </a:rPr>
              <a:t> </a:t>
            </a:r>
          </a:p>
          <a:p>
            <a:pPr lvl="1" algn="l"/>
            <a:endParaRPr lang="fr-CA" dirty="0">
              <a:solidFill>
                <a:srgbClr val="0D0D0D"/>
              </a:solidFill>
              <a:latin typeface="Söhne"/>
            </a:endParaRPr>
          </a:p>
          <a:p>
            <a:pPr lvl="1" algn="l"/>
            <a:endParaRPr lang="fr-CA" dirty="0">
              <a:solidFill>
                <a:srgbClr val="0D0D0D"/>
              </a:solidFill>
              <a:latin typeface="Söhne"/>
            </a:endParaRPr>
          </a:p>
          <a:p>
            <a:pPr lvl="1" algn="l"/>
            <a:endParaRPr lang="fr-CA" dirty="0">
              <a:solidFill>
                <a:srgbClr val="0D0D0D"/>
              </a:solidFill>
              <a:latin typeface="Söhne"/>
            </a:endParaRPr>
          </a:p>
        </p:txBody>
      </p:sp>
      <p:sp>
        <p:nvSpPr>
          <p:cNvPr id="7" name="TextBox 6">
            <a:extLst>
              <a:ext uri="{FF2B5EF4-FFF2-40B4-BE49-F238E27FC236}">
                <a16:creationId xmlns:a16="http://schemas.microsoft.com/office/drawing/2014/main" id="{E2589F7E-F625-3525-0F95-24699381ACF4}"/>
              </a:ext>
            </a:extLst>
          </p:cNvPr>
          <p:cNvSpPr txBox="1"/>
          <p:nvPr/>
        </p:nvSpPr>
        <p:spPr>
          <a:xfrm>
            <a:off x="234863" y="4731427"/>
            <a:ext cx="10567792" cy="1477328"/>
          </a:xfrm>
          <a:prstGeom prst="rect">
            <a:avLst/>
          </a:prstGeom>
          <a:solidFill>
            <a:schemeClr val="bg1"/>
          </a:solidFill>
        </p:spPr>
        <p:txBody>
          <a:bodyPr wrap="square">
            <a:spAutoFit/>
          </a:bodyPr>
          <a:lstStyle/>
          <a:p>
            <a:r>
              <a:rPr lang="fr-CA" dirty="0">
                <a:hlinkClick r:id="rId3"/>
              </a:rPr>
              <a:t>https://www.investopedia.com/sustainable-investing-4427774</a:t>
            </a:r>
            <a:endParaRPr lang="fr-CA" dirty="0"/>
          </a:p>
          <a:p>
            <a:r>
              <a:rPr lang="fr-CA" dirty="0">
                <a:hlinkClick r:id="rId4"/>
              </a:rPr>
              <a:t>https://www.greenbiz.com/</a:t>
            </a:r>
            <a:r>
              <a:rPr lang="fr-CA" dirty="0"/>
              <a:t>  </a:t>
            </a:r>
          </a:p>
          <a:p>
            <a:r>
              <a:rPr lang="en-CA" dirty="0">
                <a:hlinkClick r:id="rId5"/>
              </a:rPr>
              <a:t>https://www.retaildive.com/news/nike-faces-lawsuit-greenwashing-claims/650282/</a:t>
            </a:r>
            <a:endParaRPr lang="en-CA" dirty="0"/>
          </a:p>
          <a:p>
            <a:r>
              <a:rPr lang="en-CA" dirty="0">
                <a:hlinkClick r:id="rId6"/>
              </a:rPr>
              <a:t>https://www.msci.com/our-solutions/esg-investing/esg-fund-ratings-climate-search-tool/funds/</a:t>
            </a:r>
            <a:r>
              <a:rPr lang="en-CA" dirty="0"/>
              <a:t> </a:t>
            </a:r>
            <a:r>
              <a:rPr lang="en-CA" dirty="0">
                <a:hlinkClick r:id="rId7"/>
              </a:rPr>
              <a:t>https://investor.vanguard.com/investment-products/etfs/profile/esgv</a:t>
            </a:r>
            <a:endParaRPr lang="fr-CA" dirty="0"/>
          </a:p>
        </p:txBody>
      </p:sp>
      <p:pic>
        <p:nvPicPr>
          <p:cNvPr id="3074" name="Picture 2" descr="Magnifying glass over CO2 reduction icon">
            <a:extLst>
              <a:ext uri="{FF2B5EF4-FFF2-40B4-BE49-F238E27FC236}">
                <a16:creationId xmlns:a16="http://schemas.microsoft.com/office/drawing/2014/main" id="{BC5B07E0-728B-E5F6-8F05-CFA9B5636C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80616" y="-4319"/>
            <a:ext cx="2511603" cy="15382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78422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1" id="{8054E3D3-F476-4864-A1F9-DCC07CE71AC5}" vid="{121BF58A-4856-4395-B816-64FE0F6BA8B8}"/>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9240</TotalTime>
  <Words>1716</Words>
  <Application>Microsoft Office PowerPoint</Application>
  <PresentationFormat>Widescreen</PresentationFormat>
  <Paragraphs>164</Paragraphs>
  <Slides>16</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16</vt:i4>
      </vt:variant>
    </vt:vector>
  </HeadingPairs>
  <TitlesOfParts>
    <vt:vector size="28" baseType="lpstr">
      <vt:lpstr>Arial</vt:lpstr>
      <vt:lpstr>Calibri</vt:lpstr>
      <vt:lpstr>Calibri Light</vt:lpstr>
      <vt:lpstr>Courier New</vt:lpstr>
      <vt:lpstr>Georgia</vt:lpstr>
      <vt:lpstr>Ink Free</vt:lpstr>
      <vt:lpstr>Montserrat</vt:lpstr>
      <vt:lpstr>Söhne</vt:lpstr>
      <vt:lpstr>Wingdings</vt:lpstr>
      <vt:lpstr>Wingdings 2</vt:lpstr>
      <vt:lpstr>Theme1</vt:lpstr>
      <vt:lpstr>Retrospect</vt:lpstr>
      <vt:lpstr>Chronique financière… ESG !</vt:lpstr>
      <vt:lpstr>PowerPoint Presentation</vt:lpstr>
      <vt:lpstr>Comment l'ESG peut-il influencer le comportement des entreprises et favoriser le changement ?</vt:lpstr>
      <vt:lpstr>Études de cas : l'ESG en action</vt:lpstr>
      <vt:lpstr>Guerre Russie - Ukraine, mars 2022 </vt:lpstr>
      <vt:lpstr>PowerPoint Presentation</vt:lpstr>
      <vt:lpstr>Certaines sociétés se spécialisent dans l'évaluation des performances ESG des entreprises.</vt:lpstr>
      <vt:lpstr>Notation ESG par secteur d'activité</vt:lpstr>
      <vt:lpstr>Écoblanchiment – Quand l'ESG devient un piège marketing…</vt:lpstr>
      <vt:lpstr>Les militants pour le climat poursuivent les entreprises devant les tribunaux...</vt:lpstr>
      <vt:lpstr>…et aussi des banques et des sociétés d’investissement</vt:lpstr>
      <vt:lpstr> Et investissements ‘ESG’! Sont-ils 100% ESG?!</vt:lpstr>
      <vt:lpstr>Exemple…. Blackrock: iShares ESG Aware MSCI USA ETF (mai 2025) </vt:lpstr>
      <vt:lpstr>PowerPoint Presentation</vt:lpstr>
      <vt:lpstr>Exemple…. Vanguard: ESG U.S. Stock ETF (mai 2024)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Chronique financière De quoi parle-t-on cette semaine? Du nouveau mot magique….IA</dc:title>
  <dc:creator>Mélanie Caron-Harris</dc:creator>
  <cp:keywords>, docId:BB4651EE844D6260A8E4E892EA95DFDC</cp:keywords>
  <cp:lastModifiedBy>Mélanie Caron-Harris</cp:lastModifiedBy>
  <cp:revision>64</cp:revision>
  <dcterms:created xsi:type="dcterms:W3CDTF">2023-05-15T16:45:55Z</dcterms:created>
  <dcterms:modified xsi:type="dcterms:W3CDTF">2025-08-17T15:01:30Z</dcterms:modified>
</cp:coreProperties>
</file>