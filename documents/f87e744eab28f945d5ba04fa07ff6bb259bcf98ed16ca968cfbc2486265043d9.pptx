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sldIdLst>
    <p:sldId id="257" r:id="rId5"/>
    <p:sldId id="396" r:id="rId6"/>
    <p:sldId id="348" r:id="rId7"/>
    <p:sldId id="400" r:id="rId8"/>
    <p:sldId id="575" r:id="rId9"/>
    <p:sldId id="293" r:id="rId10"/>
    <p:sldId id="294" r:id="rId11"/>
    <p:sldId id="297" r:id="rId12"/>
    <p:sldId id="302" r:id="rId13"/>
    <p:sldId id="366" r:id="rId14"/>
    <p:sldId id="367" r:id="rId15"/>
    <p:sldId id="578" r:id="rId16"/>
    <p:sldId id="369" r:id="rId17"/>
    <p:sldId id="370" r:id="rId18"/>
    <p:sldId id="376" r:id="rId19"/>
    <p:sldId id="377" r:id="rId20"/>
    <p:sldId id="378" r:id="rId21"/>
    <p:sldId id="577" r:id="rId22"/>
    <p:sldId id="480" r:id="rId23"/>
    <p:sldId id="336" r:id="rId24"/>
    <p:sldId id="585" r:id="rId25"/>
    <p:sldId id="384" r:id="rId26"/>
    <p:sldId id="402" r:id="rId27"/>
    <p:sldId id="403" r:id="rId28"/>
    <p:sldId id="404" r:id="rId29"/>
    <p:sldId id="290" r:id="rId30"/>
    <p:sldId id="393" r:id="rId31"/>
    <p:sldId id="357" r:id="rId32"/>
    <p:sldId id="398" r:id="rId33"/>
    <p:sldId id="399" r:id="rId34"/>
    <p:sldId id="285" r:id="rId35"/>
    <p:sldId id="395" r:id="rId36"/>
  </p:sldIdLst>
  <p:sldSz cx="10160000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0F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F020C-8963-4910-8D15-C8C3B96FC332}" v="1" dt="2025-06-26T15:00:33.8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 autoAdjust="0"/>
    <p:restoredTop sz="94674" autoAdjust="0"/>
  </p:normalViewPr>
  <p:slideViewPr>
    <p:cSldViewPr snapToGrid="0" snapToObjects="1" showGuides="1">
      <p:cViewPr varScale="1">
        <p:scale>
          <a:sx n="68" d="100"/>
          <a:sy n="68" d="100"/>
        </p:scale>
        <p:origin x="90" y="11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ire Poitras" userId="e8718bf4-9404-4a5b-b757-f555a9335c73" providerId="ADAL" clId="{016F020C-8963-4910-8D15-C8C3B96FC332}"/>
    <pc:docChg chg="custSel addSld delSld modSld">
      <pc:chgData name="Claire Poitras" userId="e8718bf4-9404-4a5b-b757-f555a9335c73" providerId="ADAL" clId="{016F020C-8963-4910-8D15-C8C3B96FC332}" dt="2025-06-26T15:00:47.339" v="6" actId="6549"/>
      <pc:docMkLst>
        <pc:docMk/>
      </pc:docMkLst>
      <pc:sldChg chg="modSp mod">
        <pc:chgData name="Claire Poitras" userId="e8718bf4-9404-4a5b-b757-f555a9335c73" providerId="ADAL" clId="{016F020C-8963-4910-8D15-C8C3B96FC332}" dt="2025-06-23T17:03:12.309" v="1" actId="20577"/>
        <pc:sldMkLst>
          <pc:docMk/>
          <pc:sldMk cId="1857756970" sldId="257"/>
        </pc:sldMkLst>
        <pc:spChg chg="mod">
          <ac:chgData name="Claire Poitras" userId="e8718bf4-9404-4a5b-b757-f555a9335c73" providerId="ADAL" clId="{016F020C-8963-4910-8D15-C8C3B96FC332}" dt="2025-06-23T17:03:12.309" v="1" actId="20577"/>
          <ac:spMkLst>
            <pc:docMk/>
            <pc:sldMk cId="1857756970" sldId="257"/>
            <ac:spMk id="5" creationId="{00000000-0000-0000-0000-000000000000}"/>
          </ac:spMkLst>
        </pc:spChg>
      </pc:sldChg>
      <pc:sldChg chg="add del modNotesTx">
        <pc:chgData name="Claire Poitras" userId="e8718bf4-9404-4a5b-b757-f555a9335c73" providerId="ADAL" clId="{016F020C-8963-4910-8D15-C8C3B96FC332}" dt="2025-06-26T15:00:40.158" v="4" actId="6549"/>
        <pc:sldMkLst>
          <pc:docMk/>
          <pc:sldMk cId="1608517123" sldId="402"/>
        </pc:sldMkLst>
      </pc:sldChg>
      <pc:sldChg chg="add del modNotesTx">
        <pc:chgData name="Claire Poitras" userId="e8718bf4-9404-4a5b-b757-f555a9335c73" providerId="ADAL" clId="{016F020C-8963-4910-8D15-C8C3B96FC332}" dt="2025-06-26T15:00:44.033" v="5" actId="6549"/>
        <pc:sldMkLst>
          <pc:docMk/>
          <pc:sldMk cId="2470296442" sldId="403"/>
        </pc:sldMkLst>
      </pc:sldChg>
      <pc:sldChg chg="add del modNotesTx">
        <pc:chgData name="Claire Poitras" userId="e8718bf4-9404-4a5b-b757-f555a9335c73" providerId="ADAL" clId="{016F020C-8963-4910-8D15-C8C3B96FC332}" dt="2025-06-26T15:00:47.339" v="6" actId="6549"/>
        <pc:sldMkLst>
          <pc:docMk/>
          <pc:sldMk cId="1897935496" sldId="404"/>
        </pc:sldMkLst>
      </pc:sldChg>
    </pc:docChg>
  </pc:docChgLst>
  <pc:docChgLst>
    <pc:chgData name="Claire Poitras" userId="e8718bf4-9404-4a5b-b757-f555a9335c73" providerId="ADAL" clId="{96126FFB-67C9-4B9B-9EDB-F61222098A16}"/>
    <pc:docChg chg="custSel modSld">
      <pc:chgData name="Claire Poitras" userId="e8718bf4-9404-4a5b-b757-f555a9335c73" providerId="ADAL" clId="{96126FFB-67C9-4B9B-9EDB-F61222098A16}" dt="2024-06-19T13:18:43.776" v="1" actId="20577"/>
      <pc:docMkLst>
        <pc:docMk/>
      </pc:docMkLst>
      <pc:sldChg chg="modSp mod">
        <pc:chgData name="Claire Poitras" userId="e8718bf4-9404-4a5b-b757-f555a9335c73" providerId="ADAL" clId="{96126FFB-67C9-4B9B-9EDB-F61222098A16}" dt="2024-06-19T13:18:43.776" v="1" actId="20577"/>
        <pc:sldMkLst>
          <pc:docMk/>
          <pc:sldMk cId="1857756970" sldId="257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246120-19C2-4FEA-BD09-85282ADA8BE7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8DD45ED-1CE9-4869-BA88-4C9CB715CB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CA" noProof="0" dirty="0"/>
            <a:t>Capacité opérationnelle</a:t>
          </a:r>
        </a:p>
      </dgm:t>
    </dgm:pt>
    <dgm:pt modelId="{2F2EA2CB-A40C-483F-B9BB-E92A273129F8}" type="parTrans" cxnId="{2812D657-6B64-4215-AC60-B626450B61E8}">
      <dgm:prSet/>
      <dgm:spPr/>
      <dgm:t>
        <a:bodyPr/>
        <a:lstStyle/>
        <a:p>
          <a:endParaRPr lang="en-US"/>
        </a:p>
      </dgm:t>
    </dgm:pt>
    <dgm:pt modelId="{0651735E-FEBE-4446-AF25-C8DCF36CD06A}" type="sibTrans" cxnId="{2812D657-6B64-4215-AC60-B626450B61E8}">
      <dgm:prSet/>
      <dgm:spPr/>
      <dgm:t>
        <a:bodyPr/>
        <a:lstStyle/>
        <a:p>
          <a:endParaRPr lang="en-US"/>
        </a:p>
      </dgm:t>
    </dgm:pt>
    <dgm:pt modelId="{BD2C7733-5874-4CFA-906A-A308235A980D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b="0" dirty="0">
              <a:solidFill>
                <a:schemeClr val="tx1"/>
              </a:solidFill>
            </a:rPr>
            <a:t>Capacité d’un processus de produire des biens et des services à l’intérieur de limites de tolérance spécifiées, appelées spécifications </a:t>
          </a:r>
          <a:endParaRPr lang="en-US" b="0" dirty="0">
            <a:solidFill>
              <a:schemeClr val="tx1"/>
            </a:solidFill>
          </a:endParaRPr>
        </a:p>
      </dgm:t>
    </dgm:pt>
    <dgm:pt modelId="{F21B80A2-0E99-45A5-954A-252318C5FB2B}" type="parTrans" cxnId="{88AEB6C3-09EB-4D46-8DDC-77238184169C}">
      <dgm:prSet/>
      <dgm:spPr/>
      <dgm:t>
        <a:bodyPr/>
        <a:lstStyle/>
        <a:p>
          <a:endParaRPr lang="en-US"/>
        </a:p>
      </dgm:t>
    </dgm:pt>
    <dgm:pt modelId="{486022BB-CAA7-4DE4-A508-8310CE29879F}" type="sibTrans" cxnId="{88AEB6C3-09EB-4D46-8DDC-77238184169C}">
      <dgm:prSet/>
      <dgm:spPr/>
      <dgm:t>
        <a:bodyPr/>
        <a:lstStyle/>
        <a:p>
          <a:endParaRPr lang="en-US"/>
        </a:p>
      </dgm:t>
    </dgm:pt>
    <dgm:pt modelId="{002DE599-6DBF-4E99-9FF3-D9977FED64E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CA" noProof="0" dirty="0"/>
            <a:t>Variabilité d’un processus</a:t>
          </a:r>
        </a:p>
      </dgm:t>
    </dgm:pt>
    <dgm:pt modelId="{1785FEB6-CDAF-4281-94F2-94CE7F5B6D6E}" type="parTrans" cxnId="{2F255505-8FAC-425A-8F45-B591C708BCE9}">
      <dgm:prSet/>
      <dgm:spPr/>
      <dgm:t>
        <a:bodyPr/>
        <a:lstStyle/>
        <a:p>
          <a:endParaRPr lang="en-US"/>
        </a:p>
      </dgm:t>
    </dgm:pt>
    <dgm:pt modelId="{7BF24A22-DD59-4A04-A331-81EF71225F2E}" type="sibTrans" cxnId="{2F255505-8FAC-425A-8F45-B591C708BCE9}">
      <dgm:prSet/>
      <dgm:spPr/>
      <dgm:t>
        <a:bodyPr/>
        <a:lstStyle/>
        <a:p>
          <a:endParaRPr lang="en-US"/>
        </a:p>
      </dgm:t>
    </dgm:pt>
    <dgm:pt modelId="{0C92910D-D127-4376-9CAA-CD8B98B3A29F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Variabilité naturelle ou inhérente à un processus</a:t>
          </a:r>
          <a:endParaRPr lang="en-US" dirty="0"/>
        </a:p>
      </dgm:t>
    </dgm:pt>
    <dgm:pt modelId="{47F56479-30AF-4A80-A1FE-2D4145082620}" type="parTrans" cxnId="{180603AE-3185-410C-B2EF-5207DC4F36EA}">
      <dgm:prSet/>
      <dgm:spPr/>
      <dgm:t>
        <a:bodyPr/>
        <a:lstStyle/>
        <a:p>
          <a:endParaRPr lang="en-US"/>
        </a:p>
      </dgm:t>
    </dgm:pt>
    <dgm:pt modelId="{5AFCAEE4-8B8D-46C5-81A0-5B2753A5FC2F}" type="sibTrans" cxnId="{180603AE-3185-410C-B2EF-5207DC4F36EA}">
      <dgm:prSet/>
      <dgm:spPr/>
      <dgm:t>
        <a:bodyPr/>
        <a:lstStyle/>
        <a:p>
          <a:endParaRPr lang="en-US"/>
        </a:p>
      </dgm:t>
    </dgm:pt>
    <dgm:pt modelId="{95843D12-D915-4F6B-8076-0E6195127CB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CA" noProof="0" dirty="0"/>
            <a:t>Tolérances</a:t>
          </a:r>
        </a:p>
      </dgm:t>
    </dgm:pt>
    <dgm:pt modelId="{8B87A2C1-1864-4419-A8D5-33EF6FAB3339}" type="parTrans" cxnId="{A1758DB9-F78E-4948-9DBC-9CDE2ADE8D8D}">
      <dgm:prSet/>
      <dgm:spPr/>
      <dgm:t>
        <a:bodyPr/>
        <a:lstStyle/>
        <a:p>
          <a:endParaRPr lang="en-CA"/>
        </a:p>
      </dgm:t>
    </dgm:pt>
    <dgm:pt modelId="{BF1CF4BB-1354-4DC9-9769-951A7D4364CA}" type="sibTrans" cxnId="{A1758DB9-F78E-4948-9DBC-9CDE2ADE8D8D}">
      <dgm:prSet/>
      <dgm:spPr/>
      <dgm:t>
        <a:bodyPr/>
        <a:lstStyle/>
        <a:p>
          <a:endParaRPr lang="en-CA"/>
        </a:p>
      </dgm:t>
    </dgm:pt>
    <dgm:pt modelId="{D56385B6-36A8-40FC-B6EB-A7BC2049F23B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Spécifications imposées au processus par le client, à l’interne ou légalement</a:t>
          </a:r>
        </a:p>
      </dgm:t>
    </dgm:pt>
    <dgm:pt modelId="{820F540F-957D-420A-90C4-91FE318FD334}" type="parTrans" cxnId="{C3FF2C86-4488-41E2-8002-09864D4B530F}">
      <dgm:prSet/>
      <dgm:spPr/>
      <dgm:t>
        <a:bodyPr/>
        <a:lstStyle/>
        <a:p>
          <a:endParaRPr lang="en-CA"/>
        </a:p>
      </dgm:t>
    </dgm:pt>
    <dgm:pt modelId="{4A94280B-1E12-4319-86B7-29F630D77530}" type="sibTrans" cxnId="{C3FF2C86-4488-41E2-8002-09864D4B530F}">
      <dgm:prSet/>
      <dgm:spPr/>
      <dgm:t>
        <a:bodyPr/>
        <a:lstStyle/>
        <a:p>
          <a:endParaRPr lang="en-CA"/>
        </a:p>
      </dgm:t>
    </dgm:pt>
    <dgm:pt modelId="{9D86A5A8-1C5F-4E45-AC2F-418468926C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CA" noProof="0" dirty="0"/>
            <a:t>Limites de contrôle</a:t>
          </a:r>
        </a:p>
      </dgm:t>
    </dgm:pt>
    <dgm:pt modelId="{7D11EDCD-5922-48E5-A4EE-57A05B9AC931}" type="parTrans" cxnId="{2B4A2C83-C698-492A-98B8-FDCB2035158F}">
      <dgm:prSet/>
      <dgm:spPr/>
      <dgm:t>
        <a:bodyPr/>
        <a:lstStyle/>
        <a:p>
          <a:endParaRPr lang="en-CA"/>
        </a:p>
      </dgm:t>
    </dgm:pt>
    <dgm:pt modelId="{5C11D4D6-E033-48E5-BF70-471CD3AC5A43}" type="sibTrans" cxnId="{2B4A2C83-C698-492A-98B8-FDCB2035158F}">
      <dgm:prSet/>
      <dgm:spPr/>
      <dgm:t>
        <a:bodyPr/>
        <a:lstStyle/>
        <a:p>
          <a:endParaRPr lang="en-CA"/>
        </a:p>
      </dgm:t>
    </dgm:pt>
    <dgm:pt modelId="{17EFCCE9-3783-4807-A793-26707E1F2E2B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dirty="0"/>
            <a:t>Limites statistiques utilisées avec la carte de contrôle</a:t>
          </a:r>
          <a:endParaRPr lang="en-US" dirty="0"/>
        </a:p>
      </dgm:t>
    </dgm:pt>
    <dgm:pt modelId="{AD7C4546-DA11-4C75-BA1D-0CBB6305C8DA}" type="parTrans" cxnId="{387EABAB-415A-4042-8019-205EF3E7A094}">
      <dgm:prSet/>
      <dgm:spPr/>
      <dgm:t>
        <a:bodyPr/>
        <a:lstStyle/>
        <a:p>
          <a:endParaRPr lang="en-CA"/>
        </a:p>
      </dgm:t>
    </dgm:pt>
    <dgm:pt modelId="{06BED4CD-B3D6-4DBA-BFAA-29965A7ACFB0}" type="sibTrans" cxnId="{387EABAB-415A-4042-8019-205EF3E7A094}">
      <dgm:prSet/>
      <dgm:spPr/>
      <dgm:t>
        <a:bodyPr/>
        <a:lstStyle/>
        <a:p>
          <a:endParaRPr lang="en-CA"/>
        </a:p>
      </dgm:t>
    </dgm:pt>
    <dgm:pt modelId="{233FC385-A0E8-48C5-BB97-2FCDA31E1E66}" type="pres">
      <dgm:prSet presAssocID="{14246120-19C2-4FEA-BD09-85282ADA8BE7}" presName="root" presStyleCnt="0">
        <dgm:presLayoutVars>
          <dgm:dir/>
          <dgm:resizeHandles val="exact"/>
        </dgm:presLayoutVars>
      </dgm:prSet>
      <dgm:spPr/>
    </dgm:pt>
    <dgm:pt modelId="{D947EEFA-7786-4F20-8F10-26FDD8418798}" type="pres">
      <dgm:prSet presAssocID="{58DD45ED-1CE9-4869-BA88-4C9CB715CB59}" presName="compNode" presStyleCnt="0"/>
      <dgm:spPr/>
    </dgm:pt>
    <dgm:pt modelId="{45A617E3-0F18-4770-AD6E-644260736C43}" type="pres">
      <dgm:prSet presAssocID="{58DD45ED-1CE9-4869-BA88-4C9CB715CB5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B5F58EBD-81C2-4CEE-8AB3-A169E2680735}" type="pres">
      <dgm:prSet presAssocID="{58DD45ED-1CE9-4869-BA88-4C9CB715CB59}" presName="iconSpace" presStyleCnt="0"/>
      <dgm:spPr/>
    </dgm:pt>
    <dgm:pt modelId="{5548B5E6-5157-493C-BF4D-9C0A2426F0C4}" type="pres">
      <dgm:prSet presAssocID="{58DD45ED-1CE9-4869-BA88-4C9CB715CB59}" presName="parTx" presStyleLbl="revTx" presStyleIdx="0" presStyleCnt="8">
        <dgm:presLayoutVars>
          <dgm:chMax val="0"/>
          <dgm:chPref val="0"/>
        </dgm:presLayoutVars>
      </dgm:prSet>
      <dgm:spPr/>
    </dgm:pt>
    <dgm:pt modelId="{75F41506-AD7F-465A-AA4D-72A95B062044}" type="pres">
      <dgm:prSet presAssocID="{58DD45ED-1CE9-4869-BA88-4C9CB715CB59}" presName="txSpace" presStyleCnt="0"/>
      <dgm:spPr/>
    </dgm:pt>
    <dgm:pt modelId="{D530EEEE-7A7F-4499-9D9A-AEAB5C615A58}" type="pres">
      <dgm:prSet presAssocID="{58DD45ED-1CE9-4869-BA88-4C9CB715CB59}" presName="desTx" presStyleLbl="revTx" presStyleIdx="1" presStyleCnt="8">
        <dgm:presLayoutVars/>
      </dgm:prSet>
      <dgm:spPr/>
    </dgm:pt>
    <dgm:pt modelId="{F898C3F2-A58F-4B11-8B10-59896152F834}" type="pres">
      <dgm:prSet presAssocID="{0651735E-FEBE-4446-AF25-C8DCF36CD06A}" presName="sibTrans" presStyleCnt="0"/>
      <dgm:spPr/>
    </dgm:pt>
    <dgm:pt modelId="{1B5F9860-5CB7-4C75-9BD2-02C5FB2B4C33}" type="pres">
      <dgm:prSet presAssocID="{002DE599-6DBF-4E99-9FF3-D9977FED64E9}" presName="compNode" presStyleCnt="0"/>
      <dgm:spPr/>
    </dgm:pt>
    <dgm:pt modelId="{FA805F07-F64C-469D-AA23-FB7EDDE1261B}" type="pres">
      <dgm:prSet presAssocID="{002DE599-6DBF-4E99-9FF3-D9977FED64E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ble"/>
        </a:ext>
      </dgm:extLst>
    </dgm:pt>
    <dgm:pt modelId="{291D637A-73FA-4823-8A43-02392C2362BB}" type="pres">
      <dgm:prSet presAssocID="{002DE599-6DBF-4E99-9FF3-D9977FED64E9}" presName="iconSpace" presStyleCnt="0"/>
      <dgm:spPr/>
    </dgm:pt>
    <dgm:pt modelId="{063A1E7C-14D2-428D-822D-3FE7CE0EBECB}" type="pres">
      <dgm:prSet presAssocID="{002DE599-6DBF-4E99-9FF3-D9977FED64E9}" presName="parTx" presStyleLbl="revTx" presStyleIdx="2" presStyleCnt="8">
        <dgm:presLayoutVars>
          <dgm:chMax val="0"/>
          <dgm:chPref val="0"/>
        </dgm:presLayoutVars>
      </dgm:prSet>
      <dgm:spPr/>
    </dgm:pt>
    <dgm:pt modelId="{E1EAE7EA-D7EF-4B01-AF14-8D8EB79A8CB0}" type="pres">
      <dgm:prSet presAssocID="{002DE599-6DBF-4E99-9FF3-D9977FED64E9}" presName="txSpace" presStyleCnt="0"/>
      <dgm:spPr/>
    </dgm:pt>
    <dgm:pt modelId="{F071A918-094C-4583-8240-33395AB6EC4A}" type="pres">
      <dgm:prSet presAssocID="{002DE599-6DBF-4E99-9FF3-D9977FED64E9}" presName="desTx" presStyleLbl="revTx" presStyleIdx="3" presStyleCnt="8">
        <dgm:presLayoutVars/>
      </dgm:prSet>
      <dgm:spPr/>
    </dgm:pt>
    <dgm:pt modelId="{03A0E8D7-7B8D-4A4C-B3D2-F2BDF8017A5C}" type="pres">
      <dgm:prSet presAssocID="{7BF24A22-DD59-4A04-A331-81EF71225F2E}" presName="sibTrans" presStyleCnt="0"/>
      <dgm:spPr/>
    </dgm:pt>
    <dgm:pt modelId="{EB06F164-C55A-4B08-A1C3-E812499F8746}" type="pres">
      <dgm:prSet presAssocID="{95843D12-D915-4F6B-8076-0E6195127CB9}" presName="compNode" presStyleCnt="0"/>
      <dgm:spPr/>
    </dgm:pt>
    <dgm:pt modelId="{15416BFA-99AA-4B2B-BCEC-A8E4DB52CF09}" type="pres">
      <dgm:prSet presAssocID="{95843D12-D915-4F6B-8076-0E6195127CB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ègle"/>
        </a:ext>
      </dgm:extLst>
    </dgm:pt>
    <dgm:pt modelId="{2F044941-AC93-45C9-9D47-FABC300D88C0}" type="pres">
      <dgm:prSet presAssocID="{95843D12-D915-4F6B-8076-0E6195127CB9}" presName="iconSpace" presStyleCnt="0"/>
      <dgm:spPr/>
    </dgm:pt>
    <dgm:pt modelId="{734EF25E-17CA-4178-908F-4D072C307ACB}" type="pres">
      <dgm:prSet presAssocID="{95843D12-D915-4F6B-8076-0E6195127CB9}" presName="parTx" presStyleLbl="revTx" presStyleIdx="4" presStyleCnt="8">
        <dgm:presLayoutVars>
          <dgm:chMax val="0"/>
          <dgm:chPref val="0"/>
        </dgm:presLayoutVars>
      </dgm:prSet>
      <dgm:spPr/>
    </dgm:pt>
    <dgm:pt modelId="{F9C49216-33C0-4596-AB1A-5209B45F0E09}" type="pres">
      <dgm:prSet presAssocID="{95843D12-D915-4F6B-8076-0E6195127CB9}" presName="txSpace" presStyleCnt="0"/>
      <dgm:spPr/>
    </dgm:pt>
    <dgm:pt modelId="{48B67C24-32F7-4D3E-BA26-64E7815A14B5}" type="pres">
      <dgm:prSet presAssocID="{95843D12-D915-4F6B-8076-0E6195127CB9}" presName="desTx" presStyleLbl="revTx" presStyleIdx="5" presStyleCnt="8">
        <dgm:presLayoutVars/>
      </dgm:prSet>
      <dgm:spPr/>
    </dgm:pt>
    <dgm:pt modelId="{658B628E-C7A7-4ACE-AA36-5FC6F8EBF772}" type="pres">
      <dgm:prSet presAssocID="{BF1CF4BB-1354-4DC9-9769-951A7D4364CA}" presName="sibTrans" presStyleCnt="0"/>
      <dgm:spPr/>
    </dgm:pt>
    <dgm:pt modelId="{857FBC03-7FFC-45A4-B786-473219681389}" type="pres">
      <dgm:prSet presAssocID="{9D86A5A8-1C5F-4E45-AC2F-418468926CFF}" presName="compNode" presStyleCnt="0"/>
      <dgm:spPr/>
    </dgm:pt>
    <dgm:pt modelId="{95817806-AC4A-493E-92C1-0F3D4D94E1D3}" type="pres">
      <dgm:prSet presAssocID="{9D86A5A8-1C5F-4E45-AC2F-418468926CF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herche"/>
        </a:ext>
      </dgm:extLst>
    </dgm:pt>
    <dgm:pt modelId="{95792E80-009E-4B42-8CF9-1FC82564E629}" type="pres">
      <dgm:prSet presAssocID="{9D86A5A8-1C5F-4E45-AC2F-418468926CFF}" presName="iconSpace" presStyleCnt="0"/>
      <dgm:spPr/>
    </dgm:pt>
    <dgm:pt modelId="{2230A644-3F2B-4F0E-A77F-C371133DBB27}" type="pres">
      <dgm:prSet presAssocID="{9D86A5A8-1C5F-4E45-AC2F-418468926CFF}" presName="parTx" presStyleLbl="revTx" presStyleIdx="6" presStyleCnt="8">
        <dgm:presLayoutVars>
          <dgm:chMax val="0"/>
          <dgm:chPref val="0"/>
        </dgm:presLayoutVars>
      </dgm:prSet>
      <dgm:spPr/>
    </dgm:pt>
    <dgm:pt modelId="{C5B71F5F-5347-4D4D-8E40-554DFFEEBDD5}" type="pres">
      <dgm:prSet presAssocID="{9D86A5A8-1C5F-4E45-AC2F-418468926CFF}" presName="txSpace" presStyleCnt="0"/>
      <dgm:spPr/>
    </dgm:pt>
    <dgm:pt modelId="{A0314DFE-FFFB-4041-9AE0-FFF3EA1036D0}" type="pres">
      <dgm:prSet presAssocID="{9D86A5A8-1C5F-4E45-AC2F-418468926CFF}" presName="desTx" presStyleLbl="revTx" presStyleIdx="7" presStyleCnt="8">
        <dgm:presLayoutVars/>
      </dgm:prSet>
      <dgm:spPr/>
    </dgm:pt>
  </dgm:ptLst>
  <dgm:cxnLst>
    <dgm:cxn modelId="{2F255505-8FAC-425A-8F45-B591C708BCE9}" srcId="{14246120-19C2-4FEA-BD09-85282ADA8BE7}" destId="{002DE599-6DBF-4E99-9FF3-D9977FED64E9}" srcOrd="1" destOrd="0" parTransId="{1785FEB6-CDAF-4281-94F2-94CE7F5B6D6E}" sibTransId="{7BF24A22-DD59-4A04-A331-81EF71225F2E}"/>
    <dgm:cxn modelId="{21CB1A06-A5CF-4CAD-ACD6-78D2EE3C204F}" type="presOf" srcId="{17EFCCE9-3783-4807-A793-26707E1F2E2B}" destId="{A0314DFE-FFFB-4041-9AE0-FFF3EA1036D0}" srcOrd="0" destOrd="0" presId="urn:microsoft.com/office/officeart/2018/2/layout/IconLabelDescriptionList"/>
    <dgm:cxn modelId="{44085A08-7574-4AD6-B8CA-E35D26490588}" type="presOf" srcId="{9D86A5A8-1C5F-4E45-AC2F-418468926CFF}" destId="{2230A644-3F2B-4F0E-A77F-C371133DBB27}" srcOrd="0" destOrd="0" presId="urn:microsoft.com/office/officeart/2018/2/layout/IconLabelDescriptionList"/>
    <dgm:cxn modelId="{E663A629-9896-4FD0-ADF3-2E389F4A7D0D}" type="presOf" srcId="{14246120-19C2-4FEA-BD09-85282ADA8BE7}" destId="{233FC385-A0E8-48C5-BB97-2FCDA31E1E66}" srcOrd="0" destOrd="0" presId="urn:microsoft.com/office/officeart/2018/2/layout/IconLabelDescriptionList"/>
    <dgm:cxn modelId="{8209F136-12C9-4822-9FAD-546563466486}" type="presOf" srcId="{95843D12-D915-4F6B-8076-0E6195127CB9}" destId="{734EF25E-17CA-4178-908F-4D072C307ACB}" srcOrd="0" destOrd="0" presId="urn:microsoft.com/office/officeart/2018/2/layout/IconLabelDescriptionList"/>
    <dgm:cxn modelId="{C987256B-1D1B-4410-AC7B-E27B8F97ABCF}" type="presOf" srcId="{0C92910D-D127-4376-9CAA-CD8B98B3A29F}" destId="{F071A918-094C-4583-8240-33395AB6EC4A}" srcOrd="0" destOrd="0" presId="urn:microsoft.com/office/officeart/2018/2/layout/IconLabelDescriptionList"/>
    <dgm:cxn modelId="{DDF6E44D-4DF1-4E48-BF64-D306ECD47862}" type="presOf" srcId="{BD2C7733-5874-4CFA-906A-A308235A980D}" destId="{D530EEEE-7A7F-4499-9D9A-AEAB5C615A58}" srcOrd="0" destOrd="0" presId="urn:microsoft.com/office/officeart/2018/2/layout/IconLabelDescriptionList"/>
    <dgm:cxn modelId="{F97DB354-2219-45CD-AE11-1AAC84543700}" type="presOf" srcId="{D56385B6-36A8-40FC-B6EB-A7BC2049F23B}" destId="{48B67C24-32F7-4D3E-BA26-64E7815A14B5}" srcOrd="0" destOrd="0" presId="urn:microsoft.com/office/officeart/2018/2/layout/IconLabelDescriptionList"/>
    <dgm:cxn modelId="{2812D657-6B64-4215-AC60-B626450B61E8}" srcId="{14246120-19C2-4FEA-BD09-85282ADA8BE7}" destId="{58DD45ED-1CE9-4869-BA88-4C9CB715CB59}" srcOrd="0" destOrd="0" parTransId="{2F2EA2CB-A40C-483F-B9BB-E92A273129F8}" sibTransId="{0651735E-FEBE-4446-AF25-C8DCF36CD06A}"/>
    <dgm:cxn modelId="{C3D5D981-6B51-42C8-8C4A-624BE7DE5990}" type="presOf" srcId="{58DD45ED-1CE9-4869-BA88-4C9CB715CB59}" destId="{5548B5E6-5157-493C-BF4D-9C0A2426F0C4}" srcOrd="0" destOrd="0" presId="urn:microsoft.com/office/officeart/2018/2/layout/IconLabelDescriptionList"/>
    <dgm:cxn modelId="{2B4A2C83-C698-492A-98B8-FDCB2035158F}" srcId="{14246120-19C2-4FEA-BD09-85282ADA8BE7}" destId="{9D86A5A8-1C5F-4E45-AC2F-418468926CFF}" srcOrd="3" destOrd="0" parTransId="{7D11EDCD-5922-48E5-A4EE-57A05B9AC931}" sibTransId="{5C11D4D6-E033-48E5-BF70-471CD3AC5A43}"/>
    <dgm:cxn modelId="{C3FF2C86-4488-41E2-8002-09864D4B530F}" srcId="{95843D12-D915-4F6B-8076-0E6195127CB9}" destId="{D56385B6-36A8-40FC-B6EB-A7BC2049F23B}" srcOrd="0" destOrd="0" parTransId="{820F540F-957D-420A-90C4-91FE318FD334}" sibTransId="{4A94280B-1E12-4319-86B7-29F630D77530}"/>
    <dgm:cxn modelId="{387EABAB-415A-4042-8019-205EF3E7A094}" srcId="{9D86A5A8-1C5F-4E45-AC2F-418468926CFF}" destId="{17EFCCE9-3783-4807-A793-26707E1F2E2B}" srcOrd="0" destOrd="0" parTransId="{AD7C4546-DA11-4C75-BA1D-0CBB6305C8DA}" sibTransId="{06BED4CD-B3D6-4DBA-BFAA-29965A7ACFB0}"/>
    <dgm:cxn modelId="{180603AE-3185-410C-B2EF-5207DC4F36EA}" srcId="{002DE599-6DBF-4E99-9FF3-D9977FED64E9}" destId="{0C92910D-D127-4376-9CAA-CD8B98B3A29F}" srcOrd="0" destOrd="0" parTransId="{47F56479-30AF-4A80-A1FE-2D4145082620}" sibTransId="{5AFCAEE4-8B8D-46C5-81A0-5B2753A5FC2F}"/>
    <dgm:cxn modelId="{A1758DB9-F78E-4948-9DBC-9CDE2ADE8D8D}" srcId="{14246120-19C2-4FEA-BD09-85282ADA8BE7}" destId="{95843D12-D915-4F6B-8076-0E6195127CB9}" srcOrd="2" destOrd="0" parTransId="{8B87A2C1-1864-4419-A8D5-33EF6FAB3339}" sibTransId="{BF1CF4BB-1354-4DC9-9769-951A7D4364CA}"/>
    <dgm:cxn modelId="{88AEB6C3-09EB-4D46-8DDC-77238184169C}" srcId="{58DD45ED-1CE9-4869-BA88-4C9CB715CB59}" destId="{BD2C7733-5874-4CFA-906A-A308235A980D}" srcOrd="0" destOrd="0" parTransId="{F21B80A2-0E99-45A5-954A-252318C5FB2B}" sibTransId="{486022BB-CAA7-4DE4-A508-8310CE29879F}"/>
    <dgm:cxn modelId="{262B5DC4-EA3D-4E74-9176-D8001F274ECF}" type="presOf" srcId="{002DE599-6DBF-4E99-9FF3-D9977FED64E9}" destId="{063A1E7C-14D2-428D-822D-3FE7CE0EBECB}" srcOrd="0" destOrd="0" presId="urn:microsoft.com/office/officeart/2018/2/layout/IconLabelDescriptionList"/>
    <dgm:cxn modelId="{F55DC3F5-E48E-4AAC-9039-987B16103D0F}" type="presParOf" srcId="{233FC385-A0E8-48C5-BB97-2FCDA31E1E66}" destId="{D947EEFA-7786-4F20-8F10-26FDD8418798}" srcOrd="0" destOrd="0" presId="urn:microsoft.com/office/officeart/2018/2/layout/IconLabelDescriptionList"/>
    <dgm:cxn modelId="{919FFE7E-0240-4BCA-8049-23767DAD4C5F}" type="presParOf" srcId="{D947EEFA-7786-4F20-8F10-26FDD8418798}" destId="{45A617E3-0F18-4770-AD6E-644260736C43}" srcOrd="0" destOrd="0" presId="urn:microsoft.com/office/officeart/2018/2/layout/IconLabelDescriptionList"/>
    <dgm:cxn modelId="{9B67DC24-524E-48A6-A117-2AB81D2E3EC9}" type="presParOf" srcId="{D947EEFA-7786-4F20-8F10-26FDD8418798}" destId="{B5F58EBD-81C2-4CEE-8AB3-A169E2680735}" srcOrd="1" destOrd="0" presId="urn:microsoft.com/office/officeart/2018/2/layout/IconLabelDescriptionList"/>
    <dgm:cxn modelId="{0E35F3E6-5703-4BBF-A26A-1DADB26AC6BE}" type="presParOf" srcId="{D947EEFA-7786-4F20-8F10-26FDD8418798}" destId="{5548B5E6-5157-493C-BF4D-9C0A2426F0C4}" srcOrd="2" destOrd="0" presId="urn:microsoft.com/office/officeart/2018/2/layout/IconLabelDescriptionList"/>
    <dgm:cxn modelId="{E8006BD7-1255-4EF0-AA7B-70D533719E75}" type="presParOf" srcId="{D947EEFA-7786-4F20-8F10-26FDD8418798}" destId="{75F41506-AD7F-465A-AA4D-72A95B062044}" srcOrd="3" destOrd="0" presId="urn:microsoft.com/office/officeart/2018/2/layout/IconLabelDescriptionList"/>
    <dgm:cxn modelId="{FB5F6EA0-ECD0-433C-860D-0D004969FCEC}" type="presParOf" srcId="{D947EEFA-7786-4F20-8F10-26FDD8418798}" destId="{D530EEEE-7A7F-4499-9D9A-AEAB5C615A58}" srcOrd="4" destOrd="0" presId="urn:microsoft.com/office/officeart/2018/2/layout/IconLabelDescriptionList"/>
    <dgm:cxn modelId="{F8DFD892-63B3-419C-93E2-6BF0F41E990A}" type="presParOf" srcId="{233FC385-A0E8-48C5-BB97-2FCDA31E1E66}" destId="{F898C3F2-A58F-4B11-8B10-59896152F834}" srcOrd="1" destOrd="0" presId="urn:microsoft.com/office/officeart/2018/2/layout/IconLabelDescriptionList"/>
    <dgm:cxn modelId="{0C93375C-BAAE-4036-96CF-DB9D0C7255E7}" type="presParOf" srcId="{233FC385-A0E8-48C5-BB97-2FCDA31E1E66}" destId="{1B5F9860-5CB7-4C75-9BD2-02C5FB2B4C33}" srcOrd="2" destOrd="0" presId="urn:microsoft.com/office/officeart/2018/2/layout/IconLabelDescriptionList"/>
    <dgm:cxn modelId="{2C0AC8E7-C05F-4337-B4AE-DFF65495A4A3}" type="presParOf" srcId="{1B5F9860-5CB7-4C75-9BD2-02C5FB2B4C33}" destId="{FA805F07-F64C-469D-AA23-FB7EDDE1261B}" srcOrd="0" destOrd="0" presId="urn:microsoft.com/office/officeart/2018/2/layout/IconLabelDescriptionList"/>
    <dgm:cxn modelId="{3C3FB959-3423-4970-AC17-754482E81F35}" type="presParOf" srcId="{1B5F9860-5CB7-4C75-9BD2-02C5FB2B4C33}" destId="{291D637A-73FA-4823-8A43-02392C2362BB}" srcOrd="1" destOrd="0" presId="urn:microsoft.com/office/officeart/2018/2/layout/IconLabelDescriptionList"/>
    <dgm:cxn modelId="{B7441D8A-49F4-4652-998A-84675D4497E0}" type="presParOf" srcId="{1B5F9860-5CB7-4C75-9BD2-02C5FB2B4C33}" destId="{063A1E7C-14D2-428D-822D-3FE7CE0EBECB}" srcOrd="2" destOrd="0" presId="urn:microsoft.com/office/officeart/2018/2/layout/IconLabelDescriptionList"/>
    <dgm:cxn modelId="{68BB22C8-1106-4E12-9239-C19E48BD8F97}" type="presParOf" srcId="{1B5F9860-5CB7-4C75-9BD2-02C5FB2B4C33}" destId="{E1EAE7EA-D7EF-4B01-AF14-8D8EB79A8CB0}" srcOrd="3" destOrd="0" presId="urn:microsoft.com/office/officeart/2018/2/layout/IconLabelDescriptionList"/>
    <dgm:cxn modelId="{17838D05-83CD-420B-B60A-493EF330D4EC}" type="presParOf" srcId="{1B5F9860-5CB7-4C75-9BD2-02C5FB2B4C33}" destId="{F071A918-094C-4583-8240-33395AB6EC4A}" srcOrd="4" destOrd="0" presId="urn:microsoft.com/office/officeart/2018/2/layout/IconLabelDescriptionList"/>
    <dgm:cxn modelId="{41225BB8-0398-4D33-8837-AB17EAA263BC}" type="presParOf" srcId="{233FC385-A0E8-48C5-BB97-2FCDA31E1E66}" destId="{03A0E8D7-7B8D-4A4C-B3D2-F2BDF8017A5C}" srcOrd="3" destOrd="0" presId="urn:microsoft.com/office/officeart/2018/2/layout/IconLabelDescriptionList"/>
    <dgm:cxn modelId="{F9F51C99-3277-461A-825B-FB62B4FFFCE6}" type="presParOf" srcId="{233FC385-A0E8-48C5-BB97-2FCDA31E1E66}" destId="{EB06F164-C55A-4B08-A1C3-E812499F8746}" srcOrd="4" destOrd="0" presId="urn:microsoft.com/office/officeart/2018/2/layout/IconLabelDescriptionList"/>
    <dgm:cxn modelId="{914D61B3-E370-4E1B-9C7C-83F424A3D9EF}" type="presParOf" srcId="{EB06F164-C55A-4B08-A1C3-E812499F8746}" destId="{15416BFA-99AA-4B2B-BCEC-A8E4DB52CF09}" srcOrd="0" destOrd="0" presId="urn:microsoft.com/office/officeart/2018/2/layout/IconLabelDescriptionList"/>
    <dgm:cxn modelId="{48F603E9-AC7E-4E6B-BD5C-5A217972F21D}" type="presParOf" srcId="{EB06F164-C55A-4B08-A1C3-E812499F8746}" destId="{2F044941-AC93-45C9-9D47-FABC300D88C0}" srcOrd="1" destOrd="0" presId="urn:microsoft.com/office/officeart/2018/2/layout/IconLabelDescriptionList"/>
    <dgm:cxn modelId="{6E9529B0-0BF9-4B19-9C1E-5521B0AB787F}" type="presParOf" srcId="{EB06F164-C55A-4B08-A1C3-E812499F8746}" destId="{734EF25E-17CA-4178-908F-4D072C307ACB}" srcOrd="2" destOrd="0" presId="urn:microsoft.com/office/officeart/2018/2/layout/IconLabelDescriptionList"/>
    <dgm:cxn modelId="{DCB5B199-F5EA-4464-BBD2-E3597CB2F81B}" type="presParOf" srcId="{EB06F164-C55A-4B08-A1C3-E812499F8746}" destId="{F9C49216-33C0-4596-AB1A-5209B45F0E09}" srcOrd="3" destOrd="0" presId="urn:microsoft.com/office/officeart/2018/2/layout/IconLabelDescriptionList"/>
    <dgm:cxn modelId="{EAFE2D4D-E435-4996-8A12-70F194F932FB}" type="presParOf" srcId="{EB06F164-C55A-4B08-A1C3-E812499F8746}" destId="{48B67C24-32F7-4D3E-BA26-64E7815A14B5}" srcOrd="4" destOrd="0" presId="urn:microsoft.com/office/officeart/2018/2/layout/IconLabelDescriptionList"/>
    <dgm:cxn modelId="{42D7886D-4D13-4F61-8290-E90C7AA8FD7E}" type="presParOf" srcId="{233FC385-A0E8-48C5-BB97-2FCDA31E1E66}" destId="{658B628E-C7A7-4ACE-AA36-5FC6F8EBF772}" srcOrd="5" destOrd="0" presId="urn:microsoft.com/office/officeart/2018/2/layout/IconLabelDescriptionList"/>
    <dgm:cxn modelId="{DA248F0C-BB72-40E9-B74A-216FF9F964D4}" type="presParOf" srcId="{233FC385-A0E8-48C5-BB97-2FCDA31E1E66}" destId="{857FBC03-7FFC-45A4-B786-473219681389}" srcOrd="6" destOrd="0" presId="urn:microsoft.com/office/officeart/2018/2/layout/IconLabelDescriptionList"/>
    <dgm:cxn modelId="{F645D2CF-9F82-49BB-99F4-2EF305C41C02}" type="presParOf" srcId="{857FBC03-7FFC-45A4-B786-473219681389}" destId="{95817806-AC4A-493E-92C1-0F3D4D94E1D3}" srcOrd="0" destOrd="0" presId="urn:microsoft.com/office/officeart/2018/2/layout/IconLabelDescriptionList"/>
    <dgm:cxn modelId="{9AF3F911-E914-46B2-953E-23567E49E772}" type="presParOf" srcId="{857FBC03-7FFC-45A4-B786-473219681389}" destId="{95792E80-009E-4B42-8CF9-1FC82564E629}" srcOrd="1" destOrd="0" presId="urn:microsoft.com/office/officeart/2018/2/layout/IconLabelDescriptionList"/>
    <dgm:cxn modelId="{AC5AD6B7-AEBA-4D2B-AFD6-3D4D2F28803E}" type="presParOf" srcId="{857FBC03-7FFC-45A4-B786-473219681389}" destId="{2230A644-3F2B-4F0E-A77F-C371133DBB27}" srcOrd="2" destOrd="0" presId="urn:microsoft.com/office/officeart/2018/2/layout/IconLabelDescriptionList"/>
    <dgm:cxn modelId="{62C93DD9-BFCC-4597-8A2D-242154F1FD23}" type="presParOf" srcId="{857FBC03-7FFC-45A4-B786-473219681389}" destId="{C5B71F5F-5347-4D4D-8E40-554DFFEEBDD5}" srcOrd="3" destOrd="0" presId="urn:microsoft.com/office/officeart/2018/2/layout/IconLabelDescriptionList"/>
    <dgm:cxn modelId="{6BA88370-5D9A-4B6C-A1A2-3BF7A3BF953B}" type="presParOf" srcId="{857FBC03-7FFC-45A4-B786-473219681389}" destId="{A0314DFE-FFFB-4041-9AE0-FFF3EA1036D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A617E3-0F18-4770-AD6E-644260736C43}">
      <dsp:nvSpPr>
        <dsp:cNvPr id="0" name=""/>
        <dsp:cNvSpPr/>
      </dsp:nvSpPr>
      <dsp:spPr>
        <a:xfrm>
          <a:off x="4885" y="364742"/>
          <a:ext cx="607749" cy="6077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8B5E6-5157-493C-BF4D-9C0A2426F0C4}">
      <dsp:nvSpPr>
        <dsp:cNvPr id="0" name=""/>
        <dsp:cNvSpPr/>
      </dsp:nvSpPr>
      <dsp:spPr>
        <a:xfrm>
          <a:off x="4885" y="1064499"/>
          <a:ext cx="1736427" cy="41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A" sz="1400" kern="1200" noProof="0" dirty="0"/>
            <a:t>Capacité opérationnelle</a:t>
          </a:r>
        </a:p>
      </dsp:txBody>
      <dsp:txXfrm>
        <a:off x="4885" y="1064499"/>
        <a:ext cx="1736427" cy="415114"/>
      </dsp:txXfrm>
    </dsp:sp>
    <dsp:sp modelId="{D530EEEE-7A7F-4499-9D9A-AEAB5C615A58}">
      <dsp:nvSpPr>
        <dsp:cNvPr id="0" name=""/>
        <dsp:cNvSpPr/>
      </dsp:nvSpPr>
      <dsp:spPr>
        <a:xfrm>
          <a:off x="4885" y="1522408"/>
          <a:ext cx="1736427" cy="982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>
              <a:solidFill>
                <a:schemeClr val="tx1"/>
              </a:solidFill>
            </a:rPr>
            <a:t>Capacité d’un processus de produire des biens et des services à l’intérieur de limites de tolérance spécifiées, appelées spécifications </a:t>
          </a:r>
          <a:endParaRPr lang="en-US" sz="1100" b="0" kern="1200" dirty="0">
            <a:solidFill>
              <a:schemeClr val="tx1"/>
            </a:solidFill>
          </a:endParaRPr>
        </a:p>
      </dsp:txBody>
      <dsp:txXfrm>
        <a:off x="4885" y="1522408"/>
        <a:ext cx="1736427" cy="982038"/>
      </dsp:txXfrm>
    </dsp:sp>
    <dsp:sp modelId="{FA805F07-F64C-469D-AA23-FB7EDDE1261B}">
      <dsp:nvSpPr>
        <dsp:cNvPr id="0" name=""/>
        <dsp:cNvSpPr/>
      </dsp:nvSpPr>
      <dsp:spPr>
        <a:xfrm>
          <a:off x="2045187" y="364742"/>
          <a:ext cx="607749" cy="6077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3A1E7C-14D2-428D-822D-3FE7CE0EBECB}">
      <dsp:nvSpPr>
        <dsp:cNvPr id="0" name=""/>
        <dsp:cNvSpPr/>
      </dsp:nvSpPr>
      <dsp:spPr>
        <a:xfrm>
          <a:off x="2045187" y="1064499"/>
          <a:ext cx="1736427" cy="41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A" sz="1400" kern="1200" noProof="0" dirty="0"/>
            <a:t>Variabilité d’un processus</a:t>
          </a:r>
        </a:p>
      </dsp:txBody>
      <dsp:txXfrm>
        <a:off x="2045187" y="1064499"/>
        <a:ext cx="1736427" cy="415114"/>
      </dsp:txXfrm>
    </dsp:sp>
    <dsp:sp modelId="{F071A918-094C-4583-8240-33395AB6EC4A}">
      <dsp:nvSpPr>
        <dsp:cNvPr id="0" name=""/>
        <dsp:cNvSpPr/>
      </dsp:nvSpPr>
      <dsp:spPr>
        <a:xfrm>
          <a:off x="2045187" y="1522408"/>
          <a:ext cx="1736427" cy="982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Variabilité naturelle ou inhérente à un processus</a:t>
          </a:r>
          <a:endParaRPr lang="en-US" sz="1100" kern="1200" dirty="0"/>
        </a:p>
      </dsp:txBody>
      <dsp:txXfrm>
        <a:off x="2045187" y="1522408"/>
        <a:ext cx="1736427" cy="982038"/>
      </dsp:txXfrm>
    </dsp:sp>
    <dsp:sp modelId="{15416BFA-99AA-4B2B-BCEC-A8E4DB52CF09}">
      <dsp:nvSpPr>
        <dsp:cNvPr id="0" name=""/>
        <dsp:cNvSpPr/>
      </dsp:nvSpPr>
      <dsp:spPr>
        <a:xfrm>
          <a:off x="4085490" y="364742"/>
          <a:ext cx="607749" cy="6077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4EF25E-17CA-4178-908F-4D072C307ACB}">
      <dsp:nvSpPr>
        <dsp:cNvPr id="0" name=""/>
        <dsp:cNvSpPr/>
      </dsp:nvSpPr>
      <dsp:spPr>
        <a:xfrm>
          <a:off x="4085490" y="1064499"/>
          <a:ext cx="1736427" cy="41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A" sz="1400" kern="1200" noProof="0" dirty="0"/>
            <a:t>Tolérances</a:t>
          </a:r>
        </a:p>
      </dsp:txBody>
      <dsp:txXfrm>
        <a:off x="4085490" y="1064499"/>
        <a:ext cx="1736427" cy="415114"/>
      </dsp:txXfrm>
    </dsp:sp>
    <dsp:sp modelId="{48B67C24-32F7-4D3E-BA26-64E7815A14B5}">
      <dsp:nvSpPr>
        <dsp:cNvPr id="0" name=""/>
        <dsp:cNvSpPr/>
      </dsp:nvSpPr>
      <dsp:spPr>
        <a:xfrm>
          <a:off x="4085490" y="1522408"/>
          <a:ext cx="1736427" cy="982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noProof="0" dirty="0"/>
            <a:t>Spécifications imposées au processus par le client, à l’interne ou légalement</a:t>
          </a:r>
        </a:p>
      </dsp:txBody>
      <dsp:txXfrm>
        <a:off x="4085490" y="1522408"/>
        <a:ext cx="1736427" cy="982038"/>
      </dsp:txXfrm>
    </dsp:sp>
    <dsp:sp modelId="{95817806-AC4A-493E-92C1-0F3D4D94E1D3}">
      <dsp:nvSpPr>
        <dsp:cNvPr id="0" name=""/>
        <dsp:cNvSpPr/>
      </dsp:nvSpPr>
      <dsp:spPr>
        <a:xfrm>
          <a:off x="6125792" y="364742"/>
          <a:ext cx="607749" cy="6077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0A644-3F2B-4F0E-A77F-C371133DBB27}">
      <dsp:nvSpPr>
        <dsp:cNvPr id="0" name=""/>
        <dsp:cNvSpPr/>
      </dsp:nvSpPr>
      <dsp:spPr>
        <a:xfrm>
          <a:off x="6125792" y="1064499"/>
          <a:ext cx="1736427" cy="41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A" sz="1400" kern="1200" noProof="0" dirty="0"/>
            <a:t>Limites de contrôle</a:t>
          </a:r>
        </a:p>
      </dsp:txBody>
      <dsp:txXfrm>
        <a:off x="6125792" y="1064499"/>
        <a:ext cx="1736427" cy="415114"/>
      </dsp:txXfrm>
    </dsp:sp>
    <dsp:sp modelId="{A0314DFE-FFFB-4041-9AE0-FFF3EA1036D0}">
      <dsp:nvSpPr>
        <dsp:cNvPr id="0" name=""/>
        <dsp:cNvSpPr/>
      </dsp:nvSpPr>
      <dsp:spPr>
        <a:xfrm>
          <a:off x="6125792" y="1522408"/>
          <a:ext cx="1736427" cy="982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kern="1200" dirty="0"/>
            <a:t>Limites statistiques utilisées avec la carte de contrôle</a:t>
          </a:r>
          <a:endParaRPr lang="en-US" sz="1100" kern="1200" dirty="0"/>
        </a:p>
      </dsp:txBody>
      <dsp:txXfrm>
        <a:off x="6125792" y="1522408"/>
        <a:ext cx="1736427" cy="9820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4E640-7D2A-42EF-BA39-2B32D5A16C68}" type="datetimeFigureOut">
              <a:rPr lang="fr-CA" smtClean="0"/>
              <a:pPr/>
              <a:t>2025-06-26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BC42A-5C03-431D-B855-CCCF13E3B37E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51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E472C2-D550-4E56-990C-CA281F400513}" type="slidenum">
              <a:rPr lang="fr-CA" smtClean="0"/>
              <a:pPr/>
              <a:t>2</a:t>
            </a:fld>
            <a:endParaRPr lang="fr-CA" dirty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3788" cy="3473450"/>
          </a:xfrm>
          <a:ln cap="flat"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446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0966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B4D1AD-BC84-4AA7-8618-324453975ACA}" type="slidenum">
              <a:rPr lang="fr-CA" smtClean="0"/>
              <a:pPr>
                <a:defRPr/>
              </a:pPr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74773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CA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443CA5-4CCE-4E68-86C9-30AF984A32D4}" type="slidenum">
              <a:rPr lang="fr-CA" smtClean="0"/>
              <a:pPr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07616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3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CA" dirty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46C12F-AB68-46F5-82E2-ADEF763846D0}" type="slidenum">
              <a:rPr lang="fr-CA" smtClean="0"/>
              <a:pPr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34370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9F01D4-B499-4258-AD6A-17B51B984FD7}" type="slidenum">
              <a:rPr lang="fr-CA" smtClean="0"/>
              <a:pPr/>
              <a:t>7</a:t>
            </a:fld>
            <a:endParaRPr lang="fr-CA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3788" cy="347345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933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B4D1AD-BC84-4AA7-8618-324453975ACA}" type="slidenum">
              <a:rPr lang="fr-CA" smtClean="0"/>
              <a:pPr>
                <a:defRPr/>
              </a:pPr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13058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B4D1AD-BC84-4AA7-8618-324453975ACA}" type="slidenum">
              <a:rPr lang="fr-CA" smtClean="0"/>
              <a:pPr>
                <a:defRPr/>
              </a:pPr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11048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B7F426-B033-44E9-AFA3-D88B810741D3}" type="slidenum">
              <a:rPr lang="fr-CA" smtClean="0"/>
              <a:pPr/>
              <a:t>10</a:t>
            </a:fld>
            <a:endParaRPr lang="fr-CA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3788" cy="347345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CA" b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151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B4D1AD-BC84-4AA7-8618-324453975ACA}" type="slidenum">
              <a:rPr lang="fr-CA" smtClean="0"/>
              <a:pPr>
                <a:defRPr/>
              </a:pPr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13413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i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B4D1AD-BC84-4AA7-8618-324453975ACA}" type="slidenum">
              <a:rPr lang="fr-CA" smtClean="0"/>
              <a:pPr>
                <a:defRPr/>
              </a:pPr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29288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101502-22E5-4EF1-8505-28ECBE481FE9}" type="slidenum">
              <a:rPr lang="fr-CA" smtClean="0"/>
              <a:pPr/>
              <a:t>13</a:t>
            </a:fld>
            <a:endParaRPr lang="fr-CA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3788" cy="34734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614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B4D1AD-BC84-4AA7-8618-324453975ACA}" type="slidenum">
              <a:rPr lang="fr-CA" smtClean="0"/>
              <a:pPr>
                <a:defRPr/>
              </a:pPr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950324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B4D1AD-BC84-4AA7-8618-324453975ACA}" type="slidenum">
              <a:rPr lang="fr-CA" smtClean="0"/>
              <a:pPr>
                <a:defRPr/>
              </a:pPr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63186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B4D1AD-BC84-4AA7-8618-324453975ACA}" type="slidenum">
              <a:rPr lang="fr-CA" smtClean="0"/>
              <a:pPr>
                <a:defRPr/>
              </a:pPr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018154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5830FF-D722-4DB8-B998-A20C55241D6C}" type="slidenum">
              <a:rPr lang="fr-CA" smtClean="0"/>
              <a:pPr/>
              <a:t>17</a:t>
            </a:fld>
            <a:endParaRPr lang="fr-CA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3788" cy="347345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721" y="4336217"/>
            <a:ext cx="5140960" cy="4183063"/>
          </a:xfrm>
          <a:ln/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75643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0FA5EF-695C-4ED5-873B-B014FAE16A9E}" type="slidenum">
              <a:rPr lang="fr-CA"/>
              <a:pPr/>
              <a:t>19</a:t>
            </a:fld>
            <a:endParaRPr lang="fr-CA" dirty="0"/>
          </a:p>
        </p:txBody>
      </p:sp>
      <p:sp>
        <p:nvSpPr>
          <p:cNvPr id="55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969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71FB5F-E0D1-405A-A1B4-F6389FA685CC}" type="slidenum">
              <a:rPr lang="fr-CA" smtClean="0"/>
              <a:pPr/>
              <a:t>20</a:t>
            </a:fld>
            <a:endParaRPr lang="fr-CA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3788" cy="347345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3273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80899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>
            <a:normAutofit/>
          </a:bodyPr>
          <a:lstStyle/>
          <a:p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E9E7E8-9653-4460-AC9E-80C8E3FAE5C3}" type="slidenum">
              <a:rPr lang="fr-CA" smtClean="0"/>
              <a:pPr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360345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B4D1AD-BC84-4AA7-8618-324453975ACA}" type="slidenum">
              <a:rPr lang="fr-CA" smtClean="0"/>
              <a:pPr>
                <a:defRPr/>
              </a:pPr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657554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D3EEB9-F7CD-4893-8261-213D161FA855}" type="slidenum">
              <a:rPr lang="fr-CA" smtClean="0"/>
              <a:pPr/>
              <a:t>23</a:t>
            </a:fld>
            <a:endParaRPr lang="fr-CA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041" y="4416427"/>
            <a:ext cx="5608320" cy="4183063"/>
          </a:xfrm>
          <a:noFill/>
          <a:ln/>
        </p:spPr>
        <p:txBody>
          <a:bodyPr>
            <a:normAutofit/>
          </a:bodyPr>
          <a:lstStyle/>
          <a:p>
            <a:pPr defTabSz="914400" eaLnBrk="1" hangingPunct="1"/>
            <a:endParaRPr lang="fr-CA" sz="1600" i="0" dirty="0">
              <a:latin typeface="Arial" panose="020B060402020202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1254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98D26B-2260-4516-8D9F-CF14695A9FAE}" type="slidenum">
              <a:rPr lang="fr-CA" smtClean="0"/>
              <a:pPr/>
              <a:t>24</a:t>
            </a:fld>
            <a:endParaRPr lang="fr-CA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041" y="4416427"/>
            <a:ext cx="5608320" cy="4183063"/>
          </a:xfrm>
          <a:noFill/>
          <a:ln/>
        </p:spPr>
        <p:txBody>
          <a:bodyPr>
            <a:normAutofit/>
          </a:bodyPr>
          <a:lstStyle/>
          <a:p>
            <a:pPr defTabSz="914400" eaLnBrk="1" hangingPunct="1"/>
            <a:endParaRPr lang="fr-CA" sz="1600" i="0" dirty="0">
              <a:latin typeface="Arial" panose="020B060402020202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245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51CB28-9AA9-462E-8F6C-B61CA65B6D0C}" type="slidenum">
              <a:rPr lang="fr-CA" smtClean="0"/>
              <a:pPr/>
              <a:t>25</a:t>
            </a:fld>
            <a:endParaRPr lang="fr-CA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041" y="4416427"/>
            <a:ext cx="5608320" cy="4183063"/>
          </a:xfrm>
          <a:noFill/>
          <a:ln/>
        </p:spPr>
        <p:txBody>
          <a:bodyPr>
            <a:normAutofit/>
          </a:bodyPr>
          <a:lstStyle/>
          <a:p>
            <a:pPr defTabSz="914400" eaLnBrk="1" hangingPunct="1"/>
            <a:endParaRPr lang="fr-CA" sz="1600" i="0" dirty="0">
              <a:latin typeface="Arial" panose="020B060402020202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96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fr-CA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B4D1AD-BC84-4AA7-8618-324453975ACA}" type="slidenum">
              <a:rPr lang="fr-CA" smtClean="0"/>
              <a:pPr>
                <a:defRPr/>
              </a:pPr>
              <a:t>26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645593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B4D1AD-BC84-4AA7-8618-324453975ACA}" type="slidenum">
              <a:rPr lang="fr-CA" smtClean="0"/>
              <a:pPr>
                <a:defRPr/>
              </a:pPr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713427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B4D1AD-BC84-4AA7-8618-324453975ACA}" type="slidenum">
              <a:rPr lang="fr-CA" smtClean="0"/>
              <a:pPr>
                <a:defRPr/>
              </a:pPr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759576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79875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240D4F-CE69-495C-BE7C-551FC42F653C}" type="slidenum">
              <a:rPr lang="fr-CA" smtClean="0"/>
              <a:pPr/>
              <a:t>29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381606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80899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E9E7E8-9653-4460-AC9E-80C8E3FAE5C3}" type="slidenum">
              <a:rPr lang="fr-CA" smtClean="0"/>
              <a:pPr/>
              <a:t>30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77364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B4D1AD-BC84-4AA7-8618-324453975ACA}" type="slidenum">
              <a:rPr lang="fr-CA" smtClean="0"/>
              <a:pPr>
                <a:defRPr/>
              </a:pPr>
              <a:t>31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08037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15" y="1432838"/>
            <a:ext cx="9096771" cy="379525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2000" y="1429200"/>
            <a:ext cx="5860000" cy="1458000"/>
          </a:xfrm>
          <a:solidFill>
            <a:schemeClr val="accent5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32000" y="2962656"/>
            <a:ext cx="5852000" cy="402336"/>
          </a:xfrm>
          <a:solidFill>
            <a:schemeClr val="accent5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Modifiez le style des sous-titres du masque</a:t>
            </a:r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112000" y="5385600"/>
            <a:ext cx="516000" cy="136800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lang="fr-CA" sz="67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3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5"/>
            <a:ext cx="2387999" cy="200055"/>
          </a:xfrm>
          <a:solidFill>
            <a:schemeClr val="accent5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25/06/26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79686"/>
            <a:ext cx="9096000" cy="822960"/>
          </a:xfrm>
        </p:spPr>
        <p:txBody>
          <a:bodyPr/>
          <a:lstStyle/>
          <a:p>
            <a:r>
              <a:rPr lang="fr-CA" noProof="0" dirty="0"/>
              <a:t>Click to </a:t>
            </a:r>
            <a:r>
              <a:rPr lang="fr-CA" noProof="0" dirty="0" err="1"/>
              <a:t>edit</a:t>
            </a:r>
            <a:r>
              <a:rPr lang="fr-CA" noProof="0" dirty="0"/>
              <a:t> </a:t>
            </a:r>
            <a:r>
              <a:rPr lang="fr-CA" noProof="0" dirty="0" err="1"/>
              <a:t>title</a:t>
            </a:r>
            <a:r>
              <a:rPr lang="fr-CA" noProof="0" dirty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32000" y="1577687"/>
            <a:ext cx="9096000" cy="3187989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E98D-278E-4B48-81DC-1D1D6F61A9AE}" type="datetime3">
              <a:rPr lang="fr-CA" noProof="0" smtClean="0"/>
              <a:pPr/>
              <a:t>25/06/26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84528" y="4765675"/>
            <a:ext cx="10160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1670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291183" y="3453140"/>
            <a:ext cx="7336817" cy="14447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6489959" y="1404500"/>
            <a:ext cx="3138424" cy="197318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1429199"/>
            <a:ext cx="5860000" cy="1458000"/>
          </a:xfrm>
          <a:solidFill>
            <a:schemeClr val="accent5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2962656"/>
            <a:ext cx="5852000" cy="402336"/>
          </a:xfrm>
          <a:solidFill>
            <a:schemeClr val="accent5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7279209-565D-4FE5-A4C8-60294C4337D1}" type="datetime3">
              <a:rPr lang="fr-CA" noProof="0" smtClean="0"/>
              <a:pPr/>
              <a:t>25/06/26</a:t>
            </a:fld>
            <a:endParaRPr lang="fr-CA" noProof="0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 noProof="0" dirty="0"/>
          </a:p>
        </p:txBody>
      </p:sp>
      <p:pic>
        <p:nvPicPr>
          <p:cNvPr id="13" name="Image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1" r="1"/>
          <a:stretch/>
        </p:blipFill>
        <p:spPr>
          <a:xfrm>
            <a:off x="6479592" y="1432838"/>
            <a:ext cx="3148793" cy="194484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532000" y="3453139"/>
            <a:ext cx="1686613" cy="1454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12" name="Imag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23361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08000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64667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A514-E663-440D-A703-C1929B51DE22}" type="datetime3">
              <a:rPr lang="fr-CA" noProof="0" smtClean="0"/>
              <a:pPr/>
              <a:t>25/06/26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8701"/>
            <a:ext cx="9096000" cy="820499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1511301"/>
            <a:ext cx="4489098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8000" y="2044436"/>
            <a:ext cx="4489098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61141" y="1511301"/>
            <a:ext cx="4490861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61141" y="2044436"/>
            <a:ext cx="4490861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16E7-490B-4714-8F6A-CB8983A282D6}" type="datetime3">
              <a:rPr lang="fr-CA" noProof="0" smtClean="0"/>
              <a:pPr/>
              <a:t>25/06/26</a:t>
            </a:fld>
            <a:endParaRPr lang="fr-CA" noProof="0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19775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B762-E697-4018-87D8-E18EB218C2D2}" type="datetime3">
              <a:rPr lang="fr-CA" noProof="0" smtClean="0"/>
              <a:pPr/>
              <a:t>25/06/26</a:t>
            </a:fld>
            <a:endParaRPr lang="fr-CA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0E55-1E82-4F9D-9A31-87D72CF5D459}" type="datetime3">
              <a:rPr lang="fr-CA" noProof="0" smtClean="0"/>
              <a:pPr/>
              <a:t>25/06/26</a:t>
            </a:fld>
            <a:endParaRPr lang="fr-CA" noProof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7193"/>
            <a:ext cx="9096000" cy="822008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6000" y="1504401"/>
            <a:ext cx="5664000" cy="3261275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04401"/>
            <a:ext cx="3320000" cy="3261275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D5D3E-5FA6-4B80-B8ED-591F9019CE46}" type="datetime3">
              <a:rPr lang="fr-CA" noProof="0" smtClean="0"/>
              <a:pPr/>
              <a:t>25/06/26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9727"/>
            <a:ext cx="9096000" cy="822950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32000" y="2065077"/>
            <a:ext cx="9088000" cy="2700598"/>
          </a:xfrm>
        </p:spPr>
        <p:txBody>
          <a:bodyPr>
            <a:normAutofit/>
          </a:bodyPr>
          <a:lstStyle>
            <a:lvl1pPr marL="0" indent="0">
              <a:buNone/>
              <a:defRPr sz="167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17877"/>
            <a:ext cx="9088000" cy="522000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5B85D-2B3C-4B71-8CBC-BB628A84F8F8}" type="datetime3">
              <a:rPr lang="fr-CA" noProof="0" smtClean="0"/>
              <a:pPr/>
              <a:t>25/06/26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F50AF-7441-4134-B26A-ECC8A96B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99" y="485192"/>
            <a:ext cx="8058197" cy="827486"/>
          </a:xfrm>
          <a:solidFill>
            <a:schemeClr val="accent6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44377D-FC82-4902-BD97-53EC4039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25/06/26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3FF39F-B286-4C16-8269-F7A81DA1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187C17-F2E3-4902-9E3A-65B783B4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D1CDB22-3B0B-4322-9BBB-9F2293122B4E}"/>
              </a:ext>
            </a:extLst>
          </p:cNvPr>
          <p:cNvGrpSpPr/>
          <p:nvPr userDrawn="1"/>
        </p:nvGrpSpPr>
        <p:grpSpPr>
          <a:xfrm>
            <a:off x="8688000" y="495353"/>
            <a:ext cx="940000" cy="847331"/>
            <a:chOff x="9122160" y="387054"/>
            <a:chExt cx="846000" cy="847331"/>
          </a:xfrm>
        </p:grpSpPr>
        <p:pic>
          <p:nvPicPr>
            <p:cNvPr id="7" name="Graphique 6" descr="Crayon">
              <a:extLst>
                <a:ext uri="{FF2B5EF4-FFF2-40B4-BE49-F238E27FC236}">
                  <a16:creationId xmlns:a16="http://schemas.microsoft.com/office/drawing/2014/main" id="{DDBF18FB-FE66-423A-A7D4-B79FBBBC4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1578" y="527500"/>
              <a:ext cx="566438" cy="566438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57AEEEB-351B-4025-8578-96B183CF9D99}"/>
                </a:ext>
              </a:extLst>
            </p:cNvPr>
            <p:cNvSpPr/>
            <p:nvPr/>
          </p:nvSpPr>
          <p:spPr>
            <a:xfrm>
              <a:off x="9122160" y="387054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800"/>
            </a:p>
          </p:txBody>
        </p:sp>
      </p:grpSp>
    </p:spTree>
    <p:extLst>
      <p:ext uri="{BB962C8B-B14F-4D97-AF65-F5344CB8AC3E}">
        <p14:creationId xmlns:p14="http://schemas.microsoft.com/office/powerpoint/2010/main" val="35846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5027F-A0D3-4AB9-84F3-FB2D41690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3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9717D0-6BE4-4CEC-B56A-8B457758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25/06/26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524FFF-475C-4BFE-954F-C687108D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87481D-310A-4B06-B0A3-60770912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C38B7538-B649-4420-B53D-0893556BF313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7339A3EF-4528-46A0-8103-1D4A72CB1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28460B3C-4E63-4A6E-B367-A95CD1A637BD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1740170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94F1F0-0C83-423A-9627-7F4F21B4D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4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605483-8545-43AB-9D82-BECBE68A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25/06/26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9B70E9-B1BE-4B33-BD97-A5864404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A96B83-5363-4969-8925-62B9E6BD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9152BD61-BE8A-45EF-9990-8B54915CF287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EB97E7FB-98CD-4166-9B66-C5C7DFC94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704B6938-F664-404B-A6FB-3ED61F28D7B0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294457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7645" y="0"/>
            <a:ext cx="7907177" cy="897698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425224" y="1508125"/>
            <a:ext cx="4102806" cy="381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697363" y="1508125"/>
            <a:ext cx="4102806" cy="381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56408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3727" y="0"/>
            <a:ext cx="7921094" cy="897698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1425222" y="1508125"/>
            <a:ext cx="8374944" cy="381000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10461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/>
          </p:nvPr>
        </p:nvSpPr>
        <p:spPr>
          <a:xfrm>
            <a:off x="795516" y="1"/>
            <a:ext cx="9004652" cy="53181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75059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re et contenu sur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95516" y="1"/>
            <a:ext cx="7849306" cy="877094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095377" y="1205180"/>
            <a:ext cx="8704791" cy="19923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095377" y="3324491"/>
            <a:ext cx="8704791" cy="199363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9490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32000" y="485192"/>
            <a:ext cx="9096000" cy="82748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1517877"/>
            <a:ext cx="9096000" cy="3247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 dirty="0"/>
              <a:t>Cliquez pour modifier les styles du texte du masque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4000" y="5384996"/>
            <a:ext cx="2370667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0">
                <a:solidFill>
                  <a:schemeClr val="accent2"/>
                </a:solidFill>
              </a:defRPr>
            </a:lvl1pPr>
          </a:lstStyle>
          <a:p>
            <a:fld id="{98FD3BE9-B61A-496B-9E53-6BE29CAA7F7D}" type="datetime3">
              <a:rPr lang="fr-CA" noProof="0" smtClean="0"/>
              <a:pPr/>
              <a:t>25/06/26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71334" y="5384996"/>
            <a:ext cx="3217333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0">
                <a:solidFill>
                  <a:schemeClr val="accent2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0">
                <a:solidFill>
                  <a:schemeClr val="accent2"/>
                </a:solidFill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548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1pPr>
      <a:lvl2pPr marL="453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2pPr>
      <a:lvl3pPr marL="752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3pPr>
      <a:lvl4pPr marL="1047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4pPr>
      <a:lvl5pPr marL="1346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0.png"/><Relationship Id="rId5" Type="http://schemas.openxmlformats.org/officeDocument/2006/relationships/slide" Target="slide4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8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40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commons.wikimedia.org/wiki/File:Six_sigma-0.svg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OPER10500</a:t>
            </a:r>
            <a:br>
              <a:rPr lang="fr-CA" dirty="0"/>
            </a:br>
            <a:r>
              <a:rPr lang="fr-CA" dirty="0"/>
              <a:t>Gestion des opérations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Gestion de la qualité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532000" y="5023548"/>
            <a:ext cx="5353729" cy="200055"/>
          </a:xfrm>
        </p:spPr>
        <p:txBody>
          <a:bodyPr/>
          <a:lstStyle/>
          <a:p>
            <a:r>
              <a:rPr lang="fr-CA" sz="1050" dirty="0"/>
              <a:t>© 2025 Département de gestion des opérations et de la logistique</a:t>
            </a:r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A" sz="1600" i="1" dirty="0"/>
              <a:t>Discussion</a:t>
            </a:r>
            <a:br>
              <a:rPr lang="fr-CA" dirty="0"/>
            </a:br>
            <a:r>
              <a:rPr lang="fr-CA" dirty="0"/>
              <a:t>Comment définit-on la qualité?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869" y="1381759"/>
            <a:ext cx="2131361" cy="1692073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00" y="3457346"/>
            <a:ext cx="2946326" cy="153454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550" y="3405982"/>
            <a:ext cx="2116251" cy="153034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000" y="1440700"/>
            <a:ext cx="2240108" cy="1504676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906" y="1393862"/>
            <a:ext cx="2184165" cy="163846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417" y="3350422"/>
            <a:ext cx="2463165" cy="164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7079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9" name="Image 8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8906C563-E5F2-4CC7-9AC3-305B64E40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587" y="1395839"/>
            <a:ext cx="6404372" cy="3961223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Zoom de diapositive 3">
                <a:extLst>
                  <a:ext uri="{FF2B5EF4-FFF2-40B4-BE49-F238E27FC236}">
                    <a16:creationId xmlns:a16="http://schemas.microsoft.com/office/drawing/2014/main" id="{F341F1A7-D900-4545-8D7A-B4C98F4978F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4806044"/>
                  </p:ext>
                </p:extLst>
              </p:nvPr>
            </p:nvGraphicFramePr>
            <p:xfrm>
              <a:off x="1178412" y="3624980"/>
              <a:ext cx="1888351" cy="1180219"/>
            </p:xfrm>
            <a:graphic>
              <a:graphicData uri="http://schemas.microsoft.com/office/powerpoint/2016/slidezoom">
                <pslz:sldZm>
                  <pslz:sldZmObj sldId="400" cId="2599408573">
                    <pslz:zmPr id="{D0411F09-2F21-477D-8AAE-5F6F662EAC05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88351" cy="118021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Zoom de diapositive 3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F341F1A7-D900-4545-8D7A-B4C98F4978F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8412" y="3624980"/>
                <a:ext cx="1888351" cy="118021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9215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429496729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4" t="27592" r="2837" b="28379"/>
          <a:stretch/>
        </p:blipFill>
        <p:spPr>
          <a:xfrm>
            <a:off x="986800" y="1775013"/>
            <a:ext cx="8137100" cy="2928791"/>
          </a:xfrm>
        </p:spPr>
      </p:pic>
    </p:spTree>
    <p:extLst>
      <p:ext uri="{BB962C8B-B14F-4D97-AF65-F5344CB8AC3E}">
        <p14:creationId xmlns:p14="http://schemas.microsoft.com/office/powerpoint/2010/main" val="259940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eaLnBrk="1" hangingPunct="1"/>
            <a:r>
              <a:rPr lang="fr-CA" dirty="0"/>
              <a:t>Les coûts totaux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323C025D-EA52-42B2-87BD-D29E19954657}"/>
              </a:ext>
            </a:extLst>
          </p:cNvPr>
          <p:cNvSpPr/>
          <p:nvPr/>
        </p:nvSpPr>
        <p:spPr>
          <a:xfrm>
            <a:off x="7289032" y="3141799"/>
            <a:ext cx="1112683" cy="52953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60863"/>
                </a:lnTo>
                <a:lnTo>
                  <a:pt x="1112683" y="360863"/>
                </a:lnTo>
                <a:lnTo>
                  <a:pt x="1112683" y="529536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56787141-36D0-4226-B0EA-EEF912935338}"/>
              </a:ext>
            </a:extLst>
          </p:cNvPr>
          <p:cNvSpPr/>
          <p:nvPr/>
        </p:nvSpPr>
        <p:spPr>
          <a:xfrm>
            <a:off x="6176349" y="3141799"/>
            <a:ext cx="1112683" cy="52953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112683" y="0"/>
                </a:moveTo>
                <a:lnTo>
                  <a:pt x="1112683" y="360863"/>
                </a:lnTo>
                <a:lnTo>
                  <a:pt x="0" y="360863"/>
                </a:lnTo>
                <a:lnTo>
                  <a:pt x="0" y="529536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21D90A4E-7AE6-43FC-8FF6-9E8CAF3D2272}"/>
              </a:ext>
            </a:extLst>
          </p:cNvPr>
          <p:cNvSpPr/>
          <p:nvPr/>
        </p:nvSpPr>
        <p:spPr>
          <a:xfrm>
            <a:off x="2838298" y="3141799"/>
            <a:ext cx="1112683" cy="52953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60863"/>
                </a:lnTo>
                <a:lnTo>
                  <a:pt x="1112683" y="360863"/>
                </a:lnTo>
                <a:lnTo>
                  <a:pt x="1112683" y="529536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3D95B450-8C59-4EF6-AE07-3FCFE62B6632}"/>
              </a:ext>
            </a:extLst>
          </p:cNvPr>
          <p:cNvSpPr/>
          <p:nvPr/>
        </p:nvSpPr>
        <p:spPr>
          <a:xfrm>
            <a:off x="1725615" y="3141799"/>
            <a:ext cx="1112683" cy="52953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112683" y="0"/>
                </a:moveTo>
                <a:lnTo>
                  <a:pt x="1112683" y="360863"/>
                </a:lnTo>
                <a:lnTo>
                  <a:pt x="0" y="360863"/>
                </a:lnTo>
                <a:lnTo>
                  <a:pt x="0" y="529536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5FC3065F-9B2A-4205-BC7D-F50AFAFEE6B0}"/>
              </a:ext>
            </a:extLst>
          </p:cNvPr>
          <p:cNvSpPr/>
          <p:nvPr/>
        </p:nvSpPr>
        <p:spPr>
          <a:xfrm>
            <a:off x="2130227" y="2177810"/>
            <a:ext cx="1820754" cy="1156179"/>
          </a:xfrm>
          <a:custGeom>
            <a:avLst/>
            <a:gdLst>
              <a:gd name="connsiteX0" fmla="*/ 0 w 1820754"/>
              <a:gd name="connsiteY0" fmla="*/ 115618 h 1156179"/>
              <a:gd name="connsiteX1" fmla="*/ 115618 w 1820754"/>
              <a:gd name="connsiteY1" fmla="*/ 0 h 1156179"/>
              <a:gd name="connsiteX2" fmla="*/ 1705136 w 1820754"/>
              <a:gd name="connsiteY2" fmla="*/ 0 h 1156179"/>
              <a:gd name="connsiteX3" fmla="*/ 1820754 w 1820754"/>
              <a:gd name="connsiteY3" fmla="*/ 115618 h 1156179"/>
              <a:gd name="connsiteX4" fmla="*/ 1820754 w 1820754"/>
              <a:gd name="connsiteY4" fmla="*/ 1040561 h 1156179"/>
              <a:gd name="connsiteX5" fmla="*/ 1705136 w 1820754"/>
              <a:gd name="connsiteY5" fmla="*/ 1156179 h 1156179"/>
              <a:gd name="connsiteX6" fmla="*/ 115618 w 1820754"/>
              <a:gd name="connsiteY6" fmla="*/ 1156179 h 1156179"/>
              <a:gd name="connsiteX7" fmla="*/ 0 w 1820754"/>
              <a:gd name="connsiteY7" fmla="*/ 1040561 h 1156179"/>
              <a:gd name="connsiteX8" fmla="*/ 0 w 1820754"/>
              <a:gd name="connsiteY8" fmla="*/ 115618 h 1156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0754" h="1156179">
                <a:moveTo>
                  <a:pt x="0" y="115618"/>
                </a:moveTo>
                <a:cubicBezTo>
                  <a:pt x="0" y="51764"/>
                  <a:pt x="51764" y="0"/>
                  <a:pt x="115618" y="0"/>
                </a:cubicBezTo>
                <a:lnTo>
                  <a:pt x="1705136" y="0"/>
                </a:lnTo>
                <a:cubicBezTo>
                  <a:pt x="1768990" y="0"/>
                  <a:pt x="1820754" y="51764"/>
                  <a:pt x="1820754" y="115618"/>
                </a:cubicBezTo>
                <a:lnTo>
                  <a:pt x="1820754" y="1040561"/>
                </a:lnTo>
                <a:cubicBezTo>
                  <a:pt x="1820754" y="1104415"/>
                  <a:pt x="1768990" y="1156179"/>
                  <a:pt x="1705136" y="1156179"/>
                </a:cubicBezTo>
                <a:lnTo>
                  <a:pt x="115618" y="1156179"/>
                </a:lnTo>
                <a:cubicBezTo>
                  <a:pt x="51764" y="1156179"/>
                  <a:pt x="0" y="1104415"/>
                  <a:pt x="0" y="1040561"/>
                </a:cubicBezTo>
                <a:lnTo>
                  <a:pt x="0" y="11561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02443" tIns="102443" rIns="102443" bIns="102443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CA" b="1"/>
              <a:t>Coûts de la qualité</a:t>
            </a:r>
            <a:endParaRPr lang="fr-CA" b="1" kern="120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D4C4364B-DEB6-4B35-A00A-4543687BCEB0}"/>
              </a:ext>
            </a:extLst>
          </p:cNvPr>
          <p:cNvSpPr/>
          <p:nvPr/>
        </p:nvSpPr>
        <p:spPr>
          <a:xfrm>
            <a:off x="729344" y="3671335"/>
            <a:ext cx="1906648" cy="1564695"/>
          </a:xfrm>
          <a:custGeom>
            <a:avLst/>
            <a:gdLst>
              <a:gd name="connsiteX0" fmla="*/ 0 w 1820754"/>
              <a:gd name="connsiteY0" fmla="*/ 115618 h 1156179"/>
              <a:gd name="connsiteX1" fmla="*/ 115618 w 1820754"/>
              <a:gd name="connsiteY1" fmla="*/ 0 h 1156179"/>
              <a:gd name="connsiteX2" fmla="*/ 1705136 w 1820754"/>
              <a:gd name="connsiteY2" fmla="*/ 0 h 1156179"/>
              <a:gd name="connsiteX3" fmla="*/ 1820754 w 1820754"/>
              <a:gd name="connsiteY3" fmla="*/ 115618 h 1156179"/>
              <a:gd name="connsiteX4" fmla="*/ 1820754 w 1820754"/>
              <a:gd name="connsiteY4" fmla="*/ 1040561 h 1156179"/>
              <a:gd name="connsiteX5" fmla="*/ 1705136 w 1820754"/>
              <a:gd name="connsiteY5" fmla="*/ 1156179 h 1156179"/>
              <a:gd name="connsiteX6" fmla="*/ 115618 w 1820754"/>
              <a:gd name="connsiteY6" fmla="*/ 1156179 h 1156179"/>
              <a:gd name="connsiteX7" fmla="*/ 0 w 1820754"/>
              <a:gd name="connsiteY7" fmla="*/ 1040561 h 1156179"/>
              <a:gd name="connsiteX8" fmla="*/ 0 w 1820754"/>
              <a:gd name="connsiteY8" fmla="*/ 115618 h 1156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0754" h="1156179">
                <a:moveTo>
                  <a:pt x="0" y="115618"/>
                </a:moveTo>
                <a:cubicBezTo>
                  <a:pt x="0" y="51764"/>
                  <a:pt x="51764" y="0"/>
                  <a:pt x="115618" y="0"/>
                </a:cubicBezTo>
                <a:lnTo>
                  <a:pt x="1705136" y="0"/>
                </a:lnTo>
                <a:cubicBezTo>
                  <a:pt x="1768990" y="0"/>
                  <a:pt x="1820754" y="51764"/>
                  <a:pt x="1820754" y="115618"/>
                </a:cubicBezTo>
                <a:lnTo>
                  <a:pt x="1820754" y="1040561"/>
                </a:lnTo>
                <a:cubicBezTo>
                  <a:pt x="1820754" y="1104415"/>
                  <a:pt x="1768990" y="1156179"/>
                  <a:pt x="1705136" y="1156179"/>
                </a:cubicBezTo>
                <a:lnTo>
                  <a:pt x="115618" y="1156179"/>
                </a:lnTo>
                <a:cubicBezTo>
                  <a:pt x="51764" y="1156179"/>
                  <a:pt x="0" y="1104415"/>
                  <a:pt x="0" y="1040561"/>
                </a:cubicBezTo>
                <a:lnTo>
                  <a:pt x="0" y="115618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CA" sz="1670" b="1">
                <a:solidFill>
                  <a:schemeClr val="tx1"/>
                </a:solidFill>
              </a:rPr>
              <a:t>Coûts de prévention</a:t>
            </a:r>
          </a:p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CA" sz="1500">
                <a:solidFill>
                  <a:schemeClr val="tx1"/>
                </a:solidFill>
              </a:rPr>
              <a:t>(formation, surveillance, programmes d’amélioration)</a:t>
            </a:r>
            <a:endParaRPr lang="fr-CA" sz="1500" b="1">
              <a:solidFill>
                <a:schemeClr val="tx1"/>
              </a:solidFill>
            </a:endParaRPr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745D3216-0143-429A-8F19-70134BF8DE98}"/>
              </a:ext>
            </a:extLst>
          </p:cNvPr>
          <p:cNvSpPr/>
          <p:nvPr/>
        </p:nvSpPr>
        <p:spPr>
          <a:xfrm>
            <a:off x="3074469" y="3671334"/>
            <a:ext cx="1906648" cy="1554669"/>
          </a:xfrm>
          <a:custGeom>
            <a:avLst/>
            <a:gdLst>
              <a:gd name="connsiteX0" fmla="*/ 0 w 1820754"/>
              <a:gd name="connsiteY0" fmla="*/ 115618 h 1156179"/>
              <a:gd name="connsiteX1" fmla="*/ 115618 w 1820754"/>
              <a:gd name="connsiteY1" fmla="*/ 0 h 1156179"/>
              <a:gd name="connsiteX2" fmla="*/ 1705136 w 1820754"/>
              <a:gd name="connsiteY2" fmla="*/ 0 h 1156179"/>
              <a:gd name="connsiteX3" fmla="*/ 1820754 w 1820754"/>
              <a:gd name="connsiteY3" fmla="*/ 115618 h 1156179"/>
              <a:gd name="connsiteX4" fmla="*/ 1820754 w 1820754"/>
              <a:gd name="connsiteY4" fmla="*/ 1040561 h 1156179"/>
              <a:gd name="connsiteX5" fmla="*/ 1705136 w 1820754"/>
              <a:gd name="connsiteY5" fmla="*/ 1156179 h 1156179"/>
              <a:gd name="connsiteX6" fmla="*/ 115618 w 1820754"/>
              <a:gd name="connsiteY6" fmla="*/ 1156179 h 1156179"/>
              <a:gd name="connsiteX7" fmla="*/ 0 w 1820754"/>
              <a:gd name="connsiteY7" fmla="*/ 1040561 h 1156179"/>
              <a:gd name="connsiteX8" fmla="*/ 0 w 1820754"/>
              <a:gd name="connsiteY8" fmla="*/ 115618 h 1156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0754" h="1156179">
                <a:moveTo>
                  <a:pt x="0" y="115618"/>
                </a:moveTo>
                <a:cubicBezTo>
                  <a:pt x="0" y="51764"/>
                  <a:pt x="51764" y="0"/>
                  <a:pt x="115618" y="0"/>
                </a:cubicBezTo>
                <a:lnTo>
                  <a:pt x="1705136" y="0"/>
                </a:lnTo>
                <a:cubicBezTo>
                  <a:pt x="1768990" y="0"/>
                  <a:pt x="1820754" y="51764"/>
                  <a:pt x="1820754" y="115618"/>
                </a:cubicBezTo>
                <a:lnTo>
                  <a:pt x="1820754" y="1040561"/>
                </a:lnTo>
                <a:cubicBezTo>
                  <a:pt x="1820754" y="1104415"/>
                  <a:pt x="1768990" y="1156179"/>
                  <a:pt x="1705136" y="1156179"/>
                </a:cubicBezTo>
                <a:lnTo>
                  <a:pt x="115618" y="1156179"/>
                </a:lnTo>
                <a:cubicBezTo>
                  <a:pt x="51764" y="1156179"/>
                  <a:pt x="0" y="1104415"/>
                  <a:pt x="0" y="1040561"/>
                </a:cubicBezTo>
                <a:lnTo>
                  <a:pt x="0" y="115618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CA" sz="1670" b="1">
                <a:solidFill>
                  <a:schemeClr val="tx1"/>
                </a:solidFill>
              </a:rPr>
              <a:t>Coûts de contrôle</a:t>
            </a:r>
          </a:p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CA" sz="1500">
                <a:solidFill>
                  <a:schemeClr val="tx1"/>
                </a:solidFill>
              </a:rPr>
              <a:t>(inspection, mesures,vérification)</a:t>
            </a:r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F020709C-951F-4787-B85E-160185CB9956}"/>
              </a:ext>
            </a:extLst>
          </p:cNvPr>
          <p:cNvSpPr/>
          <p:nvPr/>
        </p:nvSpPr>
        <p:spPr>
          <a:xfrm>
            <a:off x="6580961" y="2177810"/>
            <a:ext cx="1820754" cy="1156179"/>
          </a:xfrm>
          <a:custGeom>
            <a:avLst/>
            <a:gdLst>
              <a:gd name="connsiteX0" fmla="*/ 0 w 1820754"/>
              <a:gd name="connsiteY0" fmla="*/ 115618 h 1156179"/>
              <a:gd name="connsiteX1" fmla="*/ 115618 w 1820754"/>
              <a:gd name="connsiteY1" fmla="*/ 0 h 1156179"/>
              <a:gd name="connsiteX2" fmla="*/ 1705136 w 1820754"/>
              <a:gd name="connsiteY2" fmla="*/ 0 h 1156179"/>
              <a:gd name="connsiteX3" fmla="*/ 1820754 w 1820754"/>
              <a:gd name="connsiteY3" fmla="*/ 115618 h 1156179"/>
              <a:gd name="connsiteX4" fmla="*/ 1820754 w 1820754"/>
              <a:gd name="connsiteY4" fmla="*/ 1040561 h 1156179"/>
              <a:gd name="connsiteX5" fmla="*/ 1705136 w 1820754"/>
              <a:gd name="connsiteY5" fmla="*/ 1156179 h 1156179"/>
              <a:gd name="connsiteX6" fmla="*/ 115618 w 1820754"/>
              <a:gd name="connsiteY6" fmla="*/ 1156179 h 1156179"/>
              <a:gd name="connsiteX7" fmla="*/ 0 w 1820754"/>
              <a:gd name="connsiteY7" fmla="*/ 1040561 h 1156179"/>
              <a:gd name="connsiteX8" fmla="*/ 0 w 1820754"/>
              <a:gd name="connsiteY8" fmla="*/ 115618 h 1156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0754" h="1156179">
                <a:moveTo>
                  <a:pt x="0" y="115618"/>
                </a:moveTo>
                <a:cubicBezTo>
                  <a:pt x="0" y="51764"/>
                  <a:pt x="51764" y="0"/>
                  <a:pt x="115618" y="0"/>
                </a:cubicBezTo>
                <a:lnTo>
                  <a:pt x="1705136" y="0"/>
                </a:lnTo>
                <a:cubicBezTo>
                  <a:pt x="1768990" y="0"/>
                  <a:pt x="1820754" y="51764"/>
                  <a:pt x="1820754" y="115618"/>
                </a:cubicBezTo>
                <a:lnTo>
                  <a:pt x="1820754" y="1040561"/>
                </a:lnTo>
                <a:cubicBezTo>
                  <a:pt x="1820754" y="1104415"/>
                  <a:pt x="1768990" y="1156179"/>
                  <a:pt x="1705136" y="1156179"/>
                </a:cubicBezTo>
                <a:lnTo>
                  <a:pt x="115618" y="1156179"/>
                </a:lnTo>
                <a:cubicBezTo>
                  <a:pt x="51764" y="1156179"/>
                  <a:pt x="0" y="1104415"/>
                  <a:pt x="0" y="1040561"/>
                </a:cubicBezTo>
                <a:lnTo>
                  <a:pt x="0" y="11561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02443" tIns="102443" rIns="102443" bIns="102443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CA" b="1" kern="1200"/>
              <a:t>Coûts de la non-qualité</a:t>
            </a:r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F1C2B3F0-C8D8-4AB5-8429-2FCF5776D967}"/>
              </a:ext>
            </a:extLst>
          </p:cNvPr>
          <p:cNvSpPr/>
          <p:nvPr/>
        </p:nvSpPr>
        <p:spPr>
          <a:xfrm>
            <a:off x="5295773" y="3681361"/>
            <a:ext cx="1906648" cy="1554669"/>
          </a:xfrm>
          <a:custGeom>
            <a:avLst/>
            <a:gdLst>
              <a:gd name="connsiteX0" fmla="*/ 0 w 1820754"/>
              <a:gd name="connsiteY0" fmla="*/ 115618 h 1156179"/>
              <a:gd name="connsiteX1" fmla="*/ 115618 w 1820754"/>
              <a:gd name="connsiteY1" fmla="*/ 0 h 1156179"/>
              <a:gd name="connsiteX2" fmla="*/ 1705136 w 1820754"/>
              <a:gd name="connsiteY2" fmla="*/ 0 h 1156179"/>
              <a:gd name="connsiteX3" fmla="*/ 1820754 w 1820754"/>
              <a:gd name="connsiteY3" fmla="*/ 115618 h 1156179"/>
              <a:gd name="connsiteX4" fmla="*/ 1820754 w 1820754"/>
              <a:gd name="connsiteY4" fmla="*/ 1040561 h 1156179"/>
              <a:gd name="connsiteX5" fmla="*/ 1705136 w 1820754"/>
              <a:gd name="connsiteY5" fmla="*/ 1156179 h 1156179"/>
              <a:gd name="connsiteX6" fmla="*/ 115618 w 1820754"/>
              <a:gd name="connsiteY6" fmla="*/ 1156179 h 1156179"/>
              <a:gd name="connsiteX7" fmla="*/ 0 w 1820754"/>
              <a:gd name="connsiteY7" fmla="*/ 1040561 h 1156179"/>
              <a:gd name="connsiteX8" fmla="*/ 0 w 1820754"/>
              <a:gd name="connsiteY8" fmla="*/ 115618 h 1156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0754" h="1156179">
                <a:moveTo>
                  <a:pt x="0" y="115618"/>
                </a:moveTo>
                <a:cubicBezTo>
                  <a:pt x="0" y="51764"/>
                  <a:pt x="51764" y="0"/>
                  <a:pt x="115618" y="0"/>
                </a:cubicBezTo>
                <a:lnTo>
                  <a:pt x="1705136" y="0"/>
                </a:lnTo>
                <a:cubicBezTo>
                  <a:pt x="1768990" y="0"/>
                  <a:pt x="1820754" y="51764"/>
                  <a:pt x="1820754" y="115618"/>
                </a:cubicBezTo>
                <a:lnTo>
                  <a:pt x="1820754" y="1040561"/>
                </a:lnTo>
                <a:cubicBezTo>
                  <a:pt x="1820754" y="1104415"/>
                  <a:pt x="1768990" y="1156179"/>
                  <a:pt x="1705136" y="1156179"/>
                </a:cubicBezTo>
                <a:lnTo>
                  <a:pt x="115618" y="1156179"/>
                </a:lnTo>
                <a:cubicBezTo>
                  <a:pt x="51764" y="1156179"/>
                  <a:pt x="0" y="1104415"/>
                  <a:pt x="0" y="1040561"/>
                </a:cubicBezTo>
                <a:lnTo>
                  <a:pt x="0" y="115618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1" algn="ctr">
              <a:lnSpc>
                <a:spcPct val="90000"/>
              </a:lnSpc>
              <a:spcAft>
                <a:spcPts val="400"/>
              </a:spcAft>
            </a:pPr>
            <a:r>
              <a:rPr lang="fr-CA" sz="1670" b="1">
                <a:solidFill>
                  <a:schemeClr val="tx1"/>
                </a:solidFill>
              </a:rPr>
              <a:t>Coûts de défaillance interne</a:t>
            </a:r>
          </a:p>
          <a:p>
            <a:pPr marL="0" lvl="1" algn="ctr">
              <a:lnSpc>
                <a:spcPct val="90000"/>
              </a:lnSpc>
              <a:spcAft>
                <a:spcPts val="400"/>
              </a:spcAft>
            </a:pPr>
            <a:r>
              <a:rPr lang="fr-CA" sz="1500">
                <a:solidFill>
                  <a:schemeClr val="tx1"/>
                </a:solidFill>
              </a:rPr>
              <a:t>(avant livraison au client…, </a:t>
            </a:r>
            <a:r>
              <a:rPr lang="fr-CA" sz="1500"/>
              <a:t>remise en fabrication, pertes, temps)</a:t>
            </a:r>
            <a:endParaRPr lang="fr-CA" sz="1500">
              <a:solidFill>
                <a:schemeClr val="tx1"/>
              </a:solidFill>
            </a:endParaRPr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96B7234D-44EA-4BC1-AF0D-E6CF081616FA}"/>
              </a:ext>
            </a:extLst>
          </p:cNvPr>
          <p:cNvSpPr/>
          <p:nvPr/>
        </p:nvSpPr>
        <p:spPr>
          <a:xfrm>
            <a:off x="7525202" y="3681361"/>
            <a:ext cx="1906648" cy="1554669"/>
          </a:xfrm>
          <a:custGeom>
            <a:avLst/>
            <a:gdLst>
              <a:gd name="connsiteX0" fmla="*/ 0 w 1820754"/>
              <a:gd name="connsiteY0" fmla="*/ 115618 h 1156179"/>
              <a:gd name="connsiteX1" fmla="*/ 115618 w 1820754"/>
              <a:gd name="connsiteY1" fmla="*/ 0 h 1156179"/>
              <a:gd name="connsiteX2" fmla="*/ 1705136 w 1820754"/>
              <a:gd name="connsiteY2" fmla="*/ 0 h 1156179"/>
              <a:gd name="connsiteX3" fmla="*/ 1820754 w 1820754"/>
              <a:gd name="connsiteY3" fmla="*/ 115618 h 1156179"/>
              <a:gd name="connsiteX4" fmla="*/ 1820754 w 1820754"/>
              <a:gd name="connsiteY4" fmla="*/ 1040561 h 1156179"/>
              <a:gd name="connsiteX5" fmla="*/ 1705136 w 1820754"/>
              <a:gd name="connsiteY5" fmla="*/ 1156179 h 1156179"/>
              <a:gd name="connsiteX6" fmla="*/ 115618 w 1820754"/>
              <a:gd name="connsiteY6" fmla="*/ 1156179 h 1156179"/>
              <a:gd name="connsiteX7" fmla="*/ 0 w 1820754"/>
              <a:gd name="connsiteY7" fmla="*/ 1040561 h 1156179"/>
              <a:gd name="connsiteX8" fmla="*/ 0 w 1820754"/>
              <a:gd name="connsiteY8" fmla="*/ 115618 h 1156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0754" h="1156179">
                <a:moveTo>
                  <a:pt x="0" y="115618"/>
                </a:moveTo>
                <a:cubicBezTo>
                  <a:pt x="0" y="51764"/>
                  <a:pt x="51764" y="0"/>
                  <a:pt x="115618" y="0"/>
                </a:cubicBezTo>
                <a:lnTo>
                  <a:pt x="1705136" y="0"/>
                </a:lnTo>
                <a:cubicBezTo>
                  <a:pt x="1768990" y="0"/>
                  <a:pt x="1820754" y="51764"/>
                  <a:pt x="1820754" y="115618"/>
                </a:cubicBezTo>
                <a:lnTo>
                  <a:pt x="1820754" y="1040561"/>
                </a:lnTo>
                <a:cubicBezTo>
                  <a:pt x="1820754" y="1104415"/>
                  <a:pt x="1768990" y="1156179"/>
                  <a:pt x="1705136" y="1156179"/>
                </a:cubicBezTo>
                <a:lnTo>
                  <a:pt x="115618" y="1156179"/>
                </a:lnTo>
                <a:cubicBezTo>
                  <a:pt x="51764" y="1156179"/>
                  <a:pt x="0" y="1104415"/>
                  <a:pt x="0" y="1040561"/>
                </a:cubicBezTo>
                <a:lnTo>
                  <a:pt x="0" y="115618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1" algn="ctr">
              <a:lnSpc>
                <a:spcPct val="90000"/>
              </a:lnSpc>
              <a:spcAft>
                <a:spcPts val="400"/>
              </a:spcAft>
            </a:pPr>
            <a:r>
              <a:rPr lang="fr-CA" sz="1670" b="1">
                <a:solidFill>
                  <a:schemeClr val="tx1"/>
                </a:solidFill>
              </a:rPr>
              <a:t>Coûts de défaillance externe</a:t>
            </a:r>
          </a:p>
          <a:p>
            <a:pPr lvl="1"/>
            <a:r>
              <a:rPr lang="fr-CA" sz="1500"/>
              <a:t>(après livraison au client… retours, rappels, garantie…)</a:t>
            </a:r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5A963DBE-9B01-4D3F-AB29-369C6932809A}"/>
              </a:ext>
            </a:extLst>
          </p:cNvPr>
          <p:cNvSpPr/>
          <p:nvPr/>
        </p:nvSpPr>
        <p:spPr>
          <a:xfrm>
            <a:off x="4355593" y="1455549"/>
            <a:ext cx="1820754" cy="1156179"/>
          </a:xfrm>
          <a:custGeom>
            <a:avLst/>
            <a:gdLst>
              <a:gd name="connsiteX0" fmla="*/ 0 w 1820754"/>
              <a:gd name="connsiteY0" fmla="*/ 115618 h 1156179"/>
              <a:gd name="connsiteX1" fmla="*/ 115618 w 1820754"/>
              <a:gd name="connsiteY1" fmla="*/ 0 h 1156179"/>
              <a:gd name="connsiteX2" fmla="*/ 1705136 w 1820754"/>
              <a:gd name="connsiteY2" fmla="*/ 0 h 1156179"/>
              <a:gd name="connsiteX3" fmla="*/ 1820754 w 1820754"/>
              <a:gd name="connsiteY3" fmla="*/ 115618 h 1156179"/>
              <a:gd name="connsiteX4" fmla="*/ 1820754 w 1820754"/>
              <a:gd name="connsiteY4" fmla="*/ 1040561 h 1156179"/>
              <a:gd name="connsiteX5" fmla="*/ 1705136 w 1820754"/>
              <a:gd name="connsiteY5" fmla="*/ 1156179 h 1156179"/>
              <a:gd name="connsiteX6" fmla="*/ 115618 w 1820754"/>
              <a:gd name="connsiteY6" fmla="*/ 1156179 h 1156179"/>
              <a:gd name="connsiteX7" fmla="*/ 0 w 1820754"/>
              <a:gd name="connsiteY7" fmla="*/ 1040561 h 1156179"/>
              <a:gd name="connsiteX8" fmla="*/ 0 w 1820754"/>
              <a:gd name="connsiteY8" fmla="*/ 115618 h 1156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0754" h="1156179">
                <a:moveTo>
                  <a:pt x="0" y="115618"/>
                </a:moveTo>
                <a:cubicBezTo>
                  <a:pt x="0" y="51764"/>
                  <a:pt x="51764" y="0"/>
                  <a:pt x="115618" y="0"/>
                </a:cubicBezTo>
                <a:lnTo>
                  <a:pt x="1705136" y="0"/>
                </a:lnTo>
                <a:cubicBezTo>
                  <a:pt x="1768990" y="0"/>
                  <a:pt x="1820754" y="51764"/>
                  <a:pt x="1820754" y="115618"/>
                </a:cubicBezTo>
                <a:lnTo>
                  <a:pt x="1820754" y="1040561"/>
                </a:lnTo>
                <a:cubicBezTo>
                  <a:pt x="1820754" y="1104415"/>
                  <a:pt x="1768990" y="1156179"/>
                  <a:pt x="1705136" y="1156179"/>
                </a:cubicBezTo>
                <a:lnTo>
                  <a:pt x="115618" y="1156179"/>
                </a:lnTo>
                <a:cubicBezTo>
                  <a:pt x="51764" y="1156179"/>
                  <a:pt x="0" y="1104415"/>
                  <a:pt x="0" y="1040561"/>
                </a:cubicBezTo>
                <a:lnTo>
                  <a:pt x="0" y="11561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02443" tIns="102443" rIns="102443" bIns="102443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CA" b="1"/>
              <a:t>COÛTS TOTAUX QUALITÉ</a:t>
            </a:r>
            <a:endParaRPr lang="fr-CA" b="1" kern="1200"/>
          </a:p>
        </p:txBody>
      </p:sp>
      <p:sp>
        <p:nvSpPr>
          <p:cNvPr id="32" name="Flèche : courbe vers le bas 31">
            <a:extLst>
              <a:ext uri="{FF2B5EF4-FFF2-40B4-BE49-F238E27FC236}">
                <a16:creationId xmlns:a16="http://schemas.microsoft.com/office/drawing/2014/main" id="{B92BAB24-FA49-42BA-9016-44673D523E0F}"/>
              </a:ext>
            </a:extLst>
          </p:cNvPr>
          <p:cNvSpPr/>
          <p:nvPr/>
        </p:nvSpPr>
        <p:spPr>
          <a:xfrm rot="20209999">
            <a:off x="3035035" y="1393488"/>
            <a:ext cx="1403810" cy="545113"/>
          </a:xfrm>
          <a:prstGeom prst="curvedDown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36" name="Flèche : courbe vers le bas 35">
            <a:extLst>
              <a:ext uri="{FF2B5EF4-FFF2-40B4-BE49-F238E27FC236}">
                <a16:creationId xmlns:a16="http://schemas.microsoft.com/office/drawing/2014/main" id="{2D02D2B0-D3C4-4C9D-BCC0-274307C9FDA5}"/>
              </a:ext>
            </a:extLst>
          </p:cNvPr>
          <p:cNvSpPr/>
          <p:nvPr/>
        </p:nvSpPr>
        <p:spPr>
          <a:xfrm rot="1390001" flipH="1">
            <a:off x="6036901" y="1422023"/>
            <a:ext cx="1403810" cy="545113"/>
          </a:xfrm>
          <a:prstGeom prst="curvedDown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2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4"/>
          <p:cNvSpPr>
            <a:spLocks noChangeShapeType="1"/>
          </p:cNvSpPr>
          <p:nvPr/>
        </p:nvSpPr>
        <p:spPr bwMode="auto">
          <a:xfrm rot="-7200000">
            <a:off x="5037330" y="1449192"/>
            <a:ext cx="0" cy="3848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A" sz="1350"/>
          </a:p>
        </p:txBody>
      </p:sp>
      <p:sp>
        <p:nvSpPr>
          <p:cNvPr id="27651" name="Line 5"/>
          <p:cNvSpPr>
            <a:spLocks noChangeShapeType="1"/>
          </p:cNvSpPr>
          <p:nvPr/>
        </p:nvSpPr>
        <p:spPr bwMode="auto">
          <a:xfrm rot="-3600000">
            <a:off x="5043879" y="1462886"/>
            <a:ext cx="1190" cy="3857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A" sz="1350"/>
          </a:p>
        </p:txBody>
      </p:sp>
      <p:sp>
        <p:nvSpPr>
          <p:cNvPr id="27652" name="Line 6"/>
          <p:cNvSpPr>
            <a:spLocks noChangeShapeType="1"/>
          </p:cNvSpPr>
          <p:nvPr/>
        </p:nvSpPr>
        <p:spPr bwMode="auto">
          <a:xfrm>
            <a:off x="5053998" y="1455147"/>
            <a:ext cx="0" cy="38600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A" sz="1350"/>
          </a:p>
        </p:txBody>
      </p:sp>
      <p:sp>
        <p:nvSpPr>
          <p:cNvPr id="27653" name="Oval 7"/>
          <p:cNvSpPr>
            <a:spLocks noChangeArrowheads="1"/>
          </p:cNvSpPr>
          <p:nvPr/>
        </p:nvSpPr>
        <p:spPr bwMode="auto">
          <a:xfrm>
            <a:off x="4792657" y="3161313"/>
            <a:ext cx="451247" cy="451247"/>
          </a:xfrm>
          <a:prstGeom prst="ellipse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fr-CA" sz="2400" b="1" dirty="0"/>
              <a:t>C</a:t>
            </a:r>
          </a:p>
        </p:txBody>
      </p:sp>
      <p:sp>
        <p:nvSpPr>
          <p:cNvPr id="27654" name="Oval 8"/>
          <p:cNvSpPr>
            <a:spLocks noChangeArrowheads="1"/>
          </p:cNvSpPr>
          <p:nvPr/>
        </p:nvSpPr>
        <p:spPr bwMode="auto">
          <a:xfrm>
            <a:off x="3464516" y="1808763"/>
            <a:ext cx="3156347" cy="3156347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27655" name="Oval 9"/>
          <p:cNvSpPr>
            <a:spLocks noChangeArrowheads="1"/>
          </p:cNvSpPr>
          <p:nvPr/>
        </p:nvSpPr>
        <p:spPr bwMode="auto">
          <a:xfrm>
            <a:off x="3114471" y="1458718"/>
            <a:ext cx="3855244" cy="3855244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27656" name="Text Box 10"/>
          <p:cNvSpPr txBox="1">
            <a:spLocks noChangeArrowheads="1"/>
          </p:cNvSpPr>
          <p:nvPr/>
        </p:nvSpPr>
        <p:spPr bwMode="auto">
          <a:xfrm rot="2046076">
            <a:off x="5750474" y="1784331"/>
            <a:ext cx="550151" cy="300082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fr-CA" sz="1350"/>
              <a:t>Quoi</a:t>
            </a:r>
          </a:p>
        </p:txBody>
      </p:sp>
      <p:sp>
        <p:nvSpPr>
          <p:cNvPr id="27657" name="Text Box 11"/>
          <p:cNvSpPr txBox="1">
            <a:spLocks noChangeArrowheads="1"/>
          </p:cNvSpPr>
          <p:nvPr/>
        </p:nvSpPr>
        <p:spPr bwMode="auto">
          <a:xfrm rot="5400000">
            <a:off x="6413503" y="3227964"/>
            <a:ext cx="704039" cy="300082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fr-CA" sz="1350"/>
              <a:t>Quand</a:t>
            </a:r>
          </a:p>
        </p:txBody>
      </p:sp>
      <p:sp>
        <p:nvSpPr>
          <p:cNvPr id="27658" name="Text Box 12"/>
          <p:cNvSpPr txBox="1">
            <a:spLocks noChangeArrowheads="1"/>
          </p:cNvSpPr>
          <p:nvPr/>
        </p:nvSpPr>
        <p:spPr bwMode="auto">
          <a:xfrm rot="-2172030">
            <a:off x="5527437" y="4697790"/>
            <a:ext cx="877163" cy="300082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fr-CA" sz="1350"/>
              <a:t>Combien</a:t>
            </a:r>
          </a:p>
        </p:txBody>
      </p:sp>
      <p:sp>
        <p:nvSpPr>
          <p:cNvPr id="27659" name="Text Box 13"/>
          <p:cNvSpPr txBox="1">
            <a:spLocks noChangeArrowheads="1"/>
          </p:cNvSpPr>
          <p:nvPr/>
        </p:nvSpPr>
        <p:spPr bwMode="auto">
          <a:xfrm rot="2046076">
            <a:off x="3923515" y="4715650"/>
            <a:ext cx="415498" cy="300082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fr-CA" sz="1350"/>
              <a:t>Où</a:t>
            </a:r>
          </a:p>
        </p:txBody>
      </p:sp>
      <p:sp>
        <p:nvSpPr>
          <p:cNvPr id="27660" name="Text Box 14"/>
          <p:cNvSpPr txBox="1">
            <a:spLocks noChangeArrowheads="1"/>
          </p:cNvSpPr>
          <p:nvPr/>
        </p:nvSpPr>
        <p:spPr bwMode="auto">
          <a:xfrm rot="-2210461">
            <a:off x="3947141" y="1739088"/>
            <a:ext cx="453970" cy="300082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fr-CA" sz="1350"/>
              <a:t>Qui</a:t>
            </a:r>
          </a:p>
        </p:txBody>
      </p:sp>
      <p:sp>
        <p:nvSpPr>
          <p:cNvPr id="27661" name="Text Box 15"/>
          <p:cNvSpPr txBox="1">
            <a:spLocks noChangeArrowheads="1"/>
          </p:cNvSpPr>
          <p:nvPr/>
        </p:nvSpPr>
        <p:spPr bwMode="auto">
          <a:xfrm rot="-5400000">
            <a:off x="2825034" y="3236298"/>
            <a:ext cx="934871" cy="300082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fr-CA" sz="1350"/>
              <a:t>Comment</a:t>
            </a:r>
          </a:p>
        </p:txBody>
      </p:sp>
      <p:sp>
        <p:nvSpPr>
          <p:cNvPr id="27662" name="Text Box 16"/>
          <p:cNvSpPr txBox="1">
            <a:spLocks noChangeArrowheads="1"/>
          </p:cNvSpPr>
          <p:nvPr/>
        </p:nvSpPr>
        <p:spPr bwMode="auto">
          <a:xfrm>
            <a:off x="5119485" y="2265961"/>
            <a:ext cx="1018227" cy="369332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fr-CA" sz="900"/>
              <a:t>Caractéristiques</a:t>
            </a:r>
          </a:p>
          <a:p>
            <a:pPr algn="l"/>
            <a:r>
              <a:rPr lang="fr-CA" sz="900"/>
              <a:t>à contrôler</a:t>
            </a:r>
          </a:p>
        </p:txBody>
      </p:sp>
      <p:sp>
        <p:nvSpPr>
          <p:cNvPr id="27663" name="Text Box 17"/>
          <p:cNvSpPr txBox="1">
            <a:spLocks noChangeArrowheads="1"/>
          </p:cNvSpPr>
          <p:nvPr/>
        </p:nvSpPr>
        <p:spPr bwMode="auto">
          <a:xfrm>
            <a:off x="5490960" y="3168455"/>
            <a:ext cx="896399" cy="369332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fr-CA" sz="900"/>
              <a:t>Fréquence du</a:t>
            </a:r>
          </a:p>
          <a:p>
            <a:pPr algn="l"/>
            <a:r>
              <a:rPr lang="fr-CA" sz="900"/>
              <a:t>contrôle</a:t>
            </a:r>
          </a:p>
        </p:txBody>
      </p:sp>
      <p:sp>
        <p:nvSpPr>
          <p:cNvPr id="27664" name="Text Box 18"/>
          <p:cNvSpPr txBox="1">
            <a:spLocks noChangeArrowheads="1"/>
          </p:cNvSpPr>
          <p:nvPr/>
        </p:nvSpPr>
        <p:spPr bwMode="auto">
          <a:xfrm>
            <a:off x="5143297" y="4006657"/>
            <a:ext cx="1024639" cy="646331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fr-CA" sz="900"/>
              <a:t>Contrôle par </a:t>
            </a:r>
          </a:p>
          <a:p>
            <a:pPr algn="l"/>
            <a:r>
              <a:rPr lang="fr-CA" sz="900"/>
              <a:t>échantillonnage,</a:t>
            </a:r>
          </a:p>
          <a:p>
            <a:pPr algn="l"/>
            <a:r>
              <a:rPr lang="fr-CA" sz="900"/>
              <a:t>exhaustif, ou</a:t>
            </a:r>
          </a:p>
          <a:p>
            <a:pPr algn="l"/>
            <a:r>
              <a:rPr lang="fr-CA" sz="900"/>
              <a:t>aucun contrôle</a:t>
            </a:r>
          </a:p>
        </p:txBody>
      </p:sp>
      <p:sp>
        <p:nvSpPr>
          <p:cNvPr id="27665" name="Text Box 19"/>
          <p:cNvSpPr txBox="1">
            <a:spLocks noChangeArrowheads="1"/>
          </p:cNvSpPr>
          <p:nvPr/>
        </p:nvSpPr>
        <p:spPr bwMode="auto">
          <a:xfrm>
            <a:off x="4196751" y="2202860"/>
            <a:ext cx="748923" cy="507831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fr-CA" sz="900"/>
              <a:t>Opérateur,</a:t>
            </a:r>
          </a:p>
          <a:p>
            <a:pPr algn="l"/>
            <a:r>
              <a:rPr lang="fr-CA" sz="900"/>
              <a:t>inspecteur,</a:t>
            </a:r>
          </a:p>
          <a:p>
            <a:pPr algn="l"/>
            <a:r>
              <a:rPr lang="fr-CA" sz="900"/>
              <a:t>laboratoire</a:t>
            </a:r>
          </a:p>
        </p:txBody>
      </p:sp>
      <p:sp>
        <p:nvSpPr>
          <p:cNvPr id="27666" name="Text Box 20"/>
          <p:cNvSpPr txBox="1">
            <a:spLocks noChangeArrowheads="1"/>
          </p:cNvSpPr>
          <p:nvPr/>
        </p:nvSpPr>
        <p:spPr bwMode="auto">
          <a:xfrm>
            <a:off x="3565718" y="3195842"/>
            <a:ext cx="1281120" cy="507831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fr-CA" sz="900"/>
              <a:t>Par essai, inspection,</a:t>
            </a:r>
          </a:p>
          <a:p>
            <a:pPr algn="l"/>
            <a:r>
              <a:rPr lang="fr-CA" sz="900"/>
              <a:t>instruments,</a:t>
            </a:r>
          </a:p>
          <a:p>
            <a:pPr algn="l"/>
            <a:r>
              <a:rPr lang="fr-CA" sz="900"/>
              <a:t>contrôle visuel</a:t>
            </a:r>
          </a:p>
        </p:txBody>
      </p:sp>
      <p:sp>
        <p:nvSpPr>
          <p:cNvPr id="27667" name="Text Box 21"/>
          <p:cNvSpPr txBox="1">
            <a:spLocks noChangeArrowheads="1"/>
          </p:cNvSpPr>
          <p:nvPr/>
        </p:nvSpPr>
        <p:spPr bwMode="auto">
          <a:xfrm>
            <a:off x="3730748" y="4051901"/>
            <a:ext cx="1287533" cy="646331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r"/>
            <a:r>
              <a:rPr lang="fr-CA" sz="900"/>
              <a:t>Lors de la fabrication,</a:t>
            </a:r>
          </a:p>
          <a:p>
            <a:pPr algn="r"/>
            <a:r>
              <a:rPr lang="fr-CA" sz="900"/>
              <a:t>de la réception,</a:t>
            </a:r>
          </a:p>
          <a:p>
            <a:pPr algn="r"/>
            <a:r>
              <a:rPr lang="fr-CA" sz="900"/>
              <a:t>de l’expédition,</a:t>
            </a:r>
          </a:p>
          <a:p>
            <a:pPr algn="r"/>
            <a:r>
              <a:rPr lang="fr-CA" sz="900"/>
              <a:t>etc.</a:t>
            </a:r>
          </a:p>
        </p:txBody>
      </p:sp>
      <p:sp>
        <p:nvSpPr>
          <p:cNvPr id="27668" name="Text Box 23"/>
          <p:cNvSpPr txBox="1">
            <a:spLocks noChangeArrowheads="1"/>
          </p:cNvSpPr>
          <p:nvPr/>
        </p:nvSpPr>
        <p:spPr bwMode="auto">
          <a:xfrm>
            <a:off x="6308918" y="5138519"/>
            <a:ext cx="2546747" cy="230832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fr-CA" sz="900" dirty="0"/>
              <a:t>Source : </a:t>
            </a:r>
            <a:r>
              <a:rPr lang="fr-CA" sz="900" dirty="0" err="1"/>
              <a:t>Kelada</a:t>
            </a:r>
            <a:r>
              <a:rPr lang="fr-CA" sz="900" dirty="0"/>
              <a:t>, Nollet, </a:t>
            </a:r>
            <a:r>
              <a:rPr lang="fr-CA" sz="900" dirty="0" err="1"/>
              <a:t>Diorio</a:t>
            </a:r>
            <a:r>
              <a:rPr lang="fr-CA" sz="900" dirty="0"/>
              <a:t>, (1994), p 529</a:t>
            </a:r>
          </a:p>
        </p:txBody>
      </p:sp>
      <p:sp>
        <p:nvSpPr>
          <p:cNvPr id="27669" name="Rectangle 2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plan de travail d’un système de contrôle de la qualité</a:t>
            </a:r>
          </a:p>
        </p:txBody>
      </p:sp>
      <p:sp>
        <p:nvSpPr>
          <p:cNvPr id="22" name="Rectangle à coins arrondis 21"/>
          <p:cNvSpPr>
            <a:spLocks noChangeArrowheads="1"/>
          </p:cNvSpPr>
          <p:nvPr/>
        </p:nvSpPr>
        <p:spPr bwMode="auto">
          <a:xfrm>
            <a:off x="6230337" y="1480149"/>
            <a:ext cx="1708547" cy="817960"/>
          </a:xfrm>
          <a:prstGeom prst="wedgeRoundRectCallout">
            <a:avLst>
              <a:gd name="adj1" fmla="val -58560"/>
              <a:gd name="adj2" fmla="val 72500"/>
              <a:gd name="adj3" fmla="val 16667"/>
            </a:avLst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sz="1350"/>
          </a:p>
        </p:txBody>
      </p:sp>
      <p:sp>
        <p:nvSpPr>
          <p:cNvPr id="23" name="Rectangle à coins arrondis 22"/>
          <p:cNvSpPr>
            <a:spLocks noChangeArrowheads="1"/>
          </p:cNvSpPr>
          <p:nvPr/>
        </p:nvSpPr>
        <p:spPr bwMode="auto">
          <a:xfrm>
            <a:off x="6527992" y="2832698"/>
            <a:ext cx="1709738" cy="819150"/>
          </a:xfrm>
          <a:prstGeom prst="wedgeRoundRectCallout">
            <a:avLst>
              <a:gd name="adj1" fmla="val -58560"/>
              <a:gd name="adj2" fmla="val 72500"/>
              <a:gd name="adj3" fmla="val 16667"/>
            </a:avLst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sz="1350"/>
          </a:p>
        </p:txBody>
      </p:sp>
      <p:sp>
        <p:nvSpPr>
          <p:cNvPr id="24" name="Rectangle à coins arrondis 23"/>
          <p:cNvSpPr>
            <a:spLocks noChangeArrowheads="1"/>
          </p:cNvSpPr>
          <p:nvPr/>
        </p:nvSpPr>
        <p:spPr bwMode="auto">
          <a:xfrm rot="10800000">
            <a:off x="6530373" y="4307884"/>
            <a:ext cx="1709738" cy="610790"/>
          </a:xfrm>
          <a:prstGeom prst="wedgeRoundRectCallout">
            <a:avLst>
              <a:gd name="adj1" fmla="val 74977"/>
              <a:gd name="adj2" fmla="val 71250"/>
              <a:gd name="adj3" fmla="val 16667"/>
            </a:avLst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sz="1350"/>
          </a:p>
        </p:txBody>
      </p:sp>
      <p:sp>
        <p:nvSpPr>
          <p:cNvPr id="25" name="Rectangle à coins arrondis 24"/>
          <p:cNvSpPr>
            <a:spLocks noChangeArrowheads="1"/>
          </p:cNvSpPr>
          <p:nvPr/>
        </p:nvSpPr>
        <p:spPr bwMode="auto">
          <a:xfrm>
            <a:off x="2025049" y="1961162"/>
            <a:ext cx="1708547" cy="439341"/>
          </a:xfrm>
          <a:prstGeom prst="wedgeRoundRectCallout">
            <a:avLst>
              <a:gd name="adj1" fmla="val 70185"/>
              <a:gd name="adj2" fmla="val 40000"/>
              <a:gd name="adj3" fmla="val 16667"/>
            </a:avLst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sz="1350"/>
          </a:p>
        </p:txBody>
      </p:sp>
      <p:sp>
        <p:nvSpPr>
          <p:cNvPr id="26" name="Rectangle à coins arrondis 25"/>
          <p:cNvSpPr>
            <a:spLocks noChangeArrowheads="1"/>
          </p:cNvSpPr>
          <p:nvPr/>
        </p:nvSpPr>
        <p:spPr bwMode="auto">
          <a:xfrm>
            <a:off x="2036957" y="2793408"/>
            <a:ext cx="1521619" cy="457200"/>
          </a:xfrm>
          <a:prstGeom prst="wedgeRoundRectCallout">
            <a:avLst>
              <a:gd name="adj1" fmla="val 72875"/>
              <a:gd name="adj2" fmla="val -3806"/>
              <a:gd name="adj3" fmla="val 16667"/>
            </a:avLst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sz="1350"/>
          </a:p>
        </p:txBody>
      </p:sp>
      <p:sp>
        <p:nvSpPr>
          <p:cNvPr id="27" name="Rectangle à coins arrondis 26"/>
          <p:cNvSpPr>
            <a:spLocks noChangeArrowheads="1"/>
          </p:cNvSpPr>
          <p:nvPr/>
        </p:nvSpPr>
        <p:spPr bwMode="auto">
          <a:xfrm>
            <a:off x="2089342" y="4473380"/>
            <a:ext cx="1709738" cy="819150"/>
          </a:xfrm>
          <a:prstGeom prst="wedgeRoundRectCallout">
            <a:avLst>
              <a:gd name="adj1" fmla="val 64796"/>
              <a:gd name="adj2" fmla="val -61250"/>
              <a:gd name="adj3" fmla="val 16667"/>
            </a:avLst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A"/>
              <a:t>Le contrôle statistique de la qualité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DC4264FB-60E9-4656-9925-0AABE66398E3}"/>
              </a:ext>
            </a:extLst>
          </p:cNvPr>
          <p:cNvGrpSpPr/>
          <p:nvPr/>
        </p:nvGrpSpPr>
        <p:grpSpPr>
          <a:xfrm>
            <a:off x="1553104" y="1727730"/>
            <a:ext cx="7053792" cy="2936875"/>
            <a:chOff x="1524000" y="1727730"/>
            <a:chExt cx="7053792" cy="2936875"/>
          </a:xfrm>
        </p:grpSpPr>
        <p:sp>
          <p:nvSpPr>
            <p:cNvPr id="28675" name="AutoShape 4"/>
            <p:cNvSpPr>
              <a:spLocks noChangeArrowheads="1"/>
            </p:cNvSpPr>
            <p:nvPr/>
          </p:nvSpPr>
          <p:spPr bwMode="auto">
            <a:xfrm>
              <a:off x="1524000" y="2701396"/>
              <a:ext cx="1697303" cy="854604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</p:spPr>
          <p:txBody>
            <a:bodyPr anchor="ctr">
              <a:flatTx/>
            </a:bodyPr>
            <a:lstStyle/>
            <a:p>
              <a:r>
                <a:rPr lang="fr-CA" sz="1500" b="1"/>
                <a:t>Contrôle statistique de la qualité</a:t>
              </a:r>
            </a:p>
          </p:txBody>
        </p:sp>
        <p:sp>
          <p:nvSpPr>
            <p:cNvPr id="28676" name="AutoShape 5"/>
            <p:cNvSpPr>
              <a:spLocks noChangeArrowheads="1"/>
            </p:cNvSpPr>
            <p:nvPr/>
          </p:nvSpPr>
          <p:spPr bwMode="auto">
            <a:xfrm>
              <a:off x="3959491" y="3649928"/>
              <a:ext cx="1498864" cy="788458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</p:spPr>
          <p:txBody>
            <a:bodyPr anchor="ctr">
              <a:flatTx/>
            </a:bodyPr>
            <a:lstStyle/>
            <a:p>
              <a:r>
                <a:rPr lang="fr-CA" sz="1500" b="1"/>
                <a:t>Prévention des défauts</a:t>
              </a:r>
            </a:p>
          </p:txBody>
        </p:sp>
        <p:sp>
          <p:nvSpPr>
            <p:cNvPr id="28677" name="AutoShape 6"/>
            <p:cNvSpPr>
              <a:spLocks noChangeArrowheads="1"/>
            </p:cNvSpPr>
            <p:nvPr/>
          </p:nvSpPr>
          <p:spPr bwMode="auto">
            <a:xfrm>
              <a:off x="3959491" y="1844146"/>
              <a:ext cx="1498864" cy="788458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</p:spPr>
          <p:txBody>
            <a:bodyPr anchor="ctr">
              <a:flatTx/>
            </a:bodyPr>
            <a:lstStyle/>
            <a:p>
              <a:r>
                <a:rPr lang="fr-CA" sz="1500" b="1" dirty="0"/>
                <a:t>Détection des défauts</a:t>
              </a:r>
            </a:p>
          </p:txBody>
        </p:sp>
        <p:sp>
          <p:nvSpPr>
            <p:cNvPr id="28678" name="AutoShape 7"/>
            <p:cNvSpPr>
              <a:spLocks noChangeArrowheads="1"/>
            </p:cNvSpPr>
            <p:nvPr/>
          </p:nvSpPr>
          <p:spPr bwMode="auto">
            <a:xfrm>
              <a:off x="6486261" y="1727730"/>
              <a:ext cx="2091531" cy="1051719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</p:spPr>
          <p:txBody>
            <a:bodyPr anchor="ctr">
              <a:flatTx/>
            </a:bodyPr>
            <a:lstStyle/>
            <a:p>
              <a:r>
                <a:rPr lang="fr-CA" sz="1500" b="1"/>
                <a:t>Contrôle par échantillonnage statistique</a:t>
              </a:r>
              <a:endParaRPr lang="fr-CA" sz="1167" b="1"/>
            </a:p>
          </p:txBody>
        </p:sp>
        <p:sp>
          <p:nvSpPr>
            <p:cNvPr id="477192" name="AutoShape 8"/>
            <p:cNvSpPr>
              <a:spLocks noChangeArrowheads="1"/>
            </p:cNvSpPr>
            <p:nvPr/>
          </p:nvSpPr>
          <p:spPr bwMode="auto">
            <a:xfrm>
              <a:off x="6377782" y="3425032"/>
              <a:ext cx="2185458" cy="1239573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28575" algn="ctr">
              <a:round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</p:spPr>
          <p:txBody>
            <a:bodyPr anchor="ctr">
              <a:flatTx/>
            </a:bodyPr>
            <a:lstStyle/>
            <a:p>
              <a:pPr>
                <a:defRPr/>
              </a:pPr>
              <a:r>
                <a:rPr lang="fr-CA" sz="1667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C</a:t>
              </a:r>
              <a:r>
                <a:rPr lang="fr-CA" sz="1500" b="1"/>
                <a:t>ontrôle </a:t>
              </a:r>
              <a:r>
                <a:rPr lang="fr-CA" sz="1667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S</a:t>
              </a:r>
              <a:r>
                <a:rPr lang="fr-CA" sz="1500" b="1"/>
                <a:t>tatistique des </a:t>
              </a:r>
              <a:r>
                <a:rPr lang="fr-CA" sz="1667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P</a:t>
              </a:r>
              <a:r>
                <a:rPr lang="fr-CA" sz="1500" b="1"/>
                <a:t>rocédés </a:t>
              </a:r>
            </a:p>
            <a:p>
              <a:pPr>
                <a:defRPr/>
              </a:pPr>
              <a:r>
                <a:rPr lang="fr-CA" sz="1500" b="1"/>
                <a:t>et Capacité opérationnelle</a:t>
              </a:r>
              <a:endParaRPr lang="fr-CA" sz="1167" b="1"/>
            </a:p>
          </p:txBody>
        </p:sp>
        <p:cxnSp>
          <p:nvCxnSpPr>
            <p:cNvPr id="28680" name="AutoShape 9"/>
            <p:cNvCxnSpPr>
              <a:cxnSpLocks noChangeShapeType="1"/>
              <a:stCxn id="28675" idx="3"/>
              <a:endCxn id="28677" idx="1"/>
            </p:cNvCxnSpPr>
            <p:nvPr/>
          </p:nvCxnSpPr>
          <p:spPr bwMode="auto">
            <a:xfrm flipV="1">
              <a:off x="3221303" y="2238375"/>
              <a:ext cx="738188" cy="890323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rgbClr val="003399"/>
              </a:solidFill>
              <a:miter lim="800000"/>
              <a:headEnd type="none" w="sm" len="sm"/>
              <a:tailEnd type="triangle" w="sm" len="sm"/>
            </a:ln>
          </p:spPr>
        </p:cxnSp>
        <p:cxnSp>
          <p:nvCxnSpPr>
            <p:cNvPr id="28681" name="AutoShape 10"/>
            <p:cNvCxnSpPr>
              <a:cxnSpLocks noChangeShapeType="1"/>
              <a:stCxn id="28675" idx="3"/>
              <a:endCxn id="28676" idx="1"/>
            </p:cNvCxnSpPr>
            <p:nvPr/>
          </p:nvCxnSpPr>
          <p:spPr bwMode="auto">
            <a:xfrm>
              <a:off x="3221303" y="3128699"/>
              <a:ext cx="738188" cy="915458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rgbClr val="003399"/>
              </a:solidFill>
              <a:miter lim="800000"/>
              <a:headEnd type="none" w="sm" len="sm"/>
              <a:tailEnd type="triangle" w="sm" len="sm"/>
            </a:ln>
          </p:spPr>
        </p:cxnSp>
        <p:cxnSp>
          <p:nvCxnSpPr>
            <p:cNvPr id="28682" name="AutoShape 11"/>
            <p:cNvCxnSpPr>
              <a:cxnSpLocks noChangeShapeType="1"/>
              <a:stCxn id="28677" idx="3"/>
              <a:endCxn id="28678" idx="1"/>
            </p:cNvCxnSpPr>
            <p:nvPr/>
          </p:nvCxnSpPr>
          <p:spPr bwMode="auto">
            <a:xfrm>
              <a:off x="5458354" y="2238375"/>
              <a:ext cx="1027907" cy="15875"/>
            </a:xfrm>
            <a:prstGeom prst="straightConnector1">
              <a:avLst/>
            </a:prstGeom>
            <a:noFill/>
            <a:ln w="76200">
              <a:solidFill>
                <a:srgbClr val="003399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28683" name="AutoShape 12"/>
            <p:cNvCxnSpPr>
              <a:cxnSpLocks noChangeShapeType="1"/>
              <a:stCxn id="28676" idx="3"/>
              <a:endCxn id="477192" idx="1"/>
            </p:cNvCxnSpPr>
            <p:nvPr/>
          </p:nvCxnSpPr>
          <p:spPr bwMode="auto">
            <a:xfrm>
              <a:off x="5458354" y="4044157"/>
              <a:ext cx="919428" cy="1323"/>
            </a:xfrm>
            <a:prstGeom prst="straightConnector1">
              <a:avLst/>
            </a:prstGeom>
            <a:noFill/>
            <a:ln w="76200">
              <a:solidFill>
                <a:srgbClr val="003399"/>
              </a:solidFill>
              <a:round/>
              <a:headEnd type="none" w="sm" len="sm"/>
              <a:tailEnd type="triangle" w="sm" len="sm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Plans d’échantillonnage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 b="1" dirty="0"/>
              <a:t>Définition : </a:t>
            </a:r>
            <a:r>
              <a:rPr lang="fr-CH" dirty="0"/>
              <a:t>Une procédure qui permet de déterminer si un lot doit être accepté ou refusé.</a:t>
            </a:r>
          </a:p>
          <a:p>
            <a:endParaRPr lang="fr-CH" dirty="0"/>
          </a:p>
          <a:p>
            <a:pPr marL="0" indent="0">
              <a:buNone/>
            </a:pPr>
            <a:r>
              <a:rPr lang="fr-CH" dirty="0"/>
              <a:t>En général, un plan d’échantillonnage est défini par n, c :</a:t>
            </a:r>
          </a:p>
          <a:p>
            <a:pPr marL="539750" lvl="1" indent="-271463"/>
            <a:r>
              <a:rPr lang="fr-CH" dirty="0"/>
              <a:t>Le nombre d’unités (n) à prélever dans le lot (taille = N)</a:t>
            </a:r>
          </a:p>
          <a:p>
            <a:pPr marL="539750" lvl="1" indent="-271463"/>
            <a:r>
              <a:rPr lang="fr-CH" dirty="0"/>
              <a:t>Le nombre maximal d’unités défectueuses (c) dans un échantillon pour que le lot soit accepté («c» est le critère d’acceptation)</a:t>
            </a:r>
          </a:p>
          <a:p>
            <a:endParaRPr lang="fr-CA" dirty="0"/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6221931" y="3594537"/>
            <a:ext cx="2846785" cy="1644253"/>
            <a:chOff x="3024" y="2300"/>
            <a:chExt cx="2391" cy="1381"/>
          </a:xfrm>
        </p:grpSpPr>
        <p:sp>
          <p:nvSpPr>
            <p:cNvPr id="29701" name="Rectangle 5"/>
            <p:cNvSpPr>
              <a:spLocks noChangeArrowheads="1"/>
            </p:cNvSpPr>
            <p:nvPr/>
          </p:nvSpPr>
          <p:spPr bwMode="auto">
            <a:xfrm>
              <a:off x="4128" y="3312"/>
              <a:ext cx="793" cy="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9056" tIns="34529" rIns="69056" bIns="34529">
              <a:spAutoFit/>
            </a:bodyPr>
            <a:lstStyle/>
            <a:p>
              <a:pPr defTabSz="571500" eaLnBrk="0" hangingPunct="0">
                <a:lnSpc>
                  <a:spcPct val="80000"/>
                </a:lnSpc>
              </a:pPr>
              <a:r>
                <a:rPr lang="fr-CH" sz="1500"/>
                <a:t>Lot de </a:t>
              </a:r>
            </a:p>
            <a:p>
              <a:pPr defTabSz="571500" eaLnBrk="0" hangingPunct="0">
                <a:lnSpc>
                  <a:spcPct val="80000"/>
                </a:lnSpc>
              </a:pPr>
              <a:r>
                <a:rPr lang="fr-CH" sz="1500"/>
                <a:t>taille </a:t>
              </a:r>
              <a:r>
                <a:rPr lang="fr-CH" sz="1500" b="1"/>
                <a:t>«</a:t>
              </a:r>
              <a:r>
                <a:rPr lang="fr-CH" sz="1500" b="1">
                  <a:solidFill>
                    <a:srgbClr val="0033CC"/>
                  </a:solidFill>
                </a:rPr>
                <a:t>N</a:t>
              </a:r>
              <a:r>
                <a:rPr lang="fr-CH" sz="1500" b="1"/>
                <a:t>»</a:t>
              </a:r>
            </a:p>
          </p:txBody>
        </p:sp>
        <p:sp>
          <p:nvSpPr>
            <p:cNvPr id="29702" name="Rectangle 6"/>
            <p:cNvSpPr>
              <a:spLocks noChangeArrowheads="1"/>
            </p:cNvSpPr>
            <p:nvPr/>
          </p:nvSpPr>
          <p:spPr bwMode="auto">
            <a:xfrm>
              <a:off x="4416" y="2544"/>
              <a:ext cx="999" cy="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69056" tIns="34529" rIns="69056" bIns="34529">
              <a:spAutoFit/>
            </a:bodyPr>
            <a:lstStyle/>
            <a:p>
              <a:pPr defTabSz="571500" eaLnBrk="0" hangingPunct="0">
                <a:lnSpc>
                  <a:spcPct val="80000"/>
                </a:lnSpc>
              </a:pPr>
              <a:r>
                <a:rPr lang="fr-CH" sz="1500"/>
                <a:t>Échantillon</a:t>
              </a:r>
            </a:p>
            <a:p>
              <a:pPr defTabSz="571500" eaLnBrk="0" hangingPunct="0">
                <a:lnSpc>
                  <a:spcPct val="80000"/>
                </a:lnSpc>
              </a:pPr>
              <a:r>
                <a:rPr lang="fr-CH" sz="1500"/>
                <a:t>de taille </a:t>
              </a:r>
              <a:r>
                <a:rPr lang="fr-CH" sz="1500" b="1">
                  <a:solidFill>
                    <a:srgbClr val="0033CC"/>
                  </a:solidFill>
                </a:rPr>
                <a:t>«n»</a:t>
              </a:r>
            </a:p>
          </p:txBody>
        </p:sp>
        <p:grpSp>
          <p:nvGrpSpPr>
            <p:cNvPr id="29703" name="Group 7"/>
            <p:cNvGrpSpPr>
              <a:grpSpLocks/>
            </p:cNvGrpSpPr>
            <p:nvPr/>
          </p:nvGrpSpPr>
          <p:grpSpPr bwMode="auto">
            <a:xfrm>
              <a:off x="3024" y="2592"/>
              <a:ext cx="1130" cy="1070"/>
              <a:chOff x="3024" y="2592"/>
              <a:chExt cx="1130" cy="1070"/>
            </a:xfrm>
          </p:grpSpPr>
          <p:sp>
            <p:nvSpPr>
              <p:cNvPr id="29712" name="Oval 8"/>
              <p:cNvSpPr>
                <a:spLocks noChangeArrowheads="1"/>
              </p:cNvSpPr>
              <p:nvPr/>
            </p:nvSpPr>
            <p:spPr bwMode="auto">
              <a:xfrm>
                <a:off x="3024" y="2592"/>
                <a:ext cx="1130" cy="1070"/>
              </a:xfrm>
              <a:prstGeom prst="ellips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13" name="Oval 9"/>
              <p:cNvSpPr>
                <a:spLocks noChangeArrowheads="1"/>
              </p:cNvSpPr>
              <p:nvPr/>
            </p:nvSpPr>
            <p:spPr bwMode="auto">
              <a:xfrm>
                <a:off x="3466" y="2902"/>
                <a:ext cx="364" cy="34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14" name="Oval 10"/>
              <p:cNvSpPr>
                <a:spLocks noChangeArrowheads="1"/>
              </p:cNvSpPr>
              <p:nvPr/>
            </p:nvSpPr>
            <p:spPr bwMode="auto">
              <a:xfrm>
                <a:off x="3612" y="2946"/>
                <a:ext cx="58" cy="58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15" name="Oval 11"/>
              <p:cNvSpPr>
                <a:spLocks noChangeArrowheads="1"/>
              </p:cNvSpPr>
              <p:nvPr/>
            </p:nvSpPr>
            <p:spPr bwMode="auto">
              <a:xfrm>
                <a:off x="3698" y="3032"/>
                <a:ext cx="57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16" name="Oval 12"/>
              <p:cNvSpPr>
                <a:spLocks noChangeArrowheads="1"/>
              </p:cNvSpPr>
              <p:nvPr/>
            </p:nvSpPr>
            <p:spPr bwMode="auto">
              <a:xfrm>
                <a:off x="3545" y="3113"/>
                <a:ext cx="58" cy="5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17" name="Oval 13"/>
              <p:cNvSpPr>
                <a:spLocks noChangeArrowheads="1"/>
              </p:cNvSpPr>
              <p:nvPr/>
            </p:nvSpPr>
            <p:spPr bwMode="auto">
              <a:xfrm>
                <a:off x="3527" y="3017"/>
                <a:ext cx="57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18" name="Oval 14"/>
              <p:cNvSpPr>
                <a:spLocks noChangeArrowheads="1"/>
              </p:cNvSpPr>
              <p:nvPr/>
            </p:nvSpPr>
            <p:spPr bwMode="auto">
              <a:xfrm>
                <a:off x="3672" y="3121"/>
                <a:ext cx="57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19" name="Oval 15"/>
              <p:cNvSpPr>
                <a:spLocks noChangeArrowheads="1"/>
              </p:cNvSpPr>
              <p:nvPr/>
            </p:nvSpPr>
            <p:spPr bwMode="auto">
              <a:xfrm>
                <a:off x="3241" y="2991"/>
                <a:ext cx="57" cy="57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20" name="Oval 16"/>
              <p:cNvSpPr>
                <a:spLocks noChangeArrowheads="1"/>
              </p:cNvSpPr>
              <p:nvPr/>
            </p:nvSpPr>
            <p:spPr bwMode="auto">
              <a:xfrm>
                <a:off x="3326" y="3076"/>
                <a:ext cx="58" cy="5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21" name="Oval 17"/>
              <p:cNvSpPr>
                <a:spLocks noChangeArrowheads="1"/>
              </p:cNvSpPr>
              <p:nvPr/>
            </p:nvSpPr>
            <p:spPr bwMode="auto">
              <a:xfrm>
                <a:off x="3144" y="3188"/>
                <a:ext cx="57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22" name="Oval 18"/>
              <p:cNvSpPr>
                <a:spLocks noChangeArrowheads="1"/>
              </p:cNvSpPr>
              <p:nvPr/>
            </p:nvSpPr>
            <p:spPr bwMode="auto">
              <a:xfrm>
                <a:off x="3155" y="3061"/>
                <a:ext cx="58" cy="5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23" name="Oval 19"/>
              <p:cNvSpPr>
                <a:spLocks noChangeArrowheads="1"/>
              </p:cNvSpPr>
              <p:nvPr/>
            </p:nvSpPr>
            <p:spPr bwMode="auto">
              <a:xfrm>
                <a:off x="3322" y="3188"/>
                <a:ext cx="58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24" name="Oval 20"/>
              <p:cNvSpPr>
                <a:spLocks noChangeArrowheads="1"/>
              </p:cNvSpPr>
              <p:nvPr/>
            </p:nvSpPr>
            <p:spPr bwMode="auto">
              <a:xfrm>
                <a:off x="3412" y="3277"/>
                <a:ext cx="57" cy="57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25" name="Oval 21"/>
              <p:cNvSpPr>
                <a:spLocks noChangeArrowheads="1"/>
              </p:cNvSpPr>
              <p:nvPr/>
            </p:nvSpPr>
            <p:spPr bwMode="auto">
              <a:xfrm>
                <a:off x="3467" y="3396"/>
                <a:ext cx="58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26" name="Oval 22"/>
              <p:cNvSpPr>
                <a:spLocks noChangeArrowheads="1"/>
              </p:cNvSpPr>
              <p:nvPr/>
            </p:nvSpPr>
            <p:spPr bwMode="auto">
              <a:xfrm>
                <a:off x="3352" y="3455"/>
                <a:ext cx="58" cy="5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27" name="Oval 23"/>
              <p:cNvSpPr>
                <a:spLocks noChangeArrowheads="1"/>
              </p:cNvSpPr>
              <p:nvPr/>
            </p:nvSpPr>
            <p:spPr bwMode="auto">
              <a:xfrm>
                <a:off x="3233" y="3336"/>
                <a:ext cx="58" cy="5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28" name="Oval 24"/>
              <p:cNvSpPr>
                <a:spLocks noChangeArrowheads="1"/>
              </p:cNvSpPr>
              <p:nvPr/>
            </p:nvSpPr>
            <p:spPr bwMode="auto">
              <a:xfrm>
                <a:off x="3530" y="3545"/>
                <a:ext cx="58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29" name="Oval 25"/>
              <p:cNvSpPr>
                <a:spLocks noChangeArrowheads="1"/>
              </p:cNvSpPr>
              <p:nvPr/>
            </p:nvSpPr>
            <p:spPr bwMode="auto">
              <a:xfrm>
                <a:off x="3739" y="3281"/>
                <a:ext cx="57" cy="57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30" name="Oval 26"/>
              <p:cNvSpPr>
                <a:spLocks noChangeArrowheads="1"/>
              </p:cNvSpPr>
              <p:nvPr/>
            </p:nvSpPr>
            <p:spPr bwMode="auto">
              <a:xfrm>
                <a:off x="3887" y="3336"/>
                <a:ext cx="58" cy="5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31" name="Oval 27"/>
              <p:cNvSpPr>
                <a:spLocks noChangeArrowheads="1"/>
              </p:cNvSpPr>
              <p:nvPr/>
            </p:nvSpPr>
            <p:spPr bwMode="auto">
              <a:xfrm>
                <a:off x="3679" y="3515"/>
                <a:ext cx="58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32" name="Oval 28"/>
              <p:cNvSpPr>
                <a:spLocks noChangeArrowheads="1"/>
              </p:cNvSpPr>
              <p:nvPr/>
            </p:nvSpPr>
            <p:spPr bwMode="auto">
              <a:xfrm>
                <a:off x="3653" y="3351"/>
                <a:ext cx="58" cy="5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33" name="Oval 29"/>
              <p:cNvSpPr>
                <a:spLocks noChangeArrowheads="1"/>
              </p:cNvSpPr>
              <p:nvPr/>
            </p:nvSpPr>
            <p:spPr bwMode="auto">
              <a:xfrm>
                <a:off x="3798" y="3455"/>
                <a:ext cx="58" cy="5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34" name="Oval 30"/>
              <p:cNvSpPr>
                <a:spLocks noChangeArrowheads="1"/>
              </p:cNvSpPr>
              <p:nvPr/>
            </p:nvSpPr>
            <p:spPr bwMode="auto">
              <a:xfrm>
                <a:off x="3412" y="2686"/>
                <a:ext cx="57" cy="57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35" name="Oval 31"/>
              <p:cNvSpPr>
                <a:spLocks noChangeArrowheads="1"/>
              </p:cNvSpPr>
              <p:nvPr/>
            </p:nvSpPr>
            <p:spPr bwMode="auto">
              <a:xfrm>
                <a:off x="3497" y="2771"/>
                <a:ext cx="57" cy="5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36" name="Oval 32"/>
              <p:cNvSpPr>
                <a:spLocks noChangeArrowheads="1"/>
              </p:cNvSpPr>
              <p:nvPr/>
            </p:nvSpPr>
            <p:spPr bwMode="auto">
              <a:xfrm>
                <a:off x="3233" y="2861"/>
                <a:ext cx="58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37" name="Oval 33"/>
              <p:cNvSpPr>
                <a:spLocks noChangeArrowheads="1"/>
              </p:cNvSpPr>
              <p:nvPr/>
            </p:nvSpPr>
            <p:spPr bwMode="auto">
              <a:xfrm>
                <a:off x="3326" y="2757"/>
                <a:ext cx="58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38" name="Oval 34"/>
              <p:cNvSpPr>
                <a:spLocks noChangeArrowheads="1"/>
              </p:cNvSpPr>
              <p:nvPr/>
            </p:nvSpPr>
            <p:spPr bwMode="auto">
              <a:xfrm>
                <a:off x="3412" y="2861"/>
                <a:ext cx="57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39" name="Oval 35"/>
              <p:cNvSpPr>
                <a:spLocks noChangeArrowheads="1"/>
              </p:cNvSpPr>
              <p:nvPr/>
            </p:nvSpPr>
            <p:spPr bwMode="auto">
              <a:xfrm>
                <a:off x="4006" y="2980"/>
                <a:ext cx="58" cy="57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40" name="Oval 36"/>
              <p:cNvSpPr>
                <a:spLocks noChangeArrowheads="1"/>
              </p:cNvSpPr>
              <p:nvPr/>
            </p:nvSpPr>
            <p:spPr bwMode="auto">
              <a:xfrm>
                <a:off x="4036" y="3099"/>
                <a:ext cx="57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41" name="Oval 37"/>
              <p:cNvSpPr>
                <a:spLocks noChangeArrowheads="1"/>
              </p:cNvSpPr>
              <p:nvPr/>
            </p:nvSpPr>
            <p:spPr bwMode="auto">
              <a:xfrm>
                <a:off x="3858" y="3188"/>
                <a:ext cx="57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42" name="Oval 38"/>
              <p:cNvSpPr>
                <a:spLocks noChangeArrowheads="1"/>
              </p:cNvSpPr>
              <p:nvPr/>
            </p:nvSpPr>
            <p:spPr bwMode="auto">
              <a:xfrm>
                <a:off x="3917" y="3099"/>
                <a:ext cx="57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43" name="Oval 39"/>
              <p:cNvSpPr>
                <a:spLocks noChangeArrowheads="1"/>
              </p:cNvSpPr>
              <p:nvPr/>
            </p:nvSpPr>
            <p:spPr bwMode="auto">
              <a:xfrm>
                <a:off x="4006" y="3277"/>
                <a:ext cx="58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44" name="Oval 40"/>
              <p:cNvSpPr>
                <a:spLocks noChangeArrowheads="1"/>
              </p:cNvSpPr>
              <p:nvPr/>
            </p:nvSpPr>
            <p:spPr bwMode="auto">
              <a:xfrm>
                <a:off x="3772" y="2686"/>
                <a:ext cx="58" cy="57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45" name="Oval 41"/>
              <p:cNvSpPr>
                <a:spLocks noChangeArrowheads="1"/>
              </p:cNvSpPr>
              <p:nvPr/>
            </p:nvSpPr>
            <p:spPr bwMode="auto">
              <a:xfrm>
                <a:off x="3858" y="2771"/>
                <a:ext cx="57" cy="5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46" name="Oval 42"/>
              <p:cNvSpPr>
                <a:spLocks noChangeArrowheads="1"/>
              </p:cNvSpPr>
              <p:nvPr/>
            </p:nvSpPr>
            <p:spPr bwMode="auto">
              <a:xfrm>
                <a:off x="3768" y="2861"/>
                <a:ext cx="58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47" name="Oval 43"/>
              <p:cNvSpPr>
                <a:spLocks noChangeArrowheads="1"/>
              </p:cNvSpPr>
              <p:nvPr/>
            </p:nvSpPr>
            <p:spPr bwMode="auto">
              <a:xfrm>
                <a:off x="3687" y="2757"/>
                <a:ext cx="57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48" name="Oval 44"/>
              <p:cNvSpPr>
                <a:spLocks noChangeArrowheads="1"/>
              </p:cNvSpPr>
              <p:nvPr/>
            </p:nvSpPr>
            <p:spPr bwMode="auto">
              <a:xfrm>
                <a:off x="3917" y="2890"/>
                <a:ext cx="57" cy="5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</p:grpSp>
        <p:grpSp>
          <p:nvGrpSpPr>
            <p:cNvPr id="29704" name="Group 45"/>
            <p:cNvGrpSpPr>
              <a:grpSpLocks/>
            </p:cNvGrpSpPr>
            <p:nvPr/>
          </p:nvGrpSpPr>
          <p:grpSpPr bwMode="auto">
            <a:xfrm>
              <a:off x="4076" y="2300"/>
              <a:ext cx="393" cy="348"/>
              <a:chOff x="4076" y="2300"/>
              <a:chExt cx="393" cy="348"/>
            </a:xfrm>
          </p:grpSpPr>
          <p:sp>
            <p:nvSpPr>
              <p:cNvPr id="29706" name="Oval 46"/>
              <p:cNvSpPr>
                <a:spLocks noChangeArrowheads="1"/>
              </p:cNvSpPr>
              <p:nvPr/>
            </p:nvSpPr>
            <p:spPr bwMode="auto">
              <a:xfrm>
                <a:off x="4076" y="2300"/>
                <a:ext cx="393" cy="34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07" name="Oval 47"/>
              <p:cNvSpPr>
                <a:spLocks noChangeArrowheads="1"/>
              </p:cNvSpPr>
              <p:nvPr/>
            </p:nvSpPr>
            <p:spPr bwMode="auto">
              <a:xfrm>
                <a:off x="4252" y="2344"/>
                <a:ext cx="57" cy="57"/>
              </a:xfrm>
              <a:prstGeom prst="ellipse">
                <a:avLst/>
              </a:prstGeom>
              <a:solidFill>
                <a:srgbClr val="FF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08" name="Oval 48"/>
              <p:cNvSpPr>
                <a:spLocks noChangeArrowheads="1"/>
              </p:cNvSpPr>
              <p:nvPr/>
            </p:nvSpPr>
            <p:spPr bwMode="auto">
              <a:xfrm>
                <a:off x="4337" y="2429"/>
                <a:ext cx="58" cy="5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09" name="Oval 49"/>
              <p:cNvSpPr>
                <a:spLocks noChangeArrowheads="1"/>
              </p:cNvSpPr>
              <p:nvPr/>
            </p:nvSpPr>
            <p:spPr bwMode="auto">
              <a:xfrm>
                <a:off x="4185" y="2511"/>
                <a:ext cx="57" cy="58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10" name="Oval 50"/>
              <p:cNvSpPr>
                <a:spLocks noChangeArrowheads="1"/>
              </p:cNvSpPr>
              <p:nvPr/>
            </p:nvSpPr>
            <p:spPr bwMode="auto">
              <a:xfrm>
                <a:off x="4166" y="2415"/>
                <a:ext cx="58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  <p:sp>
            <p:nvSpPr>
              <p:cNvPr id="29711" name="Oval 51"/>
              <p:cNvSpPr>
                <a:spLocks noChangeArrowheads="1"/>
              </p:cNvSpPr>
              <p:nvPr/>
            </p:nvSpPr>
            <p:spPr bwMode="auto">
              <a:xfrm>
                <a:off x="4311" y="2519"/>
                <a:ext cx="58" cy="57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 sz="1350"/>
              </a:p>
            </p:txBody>
          </p:sp>
        </p:grpSp>
        <p:sp>
          <p:nvSpPr>
            <p:cNvPr id="29705" name="Freeform 52"/>
            <p:cNvSpPr>
              <a:spLocks/>
            </p:cNvSpPr>
            <p:nvPr/>
          </p:nvSpPr>
          <p:spPr bwMode="auto">
            <a:xfrm>
              <a:off x="3838" y="2656"/>
              <a:ext cx="436" cy="421"/>
            </a:xfrm>
            <a:custGeom>
              <a:avLst/>
              <a:gdLst>
                <a:gd name="T0" fmla="*/ 0 w 436"/>
                <a:gd name="T1" fmla="*/ 420 h 421"/>
                <a:gd name="T2" fmla="*/ 435 w 436"/>
                <a:gd name="T3" fmla="*/ 420 h 421"/>
                <a:gd name="T4" fmla="*/ 435 w 436"/>
                <a:gd name="T5" fmla="*/ 0 h 421"/>
                <a:gd name="T6" fmla="*/ 0 60000 65536"/>
                <a:gd name="T7" fmla="*/ 0 60000 65536"/>
                <a:gd name="T8" fmla="*/ 0 60000 65536"/>
                <a:gd name="T9" fmla="*/ 0 w 436"/>
                <a:gd name="T10" fmla="*/ 0 h 421"/>
                <a:gd name="T11" fmla="*/ 436 w 436"/>
                <a:gd name="T12" fmla="*/ 421 h 4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6" h="421">
                  <a:moveTo>
                    <a:pt x="0" y="420"/>
                  </a:moveTo>
                  <a:lnTo>
                    <a:pt x="435" y="420"/>
                  </a:lnTo>
                  <a:lnTo>
                    <a:pt x="435" y="0"/>
                  </a:lnTo>
                </a:path>
              </a:pathLst>
            </a:custGeom>
            <a:noFill/>
            <a:ln w="50800" cap="rnd">
              <a:solidFill>
                <a:schemeClr val="accent2"/>
              </a:solidFill>
              <a:round/>
              <a:headEnd type="none" w="sm" len="sm"/>
              <a:tailEnd type="stealth" w="med" len="med"/>
            </a:ln>
          </p:spPr>
          <p:txBody>
            <a:bodyPr/>
            <a:lstStyle/>
            <a:p>
              <a:endParaRPr lang="fr-FR" sz="135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Les risques d’erreurs</a:t>
            </a:r>
          </a:p>
        </p:txBody>
      </p:sp>
      <p:sp>
        <p:nvSpPr>
          <p:cNvPr id="31747" name="Rectangle 98"/>
          <p:cNvSpPr>
            <a:spLocks noChangeArrowheads="1"/>
          </p:cNvSpPr>
          <p:nvPr/>
        </p:nvSpPr>
        <p:spPr bwMode="auto">
          <a:xfrm>
            <a:off x="4048921" y="1518049"/>
            <a:ext cx="3621183" cy="439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056" tIns="34529" rIns="69056" bIns="34529">
            <a:spAutoFit/>
          </a:bodyPr>
          <a:lstStyle/>
          <a:p>
            <a:pPr defTabSz="571500" eaLnBrk="0" hangingPunct="0">
              <a:lnSpc>
                <a:spcPct val="80000"/>
              </a:lnSpc>
            </a:pPr>
            <a:r>
              <a:rPr lang="fr-CH" sz="1500">
                <a:solidFill>
                  <a:srgbClr val="185FAB"/>
                </a:solidFill>
              </a:rPr>
              <a:t>Échantillon de taille «n» </a:t>
            </a:r>
            <a:r>
              <a:rPr lang="fr-CH" sz="1500" u="sng">
                <a:solidFill>
                  <a:srgbClr val="185FAB"/>
                </a:solidFill>
              </a:rPr>
              <a:t>MEILLEUR</a:t>
            </a:r>
            <a:r>
              <a:rPr lang="fr-CH" sz="1500">
                <a:solidFill>
                  <a:srgbClr val="185FAB"/>
                </a:solidFill>
              </a:rPr>
              <a:t> que </a:t>
            </a:r>
          </a:p>
          <a:p>
            <a:pPr defTabSz="571500" eaLnBrk="0" hangingPunct="0">
              <a:lnSpc>
                <a:spcPct val="80000"/>
              </a:lnSpc>
            </a:pPr>
            <a:r>
              <a:rPr lang="fr-CH" sz="1500">
                <a:solidFill>
                  <a:srgbClr val="185FAB"/>
                </a:solidFill>
              </a:rPr>
              <a:t>le lot dont il est tiré</a:t>
            </a:r>
          </a:p>
        </p:txBody>
      </p:sp>
      <p:sp>
        <p:nvSpPr>
          <p:cNvPr id="31748" name="Oval 99"/>
          <p:cNvSpPr>
            <a:spLocks noChangeArrowheads="1"/>
          </p:cNvSpPr>
          <p:nvPr/>
        </p:nvSpPr>
        <p:spPr bwMode="auto">
          <a:xfrm>
            <a:off x="1520032" y="1752602"/>
            <a:ext cx="1345406" cy="1273969"/>
          </a:xfrm>
          <a:prstGeom prst="ellips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49" name="Oval 100"/>
          <p:cNvSpPr>
            <a:spLocks noChangeArrowheads="1"/>
          </p:cNvSpPr>
          <p:nvPr/>
        </p:nvSpPr>
        <p:spPr bwMode="auto">
          <a:xfrm>
            <a:off x="2046287" y="2121694"/>
            <a:ext cx="433388" cy="414338"/>
          </a:xfrm>
          <a:prstGeom prst="ellips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50" name="Oval 101"/>
          <p:cNvSpPr>
            <a:spLocks noChangeArrowheads="1"/>
          </p:cNvSpPr>
          <p:nvPr/>
        </p:nvSpPr>
        <p:spPr bwMode="auto">
          <a:xfrm>
            <a:off x="2220119" y="2174083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51" name="Oval 102"/>
          <p:cNvSpPr>
            <a:spLocks noChangeArrowheads="1"/>
          </p:cNvSpPr>
          <p:nvPr/>
        </p:nvSpPr>
        <p:spPr bwMode="auto">
          <a:xfrm>
            <a:off x="2322514" y="2276475"/>
            <a:ext cx="67865" cy="6786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52" name="Oval 103"/>
          <p:cNvSpPr>
            <a:spLocks noChangeArrowheads="1"/>
          </p:cNvSpPr>
          <p:nvPr/>
        </p:nvSpPr>
        <p:spPr bwMode="auto">
          <a:xfrm>
            <a:off x="2140347" y="2372917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53" name="Oval 104"/>
          <p:cNvSpPr>
            <a:spLocks noChangeArrowheads="1"/>
          </p:cNvSpPr>
          <p:nvPr/>
        </p:nvSpPr>
        <p:spPr bwMode="auto">
          <a:xfrm>
            <a:off x="2118915" y="2258618"/>
            <a:ext cx="6786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54" name="Oval 105"/>
          <p:cNvSpPr>
            <a:spLocks noChangeArrowheads="1"/>
          </p:cNvSpPr>
          <p:nvPr/>
        </p:nvSpPr>
        <p:spPr bwMode="auto">
          <a:xfrm>
            <a:off x="2291558" y="2382443"/>
            <a:ext cx="67865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55" name="Oval 106"/>
          <p:cNvSpPr>
            <a:spLocks noChangeArrowheads="1"/>
          </p:cNvSpPr>
          <p:nvPr/>
        </p:nvSpPr>
        <p:spPr bwMode="auto">
          <a:xfrm>
            <a:off x="1778396" y="2227662"/>
            <a:ext cx="67866" cy="67865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56" name="Oval 107"/>
          <p:cNvSpPr>
            <a:spLocks noChangeArrowheads="1"/>
          </p:cNvSpPr>
          <p:nvPr/>
        </p:nvSpPr>
        <p:spPr bwMode="auto">
          <a:xfrm>
            <a:off x="1879601" y="2328864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57" name="Oval 108"/>
          <p:cNvSpPr>
            <a:spLocks noChangeArrowheads="1"/>
          </p:cNvSpPr>
          <p:nvPr/>
        </p:nvSpPr>
        <p:spPr bwMode="auto">
          <a:xfrm>
            <a:off x="1662908" y="2462213"/>
            <a:ext cx="67865" cy="6786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58" name="Oval 109"/>
          <p:cNvSpPr>
            <a:spLocks noChangeArrowheads="1"/>
          </p:cNvSpPr>
          <p:nvPr/>
        </p:nvSpPr>
        <p:spPr bwMode="auto">
          <a:xfrm>
            <a:off x="1676003" y="2311005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59" name="Oval 110"/>
          <p:cNvSpPr>
            <a:spLocks noChangeArrowheads="1"/>
          </p:cNvSpPr>
          <p:nvPr/>
        </p:nvSpPr>
        <p:spPr bwMode="auto">
          <a:xfrm>
            <a:off x="1874838" y="2462213"/>
            <a:ext cx="69056" cy="6786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60" name="Oval 111"/>
          <p:cNvSpPr>
            <a:spLocks noChangeArrowheads="1"/>
          </p:cNvSpPr>
          <p:nvPr/>
        </p:nvSpPr>
        <p:spPr bwMode="auto">
          <a:xfrm>
            <a:off x="1981995" y="2568181"/>
            <a:ext cx="67865" cy="67865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61" name="Oval 112"/>
          <p:cNvSpPr>
            <a:spLocks noChangeArrowheads="1"/>
          </p:cNvSpPr>
          <p:nvPr/>
        </p:nvSpPr>
        <p:spPr bwMode="auto">
          <a:xfrm>
            <a:off x="2047478" y="2709863"/>
            <a:ext cx="69056" cy="6786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62" name="Oval 113"/>
          <p:cNvSpPr>
            <a:spLocks noChangeArrowheads="1"/>
          </p:cNvSpPr>
          <p:nvPr/>
        </p:nvSpPr>
        <p:spPr bwMode="auto">
          <a:xfrm>
            <a:off x="1910557" y="2780111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63" name="Oval 114"/>
          <p:cNvSpPr>
            <a:spLocks noChangeArrowheads="1"/>
          </p:cNvSpPr>
          <p:nvPr/>
        </p:nvSpPr>
        <p:spPr bwMode="auto">
          <a:xfrm>
            <a:off x="1768872" y="2638426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64" name="Oval 115"/>
          <p:cNvSpPr>
            <a:spLocks noChangeArrowheads="1"/>
          </p:cNvSpPr>
          <p:nvPr/>
        </p:nvSpPr>
        <p:spPr bwMode="auto">
          <a:xfrm>
            <a:off x="2122488" y="2887268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65" name="Oval 116"/>
          <p:cNvSpPr>
            <a:spLocks noChangeArrowheads="1"/>
          </p:cNvSpPr>
          <p:nvPr/>
        </p:nvSpPr>
        <p:spPr bwMode="auto">
          <a:xfrm>
            <a:off x="2371327" y="2572943"/>
            <a:ext cx="67866" cy="67865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66" name="Oval 117"/>
          <p:cNvSpPr>
            <a:spLocks noChangeArrowheads="1"/>
          </p:cNvSpPr>
          <p:nvPr/>
        </p:nvSpPr>
        <p:spPr bwMode="auto">
          <a:xfrm>
            <a:off x="2547541" y="2638426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67" name="Oval 118"/>
          <p:cNvSpPr>
            <a:spLocks noChangeArrowheads="1"/>
          </p:cNvSpPr>
          <p:nvPr/>
        </p:nvSpPr>
        <p:spPr bwMode="auto">
          <a:xfrm>
            <a:off x="2299891" y="2851550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68" name="Oval 119"/>
          <p:cNvSpPr>
            <a:spLocks noChangeArrowheads="1"/>
          </p:cNvSpPr>
          <p:nvPr/>
        </p:nvSpPr>
        <p:spPr bwMode="auto">
          <a:xfrm>
            <a:off x="2268935" y="2656286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69" name="Oval 120"/>
          <p:cNvSpPr>
            <a:spLocks noChangeArrowheads="1"/>
          </p:cNvSpPr>
          <p:nvPr/>
        </p:nvSpPr>
        <p:spPr bwMode="auto">
          <a:xfrm>
            <a:off x="2441576" y="2780111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70" name="Oval 121"/>
          <p:cNvSpPr>
            <a:spLocks noChangeArrowheads="1"/>
          </p:cNvSpPr>
          <p:nvPr/>
        </p:nvSpPr>
        <p:spPr bwMode="auto">
          <a:xfrm>
            <a:off x="1981995" y="1864519"/>
            <a:ext cx="67865" cy="67866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71" name="Oval 122"/>
          <p:cNvSpPr>
            <a:spLocks noChangeArrowheads="1"/>
          </p:cNvSpPr>
          <p:nvPr/>
        </p:nvSpPr>
        <p:spPr bwMode="auto">
          <a:xfrm>
            <a:off x="2083196" y="1965724"/>
            <a:ext cx="6786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72" name="Oval 123"/>
          <p:cNvSpPr>
            <a:spLocks noChangeArrowheads="1"/>
          </p:cNvSpPr>
          <p:nvPr/>
        </p:nvSpPr>
        <p:spPr bwMode="auto">
          <a:xfrm>
            <a:off x="1768872" y="2072881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73" name="Oval 124"/>
          <p:cNvSpPr>
            <a:spLocks noChangeArrowheads="1"/>
          </p:cNvSpPr>
          <p:nvPr/>
        </p:nvSpPr>
        <p:spPr bwMode="auto">
          <a:xfrm>
            <a:off x="1879601" y="1949056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74" name="Oval 125"/>
          <p:cNvSpPr>
            <a:spLocks noChangeArrowheads="1"/>
          </p:cNvSpPr>
          <p:nvPr/>
        </p:nvSpPr>
        <p:spPr bwMode="auto">
          <a:xfrm>
            <a:off x="1981995" y="2072881"/>
            <a:ext cx="67865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75" name="Oval 126"/>
          <p:cNvSpPr>
            <a:spLocks noChangeArrowheads="1"/>
          </p:cNvSpPr>
          <p:nvPr/>
        </p:nvSpPr>
        <p:spPr bwMode="auto">
          <a:xfrm>
            <a:off x="2689226" y="2214563"/>
            <a:ext cx="69056" cy="67866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76" name="Oval 127"/>
          <p:cNvSpPr>
            <a:spLocks noChangeArrowheads="1"/>
          </p:cNvSpPr>
          <p:nvPr/>
        </p:nvSpPr>
        <p:spPr bwMode="auto">
          <a:xfrm>
            <a:off x="2724945" y="2356250"/>
            <a:ext cx="67865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77" name="Oval 128"/>
          <p:cNvSpPr>
            <a:spLocks noChangeArrowheads="1"/>
          </p:cNvSpPr>
          <p:nvPr/>
        </p:nvSpPr>
        <p:spPr bwMode="auto">
          <a:xfrm>
            <a:off x="2513014" y="2462213"/>
            <a:ext cx="67865" cy="6786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78" name="Oval 129"/>
          <p:cNvSpPr>
            <a:spLocks noChangeArrowheads="1"/>
          </p:cNvSpPr>
          <p:nvPr/>
        </p:nvSpPr>
        <p:spPr bwMode="auto">
          <a:xfrm>
            <a:off x="2583258" y="2356250"/>
            <a:ext cx="6786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79" name="Oval 130"/>
          <p:cNvSpPr>
            <a:spLocks noChangeArrowheads="1"/>
          </p:cNvSpPr>
          <p:nvPr/>
        </p:nvSpPr>
        <p:spPr bwMode="auto">
          <a:xfrm>
            <a:off x="2689226" y="2568181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80" name="Oval 131"/>
          <p:cNvSpPr>
            <a:spLocks noChangeArrowheads="1"/>
          </p:cNvSpPr>
          <p:nvPr/>
        </p:nvSpPr>
        <p:spPr bwMode="auto">
          <a:xfrm>
            <a:off x="2410619" y="1864519"/>
            <a:ext cx="69056" cy="67866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81" name="Oval 132"/>
          <p:cNvSpPr>
            <a:spLocks noChangeArrowheads="1"/>
          </p:cNvSpPr>
          <p:nvPr/>
        </p:nvSpPr>
        <p:spPr bwMode="auto">
          <a:xfrm>
            <a:off x="2513014" y="1965724"/>
            <a:ext cx="67865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82" name="Oval 133"/>
          <p:cNvSpPr>
            <a:spLocks noChangeArrowheads="1"/>
          </p:cNvSpPr>
          <p:nvPr/>
        </p:nvSpPr>
        <p:spPr bwMode="auto">
          <a:xfrm>
            <a:off x="2405857" y="2072881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83" name="Oval 134"/>
          <p:cNvSpPr>
            <a:spLocks noChangeArrowheads="1"/>
          </p:cNvSpPr>
          <p:nvPr/>
        </p:nvSpPr>
        <p:spPr bwMode="auto">
          <a:xfrm>
            <a:off x="2309415" y="1949056"/>
            <a:ext cx="6786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84" name="Oval 135"/>
          <p:cNvSpPr>
            <a:spLocks noChangeArrowheads="1"/>
          </p:cNvSpPr>
          <p:nvPr/>
        </p:nvSpPr>
        <p:spPr bwMode="auto">
          <a:xfrm>
            <a:off x="2583258" y="2107408"/>
            <a:ext cx="6786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85" name="Oval 136"/>
          <p:cNvSpPr>
            <a:spLocks noChangeArrowheads="1"/>
          </p:cNvSpPr>
          <p:nvPr/>
        </p:nvSpPr>
        <p:spPr bwMode="auto">
          <a:xfrm>
            <a:off x="2772570" y="1404937"/>
            <a:ext cx="467915" cy="41433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86" name="Oval 137"/>
          <p:cNvSpPr>
            <a:spLocks noChangeArrowheads="1"/>
          </p:cNvSpPr>
          <p:nvPr/>
        </p:nvSpPr>
        <p:spPr bwMode="auto">
          <a:xfrm>
            <a:off x="2982120" y="1457325"/>
            <a:ext cx="67865" cy="6786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87" name="Oval 138"/>
          <p:cNvSpPr>
            <a:spLocks noChangeArrowheads="1"/>
          </p:cNvSpPr>
          <p:nvPr/>
        </p:nvSpPr>
        <p:spPr bwMode="auto">
          <a:xfrm>
            <a:off x="3083322" y="1558530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88" name="Oval 139"/>
          <p:cNvSpPr>
            <a:spLocks noChangeArrowheads="1"/>
          </p:cNvSpPr>
          <p:nvPr/>
        </p:nvSpPr>
        <p:spPr bwMode="auto">
          <a:xfrm>
            <a:off x="2902346" y="1656161"/>
            <a:ext cx="6786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89" name="Oval 140"/>
          <p:cNvSpPr>
            <a:spLocks noChangeArrowheads="1"/>
          </p:cNvSpPr>
          <p:nvPr/>
        </p:nvSpPr>
        <p:spPr bwMode="auto">
          <a:xfrm>
            <a:off x="2879726" y="1541862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90" name="Oval 141"/>
          <p:cNvSpPr>
            <a:spLocks noChangeArrowheads="1"/>
          </p:cNvSpPr>
          <p:nvPr/>
        </p:nvSpPr>
        <p:spPr bwMode="auto">
          <a:xfrm>
            <a:off x="3052366" y="1665687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91" name="Freeform 142"/>
          <p:cNvSpPr>
            <a:spLocks/>
          </p:cNvSpPr>
          <p:nvPr/>
        </p:nvSpPr>
        <p:spPr bwMode="auto">
          <a:xfrm>
            <a:off x="2489200" y="1828800"/>
            <a:ext cx="519113" cy="501254"/>
          </a:xfrm>
          <a:custGeom>
            <a:avLst/>
            <a:gdLst>
              <a:gd name="T0" fmla="*/ 0 w 436"/>
              <a:gd name="T1" fmla="*/ 2147483647 h 421"/>
              <a:gd name="T2" fmla="*/ 2147483647 w 436"/>
              <a:gd name="T3" fmla="*/ 2147483647 h 421"/>
              <a:gd name="T4" fmla="*/ 2147483647 w 436"/>
              <a:gd name="T5" fmla="*/ 0 h 421"/>
              <a:gd name="T6" fmla="*/ 0 60000 65536"/>
              <a:gd name="T7" fmla="*/ 0 60000 65536"/>
              <a:gd name="T8" fmla="*/ 0 60000 65536"/>
              <a:gd name="T9" fmla="*/ 0 w 436"/>
              <a:gd name="T10" fmla="*/ 0 h 421"/>
              <a:gd name="T11" fmla="*/ 436 w 436"/>
              <a:gd name="T12" fmla="*/ 421 h 4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6" h="421">
                <a:moveTo>
                  <a:pt x="0" y="420"/>
                </a:moveTo>
                <a:lnTo>
                  <a:pt x="435" y="420"/>
                </a:lnTo>
                <a:lnTo>
                  <a:pt x="435" y="0"/>
                </a:lnTo>
              </a:path>
            </a:pathLst>
          </a:custGeom>
          <a:noFill/>
          <a:ln w="50800" cap="rnd">
            <a:solidFill>
              <a:schemeClr val="accent2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fr-FR" sz="1350"/>
          </a:p>
        </p:txBody>
      </p:sp>
      <p:sp>
        <p:nvSpPr>
          <p:cNvPr id="31792" name="Text Box 143"/>
          <p:cNvSpPr txBox="1">
            <a:spLocks noChangeArrowheads="1"/>
          </p:cNvSpPr>
          <p:nvPr/>
        </p:nvSpPr>
        <p:spPr bwMode="auto">
          <a:xfrm>
            <a:off x="4104878" y="2078833"/>
            <a:ext cx="4404122" cy="80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CA" sz="1500">
                <a:solidFill>
                  <a:srgbClr val="185FAB"/>
                </a:solidFill>
              </a:rPr>
              <a:t>Donc, on accepte un lot dont la qualité ne serait pas normalement tolérée</a:t>
            </a:r>
            <a:r>
              <a:rPr lang="fr-CA" sz="1500" b="1">
                <a:solidFill>
                  <a:srgbClr val="185FAB"/>
                </a:solidFill>
              </a:rPr>
              <a:t> :</a:t>
            </a:r>
          </a:p>
          <a:p>
            <a:pPr algn="l"/>
            <a:r>
              <a:rPr lang="fr-CA" sz="1650" b="1">
                <a:solidFill>
                  <a:srgbClr val="185FAB"/>
                </a:solidFill>
              </a:rPr>
              <a:t>risque du client (</a:t>
            </a:r>
            <a:r>
              <a:rPr lang="fr-CA" sz="1650" b="1">
                <a:solidFill>
                  <a:srgbClr val="185FAB"/>
                </a:solidFill>
                <a:cs typeface="Times New Roman" pitchFamily="18" charset="0"/>
              </a:rPr>
              <a:t>ß)</a:t>
            </a:r>
            <a:endParaRPr lang="en-CA" sz="1650" b="1">
              <a:solidFill>
                <a:srgbClr val="185FAB"/>
              </a:solidFill>
            </a:endParaRPr>
          </a:p>
        </p:txBody>
      </p:sp>
      <p:sp>
        <p:nvSpPr>
          <p:cNvPr id="31793" name="Rectangle 144"/>
          <p:cNvSpPr>
            <a:spLocks noChangeArrowheads="1"/>
          </p:cNvSpPr>
          <p:nvPr/>
        </p:nvSpPr>
        <p:spPr bwMode="auto">
          <a:xfrm>
            <a:off x="4563269" y="3424239"/>
            <a:ext cx="3106620" cy="439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056" tIns="34529" rIns="69056" bIns="34529">
            <a:spAutoFit/>
          </a:bodyPr>
          <a:lstStyle/>
          <a:p>
            <a:pPr defTabSz="571500" eaLnBrk="0" hangingPunct="0">
              <a:lnSpc>
                <a:spcPct val="80000"/>
              </a:lnSpc>
            </a:pPr>
            <a:r>
              <a:rPr lang="fr-CH" sz="1500" dirty="0">
                <a:solidFill>
                  <a:srgbClr val="185FAB"/>
                </a:solidFill>
              </a:rPr>
              <a:t>Échantillon de taille «n» </a:t>
            </a:r>
            <a:r>
              <a:rPr lang="fr-CH" sz="1500" u="sng" dirty="0">
                <a:solidFill>
                  <a:srgbClr val="185FAB"/>
                </a:solidFill>
              </a:rPr>
              <a:t>PIRE</a:t>
            </a:r>
            <a:r>
              <a:rPr lang="fr-CH" sz="1500" dirty="0">
                <a:solidFill>
                  <a:srgbClr val="185FAB"/>
                </a:solidFill>
              </a:rPr>
              <a:t> que </a:t>
            </a:r>
          </a:p>
          <a:p>
            <a:pPr defTabSz="571500" eaLnBrk="0" hangingPunct="0">
              <a:lnSpc>
                <a:spcPct val="80000"/>
              </a:lnSpc>
            </a:pPr>
            <a:r>
              <a:rPr lang="fr-CH" sz="1500" dirty="0">
                <a:solidFill>
                  <a:srgbClr val="185FAB"/>
                </a:solidFill>
              </a:rPr>
              <a:t>le lot dont il est tiré</a:t>
            </a:r>
          </a:p>
        </p:txBody>
      </p:sp>
      <p:sp>
        <p:nvSpPr>
          <p:cNvPr id="31794" name="Oval 145"/>
          <p:cNvSpPr>
            <a:spLocks noChangeArrowheads="1"/>
          </p:cNvSpPr>
          <p:nvPr/>
        </p:nvSpPr>
        <p:spPr bwMode="auto">
          <a:xfrm>
            <a:off x="1852216" y="3424240"/>
            <a:ext cx="1345406" cy="1273969"/>
          </a:xfrm>
          <a:prstGeom prst="ellips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95" name="Oval 146"/>
          <p:cNvSpPr>
            <a:spLocks noChangeArrowheads="1"/>
          </p:cNvSpPr>
          <p:nvPr/>
        </p:nvSpPr>
        <p:spPr bwMode="auto">
          <a:xfrm>
            <a:off x="2378471" y="3793331"/>
            <a:ext cx="433388" cy="414338"/>
          </a:xfrm>
          <a:prstGeom prst="ellips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96" name="Oval 147"/>
          <p:cNvSpPr>
            <a:spLocks noChangeArrowheads="1"/>
          </p:cNvSpPr>
          <p:nvPr/>
        </p:nvSpPr>
        <p:spPr bwMode="auto">
          <a:xfrm>
            <a:off x="2552303" y="3845720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97" name="Oval 148"/>
          <p:cNvSpPr>
            <a:spLocks noChangeArrowheads="1"/>
          </p:cNvSpPr>
          <p:nvPr/>
        </p:nvSpPr>
        <p:spPr bwMode="auto">
          <a:xfrm>
            <a:off x="2654696" y="3948113"/>
            <a:ext cx="67866" cy="67866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98" name="Oval 149"/>
          <p:cNvSpPr>
            <a:spLocks noChangeArrowheads="1"/>
          </p:cNvSpPr>
          <p:nvPr/>
        </p:nvSpPr>
        <p:spPr bwMode="auto">
          <a:xfrm>
            <a:off x="2472532" y="4044555"/>
            <a:ext cx="69056" cy="69056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799" name="Oval 150"/>
          <p:cNvSpPr>
            <a:spLocks noChangeArrowheads="1"/>
          </p:cNvSpPr>
          <p:nvPr/>
        </p:nvSpPr>
        <p:spPr bwMode="auto">
          <a:xfrm>
            <a:off x="2451102" y="3930256"/>
            <a:ext cx="67865" cy="67865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00" name="Oval 151"/>
          <p:cNvSpPr>
            <a:spLocks noChangeArrowheads="1"/>
          </p:cNvSpPr>
          <p:nvPr/>
        </p:nvSpPr>
        <p:spPr bwMode="auto">
          <a:xfrm>
            <a:off x="2623740" y="4054081"/>
            <a:ext cx="6786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01" name="Oval 152"/>
          <p:cNvSpPr>
            <a:spLocks noChangeArrowheads="1"/>
          </p:cNvSpPr>
          <p:nvPr/>
        </p:nvSpPr>
        <p:spPr bwMode="auto">
          <a:xfrm>
            <a:off x="2110583" y="3899300"/>
            <a:ext cx="67865" cy="67865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02" name="Oval 153"/>
          <p:cNvSpPr>
            <a:spLocks noChangeArrowheads="1"/>
          </p:cNvSpPr>
          <p:nvPr/>
        </p:nvSpPr>
        <p:spPr bwMode="auto">
          <a:xfrm>
            <a:off x="2211785" y="4000501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03" name="Oval 154"/>
          <p:cNvSpPr>
            <a:spLocks noChangeArrowheads="1"/>
          </p:cNvSpPr>
          <p:nvPr/>
        </p:nvSpPr>
        <p:spPr bwMode="auto">
          <a:xfrm>
            <a:off x="1995090" y="4133850"/>
            <a:ext cx="67866" cy="6786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04" name="Oval 155"/>
          <p:cNvSpPr>
            <a:spLocks noChangeArrowheads="1"/>
          </p:cNvSpPr>
          <p:nvPr/>
        </p:nvSpPr>
        <p:spPr bwMode="auto">
          <a:xfrm>
            <a:off x="2008188" y="3982642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05" name="Oval 156"/>
          <p:cNvSpPr>
            <a:spLocks noChangeArrowheads="1"/>
          </p:cNvSpPr>
          <p:nvPr/>
        </p:nvSpPr>
        <p:spPr bwMode="auto">
          <a:xfrm>
            <a:off x="2207022" y="4133850"/>
            <a:ext cx="69056" cy="6786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06" name="Oval 157"/>
          <p:cNvSpPr>
            <a:spLocks noChangeArrowheads="1"/>
          </p:cNvSpPr>
          <p:nvPr/>
        </p:nvSpPr>
        <p:spPr bwMode="auto">
          <a:xfrm>
            <a:off x="2314177" y="4239818"/>
            <a:ext cx="67866" cy="67865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07" name="Oval 158"/>
          <p:cNvSpPr>
            <a:spLocks noChangeArrowheads="1"/>
          </p:cNvSpPr>
          <p:nvPr/>
        </p:nvSpPr>
        <p:spPr bwMode="auto">
          <a:xfrm>
            <a:off x="2379663" y="4381500"/>
            <a:ext cx="69056" cy="6786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08" name="Oval 159"/>
          <p:cNvSpPr>
            <a:spLocks noChangeArrowheads="1"/>
          </p:cNvSpPr>
          <p:nvPr/>
        </p:nvSpPr>
        <p:spPr bwMode="auto">
          <a:xfrm>
            <a:off x="2242741" y="4451749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09" name="Oval 160"/>
          <p:cNvSpPr>
            <a:spLocks noChangeArrowheads="1"/>
          </p:cNvSpPr>
          <p:nvPr/>
        </p:nvSpPr>
        <p:spPr bwMode="auto">
          <a:xfrm>
            <a:off x="2101057" y="4310064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10" name="Oval 161"/>
          <p:cNvSpPr>
            <a:spLocks noChangeArrowheads="1"/>
          </p:cNvSpPr>
          <p:nvPr/>
        </p:nvSpPr>
        <p:spPr bwMode="auto">
          <a:xfrm>
            <a:off x="2454672" y="4558906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11" name="Oval 162"/>
          <p:cNvSpPr>
            <a:spLocks noChangeArrowheads="1"/>
          </p:cNvSpPr>
          <p:nvPr/>
        </p:nvSpPr>
        <p:spPr bwMode="auto">
          <a:xfrm>
            <a:off x="2703514" y="4244581"/>
            <a:ext cx="67865" cy="67865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12" name="Oval 163"/>
          <p:cNvSpPr>
            <a:spLocks noChangeArrowheads="1"/>
          </p:cNvSpPr>
          <p:nvPr/>
        </p:nvSpPr>
        <p:spPr bwMode="auto">
          <a:xfrm>
            <a:off x="2879726" y="4310064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13" name="Oval 164"/>
          <p:cNvSpPr>
            <a:spLocks noChangeArrowheads="1"/>
          </p:cNvSpPr>
          <p:nvPr/>
        </p:nvSpPr>
        <p:spPr bwMode="auto">
          <a:xfrm>
            <a:off x="2632076" y="4523187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14" name="Oval 165"/>
          <p:cNvSpPr>
            <a:spLocks noChangeArrowheads="1"/>
          </p:cNvSpPr>
          <p:nvPr/>
        </p:nvSpPr>
        <p:spPr bwMode="auto">
          <a:xfrm>
            <a:off x="2601119" y="4327924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15" name="Oval 166"/>
          <p:cNvSpPr>
            <a:spLocks noChangeArrowheads="1"/>
          </p:cNvSpPr>
          <p:nvPr/>
        </p:nvSpPr>
        <p:spPr bwMode="auto">
          <a:xfrm>
            <a:off x="2773760" y="4451749"/>
            <a:ext cx="6905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16" name="Oval 167"/>
          <p:cNvSpPr>
            <a:spLocks noChangeArrowheads="1"/>
          </p:cNvSpPr>
          <p:nvPr/>
        </p:nvSpPr>
        <p:spPr bwMode="auto">
          <a:xfrm>
            <a:off x="2314177" y="3536156"/>
            <a:ext cx="67866" cy="67866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17" name="Oval 168"/>
          <p:cNvSpPr>
            <a:spLocks noChangeArrowheads="1"/>
          </p:cNvSpPr>
          <p:nvPr/>
        </p:nvSpPr>
        <p:spPr bwMode="auto">
          <a:xfrm>
            <a:off x="2415383" y="3637361"/>
            <a:ext cx="67865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18" name="Oval 169"/>
          <p:cNvSpPr>
            <a:spLocks noChangeArrowheads="1"/>
          </p:cNvSpPr>
          <p:nvPr/>
        </p:nvSpPr>
        <p:spPr bwMode="auto">
          <a:xfrm>
            <a:off x="2101057" y="3744518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19" name="Oval 170"/>
          <p:cNvSpPr>
            <a:spLocks noChangeArrowheads="1"/>
          </p:cNvSpPr>
          <p:nvPr/>
        </p:nvSpPr>
        <p:spPr bwMode="auto">
          <a:xfrm>
            <a:off x="2211785" y="3620693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20" name="Oval 171"/>
          <p:cNvSpPr>
            <a:spLocks noChangeArrowheads="1"/>
          </p:cNvSpPr>
          <p:nvPr/>
        </p:nvSpPr>
        <p:spPr bwMode="auto">
          <a:xfrm>
            <a:off x="2314177" y="3744518"/>
            <a:ext cx="6786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21" name="Oval 172"/>
          <p:cNvSpPr>
            <a:spLocks noChangeArrowheads="1"/>
          </p:cNvSpPr>
          <p:nvPr/>
        </p:nvSpPr>
        <p:spPr bwMode="auto">
          <a:xfrm>
            <a:off x="3021410" y="3886200"/>
            <a:ext cx="69056" cy="67866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22" name="Oval 173"/>
          <p:cNvSpPr>
            <a:spLocks noChangeArrowheads="1"/>
          </p:cNvSpPr>
          <p:nvPr/>
        </p:nvSpPr>
        <p:spPr bwMode="auto">
          <a:xfrm>
            <a:off x="3057127" y="4027887"/>
            <a:ext cx="6786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23" name="Oval 174"/>
          <p:cNvSpPr>
            <a:spLocks noChangeArrowheads="1"/>
          </p:cNvSpPr>
          <p:nvPr/>
        </p:nvSpPr>
        <p:spPr bwMode="auto">
          <a:xfrm>
            <a:off x="2845196" y="4133850"/>
            <a:ext cx="67866" cy="6786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24" name="Oval 175"/>
          <p:cNvSpPr>
            <a:spLocks noChangeArrowheads="1"/>
          </p:cNvSpPr>
          <p:nvPr/>
        </p:nvSpPr>
        <p:spPr bwMode="auto">
          <a:xfrm>
            <a:off x="2915445" y="4027887"/>
            <a:ext cx="67865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25" name="Oval 176"/>
          <p:cNvSpPr>
            <a:spLocks noChangeArrowheads="1"/>
          </p:cNvSpPr>
          <p:nvPr/>
        </p:nvSpPr>
        <p:spPr bwMode="auto">
          <a:xfrm>
            <a:off x="3021410" y="4239818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26" name="Oval 177"/>
          <p:cNvSpPr>
            <a:spLocks noChangeArrowheads="1"/>
          </p:cNvSpPr>
          <p:nvPr/>
        </p:nvSpPr>
        <p:spPr bwMode="auto">
          <a:xfrm>
            <a:off x="2742803" y="3536156"/>
            <a:ext cx="69056" cy="67866"/>
          </a:xfrm>
          <a:prstGeom prst="ellipse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27" name="Oval 178"/>
          <p:cNvSpPr>
            <a:spLocks noChangeArrowheads="1"/>
          </p:cNvSpPr>
          <p:nvPr/>
        </p:nvSpPr>
        <p:spPr bwMode="auto">
          <a:xfrm>
            <a:off x="2845196" y="3637361"/>
            <a:ext cx="67866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28" name="Oval 179"/>
          <p:cNvSpPr>
            <a:spLocks noChangeArrowheads="1"/>
          </p:cNvSpPr>
          <p:nvPr/>
        </p:nvSpPr>
        <p:spPr bwMode="auto">
          <a:xfrm>
            <a:off x="2738041" y="3744518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29" name="Oval 180"/>
          <p:cNvSpPr>
            <a:spLocks noChangeArrowheads="1"/>
          </p:cNvSpPr>
          <p:nvPr/>
        </p:nvSpPr>
        <p:spPr bwMode="auto">
          <a:xfrm>
            <a:off x="2641602" y="3620693"/>
            <a:ext cx="67865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30" name="Oval 181"/>
          <p:cNvSpPr>
            <a:spLocks noChangeArrowheads="1"/>
          </p:cNvSpPr>
          <p:nvPr/>
        </p:nvSpPr>
        <p:spPr bwMode="auto">
          <a:xfrm>
            <a:off x="2915445" y="3779045"/>
            <a:ext cx="67865" cy="690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31" name="Oval 182"/>
          <p:cNvSpPr>
            <a:spLocks noChangeArrowheads="1"/>
          </p:cNvSpPr>
          <p:nvPr/>
        </p:nvSpPr>
        <p:spPr bwMode="auto">
          <a:xfrm>
            <a:off x="3104752" y="3076575"/>
            <a:ext cx="467916" cy="414338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32" name="Oval 183"/>
          <p:cNvSpPr>
            <a:spLocks noChangeArrowheads="1"/>
          </p:cNvSpPr>
          <p:nvPr/>
        </p:nvSpPr>
        <p:spPr bwMode="auto">
          <a:xfrm>
            <a:off x="3314302" y="3128963"/>
            <a:ext cx="67866" cy="6786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33" name="Oval 184"/>
          <p:cNvSpPr>
            <a:spLocks noChangeArrowheads="1"/>
          </p:cNvSpPr>
          <p:nvPr/>
        </p:nvSpPr>
        <p:spPr bwMode="auto">
          <a:xfrm>
            <a:off x="3415507" y="3230167"/>
            <a:ext cx="69056" cy="69056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34" name="Oval 185"/>
          <p:cNvSpPr>
            <a:spLocks noChangeArrowheads="1"/>
          </p:cNvSpPr>
          <p:nvPr/>
        </p:nvSpPr>
        <p:spPr bwMode="auto">
          <a:xfrm>
            <a:off x="3234533" y="3327799"/>
            <a:ext cx="67865" cy="69056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35" name="Oval 186"/>
          <p:cNvSpPr>
            <a:spLocks noChangeArrowheads="1"/>
          </p:cNvSpPr>
          <p:nvPr/>
        </p:nvSpPr>
        <p:spPr bwMode="auto">
          <a:xfrm>
            <a:off x="3211910" y="3213500"/>
            <a:ext cx="69056" cy="67865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36" name="Oval 187"/>
          <p:cNvSpPr>
            <a:spLocks noChangeArrowheads="1"/>
          </p:cNvSpPr>
          <p:nvPr/>
        </p:nvSpPr>
        <p:spPr bwMode="auto">
          <a:xfrm>
            <a:off x="3384551" y="3337325"/>
            <a:ext cx="69056" cy="6786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1837" name="Freeform 188"/>
          <p:cNvSpPr>
            <a:spLocks/>
          </p:cNvSpPr>
          <p:nvPr/>
        </p:nvSpPr>
        <p:spPr bwMode="auto">
          <a:xfrm>
            <a:off x="2821384" y="3500437"/>
            <a:ext cx="519113" cy="501254"/>
          </a:xfrm>
          <a:custGeom>
            <a:avLst/>
            <a:gdLst>
              <a:gd name="T0" fmla="*/ 0 w 436"/>
              <a:gd name="T1" fmla="*/ 2147483647 h 421"/>
              <a:gd name="T2" fmla="*/ 2147483647 w 436"/>
              <a:gd name="T3" fmla="*/ 2147483647 h 421"/>
              <a:gd name="T4" fmla="*/ 2147483647 w 436"/>
              <a:gd name="T5" fmla="*/ 0 h 421"/>
              <a:gd name="T6" fmla="*/ 0 60000 65536"/>
              <a:gd name="T7" fmla="*/ 0 60000 65536"/>
              <a:gd name="T8" fmla="*/ 0 60000 65536"/>
              <a:gd name="T9" fmla="*/ 0 w 436"/>
              <a:gd name="T10" fmla="*/ 0 h 421"/>
              <a:gd name="T11" fmla="*/ 436 w 436"/>
              <a:gd name="T12" fmla="*/ 421 h 4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6" h="421">
                <a:moveTo>
                  <a:pt x="0" y="420"/>
                </a:moveTo>
                <a:lnTo>
                  <a:pt x="435" y="420"/>
                </a:lnTo>
                <a:lnTo>
                  <a:pt x="435" y="0"/>
                </a:lnTo>
              </a:path>
            </a:pathLst>
          </a:custGeom>
          <a:noFill/>
          <a:ln w="50800" cap="rnd">
            <a:solidFill>
              <a:schemeClr val="accent2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fr-FR" sz="1350"/>
          </a:p>
        </p:txBody>
      </p:sp>
      <p:sp>
        <p:nvSpPr>
          <p:cNvPr id="31838" name="Text Box 189"/>
          <p:cNvSpPr txBox="1">
            <a:spLocks noChangeArrowheads="1"/>
          </p:cNvSpPr>
          <p:nvPr/>
        </p:nvSpPr>
        <p:spPr bwMode="auto">
          <a:xfrm>
            <a:off x="4538266" y="3977881"/>
            <a:ext cx="3970734" cy="80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fr-CA" sz="1500">
                <a:solidFill>
                  <a:srgbClr val="185FAB"/>
                </a:solidFill>
              </a:rPr>
              <a:t>Donc, on rejette un lot dont la qualité</a:t>
            </a:r>
          </a:p>
          <a:p>
            <a:pPr algn="l"/>
            <a:r>
              <a:rPr lang="fr-CA" sz="1500">
                <a:solidFill>
                  <a:srgbClr val="185FAB"/>
                </a:solidFill>
              </a:rPr>
              <a:t>serait normalement tolérée :</a:t>
            </a:r>
          </a:p>
          <a:p>
            <a:pPr algn="l"/>
            <a:r>
              <a:rPr lang="fr-CA" sz="1650" b="1">
                <a:solidFill>
                  <a:srgbClr val="185FAB"/>
                </a:solidFill>
              </a:rPr>
              <a:t>risque du fournisseur (</a:t>
            </a:r>
            <a:r>
              <a:rPr lang="el-GR" sz="1650" b="1">
                <a:solidFill>
                  <a:srgbClr val="185FAB"/>
                </a:solidFill>
                <a:cs typeface="Arial" charset="0"/>
              </a:rPr>
              <a:t>α</a:t>
            </a:r>
            <a:r>
              <a:rPr lang="fr-CA" sz="1650" b="1">
                <a:solidFill>
                  <a:srgbClr val="185FAB"/>
                </a:solidFill>
                <a:cs typeface="Times New Roman" pitchFamily="18" charset="0"/>
              </a:rPr>
              <a:t> )</a:t>
            </a:r>
            <a:endParaRPr lang="en-CA" sz="1650" b="1">
              <a:solidFill>
                <a:srgbClr val="185FAB"/>
              </a:solidFill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70AEF116-AEA4-4E74-A90E-A948E451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Cartes des moyennes - étendues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Les cartes moyennes-étendues (en fonction des fabrications) sont les plus utilisées :</a:t>
            </a:r>
          </a:p>
          <a:p>
            <a:pPr marL="625475" lvl="1" indent="-327025"/>
            <a:r>
              <a:rPr lang="fr-FR" sz="1800" dirty="0"/>
              <a:t>X représente la moyenne;</a:t>
            </a:r>
          </a:p>
          <a:p>
            <a:pPr marL="625475" lvl="1" indent="-327025"/>
            <a:r>
              <a:rPr lang="fr-FR" sz="1800" dirty="0"/>
              <a:t>R représente l’étendue (R = range).</a:t>
            </a:r>
          </a:p>
          <a:p>
            <a:pPr lvl="1"/>
            <a:endParaRPr lang="fr-FR" sz="1800" dirty="0"/>
          </a:p>
          <a:p>
            <a:pPr lvl="1"/>
            <a:endParaRPr lang="fr-FR" sz="1800" dirty="0"/>
          </a:p>
          <a:p>
            <a:pPr marL="271463" indent="-271463"/>
            <a:r>
              <a:rPr lang="fr-FR" sz="2000" dirty="0"/>
              <a:t>Elles utilisent des variables mesurables telles que la longueur, le poids, la largeur, la température ou la vitesse</a:t>
            </a:r>
            <a:r>
              <a:rPr lang="fr-FR" sz="1800" dirty="0"/>
              <a:t>.</a:t>
            </a:r>
          </a:p>
          <a:p>
            <a:endParaRPr lang="fr-CA" sz="1800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9226C33-6B7B-4841-9193-47E913497A2C}"/>
              </a:ext>
            </a:extLst>
          </p:cNvPr>
          <p:cNvCxnSpPr/>
          <p:nvPr/>
        </p:nvCxnSpPr>
        <p:spPr>
          <a:xfrm>
            <a:off x="1241503" y="2279470"/>
            <a:ext cx="1709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2172A3F-CBA7-43F7-9FA2-869AC218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Démarche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2001" y="1577686"/>
            <a:ext cx="6538166" cy="3862610"/>
          </a:xfrm>
        </p:spPr>
        <p:txBody>
          <a:bodyPr>
            <a:noAutofit/>
          </a:bodyPr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fr-CA" dirty="0"/>
              <a:t>Prélever un nombre suffisamment élevé (au moins 30, idéalement 50 ou plus) de petits échantillons de taille n, répartis dans le temps;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CA" dirty="0"/>
              <a:t>Pour chacun des échantillons, calculer la moyenne et l’étendue;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CA" dirty="0"/>
              <a:t>Calculer la moyenne des moyenne et la moyenne des étendues;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CA" dirty="0"/>
              <a:t>Calculer les limites de contrôle supérieures et inférieures pour la carte des moyennes et celle des étendues;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CA" dirty="0"/>
              <a:t>Tracer les cartes (moyennes et étendues);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CA" dirty="0"/>
              <a:t>Interpréter les cartes (sous-contrôle ou hors contrôle);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CA" dirty="0"/>
              <a:t>Conclure sur le procédé (sous-contrôle ou hors contrôle).</a:t>
            </a:r>
          </a:p>
          <a:p>
            <a:endParaRPr lang="fr-CA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0F72DFB-E776-4C3E-98F0-5FB3E13075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1" r="24771"/>
          <a:stretch/>
        </p:blipFill>
        <p:spPr bwMode="auto">
          <a:xfrm>
            <a:off x="7303373" y="1822731"/>
            <a:ext cx="2248769" cy="283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8234" name="Group 218"/>
          <p:cNvGraphicFramePr>
            <a:graphicFrameLocks noGrp="1"/>
          </p:cNvGraphicFramePr>
          <p:nvPr>
            <p:ph type="tbl" idx="1"/>
          </p:nvPr>
        </p:nvGraphicFramePr>
        <p:xfrm>
          <a:off x="1360228" y="2057061"/>
          <a:ext cx="7439544" cy="3243825"/>
        </p:xfrm>
        <a:graphic>
          <a:graphicData uri="http://schemas.openxmlformats.org/drawingml/2006/table">
            <a:tbl>
              <a:tblPr/>
              <a:tblGrid>
                <a:gridCol w="55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8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4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00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86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84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89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0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86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41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0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00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866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9551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8666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8666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9551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445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1 /08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2/ 08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3/08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4/08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5/08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8/08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9/08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8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Ob.1</a:t>
                      </a:r>
                      <a:endParaRPr kumimoji="0" lang="en-CA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Ob. 2</a:t>
                      </a:r>
                      <a:endParaRPr kumimoji="0" lang="en-CA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Ob. 3</a:t>
                      </a:r>
                      <a:endParaRPr kumimoji="0" lang="en-CA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9</a:t>
                      </a:r>
                      <a:endParaRPr kumimoji="0" lang="en-CA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Ob. 4</a:t>
                      </a:r>
                      <a:endParaRPr kumimoji="0" lang="en-CA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8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2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Ob. 5</a:t>
                      </a:r>
                      <a:endParaRPr kumimoji="0" lang="en-CA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7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185FAB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CA" sz="11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3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11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900" b="1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5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endParaRPr kumimoji="0" lang="en-CA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185FAB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36" name="Rectangle 213"/>
          <p:cNvSpPr>
            <a:spLocks noChangeArrowheads="1"/>
          </p:cNvSpPr>
          <p:nvPr/>
        </p:nvSpPr>
        <p:spPr bwMode="auto">
          <a:xfrm>
            <a:off x="5026200" y="2969139"/>
            <a:ext cx="184731" cy="3000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endParaRPr lang="fr-FR" sz="1350"/>
          </a:p>
        </p:txBody>
      </p:sp>
      <p:graphicFrame>
        <p:nvGraphicFramePr>
          <p:cNvPr id="1026" name="Object 214"/>
          <p:cNvGraphicFramePr>
            <a:graphicFrameLocks noChangeAspect="1"/>
          </p:cNvGraphicFramePr>
          <p:nvPr/>
        </p:nvGraphicFramePr>
        <p:xfrm>
          <a:off x="1513052" y="4593658"/>
          <a:ext cx="311952" cy="305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279" imgH="304668" progId="Equation.3">
                  <p:embed/>
                </p:oleObj>
              </mc:Choice>
              <mc:Fallback>
                <p:oleObj name="Equation" r:id="rId3" imgW="279279" imgH="304668" progId="Equation.3">
                  <p:embed/>
                  <p:pic>
                    <p:nvPicPr>
                      <p:cNvPr id="1026" name="Object 2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3052" y="4593658"/>
                        <a:ext cx="311952" cy="3055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7" name="Text Box 215"/>
          <p:cNvSpPr txBox="1">
            <a:spLocks noChangeArrowheads="1"/>
          </p:cNvSpPr>
          <p:nvPr/>
        </p:nvSpPr>
        <p:spPr bwMode="auto">
          <a:xfrm>
            <a:off x="1939059" y="4627968"/>
            <a:ext cx="7173752" cy="430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CA" sz="1100" b="1" dirty="0">
                <a:solidFill>
                  <a:schemeClr val="accent3"/>
                </a:solidFill>
              </a:rPr>
              <a:t>6,0    5,8   5,2   4,6    5,8    5,2     4,8    5,4   4,4    5,6   5,4   5,4     5,8    7,0    5,6    4,4    5,4    6,0    4,4    4,8 	</a:t>
            </a:r>
          </a:p>
        </p:txBody>
      </p:sp>
      <p:sp>
        <p:nvSpPr>
          <p:cNvPr id="1238" name="Text Box 216"/>
          <p:cNvSpPr txBox="1">
            <a:spLocks noChangeArrowheads="1"/>
          </p:cNvSpPr>
          <p:nvPr/>
        </p:nvSpPr>
        <p:spPr bwMode="auto">
          <a:xfrm>
            <a:off x="1923650" y="4971150"/>
            <a:ext cx="7188183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CA" sz="1200" b="1" dirty="0"/>
              <a:t> </a:t>
            </a:r>
            <a:r>
              <a:rPr lang="fr-CA" sz="1200" b="1" dirty="0">
                <a:solidFill>
                  <a:srgbClr val="FF0000"/>
                </a:solidFill>
              </a:rPr>
              <a:t>3      4      4     5      6      2       5      3     4      6      5      3      5       5      4     5       3      4      4      4</a:t>
            </a:r>
          </a:p>
        </p:txBody>
      </p:sp>
      <p:sp>
        <p:nvSpPr>
          <p:cNvPr id="1239" name="Text Box 217"/>
          <p:cNvSpPr txBox="1">
            <a:spLocks noChangeArrowheads="1"/>
          </p:cNvSpPr>
          <p:nvPr/>
        </p:nvSpPr>
        <p:spPr bwMode="auto">
          <a:xfrm>
            <a:off x="986800" y="1495187"/>
            <a:ext cx="455509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CA" dirty="0">
                <a:solidFill>
                  <a:srgbClr val="185FAB"/>
                </a:solidFill>
              </a:rPr>
              <a:t>Étapes 1 à 3 :</a:t>
            </a:r>
          </a:p>
        </p:txBody>
      </p:sp>
      <p:sp>
        <p:nvSpPr>
          <p:cNvPr id="1240" name="Oval 219"/>
          <p:cNvSpPr>
            <a:spLocks noChangeArrowheads="1"/>
          </p:cNvSpPr>
          <p:nvPr/>
        </p:nvSpPr>
        <p:spPr bwMode="auto">
          <a:xfrm>
            <a:off x="1923649" y="2434796"/>
            <a:ext cx="319088" cy="1804988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1243" name="Text Box 223"/>
          <p:cNvSpPr txBox="1">
            <a:spLocks noChangeArrowheads="1"/>
          </p:cNvSpPr>
          <p:nvPr/>
        </p:nvSpPr>
        <p:spPr bwMode="auto">
          <a:xfrm>
            <a:off x="2663201" y="1316594"/>
            <a:ext cx="5136119" cy="10272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273844" indent="-273844">
              <a:buFontTx/>
              <a:buChar char="•"/>
            </a:pPr>
            <a:r>
              <a:rPr lang="fr-CA" sz="1350" dirty="0">
                <a:solidFill>
                  <a:srgbClr val="009C98"/>
                </a:solidFill>
              </a:rPr>
              <a:t>Des mesures sont prises pendant 7 jours</a:t>
            </a:r>
          </a:p>
          <a:p>
            <a:pPr marL="273844" indent="-273844">
              <a:buFontTx/>
              <a:buChar char="•"/>
            </a:pPr>
            <a:r>
              <a:rPr lang="fr-CA" sz="1350" dirty="0">
                <a:solidFill>
                  <a:srgbClr val="009C98"/>
                </a:solidFill>
              </a:rPr>
              <a:t>On prélève 3 échantillons par jour</a:t>
            </a:r>
          </a:p>
          <a:p>
            <a:pPr marL="273844" indent="-273844">
              <a:buFontTx/>
              <a:buChar char="•"/>
            </a:pPr>
            <a:r>
              <a:rPr lang="fr-CA" sz="1350" dirty="0">
                <a:solidFill>
                  <a:srgbClr val="009C98"/>
                </a:solidFill>
              </a:rPr>
              <a:t>Les échantillons sont de taille n = 5</a:t>
            </a:r>
          </a:p>
          <a:p>
            <a:pPr marL="273844" indent="-273844">
              <a:spcBef>
                <a:spcPct val="50000"/>
              </a:spcBef>
            </a:pPr>
            <a:endParaRPr lang="fr-CA" sz="1350" dirty="0">
              <a:solidFill>
                <a:srgbClr val="009C98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E9D072-871C-4A0C-86A0-5C0BB6EE550E}"/>
              </a:ext>
            </a:extLst>
          </p:cNvPr>
          <p:cNvSpPr/>
          <p:nvPr/>
        </p:nvSpPr>
        <p:spPr>
          <a:xfrm>
            <a:off x="8868244" y="4582030"/>
            <a:ext cx="1150036" cy="3607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i="1" dirty="0"/>
              <a:t>X</a:t>
            </a:r>
            <a:r>
              <a:rPr lang="en-CA" dirty="0"/>
              <a:t> = 5,35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B618B5-876D-45FE-AA9D-C9914E0960D5}"/>
              </a:ext>
            </a:extLst>
          </p:cNvPr>
          <p:cNvSpPr/>
          <p:nvPr/>
        </p:nvSpPr>
        <p:spPr>
          <a:xfrm>
            <a:off x="8868245" y="4963122"/>
            <a:ext cx="1150035" cy="3607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i="1" dirty="0"/>
              <a:t>R</a:t>
            </a:r>
            <a:r>
              <a:rPr lang="en-CA" dirty="0"/>
              <a:t> = 4,2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1D2DD1F-A35F-44C4-9BC3-863D64170651}"/>
              </a:ext>
            </a:extLst>
          </p:cNvPr>
          <p:cNvCxnSpPr/>
          <p:nvPr/>
        </p:nvCxnSpPr>
        <p:spPr>
          <a:xfrm>
            <a:off x="9017620" y="4627968"/>
            <a:ext cx="20924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1DFB414A-231A-4118-A65C-EEB9C9D6DCBF}"/>
              </a:ext>
            </a:extLst>
          </p:cNvPr>
          <p:cNvCxnSpPr/>
          <p:nvPr/>
        </p:nvCxnSpPr>
        <p:spPr>
          <a:xfrm>
            <a:off x="9017620" y="4597587"/>
            <a:ext cx="20924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0B96BB03-C06B-42FC-8FC1-8F846D4FC8AE}"/>
              </a:ext>
            </a:extLst>
          </p:cNvPr>
          <p:cNvCxnSpPr/>
          <p:nvPr/>
        </p:nvCxnSpPr>
        <p:spPr>
          <a:xfrm>
            <a:off x="9065397" y="5021897"/>
            <a:ext cx="20924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re 2">
            <a:extLst>
              <a:ext uri="{FF2B5EF4-FFF2-40B4-BE49-F238E27FC236}">
                <a16:creationId xmlns:a16="http://schemas.microsoft.com/office/drawing/2014/main" id="{12A96362-9A96-4691-8CDC-884AA7B6D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79686"/>
            <a:ext cx="9096000" cy="822960"/>
          </a:xfrm>
        </p:spPr>
        <p:txBody>
          <a:bodyPr/>
          <a:lstStyle/>
          <a:p>
            <a:r>
              <a:rPr lang="fr-CA" dirty="0"/>
              <a:t>Exemple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7" grpId="0"/>
      <p:bldP spid="1238" grpId="0"/>
      <p:bldP spid="1240" grpId="0" animBg="1"/>
      <p:bldP spid="15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10"/>
          <p:cNvSpPr txBox="1">
            <a:spLocks noChangeArrowheads="1"/>
          </p:cNvSpPr>
          <p:nvPr/>
        </p:nvSpPr>
        <p:spPr bwMode="auto">
          <a:xfrm>
            <a:off x="940725" y="1496942"/>
            <a:ext cx="7158753" cy="34624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/>
            <a:r>
              <a:rPr lang="fr-CA" sz="1650" dirty="0">
                <a:solidFill>
                  <a:srgbClr val="185FAB"/>
                </a:solidFill>
              </a:rPr>
              <a:t>4. Calculer les limites de contrôle :</a:t>
            </a:r>
          </a:p>
        </p:txBody>
      </p:sp>
      <p:grpSp>
        <p:nvGrpSpPr>
          <p:cNvPr id="2055" name="Group 21"/>
          <p:cNvGrpSpPr>
            <a:grpSpLocks/>
          </p:cNvGrpSpPr>
          <p:nvPr/>
        </p:nvGrpSpPr>
        <p:grpSpPr bwMode="auto">
          <a:xfrm>
            <a:off x="2255127" y="2042553"/>
            <a:ext cx="3037285" cy="1120379"/>
            <a:chOff x="1567" y="763"/>
            <a:chExt cx="2551" cy="941"/>
          </a:xfrm>
        </p:grpSpPr>
        <p:sp>
          <p:nvSpPr>
            <p:cNvPr id="2061" name="Text Box 23"/>
            <p:cNvSpPr txBox="1">
              <a:spLocks noChangeArrowheads="1"/>
            </p:cNvSpPr>
            <p:nvPr/>
          </p:nvSpPr>
          <p:spPr bwMode="auto">
            <a:xfrm>
              <a:off x="1659" y="1217"/>
              <a:ext cx="2130" cy="4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fr-CA" sz="1500" dirty="0">
                  <a:solidFill>
                    <a:schemeClr val="accent3"/>
                  </a:solidFill>
                </a:rPr>
                <a:t>LSC = 5,35 + (0,577  X 4,2)</a:t>
              </a:r>
            </a:p>
            <a:p>
              <a:pPr algn="l"/>
              <a:r>
                <a:rPr lang="fr-CA" sz="1500" dirty="0">
                  <a:solidFill>
                    <a:schemeClr val="accent3"/>
                  </a:solidFill>
                </a:rPr>
                <a:t>LSC = 7,77</a:t>
              </a:r>
            </a:p>
          </p:txBody>
        </p:sp>
        <p:sp>
          <p:nvSpPr>
            <p:cNvPr id="2062" name="Rectangle 24"/>
            <p:cNvSpPr>
              <a:spLocks noChangeArrowheads="1"/>
            </p:cNvSpPr>
            <p:nvPr/>
          </p:nvSpPr>
          <p:spPr bwMode="auto">
            <a:xfrm>
              <a:off x="1567" y="763"/>
              <a:ext cx="2551" cy="94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fr-FR" sz="1350"/>
            </a:p>
          </p:txBody>
        </p:sp>
      </p:grpSp>
      <p:grpSp>
        <p:nvGrpSpPr>
          <p:cNvPr id="2056" name="Group 25"/>
          <p:cNvGrpSpPr>
            <a:grpSpLocks/>
          </p:cNvGrpSpPr>
          <p:nvPr/>
        </p:nvGrpSpPr>
        <p:grpSpPr bwMode="auto">
          <a:xfrm>
            <a:off x="5581543" y="2043911"/>
            <a:ext cx="3037285" cy="1137048"/>
            <a:chOff x="1667" y="1787"/>
            <a:chExt cx="2551" cy="955"/>
          </a:xfrm>
        </p:grpSpPr>
        <p:graphicFrame>
          <p:nvGraphicFramePr>
            <p:cNvPr id="2050" name="Object 26"/>
            <p:cNvGraphicFramePr>
              <a:graphicFrameLocks/>
            </p:cNvGraphicFramePr>
            <p:nvPr/>
          </p:nvGraphicFramePr>
          <p:xfrm>
            <a:off x="1770" y="1821"/>
            <a:ext cx="2129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82680" imgH="266400" progId="Equation.3">
                    <p:embed/>
                  </p:oleObj>
                </mc:Choice>
                <mc:Fallback>
                  <p:oleObj name="Equation" r:id="rId3" imgW="1282680" imgH="266400" progId="Equation.3">
                    <p:embed/>
                    <p:pic>
                      <p:nvPicPr>
                        <p:cNvPr id="2050" name="Object 2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0" y="1821"/>
                          <a:ext cx="2129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9" name="Text Box 27"/>
            <p:cNvSpPr txBox="1">
              <a:spLocks noChangeArrowheads="1"/>
            </p:cNvSpPr>
            <p:nvPr/>
          </p:nvSpPr>
          <p:spPr bwMode="auto">
            <a:xfrm>
              <a:off x="1759" y="2277"/>
              <a:ext cx="2027" cy="4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fr-CA" sz="1500" dirty="0">
                  <a:solidFill>
                    <a:schemeClr val="accent3"/>
                  </a:solidFill>
                </a:rPr>
                <a:t>LIC = 5,35 - (0,577  X 4,2)</a:t>
              </a:r>
            </a:p>
            <a:p>
              <a:pPr algn="l"/>
              <a:r>
                <a:rPr lang="fr-CA" sz="1500" dirty="0">
                  <a:solidFill>
                    <a:schemeClr val="accent3"/>
                  </a:solidFill>
                </a:rPr>
                <a:t>LIC = 2,93</a:t>
              </a:r>
            </a:p>
          </p:txBody>
        </p:sp>
        <p:sp>
          <p:nvSpPr>
            <p:cNvPr id="2060" name="Rectangle 28"/>
            <p:cNvSpPr>
              <a:spLocks noChangeArrowheads="1"/>
            </p:cNvSpPr>
            <p:nvPr/>
          </p:nvSpPr>
          <p:spPr bwMode="auto">
            <a:xfrm>
              <a:off x="1667" y="1787"/>
              <a:ext cx="2551" cy="94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fr-FR" sz="1350"/>
            </a:p>
          </p:txBody>
        </p:sp>
      </p:grpSp>
      <p:graphicFrame>
        <p:nvGraphicFramePr>
          <p:cNvPr id="25" name="Object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6390188"/>
              </p:ext>
            </p:extLst>
          </p:nvPr>
        </p:nvGraphicFramePr>
        <p:xfrm>
          <a:off x="2393240" y="2042552"/>
          <a:ext cx="2584847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07880" imgH="266400" progId="Equation.3">
                  <p:embed/>
                </p:oleObj>
              </mc:Choice>
              <mc:Fallback>
                <p:oleObj name="Equation" r:id="rId5" imgW="1307880" imgH="266400" progId="Equation.3">
                  <p:embed/>
                  <p:pic>
                    <p:nvPicPr>
                      <p:cNvPr id="25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240" y="2042552"/>
                        <a:ext cx="2584847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3D627623-0FE0-4681-A4E9-8544C4760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Calcul des limites de contrôle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E6CC2F2B-24C7-419F-B5AD-4A16168C0CB7}"/>
              </a:ext>
            </a:extLst>
          </p:cNvPr>
          <p:cNvSpPr/>
          <p:nvPr/>
        </p:nvSpPr>
        <p:spPr>
          <a:xfrm rot="16200000">
            <a:off x="1048869" y="2284043"/>
            <a:ext cx="1120378" cy="686550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b="1" dirty="0"/>
              <a:t>Carte des moyennes</a:t>
            </a: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576AD206-3E40-4AFB-A0AD-F9A99756C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670" y="3343627"/>
            <a:ext cx="2614613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algn="l" eaLnBrk="0" hangingPunct="0"/>
            <a:r>
              <a:rPr lang="fr-CA" i="1" dirty="0">
                <a:latin typeface="Times New Roman" pitchFamily="18" charset="0"/>
                <a:cs typeface="Times New Roman" pitchFamily="18" charset="0"/>
              </a:rPr>
              <a:t>LSC</a:t>
            </a:r>
            <a:r>
              <a:rPr lang="fr-CA" i="1" baseline="-30000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fr-CA" i="1" dirty="0">
                <a:latin typeface="Times New Roman" pitchFamily="18" charset="0"/>
                <a:cs typeface="Times New Roman" pitchFamily="18" charset="0"/>
              </a:rPr>
              <a:t>= D</a:t>
            </a:r>
            <a:r>
              <a:rPr lang="fr-CA" i="1" baseline="-30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fr-CA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CA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</a:t>
            </a:r>
            <a:r>
              <a:rPr lang="fr-CA" dirty="0">
                <a:cs typeface="Times New Roman" pitchFamily="18" charset="0"/>
              </a:rPr>
              <a:t> </a:t>
            </a:r>
            <a:endParaRPr lang="fr-CA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id="{31D18F89-585A-42F5-A4F9-6369DE752D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62671"/>
              </p:ext>
            </p:extLst>
          </p:nvPr>
        </p:nvGraphicFramePr>
        <p:xfrm>
          <a:off x="3762158" y="3356844"/>
          <a:ext cx="255095" cy="341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80" imgH="203040" progId="Equation.3">
                  <p:embed/>
                </p:oleObj>
              </mc:Choice>
              <mc:Fallback>
                <p:oleObj name="Equation" r:id="rId7" imgW="152280" imgH="203040" progId="Equation.3">
                  <p:embed/>
                  <p:pic>
                    <p:nvPicPr>
                      <p:cNvPr id="24" name="Object 5">
                        <a:extLst>
                          <a:ext uri="{FF2B5EF4-FFF2-40B4-BE49-F238E27FC236}">
                            <a16:creationId xmlns:a16="http://schemas.microsoft.com/office/drawing/2014/main" id="{31D18F89-585A-42F5-A4F9-6369DE752D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158" y="3356844"/>
                        <a:ext cx="255095" cy="3415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6">
            <a:extLst>
              <a:ext uri="{FF2B5EF4-FFF2-40B4-BE49-F238E27FC236}">
                <a16:creationId xmlns:a16="http://schemas.microsoft.com/office/drawing/2014/main" id="{159C2EE3-4F7E-40C5-892B-8082127C3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239" y="3748054"/>
            <a:ext cx="2031838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algn="l"/>
            <a:r>
              <a:rPr lang="fr-CA">
                <a:solidFill>
                  <a:srgbClr val="FF0000"/>
                </a:solidFill>
              </a:rPr>
              <a:t>LSC = 2,115 </a:t>
            </a:r>
            <a:r>
              <a:rPr lang="fr-CA">
                <a:solidFill>
                  <a:srgbClr val="FF0000"/>
                </a:solidFill>
                <a:sym typeface="Symbol" pitchFamily="18" charset="2"/>
              </a:rPr>
              <a:t></a:t>
            </a:r>
            <a:r>
              <a:rPr lang="fr-CA">
                <a:solidFill>
                  <a:srgbClr val="FF0000"/>
                </a:solidFill>
              </a:rPr>
              <a:t> 4,2</a:t>
            </a:r>
            <a:endParaRPr lang="fr-CA">
              <a:solidFill>
                <a:srgbClr val="FF0000"/>
              </a:solidFill>
              <a:sym typeface="Symbol" pitchFamily="18" charset="2"/>
            </a:endParaRPr>
          </a:p>
          <a:p>
            <a:pPr algn="l"/>
            <a:r>
              <a:rPr lang="fr-CA">
                <a:solidFill>
                  <a:srgbClr val="FF0000"/>
                </a:solidFill>
                <a:sym typeface="Symbol" pitchFamily="18" charset="2"/>
              </a:rPr>
              <a:t>LSC = 8,88</a:t>
            </a:r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8A60DCCD-BFCA-4634-BC72-8091454E3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5127" y="3323246"/>
            <a:ext cx="3037285" cy="1120379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28" name="Rectangle 8">
            <a:extLst>
              <a:ext uri="{FF2B5EF4-FFF2-40B4-BE49-F238E27FC236}">
                <a16:creationId xmlns:a16="http://schemas.microsoft.com/office/drawing/2014/main" id="{B6FB88DE-1649-4BDC-9985-6A9D82877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1081" y="3319410"/>
            <a:ext cx="192643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algn="l" eaLnBrk="0" hangingPunct="0"/>
            <a:r>
              <a:rPr lang="fr-CA" i="1" dirty="0">
                <a:ea typeface="Times New Roman" pitchFamily="18" charset="0"/>
                <a:cs typeface="Arial" charset="0"/>
              </a:rPr>
              <a:t>LIC</a:t>
            </a:r>
            <a:r>
              <a:rPr lang="fr-CA" i="1" baseline="-30000" dirty="0">
                <a:ea typeface="Times New Roman" pitchFamily="18" charset="0"/>
                <a:cs typeface="Arial" charset="0"/>
              </a:rPr>
              <a:t>R </a:t>
            </a:r>
            <a:r>
              <a:rPr lang="fr-CA" i="1" dirty="0">
                <a:ea typeface="Times New Roman" pitchFamily="18" charset="0"/>
                <a:cs typeface="Arial" charset="0"/>
              </a:rPr>
              <a:t>= D</a:t>
            </a:r>
            <a:r>
              <a:rPr lang="fr-CA" i="1" baseline="-30000" dirty="0">
                <a:ea typeface="Times New Roman" pitchFamily="18" charset="0"/>
                <a:cs typeface="Arial" charset="0"/>
              </a:rPr>
              <a:t>3</a:t>
            </a:r>
            <a:r>
              <a:rPr lang="fr-CA" i="1" dirty="0">
                <a:ea typeface="Times New Roman" pitchFamily="18" charset="0"/>
                <a:cs typeface="Arial" charset="0"/>
              </a:rPr>
              <a:t> </a:t>
            </a:r>
            <a:r>
              <a:rPr lang="fr-CA" i="1" dirty="0">
                <a:ea typeface="Times New Roman" pitchFamily="18" charset="0"/>
                <a:cs typeface="Arial" charset="0"/>
                <a:sym typeface="Symbol" pitchFamily="18" charset="2"/>
              </a:rPr>
              <a:t></a:t>
            </a:r>
            <a:r>
              <a:rPr lang="fr-CA" dirty="0">
                <a:ea typeface="Times New Roman" pitchFamily="18" charset="0"/>
                <a:cs typeface="Arial" charset="0"/>
              </a:rPr>
              <a:t> </a:t>
            </a:r>
            <a:endParaRPr lang="fr-CA" dirty="0">
              <a:ea typeface="Times New Roman" pitchFamily="18" charset="0"/>
              <a:cs typeface="Arial" charset="0"/>
              <a:sym typeface="Symbol" pitchFamily="18" charset="2"/>
            </a:endParaRPr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7A1A68BE-7558-4BBD-8860-202002CDD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364" y="3775034"/>
            <a:ext cx="1893094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algn="l" eaLnBrk="0" hangingPunct="0"/>
            <a:r>
              <a:rPr lang="fr-CA">
                <a:solidFill>
                  <a:srgbClr val="FF0000"/>
                </a:solidFill>
                <a:ea typeface="Times New Roman" pitchFamily="18" charset="0"/>
                <a:cs typeface="Arial" charset="0"/>
              </a:rPr>
              <a:t>LIC = 0 </a:t>
            </a:r>
            <a:r>
              <a:rPr lang="fr-CA">
                <a:solidFill>
                  <a:srgbClr val="FF0000"/>
                </a:solidFill>
                <a:ea typeface="Times New Roman" pitchFamily="18" charset="0"/>
                <a:cs typeface="Arial" charset="0"/>
                <a:sym typeface="Symbol" pitchFamily="18" charset="2"/>
              </a:rPr>
              <a:t></a:t>
            </a:r>
            <a:r>
              <a:rPr lang="fr-CA">
                <a:solidFill>
                  <a:srgbClr val="FF0000"/>
                </a:solidFill>
                <a:ea typeface="Times New Roman" pitchFamily="18" charset="0"/>
                <a:cs typeface="Arial" charset="0"/>
              </a:rPr>
              <a:t> 4,2</a:t>
            </a:r>
            <a:endParaRPr lang="fr-CA">
              <a:solidFill>
                <a:srgbClr val="FF0000"/>
              </a:solidFill>
              <a:ea typeface="Times New Roman" pitchFamily="18" charset="0"/>
              <a:cs typeface="Arial" charset="0"/>
              <a:sym typeface="Symbol" pitchFamily="18" charset="2"/>
            </a:endParaRPr>
          </a:p>
          <a:p>
            <a:pPr algn="l" eaLnBrk="0" hangingPunct="0"/>
            <a:r>
              <a:rPr lang="fr-CA">
                <a:solidFill>
                  <a:srgbClr val="FF0000"/>
                </a:solidFill>
                <a:ea typeface="Times New Roman" pitchFamily="18" charset="0"/>
                <a:cs typeface="Arial" charset="0"/>
                <a:sym typeface="Symbol" pitchFamily="18" charset="2"/>
              </a:rPr>
              <a:t>LIC = 0</a:t>
            </a: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E861ADC9-1719-408B-87BD-23D964AD7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032" y="3324673"/>
            <a:ext cx="3039795" cy="112031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graphicFrame>
        <p:nvGraphicFramePr>
          <p:cNvPr id="31" name="Objet 30">
            <a:extLst>
              <a:ext uri="{FF2B5EF4-FFF2-40B4-BE49-F238E27FC236}">
                <a16:creationId xmlns:a16="http://schemas.microsoft.com/office/drawing/2014/main" id="{5A4F4848-35E0-436F-A381-2946EDFEDE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562589"/>
              </p:ext>
            </p:extLst>
          </p:nvPr>
        </p:nvGraphicFramePr>
        <p:xfrm>
          <a:off x="6979816" y="3324673"/>
          <a:ext cx="254794" cy="341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280" imgH="203040" progId="Equation.3">
                  <p:embed/>
                </p:oleObj>
              </mc:Choice>
              <mc:Fallback>
                <p:oleObj name="Equation" r:id="rId9" imgW="152280" imgH="203040" progId="Equation.3">
                  <p:embed/>
                  <p:pic>
                    <p:nvPicPr>
                      <p:cNvPr id="31" name="Objet 30">
                        <a:extLst>
                          <a:ext uri="{FF2B5EF4-FFF2-40B4-BE49-F238E27FC236}">
                            <a16:creationId xmlns:a16="http://schemas.microsoft.com/office/drawing/2014/main" id="{5A4F4848-35E0-436F-A381-2946EDFEDE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9816" y="3324673"/>
                        <a:ext cx="254794" cy="341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278E8028-C002-4165-8BBB-58EB456D420E}"/>
              </a:ext>
            </a:extLst>
          </p:cNvPr>
          <p:cNvSpPr/>
          <p:nvPr/>
        </p:nvSpPr>
        <p:spPr>
          <a:xfrm rot="16200000">
            <a:off x="1053342" y="3517751"/>
            <a:ext cx="1120378" cy="686550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200" b="1" dirty="0"/>
              <a:t>Carte des étendues</a:t>
            </a:r>
          </a:p>
        </p:txBody>
      </p:sp>
      <p:sp>
        <p:nvSpPr>
          <p:cNvPr id="33" name="Rectangle 18">
            <a:extLst>
              <a:ext uri="{FF2B5EF4-FFF2-40B4-BE49-F238E27FC236}">
                <a16:creationId xmlns:a16="http://schemas.microsoft.com/office/drawing/2014/main" id="{112BCDB1-AA6A-47FE-810A-2D0805F75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807" y="4819193"/>
            <a:ext cx="6708865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267891" indent="-267891">
              <a:buFont typeface="Wingdings" pitchFamily="2" charset="2"/>
              <a:buChar char="Ø"/>
            </a:pPr>
            <a:r>
              <a:rPr lang="fr-CA" i="1" dirty="0">
                <a:solidFill>
                  <a:srgbClr val="FF0000"/>
                </a:solidFill>
              </a:rPr>
              <a:t>Les limites calculées, pour les deux cartes, sont équivalentes à la moyenne (X ou R, selon le cas) ± 3 écarts-types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99891" y="1552426"/>
            <a:ext cx="4094559" cy="3767138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</p:pic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2605783" y="2621608"/>
            <a:ext cx="5247085" cy="509349"/>
          </a:xfrm>
          <a:prstGeom prst="rect">
            <a:avLst/>
          </a:prstGeom>
          <a:noFill/>
          <a:ln w="76200" algn="ctr">
            <a:solidFill>
              <a:srgbClr val="009C98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>
              <a:solidFill>
                <a:srgbClr val="185FAB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DF30EC2-835F-4CB2-9940-F1E824E6E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Table des coefficients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8075242" y="2339127"/>
            <a:ext cx="1139428" cy="3000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350" b="1" dirty="0"/>
              <a:t>LSC = 7,77</a:t>
            </a: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7998657" y="4640248"/>
            <a:ext cx="1098947" cy="3000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350" b="1" dirty="0"/>
              <a:t>LIC = 2,93</a:t>
            </a:r>
          </a:p>
        </p:txBody>
      </p:sp>
      <p:sp>
        <p:nvSpPr>
          <p:cNvPr id="4101" name="Text Box 13"/>
          <p:cNvSpPr txBox="1">
            <a:spLocks noChangeArrowheads="1"/>
          </p:cNvSpPr>
          <p:nvPr/>
        </p:nvSpPr>
        <p:spPr bwMode="auto">
          <a:xfrm>
            <a:off x="7977694" y="3415009"/>
            <a:ext cx="1650305" cy="3000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350" b="1" dirty="0"/>
              <a:t>Axe central = 5,35</a:t>
            </a:r>
          </a:p>
        </p:txBody>
      </p:sp>
      <p:graphicFrame>
        <p:nvGraphicFramePr>
          <p:cNvPr id="19" name="Object 2">
            <a:extLst>
              <a:ext uri="{FF2B5EF4-FFF2-40B4-BE49-F238E27FC236}">
                <a16:creationId xmlns:a16="http://schemas.microsoft.com/office/drawing/2014/main" id="{549FC007-3689-4544-AF3D-E6C401A165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111792"/>
              </p:ext>
            </p:extLst>
          </p:nvPr>
        </p:nvGraphicFramePr>
        <p:xfrm>
          <a:off x="1077632" y="1728206"/>
          <a:ext cx="7034689" cy="3881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7353078" imgH="5227215" progId="Excel.Sheet.8">
                  <p:embed/>
                </p:oleObj>
              </mc:Choice>
              <mc:Fallback>
                <p:oleObj name="Worksheet" r:id="rId3" imgW="7353078" imgH="5227215" progId="Excel.Sheet.8">
                  <p:embed/>
                  <p:pic>
                    <p:nvPicPr>
                      <p:cNvPr id="19" name="Object 2">
                        <a:extLst>
                          <a:ext uri="{FF2B5EF4-FFF2-40B4-BE49-F238E27FC236}">
                            <a16:creationId xmlns:a16="http://schemas.microsoft.com/office/drawing/2014/main" id="{549FC007-3689-4544-AF3D-E6C401A1657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632" y="1728206"/>
                        <a:ext cx="7034689" cy="38814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6">
            <a:extLst>
              <a:ext uri="{FF2B5EF4-FFF2-40B4-BE49-F238E27FC236}">
                <a16:creationId xmlns:a16="http://schemas.microsoft.com/office/drawing/2014/main" id="{6B840F23-7EF3-4C5D-9E61-10C39B48F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5419" y="2128325"/>
            <a:ext cx="7269163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fr-CA" sz="1200" dirty="0">
                <a:solidFill>
                  <a:schemeClr val="accent2"/>
                </a:solidFill>
              </a:rPr>
              <a:t>6.0   5.8   5.2  4.6  5.8  5.2   4.8   5.4  4.4   5.6   5.4   5.4   5.8   7.0   5.6    4.4  5.4   6.0  4.4  4.8</a:t>
            </a:r>
          </a:p>
        </p:txBody>
      </p:sp>
      <p:sp>
        <p:nvSpPr>
          <p:cNvPr id="21" name="Line 7">
            <a:extLst>
              <a:ext uri="{FF2B5EF4-FFF2-40B4-BE49-F238E27FC236}">
                <a16:creationId xmlns:a16="http://schemas.microsoft.com/office/drawing/2014/main" id="{A727E624-1031-428D-A7D2-F024D8786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9468" y="2405323"/>
            <a:ext cx="0" cy="889218"/>
          </a:xfrm>
          <a:prstGeom prst="line">
            <a:avLst/>
          </a:prstGeom>
          <a:noFill/>
          <a:ln w="28575">
            <a:solidFill>
              <a:schemeClr val="accent3"/>
            </a:solidFill>
            <a:round/>
            <a:headEnd type="none" w="med" len="med"/>
            <a:tailEnd type="arrow" w="lg" len="lg"/>
          </a:ln>
          <a:effectLst/>
        </p:spPr>
        <p:txBody>
          <a:bodyPr/>
          <a:lstStyle/>
          <a:p>
            <a:endParaRPr lang="fr-CA" dirty="0"/>
          </a:p>
        </p:txBody>
      </p:sp>
      <p:sp>
        <p:nvSpPr>
          <p:cNvPr id="9" name="Text Box 17">
            <a:extLst>
              <a:ext uri="{FF2B5EF4-FFF2-40B4-BE49-F238E27FC236}">
                <a16:creationId xmlns:a16="http://schemas.microsoft.com/office/drawing/2014/main" id="{B874D9FC-56EA-4639-B72B-D4B6196F1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6800" y="1407380"/>
            <a:ext cx="4165998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/>
            <a:r>
              <a:rPr lang="fr-CA" dirty="0">
                <a:solidFill>
                  <a:srgbClr val="185FAB"/>
                </a:solidFill>
              </a:rPr>
              <a:t>5. Tracer la carte des moyennes</a:t>
            </a:r>
            <a:endParaRPr lang="fr-CA" sz="1350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AAFAB29D-8417-4A04-BEEB-65172D4950FC}"/>
              </a:ext>
            </a:extLst>
          </p:cNvPr>
          <p:cNvSpPr txBox="1">
            <a:spLocks/>
          </p:cNvSpPr>
          <p:nvPr/>
        </p:nvSpPr>
        <p:spPr>
          <a:xfrm>
            <a:off x="532000" y="479686"/>
            <a:ext cx="9096000" cy="82296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26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3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7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dirty="0"/>
              <a:t>Carte des moyennes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9"/>
          <p:cNvSpPr txBox="1">
            <a:spLocks noChangeArrowheads="1"/>
          </p:cNvSpPr>
          <p:nvPr/>
        </p:nvSpPr>
        <p:spPr bwMode="auto">
          <a:xfrm>
            <a:off x="7437015" y="2168550"/>
            <a:ext cx="1139429" cy="3000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350" b="1" dirty="0"/>
              <a:t>LSC = 8,88</a:t>
            </a:r>
          </a:p>
        </p:txBody>
      </p:sp>
      <p:sp>
        <p:nvSpPr>
          <p:cNvPr id="5124" name="Text Box 10"/>
          <p:cNvSpPr txBox="1">
            <a:spLocks noChangeArrowheads="1"/>
          </p:cNvSpPr>
          <p:nvPr/>
        </p:nvSpPr>
        <p:spPr bwMode="auto">
          <a:xfrm>
            <a:off x="7477497" y="4809945"/>
            <a:ext cx="1098947" cy="3000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350" b="1" dirty="0"/>
              <a:t>LIC = 0</a:t>
            </a:r>
          </a:p>
        </p:txBody>
      </p:sp>
      <p:sp>
        <p:nvSpPr>
          <p:cNvPr id="5125" name="Text Box 11"/>
          <p:cNvSpPr txBox="1">
            <a:spLocks noChangeArrowheads="1"/>
          </p:cNvSpPr>
          <p:nvPr/>
        </p:nvSpPr>
        <p:spPr bwMode="auto">
          <a:xfrm>
            <a:off x="7438805" y="3453846"/>
            <a:ext cx="1779336" cy="3000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350" b="1" dirty="0"/>
              <a:t>Axe central = 4,2</a:t>
            </a:r>
          </a:p>
        </p:txBody>
      </p:sp>
      <p:sp>
        <p:nvSpPr>
          <p:cNvPr id="5130" name="Text Box 17"/>
          <p:cNvSpPr txBox="1">
            <a:spLocks noChangeArrowheads="1"/>
          </p:cNvSpPr>
          <p:nvPr/>
        </p:nvSpPr>
        <p:spPr bwMode="auto">
          <a:xfrm>
            <a:off x="986800" y="1407380"/>
            <a:ext cx="4165998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/>
            <a:r>
              <a:rPr lang="fr-CA" dirty="0">
                <a:solidFill>
                  <a:srgbClr val="185FAB"/>
                </a:solidFill>
              </a:rPr>
              <a:t>5. Tracer la carte des étendues</a:t>
            </a:r>
            <a:endParaRPr lang="fr-CA" sz="1350" dirty="0"/>
          </a:p>
        </p:txBody>
      </p:sp>
      <p:graphicFrame>
        <p:nvGraphicFramePr>
          <p:cNvPr id="13" name="Object 2">
            <a:extLst>
              <a:ext uri="{FF2B5EF4-FFF2-40B4-BE49-F238E27FC236}">
                <a16:creationId xmlns:a16="http://schemas.microsoft.com/office/drawing/2014/main" id="{2C09FB96-5CC6-448C-9F5B-5540327974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866515"/>
              </p:ext>
            </p:extLst>
          </p:nvPr>
        </p:nvGraphicFramePr>
        <p:xfrm>
          <a:off x="1092027" y="1776712"/>
          <a:ext cx="6346778" cy="3458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7429308" imgH="5166202" progId="Excel.Sheet.8">
                  <p:embed/>
                </p:oleObj>
              </mc:Choice>
              <mc:Fallback>
                <p:oleObj name="Worksheet" r:id="rId3" imgW="7429308" imgH="5166202" progId="Excel.Sheet.8">
                  <p:embed/>
                  <p:pic>
                    <p:nvPicPr>
                      <p:cNvPr id="13" name="Object 2">
                        <a:extLst>
                          <a:ext uri="{FF2B5EF4-FFF2-40B4-BE49-F238E27FC236}">
                            <a16:creationId xmlns:a16="http://schemas.microsoft.com/office/drawing/2014/main" id="{2C09FB96-5CC6-448C-9F5B-55403279749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027" y="1776712"/>
                        <a:ext cx="6346778" cy="34586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re 1">
            <a:extLst>
              <a:ext uri="{FF2B5EF4-FFF2-40B4-BE49-F238E27FC236}">
                <a16:creationId xmlns:a16="http://schemas.microsoft.com/office/drawing/2014/main" id="{0A2FEA81-B6BB-4A0D-A68A-22F748717090}"/>
              </a:ext>
            </a:extLst>
          </p:cNvPr>
          <p:cNvSpPr txBox="1">
            <a:spLocks/>
          </p:cNvSpPr>
          <p:nvPr/>
        </p:nvSpPr>
        <p:spPr>
          <a:xfrm>
            <a:off x="532000" y="479686"/>
            <a:ext cx="9096000" cy="82296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26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3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7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dirty="0"/>
              <a:t>Carte des étendues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82" name="Text Box 25"/>
          <p:cNvSpPr txBox="1">
            <a:spLocks noChangeArrowheads="1"/>
          </p:cNvSpPr>
          <p:nvPr/>
        </p:nvSpPr>
        <p:spPr bwMode="auto">
          <a:xfrm>
            <a:off x="986800" y="1369768"/>
            <a:ext cx="5344002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/>
            <a:r>
              <a:rPr lang="fr-CA" dirty="0">
                <a:solidFill>
                  <a:srgbClr val="185FAB"/>
                </a:solidFill>
              </a:rPr>
              <a:t>6. Interpréter les cartes : Tableau synthèse</a:t>
            </a:r>
          </a:p>
          <a:p>
            <a:pPr algn="l"/>
            <a:r>
              <a:rPr lang="fr-CA" dirty="0">
                <a:solidFill>
                  <a:srgbClr val="185FAB"/>
                </a:solidFill>
              </a:rPr>
              <a:t>7. Conclure sur le procédé</a:t>
            </a:r>
            <a:endParaRPr lang="fr-CA" dirty="0"/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760584"/>
              </p:ext>
            </p:extLst>
          </p:nvPr>
        </p:nvGraphicFramePr>
        <p:xfrm>
          <a:off x="1436381" y="2015367"/>
          <a:ext cx="7025639" cy="252443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2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4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231">
                <a:tc>
                  <a:txBody>
                    <a:bodyPr/>
                    <a:lstStyle/>
                    <a:p>
                      <a:pPr algn="ctr"/>
                      <a:r>
                        <a:rPr lang="fr-CA" sz="1500" dirty="0"/>
                        <a:t>Critères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500" dirty="0"/>
                        <a:t>Carte des moyennes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500" dirty="0"/>
                        <a:t>Cartes des étendues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614">
                <a:tc>
                  <a:txBody>
                    <a:bodyPr/>
                    <a:lstStyle/>
                    <a:p>
                      <a:r>
                        <a:rPr lang="fr-CA" sz="1400" dirty="0"/>
                        <a:t>Tous les points à l’intérieur des limites de contrôle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fr-CA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fr-CA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614">
                <a:tc>
                  <a:txBody>
                    <a:bodyPr/>
                    <a:lstStyle/>
                    <a:p>
                      <a:r>
                        <a:rPr lang="fr-CA" sz="1400" dirty="0"/>
                        <a:t>Répartition symétrique autour de l’axe central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fr-CA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fr-CA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614">
                <a:tc>
                  <a:txBody>
                    <a:bodyPr/>
                    <a:lstStyle/>
                    <a:p>
                      <a:r>
                        <a:rPr lang="fr-CA" sz="1400" dirty="0"/>
                        <a:t>Distribution centrée sur la moyenne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fr-CA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fr-CA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614">
                <a:tc>
                  <a:txBody>
                    <a:bodyPr/>
                    <a:lstStyle/>
                    <a:p>
                      <a:r>
                        <a:rPr lang="fr-CA" sz="1400" dirty="0"/>
                        <a:t>Points</a:t>
                      </a:r>
                      <a:r>
                        <a:rPr lang="fr-CA" sz="1400" baseline="0" dirty="0"/>
                        <a:t> distribués au hasard (pas de cycle, pas de tendance)</a:t>
                      </a:r>
                      <a:endParaRPr lang="fr-CA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fr-CA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fr-CA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itre 3">
            <a:extLst>
              <a:ext uri="{FF2B5EF4-FFF2-40B4-BE49-F238E27FC236}">
                <a16:creationId xmlns:a16="http://schemas.microsoft.com/office/drawing/2014/main" id="{677BFDF9-36BC-4995-9EC3-099152AAC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Interprétation des cartes</a:t>
            </a:r>
          </a:p>
        </p:txBody>
      </p:sp>
      <p:sp>
        <p:nvSpPr>
          <p:cNvPr id="3" name="Text Box 50">
            <a:extLst>
              <a:ext uri="{FF2B5EF4-FFF2-40B4-BE49-F238E27FC236}">
                <a16:creationId xmlns:a16="http://schemas.microsoft.com/office/drawing/2014/main" id="{AE8E7DE4-11EA-D211-57DA-DF0BB006E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381" y="4674819"/>
            <a:ext cx="6545283" cy="4385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sz="2250" b="1" i="1" dirty="0">
                <a:solidFill>
                  <a:srgbClr val="0A1BBA"/>
                </a:solidFill>
              </a:rPr>
              <a:t>Conclusion 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0BA7CC-99FC-4C00-8494-9DF5A1CAB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Interprétation des cartes - Suivi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488241-29BC-4F4E-805B-32A81CC15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61950" indent="-361950"/>
            <a:r>
              <a:rPr lang="fr-CA" sz="1667" dirty="0"/>
              <a:t>L’opérateur continue à prélever des échantillons aux intervalles prescrits;</a:t>
            </a:r>
          </a:p>
          <a:p>
            <a:pPr marL="361950" indent="-361950"/>
            <a:r>
              <a:rPr lang="fr-CA" sz="1667" dirty="0"/>
              <a:t>À chaque prélèvement, il calcule la moyenne et l’étendue, et ajoute les points au bout de la carte;</a:t>
            </a:r>
          </a:p>
          <a:p>
            <a:pPr marL="361950" indent="-361950"/>
            <a:r>
              <a:rPr lang="fr-CA" sz="1667" dirty="0"/>
              <a:t>À chaque nouveau point, il évalue si le procédé est toujours sous contrôle;</a:t>
            </a:r>
          </a:p>
          <a:p>
            <a:pPr marL="361950" indent="-361950"/>
            <a:r>
              <a:rPr lang="fr-CA" sz="1667" dirty="0"/>
              <a:t>En cas de doute, d’un point hors-limite ou de début de tendance, on peut accélérer la prise d’échantillons.</a:t>
            </a:r>
          </a:p>
          <a:p>
            <a:pPr marL="380985" indent="-380985"/>
            <a:endParaRPr lang="fr-CA" sz="1667" dirty="0">
              <a:solidFill>
                <a:srgbClr val="185FAB"/>
              </a:solidFill>
            </a:endParaRPr>
          </a:p>
          <a:p>
            <a:pPr marL="380985" indent="-380985">
              <a:buFont typeface="Wingdings" pitchFamily="2" charset="2"/>
              <a:buChar char="Ø"/>
            </a:pPr>
            <a:r>
              <a:rPr lang="fr-CA" sz="1667" i="1" dirty="0">
                <a:solidFill>
                  <a:srgbClr val="FF0000"/>
                </a:solidFill>
              </a:rPr>
              <a:t>On n’a pas à recalculer les limites de contrôle; elles demeurent les mêmes puisqu’elles indiquent le comportement naturel du procédé !</a:t>
            </a:r>
          </a:p>
          <a:p>
            <a:pPr marL="380985" indent="-380985"/>
            <a:endParaRPr lang="fr-CA" sz="1667" i="1" dirty="0">
              <a:solidFill>
                <a:srgbClr val="FF0000"/>
              </a:solidFill>
            </a:endParaRPr>
          </a:p>
          <a:p>
            <a:pPr marL="1142954" lvl="2" indent="-380985">
              <a:buFont typeface="Arial" charset="0"/>
              <a:buChar char="–"/>
            </a:pPr>
            <a:r>
              <a:rPr lang="fr-CA" sz="1667" i="1" dirty="0">
                <a:solidFill>
                  <a:srgbClr val="FF0000"/>
                </a:solidFill>
              </a:rPr>
              <a:t> On les recalcule si le procédé a été modifié</a:t>
            </a:r>
          </a:p>
          <a:p>
            <a:pPr marL="1142954" lvl="2" indent="-380985">
              <a:buFont typeface="Arial" charset="0"/>
              <a:buChar char="–"/>
            </a:pPr>
            <a:r>
              <a:rPr lang="fr-CA" sz="1667" i="1" dirty="0">
                <a:solidFill>
                  <a:srgbClr val="FF0000"/>
                </a:solidFill>
              </a:rPr>
              <a:t> On peut aussi les revérifier périodiquement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97037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C564F47-848B-406A-B8D3-6541C4A70654}"/>
              </a:ext>
            </a:extLst>
          </p:cNvPr>
          <p:cNvSpPr/>
          <p:nvPr/>
        </p:nvSpPr>
        <p:spPr>
          <a:xfrm>
            <a:off x="5251706" y="1756102"/>
            <a:ext cx="4007289" cy="2500768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2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612DFD-B1C6-4F63-BA9E-5FD9BC290C8B}"/>
              </a:ext>
            </a:extLst>
          </p:cNvPr>
          <p:cNvSpPr/>
          <p:nvPr/>
        </p:nvSpPr>
        <p:spPr>
          <a:xfrm>
            <a:off x="1095571" y="1762623"/>
            <a:ext cx="4007289" cy="2500768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620"/>
          </a:p>
        </p:txBody>
      </p:sp>
      <p:graphicFrame>
        <p:nvGraphicFramePr>
          <p:cNvPr id="199687" name="Rectangle 5">
            <a:extLst>
              <a:ext uri="{FF2B5EF4-FFF2-40B4-BE49-F238E27FC236}">
                <a16:creationId xmlns:a16="http://schemas.microsoft.com/office/drawing/2014/main" id="{34226960-B70C-4961-96FE-F35DFE57CA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8414825"/>
              </p:ext>
            </p:extLst>
          </p:nvPr>
        </p:nvGraphicFramePr>
        <p:xfrm>
          <a:off x="1244417" y="1607698"/>
          <a:ext cx="7867106" cy="2869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01EA69D2-EC97-497A-92D5-1B8A420DC411}"/>
              </a:ext>
            </a:extLst>
          </p:cNvPr>
          <p:cNvSpPr txBox="1"/>
          <p:nvPr/>
        </p:nvSpPr>
        <p:spPr>
          <a:xfrm>
            <a:off x="2692942" y="2337942"/>
            <a:ext cx="406272" cy="425804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en-CA" sz="1503" dirty="0">
                <a:latin typeface="Arial Black" panose="020B0A04020102020204" pitchFamily="34" charset="0"/>
              </a:rPr>
              <a:t>VS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BEC9591-C298-464E-AA3F-578730FFC8B7}"/>
              </a:ext>
            </a:extLst>
          </p:cNvPr>
          <p:cNvSpPr txBox="1"/>
          <p:nvPr/>
        </p:nvSpPr>
        <p:spPr>
          <a:xfrm>
            <a:off x="6769498" y="2337942"/>
            <a:ext cx="406272" cy="425804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en-CA" sz="1503" dirty="0">
                <a:latin typeface="Arial Black" panose="020B0A04020102020204" pitchFamily="34" charset="0"/>
              </a:rPr>
              <a:t>VS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0EBABB1B-E721-44BF-BDBB-238C4323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Capacité opérationnelle</a:t>
            </a:r>
          </a:p>
        </p:txBody>
      </p:sp>
    </p:spTree>
    <p:extLst>
      <p:ext uri="{BB962C8B-B14F-4D97-AF65-F5344CB8AC3E}">
        <p14:creationId xmlns:p14="http://schemas.microsoft.com/office/powerpoint/2010/main" val="839472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38975A8-B571-4BE2-AD0C-B91396E9D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Capacité opérationnelle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2000" y="1494811"/>
            <a:ext cx="8008708" cy="3810000"/>
          </a:xfrm>
        </p:spPr>
        <p:txBody>
          <a:bodyPr/>
          <a:lstStyle/>
          <a:p>
            <a:pPr marL="0" indent="0">
              <a:buNone/>
            </a:pPr>
            <a:r>
              <a:rPr lang="fr-CA" dirty="0"/>
              <a:t>Mesure de la capacité opérationnelle :</a:t>
            </a:r>
          </a:p>
        </p:txBody>
      </p:sp>
      <p:sp>
        <p:nvSpPr>
          <p:cNvPr id="44035" name="Line 10"/>
          <p:cNvSpPr>
            <a:spLocks noChangeShapeType="1"/>
          </p:cNvSpPr>
          <p:nvPr/>
        </p:nvSpPr>
        <p:spPr bwMode="auto">
          <a:xfrm>
            <a:off x="3623205" y="3356851"/>
            <a:ext cx="1974056" cy="1191"/>
          </a:xfrm>
          <a:prstGeom prst="line">
            <a:avLst/>
          </a:prstGeom>
          <a:noFill/>
          <a:ln w="12700">
            <a:solidFill>
              <a:srgbClr val="185FAB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44036" name="Rectangle 11"/>
          <p:cNvSpPr>
            <a:spLocks noChangeArrowheads="1"/>
          </p:cNvSpPr>
          <p:nvPr/>
        </p:nvSpPr>
        <p:spPr bwMode="auto">
          <a:xfrm>
            <a:off x="2911210" y="3217549"/>
            <a:ext cx="173124" cy="288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fr-CH" sz="1875" b="1" i="1">
                <a:solidFill>
                  <a:srgbClr val="185FAB"/>
                </a:solidFill>
              </a:rPr>
              <a:t>C</a:t>
            </a:r>
          </a:p>
        </p:txBody>
      </p:sp>
      <p:sp>
        <p:nvSpPr>
          <p:cNvPr id="44037" name="Rectangle 12"/>
          <p:cNvSpPr>
            <a:spLocks noChangeArrowheads="1"/>
          </p:cNvSpPr>
          <p:nvPr/>
        </p:nvSpPr>
        <p:spPr bwMode="auto">
          <a:xfrm>
            <a:off x="3071475" y="3365782"/>
            <a:ext cx="105798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fr-CH" sz="1350" b="1" i="1" dirty="0">
                <a:solidFill>
                  <a:srgbClr val="185FAB"/>
                </a:solidFill>
              </a:rPr>
              <a:t>p</a:t>
            </a:r>
          </a:p>
        </p:txBody>
      </p:sp>
      <p:sp>
        <p:nvSpPr>
          <p:cNvPr id="44038" name="Rectangle 13"/>
          <p:cNvSpPr>
            <a:spLocks noChangeArrowheads="1"/>
          </p:cNvSpPr>
          <p:nvPr/>
        </p:nvSpPr>
        <p:spPr bwMode="auto">
          <a:xfrm>
            <a:off x="3343407" y="3191355"/>
            <a:ext cx="141064" cy="288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fr-CH" sz="1875" b="1">
                <a:solidFill>
                  <a:srgbClr val="185FAB"/>
                </a:solidFill>
              </a:rPr>
              <a:t>=</a:t>
            </a:r>
          </a:p>
        </p:txBody>
      </p:sp>
      <p:sp>
        <p:nvSpPr>
          <p:cNvPr id="44039" name="Rectangle 14"/>
          <p:cNvSpPr>
            <a:spLocks noChangeArrowheads="1"/>
          </p:cNvSpPr>
          <p:nvPr/>
        </p:nvSpPr>
        <p:spPr bwMode="auto">
          <a:xfrm>
            <a:off x="4133983" y="3048480"/>
            <a:ext cx="996683" cy="288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fr-CH" sz="1875" b="1">
                <a:solidFill>
                  <a:srgbClr val="185FAB"/>
                </a:solidFill>
              </a:rPr>
              <a:t>LTS - LTI</a:t>
            </a:r>
          </a:p>
        </p:txBody>
      </p:sp>
      <p:sp>
        <p:nvSpPr>
          <p:cNvPr id="44040" name="Rectangle 15"/>
          <p:cNvSpPr>
            <a:spLocks noChangeArrowheads="1"/>
          </p:cNvSpPr>
          <p:nvPr/>
        </p:nvSpPr>
        <p:spPr bwMode="auto">
          <a:xfrm>
            <a:off x="4328054" y="3468771"/>
            <a:ext cx="67326" cy="288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fr-CH" sz="1875" b="1" dirty="0">
                <a:solidFill>
                  <a:srgbClr val="185FAB"/>
                </a:solidFill>
              </a:rPr>
              <a:t> </a:t>
            </a:r>
            <a:endParaRPr lang="el-GR" sz="1875" b="1" dirty="0">
              <a:solidFill>
                <a:srgbClr val="185FAB"/>
              </a:solidFill>
              <a:cs typeface="Arial" charset="0"/>
            </a:endParaRPr>
          </a:p>
        </p:txBody>
      </p:sp>
      <p:grpSp>
        <p:nvGrpSpPr>
          <p:cNvPr id="44053" name="Group 31"/>
          <p:cNvGrpSpPr>
            <a:grpSpLocks/>
          </p:cNvGrpSpPr>
          <p:nvPr/>
        </p:nvGrpSpPr>
        <p:grpSpPr bwMode="auto">
          <a:xfrm>
            <a:off x="2371857" y="2130507"/>
            <a:ext cx="4229100" cy="800100"/>
            <a:chOff x="1200" y="2448"/>
            <a:chExt cx="3552" cy="672"/>
          </a:xfrm>
        </p:grpSpPr>
        <p:grpSp>
          <p:nvGrpSpPr>
            <p:cNvPr id="44056" name="Group 32"/>
            <p:cNvGrpSpPr>
              <a:grpSpLocks/>
            </p:cNvGrpSpPr>
            <p:nvPr/>
          </p:nvGrpSpPr>
          <p:grpSpPr bwMode="auto">
            <a:xfrm>
              <a:off x="1296" y="2544"/>
              <a:ext cx="3260" cy="463"/>
              <a:chOff x="683" y="2342"/>
              <a:chExt cx="3260" cy="463"/>
            </a:xfrm>
          </p:grpSpPr>
          <p:sp>
            <p:nvSpPr>
              <p:cNvPr id="44058" name="Line 33"/>
              <p:cNvSpPr>
                <a:spLocks noChangeShapeType="1"/>
              </p:cNvSpPr>
              <p:nvPr/>
            </p:nvSpPr>
            <p:spPr bwMode="auto">
              <a:xfrm>
                <a:off x="1272" y="2592"/>
                <a:ext cx="2671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CA" sz="1350"/>
              </a:p>
            </p:txBody>
          </p:sp>
          <p:sp>
            <p:nvSpPr>
              <p:cNvPr id="44059" name="Rectangle 34"/>
              <p:cNvSpPr>
                <a:spLocks noChangeArrowheads="1"/>
              </p:cNvSpPr>
              <p:nvPr/>
            </p:nvSpPr>
            <p:spPr bwMode="auto">
              <a:xfrm>
                <a:off x="683" y="2484"/>
                <a:ext cx="105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fr-CH" sz="1350" b="1" i="1">
                    <a:solidFill>
                      <a:srgbClr val="185FAB"/>
                    </a:solidFill>
                  </a:rPr>
                  <a:t>C</a:t>
                </a:r>
              </a:p>
            </p:txBody>
          </p:sp>
          <p:sp>
            <p:nvSpPr>
              <p:cNvPr id="44060" name="Rectangle 35"/>
              <p:cNvSpPr>
                <a:spLocks noChangeArrowheads="1"/>
              </p:cNvSpPr>
              <p:nvPr/>
            </p:nvSpPr>
            <p:spPr bwMode="auto">
              <a:xfrm>
                <a:off x="802" y="2557"/>
                <a:ext cx="71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l" eaLnBrk="0" hangingPunct="0"/>
                <a:r>
                  <a:rPr lang="fr-CH" sz="1350" b="1" i="1" dirty="0">
                    <a:solidFill>
                      <a:srgbClr val="185FAB"/>
                    </a:solidFill>
                  </a:rPr>
                  <a:t>p</a:t>
                </a:r>
              </a:p>
            </p:txBody>
          </p:sp>
          <p:sp>
            <p:nvSpPr>
              <p:cNvPr id="44061" name="Rectangle 36"/>
              <p:cNvSpPr>
                <a:spLocks noChangeArrowheads="1"/>
              </p:cNvSpPr>
              <p:nvPr/>
            </p:nvSpPr>
            <p:spPr bwMode="auto">
              <a:xfrm>
                <a:off x="1046" y="2462"/>
                <a:ext cx="85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fr-CH" sz="1350">
                    <a:solidFill>
                      <a:srgbClr val="185FAB"/>
                    </a:solidFill>
                  </a:rPr>
                  <a:t>=</a:t>
                </a:r>
              </a:p>
            </p:txBody>
          </p:sp>
          <p:sp>
            <p:nvSpPr>
              <p:cNvPr id="44062" name="Rectangle 37"/>
              <p:cNvSpPr>
                <a:spLocks noChangeArrowheads="1"/>
              </p:cNvSpPr>
              <p:nvPr/>
            </p:nvSpPr>
            <p:spPr bwMode="auto">
              <a:xfrm>
                <a:off x="1710" y="2342"/>
                <a:ext cx="1535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fr-CH" sz="1350" b="1">
                    <a:solidFill>
                      <a:srgbClr val="185FAB"/>
                    </a:solidFill>
                  </a:rPr>
                  <a:t>Intervalle</a:t>
                </a:r>
                <a:r>
                  <a:rPr lang="fr-CH" sz="1350">
                    <a:solidFill>
                      <a:srgbClr val="185FAB"/>
                    </a:solidFill>
                  </a:rPr>
                  <a:t> </a:t>
                </a:r>
                <a:r>
                  <a:rPr lang="fr-CH" sz="1350" b="1">
                    <a:solidFill>
                      <a:srgbClr val="185FAB"/>
                    </a:solidFill>
                  </a:rPr>
                  <a:t>de tolérance</a:t>
                </a:r>
              </a:p>
            </p:txBody>
          </p:sp>
          <p:sp>
            <p:nvSpPr>
              <p:cNvPr id="44063" name="Rectangle 38"/>
              <p:cNvSpPr>
                <a:spLocks noChangeArrowheads="1"/>
              </p:cNvSpPr>
              <p:nvPr/>
            </p:nvSpPr>
            <p:spPr bwMode="auto">
              <a:xfrm>
                <a:off x="1233" y="2631"/>
                <a:ext cx="2415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fr-CH" sz="1350" b="1">
                    <a:solidFill>
                      <a:srgbClr val="185FAB"/>
                    </a:solidFill>
                  </a:rPr>
                  <a:t>Étendue des variations du procédé</a:t>
                </a:r>
              </a:p>
            </p:txBody>
          </p:sp>
        </p:grpSp>
        <p:sp>
          <p:nvSpPr>
            <p:cNvPr id="44057" name="Rectangle 39"/>
            <p:cNvSpPr>
              <a:spLocks noChangeArrowheads="1"/>
            </p:cNvSpPr>
            <p:nvPr/>
          </p:nvSpPr>
          <p:spPr bwMode="auto">
            <a:xfrm>
              <a:off x="1200" y="2448"/>
              <a:ext cx="355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 sz="1350"/>
            </a:p>
          </p:txBody>
        </p:sp>
      </p:grpSp>
      <p:sp>
        <p:nvSpPr>
          <p:cNvPr id="44054" name="Rectangle 41"/>
          <p:cNvSpPr>
            <a:spLocks noChangeArrowheads="1"/>
          </p:cNvSpPr>
          <p:nvPr/>
        </p:nvSpPr>
        <p:spPr bwMode="auto">
          <a:xfrm>
            <a:off x="2395669" y="4255775"/>
            <a:ext cx="4205288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l" eaLnBrk="0" hangingPunct="0"/>
            <a:r>
              <a:rPr lang="fr-CH" sz="1350" dirty="0">
                <a:solidFill>
                  <a:srgbClr val="185FAB"/>
                </a:solidFill>
              </a:rPr>
              <a:t> LTS : Limite de Tolérance Supérieure </a:t>
            </a:r>
          </a:p>
          <a:p>
            <a:pPr algn="l" eaLnBrk="0" hangingPunct="0"/>
            <a:r>
              <a:rPr lang="fr-CH" sz="1350" dirty="0">
                <a:solidFill>
                  <a:srgbClr val="185FAB"/>
                </a:solidFill>
              </a:rPr>
              <a:t> LTI : Limite de Tolérance Inférieure</a:t>
            </a:r>
          </a:p>
          <a:p>
            <a:pPr algn="l" eaLnBrk="0" hangingPunct="0"/>
            <a:r>
              <a:rPr lang="fr-CA" sz="1350" dirty="0">
                <a:solidFill>
                  <a:srgbClr val="185FAB"/>
                </a:solidFill>
              </a:rPr>
              <a:t> _</a:t>
            </a:r>
          </a:p>
          <a:p>
            <a:pPr algn="l" eaLnBrk="0" hangingPunct="0"/>
            <a:r>
              <a:rPr lang="fr-CA" sz="1350" dirty="0">
                <a:solidFill>
                  <a:srgbClr val="185FAB"/>
                </a:solidFill>
              </a:rPr>
              <a:t> R : Moyenne des étendues</a:t>
            </a:r>
            <a:endParaRPr lang="fr-CH" sz="1350" dirty="0">
              <a:solidFill>
                <a:srgbClr val="185FAB"/>
              </a:solidFill>
            </a:endParaRPr>
          </a:p>
        </p:txBody>
      </p:sp>
      <p:sp>
        <p:nvSpPr>
          <p:cNvPr id="32" name="Line 18"/>
          <p:cNvSpPr>
            <a:spLocks noChangeShapeType="1"/>
          </p:cNvSpPr>
          <p:nvPr/>
        </p:nvSpPr>
        <p:spPr bwMode="auto">
          <a:xfrm>
            <a:off x="4369783" y="3736662"/>
            <a:ext cx="442913" cy="1191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33" name="Rectangle 19"/>
          <p:cNvSpPr>
            <a:spLocks noChangeArrowheads="1"/>
          </p:cNvSpPr>
          <p:nvPr/>
        </p:nvSpPr>
        <p:spPr bwMode="auto">
          <a:xfrm>
            <a:off x="4559091" y="3439007"/>
            <a:ext cx="173124" cy="288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fr-CH" sz="1875" i="1" dirty="0">
                <a:solidFill>
                  <a:srgbClr val="185FAB"/>
                </a:solidFill>
              </a:rPr>
              <a:t>R</a:t>
            </a: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4440029" y="3768809"/>
            <a:ext cx="133050" cy="288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fr-CH" sz="1875" i="1" dirty="0">
                <a:solidFill>
                  <a:srgbClr val="185FAB"/>
                </a:solidFill>
              </a:rPr>
              <a:t>d</a:t>
            </a:r>
          </a:p>
        </p:txBody>
      </p:sp>
      <p:sp>
        <p:nvSpPr>
          <p:cNvPr id="35" name="Rectangle 22"/>
          <p:cNvSpPr>
            <a:spLocks noChangeArrowheads="1"/>
          </p:cNvSpPr>
          <p:nvPr/>
        </p:nvSpPr>
        <p:spPr bwMode="auto">
          <a:xfrm>
            <a:off x="4384069" y="3439007"/>
            <a:ext cx="133050" cy="288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fr-CH" sz="1875" dirty="0">
                <a:solidFill>
                  <a:srgbClr val="185FAB"/>
                </a:solidFill>
              </a:rPr>
              <a:t>6</a:t>
            </a:r>
          </a:p>
        </p:txBody>
      </p:sp>
      <p:sp>
        <p:nvSpPr>
          <p:cNvPr id="36" name="Rectangle 23"/>
          <p:cNvSpPr>
            <a:spLocks noChangeArrowheads="1"/>
          </p:cNvSpPr>
          <p:nvPr/>
        </p:nvSpPr>
        <p:spPr bwMode="auto">
          <a:xfrm>
            <a:off x="4612669" y="3912875"/>
            <a:ext cx="75342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fr-CH" sz="1050" dirty="0">
                <a:solidFill>
                  <a:srgbClr val="185FAB"/>
                </a:solidFill>
              </a:rPr>
              <a:t>2</a:t>
            </a:r>
          </a:p>
        </p:txBody>
      </p:sp>
      <p:sp>
        <p:nvSpPr>
          <p:cNvPr id="37" name="Line 24"/>
          <p:cNvSpPr>
            <a:spLocks noChangeShapeType="1"/>
          </p:cNvSpPr>
          <p:nvPr/>
        </p:nvSpPr>
        <p:spPr bwMode="auto">
          <a:xfrm>
            <a:off x="4595573" y="3435434"/>
            <a:ext cx="140494" cy="119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CA" sz="13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sz="1600" i="1" dirty="0"/>
              <a:t>Exercice</a:t>
            </a:r>
            <a:br>
              <a:rPr lang="fr-CA" dirty="0"/>
            </a:br>
            <a:r>
              <a:rPr lang="fr-CA" dirty="0"/>
              <a:t>Calculez la capacité opérationnelle - Cp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2E05E76-3EBD-4CCC-86AC-7EA00E3C894A}"/>
              </a:ext>
            </a:extLst>
          </p:cNvPr>
          <p:cNvSpPr txBox="1">
            <a:spLocks/>
          </p:cNvSpPr>
          <p:nvPr/>
        </p:nvSpPr>
        <p:spPr>
          <a:xfrm>
            <a:off x="532000" y="1577687"/>
            <a:ext cx="9096000" cy="3187989"/>
          </a:xfrm>
          <a:prstGeom prst="rect">
            <a:avLst/>
          </a:prstGeom>
        </p:spPr>
        <p:txBody>
          <a:bodyPr>
            <a:normAutofit/>
          </a:bodyPr>
          <a:lstStyle>
            <a:lvl1pPr marL="1548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3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2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76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400" indent="-1548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Char char="•"/>
              <a:defRPr sz="16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CA" dirty="0"/>
              <a:t>Les exigences du clients sont de 5,35 ± 3.</a:t>
            </a:r>
          </a:p>
          <a:p>
            <a:pPr marL="0" indent="0">
              <a:buNone/>
            </a:pPr>
            <a:r>
              <a:rPr lang="fr-CA" dirty="0"/>
              <a:t>Le processus actuel est-il en mesure de respecter les spécifications du client?</a:t>
            </a:r>
          </a:p>
          <a:p>
            <a:pPr marL="0" indent="0">
              <a:buNone/>
            </a:pPr>
            <a:r>
              <a:rPr lang="fr-CA" dirty="0"/>
              <a:t>Répondez à l’aide du calcul approprié.</a:t>
            </a:r>
          </a:p>
        </p:txBody>
      </p:sp>
    </p:spTree>
    <p:extLst>
      <p:ext uri="{BB962C8B-B14F-4D97-AF65-F5344CB8AC3E}">
        <p14:creationId xmlns:p14="http://schemas.microsoft.com/office/powerpoint/2010/main" val="2350567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488001"/>
              </p:ext>
            </p:extLst>
          </p:nvPr>
        </p:nvGraphicFramePr>
        <p:xfrm>
          <a:off x="1806602" y="1517856"/>
          <a:ext cx="6831106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0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fr-CA" sz="1500" dirty="0"/>
                        <a:t>Indice</a:t>
                      </a:r>
                      <a:r>
                        <a:rPr lang="fr-CA" sz="1500" baseline="0" dirty="0"/>
                        <a:t> Cp</a:t>
                      </a:r>
                      <a:endParaRPr lang="fr-CA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500" dirty="0"/>
                        <a:t>Interprétation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lang="fr-CA" sz="1500" dirty="0"/>
                        <a:t>Cp &lt;</a:t>
                      </a:r>
                      <a:r>
                        <a:rPr lang="fr-CA" sz="1500" baseline="0" dirty="0"/>
                        <a:t> 1,00</a:t>
                      </a:r>
                      <a:endParaRPr lang="fr-CA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500" b="0" dirty="0"/>
                        <a:t>Processus incapable</a:t>
                      </a:r>
                      <a:r>
                        <a:rPr lang="fr-CA" sz="1500" b="0" baseline="0" dirty="0"/>
                        <a:t> de respecter les spécifications. Équivaut à un intervalle de confiance de moins de ± 3</a:t>
                      </a:r>
                      <a:r>
                        <a:rPr lang="el-GR" sz="1500" b="0" baseline="0" dirty="0"/>
                        <a:t>σ</a:t>
                      </a:r>
                      <a:r>
                        <a:rPr lang="fr-CA" sz="1500" b="0" baseline="0" dirty="0"/>
                        <a:t>.</a:t>
                      </a:r>
                      <a:endParaRPr lang="fr-CA" sz="1500" b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lang="fr-CA" sz="1500" dirty="0"/>
                        <a:t>1,00 &lt; Cp &lt; 1,33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500" b="0" dirty="0"/>
                        <a:t>Capacité minime à</a:t>
                      </a:r>
                      <a:r>
                        <a:rPr lang="fr-CA" sz="1500" b="0" baseline="0" dirty="0"/>
                        <a:t> respecter les spécifications. Équivaut à un intervalle de confiance de ± 3</a:t>
                      </a:r>
                      <a:r>
                        <a:rPr lang="el-GR" sz="1500" b="0" baseline="0" dirty="0"/>
                        <a:t>σ</a:t>
                      </a:r>
                      <a:r>
                        <a:rPr lang="fr-CA" sz="1500" b="0" baseline="0" dirty="0"/>
                        <a:t> et plus.</a:t>
                      </a:r>
                      <a:endParaRPr lang="fr-CA" sz="1500" b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lang="fr-CA" sz="1500" dirty="0"/>
                        <a:t>1,34 &lt; Cp</a:t>
                      </a:r>
                      <a:r>
                        <a:rPr lang="fr-CA" sz="1500" baseline="0" dirty="0"/>
                        <a:t> &lt; 2,00</a:t>
                      </a:r>
                      <a:endParaRPr lang="fr-CA" sz="15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500" b="0" dirty="0"/>
                        <a:t>Processus capable de respecter les spécifications.</a:t>
                      </a:r>
                      <a:r>
                        <a:rPr lang="fr-CA" sz="1500" b="0" baseline="0" dirty="0"/>
                        <a:t> Équivaut à un intervalle de confiance de ± 4</a:t>
                      </a:r>
                      <a:r>
                        <a:rPr lang="el-GR" sz="1500" b="0" baseline="0" dirty="0"/>
                        <a:t>σ</a:t>
                      </a:r>
                      <a:r>
                        <a:rPr lang="fr-CA" sz="1500" b="0" baseline="0" dirty="0"/>
                        <a:t> et plus.</a:t>
                      </a:r>
                      <a:endParaRPr lang="fr-CA" sz="1500" b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lang="fr-CA" sz="1500" dirty="0"/>
                        <a:t>Cp &gt; 2,00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500" b="0" dirty="0"/>
                        <a:t>Processus capable de respecter</a:t>
                      </a:r>
                      <a:r>
                        <a:rPr lang="fr-CA" sz="1500" b="0" baseline="0" dirty="0"/>
                        <a:t> les spécifications et de les dépasser. Équivaut à un intervalle de confiance de ± 6</a:t>
                      </a:r>
                      <a:r>
                        <a:rPr lang="el-GR" sz="1500" b="0" baseline="0" dirty="0"/>
                        <a:t>σ</a:t>
                      </a:r>
                      <a:r>
                        <a:rPr lang="fr-CA" sz="1500" b="0" baseline="0" dirty="0"/>
                        <a:t> et plus.</a:t>
                      </a:r>
                      <a:endParaRPr lang="fr-CA" sz="1500" b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Interprétation des résultats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Interprétation graphique</a:t>
            </a:r>
            <a:endParaRPr lang="en-US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14AC3B1-24F4-5F31-522D-F1DDA97965E0}"/>
              </a:ext>
            </a:extLst>
          </p:cNvPr>
          <p:cNvGrpSpPr/>
          <p:nvPr/>
        </p:nvGrpSpPr>
        <p:grpSpPr>
          <a:xfrm>
            <a:off x="947343" y="2110600"/>
            <a:ext cx="5592365" cy="2889690"/>
            <a:chOff x="2226075" y="2128840"/>
            <a:chExt cx="5592365" cy="2889690"/>
          </a:xfrm>
        </p:grpSpPr>
        <p:sp>
          <p:nvSpPr>
            <p:cNvPr id="12293" name="Freeform 4"/>
            <p:cNvSpPr>
              <a:spLocks/>
            </p:cNvSpPr>
            <p:nvPr/>
          </p:nvSpPr>
          <p:spPr bwMode="auto">
            <a:xfrm>
              <a:off x="3430986" y="2925366"/>
              <a:ext cx="2989659" cy="781050"/>
            </a:xfrm>
            <a:custGeom>
              <a:avLst/>
              <a:gdLst>
                <a:gd name="T0" fmla="*/ 2147483647 w 1813"/>
                <a:gd name="T1" fmla="*/ 2147483647 h 656"/>
                <a:gd name="T2" fmla="*/ 2147483647 w 1813"/>
                <a:gd name="T3" fmla="*/ 2147483647 h 656"/>
                <a:gd name="T4" fmla="*/ 2147483647 w 1813"/>
                <a:gd name="T5" fmla="*/ 2147483647 h 656"/>
                <a:gd name="T6" fmla="*/ 2147483647 w 1813"/>
                <a:gd name="T7" fmla="*/ 2147483647 h 656"/>
                <a:gd name="T8" fmla="*/ 2147483647 w 1813"/>
                <a:gd name="T9" fmla="*/ 2147483647 h 656"/>
                <a:gd name="T10" fmla="*/ 2147483647 w 1813"/>
                <a:gd name="T11" fmla="*/ 2147483647 h 656"/>
                <a:gd name="T12" fmla="*/ 2147483647 w 1813"/>
                <a:gd name="T13" fmla="*/ 2147483647 h 656"/>
                <a:gd name="T14" fmla="*/ 2147483647 w 1813"/>
                <a:gd name="T15" fmla="*/ 2147483647 h 656"/>
                <a:gd name="T16" fmla="*/ 2147483647 w 1813"/>
                <a:gd name="T17" fmla="*/ 2147483647 h 656"/>
                <a:gd name="T18" fmla="*/ 2147483647 w 1813"/>
                <a:gd name="T19" fmla="*/ 2147483647 h 656"/>
                <a:gd name="T20" fmla="*/ 2147483647 w 1813"/>
                <a:gd name="T21" fmla="*/ 2147483647 h 656"/>
                <a:gd name="T22" fmla="*/ 2147483647 w 1813"/>
                <a:gd name="T23" fmla="*/ 2147483647 h 656"/>
                <a:gd name="T24" fmla="*/ 2147483647 w 1813"/>
                <a:gd name="T25" fmla="*/ 2147483647 h 656"/>
                <a:gd name="T26" fmla="*/ 2147483647 w 1813"/>
                <a:gd name="T27" fmla="*/ 2147483647 h 656"/>
                <a:gd name="T28" fmla="*/ 2147483647 w 1813"/>
                <a:gd name="T29" fmla="*/ 2147483647 h 656"/>
                <a:gd name="T30" fmla="*/ 2147483647 w 1813"/>
                <a:gd name="T31" fmla="*/ 2147483647 h 656"/>
                <a:gd name="T32" fmla="*/ 2147483647 w 1813"/>
                <a:gd name="T33" fmla="*/ 2147483647 h 656"/>
                <a:gd name="T34" fmla="*/ 2147483647 w 1813"/>
                <a:gd name="T35" fmla="*/ 2147483647 h 656"/>
                <a:gd name="T36" fmla="*/ 2147483647 w 1813"/>
                <a:gd name="T37" fmla="*/ 2147483647 h 656"/>
                <a:gd name="T38" fmla="*/ 2147483647 w 1813"/>
                <a:gd name="T39" fmla="*/ 0 h 656"/>
                <a:gd name="T40" fmla="*/ 2147483647 w 1813"/>
                <a:gd name="T41" fmla="*/ 2147483647 h 656"/>
                <a:gd name="T42" fmla="*/ 2147483647 w 1813"/>
                <a:gd name="T43" fmla="*/ 2147483647 h 656"/>
                <a:gd name="T44" fmla="*/ 2147483647 w 1813"/>
                <a:gd name="T45" fmla="*/ 2147483647 h 656"/>
                <a:gd name="T46" fmla="*/ 2147483647 w 1813"/>
                <a:gd name="T47" fmla="*/ 2147483647 h 656"/>
                <a:gd name="T48" fmla="*/ 2147483647 w 1813"/>
                <a:gd name="T49" fmla="*/ 2147483647 h 656"/>
                <a:gd name="T50" fmla="*/ 2147483647 w 1813"/>
                <a:gd name="T51" fmla="*/ 2147483647 h 656"/>
                <a:gd name="T52" fmla="*/ 2147483647 w 1813"/>
                <a:gd name="T53" fmla="*/ 2147483647 h 656"/>
                <a:gd name="T54" fmla="*/ 2147483647 w 1813"/>
                <a:gd name="T55" fmla="*/ 2147483647 h 656"/>
                <a:gd name="T56" fmla="*/ 2147483647 w 1813"/>
                <a:gd name="T57" fmla="*/ 2147483647 h 656"/>
                <a:gd name="T58" fmla="*/ 2147483647 w 1813"/>
                <a:gd name="T59" fmla="*/ 2147483647 h 656"/>
                <a:gd name="T60" fmla="*/ 2147483647 w 1813"/>
                <a:gd name="T61" fmla="*/ 2147483647 h 656"/>
                <a:gd name="T62" fmla="*/ 2147483647 w 1813"/>
                <a:gd name="T63" fmla="*/ 2147483647 h 656"/>
                <a:gd name="T64" fmla="*/ 2147483647 w 1813"/>
                <a:gd name="T65" fmla="*/ 2147483647 h 656"/>
                <a:gd name="T66" fmla="*/ 2147483647 w 1813"/>
                <a:gd name="T67" fmla="*/ 2147483647 h 656"/>
                <a:gd name="T68" fmla="*/ 2147483647 w 1813"/>
                <a:gd name="T69" fmla="*/ 2147483647 h 656"/>
                <a:gd name="T70" fmla="*/ 2147483647 w 1813"/>
                <a:gd name="T71" fmla="*/ 2147483647 h 656"/>
                <a:gd name="T72" fmla="*/ 2147483647 w 1813"/>
                <a:gd name="T73" fmla="*/ 2147483647 h 656"/>
                <a:gd name="T74" fmla="*/ 2147483647 w 1813"/>
                <a:gd name="T75" fmla="*/ 2147483647 h 656"/>
                <a:gd name="T76" fmla="*/ 2147483647 w 1813"/>
                <a:gd name="T77" fmla="*/ 2147483647 h 65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813"/>
                <a:gd name="T118" fmla="*/ 0 h 656"/>
                <a:gd name="T119" fmla="*/ 1813 w 1813"/>
                <a:gd name="T120" fmla="*/ 656 h 65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813" h="656">
                  <a:moveTo>
                    <a:pt x="0" y="655"/>
                  </a:moveTo>
                  <a:lnTo>
                    <a:pt x="26" y="654"/>
                  </a:lnTo>
                  <a:lnTo>
                    <a:pt x="52" y="654"/>
                  </a:lnTo>
                  <a:lnTo>
                    <a:pt x="77" y="652"/>
                  </a:lnTo>
                  <a:lnTo>
                    <a:pt x="103" y="651"/>
                  </a:lnTo>
                  <a:lnTo>
                    <a:pt x="129" y="649"/>
                  </a:lnTo>
                  <a:lnTo>
                    <a:pt x="155" y="646"/>
                  </a:lnTo>
                  <a:lnTo>
                    <a:pt x="181" y="644"/>
                  </a:lnTo>
                  <a:lnTo>
                    <a:pt x="207" y="639"/>
                  </a:lnTo>
                  <a:lnTo>
                    <a:pt x="233" y="634"/>
                  </a:lnTo>
                  <a:lnTo>
                    <a:pt x="259" y="628"/>
                  </a:lnTo>
                  <a:lnTo>
                    <a:pt x="285" y="620"/>
                  </a:lnTo>
                  <a:lnTo>
                    <a:pt x="311" y="610"/>
                  </a:lnTo>
                  <a:lnTo>
                    <a:pt x="337" y="598"/>
                  </a:lnTo>
                  <a:lnTo>
                    <a:pt x="362" y="584"/>
                  </a:lnTo>
                  <a:lnTo>
                    <a:pt x="388" y="568"/>
                  </a:lnTo>
                  <a:lnTo>
                    <a:pt x="414" y="548"/>
                  </a:lnTo>
                  <a:lnTo>
                    <a:pt x="440" y="526"/>
                  </a:lnTo>
                  <a:lnTo>
                    <a:pt x="466" y="502"/>
                  </a:lnTo>
                  <a:lnTo>
                    <a:pt x="491" y="474"/>
                  </a:lnTo>
                  <a:lnTo>
                    <a:pt x="517" y="443"/>
                  </a:lnTo>
                  <a:lnTo>
                    <a:pt x="543" y="410"/>
                  </a:lnTo>
                  <a:lnTo>
                    <a:pt x="569" y="374"/>
                  </a:lnTo>
                  <a:lnTo>
                    <a:pt x="595" y="337"/>
                  </a:lnTo>
                  <a:lnTo>
                    <a:pt x="621" y="298"/>
                  </a:lnTo>
                  <a:lnTo>
                    <a:pt x="647" y="258"/>
                  </a:lnTo>
                  <a:lnTo>
                    <a:pt x="673" y="218"/>
                  </a:lnTo>
                  <a:lnTo>
                    <a:pt x="699" y="180"/>
                  </a:lnTo>
                  <a:lnTo>
                    <a:pt x="725" y="142"/>
                  </a:lnTo>
                  <a:lnTo>
                    <a:pt x="750" y="108"/>
                  </a:lnTo>
                  <a:lnTo>
                    <a:pt x="776" y="77"/>
                  </a:lnTo>
                  <a:lnTo>
                    <a:pt x="802" y="50"/>
                  </a:lnTo>
                  <a:lnTo>
                    <a:pt x="815" y="39"/>
                  </a:lnTo>
                  <a:lnTo>
                    <a:pt x="828" y="28"/>
                  </a:lnTo>
                  <a:lnTo>
                    <a:pt x="841" y="20"/>
                  </a:lnTo>
                  <a:lnTo>
                    <a:pt x="854" y="13"/>
                  </a:lnTo>
                  <a:lnTo>
                    <a:pt x="866" y="7"/>
                  </a:lnTo>
                  <a:lnTo>
                    <a:pt x="880" y="3"/>
                  </a:lnTo>
                  <a:lnTo>
                    <a:pt x="893" y="0"/>
                  </a:lnTo>
                  <a:lnTo>
                    <a:pt x="906" y="0"/>
                  </a:lnTo>
                  <a:lnTo>
                    <a:pt x="919" y="0"/>
                  </a:lnTo>
                  <a:lnTo>
                    <a:pt x="931" y="3"/>
                  </a:lnTo>
                  <a:lnTo>
                    <a:pt x="945" y="7"/>
                  </a:lnTo>
                  <a:lnTo>
                    <a:pt x="957" y="13"/>
                  </a:lnTo>
                  <a:lnTo>
                    <a:pt x="971" y="20"/>
                  </a:lnTo>
                  <a:lnTo>
                    <a:pt x="983" y="28"/>
                  </a:lnTo>
                  <a:lnTo>
                    <a:pt x="997" y="39"/>
                  </a:lnTo>
                  <a:lnTo>
                    <a:pt x="1009" y="50"/>
                  </a:lnTo>
                  <a:lnTo>
                    <a:pt x="1035" y="77"/>
                  </a:lnTo>
                  <a:lnTo>
                    <a:pt x="1061" y="108"/>
                  </a:lnTo>
                  <a:lnTo>
                    <a:pt x="1087" y="142"/>
                  </a:lnTo>
                  <a:lnTo>
                    <a:pt x="1113" y="180"/>
                  </a:lnTo>
                  <a:lnTo>
                    <a:pt x="1139" y="218"/>
                  </a:lnTo>
                  <a:lnTo>
                    <a:pt x="1165" y="258"/>
                  </a:lnTo>
                  <a:lnTo>
                    <a:pt x="1191" y="298"/>
                  </a:lnTo>
                  <a:lnTo>
                    <a:pt x="1216" y="337"/>
                  </a:lnTo>
                  <a:lnTo>
                    <a:pt x="1242" y="374"/>
                  </a:lnTo>
                  <a:lnTo>
                    <a:pt x="1268" y="410"/>
                  </a:lnTo>
                  <a:lnTo>
                    <a:pt x="1294" y="443"/>
                  </a:lnTo>
                  <a:lnTo>
                    <a:pt x="1320" y="474"/>
                  </a:lnTo>
                  <a:lnTo>
                    <a:pt x="1346" y="502"/>
                  </a:lnTo>
                  <a:lnTo>
                    <a:pt x="1372" y="526"/>
                  </a:lnTo>
                  <a:lnTo>
                    <a:pt x="1397" y="548"/>
                  </a:lnTo>
                  <a:lnTo>
                    <a:pt x="1423" y="568"/>
                  </a:lnTo>
                  <a:lnTo>
                    <a:pt x="1449" y="584"/>
                  </a:lnTo>
                  <a:lnTo>
                    <a:pt x="1475" y="598"/>
                  </a:lnTo>
                  <a:lnTo>
                    <a:pt x="1501" y="610"/>
                  </a:lnTo>
                  <a:lnTo>
                    <a:pt x="1527" y="620"/>
                  </a:lnTo>
                  <a:lnTo>
                    <a:pt x="1553" y="628"/>
                  </a:lnTo>
                  <a:lnTo>
                    <a:pt x="1579" y="634"/>
                  </a:lnTo>
                  <a:lnTo>
                    <a:pt x="1605" y="639"/>
                  </a:lnTo>
                  <a:lnTo>
                    <a:pt x="1631" y="644"/>
                  </a:lnTo>
                  <a:lnTo>
                    <a:pt x="1657" y="646"/>
                  </a:lnTo>
                  <a:lnTo>
                    <a:pt x="1682" y="649"/>
                  </a:lnTo>
                  <a:lnTo>
                    <a:pt x="1708" y="651"/>
                  </a:lnTo>
                  <a:lnTo>
                    <a:pt x="1734" y="652"/>
                  </a:lnTo>
                  <a:lnTo>
                    <a:pt x="1760" y="654"/>
                  </a:lnTo>
                  <a:lnTo>
                    <a:pt x="1786" y="654"/>
                  </a:lnTo>
                  <a:lnTo>
                    <a:pt x="1812" y="655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 sz="1350"/>
            </a:p>
          </p:txBody>
        </p:sp>
        <p:sp>
          <p:nvSpPr>
            <p:cNvPr id="12294" name="Line 5"/>
            <p:cNvSpPr>
              <a:spLocks noChangeShapeType="1"/>
            </p:cNvSpPr>
            <p:nvPr/>
          </p:nvSpPr>
          <p:spPr bwMode="auto">
            <a:xfrm>
              <a:off x="2226075" y="3751660"/>
              <a:ext cx="55923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2295" name="Line 6"/>
            <p:cNvSpPr>
              <a:spLocks noChangeShapeType="1"/>
            </p:cNvSpPr>
            <p:nvPr/>
          </p:nvSpPr>
          <p:spPr bwMode="auto">
            <a:xfrm flipH="1">
              <a:off x="5203827" y="2740820"/>
              <a:ext cx="522685" cy="28932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2296" name="Line 7"/>
            <p:cNvSpPr>
              <a:spLocks noChangeShapeType="1"/>
            </p:cNvSpPr>
            <p:nvPr/>
          </p:nvSpPr>
          <p:spPr bwMode="auto">
            <a:xfrm>
              <a:off x="4913313" y="2221707"/>
              <a:ext cx="0" cy="1620441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graphicFrame>
          <p:nvGraphicFramePr>
            <p:cNvPr id="12290" name="Object 2"/>
            <p:cNvGraphicFramePr>
              <a:graphicFrameLocks noChangeAspect="1"/>
            </p:cNvGraphicFramePr>
            <p:nvPr/>
          </p:nvGraphicFramePr>
          <p:xfrm>
            <a:off x="4768056" y="3855244"/>
            <a:ext cx="26670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2280" imgH="228600" progId="Equation.3">
                    <p:embed/>
                  </p:oleObj>
                </mc:Choice>
                <mc:Fallback>
                  <p:oleObj name="Equation" r:id="rId3" imgW="152280" imgH="228600" progId="Equation.3">
                    <p:embed/>
                    <p:pic>
                      <p:nvPicPr>
                        <p:cNvPr id="1229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8056" y="3855244"/>
                          <a:ext cx="266700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7" name="Line 9"/>
            <p:cNvSpPr>
              <a:spLocks noChangeShapeType="1"/>
            </p:cNvSpPr>
            <p:nvPr/>
          </p:nvSpPr>
          <p:spPr bwMode="auto">
            <a:xfrm flipV="1">
              <a:off x="3304779" y="2128840"/>
              <a:ext cx="0" cy="284083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2298" name="Line 10"/>
            <p:cNvSpPr>
              <a:spLocks noChangeShapeType="1"/>
            </p:cNvSpPr>
            <p:nvPr/>
          </p:nvSpPr>
          <p:spPr bwMode="auto">
            <a:xfrm flipV="1">
              <a:off x="6552804" y="2128840"/>
              <a:ext cx="0" cy="284083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2299" name="Line 11"/>
            <p:cNvSpPr>
              <a:spLocks noChangeShapeType="1"/>
            </p:cNvSpPr>
            <p:nvPr/>
          </p:nvSpPr>
          <p:spPr bwMode="auto">
            <a:xfrm>
              <a:off x="3309543" y="4880372"/>
              <a:ext cx="3230165" cy="0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2300" name="Line 12"/>
            <p:cNvSpPr>
              <a:spLocks noChangeShapeType="1"/>
            </p:cNvSpPr>
            <p:nvPr/>
          </p:nvSpPr>
          <p:spPr bwMode="auto">
            <a:xfrm>
              <a:off x="3416697" y="3345658"/>
              <a:ext cx="0" cy="112752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2301" name="Line 13"/>
            <p:cNvSpPr>
              <a:spLocks noChangeShapeType="1"/>
            </p:cNvSpPr>
            <p:nvPr/>
          </p:nvSpPr>
          <p:spPr bwMode="auto">
            <a:xfrm>
              <a:off x="6425406" y="3345658"/>
              <a:ext cx="0" cy="112752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2302" name="Line 14"/>
            <p:cNvSpPr>
              <a:spLocks noChangeShapeType="1"/>
            </p:cNvSpPr>
            <p:nvPr/>
          </p:nvSpPr>
          <p:spPr bwMode="auto">
            <a:xfrm>
              <a:off x="3438129" y="4439841"/>
              <a:ext cx="2984897" cy="0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2303" name="Line 15"/>
            <p:cNvSpPr>
              <a:spLocks noChangeShapeType="1"/>
            </p:cNvSpPr>
            <p:nvPr/>
          </p:nvSpPr>
          <p:spPr bwMode="auto">
            <a:xfrm flipV="1">
              <a:off x="3850085" y="3390901"/>
              <a:ext cx="0" cy="496491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2304" name="Line 16"/>
            <p:cNvSpPr>
              <a:spLocks noChangeShapeType="1"/>
            </p:cNvSpPr>
            <p:nvPr/>
          </p:nvSpPr>
          <p:spPr bwMode="auto">
            <a:xfrm flipV="1">
              <a:off x="6014641" y="3481390"/>
              <a:ext cx="0" cy="451247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2305" name="Line 17"/>
            <p:cNvSpPr>
              <a:spLocks noChangeShapeType="1"/>
            </p:cNvSpPr>
            <p:nvPr/>
          </p:nvSpPr>
          <p:spPr bwMode="auto">
            <a:xfrm>
              <a:off x="3850086" y="3842147"/>
              <a:ext cx="2164556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2306" name="Text Box 18"/>
            <p:cNvSpPr txBox="1">
              <a:spLocks noChangeArrowheads="1"/>
            </p:cNvSpPr>
            <p:nvPr/>
          </p:nvSpPr>
          <p:spPr bwMode="auto">
            <a:xfrm>
              <a:off x="5387181" y="2312195"/>
              <a:ext cx="1233030" cy="507831"/>
            </a:xfrm>
            <a:prstGeom prst="rect">
              <a:avLst/>
            </a:prstGeom>
            <a:noFill/>
            <a:ln w="28575" algn="ctr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1350" b="1">
                  <a:solidFill>
                    <a:srgbClr val="00FF00"/>
                  </a:solidFill>
                </a:rPr>
                <a:t>Valeurs</a:t>
              </a:r>
            </a:p>
            <a:p>
              <a:pPr algn="l"/>
              <a:r>
                <a:rPr lang="en-US" sz="1350" b="1">
                  <a:solidFill>
                    <a:srgbClr val="00FF00"/>
                  </a:solidFill>
                </a:rPr>
                <a:t>individuelles</a:t>
              </a:r>
            </a:p>
          </p:txBody>
        </p:sp>
        <p:sp>
          <p:nvSpPr>
            <p:cNvPr id="12307" name="Text Box 19"/>
            <p:cNvSpPr txBox="1">
              <a:spLocks noChangeArrowheads="1"/>
            </p:cNvSpPr>
            <p:nvPr/>
          </p:nvSpPr>
          <p:spPr bwMode="auto">
            <a:xfrm>
              <a:off x="4462835" y="4718448"/>
              <a:ext cx="1128066" cy="30008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350">
                  <a:solidFill>
                    <a:srgbClr val="FF3300"/>
                  </a:solidFill>
                  <a:latin typeface="Arial Black" pitchFamily="34" charset="0"/>
                </a:rPr>
                <a:t>Tolérance</a:t>
              </a:r>
            </a:p>
          </p:txBody>
        </p:sp>
        <p:sp>
          <p:nvSpPr>
            <p:cNvPr id="12308" name="Text Box 20"/>
            <p:cNvSpPr txBox="1">
              <a:spLocks noChangeArrowheads="1"/>
            </p:cNvSpPr>
            <p:nvPr/>
          </p:nvSpPr>
          <p:spPr bwMode="auto">
            <a:xfrm>
              <a:off x="3851588" y="4277918"/>
              <a:ext cx="2163051" cy="276999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00FF00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r>
                <a:rPr lang="fr-CA" sz="1200">
                  <a:solidFill>
                    <a:srgbClr val="00FF00"/>
                  </a:solidFill>
                  <a:latin typeface="Arial Black" pitchFamily="34" charset="0"/>
                </a:rPr>
                <a:t>Étendue des variations</a:t>
              </a:r>
            </a:p>
          </p:txBody>
        </p:sp>
        <p:sp>
          <p:nvSpPr>
            <p:cNvPr id="12309" name="Text Box 21"/>
            <p:cNvSpPr txBox="1">
              <a:spLocks noChangeArrowheads="1"/>
            </p:cNvSpPr>
            <p:nvPr/>
          </p:nvSpPr>
          <p:spPr bwMode="auto">
            <a:xfrm>
              <a:off x="3641374" y="3062287"/>
              <a:ext cx="463588" cy="300082"/>
            </a:xfrm>
            <a:prstGeom prst="rect">
              <a:avLst/>
            </a:prstGeom>
            <a:noFill/>
            <a:ln w="28575" algn="ctr">
              <a:solidFill>
                <a:srgbClr val="003399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350" b="1">
                  <a:solidFill>
                    <a:srgbClr val="003399"/>
                  </a:solidFill>
                </a:rPr>
                <a:t>LIC</a:t>
              </a:r>
            </a:p>
          </p:txBody>
        </p:sp>
        <p:sp>
          <p:nvSpPr>
            <p:cNvPr id="12310" name="Text Box 22"/>
            <p:cNvSpPr txBox="1">
              <a:spLocks noChangeArrowheads="1"/>
            </p:cNvSpPr>
            <p:nvPr/>
          </p:nvSpPr>
          <p:spPr bwMode="auto">
            <a:xfrm>
              <a:off x="5780604" y="3152775"/>
              <a:ext cx="530915" cy="300082"/>
            </a:xfrm>
            <a:prstGeom prst="rect">
              <a:avLst/>
            </a:prstGeom>
            <a:noFill/>
            <a:ln w="28575" algn="ctr">
              <a:solidFill>
                <a:srgbClr val="003399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350" b="1">
                  <a:solidFill>
                    <a:srgbClr val="003399"/>
                  </a:solidFill>
                </a:rPr>
                <a:t>LSC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A69E087D-1742-D3D6-31B6-7C512E73533E}"/>
              </a:ext>
            </a:extLst>
          </p:cNvPr>
          <p:cNvGrpSpPr/>
          <p:nvPr/>
        </p:nvGrpSpPr>
        <p:grpSpPr>
          <a:xfrm>
            <a:off x="6697231" y="1652397"/>
            <a:ext cx="2593353" cy="1834188"/>
            <a:chOff x="6697231" y="1652397"/>
            <a:chExt cx="2593353" cy="1834188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D3CD204B-C956-AE3A-06B0-8E757DB6B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97231" y="1652397"/>
              <a:ext cx="2593353" cy="1834188"/>
            </a:xfrm>
            <a:prstGeom prst="rect">
              <a:avLst/>
            </a:prstGeom>
          </p:spPr>
        </p:pic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C4D7A0C7-CD36-10A1-EE9F-B5678C5CDF39}"/>
                </a:ext>
              </a:extLst>
            </p:cNvPr>
            <p:cNvSpPr/>
            <p:nvPr/>
          </p:nvSpPr>
          <p:spPr>
            <a:xfrm>
              <a:off x="7407591" y="1652398"/>
              <a:ext cx="1348509" cy="25498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363"/>
              <a:endParaRPr lang="fr-CA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110F7EC8-92A4-601B-5401-E85510550D43}"/>
                </a:ext>
              </a:extLst>
            </p:cNvPr>
            <p:cNvSpPr/>
            <p:nvPr/>
          </p:nvSpPr>
          <p:spPr>
            <a:xfrm>
              <a:off x="7490359" y="2164389"/>
              <a:ext cx="1173019" cy="25498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363"/>
              <a:endParaRPr lang="fr-CA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1192D728-9A14-5E53-5535-B4EA04A67C13}"/>
                </a:ext>
              </a:extLst>
            </p:cNvPr>
            <p:cNvSpPr/>
            <p:nvPr/>
          </p:nvSpPr>
          <p:spPr>
            <a:xfrm>
              <a:off x="6973481" y="1924829"/>
              <a:ext cx="2078181" cy="188129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63"/>
              <a:endParaRPr lang="fr-CA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F343510E-68EF-DD6B-B3DE-8F162BBF6B0C}"/>
                </a:ext>
              </a:extLst>
            </p:cNvPr>
            <p:cNvSpPr/>
            <p:nvPr/>
          </p:nvSpPr>
          <p:spPr>
            <a:xfrm>
              <a:off x="7703153" y="2436820"/>
              <a:ext cx="729673" cy="437053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63"/>
              <a:endParaRPr lang="fr-CA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8517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F22A4D92-F63F-3D3D-96A1-D6A4C18D8F29}"/>
              </a:ext>
            </a:extLst>
          </p:cNvPr>
          <p:cNvGrpSpPr/>
          <p:nvPr/>
        </p:nvGrpSpPr>
        <p:grpSpPr>
          <a:xfrm>
            <a:off x="1053902" y="2128840"/>
            <a:ext cx="5592365" cy="2889690"/>
            <a:chOff x="2226075" y="2128840"/>
            <a:chExt cx="5592365" cy="2889690"/>
          </a:xfrm>
        </p:grpSpPr>
        <p:sp>
          <p:nvSpPr>
            <p:cNvPr id="13316" name="Freeform 4"/>
            <p:cNvSpPr>
              <a:spLocks/>
            </p:cNvSpPr>
            <p:nvPr/>
          </p:nvSpPr>
          <p:spPr bwMode="auto">
            <a:xfrm>
              <a:off x="2809480" y="2925366"/>
              <a:ext cx="4257675" cy="781050"/>
            </a:xfrm>
            <a:custGeom>
              <a:avLst/>
              <a:gdLst>
                <a:gd name="T0" fmla="*/ 2147483647 w 1813"/>
                <a:gd name="T1" fmla="*/ 2147483647 h 656"/>
                <a:gd name="T2" fmla="*/ 2147483647 w 1813"/>
                <a:gd name="T3" fmla="*/ 2147483647 h 656"/>
                <a:gd name="T4" fmla="*/ 2147483647 w 1813"/>
                <a:gd name="T5" fmla="*/ 2147483647 h 656"/>
                <a:gd name="T6" fmla="*/ 2147483647 w 1813"/>
                <a:gd name="T7" fmla="*/ 2147483647 h 656"/>
                <a:gd name="T8" fmla="*/ 2147483647 w 1813"/>
                <a:gd name="T9" fmla="*/ 2147483647 h 656"/>
                <a:gd name="T10" fmla="*/ 2147483647 w 1813"/>
                <a:gd name="T11" fmla="*/ 2147483647 h 656"/>
                <a:gd name="T12" fmla="*/ 2147483647 w 1813"/>
                <a:gd name="T13" fmla="*/ 2147483647 h 656"/>
                <a:gd name="T14" fmla="*/ 2147483647 w 1813"/>
                <a:gd name="T15" fmla="*/ 2147483647 h 656"/>
                <a:gd name="T16" fmla="*/ 2147483647 w 1813"/>
                <a:gd name="T17" fmla="*/ 2147483647 h 656"/>
                <a:gd name="T18" fmla="*/ 2147483647 w 1813"/>
                <a:gd name="T19" fmla="*/ 2147483647 h 656"/>
                <a:gd name="T20" fmla="*/ 2147483647 w 1813"/>
                <a:gd name="T21" fmla="*/ 2147483647 h 656"/>
                <a:gd name="T22" fmla="*/ 2147483647 w 1813"/>
                <a:gd name="T23" fmla="*/ 2147483647 h 656"/>
                <a:gd name="T24" fmla="*/ 2147483647 w 1813"/>
                <a:gd name="T25" fmla="*/ 2147483647 h 656"/>
                <a:gd name="T26" fmla="*/ 2147483647 w 1813"/>
                <a:gd name="T27" fmla="*/ 2147483647 h 656"/>
                <a:gd name="T28" fmla="*/ 2147483647 w 1813"/>
                <a:gd name="T29" fmla="*/ 2147483647 h 656"/>
                <a:gd name="T30" fmla="*/ 2147483647 w 1813"/>
                <a:gd name="T31" fmla="*/ 2147483647 h 656"/>
                <a:gd name="T32" fmla="*/ 2147483647 w 1813"/>
                <a:gd name="T33" fmla="*/ 2147483647 h 656"/>
                <a:gd name="T34" fmla="*/ 2147483647 w 1813"/>
                <a:gd name="T35" fmla="*/ 2147483647 h 656"/>
                <a:gd name="T36" fmla="*/ 2147483647 w 1813"/>
                <a:gd name="T37" fmla="*/ 2147483647 h 656"/>
                <a:gd name="T38" fmla="*/ 2147483647 w 1813"/>
                <a:gd name="T39" fmla="*/ 0 h 656"/>
                <a:gd name="T40" fmla="*/ 2147483647 w 1813"/>
                <a:gd name="T41" fmla="*/ 2147483647 h 656"/>
                <a:gd name="T42" fmla="*/ 2147483647 w 1813"/>
                <a:gd name="T43" fmla="*/ 2147483647 h 656"/>
                <a:gd name="T44" fmla="*/ 2147483647 w 1813"/>
                <a:gd name="T45" fmla="*/ 2147483647 h 656"/>
                <a:gd name="T46" fmla="*/ 2147483647 w 1813"/>
                <a:gd name="T47" fmla="*/ 2147483647 h 656"/>
                <a:gd name="T48" fmla="*/ 2147483647 w 1813"/>
                <a:gd name="T49" fmla="*/ 2147483647 h 656"/>
                <a:gd name="T50" fmla="*/ 2147483647 w 1813"/>
                <a:gd name="T51" fmla="*/ 2147483647 h 656"/>
                <a:gd name="T52" fmla="*/ 2147483647 w 1813"/>
                <a:gd name="T53" fmla="*/ 2147483647 h 656"/>
                <a:gd name="T54" fmla="*/ 2147483647 w 1813"/>
                <a:gd name="T55" fmla="*/ 2147483647 h 656"/>
                <a:gd name="T56" fmla="*/ 2147483647 w 1813"/>
                <a:gd name="T57" fmla="*/ 2147483647 h 656"/>
                <a:gd name="T58" fmla="*/ 2147483647 w 1813"/>
                <a:gd name="T59" fmla="*/ 2147483647 h 656"/>
                <a:gd name="T60" fmla="*/ 2147483647 w 1813"/>
                <a:gd name="T61" fmla="*/ 2147483647 h 656"/>
                <a:gd name="T62" fmla="*/ 2147483647 w 1813"/>
                <a:gd name="T63" fmla="*/ 2147483647 h 656"/>
                <a:gd name="T64" fmla="*/ 2147483647 w 1813"/>
                <a:gd name="T65" fmla="*/ 2147483647 h 656"/>
                <a:gd name="T66" fmla="*/ 2147483647 w 1813"/>
                <a:gd name="T67" fmla="*/ 2147483647 h 656"/>
                <a:gd name="T68" fmla="*/ 2147483647 w 1813"/>
                <a:gd name="T69" fmla="*/ 2147483647 h 656"/>
                <a:gd name="T70" fmla="*/ 2147483647 w 1813"/>
                <a:gd name="T71" fmla="*/ 2147483647 h 656"/>
                <a:gd name="T72" fmla="*/ 2147483647 w 1813"/>
                <a:gd name="T73" fmla="*/ 2147483647 h 656"/>
                <a:gd name="T74" fmla="*/ 2147483647 w 1813"/>
                <a:gd name="T75" fmla="*/ 2147483647 h 656"/>
                <a:gd name="T76" fmla="*/ 2147483647 w 1813"/>
                <a:gd name="T77" fmla="*/ 2147483647 h 65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813"/>
                <a:gd name="T118" fmla="*/ 0 h 656"/>
                <a:gd name="T119" fmla="*/ 1813 w 1813"/>
                <a:gd name="T120" fmla="*/ 656 h 65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813" h="656">
                  <a:moveTo>
                    <a:pt x="0" y="655"/>
                  </a:moveTo>
                  <a:lnTo>
                    <a:pt x="26" y="654"/>
                  </a:lnTo>
                  <a:lnTo>
                    <a:pt x="52" y="654"/>
                  </a:lnTo>
                  <a:lnTo>
                    <a:pt x="77" y="652"/>
                  </a:lnTo>
                  <a:lnTo>
                    <a:pt x="103" y="651"/>
                  </a:lnTo>
                  <a:lnTo>
                    <a:pt x="129" y="649"/>
                  </a:lnTo>
                  <a:lnTo>
                    <a:pt x="155" y="646"/>
                  </a:lnTo>
                  <a:lnTo>
                    <a:pt x="181" y="644"/>
                  </a:lnTo>
                  <a:lnTo>
                    <a:pt x="207" y="639"/>
                  </a:lnTo>
                  <a:lnTo>
                    <a:pt x="233" y="634"/>
                  </a:lnTo>
                  <a:lnTo>
                    <a:pt x="259" y="628"/>
                  </a:lnTo>
                  <a:lnTo>
                    <a:pt x="285" y="620"/>
                  </a:lnTo>
                  <a:lnTo>
                    <a:pt x="311" y="610"/>
                  </a:lnTo>
                  <a:lnTo>
                    <a:pt x="337" y="598"/>
                  </a:lnTo>
                  <a:lnTo>
                    <a:pt x="362" y="584"/>
                  </a:lnTo>
                  <a:lnTo>
                    <a:pt x="388" y="568"/>
                  </a:lnTo>
                  <a:lnTo>
                    <a:pt x="414" y="548"/>
                  </a:lnTo>
                  <a:lnTo>
                    <a:pt x="440" y="526"/>
                  </a:lnTo>
                  <a:lnTo>
                    <a:pt x="466" y="502"/>
                  </a:lnTo>
                  <a:lnTo>
                    <a:pt x="491" y="474"/>
                  </a:lnTo>
                  <a:lnTo>
                    <a:pt x="517" y="443"/>
                  </a:lnTo>
                  <a:lnTo>
                    <a:pt x="543" y="410"/>
                  </a:lnTo>
                  <a:lnTo>
                    <a:pt x="569" y="374"/>
                  </a:lnTo>
                  <a:lnTo>
                    <a:pt x="595" y="337"/>
                  </a:lnTo>
                  <a:lnTo>
                    <a:pt x="621" y="298"/>
                  </a:lnTo>
                  <a:lnTo>
                    <a:pt x="647" y="258"/>
                  </a:lnTo>
                  <a:lnTo>
                    <a:pt x="673" y="218"/>
                  </a:lnTo>
                  <a:lnTo>
                    <a:pt x="699" y="180"/>
                  </a:lnTo>
                  <a:lnTo>
                    <a:pt x="725" y="142"/>
                  </a:lnTo>
                  <a:lnTo>
                    <a:pt x="750" y="108"/>
                  </a:lnTo>
                  <a:lnTo>
                    <a:pt x="776" y="77"/>
                  </a:lnTo>
                  <a:lnTo>
                    <a:pt x="802" y="50"/>
                  </a:lnTo>
                  <a:lnTo>
                    <a:pt x="815" y="39"/>
                  </a:lnTo>
                  <a:lnTo>
                    <a:pt x="828" y="28"/>
                  </a:lnTo>
                  <a:lnTo>
                    <a:pt x="841" y="20"/>
                  </a:lnTo>
                  <a:lnTo>
                    <a:pt x="854" y="13"/>
                  </a:lnTo>
                  <a:lnTo>
                    <a:pt x="866" y="7"/>
                  </a:lnTo>
                  <a:lnTo>
                    <a:pt x="880" y="3"/>
                  </a:lnTo>
                  <a:lnTo>
                    <a:pt x="893" y="0"/>
                  </a:lnTo>
                  <a:lnTo>
                    <a:pt x="906" y="0"/>
                  </a:lnTo>
                  <a:lnTo>
                    <a:pt x="919" y="0"/>
                  </a:lnTo>
                  <a:lnTo>
                    <a:pt x="931" y="3"/>
                  </a:lnTo>
                  <a:lnTo>
                    <a:pt x="945" y="7"/>
                  </a:lnTo>
                  <a:lnTo>
                    <a:pt x="957" y="13"/>
                  </a:lnTo>
                  <a:lnTo>
                    <a:pt x="971" y="20"/>
                  </a:lnTo>
                  <a:lnTo>
                    <a:pt x="983" y="28"/>
                  </a:lnTo>
                  <a:lnTo>
                    <a:pt x="997" y="39"/>
                  </a:lnTo>
                  <a:lnTo>
                    <a:pt x="1009" y="50"/>
                  </a:lnTo>
                  <a:lnTo>
                    <a:pt x="1035" y="77"/>
                  </a:lnTo>
                  <a:lnTo>
                    <a:pt x="1061" y="108"/>
                  </a:lnTo>
                  <a:lnTo>
                    <a:pt x="1087" y="142"/>
                  </a:lnTo>
                  <a:lnTo>
                    <a:pt x="1113" y="180"/>
                  </a:lnTo>
                  <a:lnTo>
                    <a:pt x="1139" y="218"/>
                  </a:lnTo>
                  <a:lnTo>
                    <a:pt x="1165" y="258"/>
                  </a:lnTo>
                  <a:lnTo>
                    <a:pt x="1191" y="298"/>
                  </a:lnTo>
                  <a:lnTo>
                    <a:pt x="1216" y="337"/>
                  </a:lnTo>
                  <a:lnTo>
                    <a:pt x="1242" y="374"/>
                  </a:lnTo>
                  <a:lnTo>
                    <a:pt x="1268" y="410"/>
                  </a:lnTo>
                  <a:lnTo>
                    <a:pt x="1294" y="443"/>
                  </a:lnTo>
                  <a:lnTo>
                    <a:pt x="1320" y="474"/>
                  </a:lnTo>
                  <a:lnTo>
                    <a:pt x="1346" y="502"/>
                  </a:lnTo>
                  <a:lnTo>
                    <a:pt x="1372" y="526"/>
                  </a:lnTo>
                  <a:lnTo>
                    <a:pt x="1397" y="548"/>
                  </a:lnTo>
                  <a:lnTo>
                    <a:pt x="1423" y="568"/>
                  </a:lnTo>
                  <a:lnTo>
                    <a:pt x="1449" y="584"/>
                  </a:lnTo>
                  <a:lnTo>
                    <a:pt x="1475" y="598"/>
                  </a:lnTo>
                  <a:lnTo>
                    <a:pt x="1501" y="610"/>
                  </a:lnTo>
                  <a:lnTo>
                    <a:pt x="1527" y="620"/>
                  </a:lnTo>
                  <a:lnTo>
                    <a:pt x="1553" y="628"/>
                  </a:lnTo>
                  <a:lnTo>
                    <a:pt x="1579" y="634"/>
                  </a:lnTo>
                  <a:lnTo>
                    <a:pt x="1605" y="639"/>
                  </a:lnTo>
                  <a:lnTo>
                    <a:pt x="1631" y="644"/>
                  </a:lnTo>
                  <a:lnTo>
                    <a:pt x="1657" y="646"/>
                  </a:lnTo>
                  <a:lnTo>
                    <a:pt x="1682" y="649"/>
                  </a:lnTo>
                  <a:lnTo>
                    <a:pt x="1708" y="651"/>
                  </a:lnTo>
                  <a:lnTo>
                    <a:pt x="1734" y="652"/>
                  </a:lnTo>
                  <a:lnTo>
                    <a:pt x="1760" y="654"/>
                  </a:lnTo>
                  <a:lnTo>
                    <a:pt x="1786" y="654"/>
                  </a:lnTo>
                  <a:lnTo>
                    <a:pt x="1812" y="655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 sz="1350"/>
            </a:p>
          </p:txBody>
        </p:sp>
        <p:sp>
          <p:nvSpPr>
            <p:cNvPr id="13317" name="Line 5"/>
            <p:cNvSpPr>
              <a:spLocks noChangeShapeType="1"/>
            </p:cNvSpPr>
            <p:nvPr/>
          </p:nvSpPr>
          <p:spPr bwMode="auto">
            <a:xfrm>
              <a:off x="2226075" y="3751660"/>
              <a:ext cx="55923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3318" name="Line 6"/>
            <p:cNvSpPr>
              <a:spLocks noChangeShapeType="1"/>
            </p:cNvSpPr>
            <p:nvPr/>
          </p:nvSpPr>
          <p:spPr bwMode="auto">
            <a:xfrm flipH="1">
              <a:off x="5203826" y="2781301"/>
              <a:ext cx="523875" cy="248841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3319" name="Line 7"/>
            <p:cNvSpPr>
              <a:spLocks noChangeShapeType="1"/>
            </p:cNvSpPr>
            <p:nvPr/>
          </p:nvSpPr>
          <p:spPr bwMode="auto">
            <a:xfrm>
              <a:off x="4934744" y="2221707"/>
              <a:ext cx="0" cy="1620441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graphicFrame>
          <p:nvGraphicFramePr>
            <p:cNvPr id="13314" name="Object 2"/>
            <p:cNvGraphicFramePr>
              <a:graphicFrameLocks noChangeAspect="1"/>
            </p:cNvGraphicFramePr>
            <p:nvPr/>
          </p:nvGraphicFramePr>
          <p:xfrm>
            <a:off x="4810920" y="3876675"/>
            <a:ext cx="265510" cy="400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2280" imgH="228600" progId="Equation.3">
                    <p:embed/>
                  </p:oleObj>
                </mc:Choice>
                <mc:Fallback>
                  <p:oleObj name="Equation" r:id="rId3" imgW="152280" imgH="228600" progId="Equation.3">
                    <p:embed/>
                    <p:pic>
                      <p:nvPicPr>
                        <p:cNvPr id="13314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0920" y="3876675"/>
                          <a:ext cx="265510" cy="400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0" name="Line 9"/>
            <p:cNvSpPr>
              <a:spLocks noChangeShapeType="1"/>
            </p:cNvSpPr>
            <p:nvPr/>
          </p:nvSpPr>
          <p:spPr bwMode="auto">
            <a:xfrm flipV="1">
              <a:off x="3304779" y="2128840"/>
              <a:ext cx="0" cy="284083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3321" name="Line 10"/>
            <p:cNvSpPr>
              <a:spLocks noChangeShapeType="1"/>
            </p:cNvSpPr>
            <p:nvPr/>
          </p:nvSpPr>
          <p:spPr bwMode="auto">
            <a:xfrm flipV="1">
              <a:off x="6547617" y="2128840"/>
              <a:ext cx="0" cy="284083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3322" name="Line 11"/>
            <p:cNvSpPr>
              <a:spLocks noChangeShapeType="1"/>
            </p:cNvSpPr>
            <p:nvPr/>
          </p:nvSpPr>
          <p:spPr bwMode="auto">
            <a:xfrm flipV="1">
              <a:off x="3309542" y="4874419"/>
              <a:ext cx="3238076" cy="5954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3323" name="Line 12"/>
            <p:cNvSpPr>
              <a:spLocks noChangeShapeType="1"/>
            </p:cNvSpPr>
            <p:nvPr/>
          </p:nvSpPr>
          <p:spPr bwMode="auto">
            <a:xfrm>
              <a:off x="2809479" y="3345658"/>
              <a:ext cx="0" cy="112752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3324" name="Line 13"/>
            <p:cNvSpPr>
              <a:spLocks noChangeShapeType="1"/>
            </p:cNvSpPr>
            <p:nvPr/>
          </p:nvSpPr>
          <p:spPr bwMode="auto">
            <a:xfrm>
              <a:off x="7056438" y="3345658"/>
              <a:ext cx="0" cy="112752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3325" name="Line 14"/>
            <p:cNvSpPr>
              <a:spLocks noChangeShapeType="1"/>
            </p:cNvSpPr>
            <p:nvPr/>
          </p:nvSpPr>
          <p:spPr bwMode="auto">
            <a:xfrm>
              <a:off x="2798763" y="4439841"/>
              <a:ext cx="4244579" cy="0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3326" name="Line 15"/>
            <p:cNvSpPr>
              <a:spLocks noChangeShapeType="1"/>
            </p:cNvSpPr>
            <p:nvPr/>
          </p:nvSpPr>
          <p:spPr bwMode="auto">
            <a:xfrm flipV="1">
              <a:off x="3850085" y="3390901"/>
              <a:ext cx="0" cy="496491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3327" name="Line 16"/>
            <p:cNvSpPr>
              <a:spLocks noChangeShapeType="1"/>
            </p:cNvSpPr>
            <p:nvPr/>
          </p:nvSpPr>
          <p:spPr bwMode="auto">
            <a:xfrm flipV="1">
              <a:off x="6014641" y="3481390"/>
              <a:ext cx="0" cy="451247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3328" name="Line 17"/>
            <p:cNvSpPr>
              <a:spLocks noChangeShapeType="1"/>
            </p:cNvSpPr>
            <p:nvPr/>
          </p:nvSpPr>
          <p:spPr bwMode="auto">
            <a:xfrm>
              <a:off x="3850086" y="3842147"/>
              <a:ext cx="2164556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3329" name="Text Box 18"/>
            <p:cNvSpPr txBox="1">
              <a:spLocks noChangeArrowheads="1"/>
            </p:cNvSpPr>
            <p:nvPr/>
          </p:nvSpPr>
          <p:spPr bwMode="auto">
            <a:xfrm>
              <a:off x="5387181" y="2312195"/>
              <a:ext cx="1233030" cy="507831"/>
            </a:xfrm>
            <a:prstGeom prst="rect">
              <a:avLst/>
            </a:prstGeom>
            <a:noFill/>
            <a:ln w="28575" algn="ctr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1350" b="1">
                  <a:solidFill>
                    <a:srgbClr val="00FF00"/>
                  </a:solidFill>
                </a:rPr>
                <a:t>Valeurs</a:t>
              </a:r>
            </a:p>
            <a:p>
              <a:pPr algn="l"/>
              <a:r>
                <a:rPr lang="en-US" sz="1350" b="1">
                  <a:solidFill>
                    <a:srgbClr val="00FF00"/>
                  </a:solidFill>
                </a:rPr>
                <a:t>individuelles</a:t>
              </a:r>
            </a:p>
          </p:txBody>
        </p:sp>
        <p:sp>
          <p:nvSpPr>
            <p:cNvPr id="13330" name="Text Box 19"/>
            <p:cNvSpPr txBox="1">
              <a:spLocks noChangeArrowheads="1"/>
            </p:cNvSpPr>
            <p:nvPr/>
          </p:nvSpPr>
          <p:spPr bwMode="auto">
            <a:xfrm>
              <a:off x="4462835" y="4718448"/>
              <a:ext cx="1128066" cy="30008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350">
                  <a:solidFill>
                    <a:srgbClr val="FF3300"/>
                  </a:solidFill>
                  <a:latin typeface="Arial Black" pitchFamily="34" charset="0"/>
                </a:rPr>
                <a:t>Tolérance</a:t>
              </a:r>
            </a:p>
          </p:txBody>
        </p:sp>
        <p:sp>
          <p:nvSpPr>
            <p:cNvPr id="13331" name="Text Box 20"/>
            <p:cNvSpPr txBox="1">
              <a:spLocks noChangeArrowheads="1"/>
            </p:cNvSpPr>
            <p:nvPr/>
          </p:nvSpPr>
          <p:spPr bwMode="auto">
            <a:xfrm>
              <a:off x="3851587" y="4277917"/>
              <a:ext cx="2355388" cy="30008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00FF00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350">
                  <a:solidFill>
                    <a:srgbClr val="00FF00"/>
                  </a:solidFill>
                  <a:latin typeface="Arial Black" pitchFamily="34" charset="0"/>
                </a:rPr>
                <a:t>Étendue des variations</a:t>
              </a:r>
            </a:p>
          </p:txBody>
        </p:sp>
        <p:sp>
          <p:nvSpPr>
            <p:cNvPr id="13332" name="Text Box 21"/>
            <p:cNvSpPr txBox="1">
              <a:spLocks noChangeArrowheads="1"/>
            </p:cNvSpPr>
            <p:nvPr/>
          </p:nvSpPr>
          <p:spPr bwMode="auto">
            <a:xfrm>
              <a:off x="3641374" y="3062287"/>
              <a:ext cx="463588" cy="300082"/>
            </a:xfrm>
            <a:prstGeom prst="rect">
              <a:avLst/>
            </a:prstGeom>
            <a:noFill/>
            <a:ln w="28575" algn="ctr">
              <a:solidFill>
                <a:srgbClr val="003399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350" b="1">
                  <a:solidFill>
                    <a:srgbClr val="003399"/>
                  </a:solidFill>
                </a:rPr>
                <a:t>LIC</a:t>
              </a:r>
            </a:p>
          </p:txBody>
        </p:sp>
        <p:sp>
          <p:nvSpPr>
            <p:cNvPr id="13333" name="Text Box 22"/>
            <p:cNvSpPr txBox="1">
              <a:spLocks noChangeArrowheads="1"/>
            </p:cNvSpPr>
            <p:nvPr/>
          </p:nvSpPr>
          <p:spPr bwMode="auto">
            <a:xfrm>
              <a:off x="5780604" y="3152775"/>
              <a:ext cx="530915" cy="300082"/>
            </a:xfrm>
            <a:prstGeom prst="rect">
              <a:avLst/>
            </a:prstGeom>
            <a:noFill/>
            <a:ln w="28575" algn="ctr">
              <a:solidFill>
                <a:srgbClr val="003399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350" b="1">
                  <a:solidFill>
                    <a:srgbClr val="003399"/>
                  </a:solidFill>
                </a:rPr>
                <a:t>LSC</a:t>
              </a:r>
            </a:p>
          </p:txBody>
        </p:sp>
      </p:grpSp>
      <p:sp>
        <p:nvSpPr>
          <p:cNvPr id="24" name="Rectangle 2">
            <a:extLst>
              <a:ext uri="{FF2B5EF4-FFF2-40B4-BE49-F238E27FC236}">
                <a16:creationId xmlns:a16="http://schemas.microsoft.com/office/drawing/2014/main" id="{0F1BF5A3-0FEB-44E0-8FC4-5D203CA247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Interprétation graphique</a:t>
            </a:r>
            <a:endParaRPr lang="en-US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93F17F18-4EFB-7481-A51E-E3F001BB2B01}"/>
              </a:ext>
            </a:extLst>
          </p:cNvPr>
          <p:cNvGrpSpPr/>
          <p:nvPr/>
        </p:nvGrpSpPr>
        <p:grpSpPr>
          <a:xfrm>
            <a:off x="6697231" y="1652397"/>
            <a:ext cx="2593353" cy="1834188"/>
            <a:chOff x="6697231" y="1652397"/>
            <a:chExt cx="2593353" cy="1834188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40C3BCA2-708D-AE67-06B4-0AD18FFF1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97231" y="1652397"/>
              <a:ext cx="2593353" cy="1834188"/>
            </a:xfrm>
            <a:prstGeom prst="rect">
              <a:avLst/>
            </a:prstGeom>
          </p:spPr>
        </p:pic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831AA1D9-C8C5-1690-C7CF-56D833E303AA}"/>
                </a:ext>
              </a:extLst>
            </p:cNvPr>
            <p:cNvSpPr/>
            <p:nvPr/>
          </p:nvSpPr>
          <p:spPr>
            <a:xfrm>
              <a:off x="7407591" y="1652398"/>
              <a:ext cx="1348509" cy="25498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363"/>
              <a:endParaRPr lang="fr-CA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53C9F3B1-48A3-E275-7918-56E02053A0F0}"/>
                </a:ext>
              </a:extLst>
            </p:cNvPr>
            <p:cNvSpPr/>
            <p:nvPr/>
          </p:nvSpPr>
          <p:spPr>
            <a:xfrm>
              <a:off x="7490359" y="2164389"/>
              <a:ext cx="1173019" cy="25498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363"/>
              <a:endParaRPr lang="fr-CA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E174AFEE-66DF-56E4-9640-561A7380ABEB}"/>
                </a:ext>
              </a:extLst>
            </p:cNvPr>
            <p:cNvSpPr/>
            <p:nvPr/>
          </p:nvSpPr>
          <p:spPr>
            <a:xfrm>
              <a:off x="6973481" y="1924829"/>
              <a:ext cx="2078181" cy="188129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63"/>
              <a:endParaRPr lang="fr-CA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1D9C1AD3-DF30-04D7-3A1B-0F32C47AD2E2}"/>
                </a:ext>
              </a:extLst>
            </p:cNvPr>
            <p:cNvSpPr/>
            <p:nvPr/>
          </p:nvSpPr>
          <p:spPr>
            <a:xfrm>
              <a:off x="7703153" y="2436820"/>
              <a:ext cx="729673" cy="437053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63"/>
              <a:endParaRPr lang="fr-CA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0296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992FAE13-36B2-3545-795B-8E7A5AEE63BA}"/>
              </a:ext>
            </a:extLst>
          </p:cNvPr>
          <p:cNvGrpSpPr/>
          <p:nvPr/>
        </p:nvGrpSpPr>
        <p:grpSpPr>
          <a:xfrm>
            <a:off x="1099403" y="2079981"/>
            <a:ext cx="5592365" cy="2889690"/>
            <a:chOff x="2226075" y="2128840"/>
            <a:chExt cx="5592365" cy="2889690"/>
          </a:xfrm>
        </p:grpSpPr>
        <p:sp>
          <p:nvSpPr>
            <p:cNvPr id="14340" name="Freeform 4"/>
            <p:cNvSpPr>
              <a:spLocks/>
            </p:cNvSpPr>
            <p:nvPr/>
          </p:nvSpPr>
          <p:spPr bwMode="auto">
            <a:xfrm>
              <a:off x="4273947" y="2366964"/>
              <a:ext cx="1352550" cy="1351360"/>
            </a:xfrm>
            <a:custGeom>
              <a:avLst/>
              <a:gdLst>
                <a:gd name="T0" fmla="*/ 2147483647 w 1813"/>
                <a:gd name="T1" fmla="*/ 2147483647 h 656"/>
                <a:gd name="T2" fmla="*/ 2147483647 w 1813"/>
                <a:gd name="T3" fmla="*/ 2147483647 h 656"/>
                <a:gd name="T4" fmla="*/ 2147483647 w 1813"/>
                <a:gd name="T5" fmla="*/ 2147483647 h 656"/>
                <a:gd name="T6" fmla="*/ 2147483647 w 1813"/>
                <a:gd name="T7" fmla="*/ 2147483647 h 656"/>
                <a:gd name="T8" fmla="*/ 2147483647 w 1813"/>
                <a:gd name="T9" fmla="*/ 2147483647 h 656"/>
                <a:gd name="T10" fmla="*/ 2147483647 w 1813"/>
                <a:gd name="T11" fmla="*/ 2147483647 h 656"/>
                <a:gd name="T12" fmla="*/ 2147483647 w 1813"/>
                <a:gd name="T13" fmla="*/ 2147483647 h 656"/>
                <a:gd name="T14" fmla="*/ 2147483647 w 1813"/>
                <a:gd name="T15" fmla="*/ 2147483647 h 656"/>
                <a:gd name="T16" fmla="*/ 2147483647 w 1813"/>
                <a:gd name="T17" fmla="*/ 2147483647 h 656"/>
                <a:gd name="T18" fmla="*/ 2147483647 w 1813"/>
                <a:gd name="T19" fmla="*/ 2147483647 h 656"/>
                <a:gd name="T20" fmla="*/ 2147483647 w 1813"/>
                <a:gd name="T21" fmla="*/ 2147483647 h 656"/>
                <a:gd name="T22" fmla="*/ 2147483647 w 1813"/>
                <a:gd name="T23" fmla="*/ 2147483647 h 656"/>
                <a:gd name="T24" fmla="*/ 2147483647 w 1813"/>
                <a:gd name="T25" fmla="*/ 2147483647 h 656"/>
                <a:gd name="T26" fmla="*/ 2147483647 w 1813"/>
                <a:gd name="T27" fmla="*/ 2147483647 h 656"/>
                <a:gd name="T28" fmla="*/ 2147483647 w 1813"/>
                <a:gd name="T29" fmla="*/ 2147483647 h 656"/>
                <a:gd name="T30" fmla="*/ 2147483647 w 1813"/>
                <a:gd name="T31" fmla="*/ 2147483647 h 656"/>
                <a:gd name="T32" fmla="*/ 2147483647 w 1813"/>
                <a:gd name="T33" fmla="*/ 2147483647 h 656"/>
                <a:gd name="T34" fmla="*/ 2147483647 w 1813"/>
                <a:gd name="T35" fmla="*/ 2147483647 h 656"/>
                <a:gd name="T36" fmla="*/ 2147483647 w 1813"/>
                <a:gd name="T37" fmla="*/ 2147483647 h 656"/>
                <a:gd name="T38" fmla="*/ 2147483647 w 1813"/>
                <a:gd name="T39" fmla="*/ 0 h 656"/>
                <a:gd name="T40" fmla="*/ 2147483647 w 1813"/>
                <a:gd name="T41" fmla="*/ 2147483647 h 656"/>
                <a:gd name="T42" fmla="*/ 2147483647 w 1813"/>
                <a:gd name="T43" fmla="*/ 2147483647 h 656"/>
                <a:gd name="T44" fmla="*/ 2147483647 w 1813"/>
                <a:gd name="T45" fmla="*/ 2147483647 h 656"/>
                <a:gd name="T46" fmla="*/ 2147483647 w 1813"/>
                <a:gd name="T47" fmla="*/ 2147483647 h 656"/>
                <a:gd name="T48" fmla="*/ 2147483647 w 1813"/>
                <a:gd name="T49" fmla="*/ 2147483647 h 656"/>
                <a:gd name="T50" fmla="*/ 2147483647 w 1813"/>
                <a:gd name="T51" fmla="*/ 2147483647 h 656"/>
                <a:gd name="T52" fmla="*/ 2147483647 w 1813"/>
                <a:gd name="T53" fmla="*/ 2147483647 h 656"/>
                <a:gd name="T54" fmla="*/ 2147483647 w 1813"/>
                <a:gd name="T55" fmla="*/ 2147483647 h 656"/>
                <a:gd name="T56" fmla="*/ 2147483647 w 1813"/>
                <a:gd name="T57" fmla="*/ 2147483647 h 656"/>
                <a:gd name="T58" fmla="*/ 2147483647 w 1813"/>
                <a:gd name="T59" fmla="*/ 2147483647 h 656"/>
                <a:gd name="T60" fmla="*/ 2147483647 w 1813"/>
                <a:gd name="T61" fmla="*/ 2147483647 h 656"/>
                <a:gd name="T62" fmla="*/ 2147483647 w 1813"/>
                <a:gd name="T63" fmla="*/ 2147483647 h 656"/>
                <a:gd name="T64" fmla="*/ 2147483647 w 1813"/>
                <a:gd name="T65" fmla="*/ 2147483647 h 656"/>
                <a:gd name="T66" fmla="*/ 2147483647 w 1813"/>
                <a:gd name="T67" fmla="*/ 2147483647 h 656"/>
                <a:gd name="T68" fmla="*/ 2147483647 w 1813"/>
                <a:gd name="T69" fmla="*/ 2147483647 h 656"/>
                <a:gd name="T70" fmla="*/ 2147483647 w 1813"/>
                <a:gd name="T71" fmla="*/ 2147483647 h 656"/>
                <a:gd name="T72" fmla="*/ 2147483647 w 1813"/>
                <a:gd name="T73" fmla="*/ 2147483647 h 656"/>
                <a:gd name="T74" fmla="*/ 2147483647 w 1813"/>
                <a:gd name="T75" fmla="*/ 2147483647 h 656"/>
                <a:gd name="T76" fmla="*/ 2147483647 w 1813"/>
                <a:gd name="T77" fmla="*/ 2147483647 h 65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813"/>
                <a:gd name="T118" fmla="*/ 0 h 656"/>
                <a:gd name="T119" fmla="*/ 1813 w 1813"/>
                <a:gd name="T120" fmla="*/ 656 h 65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813" h="656">
                  <a:moveTo>
                    <a:pt x="0" y="655"/>
                  </a:moveTo>
                  <a:lnTo>
                    <a:pt x="26" y="654"/>
                  </a:lnTo>
                  <a:lnTo>
                    <a:pt x="52" y="654"/>
                  </a:lnTo>
                  <a:lnTo>
                    <a:pt x="77" y="652"/>
                  </a:lnTo>
                  <a:lnTo>
                    <a:pt x="103" y="651"/>
                  </a:lnTo>
                  <a:lnTo>
                    <a:pt x="129" y="649"/>
                  </a:lnTo>
                  <a:lnTo>
                    <a:pt x="155" y="646"/>
                  </a:lnTo>
                  <a:lnTo>
                    <a:pt x="181" y="644"/>
                  </a:lnTo>
                  <a:lnTo>
                    <a:pt x="207" y="639"/>
                  </a:lnTo>
                  <a:lnTo>
                    <a:pt x="233" y="634"/>
                  </a:lnTo>
                  <a:lnTo>
                    <a:pt x="259" y="628"/>
                  </a:lnTo>
                  <a:lnTo>
                    <a:pt x="285" y="620"/>
                  </a:lnTo>
                  <a:lnTo>
                    <a:pt x="311" y="610"/>
                  </a:lnTo>
                  <a:lnTo>
                    <a:pt x="337" y="598"/>
                  </a:lnTo>
                  <a:lnTo>
                    <a:pt x="362" y="584"/>
                  </a:lnTo>
                  <a:lnTo>
                    <a:pt x="388" y="568"/>
                  </a:lnTo>
                  <a:lnTo>
                    <a:pt x="414" y="548"/>
                  </a:lnTo>
                  <a:lnTo>
                    <a:pt x="440" y="526"/>
                  </a:lnTo>
                  <a:lnTo>
                    <a:pt x="466" y="502"/>
                  </a:lnTo>
                  <a:lnTo>
                    <a:pt x="491" y="474"/>
                  </a:lnTo>
                  <a:lnTo>
                    <a:pt x="517" y="443"/>
                  </a:lnTo>
                  <a:lnTo>
                    <a:pt x="543" y="410"/>
                  </a:lnTo>
                  <a:lnTo>
                    <a:pt x="569" y="374"/>
                  </a:lnTo>
                  <a:lnTo>
                    <a:pt x="595" y="337"/>
                  </a:lnTo>
                  <a:lnTo>
                    <a:pt x="621" y="298"/>
                  </a:lnTo>
                  <a:lnTo>
                    <a:pt x="647" y="258"/>
                  </a:lnTo>
                  <a:lnTo>
                    <a:pt x="673" y="218"/>
                  </a:lnTo>
                  <a:lnTo>
                    <a:pt x="699" y="180"/>
                  </a:lnTo>
                  <a:lnTo>
                    <a:pt x="725" y="142"/>
                  </a:lnTo>
                  <a:lnTo>
                    <a:pt x="750" y="108"/>
                  </a:lnTo>
                  <a:lnTo>
                    <a:pt x="776" y="77"/>
                  </a:lnTo>
                  <a:lnTo>
                    <a:pt x="802" y="50"/>
                  </a:lnTo>
                  <a:lnTo>
                    <a:pt x="815" y="39"/>
                  </a:lnTo>
                  <a:lnTo>
                    <a:pt x="828" y="28"/>
                  </a:lnTo>
                  <a:lnTo>
                    <a:pt x="841" y="20"/>
                  </a:lnTo>
                  <a:lnTo>
                    <a:pt x="854" y="13"/>
                  </a:lnTo>
                  <a:lnTo>
                    <a:pt x="866" y="7"/>
                  </a:lnTo>
                  <a:lnTo>
                    <a:pt x="880" y="3"/>
                  </a:lnTo>
                  <a:lnTo>
                    <a:pt x="893" y="0"/>
                  </a:lnTo>
                  <a:lnTo>
                    <a:pt x="906" y="0"/>
                  </a:lnTo>
                  <a:lnTo>
                    <a:pt x="919" y="0"/>
                  </a:lnTo>
                  <a:lnTo>
                    <a:pt x="931" y="3"/>
                  </a:lnTo>
                  <a:lnTo>
                    <a:pt x="945" y="7"/>
                  </a:lnTo>
                  <a:lnTo>
                    <a:pt x="957" y="13"/>
                  </a:lnTo>
                  <a:lnTo>
                    <a:pt x="971" y="20"/>
                  </a:lnTo>
                  <a:lnTo>
                    <a:pt x="983" y="28"/>
                  </a:lnTo>
                  <a:lnTo>
                    <a:pt x="997" y="39"/>
                  </a:lnTo>
                  <a:lnTo>
                    <a:pt x="1009" y="50"/>
                  </a:lnTo>
                  <a:lnTo>
                    <a:pt x="1035" y="77"/>
                  </a:lnTo>
                  <a:lnTo>
                    <a:pt x="1061" y="108"/>
                  </a:lnTo>
                  <a:lnTo>
                    <a:pt x="1087" y="142"/>
                  </a:lnTo>
                  <a:lnTo>
                    <a:pt x="1113" y="180"/>
                  </a:lnTo>
                  <a:lnTo>
                    <a:pt x="1139" y="218"/>
                  </a:lnTo>
                  <a:lnTo>
                    <a:pt x="1165" y="258"/>
                  </a:lnTo>
                  <a:lnTo>
                    <a:pt x="1191" y="298"/>
                  </a:lnTo>
                  <a:lnTo>
                    <a:pt x="1216" y="337"/>
                  </a:lnTo>
                  <a:lnTo>
                    <a:pt x="1242" y="374"/>
                  </a:lnTo>
                  <a:lnTo>
                    <a:pt x="1268" y="410"/>
                  </a:lnTo>
                  <a:lnTo>
                    <a:pt x="1294" y="443"/>
                  </a:lnTo>
                  <a:lnTo>
                    <a:pt x="1320" y="474"/>
                  </a:lnTo>
                  <a:lnTo>
                    <a:pt x="1346" y="502"/>
                  </a:lnTo>
                  <a:lnTo>
                    <a:pt x="1372" y="526"/>
                  </a:lnTo>
                  <a:lnTo>
                    <a:pt x="1397" y="548"/>
                  </a:lnTo>
                  <a:lnTo>
                    <a:pt x="1423" y="568"/>
                  </a:lnTo>
                  <a:lnTo>
                    <a:pt x="1449" y="584"/>
                  </a:lnTo>
                  <a:lnTo>
                    <a:pt x="1475" y="598"/>
                  </a:lnTo>
                  <a:lnTo>
                    <a:pt x="1501" y="610"/>
                  </a:lnTo>
                  <a:lnTo>
                    <a:pt x="1527" y="620"/>
                  </a:lnTo>
                  <a:lnTo>
                    <a:pt x="1553" y="628"/>
                  </a:lnTo>
                  <a:lnTo>
                    <a:pt x="1579" y="634"/>
                  </a:lnTo>
                  <a:lnTo>
                    <a:pt x="1605" y="639"/>
                  </a:lnTo>
                  <a:lnTo>
                    <a:pt x="1631" y="644"/>
                  </a:lnTo>
                  <a:lnTo>
                    <a:pt x="1657" y="646"/>
                  </a:lnTo>
                  <a:lnTo>
                    <a:pt x="1682" y="649"/>
                  </a:lnTo>
                  <a:lnTo>
                    <a:pt x="1708" y="651"/>
                  </a:lnTo>
                  <a:lnTo>
                    <a:pt x="1734" y="652"/>
                  </a:lnTo>
                  <a:lnTo>
                    <a:pt x="1760" y="654"/>
                  </a:lnTo>
                  <a:lnTo>
                    <a:pt x="1786" y="654"/>
                  </a:lnTo>
                  <a:lnTo>
                    <a:pt x="1812" y="655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 sz="1350"/>
            </a:p>
          </p:txBody>
        </p:sp>
        <p:sp>
          <p:nvSpPr>
            <p:cNvPr id="14341" name="Line 5"/>
            <p:cNvSpPr>
              <a:spLocks noChangeShapeType="1"/>
            </p:cNvSpPr>
            <p:nvPr/>
          </p:nvSpPr>
          <p:spPr bwMode="auto">
            <a:xfrm>
              <a:off x="2226075" y="3751660"/>
              <a:ext cx="55923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4342" name="Line 6"/>
            <p:cNvSpPr>
              <a:spLocks noChangeShapeType="1"/>
            </p:cNvSpPr>
            <p:nvPr/>
          </p:nvSpPr>
          <p:spPr bwMode="auto">
            <a:xfrm flipH="1">
              <a:off x="5203826" y="2793208"/>
              <a:ext cx="513160" cy="236935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4343" name="Line 7"/>
            <p:cNvSpPr>
              <a:spLocks noChangeShapeType="1"/>
            </p:cNvSpPr>
            <p:nvPr/>
          </p:nvSpPr>
          <p:spPr bwMode="auto">
            <a:xfrm>
              <a:off x="4946650" y="2221707"/>
              <a:ext cx="0" cy="1620441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4344" name="Line 8"/>
            <p:cNvSpPr>
              <a:spLocks noChangeShapeType="1"/>
            </p:cNvSpPr>
            <p:nvPr/>
          </p:nvSpPr>
          <p:spPr bwMode="auto">
            <a:xfrm flipV="1">
              <a:off x="3304779" y="2128840"/>
              <a:ext cx="0" cy="284083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4345" name="Line 9"/>
            <p:cNvSpPr>
              <a:spLocks noChangeShapeType="1"/>
            </p:cNvSpPr>
            <p:nvPr/>
          </p:nvSpPr>
          <p:spPr bwMode="auto">
            <a:xfrm flipV="1">
              <a:off x="6552804" y="2128840"/>
              <a:ext cx="0" cy="284083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4346" name="Line 10"/>
            <p:cNvSpPr>
              <a:spLocks noChangeShapeType="1"/>
            </p:cNvSpPr>
            <p:nvPr/>
          </p:nvSpPr>
          <p:spPr bwMode="auto">
            <a:xfrm>
              <a:off x="3309543" y="4880372"/>
              <a:ext cx="3230165" cy="0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4347" name="Line 11"/>
            <p:cNvSpPr>
              <a:spLocks noChangeShapeType="1"/>
            </p:cNvSpPr>
            <p:nvPr/>
          </p:nvSpPr>
          <p:spPr bwMode="auto">
            <a:xfrm>
              <a:off x="4273947" y="3345658"/>
              <a:ext cx="0" cy="112752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4348" name="Line 12"/>
            <p:cNvSpPr>
              <a:spLocks noChangeShapeType="1"/>
            </p:cNvSpPr>
            <p:nvPr/>
          </p:nvSpPr>
          <p:spPr bwMode="auto">
            <a:xfrm>
              <a:off x="5639594" y="3345658"/>
              <a:ext cx="0" cy="112752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4349" name="Line 13"/>
            <p:cNvSpPr>
              <a:spLocks noChangeShapeType="1"/>
            </p:cNvSpPr>
            <p:nvPr/>
          </p:nvSpPr>
          <p:spPr bwMode="auto">
            <a:xfrm>
              <a:off x="4284664" y="4467225"/>
              <a:ext cx="1343025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fr-CA" sz="1350"/>
            </a:p>
          </p:txBody>
        </p:sp>
        <p:sp>
          <p:nvSpPr>
            <p:cNvPr id="14350" name="Text Box 14"/>
            <p:cNvSpPr txBox="1">
              <a:spLocks noChangeArrowheads="1"/>
            </p:cNvSpPr>
            <p:nvPr/>
          </p:nvSpPr>
          <p:spPr bwMode="auto">
            <a:xfrm>
              <a:off x="4404776" y="4217196"/>
              <a:ext cx="1156086" cy="461665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00FF00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200">
                  <a:solidFill>
                    <a:srgbClr val="00FF00"/>
                  </a:solidFill>
                </a:rPr>
                <a:t>Étendue</a:t>
              </a:r>
            </a:p>
            <a:p>
              <a:pPr eaLnBrk="0" hangingPunct="0"/>
              <a:r>
                <a:rPr lang="en-US" sz="1200">
                  <a:solidFill>
                    <a:srgbClr val="00FF00"/>
                  </a:solidFill>
                </a:rPr>
                <a:t>Des variations</a:t>
              </a:r>
              <a:endParaRPr lang="fr-CA" sz="1200">
                <a:solidFill>
                  <a:srgbClr val="00FF00"/>
                </a:solidFill>
              </a:endParaRPr>
            </a:p>
          </p:txBody>
        </p:sp>
        <p:graphicFrame>
          <p:nvGraphicFramePr>
            <p:cNvPr id="14338" name="Object 2"/>
            <p:cNvGraphicFramePr>
              <a:graphicFrameLocks noChangeAspect="1"/>
            </p:cNvGraphicFramePr>
            <p:nvPr/>
          </p:nvGraphicFramePr>
          <p:xfrm>
            <a:off x="4810920" y="3769520"/>
            <a:ext cx="265510" cy="3988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2280" imgH="228600" progId="Equation.3">
                    <p:embed/>
                  </p:oleObj>
                </mc:Choice>
                <mc:Fallback>
                  <p:oleObj name="Equation" r:id="rId3" imgW="152280" imgH="228600" progId="Equation.3">
                    <p:embed/>
                    <p:pic>
                      <p:nvPicPr>
                        <p:cNvPr id="14338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0920" y="3769520"/>
                          <a:ext cx="265510" cy="39886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1" name="Text Box 16"/>
            <p:cNvSpPr txBox="1">
              <a:spLocks noChangeArrowheads="1"/>
            </p:cNvSpPr>
            <p:nvPr/>
          </p:nvSpPr>
          <p:spPr bwMode="auto">
            <a:xfrm>
              <a:off x="5387181" y="2312195"/>
              <a:ext cx="1233030" cy="507831"/>
            </a:xfrm>
            <a:prstGeom prst="rect">
              <a:avLst/>
            </a:prstGeom>
            <a:noFill/>
            <a:ln w="28575" algn="ctr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1350" b="1">
                  <a:solidFill>
                    <a:srgbClr val="00FF00"/>
                  </a:solidFill>
                </a:rPr>
                <a:t>Valeurs </a:t>
              </a:r>
            </a:p>
            <a:p>
              <a:pPr algn="l"/>
              <a:r>
                <a:rPr lang="en-US" sz="1350" b="1">
                  <a:solidFill>
                    <a:srgbClr val="00FF00"/>
                  </a:solidFill>
                </a:rPr>
                <a:t>individuelles</a:t>
              </a:r>
            </a:p>
          </p:txBody>
        </p:sp>
        <p:sp>
          <p:nvSpPr>
            <p:cNvPr id="14352" name="Text Box 17"/>
            <p:cNvSpPr txBox="1">
              <a:spLocks noChangeArrowheads="1"/>
            </p:cNvSpPr>
            <p:nvPr/>
          </p:nvSpPr>
          <p:spPr bwMode="auto">
            <a:xfrm>
              <a:off x="4462835" y="4718448"/>
              <a:ext cx="1128066" cy="30008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350">
                  <a:solidFill>
                    <a:srgbClr val="FF3300"/>
                  </a:solidFill>
                  <a:latin typeface="Arial Black" pitchFamily="34" charset="0"/>
                </a:rPr>
                <a:t>Tolérance</a:t>
              </a:r>
            </a:p>
          </p:txBody>
        </p:sp>
      </p:grpSp>
      <p:sp>
        <p:nvSpPr>
          <p:cNvPr id="19" name="Rectangle 2">
            <a:extLst>
              <a:ext uri="{FF2B5EF4-FFF2-40B4-BE49-F238E27FC236}">
                <a16:creationId xmlns:a16="http://schemas.microsoft.com/office/drawing/2014/main" id="{694451DC-7E35-482A-9E82-95A4B43F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Interprétation graphique</a:t>
            </a:r>
            <a:endParaRPr lang="en-US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25DF5BD5-D7B6-3FC9-A19B-436836E67188}"/>
              </a:ext>
            </a:extLst>
          </p:cNvPr>
          <p:cNvGrpSpPr/>
          <p:nvPr/>
        </p:nvGrpSpPr>
        <p:grpSpPr>
          <a:xfrm>
            <a:off x="6697231" y="1652397"/>
            <a:ext cx="2593353" cy="1834188"/>
            <a:chOff x="6697231" y="1652397"/>
            <a:chExt cx="2593353" cy="1834188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43D2BF3D-F9E1-4B81-6CDC-7CC53DD3E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97231" y="1652397"/>
              <a:ext cx="2593353" cy="1834188"/>
            </a:xfrm>
            <a:prstGeom prst="rect">
              <a:avLst/>
            </a:prstGeom>
          </p:spPr>
        </p:pic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8A2901BE-C31D-C177-5B71-20C6118C29A6}"/>
                </a:ext>
              </a:extLst>
            </p:cNvPr>
            <p:cNvSpPr/>
            <p:nvPr/>
          </p:nvSpPr>
          <p:spPr>
            <a:xfrm>
              <a:off x="7407591" y="1652398"/>
              <a:ext cx="1348509" cy="25498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363"/>
              <a:endParaRPr lang="fr-CA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6287E8AD-FF29-8D7E-B162-D2863996E4C6}"/>
                </a:ext>
              </a:extLst>
            </p:cNvPr>
            <p:cNvSpPr/>
            <p:nvPr/>
          </p:nvSpPr>
          <p:spPr>
            <a:xfrm>
              <a:off x="7490359" y="2164389"/>
              <a:ext cx="1173019" cy="25498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363"/>
              <a:endParaRPr lang="fr-CA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1AEDD8DE-02E4-D205-8E67-E220C260B909}"/>
                </a:ext>
              </a:extLst>
            </p:cNvPr>
            <p:cNvSpPr/>
            <p:nvPr/>
          </p:nvSpPr>
          <p:spPr>
            <a:xfrm>
              <a:off x="6973481" y="1924829"/>
              <a:ext cx="2078181" cy="188129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63"/>
              <a:endParaRPr lang="fr-CA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4C19C616-7805-A010-7513-FFE1EA5A367E}"/>
                </a:ext>
              </a:extLst>
            </p:cNvPr>
            <p:cNvSpPr/>
            <p:nvPr/>
          </p:nvSpPr>
          <p:spPr>
            <a:xfrm>
              <a:off x="7703153" y="2436820"/>
              <a:ext cx="729673" cy="437053"/>
            </a:xfrm>
            <a:prstGeom prst="ellipse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63"/>
              <a:endParaRPr lang="fr-CA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7935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Méthodologie Six Sigma </a:t>
            </a:r>
          </a:p>
        </p:txBody>
      </p:sp>
      <p:sp>
        <p:nvSpPr>
          <p:cNvPr id="46083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532000" y="1577687"/>
            <a:ext cx="5793326" cy="3187989"/>
          </a:xfrm>
        </p:spPr>
        <p:txBody>
          <a:bodyPr/>
          <a:lstStyle/>
          <a:p>
            <a:pPr marL="268288" indent="-268288"/>
            <a:r>
              <a:rPr lang="fr-CA" dirty="0"/>
              <a:t>Fondée sur la variation des procédés et la capacité opérationnelle;</a:t>
            </a:r>
          </a:p>
          <a:p>
            <a:pPr marL="268288" indent="-268288"/>
            <a:r>
              <a:rPr lang="fr-CA" dirty="0"/>
              <a:t>Correspond à un </a:t>
            </a:r>
            <a:r>
              <a:rPr lang="fr-CA" b="1" dirty="0">
                <a:solidFill>
                  <a:schemeClr val="accent3"/>
                </a:solidFill>
              </a:rPr>
              <a:t>Cp = 2</a:t>
            </a:r>
            <a:r>
              <a:rPr lang="fr-CA" dirty="0"/>
              <a:t>;</a:t>
            </a:r>
          </a:p>
          <a:p>
            <a:pPr marL="268288" indent="-268288"/>
            <a:r>
              <a:rPr lang="fr-CA" dirty="0"/>
              <a:t>Vise à réduire la variation des procédés;</a:t>
            </a:r>
          </a:p>
          <a:p>
            <a:pPr marL="268288" indent="-268288"/>
            <a:r>
              <a:rPr lang="fr-CA" dirty="0"/>
              <a:t>Lorsque le procédé est centré sur la valeur nominale désirée, la proportion d’unités défectueuses est inférieure à 0,002 ppm;</a:t>
            </a:r>
          </a:p>
          <a:p>
            <a:pPr marL="268288" indent="-268288"/>
            <a:r>
              <a:rPr lang="fr-CA" dirty="0"/>
              <a:t>Lorsque le procédé dévie de 1,5 </a:t>
            </a:r>
            <a:r>
              <a:rPr lang="el-GR" dirty="0"/>
              <a:t>σ</a:t>
            </a:r>
            <a:r>
              <a:rPr lang="fr-CA" dirty="0"/>
              <a:t>, la proportion d’unités défectueuses est de 3,4 ppm.</a:t>
            </a:r>
            <a:endParaRPr lang="el-GR" dirty="0"/>
          </a:p>
          <a:p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1560A48-C584-4B51-B4C2-02BFCE161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926699" y="2008376"/>
            <a:ext cx="2539286" cy="1698248"/>
          </a:xfrm>
          <a:prstGeom prst="rect">
            <a:avLst/>
          </a:prstGeom>
          <a:noFill/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6FBD7AD-10A0-43C4-8D35-BD2E5C4C985B}"/>
              </a:ext>
            </a:extLst>
          </p:cNvPr>
          <p:cNvSpPr txBox="1"/>
          <p:nvPr/>
        </p:nvSpPr>
        <p:spPr>
          <a:xfrm>
            <a:off x="7285879" y="3889285"/>
            <a:ext cx="1820926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>
                <a:solidFill>
                  <a:schemeClr val="tx2"/>
                </a:solidFill>
                <a:hlinkClick r:id="rId4" tooltip="https://commons.wikimedia.org/wiki/File:Six_sigma-0.sv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Cette photo</a:t>
            </a:r>
            <a:r>
              <a:rPr lang="en-CA" sz="700">
                <a:solidFill>
                  <a:schemeClr val="tx2"/>
                </a:solidFill>
              </a:rPr>
              <a:t> par Auteur inconnu est soumise à la licence </a:t>
            </a:r>
            <a:r>
              <a:rPr lang="en-CA" sz="700">
                <a:solidFill>
                  <a:schemeClr val="tx2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CA" sz="7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68" name="Rectangle 4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Dérive du processus</a:t>
            </a:r>
          </a:p>
        </p:txBody>
      </p:sp>
      <p:sp>
        <p:nvSpPr>
          <p:cNvPr id="13316" name="Line 3"/>
          <p:cNvSpPr>
            <a:spLocks noChangeShapeType="1"/>
          </p:cNvSpPr>
          <p:nvPr/>
        </p:nvSpPr>
        <p:spPr bwMode="auto">
          <a:xfrm>
            <a:off x="2279863" y="3833262"/>
            <a:ext cx="559236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A" sz="1350"/>
          </a:p>
        </p:txBody>
      </p:sp>
      <p:sp>
        <p:nvSpPr>
          <p:cNvPr id="13317" name="Line 4"/>
          <p:cNvSpPr>
            <a:spLocks noChangeShapeType="1"/>
          </p:cNvSpPr>
          <p:nvPr/>
        </p:nvSpPr>
        <p:spPr bwMode="auto">
          <a:xfrm flipH="1">
            <a:off x="5458831" y="2705741"/>
            <a:ext cx="596503" cy="327422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fr-CA" sz="1350"/>
          </a:p>
        </p:txBody>
      </p:sp>
      <p:sp>
        <p:nvSpPr>
          <p:cNvPr id="13318" name="Text Box 5"/>
          <p:cNvSpPr txBox="1">
            <a:spLocks noChangeArrowheads="1"/>
          </p:cNvSpPr>
          <p:nvPr/>
        </p:nvSpPr>
        <p:spPr bwMode="auto">
          <a:xfrm>
            <a:off x="5982706" y="2549770"/>
            <a:ext cx="1308035" cy="507831"/>
          </a:xfrm>
          <a:prstGeom prst="rect">
            <a:avLst/>
          </a:prstGeom>
          <a:noFill/>
          <a:ln w="28575" algn="ctr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eaLnBrk="1" hangingPunct="1"/>
            <a:r>
              <a:rPr lang="fr-CA" sz="1350" b="1" dirty="0">
                <a:solidFill>
                  <a:srgbClr val="00FF00"/>
                </a:solidFill>
              </a:rPr>
              <a:t>Valeurs individuelles</a:t>
            </a:r>
          </a:p>
        </p:txBody>
      </p:sp>
      <p:sp>
        <p:nvSpPr>
          <p:cNvPr id="13319" name="Line 6"/>
          <p:cNvSpPr>
            <a:spLocks noChangeShapeType="1"/>
          </p:cNvSpPr>
          <p:nvPr/>
        </p:nvSpPr>
        <p:spPr bwMode="auto">
          <a:xfrm>
            <a:off x="4988532" y="1849683"/>
            <a:ext cx="0" cy="2074069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A" sz="1350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930912"/>
              </p:ext>
            </p:extLst>
          </p:nvPr>
        </p:nvGraphicFramePr>
        <p:xfrm>
          <a:off x="4864708" y="3958277"/>
          <a:ext cx="26551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228600" progId="Equation.3">
                  <p:embed/>
                </p:oleObj>
              </mc:Choice>
              <mc:Fallback>
                <p:oleObj name="Equation" r:id="rId3" imgW="152280" imgH="228600" progId="Equation.3">
                  <p:embed/>
                  <p:pic>
                    <p:nvPicPr>
                      <p:cNvPr id="133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708" y="3958277"/>
                        <a:ext cx="26551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Line 8"/>
          <p:cNvSpPr>
            <a:spLocks noChangeShapeType="1"/>
          </p:cNvSpPr>
          <p:nvPr/>
        </p:nvSpPr>
        <p:spPr bwMode="auto">
          <a:xfrm flipV="1">
            <a:off x="2596567" y="1790149"/>
            <a:ext cx="0" cy="326112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A" sz="1350"/>
          </a:p>
        </p:txBody>
      </p:sp>
      <p:sp>
        <p:nvSpPr>
          <p:cNvPr id="13321" name="Line 9"/>
          <p:cNvSpPr>
            <a:spLocks noChangeShapeType="1"/>
          </p:cNvSpPr>
          <p:nvPr/>
        </p:nvSpPr>
        <p:spPr bwMode="auto">
          <a:xfrm flipV="1">
            <a:off x="7511467" y="1910404"/>
            <a:ext cx="0" cy="3140869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A" sz="1350"/>
          </a:p>
        </p:txBody>
      </p:sp>
      <p:sp>
        <p:nvSpPr>
          <p:cNvPr id="13322" name="Line 10"/>
          <p:cNvSpPr>
            <a:spLocks noChangeShapeType="1"/>
          </p:cNvSpPr>
          <p:nvPr/>
        </p:nvSpPr>
        <p:spPr bwMode="auto">
          <a:xfrm>
            <a:off x="2596567" y="4961975"/>
            <a:ext cx="4914900" cy="0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fr-CA" sz="1350"/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4397116" y="4810765"/>
            <a:ext cx="1128066" cy="300082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FF3300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fr-CA" sz="1350">
                <a:solidFill>
                  <a:srgbClr val="FF3300"/>
                </a:solidFill>
                <a:latin typeface="Arial Black" pitchFamily="34" charset="0"/>
              </a:rPr>
              <a:t>Tolérance</a:t>
            </a:r>
          </a:p>
        </p:txBody>
      </p:sp>
      <p:sp>
        <p:nvSpPr>
          <p:cNvPr id="414732" name="Freeform 12"/>
          <p:cNvSpPr>
            <a:spLocks/>
          </p:cNvSpPr>
          <p:nvPr/>
        </p:nvSpPr>
        <p:spPr bwMode="auto">
          <a:xfrm>
            <a:off x="3721708" y="2479522"/>
            <a:ext cx="2553891" cy="1319213"/>
          </a:xfrm>
          <a:custGeom>
            <a:avLst/>
            <a:gdLst>
              <a:gd name="T0" fmla="*/ 2147483647 w 1813"/>
              <a:gd name="T1" fmla="*/ 2147483647 h 656"/>
              <a:gd name="T2" fmla="*/ 2147483647 w 1813"/>
              <a:gd name="T3" fmla="*/ 2147483647 h 656"/>
              <a:gd name="T4" fmla="*/ 2147483647 w 1813"/>
              <a:gd name="T5" fmla="*/ 2147483647 h 656"/>
              <a:gd name="T6" fmla="*/ 2147483647 w 1813"/>
              <a:gd name="T7" fmla="*/ 2147483647 h 656"/>
              <a:gd name="T8" fmla="*/ 2147483647 w 1813"/>
              <a:gd name="T9" fmla="*/ 2147483647 h 656"/>
              <a:gd name="T10" fmla="*/ 2147483647 w 1813"/>
              <a:gd name="T11" fmla="*/ 2147483647 h 656"/>
              <a:gd name="T12" fmla="*/ 2147483647 w 1813"/>
              <a:gd name="T13" fmla="*/ 2147483647 h 656"/>
              <a:gd name="T14" fmla="*/ 2147483647 w 1813"/>
              <a:gd name="T15" fmla="*/ 2147483647 h 656"/>
              <a:gd name="T16" fmla="*/ 2147483647 w 1813"/>
              <a:gd name="T17" fmla="*/ 2147483647 h 656"/>
              <a:gd name="T18" fmla="*/ 2147483647 w 1813"/>
              <a:gd name="T19" fmla="*/ 2147483647 h 656"/>
              <a:gd name="T20" fmla="*/ 2147483647 w 1813"/>
              <a:gd name="T21" fmla="*/ 2147483647 h 656"/>
              <a:gd name="T22" fmla="*/ 2147483647 w 1813"/>
              <a:gd name="T23" fmla="*/ 2147483647 h 656"/>
              <a:gd name="T24" fmla="*/ 2147483647 w 1813"/>
              <a:gd name="T25" fmla="*/ 2147483647 h 656"/>
              <a:gd name="T26" fmla="*/ 2147483647 w 1813"/>
              <a:gd name="T27" fmla="*/ 2147483647 h 656"/>
              <a:gd name="T28" fmla="*/ 2147483647 w 1813"/>
              <a:gd name="T29" fmla="*/ 2147483647 h 656"/>
              <a:gd name="T30" fmla="*/ 2147483647 w 1813"/>
              <a:gd name="T31" fmla="*/ 2147483647 h 656"/>
              <a:gd name="T32" fmla="*/ 2147483647 w 1813"/>
              <a:gd name="T33" fmla="*/ 2147483647 h 656"/>
              <a:gd name="T34" fmla="*/ 2147483647 w 1813"/>
              <a:gd name="T35" fmla="*/ 2147483647 h 656"/>
              <a:gd name="T36" fmla="*/ 2147483647 w 1813"/>
              <a:gd name="T37" fmla="*/ 2147483647 h 656"/>
              <a:gd name="T38" fmla="*/ 2147483647 w 1813"/>
              <a:gd name="T39" fmla="*/ 0 h 656"/>
              <a:gd name="T40" fmla="*/ 2147483647 w 1813"/>
              <a:gd name="T41" fmla="*/ 2147483647 h 656"/>
              <a:gd name="T42" fmla="*/ 2147483647 w 1813"/>
              <a:gd name="T43" fmla="*/ 2147483647 h 656"/>
              <a:gd name="T44" fmla="*/ 2147483647 w 1813"/>
              <a:gd name="T45" fmla="*/ 2147483647 h 656"/>
              <a:gd name="T46" fmla="*/ 2147483647 w 1813"/>
              <a:gd name="T47" fmla="*/ 2147483647 h 656"/>
              <a:gd name="T48" fmla="*/ 2147483647 w 1813"/>
              <a:gd name="T49" fmla="*/ 2147483647 h 656"/>
              <a:gd name="T50" fmla="*/ 2147483647 w 1813"/>
              <a:gd name="T51" fmla="*/ 2147483647 h 656"/>
              <a:gd name="T52" fmla="*/ 2147483647 w 1813"/>
              <a:gd name="T53" fmla="*/ 2147483647 h 656"/>
              <a:gd name="T54" fmla="*/ 2147483647 w 1813"/>
              <a:gd name="T55" fmla="*/ 2147483647 h 656"/>
              <a:gd name="T56" fmla="*/ 2147483647 w 1813"/>
              <a:gd name="T57" fmla="*/ 2147483647 h 656"/>
              <a:gd name="T58" fmla="*/ 2147483647 w 1813"/>
              <a:gd name="T59" fmla="*/ 2147483647 h 656"/>
              <a:gd name="T60" fmla="*/ 2147483647 w 1813"/>
              <a:gd name="T61" fmla="*/ 2147483647 h 656"/>
              <a:gd name="T62" fmla="*/ 2147483647 w 1813"/>
              <a:gd name="T63" fmla="*/ 2147483647 h 656"/>
              <a:gd name="T64" fmla="*/ 2147483647 w 1813"/>
              <a:gd name="T65" fmla="*/ 2147483647 h 656"/>
              <a:gd name="T66" fmla="*/ 2147483647 w 1813"/>
              <a:gd name="T67" fmla="*/ 2147483647 h 656"/>
              <a:gd name="T68" fmla="*/ 2147483647 w 1813"/>
              <a:gd name="T69" fmla="*/ 2147483647 h 656"/>
              <a:gd name="T70" fmla="*/ 2147483647 w 1813"/>
              <a:gd name="T71" fmla="*/ 2147483647 h 656"/>
              <a:gd name="T72" fmla="*/ 2147483647 w 1813"/>
              <a:gd name="T73" fmla="*/ 2147483647 h 656"/>
              <a:gd name="T74" fmla="*/ 2147483647 w 1813"/>
              <a:gd name="T75" fmla="*/ 2147483647 h 656"/>
              <a:gd name="T76" fmla="*/ 2147483647 w 1813"/>
              <a:gd name="T77" fmla="*/ 2147483647 h 65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w 1813"/>
              <a:gd name="T118" fmla="*/ 0 h 656"/>
              <a:gd name="T119" fmla="*/ 1813 w 1813"/>
              <a:gd name="T120" fmla="*/ 656 h 65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T117" t="T118" r="T119" b="T120"/>
            <a:pathLst>
              <a:path w="1813" h="656">
                <a:moveTo>
                  <a:pt x="0" y="655"/>
                </a:moveTo>
                <a:lnTo>
                  <a:pt x="26" y="654"/>
                </a:lnTo>
                <a:lnTo>
                  <a:pt x="52" y="654"/>
                </a:lnTo>
                <a:lnTo>
                  <a:pt x="77" y="652"/>
                </a:lnTo>
                <a:lnTo>
                  <a:pt x="103" y="651"/>
                </a:lnTo>
                <a:lnTo>
                  <a:pt x="129" y="649"/>
                </a:lnTo>
                <a:lnTo>
                  <a:pt x="155" y="646"/>
                </a:lnTo>
                <a:lnTo>
                  <a:pt x="181" y="644"/>
                </a:lnTo>
                <a:lnTo>
                  <a:pt x="207" y="639"/>
                </a:lnTo>
                <a:lnTo>
                  <a:pt x="233" y="634"/>
                </a:lnTo>
                <a:lnTo>
                  <a:pt x="259" y="628"/>
                </a:lnTo>
                <a:lnTo>
                  <a:pt x="285" y="620"/>
                </a:lnTo>
                <a:lnTo>
                  <a:pt x="311" y="610"/>
                </a:lnTo>
                <a:lnTo>
                  <a:pt x="337" y="598"/>
                </a:lnTo>
                <a:lnTo>
                  <a:pt x="362" y="584"/>
                </a:lnTo>
                <a:lnTo>
                  <a:pt x="388" y="568"/>
                </a:lnTo>
                <a:lnTo>
                  <a:pt x="414" y="548"/>
                </a:lnTo>
                <a:lnTo>
                  <a:pt x="440" y="526"/>
                </a:lnTo>
                <a:lnTo>
                  <a:pt x="466" y="502"/>
                </a:lnTo>
                <a:lnTo>
                  <a:pt x="491" y="474"/>
                </a:lnTo>
                <a:lnTo>
                  <a:pt x="517" y="443"/>
                </a:lnTo>
                <a:lnTo>
                  <a:pt x="543" y="410"/>
                </a:lnTo>
                <a:lnTo>
                  <a:pt x="569" y="374"/>
                </a:lnTo>
                <a:lnTo>
                  <a:pt x="595" y="337"/>
                </a:lnTo>
                <a:lnTo>
                  <a:pt x="621" y="298"/>
                </a:lnTo>
                <a:lnTo>
                  <a:pt x="647" y="258"/>
                </a:lnTo>
                <a:lnTo>
                  <a:pt x="673" y="218"/>
                </a:lnTo>
                <a:lnTo>
                  <a:pt x="699" y="180"/>
                </a:lnTo>
                <a:lnTo>
                  <a:pt x="725" y="142"/>
                </a:lnTo>
                <a:lnTo>
                  <a:pt x="750" y="108"/>
                </a:lnTo>
                <a:lnTo>
                  <a:pt x="776" y="77"/>
                </a:lnTo>
                <a:lnTo>
                  <a:pt x="802" y="50"/>
                </a:lnTo>
                <a:lnTo>
                  <a:pt x="815" y="39"/>
                </a:lnTo>
                <a:lnTo>
                  <a:pt x="828" y="28"/>
                </a:lnTo>
                <a:lnTo>
                  <a:pt x="841" y="20"/>
                </a:lnTo>
                <a:lnTo>
                  <a:pt x="854" y="13"/>
                </a:lnTo>
                <a:lnTo>
                  <a:pt x="866" y="7"/>
                </a:lnTo>
                <a:lnTo>
                  <a:pt x="880" y="3"/>
                </a:lnTo>
                <a:lnTo>
                  <a:pt x="893" y="0"/>
                </a:lnTo>
                <a:lnTo>
                  <a:pt x="906" y="0"/>
                </a:lnTo>
                <a:lnTo>
                  <a:pt x="919" y="0"/>
                </a:lnTo>
                <a:lnTo>
                  <a:pt x="931" y="3"/>
                </a:lnTo>
                <a:lnTo>
                  <a:pt x="945" y="7"/>
                </a:lnTo>
                <a:lnTo>
                  <a:pt x="957" y="13"/>
                </a:lnTo>
                <a:lnTo>
                  <a:pt x="971" y="20"/>
                </a:lnTo>
                <a:lnTo>
                  <a:pt x="983" y="28"/>
                </a:lnTo>
                <a:lnTo>
                  <a:pt x="997" y="39"/>
                </a:lnTo>
                <a:lnTo>
                  <a:pt x="1009" y="50"/>
                </a:lnTo>
                <a:lnTo>
                  <a:pt x="1035" y="77"/>
                </a:lnTo>
                <a:lnTo>
                  <a:pt x="1061" y="108"/>
                </a:lnTo>
                <a:lnTo>
                  <a:pt x="1087" y="142"/>
                </a:lnTo>
                <a:lnTo>
                  <a:pt x="1113" y="180"/>
                </a:lnTo>
                <a:lnTo>
                  <a:pt x="1139" y="218"/>
                </a:lnTo>
                <a:lnTo>
                  <a:pt x="1165" y="258"/>
                </a:lnTo>
                <a:lnTo>
                  <a:pt x="1191" y="298"/>
                </a:lnTo>
                <a:lnTo>
                  <a:pt x="1216" y="337"/>
                </a:lnTo>
                <a:lnTo>
                  <a:pt x="1242" y="374"/>
                </a:lnTo>
                <a:lnTo>
                  <a:pt x="1268" y="410"/>
                </a:lnTo>
                <a:lnTo>
                  <a:pt x="1294" y="443"/>
                </a:lnTo>
                <a:lnTo>
                  <a:pt x="1320" y="474"/>
                </a:lnTo>
                <a:lnTo>
                  <a:pt x="1346" y="502"/>
                </a:lnTo>
                <a:lnTo>
                  <a:pt x="1372" y="526"/>
                </a:lnTo>
                <a:lnTo>
                  <a:pt x="1397" y="548"/>
                </a:lnTo>
                <a:lnTo>
                  <a:pt x="1423" y="568"/>
                </a:lnTo>
                <a:lnTo>
                  <a:pt x="1449" y="584"/>
                </a:lnTo>
                <a:lnTo>
                  <a:pt x="1475" y="598"/>
                </a:lnTo>
                <a:lnTo>
                  <a:pt x="1501" y="610"/>
                </a:lnTo>
                <a:lnTo>
                  <a:pt x="1527" y="620"/>
                </a:lnTo>
                <a:lnTo>
                  <a:pt x="1553" y="628"/>
                </a:lnTo>
                <a:lnTo>
                  <a:pt x="1579" y="634"/>
                </a:lnTo>
                <a:lnTo>
                  <a:pt x="1605" y="639"/>
                </a:lnTo>
                <a:lnTo>
                  <a:pt x="1631" y="644"/>
                </a:lnTo>
                <a:lnTo>
                  <a:pt x="1657" y="646"/>
                </a:lnTo>
                <a:lnTo>
                  <a:pt x="1682" y="649"/>
                </a:lnTo>
                <a:lnTo>
                  <a:pt x="1708" y="651"/>
                </a:lnTo>
                <a:lnTo>
                  <a:pt x="1734" y="652"/>
                </a:lnTo>
                <a:lnTo>
                  <a:pt x="1760" y="654"/>
                </a:lnTo>
                <a:lnTo>
                  <a:pt x="1786" y="654"/>
                </a:lnTo>
                <a:lnTo>
                  <a:pt x="1812" y="655"/>
                </a:lnTo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fr-CA" sz="1350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3721707" y="3427260"/>
            <a:ext cx="0" cy="1127522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A" sz="1350"/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6254167" y="3427260"/>
            <a:ext cx="0" cy="1127522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A" sz="1350"/>
          </a:p>
        </p:txBody>
      </p:sp>
      <p:sp>
        <p:nvSpPr>
          <p:cNvPr id="13327" name="Text Box 15"/>
          <p:cNvSpPr txBox="1">
            <a:spLocks noChangeArrowheads="1"/>
          </p:cNvSpPr>
          <p:nvPr/>
        </p:nvSpPr>
        <p:spPr bwMode="auto">
          <a:xfrm>
            <a:off x="3751474" y="4370233"/>
            <a:ext cx="2470547" cy="300082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00FF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eaLnBrk="1" hangingPunct="1"/>
            <a:r>
              <a:rPr lang="fr-CA" sz="1350">
                <a:solidFill>
                  <a:srgbClr val="00FF00"/>
                </a:solidFill>
                <a:latin typeface="Arial Black" pitchFamily="34" charset="0"/>
              </a:rPr>
              <a:t>Étendues des variations</a:t>
            </a:r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4981390" y="1916356"/>
            <a:ext cx="2503885" cy="0"/>
          </a:xfrm>
          <a:prstGeom prst="line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fr-CA" sz="1350"/>
          </a:p>
        </p:txBody>
      </p: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5585036" y="1668708"/>
            <a:ext cx="1177768" cy="46166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1" hangingPunct="1"/>
            <a:r>
              <a:rPr lang="en-US" sz="2400" b="1" dirty="0">
                <a:solidFill>
                  <a:schemeClr val="tx1"/>
                </a:solidFill>
              </a:rPr>
              <a:t>6 </a:t>
            </a:r>
            <a:r>
              <a:rPr lang="en-US" sz="2400" b="1" dirty="0">
                <a:solidFill>
                  <a:schemeClr val="tx1"/>
                </a:solidFill>
                <a:cs typeface="Arial" charset="0"/>
              </a:rPr>
              <a:t>σ</a:t>
            </a:r>
          </a:p>
        </p:txBody>
      </p:sp>
      <p:graphicFrame>
        <p:nvGraphicFramePr>
          <p:cNvPr id="414738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70934"/>
              </p:ext>
            </p:extLst>
          </p:nvPr>
        </p:nvGraphicFramePr>
        <p:xfrm>
          <a:off x="4984962" y="3507032"/>
          <a:ext cx="2526506" cy="602456"/>
        </p:xfrm>
        <a:graphic>
          <a:graphicData uri="http://schemas.openxmlformats.org/drawingml/2006/table">
            <a:tbl>
              <a:tblPr/>
              <a:tblGrid>
                <a:gridCol w="420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2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245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01E5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2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01E5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2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01E5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2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01E5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2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01E5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2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01E5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2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4764" name="Line 44"/>
          <p:cNvSpPr>
            <a:spLocks noChangeShapeType="1"/>
          </p:cNvSpPr>
          <p:nvPr/>
        </p:nvSpPr>
        <p:spPr bwMode="auto">
          <a:xfrm flipV="1">
            <a:off x="5626707" y="1729428"/>
            <a:ext cx="0" cy="2216944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A" sz="1350"/>
          </a:p>
        </p:txBody>
      </p:sp>
      <p:sp>
        <p:nvSpPr>
          <p:cNvPr id="414765" name="Text Box 45"/>
          <p:cNvSpPr txBox="1">
            <a:spLocks noChangeArrowheads="1"/>
          </p:cNvSpPr>
          <p:nvPr/>
        </p:nvSpPr>
        <p:spPr bwMode="auto">
          <a:xfrm>
            <a:off x="2044807" y="1580048"/>
            <a:ext cx="2417603" cy="1477328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 algn="ctr" eaLnBrk="1" hangingPunct="1">
              <a:spcBef>
                <a:spcPct val="20000"/>
              </a:spcBef>
            </a:pPr>
            <a:r>
              <a:rPr lang="fr-CA" sz="1500" dirty="0">
                <a:solidFill>
                  <a:schemeClr val="tx1"/>
                </a:solidFill>
              </a:rPr>
              <a:t>Lorsque le processus dérive de 1,5 σ, le taux de défectuosités est de 3,4 ppm</a:t>
            </a:r>
          </a:p>
          <a:p>
            <a:pPr algn="ctr" eaLnBrk="1" hangingPunct="1"/>
            <a:endParaRPr lang="fr-CA" sz="1500" dirty="0">
              <a:solidFill>
                <a:schemeClr val="folHlink"/>
              </a:solidFill>
            </a:endParaRPr>
          </a:p>
        </p:txBody>
      </p:sp>
      <p:sp>
        <p:nvSpPr>
          <p:cNvPr id="414766" name="AutoShape 46"/>
          <p:cNvSpPr>
            <a:spLocks noChangeArrowheads="1"/>
          </p:cNvSpPr>
          <p:nvPr/>
        </p:nvSpPr>
        <p:spPr bwMode="auto">
          <a:xfrm>
            <a:off x="5663618" y="3440357"/>
            <a:ext cx="1816894" cy="325040"/>
          </a:xfrm>
          <a:prstGeom prst="leftRightArrow">
            <a:avLst>
              <a:gd name="adj1" fmla="val 50000"/>
              <a:gd name="adj2" fmla="val 111795"/>
            </a:avLst>
          </a:prstGeom>
          <a:solidFill>
            <a:srgbClr val="EAEAEA"/>
          </a:solidFill>
          <a:ln w="38100" algn="ctr">
            <a:solidFill>
              <a:srgbClr val="99FF99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1" hangingPunct="1"/>
            <a:r>
              <a:rPr lang="en-US" dirty="0"/>
              <a:t>4,5 sigma</a:t>
            </a:r>
          </a:p>
        </p:txBody>
      </p:sp>
      <p:sp>
        <p:nvSpPr>
          <p:cNvPr id="414767" name="AutoShape 47"/>
          <p:cNvSpPr>
            <a:spLocks noChangeArrowheads="1"/>
          </p:cNvSpPr>
          <p:nvPr/>
        </p:nvSpPr>
        <p:spPr bwMode="auto">
          <a:xfrm>
            <a:off x="2658480" y="3441547"/>
            <a:ext cx="2926556" cy="325041"/>
          </a:xfrm>
          <a:prstGeom prst="leftRightArrow">
            <a:avLst>
              <a:gd name="adj1" fmla="val 50000"/>
              <a:gd name="adj2" fmla="val 180073"/>
            </a:avLst>
          </a:prstGeom>
          <a:solidFill>
            <a:srgbClr val="EAEAEA"/>
          </a:solidFill>
          <a:ln w="38100" algn="ctr">
            <a:solidFill>
              <a:srgbClr val="99FF99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1" hangingPunct="1"/>
            <a:r>
              <a:rPr lang="en-US" dirty="0"/>
              <a:t>7,5 sigma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33333E-6 L 0.06188 0.0019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147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4" y="8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1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147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14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14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47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4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4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32" grpId="0" animBg="1"/>
      <p:bldP spid="414764" grpId="0" animBg="1"/>
      <p:bldP spid="414765" grpId="0" animBg="1"/>
      <p:bldP spid="414766" grpId="0" animBg="1"/>
      <p:bldP spid="41476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2048670" y="285751"/>
            <a:ext cx="5757863" cy="1103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l"/>
            <a:br>
              <a:rPr lang="fr-CA" sz="1350" b="1" dirty="0">
                <a:solidFill>
                  <a:schemeClr val="tx2"/>
                </a:solidFill>
              </a:rPr>
            </a:br>
            <a:endParaRPr lang="fr-CA" sz="1350" b="1" dirty="0">
              <a:solidFill>
                <a:schemeClr val="tx2"/>
              </a:solidFill>
            </a:endParaRPr>
          </a:p>
        </p:txBody>
      </p:sp>
      <p:sp>
        <p:nvSpPr>
          <p:cNvPr id="15364" name="Rectangle 6"/>
          <p:cNvSpPr>
            <a:spLocks noChangeArrowheads="1"/>
          </p:cNvSpPr>
          <p:nvPr/>
        </p:nvSpPr>
        <p:spPr bwMode="auto">
          <a:xfrm>
            <a:off x="986801" y="4882503"/>
            <a:ext cx="8602335" cy="529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175" indent="-257175">
              <a:spcBef>
                <a:spcPct val="20000"/>
              </a:spcBef>
            </a:pPr>
            <a:r>
              <a:rPr lang="fr-FR" sz="1050" i="1" dirty="0">
                <a:solidFill>
                  <a:srgbClr val="185FAB"/>
                </a:solidFill>
              </a:rPr>
              <a:t>Source:  The Vision of Six Sigma: A Roadmap for </a:t>
            </a:r>
            <a:r>
              <a:rPr lang="fr-FR" sz="1050" i="1" dirty="0" err="1">
                <a:solidFill>
                  <a:srgbClr val="185FAB"/>
                </a:solidFill>
              </a:rPr>
              <a:t>Breakthrough</a:t>
            </a:r>
            <a:r>
              <a:rPr lang="fr-FR" sz="1050" i="1" dirty="0">
                <a:solidFill>
                  <a:srgbClr val="185FAB"/>
                </a:solidFill>
              </a:rPr>
              <a:t>, </a:t>
            </a:r>
            <a:r>
              <a:rPr lang="fr-FR" sz="1050" i="1" dirty="0" err="1">
                <a:solidFill>
                  <a:srgbClr val="185FAB"/>
                </a:solidFill>
              </a:rPr>
              <a:t>Fifth</a:t>
            </a:r>
            <a:r>
              <a:rPr lang="fr-FR" sz="1050" i="1" dirty="0">
                <a:solidFill>
                  <a:srgbClr val="185FAB"/>
                </a:solidFill>
              </a:rPr>
              <a:t> Edition, M.T. Harry.</a:t>
            </a:r>
          </a:p>
        </p:txBody>
      </p:sp>
      <p:sp>
        <p:nvSpPr>
          <p:cNvPr id="15365" name="Rectangle 7"/>
          <p:cNvSpPr>
            <a:spLocks noChangeArrowheads="1"/>
          </p:cNvSpPr>
          <p:nvPr/>
        </p:nvSpPr>
        <p:spPr bwMode="auto">
          <a:xfrm>
            <a:off x="532000" y="1471515"/>
            <a:ext cx="9057136" cy="5539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/>
            <a:r>
              <a:rPr lang="fr-CA" sz="1500" dirty="0">
                <a:solidFill>
                  <a:srgbClr val="185FAB"/>
                </a:solidFill>
              </a:rPr>
              <a:t>Le nombre de défauts produits (en unités par million) pour  différents degrés de dérive du procédé, en fonction de la capacité opérationnelle du procédé</a:t>
            </a:r>
          </a:p>
        </p:txBody>
      </p:sp>
      <p:sp>
        <p:nvSpPr>
          <p:cNvPr id="1536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Méthodologie Six Sigma </a:t>
            </a:r>
          </a:p>
        </p:txBody>
      </p:sp>
      <p:sp>
        <p:nvSpPr>
          <p:cNvPr id="15369" name="ZoneTexte 8"/>
          <p:cNvSpPr txBox="1">
            <a:spLocks noChangeArrowheads="1"/>
          </p:cNvSpPr>
          <p:nvPr/>
        </p:nvSpPr>
        <p:spPr bwMode="auto">
          <a:xfrm>
            <a:off x="2356860" y="4473496"/>
            <a:ext cx="5785405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CA" sz="1500" b="1" dirty="0"/>
              <a:t>3 sigma			  	            6 sigma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479" y="2117138"/>
            <a:ext cx="6011592" cy="2229399"/>
          </a:xfrm>
          <a:prstGeom prst="rect">
            <a:avLst/>
          </a:prstGeom>
        </p:spPr>
      </p:pic>
      <p:sp>
        <p:nvSpPr>
          <p:cNvPr id="15368" name="Oval 10"/>
          <p:cNvSpPr>
            <a:spLocks noChangeArrowheads="1"/>
          </p:cNvSpPr>
          <p:nvPr/>
        </p:nvSpPr>
        <p:spPr bwMode="auto">
          <a:xfrm>
            <a:off x="7334217" y="2478510"/>
            <a:ext cx="633413" cy="305990"/>
          </a:xfrm>
          <a:prstGeom prst="ellipse">
            <a:avLst/>
          </a:prstGeom>
          <a:noFill/>
          <a:ln w="28575">
            <a:solidFill>
              <a:srgbClr val="009C98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15367" name="Oval 9"/>
          <p:cNvSpPr>
            <a:spLocks noChangeArrowheads="1"/>
          </p:cNvSpPr>
          <p:nvPr/>
        </p:nvSpPr>
        <p:spPr bwMode="auto">
          <a:xfrm>
            <a:off x="3073597" y="2478509"/>
            <a:ext cx="633413" cy="305991"/>
          </a:xfrm>
          <a:prstGeom prst="ellipse">
            <a:avLst/>
          </a:prstGeom>
          <a:noFill/>
          <a:ln w="28575">
            <a:solidFill>
              <a:srgbClr val="009C98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8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Rendement global combiné (RGC) 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2000" y="4309507"/>
            <a:ext cx="7834312" cy="423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900" dirty="0"/>
              <a:t>Source :  The Six Sigma </a:t>
            </a:r>
            <a:r>
              <a:rPr lang="fr-FR" sz="900" dirty="0" err="1"/>
              <a:t>Handbook</a:t>
            </a:r>
            <a:r>
              <a:rPr lang="fr-FR" sz="900" dirty="0"/>
              <a:t>, 2003, Thomas </a:t>
            </a:r>
            <a:r>
              <a:rPr lang="fr-FR" sz="900" dirty="0" err="1"/>
              <a:t>Pyzdek</a:t>
            </a:r>
            <a:r>
              <a:rPr lang="fr-FR" sz="900" dirty="0"/>
              <a:t>.</a:t>
            </a:r>
          </a:p>
        </p:txBody>
      </p:sp>
      <p:sp>
        <p:nvSpPr>
          <p:cNvPr id="48131" name="Rectangle 4"/>
          <p:cNvSpPr>
            <a:spLocks noChangeArrowheads="1"/>
          </p:cNvSpPr>
          <p:nvPr/>
        </p:nvSpPr>
        <p:spPr bwMode="auto">
          <a:xfrm>
            <a:off x="2297600" y="1720871"/>
            <a:ext cx="6215063" cy="3520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48132" name="Text Box 6"/>
          <p:cNvSpPr txBox="1">
            <a:spLocks noChangeArrowheads="1"/>
          </p:cNvSpPr>
          <p:nvPr/>
        </p:nvSpPr>
        <p:spPr bwMode="auto">
          <a:xfrm>
            <a:off x="532000" y="1670411"/>
            <a:ext cx="464510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fr-FR" dirty="0">
                <a:solidFill>
                  <a:srgbClr val="185FAB"/>
                </a:solidFill>
              </a:rPr>
              <a:t>Équation pour calculer le RGC :</a:t>
            </a:r>
          </a:p>
        </p:txBody>
      </p:sp>
      <p:sp>
        <p:nvSpPr>
          <p:cNvPr id="48137" name="Text Box 11"/>
          <p:cNvSpPr txBox="1">
            <a:spLocks noChangeArrowheads="1"/>
          </p:cNvSpPr>
          <p:nvPr/>
        </p:nvSpPr>
        <p:spPr bwMode="auto">
          <a:xfrm>
            <a:off x="1816607" y="3563611"/>
            <a:ext cx="5926931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fr-FR">
                <a:solidFill>
                  <a:srgbClr val="185FAB"/>
                </a:solidFill>
              </a:rPr>
              <a:t>Où DPMU</a:t>
            </a:r>
            <a:r>
              <a:rPr lang="fr-FR" baseline="-25000">
                <a:solidFill>
                  <a:srgbClr val="185FAB"/>
                </a:solidFill>
              </a:rPr>
              <a:t>N </a:t>
            </a:r>
            <a:r>
              <a:rPr lang="fr-FR">
                <a:solidFill>
                  <a:srgbClr val="185FAB"/>
                </a:solidFill>
              </a:rPr>
              <a:t>représente les défauts par millions d’unités pour l’étape N dans le processus.</a:t>
            </a:r>
          </a:p>
        </p:txBody>
      </p:sp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5010726" y="147252"/>
            <a:ext cx="1385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A" sz="1350"/>
          </a:p>
        </p:txBody>
      </p:sp>
      <p:graphicFrame>
        <p:nvGraphicFramePr>
          <p:cNvPr id="11161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162948"/>
              </p:ext>
            </p:extLst>
          </p:nvPr>
        </p:nvGraphicFramePr>
        <p:xfrm>
          <a:off x="1821370" y="2317032"/>
          <a:ext cx="5940443" cy="621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Équation" r:id="rId3" imgW="3911600" imgH="406400" progId="Equation.3">
                  <p:embed/>
                </p:oleObj>
              </mc:Choice>
              <mc:Fallback>
                <p:oleObj name="Équation" r:id="rId3" imgW="3911600" imgH="406400" progId="Equation.3">
                  <p:embed/>
                  <p:pic>
                    <p:nvPicPr>
                      <p:cNvPr id="11161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1370" y="2317032"/>
                        <a:ext cx="5940443" cy="6215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50595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sz="1600" i="1" dirty="0"/>
              <a:t>Exercice</a:t>
            </a:r>
            <a:br>
              <a:rPr lang="fr-CA" dirty="0"/>
            </a:br>
            <a:r>
              <a:rPr lang="fr-CA" dirty="0"/>
              <a:t>Calculez le RGC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4294967295"/>
          </p:nvPr>
        </p:nvSpPr>
        <p:spPr>
          <a:xfrm>
            <a:off x="986801" y="3708400"/>
            <a:ext cx="7355513" cy="1993900"/>
          </a:xfrm>
        </p:spPr>
        <p:txBody>
          <a:bodyPr/>
          <a:lstStyle/>
          <a:p>
            <a:pPr marL="0" indent="0">
              <a:buNone/>
            </a:pPr>
            <a:r>
              <a:rPr lang="fr-CA" dirty="0"/>
              <a:t>Calculez le rendement global combiné de ce processus (RGC) :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40F7D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86801" y="1684031"/>
            <a:ext cx="7307547" cy="188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155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ISO 9000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2000" y="1577687"/>
            <a:ext cx="5503039" cy="3187989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fr-CH" dirty="0"/>
              <a:t>D’abord, dites ce que vous faites. Cela signifie mettre par écrit chacune de vos opérations et façons de faire pour assurer que tous vos employés suivent les mêmes lignes directrices.</a:t>
            </a:r>
          </a:p>
          <a:p>
            <a:pPr marL="268288" indent="-268288"/>
            <a:endParaRPr lang="fr-CH" dirty="0"/>
          </a:p>
          <a:p>
            <a:pPr marL="268288" indent="-268288"/>
            <a:r>
              <a:rPr lang="fr-CH" dirty="0"/>
              <a:t>Ensuite, faites ce que vous dites. Cela veut dire suivre à la lettre les directives de son manuel-qualité et ne pas se contenter de principes jamais appliqués;</a:t>
            </a:r>
          </a:p>
          <a:p>
            <a:pPr marL="268288" indent="-268288"/>
            <a:endParaRPr lang="fr-CH" dirty="0"/>
          </a:p>
          <a:p>
            <a:pPr marL="268288" indent="-268288"/>
            <a:r>
              <a:rPr lang="fr-CH" dirty="0"/>
              <a:t>Finalement, enregistrez ce que vous dites. Cela signifie faire des contrôles réguliers et conserver les résultats au classeur pour vérification. </a:t>
            </a:r>
          </a:p>
          <a:p>
            <a:pPr marL="268288" indent="-268288"/>
            <a:endParaRPr lang="fr-C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66F8CC-5496-4C1A-B2E7-352CD85AD738}"/>
              </a:ext>
            </a:extLst>
          </p:cNvPr>
          <p:cNvSpPr/>
          <p:nvPr/>
        </p:nvSpPr>
        <p:spPr>
          <a:xfrm>
            <a:off x="242303" y="4737557"/>
            <a:ext cx="6736166" cy="60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indent="-268288" algn="ctr"/>
            <a:r>
              <a:rPr lang="fr-CH" sz="1670" dirty="0">
                <a:solidFill>
                  <a:schemeClr val="accent3"/>
                </a:solidFill>
              </a:rPr>
              <a:t>Les normes ISO contrôlent donc les procédés de l’entreprise, sa façon de faire, et non le produit qui en sort.</a:t>
            </a:r>
            <a:endParaRPr lang="fr-CA" sz="1670" dirty="0">
              <a:solidFill>
                <a:schemeClr val="accent3"/>
              </a:solidFill>
            </a:endParaRPr>
          </a:p>
        </p:txBody>
      </p:sp>
      <p:pic>
        <p:nvPicPr>
          <p:cNvPr id="11266" name="Picture 2" descr="Qualité ISO 9001">
            <a:extLst>
              <a:ext uri="{FF2B5EF4-FFF2-40B4-BE49-F238E27FC236}">
                <a16:creationId xmlns:a16="http://schemas.microsoft.com/office/drawing/2014/main" id="{7C1B316A-1B8E-4B44-B089-8EF9E0879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398" y="1484984"/>
            <a:ext cx="3608504" cy="330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471BBC-F5ED-4112-A171-F72B495A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Questions…</a:t>
            </a:r>
          </a:p>
        </p:txBody>
      </p:sp>
      <p:grpSp>
        <p:nvGrpSpPr>
          <p:cNvPr id="5" name="Group 138">
            <a:extLst>
              <a:ext uri="{FF2B5EF4-FFF2-40B4-BE49-F238E27FC236}">
                <a16:creationId xmlns:a16="http://schemas.microsoft.com/office/drawing/2014/main" id="{58B95182-4054-43D5-805D-EA019D19B037}"/>
              </a:ext>
            </a:extLst>
          </p:cNvPr>
          <p:cNvGrpSpPr/>
          <p:nvPr/>
        </p:nvGrpSpPr>
        <p:grpSpPr>
          <a:xfrm>
            <a:off x="4374561" y="1844623"/>
            <a:ext cx="1977212" cy="2921741"/>
            <a:chOff x="8704441" y="2571694"/>
            <a:chExt cx="7028256" cy="10385705"/>
          </a:xfrm>
        </p:grpSpPr>
        <p:sp>
          <p:nvSpPr>
            <p:cNvPr id="6" name="Shape 34173">
              <a:extLst>
                <a:ext uri="{FF2B5EF4-FFF2-40B4-BE49-F238E27FC236}">
                  <a16:creationId xmlns:a16="http://schemas.microsoft.com/office/drawing/2014/main" id="{54F8AFD0-226B-45AF-A0F9-4E5B60DD3D2D}"/>
                </a:ext>
              </a:extLst>
            </p:cNvPr>
            <p:cNvSpPr/>
            <p:nvPr/>
          </p:nvSpPr>
          <p:spPr>
            <a:xfrm>
              <a:off x="8704441" y="4977041"/>
              <a:ext cx="795138" cy="696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6" h="21029" extrusionOk="0">
                  <a:moveTo>
                    <a:pt x="20115" y="12466"/>
                  </a:moveTo>
                  <a:cubicBezTo>
                    <a:pt x="19732" y="10390"/>
                    <a:pt x="17957" y="9059"/>
                    <a:pt x="16157" y="9500"/>
                  </a:cubicBezTo>
                  <a:cubicBezTo>
                    <a:pt x="15676" y="9618"/>
                    <a:pt x="15243" y="9853"/>
                    <a:pt x="14872" y="10171"/>
                  </a:cubicBezTo>
                  <a:lnTo>
                    <a:pt x="17218" y="12800"/>
                  </a:lnTo>
                  <a:cubicBezTo>
                    <a:pt x="17383" y="12986"/>
                    <a:pt x="17387" y="13290"/>
                    <a:pt x="17227" y="13481"/>
                  </a:cubicBezTo>
                  <a:cubicBezTo>
                    <a:pt x="17066" y="13671"/>
                    <a:pt x="16803" y="13676"/>
                    <a:pt x="16637" y="13490"/>
                  </a:cubicBezTo>
                  <a:lnTo>
                    <a:pt x="14268" y="10834"/>
                  </a:lnTo>
                  <a:cubicBezTo>
                    <a:pt x="13652" y="11707"/>
                    <a:pt x="13371" y="12880"/>
                    <a:pt x="13589" y="14063"/>
                  </a:cubicBezTo>
                  <a:cubicBezTo>
                    <a:pt x="13972" y="16139"/>
                    <a:pt x="15747" y="17470"/>
                    <a:pt x="17547" y="17029"/>
                  </a:cubicBezTo>
                  <a:cubicBezTo>
                    <a:pt x="19346" y="16589"/>
                    <a:pt x="20498" y="14541"/>
                    <a:pt x="20115" y="12466"/>
                  </a:cubicBezTo>
                  <a:close/>
                  <a:moveTo>
                    <a:pt x="12445" y="7390"/>
                  </a:moveTo>
                  <a:lnTo>
                    <a:pt x="10862" y="7777"/>
                  </a:lnTo>
                  <a:cubicBezTo>
                    <a:pt x="10683" y="7821"/>
                    <a:pt x="10443" y="7721"/>
                    <a:pt x="10330" y="7554"/>
                  </a:cubicBezTo>
                  <a:lnTo>
                    <a:pt x="9382" y="6156"/>
                  </a:lnTo>
                  <a:lnTo>
                    <a:pt x="7858" y="9354"/>
                  </a:lnTo>
                  <a:cubicBezTo>
                    <a:pt x="7858" y="9354"/>
                    <a:pt x="8237" y="9436"/>
                    <a:pt x="8700" y="9536"/>
                  </a:cubicBezTo>
                  <a:lnTo>
                    <a:pt x="12662" y="8566"/>
                  </a:lnTo>
                  <a:cubicBezTo>
                    <a:pt x="12662" y="8566"/>
                    <a:pt x="12445" y="7390"/>
                    <a:pt x="12445" y="7390"/>
                  </a:cubicBezTo>
                  <a:close/>
                  <a:moveTo>
                    <a:pt x="12276" y="9645"/>
                  </a:moveTo>
                  <a:lnTo>
                    <a:pt x="10649" y="10043"/>
                  </a:lnTo>
                  <a:cubicBezTo>
                    <a:pt x="10837" y="10188"/>
                    <a:pt x="10975" y="10413"/>
                    <a:pt x="11024" y="10676"/>
                  </a:cubicBezTo>
                  <a:lnTo>
                    <a:pt x="11025" y="10675"/>
                  </a:lnTo>
                  <a:cubicBezTo>
                    <a:pt x="11025" y="10675"/>
                    <a:pt x="11166" y="11451"/>
                    <a:pt x="11342" y="12416"/>
                  </a:cubicBezTo>
                  <a:cubicBezTo>
                    <a:pt x="11342" y="12416"/>
                    <a:pt x="12276" y="9645"/>
                    <a:pt x="12276" y="9645"/>
                  </a:cubicBezTo>
                  <a:close/>
                  <a:moveTo>
                    <a:pt x="9392" y="11587"/>
                  </a:moveTo>
                  <a:cubicBezTo>
                    <a:pt x="9392" y="11587"/>
                    <a:pt x="7390" y="11287"/>
                    <a:pt x="6435" y="11138"/>
                  </a:cubicBezTo>
                  <a:lnTo>
                    <a:pt x="5956" y="12381"/>
                  </a:lnTo>
                  <a:cubicBezTo>
                    <a:pt x="6790" y="12920"/>
                    <a:pt x="7454" y="13798"/>
                    <a:pt x="7783" y="14892"/>
                  </a:cubicBezTo>
                  <a:lnTo>
                    <a:pt x="9906" y="14373"/>
                  </a:lnTo>
                  <a:cubicBezTo>
                    <a:pt x="9906" y="14373"/>
                    <a:pt x="9392" y="11587"/>
                    <a:pt x="9392" y="11587"/>
                  </a:cubicBezTo>
                  <a:close/>
                  <a:moveTo>
                    <a:pt x="7320" y="15990"/>
                  </a:moveTo>
                  <a:lnTo>
                    <a:pt x="4073" y="16785"/>
                  </a:lnTo>
                  <a:cubicBezTo>
                    <a:pt x="3848" y="16840"/>
                    <a:pt x="3626" y="16674"/>
                    <a:pt x="3578" y="16414"/>
                  </a:cubicBezTo>
                  <a:cubicBezTo>
                    <a:pt x="3557" y="16296"/>
                    <a:pt x="3576" y="16181"/>
                    <a:pt x="3622" y="16083"/>
                  </a:cubicBezTo>
                  <a:lnTo>
                    <a:pt x="3621" y="16082"/>
                  </a:lnTo>
                  <a:lnTo>
                    <a:pt x="4917" y="12711"/>
                  </a:lnTo>
                  <a:cubicBezTo>
                    <a:pt x="4410" y="12543"/>
                    <a:pt x="3861" y="12510"/>
                    <a:pt x="3309" y="12645"/>
                  </a:cubicBezTo>
                  <a:cubicBezTo>
                    <a:pt x="1510" y="13086"/>
                    <a:pt x="358" y="15133"/>
                    <a:pt x="741" y="17209"/>
                  </a:cubicBezTo>
                  <a:cubicBezTo>
                    <a:pt x="1124" y="19285"/>
                    <a:pt x="2899" y="20615"/>
                    <a:pt x="4699" y="20175"/>
                  </a:cubicBezTo>
                  <a:cubicBezTo>
                    <a:pt x="6388" y="19761"/>
                    <a:pt x="7507" y="17930"/>
                    <a:pt x="7320" y="15990"/>
                  </a:cubicBezTo>
                  <a:close/>
                  <a:moveTo>
                    <a:pt x="4700" y="15647"/>
                  </a:moveTo>
                  <a:lnTo>
                    <a:pt x="7121" y="15055"/>
                  </a:lnTo>
                  <a:cubicBezTo>
                    <a:pt x="6845" y="14210"/>
                    <a:pt x="6329" y="13528"/>
                    <a:pt x="5683" y="13093"/>
                  </a:cubicBezTo>
                  <a:cubicBezTo>
                    <a:pt x="5683" y="13093"/>
                    <a:pt x="4700" y="15647"/>
                    <a:pt x="4700" y="15647"/>
                  </a:cubicBezTo>
                  <a:close/>
                  <a:moveTo>
                    <a:pt x="20768" y="12306"/>
                  </a:moveTo>
                  <a:cubicBezTo>
                    <a:pt x="21228" y="14801"/>
                    <a:pt x="19848" y="17253"/>
                    <a:pt x="17686" y="17782"/>
                  </a:cubicBezTo>
                  <a:cubicBezTo>
                    <a:pt x="15523" y="18311"/>
                    <a:pt x="13397" y="16718"/>
                    <a:pt x="12936" y="14223"/>
                  </a:cubicBezTo>
                  <a:cubicBezTo>
                    <a:pt x="12670" y="12777"/>
                    <a:pt x="13022" y="11346"/>
                    <a:pt x="13786" y="10295"/>
                  </a:cubicBezTo>
                  <a:lnTo>
                    <a:pt x="13180" y="9616"/>
                  </a:lnTo>
                  <a:lnTo>
                    <a:pt x="11655" y="14141"/>
                  </a:lnTo>
                  <a:cubicBezTo>
                    <a:pt x="11845" y="15192"/>
                    <a:pt x="12003" y="16082"/>
                    <a:pt x="12002" y="16116"/>
                  </a:cubicBezTo>
                  <a:cubicBezTo>
                    <a:pt x="11988" y="16676"/>
                    <a:pt x="11582" y="17117"/>
                    <a:pt x="11096" y="17100"/>
                  </a:cubicBezTo>
                  <a:cubicBezTo>
                    <a:pt x="10682" y="17085"/>
                    <a:pt x="10344" y="16743"/>
                    <a:pt x="10261" y="16295"/>
                  </a:cubicBezTo>
                  <a:lnTo>
                    <a:pt x="10260" y="16295"/>
                  </a:lnTo>
                  <a:lnTo>
                    <a:pt x="10079" y="15314"/>
                  </a:lnTo>
                  <a:lnTo>
                    <a:pt x="7974" y="15829"/>
                  </a:lnTo>
                  <a:cubicBezTo>
                    <a:pt x="8237" y="18189"/>
                    <a:pt x="6891" y="20425"/>
                    <a:pt x="4838" y="20928"/>
                  </a:cubicBezTo>
                  <a:cubicBezTo>
                    <a:pt x="2675" y="21457"/>
                    <a:pt x="549" y="19863"/>
                    <a:pt x="88" y="17369"/>
                  </a:cubicBezTo>
                  <a:cubicBezTo>
                    <a:pt x="-372" y="14874"/>
                    <a:pt x="1008" y="12422"/>
                    <a:pt x="3170" y="11892"/>
                  </a:cubicBezTo>
                  <a:cubicBezTo>
                    <a:pt x="3866" y="11722"/>
                    <a:pt x="4557" y="11772"/>
                    <a:pt x="5191" y="12001"/>
                  </a:cubicBezTo>
                  <a:lnTo>
                    <a:pt x="5611" y="10908"/>
                  </a:lnTo>
                  <a:cubicBezTo>
                    <a:pt x="5188" y="10637"/>
                    <a:pt x="4908" y="10111"/>
                    <a:pt x="4924" y="9516"/>
                  </a:cubicBezTo>
                  <a:cubicBezTo>
                    <a:pt x="4931" y="9235"/>
                    <a:pt x="5004" y="8976"/>
                    <a:pt x="5123" y="8753"/>
                  </a:cubicBezTo>
                  <a:lnTo>
                    <a:pt x="5122" y="8753"/>
                  </a:lnTo>
                  <a:lnTo>
                    <a:pt x="7375" y="4249"/>
                  </a:lnTo>
                  <a:lnTo>
                    <a:pt x="7375" y="4250"/>
                  </a:lnTo>
                  <a:cubicBezTo>
                    <a:pt x="7591" y="3700"/>
                    <a:pt x="8076" y="3326"/>
                    <a:pt x="8631" y="3346"/>
                  </a:cubicBezTo>
                  <a:cubicBezTo>
                    <a:pt x="9070" y="3361"/>
                    <a:pt x="9452" y="3620"/>
                    <a:pt x="9685" y="4006"/>
                  </a:cubicBezTo>
                  <a:lnTo>
                    <a:pt x="9686" y="4006"/>
                  </a:lnTo>
                  <a:lnTo>
                    <a:pt x="11018" y="6165"/>
                  </a:lnTo>
                  <a:lnTo>
                    <a:pt x="12915" y="5701"/>
                  </a:lnTo>
                  <a:cubicBezTo>
                    <a:pt x="13275" y="5613"/>
                    <a:pt x="13630" y="5878"/>
                    <a:pt x="13706" y="6294"/>
                  </a:cubicBezTo>
                  <a:cubicBezTo>
                    <a:pt x="13778" y="6683"/>
                    <a:pt x="13580" y="7062"/>
                    <a:pt x="13259" y="7182"/>
                  </a:cubicBezTo>
                  <a:lnTo>
                    <a:pt x="13534" y="8671"/>
                  </a:lnTo>
                  <a:lnTo>
                    <a:pt x="14385" y="9625"/>
                  </a:lnTo>
                  <a:cubicBezTo>
                    <a:pt x="14850" y="9205"/>
                    <a:pt x="15402" y="8898"/>
                    <a:pt x="16018" y="8747"/>
                  </a:cubicBezTo>
                  <a:cubicBezTo>
                    <a:pt x="18181" y="8217"/>
                    <a:pt x="20307" y="9811"/>
                    <a:pt x="20768" y="12306"/>
                  </a:cubicBezTo>
                  <a:close/>
                  <a:moveTo>
                    <a:pt x="8795" y="1859"/>
                  </a:moveTo>
                  <a:cubicBezTo>
                    <a:pt x="8642" y="1027"/>
                    <a:pt x="9102" y="210"/>
                    <a:pt x="9823" y="34"/>
                  </a:cubicBezTo>
                  <a:cubicBezTo>
                    <a:pt x="10543" y="-143"/>
                    <a:pt x="11252" y="388"/>
                    <a:pt x="11406" y="1220"/>
                  </a:cubicBezTo>
                  <a:cubicBezTo>
                    <a:pt x="11559" y="2051"/>
                    <a:pt x="11099" y="2869"/>
                    <a:pt x="10378" y="3045"/>
                  </a:cubicBezTo>
                  <a:cubicBezTo>
                    <a:pt x="9658" y="3222"/>
                    <a:pt x="8949" y="2690"/>
                    <a:pt x="8795" y="18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" name="Shape 34174">
              <a:extLst>
                <a:ext uri="{FF2B5EF4-FFF2-40B4-BE49-F238E27FC236}">
                  <a16:creationId xmlns:a16="http://schemas.microsoft.com/office/drawing/2014/main" id="{68128151-2760-45B8-97EA-5230D64C08CC}"/>
                </a:ext>
              </a:extLst>
            </p:cNvPr>
            <p:cNvSpPr/>
            <p:nvPr/>
          </p:nvSpPr>
          <p:spPr>
            <a:xfrm>
              <a:off x="13207711" y="5129396"/>
              <a:ext cx="316260" cy="632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" name="Shape 34175">
              <a:extLst>
                <a:ext uri="{FF2B5EF4-FFF2-40B4-BE49-F238E27FC236}">
                  <a16:creationId xmlns:a16="http://schemas.microsoft.com/office/drawing/2014/main" id="{1D7F4211-594B-47C9-8DCD-A4BCD12E586A}"/>
                </a:ext>
              </a:extLst>
            </p:cNvPr>
            <p:cNvSpPr/>
            <p:nvPr/>
          </p:nvSpPr>
          <p:spPr>
            <a:xfrm>
              <a:off x="13346915" y="6245061"/>
              <a:ext cx="528722" cy="46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" name="Shape 34176">
              <a:extLst>
                <a:ext uri="{FF2B5EF4-FFF2-40B4-BE49-F238E27FC236}">
                  <a16:creationId xmlns:a16="http://schemas.microsoft.com/office/drawing/2014/main" id="{E160DC46-78C8-4C98-9610-BC7760A49598}"/>
                </a:ext>
              </a:extLst>
            </p:cNvPr>
            <p:cNvSpPr/>
            <p:nvPr/>
          </p:nvSpPr>
          <p:spPr>
            <a:xfrm>
              <a:off x="10903238" y="7779831"/>
              <a:ext cx="984814" cy="885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0" name="Shape 34177">
              <a:extLst>
                <a:ext uri="{FF2B5EF4-FFF2-40B4-BE49-F238E27FC236}">
                  <a16:creationId xmlns:a16="http://schemas.microsoft.com/office/drawing/2014/main" id="{78E9A327-153C-4224-85C0-1ACC89739B8D}"/>
                </a:ext>
              </a:extLst>
            </p:cNvPr>
            <p:cNvSpPr/>
            <p:nvPr/>
          </p:nvSpPr>
          <p:spPr>
            <a:xfrm>
              <a:off x="11708307" y="11472461"/>
              <a:ext cx="584792" cy="503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37" y="21600"/>
                  </a:moveTo>
                  <a:cubicBezTo>
                    <a:pt x="7087" y="19915"/>
                    <a:pt x="7254" y="17403"/>
                    <a:pt x="7225" y="15022"/>
                  </a:cubicBezTo>
                  <a:cubicBezTo>
                    <a:pt x="9087" y="15916"/>
                    <a:pt x="11129" y="16612"/>
                    <a:pt x="13235" y="14961"/>
                  </a:cubicBezTo>
                  <a:cubicBezTo>
                    <a:pt x="15319" y="13326"/>
                    <a:pt x="15547" y="10891"/>
                    <a:pt x="15533" y="8574"/>
                  </a:cubicBezTo>
                  <a:cubicBezTo>
                    <a:pt x="17412" y="9482"/>
                    <a:pt x="19470" y="10214"/>
                    <a:pt x="21600" y="8543"/>
                  </a:cubicBezTo>
                  <a:lnTo>
                    <a:pt x="20969" y="7441"/>
                  </a:lnTo>
                  <a:cubicBezTo>
                    <a:pt x="19165" y="8855"/>
                    <a:pt x="17455" y="8115"/>
                    <a:pt x="15526" y="7147"/>
                  </a:cubicBezTo>
                  <a:cubicBezTo>
                    <a:pt x="15470" y="4670"/>
                    <a:pt x="15489" y="2522"/>
                    <a:pt x="17315" y="1092"/>
                  </a:cubicBezTo>
                  <a:lnTo>
                    <a:pt x="16670" y="0"/>
                  </a:lnTo>
                  <a:cubicBezTo>
                    <a:pt x="14521" y="1685"/>
                    <a:pt x="14346" y="4208"/>
                    <a:pt x="14375" y="6589"/>
                  </a:cubicBezTo>
                  <a:cubicBezTo>
                    <a:pt x="12514" y="5696"/>
                    <a:pt x="10476" y="5018"/>
                    <a:pt x="8371" y="6668"/>
                  </a:cubicBezTo>
                  <a:cubicBezTo>
                    <a:pt x="6282" y="8306"/>
                    <a:pt x="6070" y="10724"/>
                    <a:pt x="6085" y="13045"/>
                  </a:cubicBezTo>
                  <a:cubicBezTo>
                    <a:pt x="4204" y="12134"/>
                    <a:pt x="2134" y="11396"/>
                    <a:pt x="0" y="13068"/>
                  </a:cubicBezTo>
                  <a:cubicBezTo>
                    <a:pt x="0" y="13068"/>
                    <a:pt x="641" y="14162"/>
                    <a:pt x="641" y="14162"/>
                  </a:cubicBezTo>
                  <a:cubicBezTo>
                    <a:pt x="2449" y="12745"/>
                    <a:pt x="4156" y="13499"/>
                    <a:pt x="6093" y="14471"/>
                  </a:cubicBezTo>
                  <a:cubicBezTo>
                    <a:pt x="6148" y="16943"/>
                    <a:pt x="6117" y="19084"/>
                    <a:pt x="4295" y="20512"/>
                  </a:cubicBezTo>
                  <a:lnTo>
                    <a:pt x="4937" y="21600"/>
                  </a:lnTo>
                  <a:close/>
                  <a:moveTo>
                    <a:pt x="4054" y="19679"/>
                  </a:moveTo>
                  <a:cubicBezTo>
                    <a:pt x="4369" y="19426"/>
                    <a:pt x="4614" y="19148"/>
                    <a:pt x="4809" y="18844"/>
                  </a:cubicBezTo>
                  <a:cubicBezTo>
                    <a:pt x="4809" y="18844"/>
                    <a:pt x="2134" y="14221"/>
                    <a:pt x="2134" y="14221"/>
                  </a:cubicBezTo>
                  <a:cubicBezTo>
                    <a:pt x="1820" y="14319"/>
                    <a:pt x="1507" y="14483"/>
                    <a:pt x="1188" y="14730"/>
                  </a:cubicBezTo>
                  <a:lnTo>
                    <a:pt x="4054" y="19679"/>
                  </a:lnTo>
                  <a:close/>
                  <a:moveTo>
                    <a:pt x="5303" y="17641"/>
                  </a:moveTo>
                  <a:cubicBezTo>
                    <a:pt x="5447" y="17150"/>
                    <a:pt x="5511" y="16611"/>
                    <a:pt x="5534" y="16026"/>
                  </a:cubicBezTo>
                  <a:lnTo>
                    <a:pt x="4636" y="14466"/>
                  </a:lnTo>
                  <a:cubicBezTo>
                    <a:pt x="4164" y="14273"/>
                    <a:pt x="3712" y="14138"/>
                    <a:pt x="3269" y="14112"/>
                  </a:cubicBezTo>
                  <a:lnTo>
                    <a:pt x="5303" y="17641"/>
                  </a:lnTo>
                  <a:close/>
                  <a:moveTo>
                    <a:pt x="7218" y="13596"/>
                  </a:moveTo>
                  <a:cubicBezTo>
                    <a:pt x="7170" y="11212"/>
                    <a:pt x="7244" y="9148"/>
                    <a:pt x="9015" y="7760"/>
                  </a:cubicBezTo>
                  <a:cubicBezTo>
                    <a:pt x="10800" y="6360"/>
                    <a:pt x="12484" y="7073"/>
                    <a:pt x="14389" y="8027"/>
                  </a:cubicBezTo>
                  <a:cubicBezTo>
                    <a:pt x="14437" y="10403"/>
                    <a:pt x="14371" y="12473"/>
                    <a:pt x="12604" y="13859"/>
                  </a:cubicBezTo>
                  <a:cubicBezTo>
                    <a:pt x="10819" y="15258"/>
                    <a:pt x="9123" y="14549"/>
                    <a:pt x="7218" y="13596"/>
                  </a:cubicBezTo>
                  <a:close/>
                  <a:moveTo>
                    <a:pt x="9128" y="13531"/>
                  </a:moveTo>
                  <a:cubicBezTo>
                    <a:pt x="9683" y="13753"/>
                    <a:pt x="10215" y="13899"/>
                    <a:pt x="10736" y="13922"/>
                  </a:cubicBezTo>
                  <a:lnTo>
                    <a:pt x="8270" y="9693"/>
                  </a:lnTo>
                  <a:cubicBezTo>
                    <a:pt x="8094" y="10262"/>
                    <a:pt x="8018" y="10890"/>
                    <a:pt x="7988" y="11570"/>
                  </a:cubicBezTo>
                  <a:lnTo>
                    <a:pt x="9128" y="13531"/>
                  </a:lnTo>
                  <a:close/>
                  <a:moveTo>
                    <a:pt x="11711" y="13445"/>
                  </a:moveTo>
                  <a:cubicBezTo>
                    <a:pt x="11906" y="13348"/>
                    <a:pt x="12100" y="13226"/>
                    <a:pt x="12298" y="13067"/>
                  </a:cubicBezTo>
                  <a:cubicBezTo>
                    <a:pt x="12398" y="12988"/>
                    <a:pt x="12489" y="12904"/>
                    <a:pt x="12577" y="12819"/>
                  </a:cubicBezTo>
                  <a:lnTo>
                    <a:pt x="9787" y="7934"/>
                  </a:lnTo>
                  <a:cubicBezTo>
                    <a:pt x="9688" y="7998"/>
                    <a:pt x="9589" y="8069"/>
                    <a:pt x="9488" y="8149"/>
                  </a:cubicBezTo>
                  <a:cubicBezTo>
                    <a:pt x="9290" y="8307"/>
                    <a:pt x="9121" y="8474"/>
                    <a:pt x="8972" y="8652"/>
                  </a:cubicBezTo>
                  <a:lnTo>
                    <a:pt x="11711" y="13445"/>
                  </a:lnTo>
                  <a:close/>
                  <a:moveTo>
                    <a:pt x="13407" y="12000"/>
                  </a:moveTo>
                  <a:cubicBezTo>
                    <a:pt x="13611" y="11527"/>
                    <a:pt x="13723" y="11008"/>
                    <a:pt x="13784" y="10444"/>
                  </a:cubicBezTo>
                  <a:lnTo>
                    <a:pt x="12283" y="7830"/>
                  </a:lnTo>
                  <a:cubicBezTo>
                    <a:pt x="11815" y="7685"/>
                    <a:pt x="11363" y="7615"/>
                    <a:pt x="10913" y="7660"/>
                  </a:cubicBezTo>
                  <a:lnTo>
                    <a:pt x="13407" y="12000"/>
                  </a:lnTo>
                  <a:close/>
                  <a:moveTo>
                    <a:pt x="16965" y="7123"/>
                  </a:moveTo>
                  <a:cubicBezTo>
                    <a:pt x="17421" y="7289"/>
                    <a:pt x="17855" y="7394"/>
                    <a:pt x="18279" y="7398"/>
                  </a:cubicBezTo>
                  <a:lnTo>
                    <a:pt x="16261" y="4044"/>
                  </a:lnTo>
                  <a:cubicBezTo>
                    <a:pt x="16133" y="4533"/>
                    <a:pt x="16081" y="5067"/>
                    <a:pt x="16071" y="5642"/>
                  </a:cubicBezTo>
                  <a:lnTo>
                    <a:pt x="16965" y="7123"/>
                  </a:lnTo>
                  <a:close/>
                  <a:moveTo>
                    <a:pt x="19610" y="7085"/>
                  </a:moveTo>
                  <a:cubicBezTo>
                    <a:pt x="19909" y="6982"/>
                    <a:pt x="20208" y="6817"/>
                    <a:pt x="20510" y="6570"/>
                  </a:cubicBezTo>
                  <a:lnTo>
                    <a:pt x="17721" y="1845"/>
                  </a:lnTo>
                  <a:cubicBezTo>
                    <a:pt x="17423" y="2098"/>
                    <a:pt x="17191" y="2376"/>
                    <a:pt x="17007" y="2675"/>
                  </a:cubicBezTo>
                  <a:cubicBezTo>
                    <a:pt x="17007" y="2675"/>
                    <a:pt x="19610" y="7085"/>
                    <a:pt x="19610" y="7085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1" name="Shape 34178">
              <a:extLst>
                <a:ext uri="{FF2B5EF4-FFF2-40B4-BE49-F238E27FC236}">
                  <a16:creationId xmlns:a16="http://schemas.microsoft.com/office/drawing/2014/main" id="{4F678B15-F002-4E8B-9DFF-E999A7B29C8E}"/>
                </a:ext>
              </a:extLst>
            </p:cNvPr>
            <p:cNvSpPr/>
            <p:nvPr/>
          </p:nvSpPr>
          <p:spPr>
            <a:xfrm>
              <a:off x="14474664" y="3452446"/>
              <a:ext cx="701272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6837" y="0"/>
                  </a:moveTo>
                  <a:lnTo>
                    <a:pt x="6304" y="11896"/>
                  </a:lnTo>
                  <a:lnTo>
                    <a:pt x="10115" y="11984"/>
                  </a:lnTo>
                  <a:lnTo>
                    <a:pt x="10387" y="5819"/>
                  </a:lnTo>
                  <a:cubicBezTo>
                    <a:pt x="10807" y="5990"/>
                    <a:pt x="11286" y="6091"/>
                    <a:pt x="11799" y="6080"/>
                  </a:cubicBezTo>
                  <a:cubicBezTo>
                    <a:pt x="12816" y="6059"/>
                    <a:pt x="13721" y="5638"/>
                    <a:pt x="14293" y="5029"/>
                  </a:cubicBezTo>
                  <a:cubicBezTo>
                    <a:pt x="14344" y="4975"/>
                    <a:pt x="14392" y="4920"/>
                    <a:pt x="14437" y="4864"/>
                  </a:cubicBezTo>
                  <a:cubicBezTo>
                    <a:pt x="15870" y="5413"/>
                    <a:pt x="17048" y="6141"/>
                    <a:pt x="17879" y="7040"/>
                  </a:cubicBezTo>
                  <a:cubicBezTo>
                    <a:pt x="19250" y="8523"/>
                    <a:pt x="19623" y="10355"/>
                    <a:pt x="18956" y="12341"/>
                  </a:cubicBezTo>
                  <a:cubicBezTo>
                    <a:pt x="17917" y="15436"/>
                    <a:pt x="14349" y="17736"/>
                    <a:pt x="10109" y="18168"/>
                  </a:cubicBezTo>
                  <a:lnTo>
                    <a:pt x="10109" y="16337"/>
                  </a:lnTo>
                  <a:lnTo>
                    <a:pt x="12811" y="16337"/>
                  </a:lnTo>
                  <a:lnTo>
                    <a:pt x="12811" y="15424"/>
                  </a:lnTo>
                  <a:lnTo>
                    <a:pt x="2958" y="15424"/>
                  </a:lnTo>
                  <a:lnTo>
                    <a:pt x="2958" y="16337"/>
                  </a:lnTo>
                  <a:lnTo>
                    <a:pt x="5665" y="16337"/>
                  </a:lnTo>
                  <a:lnTo>
                    <a:pt x="5665" y="19312"/>
                  </a:lnTo>
                  <a:lnTo>
                    <a:pt x="0" y="19312"/>
                  </a:lnTo>
                  <a:lnTo>
                    <a:pt x="0" y="21600"/>
                  </a:lnTo>
                  <a:lnTo>
                    <a:pt x="15769" y="21600"/>
                  </a:lnTo>
                  <a:lnTo>
                    <a:pt x="15769" y="19312"/>
                  </a:lnTo>
                  <a:lnTo>
                    <a:pt x="11820" y="19312"/>
                  </a:lnTo>
                  <a:cubicBezTo>
                    <a:pt x="16159" y="18468"/>
                    <a:pt x="19703" y="15947"/>
                    <a:pt x="20805" y="12664"/>
                  </a:cubicBezTo>
                  <a:cubicBezTo>
                    <a:pt x="21600" y="10296"/>
                    <a:pt x="21135" y="8089"/>
                    <a:pt x="19462" y="6280"/>
                  </a:cubicBezTo>
                  <a:cubicBezTo>
                    <a:pt x="18352" y="5079"/>
                    <a:pt x="16769" y="4131"/>
                    <a:pt x="14820" y="3462"/>
                  </a:cubicBezTo>
                  <a:cubicBezTo>
                    <a:pt x="14558" y="2431"/>
                    <a:pt x="13305" y="1647"/>
                    <a:pt x="11799" y="1647"/>
                  </a:cubicBezTo>
                  <a:cubicBezTo>
                    <a:pt x="11359" y="1647"/>
                    <a:pt x="10947" y="1715"/>
                    <a:pt x="10568" y="1835"/>
                  </a:cubicBezTo>
                  <a:lnTo>
                    <a:pt x="10642" y="88"/>
                  </a:lnTo>
                  <a:lnTo>
                    <a:pt x="6837" y="0"/>
                  </a:lnTo>
                  <a:close/>
                  <a:moveTo>
                    <a:pt x="11799" y="3017"/>
                  </a:moveTo>
                  <a:cubicBezTo>
                    <a:pt x="12376" y="3012"/>
                    <a:pt x="12879" y="3300"/>
                    <a:pt x="12982" y="3708"/>
                  </a:cubicBezTo>
                  <a:cubicBezTo>
                    <a:pt x="13088" y="4130"/>
                    <a:pt x="12736" y="4539"/>
                    <a:pt x="12167" y="4660"/>
                  </a:cubicBezTo>
                  <a:cubicBezTo>
                    <a:pt x="12051" y="4688"/>
                    <a:pt x="11928" y="4706"/>
                    <a:pt x="11799" y="4706"/>
                  </a:cubicBezTo>
                  <a:cubicBezTo>
                    <a:pt x="11152" y="4706"/>
                    <a:pt x="10625" y="4326"/>
                    <a:pt x="10626" y="3862"/>
                  </a:cubicBezTo>
                  <a:cubicBezTo>
                    <a:pt x="10628" y="3397"/>
                    <a:pt x="11153" y="3023"/>
                    <a:pt x="11799" y="30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2" name="Shape 34179">
              <a:extLst>
                <a:ext uri="{FF2B5EF4-FFF2-40B4-BE49-F238E27FC236}">
                  <a16:creationId xmlns:a16="http://schemas.microsoft.com/office/drawing/2014/main" id="{B640C1FD-64C6-481E-8CA6-1F579DB7BF97}"/>
                </a:ext>
              </a:extLst>
            </p:cNvPr>
            <p:cNvSpPr/>
            <p:nvPr/>
          </p:nvSpPr>
          <p:spPr>
            <a:xfrm>
              <a:off x="13573878" y="4409128"/>
              <a:ext cx="1096094" cy="1213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3" name="Shape 34180">
              <a:extLst>
                <a:ext uri="{FF2B5EF4-FFF2-40B4-BE49-F238E27FC236}">
                  <a16:creationId xmlns:a16="http://schemas.microsoft.com/office/drawing/2014/main" id="{FC0527D6-D884-408F-BA36-9B4D6D2454E1}"/>
                </a:ext>
              </a:extLst>
            </p:cNvPr>
            <p:cNvSpPr/>
            <p:nvPr/>
          </p:nvSpPr>
          <p:spPr>
            <a:xfrm>
              <a:off x="12366664" y="11330119"/>
              <a:ext cx="843804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4" name="Shape 34181">
              <a:extLst>
                <a:ext uri="{FF2B5EF4-FFF2-40B4-BE49-F238E27FC236}">
                  <a16:creationId xmlns:a16="http://schemas.microsoft.com/office/drawing/2014/main" id="{D20E22D0-E6B4-4E74-BCC9-D24F16731457}"/>
                </a:ext>
              </a:extLst>
            </p:cNvPr>
            <p:cNvSpPr/>
            <p:nvPr/>
          </p:nvSpPr>
          <p:spPr>
            <a:xfrm>
              <a:off x="14244181" y="7303221"/>
              <a:ext cx="622050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097" y="15438"/>
                  </a:lnTo>
                  <a:lnTo>
                    <a:pt x="5592" y="20234"/>
                  </a:lnTo>
                  <a:cubicBezTo>
                    <a:pt x="5592" y="20234"/>
                    <a:pt x="0" y="21600"/>
                    <a:pt x="0" y="21600"/>
                  </a:cubicBezTo>
                  <a:close/>
                  <a:moveTo>
                    <a:pt x="6275" y="19576"/>
                  </a:moveTo>
                  <a:lnTo>
                    <a:pt x="2779" y="14780"/>
                  </a:lnTo>
                  <a:lnTo>
                    <a:pt x="14944" y="3046"/>
                  </a:lnTo>
                  <a:lnTo>
                    <a:pt x="18443" y="7840"/>
                  </a:lnTo>
                  <a:cubicBezTo>
                    <a:pt x="18443" y="7840"/>
                    <a:pt x="6275" y="19576"/>
                    <a:pt x="6275" y="19576"/>
                  </a:cubicBezTo>
                  <a:close/>
                  <a:moveTo>
                    <a:pt x="19138" y="7167"/>
                  </a:moveTo>
                  <a:lnTo>
                    <a:pt x="15640" y="2373"/>
                  </a:lnTo>
                  <a:lnTo>
                    <a:pt x="18101" y="0"/>
                  </a:lnTo>
                  <a:lnTo>
                    <a:pt x="21600" y="4794"/>
                  </a:lnTo>
                  <a:cubicBezTo>
                    <a:pt x="21600" y="4794"/>
                    <a:pt x="19138" y="7167"/>
                    <a:pt x="19138" y="716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5" name="Shape 34182">
              <a:extLst>
                <a:ext uri="{FF2B5EF4-FFF2-40B4-BE49-F238E27FC236}">
                  <a16:creationId xmlns:a16="http://schemas.microsoft.com/office/drawing/2014/main" id="{32FA501B-5962-4484-8A0B-34C400BFD48A}"/>
                </a:ext>
              </a:extLst>
            </p:cNvPr>
            <p:cNvSpPr/>
            <p:nvPr/>
          </p:nvSpPr>
          <p:spPr>
            <a:xfrm>
              <a:off x="13576635" y="6759701"/>
              <a:ext cx="580114" cy="80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6" h="21363" extrusionOk="0">
                  <a:moveTo>
                    <a:pt x="10609" y="43"/>
                  </a:moveTo>
                  <a:cubicBezTo>
                    <a:pt x="8165" y="-162"/>
                    <a:pt x="5621" y="372"/>
                    <a:pt x="3560" y="1702"/>
                  </a:cubicBezTo>
                  <a:cubicBezTo>
                    <a:pt x="-561" y="4362"/>
                    <a:pt x="-1197" y="9181"/>
                    <a:pt x="2140" y="12465"/>
                  </a:cubicBezTo>
                  <a:cubicBezTo>
                    <a:pt x="4853" y="15135"/>
                    <a:pt x="9359" y="15971"/>
                    <a:pt x="13163" y="14762"/>
                  </a:cubicBezTo>
                  <a:cubicBezTo>
                    <a:pt x="13165" y="14832"/>
                    <a:pt x="13187" y="14904"/>
                    <a:pt x="13225" y="14972"/>
                  </a:cubicBezTo>
                  <a:lnTo>
                    <a:pt x="16612" y="21039"/>
                  </a:lnTo>
                  <a:cubicBezTo>
                    <a:pt x="16765" y="21313"/>
                    <a:pt x="17169" y="21438"/>
                    <a:pt x="17513" y="21316"/>
                  </a:cubicBezTo>
                  <a:lnTo>
                    <a:pt x="17878" y="21186"/>
                  </a:lnTo>
                  <a:cubicBezTo>
                    <a:pt x="18222" y="21064"/>
                    <a:pt x="18373" y="20741"/>
                    <a:pt x="18220" y="20467"/>
                  </a:cubicBezTo>
                  <a:lnTo>
                    <a:pt x="14832" y="14405"/>
                  </a:lnTo>
                  <a:cubicBezTo>
                    <a:pt x="14778" y="14307"/>
                    <a:pt x="14685" y="14238"/>
                    <a:pt x="14581" y="14183"/>
                  </a:cubicBezTo>
                  <a:cubicBezTo>
                    <a:pt x="14946" y="14006"/>
                    <a:pt x="15305" y="13816"/>
                    <a:pt x="15646" y="13596"/>
                  </a:cubicBezTo>
                  <a:cubicBezTo>
                    <a:pt x="19767" y="10937"/>
                    <a:pt x="20403" y="6118"/>
                    <a:pt x="17066" y="2833"/>
                  </a:cubicBezTo>
                  <a:cubicBezTo>
                    <a:pt x="15397" y="1191"/>
                    <a:pt x="13053" y="247"/>
                    <a:pt x="10609" y="43"/>
                  </a:cubicBezTo>
                  <a:close/>
                  <a:moveTo>
                    <a:pt x="10451" y="1237"/>
                  </a:moveTo>
                  <a:cubicBezTo>
                    <a:pt x="12511" y="1410"/>
                    <a:pt x="14487" y="2210"/>
                    <a:pt x="15893" y="3594"/>
                  </a:cubicBezTo>
                  <a:cubicBezTo>
                    <a:pt x="18705" y="6361"/>
                    <a:pt x="18170" y="10422"/>
                    <a:pt x="14697" y="12663"/>
                  </a:cubicBezTo>
                  <a:cubicBezTo>
                    <a:pt x="11225" y="14903"/>
                    <a:pt x="6130" y="14477"/>
                    <a:pt x="3318" y="11709"/>
                  </a:cubicBezTo>
                  <a:cubicBezTo>
                    <a:pt x="506" y="8942"/>
                    <a:pt x="1041" y="4882"/>
                    <a:pt x="4514" y="2641"/>
                  </a:cubicBezTo>
                  <a:cubicBezTo>
                    <a:pt x="6250" y="1520"/>
                    <a:pt x="8392" y="1065"/>
                    <a:pt x="10451" y="12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6" name="Shape 34183">
              <a:extLst>
                <a:ext uri="{FF2B5EF4-FFF2-40B4-BE49-F238E27FC236}">
                  <a16:creationId xmlns:a16="http://schemas.microsoft.com/office/drawing/2014/main" id="{742CAAEB-DCDA-49D9-BEDF-A0DEC236B988}"/>
                </a:ext>
              </a:extLst>
            </p:cNvPr>
            <p:cNvSpPr/>
            <p:nvPr/>
          </p:nvSpPr>
          <p:spPr>
            <a:xfrm>
              <a:off x="11615391" y="7089790"/>
              <a:ext cx="617918" cy="684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7" name="Shape 34184">
              <a:extLst>
                <a:ext uri="{FF2B5EF4-FFF2-40B4-BE49-F238E27FC236}">
                  <a16:creationId xmlns:a16="http://schemas.microsoft.com/office/drawing/2014/main" id="{E69921C6-AB16-4677-B9C6-0FA4349CB779}"/>
                </a:ext>
              </a:extLst>
            </p:cNvPr>
            <p:cNvSpPr/>
            <p:nvPr/>
          </p:nvSpPr>
          <p:spPr>
            <a:xfrm>
              <a:off x="13088735" y="3291417"/>
              <a:ext cx="651942" cy="59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8" name="Shape 34185">
              <a:extLst>
                <a:ext uri="{FF2B5EF4-FFF2-40B4-BE49-F238E27FC236}">
                  <a16:creationId xmlns:a16="http://schemas.microsoft.com/office/drawing/2014/main" id="{915AC7A9-5EEC-49B9-8FB0-0DE814528FC9}"/>
                </a:ext>
              </a:extLst>
            </p:cNvPr>
            <p:cNvSpPr/>
            <p:nvPr/>
          </p:nvSpPr>
          <p:spPr>
            <a:xfrm>
              <a:off x="12303465" y="7118398"/>
              <a:ext cx="457434" cy="61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9" name="Shape 34186">
              <a:extLst>
                <a:ext uri="{FF2B5EF4-FFF2-40B4-BE49-F238E27FC236}">
                  <a16:creationId xmlns:a16="http://schemas.microsoft.com/office/drawing/2014/main" id="{01F8225B-CB5F-44AD-8D3C-936834D1EE08}"/>
                </a:ext>
              </a:extLst>
            </p:cNvPr>
            <p:cNvSpPr/>
            <p:nvPr/>
          </p:nvSpPr>
          <p:spPr>
            <a:xfrm>
              <a:off x="10902474" y="3745209"/>
              <a:ext cx="602468" cy="782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8" h="21519" extrusionOk="0">
                  <a:moveTo>
                    <a:pt x="9842" y="0"/>
                  </a:moveTo>
                  <a:cubicBezTo>
                    <a:pt x="7324" y="0"/>
                    <a:pt x="4803" y="774"/>
                    <a:pt x="2881" y="2331"/>
                  </a:cubicBezTo>
                  <a:cubicBezTo>
                    <a:pt x="-961" y="5445"/>
                    <a:pt x="-961" y="10493"/>
                    <a:pt x="2881" y="13607"/>
                  </a:cubicBezTo>
                  <a:cubicBezTo>
                    <a:pt x="6005" y="16138"/>
                    <a:pt x="10709" y="16613"/>
                    <a:pt x="14423" y="15030"/>
                  </a:cubicBezTo>
                  <a:cubicBezTo>
                    <a:pt x="14434" y="15103"/>
                    <a:pt x="14466" y="15175"/>
                    <a:pt x="14515" y="15243"/>
                  </a:cubicBezTo>
                  <a:lnTo>
                    <a:pt x="18781" y="21235"/>
                  </a:lnTo>
                  <a:cubicBezTo>
                    <a:pt x="18974" y="21506"/>
                    <a:pt x="19402" y="21600"/>
                    <a:pt x="19736" y="21444"/>
                  </a:cubicBezTo>
                  <a:lnTo>
                    <a:pt x="20091" y="21277"/>
                  </a:lnTo>
                  <a:cubicBezTo>
                    <a:pt x="20425" y="21121"/>
                    <a:pt x="20535" y="20774"/>
                    <a:pt x="20343" y="20503"/>
                  </a:cubicBezTo>
                  <a:lnTo>
                    <a:pt x="16076" y="14515"/>
                  </a:lnTo>
                  <a:cubicBezTo>
                    <a:pt x="16007" y="14419"/>
                    <a:pt x="15903" y="14355"/>
                    <a:pt x="15790" y="14307"/>
                  </a:cubicBezTo>
                  <a:cubicBezTo>
                    <a:pt x="16138" y="14092"/>
                    <a:pt x="16479" y="13864"/>
                    <a:pt x="16797" y="13607"/>
                  </a:cubicBezTo>
                  <a:cubicBezTo>
                    <a:pt x="20639" y="10493"/>
                    <a:pt x="20639" y="5445"/>
                    <a:pt x="16797" y="2331"/>
                  </a:cubicBezTo>
                  <a:cubicBezTo>
                    <a:pt x="14875" y="774"/>
                    <a:pt x="12360" y="0"/>
                    <a:pt x="9842" y="0"/>
                  </a:cubicBezTo>
                  <a:close/>
                  <a:moveTo>
                    <a:pt x="9842" y="1251"/>
                  </a:moveTo>
                  <a:cubicBezTo>
                    <a:pt x="11963" y="1251"/>
                    <a:pt x="14085" y="1909"/>
                    <a:pt x="15704" y="3221"/>
                  </a:cubicBezTo>
                  <a:cubicBezTo>
                    <a:pt x="18942" y="5844"/>
                    <a:pt x="18942" y="10098"/>
                    <a:pt x="15704" y="12722"/>
                  </a:cubicBezTo>
                  <a:cubicBezTo>
                    <a:pt x="12467" y="15345"/>
                    <a:pt x="7217" y="15345"/>
                    <a:pt x="3980" y="12722"/>
                  </a:cubicBezTo>
                  <a:cubicBezTo>
                    <a:pt x="742" y="10098"/>
                    <a:pt x="742" y="5844"/>
                    <a:pt x="3980" y="3221"/>
                  </a:cubicBezTo>
                  <a:cubicBezTo>
                    <a:pt x="5598" y="1909"/>
                    <a:pt x="7720" y="1251"/>
                    <a:pt x="9842" y="12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0" name="Shape 34187">
              <a:extLst>
                <a:ext uri="{FF2B5EF4-FFF2-40B4-BE49-F238E27FC236}">
                  <a16:creationId xmlns:a16="http://schemas.microsoft.com/office/drawing/2014/main" id="{508E7D9F-4C55-4457-9A82-9323CFD93CC4}"/>
                </a:ext>
              </a:extLst>
            </p:cNvPr>
            <p:cNvSpPr/>
            <p:nvPr/>
          </p:nvSpPr>
          <p:spPr>
            <a:xfrm>
              <a:off x="9646332" y="5299667"/>
              <a:ext cx="648460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1" name="Shape 34188">
              <a:extLst>
                <a:ext uri="{FF2B5EF4-FFF2-40B4-BE49-F238E27FC236}">
                  <a16:creationId xmlns:a16="http://schemas.microsoft.com/office/drawing/2014/main" id="{AF834B20-31C8-4541-8AFF-BE903C61AFB9}"/>
                </a:ext>
              </a:extLst>
            </p:cNvPr>
            <p:cNvSpPr/>
            <p:nvPr/>
          </p:nvSpPr>
          <p:spPr>
            <a:xfrm>
              <a:off x="14782759" y="5213711"/>
              <a:ext cx="949938" cy="458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" y="21600"/>
                  </a:moveTo>
                  <a:cubicBezTo>
                    <a:pt x="3196" y="21301"/>
                    <a:pt x="4520" y="17446"/>
                    <a:pt x="5606" y="13579"/>
                  </a:cubicBezTo>
                  <a:cubicBezTo>
                    <a:pt x="6868" y="17109"/>
                    <a:pt x="8385" y="20522"/>
                    <a:pt x="11056" y="20229"/>
                  </a:cubicBezTo>
                  <a:cubicBezTo>
                    <a:pt x="13700" y="19938"/>
                    <a:pt x="15043" y="16273"/>
                    <a:pt x="16113" y="12527"/>
                  </a:cubicBezTo>
                  <a:cubicBezTo>
                    <a:pt x="17383" y="16099"/>
                    <a:pt x="18898" y="19587"/>
                    <a:pt x="21600" y="19290"/>
                  </a:cubicBezTo>
                  <a:lnTo>
                    <a:pt x="21545" y="16807"/>
                  </a:lnTo>
                  <a:cubicBezTo>
                    <a:pt x="19258" y="17058"/>
                    <a:pt x="18061" y="13947"/>
                    <a:pt x="16772" y="10222"/>
                  </a:cubicBezTo>
                  <a:cubicBezTo>
                    <a:pt x="17878" y="6171"/>
                    <a:pt x="18899" y="2735"/>
                    <a:pt x="21214" y="2481"/>
                  </a:cubicBezTo>
                  <a:lnTo>
                    <a:pt x="21142" y="0"/>
                  </a:lnTo>
                  <a:cubicBezTo>
                    <a:pt x="18416" y="300"/>
                    <a:pt x="17080" y="4165"/>
                    <a:pt x="15994" y="8031"/>
                  </a:cubicBezTo>
                  <a:cubicBezTo>
                    <a:pt x="14732" y="4504"/>
                    <a:pt x="13210" y="1123"/>
                    <a:pt x="10541" y="1416"/>
                  </a:cubicBezTo>
                  <a:cubicBezTo>
                    <a:pt x="7892" y="1708"/>
                    <a:pt x="6571" y="5362"/>
                    <a:pt x="5501" y="9116"/>
                  </a:cubicBezTo>
                  <a:cubicBezTo>
                    <a:pt x="4229" y="5537"/>
                    <a:pt x="2706" y="2023"/>
                    <a:pt x="0" y="2320"/>
                  </a:cubicBezTo>
                  <a:cubicBezTo>
                    <a:pt x="0" y="2320"/>
                    <a:pt x="67" y="4802"/>
                    <a:pt x="67" y="4802"/>
                  </a:cubicBezTo>
                  <a:cubicBezTo>
                    <a:pt x="2361" y="4550"/>
                    <a:pt x="3548" y="7681"/>
                    <a:pt x="4841" y="11421"/>
                  </a:cubicBezTo>
                  <a:cubicBezTo>
                    <a:pt x="3737" y="15462"/>
                    <a:pt x="2709" y="18874"/>
                    <a:pt x="399" y="19128"/>
                  </a:cubicBezTo>
                  <a:lnTo>
                    <a:pt x="470" y="21600"/>
                  </a:lnTo>
                  <a:close/>
                  <a:moveTo>
                    <a:pt x="571" y="17516"/>
                  </a:moveTo>
                  <a:cubicBezTo>
                    <a:pt x="973" y="17463"/>
                    <a:pt x="1323" y="17289"/>
                    <a:pt x="1641" y="17020"/>
                  </a:cubicBezTo>
                  <a:cubicBezTo>
                    <a:pt x="1641" y="17020"/>
                    <a:pt x="1387" y="6572"/>
                    <a:pt x="1387" y="6572"/>
                  </a:cubicBezTo>
                  <a:cubicBezTo>
                    <a:pt x="1058" y="6378"/>
                    <a:pt x="699" y="6290"/>
                    <a:pt x="296" y="6330"/>
                  </a:cubicBezTo>
                  <a:lnTo>
                    <a:pt x="571" y="17516"/>
                  </a:lnTo>
                  <a:close/>
                  <a:moveTo>
                    <a:pt x="2649" y="15637"/>
                  </a:moveTo>
                  <a:cubicBezTo>
                    <a:pt x="3008" y="15009"/>
                    <a:pt x="3317" y="14212"/>
                    <a:pt x="3611" y="13297"/>
                  </a:cubicBezTo>
                  <a:lnTo>
                    <a:pt x="3530" y="9777"/>
                  </a:lnTo>
                  <a:cubicBezTo>
                    <a:pt x="3194" y="8935"/>
                    <a:pt x="2849" y="8211"/>
                    <a:pt x="2462" y="7671"/>
                  </a:cubicBezTo>
                  <a:lnTo>
                    <a:pt x="2649" y="15637"/>
                  </a:lnTo>
                  <a:close/>
                  <a:moveTo>
                    <a:pt x="6265" y="11274"/>
                  </a:moveTo>
                  <a:cubicBezTo>
                    <a:pt x="7335" y="7383"/>
                    <a:pt x="8366" y="4144"/>
                    <a:pt x="10612" y="3897"/>
                  </a:cubicBezTo>
                  <a:cubicBezTo>
                    <a:pt x="12876" y="3648"/>
                    <a:pt x="14062" y="6687"/>
                    <a:pt x="15336" y="10361"/>
                  </a:cubicBezTo>
                  <a:cubicBezTo>
                    <a:pt x="14269" y="14240"/>
                    <a:pt x="13242" y="17500"/>
                    <a:pt x="11001" y="17746"/>
                  </a:cubicBezTo>
                  <a:cubicBezTo>
                    <a:pt x="8738" y="17995"/>
                    <a:pt x="7539" y="14948"/>
                    <a:pt x="6265" y="11274"/>
                  </a:cubicBezTo>
                  <a:close/>
                  <a:moveTo>
                    <a:pt x="8019" y="13315"/>
                  </a:moveTo>
                  <a:cubicBezTo>
                    <a:pt x="8416" y="14295"/>
                    <a:pt x="8827" y="15128"/>
                    <a:pt x="9287" y="15750"/>
                  </a:cubicBezTo>
                  <a:lnTo>
                    <a:pt x="9038" y="6172"/>
                  </a:lnTo>
                  <a:cubicBezTo>
                    <a:pt x="8613" y="6892"/>
                    <a:pt x="8251" y="7817"/>
                    <a:pt x="7906" y="8878"/>
                  </a:cubicBezTo>
                  <a:lnTo>
                    <a:pt x="8019" y="13315"/>
                  </a:lnTo>
                  <a:close/>
                  <a:moveTo>
                    <a:pt x="10389" y="16077"/>
                  </a:moveTo>
                  <a:cubicBezTo>
                    <a:pt x="10611" y="16140"/>
                    <a:pt x="10842" y="16161"/>
                    <a:pt x="11095" y="16128"/>
                  </a:cubicBezTo>
                  <a:cubicBezTo>
                    <a:pt x="11223" y="16112"/>
                    <a:pt x="11344" y="16080"/>
                    <a:pt x="11463" y="16041"/>
                  </a:cubicBezTo>
                  <a:lnTo>
                    <a:pt x="11227" y="5045"/>
                  </a:lnTo>
                  <a:cubicBezTo>
                    <a:pt x="11108" y="5036"/>
                    <a:pt x="10985" y="5039"/>
                    <a:pt x="10857" y="5056"/>
                  </a:cubicBezTo>
                  <a:cubicBezTo>
                    <a:pt x="10605" y="5088"/>
                    <a:pt x="10374" y="5166"/>
                    <a:pt x="10157" y="5285"/>
                  </a:cubicBezTo>
                  <a:lnTo>
                    <a:pt x="10389" y="16077"/>
                  </a:lnTo>
                  <a:close/>
                  <a:moveTo>
                    <a:pt x="12594" y="15655"/>
                  </a:moveTo>
                  <a:cubicBezTo>
                    <a:pt x="12999" y="15123"/>
                    <a:pt x="13343" y="14414"/>
                    <a:pt x="13661" y="13573"/>
                  </a:cubicBezTo>
                  <a:lnTo>
                    <a:pt x="13528" y="7680"/>
                  </a:lnTo>
                  <a:cubicBezTo>
                    <a:pt x="13173" y="6920"/>
                    <a:pt x="12798" y="6300"/>
                    <a:pt x="12371" y="5869"/>
                  </a:cubicBezTo>
                  <a:lnTo>
                    <a:pt x="12594" y="15655"/>
                  </a:lnTo>
                  <a:close/>
                  <a:moveTo>
                    <a:pt x="18081" y="11798"/>
                  </a:moveTo>
                  <a:cubicBezTo>
                    <a:pt x="18416" y="12578"/>
                    <a:pt x="18758" y="13235"/>
                    <a:pt x="19139" y="13718"/>
                  </a:cubicBezTo>
                  <a:lnTo>
                    <a:pt x="18884" y="6051"/>
                  </a:lnTo>
                  <a:cubicBezTo>
                    <a:pt x="18541" y="6694"/>
                    <a:pt x="18245" y="7495"/>
                    <a:pt x="17967" y="8411"/>
                  </a:cubicBezTo>
                  <a:lnTo>
                    <a:pt x="18081" y="11798"/>
                  </a:lnTo>
                  <a:close/>
                  <a:moveTo>
                    <a:pt x="20486" y="14708"/>
                  </a:moveTo>
                  <a:cubicBezTo>
                    <a:pt x="20804" y="14878"/>
                    <a:pt x="21150" y="14947"/>
                    <a:pt x="21538" y="14889"/>
                  </a:cubicBezTo>
                  <a:lnTo>
                    <a:pt x="21229" y="4150"/>
                  </a:lnTo>
                  <a:cubicBezTo>
                    <a:pt x="20842" y="4223"/>
                    <a:pt x="20502" y="4409"/>
                    <a:pt x="20197" y="4684"/>
                  </a:cubicBezTo>
                  <a:cubicBezTo>
                    <a:pt x="20197" y="4684"/>
                    <a:pt x="20486" y="14708"/>
                    <a:pt x="20486" y="147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2" name="Shape 34189">
              <a:extLst>
                <a:ext uri="{FF2B5EF4-FFF2-40B4-BE49-F238E27FC236}">
                  <a16:creationId xmlns:a16="http://schemas.microsoft.com/office/drawing/2014/main" id="{5949C4E4-0034-4793-B722-E118F56CE1EB}"/>
                </a:ext>
              </a:extLst>
            </p:cNvPr>
            <p:cNvSpPr/>
            <p:nvPr/>
          </p:nvSpPr>
          <p:spPr>
            <a:xfrm>
              <a:off x="12966315" y="3935732"/>
              <a:ext cx="606684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3" name="Shape 34190">
              <a:extLst>
                <a:ext uri="{FF2B5EF4-FFF2-40B4-BE49-F238E27FC236}">
                  <a16:creationId xmlns:a16="http://schemas.microsoft.com/office/drawing/2014/main" id="{FD9E14DF-FF37-4D75-8894-9782E6DCA385}"/>
                </a:ext>
              </a:extLst>
            </p:cNvPr>
            <p:cNvSpPr/>
            <p:nvPr/>
          </p:nvSpPr>
          <p:spPr>
            <a:xfrm>
              <a:off x="8736613" y="4207504"/>
              <a:ext cx="967678" cy="820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5" h="21218" extrusionOk="0">
                  <a:moveTo>
                    <a:pt x="17160" y="16531"/>
                  </a:moveTo>
                  <a:lnTo>
                    <a:pt x="3281" y="10266"/>
                  </a:lnTo>
                  <a:lnTo>
                    <a:pt x="6158" y="1453"/>
                  </a:lnTo>
                  <a:lnTo>
                    <a:pt x="20037" y="7718"/>
                  </a:lnTo>
                  <a:cubicBezTo>
                    <a:pt x="20037" y="7718"/>
                    <a:pt x="17160" y="16531"/>
                    <a:pt x="17160" y="16531"/>
                  </a:cubicBezTo>
                  <a:close/>
                  <a:moveTo>
                    <a:pt x="20480" y="6363"/>
                  </a:moveTo>
                  <a:lnTo>
                    <a:pt x="6600" y="98"/>
                  </a:lnTo>
                  <a:cubicBezTo>
                    <a:pt x="5961" y="-191"/>
                    <a:pt x="5246" y="183"/>
                    <a:pt x="5001" y="931"/>
                  </a:cubicBezTo>
                  <a:cubicBezTo>
                    <a:pt x="5001" y="931"/>
                    <a:pt x="1682" y="11100"/>
                    <a:pt x="1694" y="11105"/>
                  </a:cubicBezTo>
                  <a:lnTo>
                    <a:pt x="17862" y="18403"/>
                  </a:lnTo>
                  <a:cubicBezTo>
                    <a:pt x="17874" y="18409"/>
                    <a:pt x="21194" y="8240"/>
                    <a:pt x="21194" y="8240"/>
                  </a:cubicBezTo>
                  <a:cubicBezTo>
                    <a:pt x="21438" y="7492"/>
                    <a:pt x="21118" y="6651"/>
                    <a:pt x="20480" y="6363"/>
                  </a:cubicBezTo>
                  <a:close/>
                  <a:moveTo>
                    <a:pt x="16989" y="21121"/>
                  </a:moveTo>
                  <a:lnTo>
                    <a:pt x="797" y="13812"/>
                  </a:lnTo>
                  <a:cubicBezTo>
                    <a:pt x="157" y="13523"/>
                    <a:pt x="-162" y="12683"/>
                    <a:pt x="83" y="11934"/>
                  </a:cubicBezTo>
                  <a:lnTo>
                    <a:pt x="304" y="11256"/>
                  </a:lnTo>
                  <a:lnTo>
                    <a:pt x="7822" y="14649"/>
                  </a:lnTo>
                  <a:lnTo>
                    <a:pt x="7600" y="15327"/>
                  </a:lnTo>
                  <a:lnTo>
                    <a:pt x="11070" y="16893"/>
                  </a:lnTo>
                  <a:lnTo>
                    <a:pt x="11291" y="16216"/>
                  </a:lnTo>
                  <a:lnTo>
                    <a:pt x="18810" y="19609"/>
                  </a:lnTo>
                  <a:lnTo>
                    <a:pt x="18588" y="20287"/>
                  </a:lnTo>
                  <a:cubicBezTo>
                    <a:pt x="18344" y="21036"/>
                    <a:pt x="17627" y="21409"/>
                    <a:pt x="16989" y="21121"/>
                  </a:cubicBezTo>
                  <a:cubicBezTo>
                    <a:pt x="16989" y="21121"/>
                    <a:pt x="16989" y="21121"/>
                    <a:pt x="16989" y="211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4" name="Shape 34191">
              <a:extLst>
                <a:ext uri="{FF2B5EF4-FFF2-40B4-BE49-F238E27FC236}">
                  <a16:creationId xmlns:a16="http://schemas.microsoft.com/office/drawing/2014/main" id="{F4942482-7233-443A-AAB6-CA040D8409AD}"/>
                </a:ext>
              </a:extLst>
            </p:cNvPr>
            <p:cNvSpPr/>
            <p:nvPr/>
          </p:nvSpPr>
          <p:spPr>
            <a:xfrm>
              <a:off x="12884222" y="7775447"/>
              <a:ext cx="606686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5" name="Shape 34192">
              <a:extLst>
                <a:ext uri="{FF2B5EF4-FFF2-40B4-BE49-F238E27FC236}">
                  <a16:creationId xmlns:a16="http://schemas.microsoft.com/office/drawing/2014/main" id="{07714D24-2224-4987-B8A2-EC92E8A8742E}"/>
                </a:ext>
              </a:extLst>
            </p:cNvPr>
            <p:cNvSpPr/>
            <p:nvPr/>
          </p:nvSpPr>
          <p:spPr>
            <a:xfrm>
              <a:off x="9950402" y="3061775"/>
              <a:ext cx="885232" cy="1041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6" name="Shape 34193">
              <a:extLst>
                <a:ext uri="{FF2B5EF4-FFF2-40B4-BE49-F238E27FC236}">
                  <a16:creationId xmlns:a16="http://schemas.microsoft.com/office/drawing/2014/main" id="{DDF36766-BCCB-459F-B724-146EF781845E}"/>
                </a:ext>
              </a:extLst>
            </p:cNvPr>
            <p:cNvSpPr/>
            <p:nvPr/>
          </p:nvSpPr>
          <p:spPr>
            <a:xfrm>
              <a:off x="11615551" y="3334957"/>
              <a:ext cx="818520" cy="818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3" h="20113" extrusionOk="0">
                  <a:moveTo>
                    <a:pt x="8483" y="125"/>
                  </a:moveTo>
                  <a:cubicBezTo>
                    <a:pt x="2996" y="994"/>
                    <a:pt x="-744" y="6142"/>
                    <a:pt x="125" y="11629"/>
                  </a:cubicBezTo>
                  <a:cubicBezTo>
                    <a:pt x="994" y="17116"/>
                    <a:pt x="6142" y="20856"/>
                    <a:pt x="11629" y="19987"/>
                  </a:cubicBezTo>
                  <a:cubicBezTo>
                    <a:pt x="17116" y="19118"/>
                    <a:pt x="20856" y="13970"/>
                    <a:pt x="19987" y="8483"/>
                  </a:cubicBezTo>
                  <a:cubicBezTo>
                    <a:pt x="19118" y="2996"/>
                    <a:pt x="13970" y="-744"/>
                    <a:pt x="8483" y="125"/>
                  </a:cubicBezTo>
                  <a:close/>
                  <a:moveTo>
                    <a:pt x="8760" y="1873"/>
                  </a:moveTo>
                  <a:cubicBezTo>
                    <a:pt x="8956" y="1842"/>
                    <a:pt x="9163" y="1878"/>
                    <a:pt x="9336" y="2004"/>
                  </a:cubicBezTo>
                  <a:cubicBezTo>
                    <a:pt x="9681" y="2255"/>
                    <a:pt x="9758" y="2741"/>
                    <a:pt x="9507" y="3087"/>
                  </a:cubicBezTo>
                  <a:cubicBezTo>
                    <a:pt x="9256" y="3432"/>
                    <a:pt x="8770" y="3509"/>
                    <a:pt x="8424" y="3258"/>
                  </a:cubicBezTo>
                  <a:cubicBezTo>
                    <a:pt x="8079" y="3007"/>
                    <a:pt x="8002" y="2521"/>
                    <a:pt x="8253" y="2175"/>
                  </a:cubicBezTo>
                  <a:cubicBezTo>
                    <a:pt x="8378" y="2002"/>
                    <a:pt x="8564" y="1904"/>
                    <a:pt x="8760" y="1873"/>
                  </a:cubicBezTo>
                  <a:close/>
                  <a:moveTo>
                    <a:pt x="9098" y="4008"/>
                  </a:moveTo>
                  <a:cubicBezTo>
                    <a:pt x="9327" y="3971"/>
                    <a:pt x="9546" y="4130"/>
                    <a:pt x="9582" y="4359"/>
                  </a:cubicBezTo>
                  <a:lnTo>
                    <a:pt x="10314" y="8984"/>
                  </a:lnTo>
                  <a:cubicBezTo>
                    <a:pt x="10465" y="9019"/>
                    <a:pt x="10626" y="8992"/>
                    <a:pt x="10759" y="9088"/>
                  </a:cubicBezTo>
                  <a:cubicBezTo>
                    <a:pt x="10893" y="9186"/>
                    <a:pt x="10931" y="9343"/>
                    <a:pt x="11011" y="9477"/>
                  </a:cubicBezTo>
                  <a:lnTo>
                    <a:pt x="14460" y="8930"/>
                  </a:lnTo>
                  <a:cubicBezTo>
                    <a:pt x="14689" y="8894"/>
                    <a:pt x="14908" y="9053"/>
                    <a:pt x="14944" y="9282"/>
                  </a:cubicBezTo>
                  <a:cubicBezTo>
                    <a:pt x="14980" y="9511"/>
                    <a:pt x="14822" y="9729"/>
                    <a:pt x="14593" y="9766"/>
                  </a:cubicBezTo>
                  <a:lnTo>
                    <a:pt x="11143" y="10312"/>
                  </a:lnTo>
                  <a:cubicBezTo>
                    <a:pt x="11108" y="10464"/>
                    <a:pt x="11121" y="10625"/>
                    <a:pt x="11024" y="10759"/>
                  </a:cubicBezTo>
                  <a:cubicBezTo>
                    <a:pt x="10636" y="11292"/>
                    <a:pt x="9886" y="11411"/>
                    <a:pt x="9353" y="11024"/>
                  </a:cubicBezTo>
                  <a:cubicBezTo>
                    <a:pt x="8820" y="10636"/>
                    <a:pt x="8701" y="9886"/>
                    <a:pt x="9088" y="9353"/>
                  </a:cubicBezTo>
                  <a:cubicBezTo>
                    <a:pt x="9188" y="9215"/>
                    <a:pt x="9357" y="9195"/>
                    <a:pt x="9495" y="9114"/>
                  </a:cubicBezTo>
                  <a:lnTo>
                    <a:pt x="8762" y="4489"/>
                  </a:lnTo>
                  <a:cubicBezTo>
                    <a:pt x="8726" y="4260"/>
                    <a:pt x="8869" y="4044"/>
                    <a:pt x="9098" y="4008"/>
                  </a:cubicBezTo>
                  <a:close/>
                  <a:moveTo>
                    <a:pt x="2495" y="10476"/>
                  </a:moveTo>
                  <a:cubicBezTo>
                    <a:pt x="2691" y="10446"/>
                    <a:pt x="2898" y="10482"/>
                    <a:pt x="3071" y="10607"/>
                  </a:cubicBezTo>
                  <a:cubicBezTo>
                    <a:pt x="3417" y="10859"/>
                    <a:pt x="3494" y="11345"/>
                    <a:pt x="3243" y="11690"/>
                  </a:cubicBezTo>
                  <a:cubicBezTo>
                    <a:pt x="2992" y="12035"/>
                    <a:pt x="2505" y="12113"/>
                    <a:pt x="2160" y="11862"/>
                  </a:cubicBezTo>
                  <a:cubicBezTo>
                    <a:pt x="1814" y="11610"/>
                    <a:pt x="1737" y="11124"/>
                    <a:pt x="1988" y="10779"/>
                  </a:cubicBezTo>
                  <a:cubicBezTo>
                    <a:pt x="2114" y="10606"/>
                    <a:pt x="2300" y="10507"/>
                    <a:pt x="2495" y="10476"/>
                  </a:cubicBezTo>
                  <a:close/>
                  <a:moveTo>
                    <a:pt x="17392" y="8117"/>
                  </a:moveTo>
                  <a:cubicBezTo>
                    <a:pt x="17587" y="8086"/>
                    <a:pt x="17779" y="8125"/>
                    <a:pt x="17952" y="8250"/>
                  </a:cubicBezTo>
                  <a:cubicBezTo>
                    <a:pt x="18298" y="8502"/>
                    <a:pt x="18375" y="8988"/>
                    <a:pt x="18124" y="9333"/>
                  </a:cubicBezTo>
                  <a:cubicBezTo>
                    <a:pt x="17872" y="9678"/>
                    <a:pt x="17402" y="9753"/>
                    <a:pt x="17056" y="9502"/>
                  </a:cubicBezTo>
                  <a:cubicBezTo>
                    <a:pt x="16711" y="9251"/>
                    <a:pt x="16634" y="8765"/>
                    <a:pt x="16885" y="8419"/>
                  </a:cubicBezTo>
                  <a:cubicBezTo>
                    <a:pt x="17010" y="8247"/>
                    <a:pt x="17196" y="8148"/>
                    <a:pt x="17392" y="8117"/>
                  </a:cubicBezTo>
                  <a:close/>
                  <a:moveTo>
                    <a:pt x="11112" y="16723"/>
                  </a:moveTo>
                  <a:cubicBezTo>
                    <a:pt x="11308" y="16692"/>
                    <a:pt x="11515" y="16728"/>
                    <a:pt x="11688" y="16854"/>
                  </a:cubicBezTo>
                  <a:cubicBezTo>
                    <a:pt x="12033" y="17105"/>
                    <a:pt x="12110" y="17591"/>
                    <a:pt x="11859" y="17937"/>
                  </a:cubicBezTo>
                  <a:cubicBezTo>
                    <a:pt x="11608" y="18282"/>
                    <a:pt x="11122" y="18359"/>
                    <a:pt x="10776" y="18108"/>
                  </a:cubicBezTo>
                  <a:cubicBezTo>
                    <a:pt x="10431" y="17857"/>
                    <a:pt x="10354" y="17371"/>
                    <a:pt x="10605" y="17025"/>
                  </a:cubicBezTo>
                  <a:cubicBezTo>
                    <a:pt x="10730" y="16853"/>
                    <a:pt x="10916" y="16754"/>
                    <a:pt x="11112" y="1672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7" name="Shape 34194">
              <a:extLst>
                <a:ext uri="{FF2B5EF4-FFF2-40B4-BE49-F238E27FC236}">
                  <a16:creationId xmlns:a16="http://schemas.microsoft.com/office/drawing/2014/main" id="{C5400AA8-A391-44FC-8823-49C108D41F3D}"/>
                </a:ext>
              </a:extLst>
            </p:cNvPr>
            <p:cNvSpPr/>
            <p:nvPr/>
          </p:nvSpPr>
          <p:spPr>
            <a:xfrm>
              <a:off x="14592598" y="6234099"/>
              <a:ext cx="850388" cy="976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8" name="Shape 34195">
              <a:extLst>
                <a:ext uri="{FF2B5EF4-FFF2-40B4-BE49-F238E27FC236}">
                  <a16:creationId xmlns:a16="http://schemas.microsoft.com/office/drawing/2014/main" id="{89493208-37CF-4438-8A6C-1355E00BDC30}"/>
                </a:ext>
              </a:extLst>
            </p:cNvPr>
            <p:cNvSpPr/>
            <p:nvPr/>
          </p:nvSpPr>
          <p:spPr>
            <a:xfrm>
              <a:off x="13429434" y="7344882"/>
              <a:ext cx="433382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9" name="Shape 34196">
              <a:extLst>
                <a:ext uri="{FF2B5EF4-FFF2-40B4-BE49-F238E27FC236}">
                  <a16:creationId xmlns:a16="http://schemas.microsoft.com/office/drawing/2014/main" id="{ADE7D283-5173-4665-AF59-5196E59E95AE}"/>
                </a:ext>
              </a:extLst>
            </p:cNvPr>
            <p:cNvSpPr/>
            <p:nvPr/>
          </p:nvSpPr>
          <p:spPr>
            <a:xfrm>
              <a:off x="12395982" y="2571694"/>
              <a:ext cx="1203272" cy="672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895"/>
                  </a:moveTo>
                  <a:cubicBezTo>
                    <a:pt x="2602" y="16630"/>
                    <a:pt x="4225" y="13961"/>
                    <a:pt x="5624" y="11197"/>
                  </a:cubicBezTo>
                  <a:cubicBezTo>
                    <a:pt x="6473" y="14530"/>
                    <a:pt x="7574" y="17859"/>
                    <a:pt x="10123" y="18579"/>
                  </a:cubicBezTo>
                  <a:cubicBezTo>
                    <a:pt x="12646" y="19291"/>
                    <a:pt x="14269" y="16784"/>
                    <a:pt x="15641" y="14112"/>
                  </a:cubicBezTo>
                  <a:cubicBezTo>
                    <a:pt x="16494" y="17483"/>
                    <a:pt x="17585" y="20872"/>
                    <a:pt x="20164" y="21600"/>
                  </a:cubicBezTo>
                  <a:lnTo>
                    <a:pt x="20353" y="19555"/>
                  </a:lnTo>
                  <a:cubicBezTo>
                    <a:pt x="18170" y="18939"/>
                    <a:pt x="17341" y="15971"/>
                    <a:pt x="16486" y="12469"/>
                  </a:cubicBezTo>
                  <a:cubicBezTo>
                    <a:pt x="17922" y="9562"/>
                    <a:pt x="19218" y="7126"/>
                    <a:pt x="21427" y="7750"/>
                  </a:cubicBezTo>
                  <a:lnTo>
                    <a:pt x="21600" y="5701"/>
                  </a:lnTo>
                  <a:cubicBezTo>
                    <a:pt x="18998" y="4966"/>
                    <a:pt x="17363" y="7639"/>
                    <a:pt x="15964" y="10403"/>
                  </a:cubicBezTo>
                  <a:cubicBezTo>
                    <a:pt x="15115" y="7072"/>
                    <a:pt x="14006" y="3768"/>
                    <a:pt x="11458" y="3048"/>
                  </a:cubicBezTo>
                  <a:cubicBezTo>
                    <a:pt x="8930" y="2335"/>
                    <a:pt x="7330" y="4841"/>
                    <a:pt x="5956" y="7519"/>
                  </a:cubicBezTo>
                  <a:cubicBezTo>
                    <a:pt x="5103" y="4143"/>
                    <a:pt x="4006" y="730"/>
                    <a:pt x="1424" y="0"/>
                  </a:cubicBezTo>
                  <a:cubicBezTo>
                    <a:pt x="1424" y="0"/>
                    <a:pt x="1247" y="2048"/>
                    <a:pt x="1247" y="2048"/>
                  </a:cubicBezTo>
                  <a:cubicBezTo>
                    <a:pt x="3436" y="2666"/>
                    <a:pt x="4253" y="5647"/>
                    <a:pt x="5111" y="9162"/>
                  </a:cubicBezTo>
                  <a:cubicBezTo>
                    <a:pt x="3678" y="12062"/>
                    <a:pt x="2378" y="14476"/>
                    <a:pt x="172" y="13853"/>
                  </a:cubicBezTo>
                  <a:lnTo>
                    <a:pt x="0" y="15895"/>
                  </a:lnTo>
                  <a:close/>
                  <a:moveTo>
                    <a:pt x="491" y="12600"/>
                  </a:moveTo>
                  <a:cubicBezTo>
                    <a:pt x="875" y="12701"/>
                    <a:pt x="1223" y="12685"/>
                    <a:pt x="1549" y="12580"/>
                  </a:cubicBezTo>
                  <a:cubicBezTo>
                    <a:pt x="1549" y="12580"/>
                    <a:pt x="2321" y="3967"/>
                    <a:pt x="2321" y="3967"/>
                  </a:cubicBezTo>
                  <a:cubicBezTo>
                    <a:pt x="2030" y="3690"/>
                    <a:pt x="1699" y="3489"/>
                    <a:pt x="1315" y="3377"/>
                  </a:cubicBezTo>
                  <a:lnTo>
                    <a:pt x="491" y="12600"/>
                  </a:lnTo>
                  <a:close/>
                  <a:moveTo>
                    <a:pt x="2634" y="11814"/>
                  </a:moveTo>
                  <a:cubicBezTo>
                    <a:pt x="3034" y="11431"/>
                    <a:pt x="3403" y="10892"/>
                    <a:pt x="3769" y="10250"/>
                  </a:cubicBezTo>
                  <a:lnTo>
                    <a:pt x="4033" y="7350"/>
                  </a:lnTo>
                  <a:cubicBezTo>
                    <a:pt x="3797" y="6543"/>
                    <a:pt x="3542" y="5828"/>
                    <a:pt x="3229" y="5249"/>
                  </a:cubicBezTo>
                  <a:lnTo>
                    <a:pt x="2634" y="11814"/>
                  </a:lnTo>
                  <a:close/>
                  <a:moveTo>
                    <a:pt x="6469" y="9554"/>
                  </a:moveTo>
                  <a:cubicBezTo>
                    <a:pt x="7855" y="6764"/>
                    <a:pt x="9142" y="4492"/>
                    <a:pt x="11285" y="5097"/>
                  </a:cubicBezTo>
                  <a:cubicBezTo>
                    <a:pt x="13446" y="5708"/>
                    <a:pt x="14271" y="8612"/>
                    <a:pt x="15117" y="12067"/>
                  </a:cubicBezTo>
                  <a:cubicBezTo>
                    <a:pt x="13735" y="14848"/>
                    <a:pt x="12450" y="17138"/>
                    <a:pt x="10312" y="16534"/>
                  </a:cubicBezTo>
                  <a:cubicBezTo>
                    <a:pt x="8151" y="15924"/>
                    <a:pt x="7315" y="13008"/>
                    <a:pt x="6469" y="9554"/>
                  </a:cubicBezTo>
                  <a:close/>
                  <a:moveTo>
                    <a:pt x="7926" y="11848"/>
                  </a:moveTo>
                  <a:cubicBezTo>
                    <a:pt x="8206" y="12791"/>
                    <a:pt x="8514" y="13618"/>
                    <a:pt x="8887" y="14290"/>
                  </a:cubicBezTo>
                  <a:lnTo>
                    <a:pt x="9579" y="6388"/>
                  </a:lnTo>
                  <a:cubicBezTo>
                    <a:pt x="9109" y="6822"/>
                    <a:pt x="8677" y="7447"/>
                    <a:pt x="8249" y="8189"/>
                  </a:cubicBezTo>
                  <a:lnTo>
                    <a:pt x="7926" y="11848"/>
                  </a:lnTo>
                  <a:close/>
                  <a:moveTo>
                    <a:pt x="9896" y="14953"/>
                  </a:moveTo>
                  <a:cubicBezTo>
                    <a:pt x="10099" y="15084"/>
                    <a:pt x="10315" y="15184"/>
                    <a:pt x="10557" y="15248"/>
                  </a:cubicBezTo>
                  <a:cubicBezTo>
                    <a:pt x="10679" y="15281"/>
                    <a:pt x="10797" y="15298"/>
                    <a:pt x="10912" y="15309"/>
                  </a:cubicBezTo>
                  <a:lnTo>
                    <a:pt x="11755" y="6255"/>
                  </a:lnTo>
                  <a:cubicBezTo>
                    <a:pt x="11643" y="6205"/>
                    <a:pt x="11527" y="6163"/>
                    <a:pt x="11404" y="6131"/>
                  </a:cubicBezTo>
                  <a:cubicBezTo>
                    <a:pt x="11163" y="6066"/>
                    <a:pt x="10938" y="6048"/>
                    <a:pt x="10721" y="6066"/>
                  </a:cubicBezTo>
                  <a:lnTo>
                    <a:pt x="9896" y="14953"/>
                  </a:lnTo>
                  <a:close/>
                  <a:moveTo>
                    <a:pt x="12018" y="15401"/>
                  </a:moveTo>
                  <a:cubicBezTo>
                    <a:pt x="12451" y="15112"/>
                    <a:pt x="12844" y="14657"/>
                    <a:pt x="13226" y="14085"/>
                  </a:cubicBezTo>
                  <a:lnTo>
                    <a:pt x="13671" y="9231"/>
                  </a:lnTo>
                  <a:cubicBezTo>
                    <a:pt x="13409" y="8483"/>
                    <a:pt x="13115" y="7842"/>
                    <a:pt x="12755" y="7338"/>
                  </a:cubicBezTo>
                  <a:lnTo>
                    <a:pt x="12018" y="15401"/>
                  </a:lnTo>
                  <a:close/>
                  <a:moveTo>
                    <a:pt x="17569" y="14225"/>
                  </a:moveTo>
                  <a:cubicBezTo>
                    <a:pt x="17809" y="14981"/>
                    <a:pt x="18068" y="15640"/>
                    <a:pt x="18381" y="16171"/>
                  </a:cubicBezTo>
                  <a:lnTo>
                    <a:pt x="18883" y="9826"/>
                  </a:lnTo>
                  <a:cubicBezTo>
                    <a:pt x="18496" y="10227"/>
                    <a:pt x="18140" y="10774"/>
                    <a:pt x="17789" y="11421"/>
                  </a:cubicBezTo>
                  <a:lnTo>
                    <a:pt x="17569" y="14225"/>
                  </a:lnTo>
                  <a:close/>
                  <a:moveTo>
                    <a:pt x="19556" y="17463"/>
                  </a:moveTo>
                  <a:cubicBezTo>
                    <a:pt x="19840" y="17716"/>
                    <a:pt x="20160" y="17896"/>
                    <a:pt x="20532" y="17987"/>
                  </a:cubicBezTo>
                  <a:lnTo>
                    <a:pt x="21280" y="9117"/>
                  </a:lnTo>
                  <a:cubicBezTo>
                    <a:pt x="20907" y="9037"/>
                    <a:pt x="20569" y="9067"/>
                    <a:pt x="20254" y="9182"/>
                  </a:cubicBezTo>
                  <a:cubicBezTo>
                    <a:pt x="20254" y="9182"/>
                    <a:pt x="19556" y="17463"/>
                    <a:pt x="19556" y="174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0" name="Shape 34197">
              <a:extLst>
                <a:ext uri="{FF2B5EF4-FFF2-40B4-BE49-F238E27FC236}">
                  <a16:creationId xmlns:a16="http://schemas.microsoft.com/office/drawing/2014/main" id="{23CCC0A9-B271-4803-AC68-EABB90218338}"/>
                </a:ext>
              </a:extLst>
            </p:cNvPr>
            <p:cNvSpPr/>
            <p:nvPr/>
          </p:nvSpPr>
          <p:spPr>
            <a:xfrm>
              <a:off x="13886540" y="2993820"/>
              <a:ext cx="578410" cy="610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2" h="21285" extrusionOk="0">
                  <a:moveTo>
                    <a:pt x="7646" y="529"/>
                  </a:moveTo>
                  <a:cubicBezTo>
                    <a:pt x="7990" y="7"/>
                    <a:pt x="8716" y="-158"/>
                    <a:pt x="9266" y="168"/>
                  </a:cubicBezTo>
                  <a:lnTo>
                    <a:pt x="20724" y="6954"/>
                  </a:lnTo>
                  <a:cubicBezTo>
                    <a:pt x="21274" y="7280"/>
                    <a:pt x="21435" y="7971"/>
                    <a:pt x="21091" y="8493"/>
                  </a:cubicBezTo>
                  <a:lnTo>
                    <a:pt x="13003" y="20763"/>
                  </a:lnTo>
                  <a:cubicBezTo>
                    <a:pt x="12659" y="21284"/>
                    <a:pt x="11938" y="21442"/>
                    <a:pt x="11388" y="21116"/>
                  </a:cubicBezTo>
                  <a:lnTo>
                    <a:pt x="8398" y="19345"/>
                  </a:lnTo>
                  <a:lnTo>
                    <a:pt x="10574" y="16044"/>
                  </a:lnTo>
                  <a:cubicBezTo>
                    <a:pt x="10918" y="15523"/>
                    <a:pt x="10752" y="14839"/>
                    <a:pt x="10202" y="14513"/>
                  </a:cubicBezTo>
                  <a:lnTo>
                    <a:pt x="8206" y="13331"/>
                  </a:lnTo>
                  <a:cubicBezTo>
                    <a:pt x="7656" y="13006"/>
                    <a:pt x="6935" y="13163"/>
                    <a:pt x="6591" y="13685"/>
                  </a:cubicBezTo>
                  <a:lnTo>
                    <a:pt x="4415" y="16986"/>
                  </a:lnTo>
                  <a:lnTo>
                    <a:pt x="1926" y="15512"/>
                  </a:lnTo>
                  <a:cubicBezTo>
                    <a:pt x="1376" y="15186"/>
                    <a:pt x="1202" y="14498"/>
                    <a:pt x="1545" y="13976"/>
                  </a:cubicBezTo>
                  <a:lnTo>
                    <a:pt x="552" y="13387"/>
                  </a:lnTo>
                  <a:cubicBezTo>
                    <a:pt x="2" y="13062"/>
                    <a:pt x="-165" y="12378"/>
                    <a:pt x="179" y="11857"/>
                  </a:cubicBezTo>
                  <a:lnTo>
                    <a:pt x="7646" y="529"/>
                  </a:lnTo>
                  <a:close/>
                  <a:moveTo>
                    <a:pt x="8332" y="1585"/>
                  </a:moveTo>
                  <a:lnTo>
                    <a:pt x="1799" y="11496"/>
                  </a:lnTo>
                  <a:cubicBezTo>
                    <a:pt x="1799" y="11496"/>
                    <a:pt x="1170" y="12444"/>
                    <a:pt x="2166" y="13034"/>
                  </a:cubicBezTo>
                  <a:lnTo>
                    <a:pt x="9326" y="2173"/>
                  </a:lnTo>
                  <a:cubicBezTo>
                    <a:pt x="9498" y="1913"/>
                    <a:pt x="9416" y="1577"/>
                    <a:pt x="9141" y="1414"/>
                  </a:cubicBezTo>
                  <a:cubicBezTo>
                    <a:pt x="8866" y="1251"/>
                    <a:pt x="8504" y="1324"/>
                    <a:pt x="8332" y="1585"/>
                  </a:cubicBezTo>
                  <a:close/>
                  <a:moveTo>
                    <a:pt x="6784" y="14449"/>
                  </a:moveTo>
                  <a:cubicBezTo>
                    <a:pt x="7128" y="13927"/>
                    <a:pt x="7849" y="13769"/>
                    <a:pt x="8399" y="14095"/>
                  </a:cubicBezTo>
                  <a:lnTo>
                    <a:pt x="9393" y="14684"/>
                  </a:lnTo>
                  <a:cubicBezTo>
                    <a:pt x="9943" y="15010"/>
                    <a:pt x="10109" y="15693"/>
                    <a:pt x="9766" y="16215"/>
                  </a:cubicBezTo>
                  <a:lnTo>
                    <a:pt x="7897" y="19049"/>
                  </a:lnTo>
                  <a:cubicBezTo>
                    <a:pt x="7554" y="19570"/>
                    <a:pt x="6827" y="19735"/>
                    <a:pt x="6277" y="19410"/>
                  </a:cubicBezTo>
                  <a:lnTo>
                    <a:pt x="5284" y="18821"/>
                  </a:lnTo>
                  <a:cubicBezTo>
                    <a:pt x="4733" y="18495"/>
                    <a:pt x="4572" y="17804"/>
                    <a:pt x="4916" y="17283"/>
                  </a:cubicBezTo>
                  <a:lnTo>
                    <a:pt x="6784" y="14449"/>
                  </a:lnTo>
                  <a:close/>
                  <a:moveTo>
                    <a:pt x="7465" y="15512"/>
                  </a:moveTo>
                  <a:cubicBezTo>
                    <a:pt x="7293" y="15773"/>
                    <a:pt x="7369" y="16116"/>
                    <a:pt x="7645" y="16279"/>
                  </a:cubicBezTo>
                  <a:cubicBezTo>
                    <a:pt x="7920" y="16442"/>
                    <a:pt x="8287" y="16362"/>
                    <a:pt x="8459" y="16101"/>
                  </a:cubicBezTo>
                  <a:cubicBezTo>
                    <a:pt x="8630" y="15840"/>
                    <a:pt x="8546" y="15492"/>
                    <a:pt x="8271" y="15329"/>
                  </a:cubicBezTo>
                  <a:cubicBezTo>
                    <a:pt x="7995" y="15166"/>
                    <a:pt x="7637" y="15251"/>
                    <a:pt x="7465" y="155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1" name="Shape 34198">
              <a:extLst>
                <a:ext uri="{FF2B5EF4-FFF2-40B4-BE49-F238E27FC236}">
                  <a16:creationId xmlns:a16="http://schemas.microsoft.com/office/drawing/2014/main" id="{9C7DEE4C-4587-42CB-AB87-BB05A9F7F655}"/>
                </a:ext>
              </a:extLst>
            </p:cNvPr>
            <p:cNvSpPr/>
            <p:nvPr/>
          </p:nvSpPr>
          <p:spPr>
            <a:xfrm>
              <a:off x="10894630" y="2650276"/>
              <a:ext cx="621486" cy="960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353" extrusionOk="0">
                  <a:moveTo>
                    <a:pt x="15021" y="3564"/>
                  </a:moveTo>
                  <a:lnTo>
                    <a:pt x="1858" y="5543"/>
                  </a:lnTo>
                  <a:lnTo>
                    <a:pt x="6199" y="17788"/>
                  </a:lnTo>
                  <a:lnTo>
                    <a:pt x="19362" y="15809"/>
                  </a:lnTo>
                  <a:cubicBezTo>
                    <a:pt x="19362" y="15809"/>
                    <a:pt x="15021" y="3564"/>
                    <a:pt x="15021" y="3564"/>
                  </a:cubicBezTo>
                  <a:close/>
                  <a:moveTo>
                    <a:pt x="10139" y="2364"/>
                  </a:moveTo>
                  <a:lnTo>
                    <a:pt x="5438" y="3070"/>
                  </a:lnTo>
                  <a:cubicBezTo>
                    <a:pt x="5178" y="3109"/>
                    <a:pt x="5016" y="3278"/>
                    <a:pt x="5076" y="3447"/>
                  </a:cubicBezTo>
                  <a:cubicBezTo>
                    <a:pt x="5136" y="3616"/>
                    <a:pt x="5395" y="3722"/>
                    <a:pt x="5655" y="3683"/>
                  </a:cubicBezTo>
                  <a:lnTo>
                    <a:pt x="10356" y="2976"/>
                  </a:lnTo>
                  <a:cubicBezTo>
                    <a:pt x="10615" y="2937"/>
                    <a:pt x="10777" y="2768"/>
                    <a:pt x="10717" y="2599"/>
                  </a:cubicBezTo>
                  <a:cubicBezTo>
                    <a:pt x="10657" y="2430"/>
                    <a:pt x="10398" y="2325"/>
                    <a:pt x="10139" y="2364"/>
                  </a:cubicBezTo>
                  <a:close/>
                  <a:moveTo>
                    <a:pt x="14119" y="19177"/>
                  </a:moveTo>
                  <a:cubicBezTo>
                    <a:pt x="14897" y="19060"/>
                    <a:pt x="15383" y="18554"/>
                    <a:pt x="15204" y="18046"/>
                  </a:cubicBezTo>
                  <a:cubicBezTo>
                    <a:pt x="15024" y="17539"/>
                    <a:pt x="14246" y="17223"/>
                    <a:pt x="13468" y="17340"/>
                  </a:cubicBezTo>
                  <a:cubicBezTo>
                    <a:pt x="12689" y="17457"/>
                    <a:pt x="12203" y="17963"/>
                    <a:pt x="12383" y="18470"/>
                  </a:cubicBezTo>
                  <a:cubicBezTo>
                    <a:pt x="12563" y="18978"/>
                    <a:pt x="13340" y="19294"/>
                    <a:pt x="14119" y="19177"/>
                  </a:cubicBezTo>
                  <a:close/>
                  <a:moveTo>
                    <a:pt x="19724" y="19624"/>
                  </a:moveTo>
                  <a:lnTo>
                    <a:pt x="8442" y="21320"/>
                  </a:lnTo>
                  <a:cubicBezTo>
                    <a:pt x="7403" y="21476"/>
                    <a:pt x="6367" y="21054"/>
                    <a:pt x="6127" y="20378"/>
                  </a:cubicBezTo>
                  <a:lnTo>
                    <a:pt x="50" y="3235"/>
                  </a:lnTo>
                  <a:cubicBezTo>
                    <a:pt x="-190" y="2559"/>
                    <a:pt x="458" y="1884"/>
                    <a:pt x="1496" y="1728"/>
                  </a:cubicBezTo>
                  <a:lnTo>
                    <a:pt x="12778" y="32"/>
                  </a:lnTo>
                  <a:cubicBezTo>
                    <a:pt x="13817" y="-124"/>
                    <a:pt x="14853" y="298"/>
                    <a:pt x="15093" y="974"/>
                  </a:cubicBezTo>
                  <a:lnTo>
                    <a:pt x="21170" y="18117"/>
                  </a:lnTo>
                  <a:cubicBezTo>
                    <a:pt x="21410" y="18793"/>
                    <a:pt x="20762" y="19468"/>
                    <a:pt x="19724" y="1962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2" name="Shape 34199">
              <a:extLst>
                <a:ext uri="{FF2B5EF4-FFF2-40B4-BE49-F238E27FC236}">
                  <a16:creationId xmlns:a16="http://schemas.microsoft.com/office/drawing/2014/main" id="{9A6BA983-5334-41C3-8D36-D4793119FC43}"/>
                </a:ext>
              </a:extLst>
            </p:cNvPr>
            <p:cNvSpPr/>
            <p:nvPr/>
          </p:nvSpPr>
          <p:spPr>
            <a:xfrm>
              <a:off x="11662409" y="2578131"/>
              <a:ext cx="539930" cy="68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37"/>
                  </a:moveTo>
                  <a:lnTo>
                    <a:pt x="1844" y="21600"/>
                  </a:lnTo>
                  <a:lnTo>
                    <a:pt x="21600" y="20512"/>
                  </a:lnTo>
                  <a:lnTo>
                    <a:pt x="20076" y="3352"/>
                  </a:lnTo>
                  <a:lnTo>
                    <a:pt x="15202" y="0"/>
                  </a:lnTo>
                  <a:lnTo>
                    <a:pt x="0" y="837"/>
                  </a:lnTo>
                  <a:close/>
                  <a:moveTo>
                    <a:pt x="6705" y="5273"/>
                  </a:moveTo>
                  <a:lnTo>
                    <a:pt x="13900" y="4876"/>
                  </a:lnTo>
                  <a:lnTo>
                    <a:pt x="13951" y="5450"/>
                  </a:lnTo>
                  <a:lnTo>
                    <a:pt x="6756" y="5846"/>
                  </a:lnTo>
                  <a:lnTo>
                    <a:pt x="6705" y="5273"/>
                  </a:lnTo>
                  <a:close/>
                  <a:moveTo>
                    <a:pt x="3609" y="11120"/>
                  </a:moveTo>
                  <a:lnTo>
                    <a:pt x="18000" y="10328"/>
                  </a:lnTo>
                  <a:lnTo>
                    <a:pt x="18049" y="10884"/>
                  </a:lnTo>
                  <a:lnTo>
                    <a:pt x="3658" y="11677"/>
                  </a:lnTo>
                  <a:lnTo>
                    <a:pt x="3609" y="11120"/>
                  </a:lnTo>
                  <a:close/>
                  <a:moveTo>
                    <a:pt x="3859" y="13936"/>
                  </a:moveTo>
                  <a:lnTo>
                    <a:pt x="18250" y="13144"/>
                  </a:lnTo>
                  <a:lnTo>
                    <a:pt x="18301" y="13717"/>
                  </a:lnTo>
                  <a:lnTo>
                    <a:pt x="3910" y="14509"/>
                  </a:lnTo>
                  <a:lnTo>
                    <a:pt x="3859" y="13936"/>
                  </a:lnTo>
                  <a:close/>
                  <a:moveTo>
                    <a:pt x="4109" y="16753"/>
                  </a:moveTo>
                  <a:lnTo>
                    <a:pt x="11305" y="16357"/>
                  </a:lnTo>
                  <a:lnTo>
                    <a:pt x="11356" y="16930"/>
                  </a:lnTo>
                  <a:lnTo>
                    <a:pt x="4160" y="17326"/>
                  </a:lnTo>
                  <a:lnTo>
                    <a:pt x="4109" y="16753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3" name="Shape 34200">
              <a:extLst>
                <a:ext uri="{FF2B5EF4-FFF2-40B4-BE49-F238E27FC236}">
                  <a16:creationId xmlns:a16="http://schemas.microsoft.com/office/drawing/2014/main" id="{443ECE95-13D9-4034-8245-4A83768A0116}"/>
                </a:ext>
              </a:extLst>
            </p:cNvPr>
            <p:cNvSpPr/>
            <p:nvPr/>
          </p:nvSpPr>
          <p:spPr>
            <a:xfrm>
              <a:off x="12531620" y="6289836"/>
              <a:ext cx="641868" cy="650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extrusionOk="0">
                  <a:moveTo>
                    <a:pt x="0" y="8656"/>
                  </a:moveTo>
                  <a:lnTo>
                    <a:pt x="3891" y="13472"/>
                  </a:lnTo>
                  <a:cubicBezTo>
                    <a:pt x="3891" y="13472"/>
                    <a:pt x="5113" y="13644"/>
                    <a:pt x="5432" y="12623"/>
                  </a:cubicBezTo>
                  <a:cubicBezTo>
                    <a:pt x="5784" y="11492"/>
                    <a:pt x="7687" y="9934"/>
                    <a:pt x="9148" y="11824"/>
                  </a:cubicBezTo>
                  <a:cubicBezTo>
                    <a:pt x="10609" y="13713"/>
                    <a:pt x="9118" y="15051"/>
                    <a:pt x="7911" y="15308"/>
                  </a:cubicBezTo>
                  <a:cubicBezTo>
                    <a:pt x="6818" y="15541"/>
                    <a:pt x="6446" y="16635"/>
                    <a:pt x="6446" y="16635"/>
                  </a:cubicBezTo>
                  <a:lnTo>
                    <a:pt x="10458" y="21600"/>
                  </a:lnTo>
                  <a:lnTo>
                    <a:pt x="14739" y="18125"/>
                  </a:lnTo>
                  <a:cubicBezTo>
                    <a:pt x="14739" y="18125"/>
                    <a:pt x="14656" y="17235"/>
                    <a:pt x="13766" y="16921"/>
                  </a:cubicBezTo>
                  <a:cubicBezTo>
                    <a:pt x="12685" y="16541"/>
                    <a:pt x="11239" y="14858"/>
                    <a:pt x="13261" y="13217"/>
                  </a:cubicBezTo>
                  <a:cubicBezTo>
                    <a:pt x="15282" y="11577"/>
                    <a:pt x="16620" y="13268"/>
                    <a:pt x="16756" y="14619"/>
                  </a:cubicBezTo>
                  <a:cubicBezTo>
                    <a:pt x="16858" y="15631"/>
                    <a:pt x="17668" y="15748"/>
                    <a:pt x="17668" y="15748"/>
                  </a:cubicBezTo>
                  <a:lnTo>
                    <a:pt x="21273" y="12822"/>
                  </a:lnTo>
                  <a:cubicBezTo>
                    <a:pt x="21273" y="12822"/>
                    <a:pt x="18291" y="9357"/>
                    <a:pt x="17693" y="8295"/>
                  </a:cubicBezTo>
                  <a:cubicBezTo>
                    <a:pt x="17052" y="7158"/>
                    <a:pt x="18759" y="6911"/>
                    <a:pt x="19060" y="6845"/>
                  </a:cubicBezTo>
                  <a:cubicBezTo>
                    <a:pt x="20796" y="6467"/>
                    <a:pt x="21600" y="4760"/>
                    <a:pt x="20175" y="2996"/>
                  </a:cubicBezTo>
                  <a:cubicBezTo>
                    <a:pt x="18749" y="1232"/>
                    <a:pt x="16519" y="2306"/>
                    <a:pt x="16165" y="3733"/>
                  </a:cubicBezTo>
                  <a:cubicBezTo>
                    <a:pt x="15902" y="4793"/>
                    <a:pt x="15415" y="5326"/>
                    <a:pt x="14915" y="4919"/>
                  </a:cubicBezTo>
                  <a:cubicBezTo>
                    <a:pt x="13746" y="3966"/>
                    <a:pt x="10665" y="0"/>
                    <a:pt x="10665" y="0"/>
                  </a:cubicBezTo>
                  <a:lnTo>
                    <a:pt x="7285" y="2743"/>
                  </a:lnTo>
                  <a:cubicBezTo>
                    <a:pt x="7285" y="2743"/>
                    <a:pt x="7256" y="4048"/>
                    <a:pt x="8291" y="4295"/>
                  </a:cubicBezTo>
                  <a:cubicBezTo>
                    <a:pt x="9849" y="4668"/>
                    <a:pt x="10626" y="6514"/>
                    <a:pt x="9021" y="7816"/>
                  </a:cubicBezTo>
                  <a:cubicBezTo>
                    <a:pt x="7417" y="9118"/>
                    <a:pt x="5847" y="8156"/>
                    <a:pt x="5733" y="6515"/>
                  </a:cubicBezTo>
                  <a:cubicBezTo>
                    <a:pt x="5669" y="5595"/>
                    <a:pt x="4421" y="5079"/>
                    <a:pt x="4421" y="5079"/>
                  </a:cubicBezTo>
                  <a:cubicBezTo>
                    <a:pt x="4421" y="5079"/>
                    <a:pt x="0" y="8656"/>
                    <a:pt x="0" y="86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4" name="Shape 34201">
              <a:extLst>
                <a:ext uri="{FF2B5EF4-FFF2-40B4-BE49-F238E27FC236}">
                  <a16:creationId xmlns:a16="http://schemas.microsoft.com/office/drawing/2014/main" id="{FF4B6CEF-AE43-490A-BE31-6AF6D492B235}"/>
                </a:ext>
              </a:extLst>
            </p:cNvPr>
            <p:cNvSpPr/>
            <p:nvPr/>
          </p:nvSpPr>
          <p:spPr>
            <a:xfrm>
              <a:off x="11981887" y="4201963"/>
              <a:ext cx="441404" cy="383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5" name="Shape 34202">
              <a:extLst>
                <a:ext uri="{FF2B5EF4-FFF2-40B4-BE49-F238E27FC236}">
                  <a16:creationId xmlns:a16="http://schemas.microsoft.com/office/drawing/2014/main" id="{0A6FDF2A-C25B-4F2A-B306-406E04B24058}"/>
                </a:ext>
              </a:extLst>
            </p:cNvPr>
            <p:cNvSpPr/>
            <p:nvPr/>
          </p:nvSpPr>
          <p:spPr>
            <a:xfrm>
              <a:off x="11678186" y="10413681"/>
              <a:ext cx="681752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5429"/>
                  </a:moveTo>
                  <a:lnTo>
                    <a:pt x="2700" y="15429"/>
                  </a:lnTo>
                  <a:lnTo>
                    <a:pt x="2700" y="2057"/>
                  </a:lnTo>
                  <a:lnTo>
                    <a:pt x="18900" y="2057"/>
                  </a:lnTo>
                  <a:cubicBezTo>
                    <a:pt x="18900" y="2057"/>
                    <a:pt x="18900" y="15429"/>
                    <a:pt x="18900" y="15429"/>
                  </a:cubicBezTo>
                  <a:close/>
                  <a:moveTo>
                    <a:pt x="18900" y="0"/>
                  </a:moveTo>
                  <a:lnTo>
                    <a:pt x="2700" y="0"/>
                  </a:lnTo>
                  <a:cubicBezTo>
                    <a:pt x="1954" y="0"/>
                    <a:pt x="1350" y="922"/>
                    <a:pt x="1350" y="2057"/>
                  </a:cubicBezTo>
                  <a:cubicBezTo>
                    <a:pt x="1350" y="2057"/>
                    <a:pt x="1350" y="17486"/>
                    <a:pt x="1364" y="17486"/>
                  </a:cubicBezTo>
                  <a:lnTo>
                    <a:pt x="20235" y="17486"/>
                  </a:lnTo>
                  <a:cubicBezTo>
                    <a:pt x="20250" y="17486"/>
                    <a:pt x="20250" y="2057"/>
                    <a:pt x="20250" y="2057"/>
                  </a:cubicBezTo>
                  <a:cubicBezTo>
                    <a:pt x="20250" y="922"/>
                    <a:pt x="19646" y="0"/>
                    <a:pt x="18900" y="0"/>
                  </a:cubicBezTo>
                  <a:close/>
                  <a:moveTo>
                    <a:pt x="20250" y="21600"/>
                  </a:moveTo>
                  <a:lnTo>
                    <a:pt x="1350" y="21600"/>
                  </a:lnTo>
                  <a:cubicBezTo>
                    <a:pt x="604" y="21600"/>
                    <a:pt x="0" y="20679"/>
                    <a:pt x="0" y="19543"/>
                  </a:cubicBezTo>
                  <a:lnTo>
                    <a:pt x="0" y="18514"/>
                  </a:lnTo>
                  <a:lnTo>
                    <a:pt x="8775" y="18514"/>
                  </a:lnTo>
                  <a:lnTo>
                    <a:pt x="8775" y="19543"/>
                  </a:lnTo>
                  <a:lnTo>
                    <a:pt x="12825" y="19543"/>
                  </a:lnTo>
                  <a:lnTo>
                    <a:pt x="12825" y="18514"/>
                  </a:lnTo>
                  <a:lnTo>
                    <a:pt x="21600" y="18514"/>
                  </a:lnTo>
                  <a:lnTo>
                    <a:pt x="21600" y="19543"/>
                  </a:lnTo>
                  <a:cubicBezTo>
                    <a:pt x="21600" y="20679"/>
                    <a:pt x="20995" y="21600"/>
                    <a:pt x="20250" y="21600"/>
                  </a:cubicBezTo>
                  <a:cubicBezTo>
                    <a:pt x="20250" y="21600"/>
                    <a:pt x="20250" y="21600"/>
                    <a:pt x="2025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6" name="Shape 34203">
              <a:extLst>
                <a:ext uri="{FF2B5EF4-FFF2-40B4-BE49-F238E27FC236}">
                  <a16:creationId xmlns:a16="http://schemas.microsoft.com/office/drawing/2014/main" id="{431603F6-8459-4931-A432-DD60F1AF30A1}"/>
                </a:ext>
              </a:extLst>
            </p:cNvPr>
            <p:cNvSpPr/>
            <p:nvPr/>
          </p:nvSpPr>
          <p:spPr>
            <a:xfrm>
              <a:off x="13517964" y="3878275"/>
              <a:ext cx="745620" cy="528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7" name="Shape 34204">
              <a:extLst>
                <a:ext uri="{FF2B5EF4-FFF2-40B4-BE49-F238E27FC236}">
                  <a16:creationId xmlns:a16="http://schemas.microsoft.com/office/drawing/2014/main" id="{9665CD0A-DDE4-46A5-B551-E7F148138D88}"/>
                </a:ext>
              </a:extLst>
            </p:cNvPr>
            <p:cNvSpPr/>
            <p:nvPr/>
          </p:nvSpPr>
          <p:spPr>
            <a:xfrm>
              <a:off x="10622816" y="11265327"/>
              <a:ext cx="446006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57" h="18957" extrusionOk="0">
                  <a:moveTo>
                    <a:pt x="5474" y="890"/>
                  </a:moveTo>
                  <a:cubicBezTo>
                    <a:pt x="729" y="3103"/>
                    <a:pt x="-1322" y="8738"/>
                    <a:pt x="890" y="13482"/>
                  </a:cubicBezTo>
                  <a:cubicBezTo>
                    <a:pt x="3103" y="18227"/>
                    <a:pt x="8738" y="20278"/>
                    <a:pt x="13482" y="18066"/>
                  </a:cubicBezTo>
                  <a:cubicBezTo>
                    <a:pt x="18227" y="15853"/>
                    <a:pt x="20278" y="10218"/>
                    <a:pt x="18066" y="5474"/>
                  </a:cubicBezTo>
                  <a:cubicBezTo>
                    <a:pt x="15853" y="729"/>
                    <a:pt x="10218" y="-1322"/>
                    <a:pt x="5474" y="890"/>
                  </a:cubicBezTo>
                  <a:close/>
                  <a:moveTo>
                    <a:pt x="6178" y="2402"/>
                  </a:moveTo>
                  <a:cubicBezTo>
                    <a:pt x="6348" y="2323"/>
                    <a:pt x="6545" y="2302"/>
                    <a:pt x="6734" y="2371"/>
                  </a:cubicBezTo>
                  <a:cubicBezTo>
                    <a:pt x="7112" y="2509"/>
                    <a:pt x="7308" y="2929"/>
                    <a:pt x="7170" y="3307"/>
                  </a:cubicBezTo>
                  <a:cubicBezTo>
                    <a:pt x="7033" y="3685"/>
                    <a:pt x="6612" y="3882"/>
                    <a:pt x="6234" y="3744"/>
                  </a:cubicBezTo>
                  <a:cubicBezTo>
                    <a:pt x="5856" y="3606"/>
                    <a:pt x="5660" y="3186"/>
                    <a:pt x="5798" y="2808"/>
                  </a:cubicBezTo>
                  <a:cubicBezTo>
                    <a:pt x="5866" y="2618"/>
                    <a:pt x="6009" y="2481"/>
                    <a:pt x="6178" y="2402"/>
                  </a:cubicBezTo>
                  <a:close/>
                  <a:moveTo>
                    <a:pt x="7039" y="4248"/>
                  </a:moveTo>
                  <a:cubicBezTo>
                    <a:pt x="7237" y="4156"/>
                    <a:pt x="7476" y="4242"/>
                    <a:pt x="7569" y="4441"/>
                  </a:cubicBezTo>
                  <a:lnTo>
                    <a:pt x="9434" y="8440"/>
                  </a:lnTo>
                  <a:cubicBezTo>
                    <a:pt x="9580" y="8433"/>
                    <a:pt x="9718" y="8366"/>
                    <a:pt x="9863" y="8419"/>
                  </a:cubicBezTo>
                  <a:cubicBezTo>
                    <a:pt x="10010" y="8472"/>
                    <a:pt x="10085" y="8605"/>
                    <a:pt x="10192" y="8705"/>
                  </a:cubicBezTo>
                  <a:lnTo>
                    <a:pt x="13175" y="7314"/>
                  </a:lnTo>
                  <a:cubicBezTo>
                    <a:pt x="13373" y="7222"/>
                    <a:pt x="13612" y="7309"/>
                    <a:pt x="13705" y="7507"/>
                  </a:cubicBezTo>
                  <a:cubicBezTo>
                    <a:pt x="13797" y="7705"/>
                    <a:pt x="13710" y="7944"/>
                    <a:pt x="13512" y="8037"/>
                  </a:cubicBezTo>
                  <a:lnTo>
                    <a:pt x="10529" y="9427"/>
                  </a:lnTo>
                  <a:cubicBezTo>
                    <a:pt x="10537" y="9574"/>
                    <a:pt x="10591" y="9717"/>
                    <a:pt x="10537" y="9863"/>
                  </a:cubicBezTo>
                  <a:cubicBezTo>
                    <a:pt x="10325" y="10447"/>
                    <a:pt x="9676" y="10750"/>
                    <a:pt x="9092" y="10537"/>
                  </a:cubicBezTo>
                  <a:cubicBezTo>
                    <a:pt x="8509" y="10325"/>
                    <a:pt x="8206" y="9676"/>
                    <a:pt x="8419" y="9092"/>
                  </a:cubicBezTo>
                  <a:cubicBezTo>
                    <a:pt x="8474" y="8942"/>
                    <a:pt x="8621" y="8880"/>
                    <a:pt x="8725" y="8771"/>
                  </a:cubicBezTo>
                  <a:lnTo>
                    <a:pt x="6860" y="4771"/>
                  </a:lnTo>
                  <a:cubicBezTo>
                    <a:pt x="6767" y="4573"/>
                    <a:pt x="6841" y="4340"/>
                    <a:pt x="7039" y="4248"/>
                  </a:cubicBezTo>
                  <a:close/>
                  <a:moveTo>
                    <a:pt x="2738" y="11823"/>
                  </a:moveTo>
                  <a:cubicBezTo>
                    <a:pt x="2908" y="11744"/>
                    <a:pt x="3105" y="11723"/>
                    <a:pt x="3294" y="11792"/>
                  </a:cubicBezTo>
                  <a:cubicBezTo>
                    <a:pt x="3672" y="11930"/>
                    <a:pt x="3868" y="12350"/>
                    <a:pt x="3730" y="12728"/>
                  </a:cubicBezTo>
                  <a:cubicBezTo>
                    <a:pt x="3593" y="13106"/>
                    <a:pt x="3172" y="13302"/>
                    <a:pt x="2794" y="13165"/>
                  </a:cubicBezTo>
                  <a:cubicBezTo>
                    <a:pt x="2416" y="13027"/>
                    <a:pt x="2220" y="12607"/>
                    <a:pt x="2358" y="12228"/>
                  </a:cubicBezTo>
                  <a:cubicBezTo>
                    <a:pt x="2426" y="12039"/>
                    <a:pt x="2569" y="11902"/>
                    <a:pt x="2738" y="11823"/>
                  </a:cubicBezTo>
                  <a:close/>
                  <a:moveTo>
                    <a:pt x="15620" y="5816"/>
                  </a:moveTo>
                  <a:cubicBezTo>
                    <a:pt x="15789" y="5737"/>
                    <a:pt x="15973" y="5722"/>
                    <a:pt x="16162" y="5791"/>
                  </a:cubicBezTo>
                  <a:cubicBezTo>
                    <a:pt x="16540" y="5929"/>
                    <a:pt x="16736" y="6349"/>
                    <a:pt x="16598" y="6728"/>
                  </a:cubicBezTo>
                  <a:cubicBezTo>
                    <a:pt x="16461" y="7106"/>
                    <a:pt x="16054" y="7296"/>
                    <a:pt x="15675" y="7158"/>
                  </a:cubicBezTo>
                  <a:cubicBezTo>
                    <a:pt x="15297" y="7020"/>
                    <a:pt x="15101" y="6600"/>
                    <a:pt x="15239" y="6222"/>
                  </a:cubicBezTo>
                  <a:cubicBezTo>
                    <a:pt x="15308" y="6033"/>
                    <a:pt x="15451" y="5895"/>
                    <a:pt x="15620" y="5816"/>
                  </a:cubicBezTo>
                  <a:close/>
                  <a:moveTo>
                    <a:pt x="12166" y="15243"/>
                  </a:moveTo>
                  <a:cubicBezTo>
                    <a:pt x="12335" y="15164"/>
                    <a:pt x="12533" y="15143"/>
                    <a:pt x="12722" y="15212"/>
                  </a:cubicBezTo>
                  <a:cubicBezTo>
                    <a:pt x="13100" y="15350"/>
                    <a:pt x="13296" y="15770"/>
                    <a:pt x="13158" y="16148"/>
                  </a:cubicBezTo>
                  <a:cubicBezTo>
                    <a:pt x="13021" y="16526"/>
                    <a:pt x="12600" y="16723"/>
                    <a:pt x="12222" y="16585"/>
                  </a:cubicBezTo>
                  <a:cubicBezTo>
                    <a:pt x="11844" y="16447"/>
                    <a:pt x="11648" y="16027"/>
                    <a:pt x="11785" y="15649"/>
                  </a:cubicBezTo>
                  <a:cubicBezTo>
                    <a:pt x="11854" y="15460"/>
                    <a:pt x="11997" y="15322"/>
                    <a:pt x="12166" y="152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8" name="Shape 34205">
              <a:extLst>
                <a:ext uri="{FF2B5EF4-FFF2-40B4-BE49-F238E27FC236}">
                  <a16:creationId xmlns:a16="http://schemas.microsoft.com/office/drawing/2014/main" id="{CC09C2DA-6F17-41BE-9A24-0BF1A400F0D4}"/>
                </a:ext>
              </a:extLst>
            </p:cNvPr>
            <p:cNvSpPr/>
            <p:nvPr/>
          </p:nvSpPr>
          <p:spPr>
            <a:xfrm>
              <a:off x="11074336" y="12293991"/>
              <a:ext cx="529370" cy="550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369" extrusionOk="0">
                  <a:moveTo>
                    <a:pt x="9892" y="341"/>
                  </a:moveTo>
                  <a:cubicBezTo>
                    <a:pt x="10333" y="-98"/>
                    <a:pt x="11063" y="-117"/>
                    <a:pt x="11519" y="307"/>
                  </a:cubicBezTo>
                  <a:lnTo>
                    <a:pt x="21020" y="9136"/>
                  </a:lnTo>
                  <a:cubicBezTo>
                    <a:pt x="21476" y="9561"/>
                    <a:pt x="21482" y="10263"/>
                    <a:pt x="21042" y="10702"/>
                  </a:cubicBezTo>
                  <a:lnTo>
                    <a:pt x="10676" y="21032"/>
                  </a:lnTo>
                  <a:cubicBezTo>
                    <a:pt x="10236" y="21471"/>
                    <a:pt x="9512" y="21483"/>
                    <a:pt x="9056" y="21059"/>
                  </a:cubicBezTo>
                  <a:lnTo>
                    <a:pt x="6577" y="18755"/>
                  </a:lnTo>
                  <a:lnTo>
                    <a:pt x="9366" y="15976"/>
                  </a:lnTo>
                  <a:cubicBezTo>
                    <a:pt x="9806" y="15537"/>
                    <a:pt x="9793" y="14841"/>
                    <a:pt x="9337" y="14417"/>
                  </a:cubicBezTo>
                  <a:lnTo>
                    <a:pt x="7682" y="12879"/>
                  </a:lnTo>
                  <a:cubicBezTo>
                    <a:pt x="7226" y="12455"/>
                    <a:pt x="6503" y="12467"/>
                    <a:pt x="6062" y="12906"/>
                  </a:cubicBezTo>
                  <a:lnTo>
                    <a:pt x="3274" y="15685"/>
                  </a:lnTo>
                  <a:lnTo>
                    <a:pt x="1210" y="13767"/>
                  </a:lnTo>
                  <a:cubicBezTo>
                    <a:pt x="754" y="13343"/>
                    <a:pt x="734" y="12641"/>
                    <a:pt x="1175" y="12202"/>
                  </a:cubicBezTo>
                  <a:lnTo>
                    <a:pt x="351" y="11436"/>
                  </a:lnTo>
                  <a:cubicBezTo>
                    <a:pt x="-105" y="11012"/>
                    <a:pt x="-118" y="10316"/>
                    <a:pt x="322" y="9877"/>
                  </a:cubicBezTo>
                  <a:lnTo>
                    <a:pt x="9892" y="341"/>
                  </a:lnTo>
                  <a:close/>
                  <a:moveTo>
                    <a:pt x="10322" y="1500"/>
                  </a:moveTo>
                  <a:lnTo>
                    <a:pt x="1949" y="9844"/>
                  </a:lnTo>
                  <a:cubicBezTo>
                    <a:pt x="1949" y="9844"/>
                    <a:pt x="1145" y="10641"/>
                    <a:pt x="1971" y="11409"/>
                  </a:cubicBezTo>
                  <a:lnTo>
                    <a:pt x="11146" y="2266"/>
                  </a:lnTo>
                  <a:cubicBezTo>
                    <a:pt x="11366" y="2046"/>
                    <a:pt x="11360" y="1705"/>
                    <a:pt x="11132" y="1492"/>
                  </a:cubicBezTo>
                  <a:cubicBezTo>
                    <a:pt x="10904" y="1281"/>
                    <a:pt x="10542" y="1280"/>
                    <a:pt x="10322" y="1500"/>
                  </a:cubicBezTo>
                  <a:close/>
                  <a:moveTo>
                    <a:pt x="6083" y="13685"/>
                  </a:moveTo>
                  <a:cubicBezTo>
                    <a:pt x="6523" y="13247"/>
                    <a:pt x="7247" y="13234"/>
                    <a:pt x="7703" y="13658"/>
                  </a:cubicBezTo>
                  <a:lnTo>
                    <a:pt x="8527" y="14424"/>
                  </a:lnTo>
                  <a:cubicBezTo>
                    <a:pt x="8983" y="14848"/>
                    <a:pt x="8996" y="15544"/>
                    <a:pt x="8555" y="15983"/>
                  </a:cubicBezTo>
                  <a:lnTo>
                    <a:pt x="6161" y="18369"/>
                  </a:lnTo>
                  <a:cubicBezTo>
                    <a:pt x="5721" y="18808"/>
                    <a:pt x="4991" y="18826"/>
                    <a:pt x="4535" y="18403"/>
                  </a:cubicBezTo>
                  <a:lnTo>
                    <a:pt x="3711" y="17637"/>
                  </a:lnTo>
                  <a:cubicBezTo>
                    <a:pt x="3254" y="17213"/>
                    <a:pt x="3249" y="16510"/>
                    <a:pt x="3689" y="16071"/>
                  </a:cubicBezTo>
                  <a:lnTo>
                    <a:pt x="6083" y="13685"/>
                  </a:lnTo>
                  <a:close/>
                  <a:moveTo>
                    <a:pt x="6506" y="14851"/>
                  </a:moveTo>
                  <a:cubicBezTo>
                    <a:pt x="6286" y="15071"/>
                    <a:pt x="6285" y="15419"/>
                    <a:pt x="6514" y="15631"/>
                  </a:cubicBezTo>
                  <a:cubicBezTo>
                    <a:pt x="6742" y="15843"/>
                    <a:pt x="7110" y="15837"/>
                    <a:pt x="7330" y="15617"/>
                  </a:cubicBezTo>
                  <a:cubicBezTo>
                    <a:pt x="7550" y="15398"/>
                    <a:pt x="7544" y="15043"/>
                    <a:pt x="7316" y="14831"/>
                  </a:cubicBezTo>
                  <a:cubicBezTo>
                    <a:pt x="7088" y="14619"/>
                    <a:pt x="6726" y="14632"/>
                    <a:pt x="6506" y="148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9" name="Shape 34206">
              <a:extLst>
                <a:ext uri="{FF2B5EF4-FFF2-40B4-BE49-F238E27FC236}">
                  <a16:creationId xmlns:a16="http://schemas.microsoft.com/office/drawing/2014/main" id="{D54A38B7-B7A3-4D26-B18D-D2F9E1DEF86E}"/>
                </a:ext>
              </a:extLst>
            </p:cNvPr>
            <p:cNvSpPr/>
            <p:nvPr/>
          </p:nvSpPr>
          <p:spPr>
            <a:xfrm>
              <a:off x="10836598" y="8678073"/>
              <a:ext cx="776072" cy="459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8" h="21311" extrusionOk="0">
                  <a:moveTo>
                    <a:pt x="3736" y="4687"/>
                  </a:moveTo>
                  <a:lnTo>
                    <a:pt x="4986" y="19624"/>
                  </a:lnTo>
                  <a:lnTo>
                    <a:pt x="17693" y="16625"/>
                  </a:lnTo>
                  <a:lnTo>
                    <a:pt x="16443" y="1688"/>
                  </a:lnTo>
                  <a:cubicBezTo>
                    <a:pt x="16443" y="1688"/>
                    <a:pt x="3736" y="4687"/>
                    <a:pt x="3736" y="4687"/>
                  </a:cubicBezTo>
                  <a:close/>
                  <a:moveTo>
                    <a:pt x="2231" y="9938"/>
                  </a:moveTo>
                  <a:lnTo>
                    <a:pt x="2678" y="15273"/>
                  </a:lnTo>
                  <a:cubicBezTo>
                    <a:pt x="2702" y="15567"/>
                    <a:pt x="2864" y="15772"/>
                    <a:pt x="3040" y="15731"/>
                  </a:cubicBezTo>
                  <a:cubicBezTo>
                    <a:pt x="3215" y="15690"/>
                    <a:pt x="3338" y="15417"/>
                    <a:pt x="3313" y="15123"/>
                  </a:cubicBezTo>
                  <a:lnTo>
                    <a:pt x="2867" y="9788"/>
                  </a:lnTo>
                  <a:cubicBezTo>
                    <a:pt x="2842" y="9494"/>
                    <a:pt x="2680" y="9288"/>
                    <a:pt x="2504" y="9330"/>
                  </a:cubicBezTo>
                  <a:cubicBezTo>
                    <a:pt x="2329" y="9371"/>
                    <a:pt x="2207" y="9644"/>
                    <a:pt x="2231" y="9938"/>
                  </a:cubicBezTo>
                  <a:close/>
                  <a:moveTo>
                    <a:pt x="19564" y="8023"/>
                  </a:moveTo>
                  <a:cubicBezTo>
                    <a:pt x="19490" y="7140"/>
                    <a:pt x="19004" y="6524"/>
                    <a:pt x="18477" y="6648"/>
                  </a:cubicBezTo>
                  <a:cubicBezTo>
                    <a:pt x="17951" y="6772"/>
                    <a:pt x="17584" y="7590"/>
                    <a:pt x="17658" y="8473"/>
                  </a:cubicBezTo>
                  <a:cubicBezTo>
                    <a:pt x="17732" y="9357"/>
                    <a:pt x="18219" y="9973"/>
                    <a:pt x="18745" y="9849"/>
                  </a:cubicBezTo>
                  <a:cubicBezTo>
                    <a:pt x="19272" y="9724"/>
                    <a:pt x="19638" y="8907"/>
                    <a:pt x="19564" y="8023"/>
                  </a:cubicBezTo>
                  <a:close/>
                  <a:moveTo>
                    <a:pt x="20344" y="1856"/>
                  </a:moveTo>
                  <a:lnTo>
                    <a:pt x="21415" y="14658"/>
                  </a:lnTo>
                  <a:cubicBezTo>
                    <a:pt x="21514" y="15837"/>
                    <a:pt x="21025" y="16926"/>
                    <a:pt x="20323" y="17092"/>
                  </a:cubicBezTo>
                  <a:lnTo>
                    <a:pt x="2533" y="21290"/>
                  </a:lnTo>
                  <a:cubicBezTo>
                    <a:pt x="1832" y="21456"/>
                    <a:pt x="1183" y="20635"/>
                    <a:pt x="1084" y="19456"/>
                  </a:cubicBezTo>
                  <a:lnTo>
                    <a:pt x="13" y="6654"/>
                  </a:lnTo>
                  <a:cubicBezTo>
                    <a:pt x="-86" y="5475"/>
                    <a:pt x="403" y="4386"/>
                    <a:pt x="1105" y="4220"/>
                  </a:cubicBezTo>
                  <a:lnTo>
                    <a:pt x="18895" y="22"/>
                  </a:lnTo>
                  <a:cubicBezTo>
                    <a:pt x="19596" y="-144"/>
                    <a:pt x="20245" y="677"/>
                    <a:pt x="20344" y="18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0" name="Shape 34207">
              <a:extLst>
                <a:ext uri="{FF2B5EF4-FFF2-40B4-BE49-F238E27FC236}">
                  <a16:creationId xmlns:a16="http://schemas.microsoft.com/office/drawing/2014/main" id="{900B87C9-6CD9-41B0-A616-57EC0EC0FAB9}"/>
                </a:ext>
              </a:extLst>
            </p:cNvPr>
            <p:cNvSpPr/>
            <p:nvPr/>
          </p:nvSpPr>
          <p:spPr>
            <a:xfrm>
              <a:off x="12300451" y="8958670"/>
              <a:ext cx="694132" cy="637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1" name="Shape 34208">
              <a:extLst>
                <a:ext uri="{FF2B5EF4-FFF2-40B4-BE49-F238E27FC236}">
                  <a16:creationId xmlns:a16="http://schemas.microsoft.com/office/drawing/2014/main" id="{FF9E974C-3C6B-48EE-9765-B1BD62EDEBBB}"/>
                </a:ext>
              </a:extLst>
            </p:cNvPr>
            <p:cNvSpPr/>
            <p:nvPr/>
          </p:nvSpPr>
          <p:spPr>
            <a:xfrm>
              <a:off x="11569660" y="9038623"/>
              <a:ext cx="297614" cy="329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2" name="Shape 34209">
              <a:extLst>
                <a:ext uri="{FF2B5EF4-FFF2-40B4-BE49-F238E27FC236}">
                  <a16:creationId xmlns:a16="http://schemas.microsoft.com/office/drawing/2014/main" id="{195891F6-456F-487D-9A31-3205CFC000A0}"/>
                </a:ext>
              </a:extLst>
            </p:cNvPr>
            <p:cNvSpPr/>
            <p:nvPr/>
          </p:nvSpPr>
          <p:spPr>
            <a:xfrm>
              <a:off x="13028438" y="8411802"/>
              <a:ext cx="415194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3" name="Shape 34210">
              <a:extLst>
                <a:ext uri="{FF2B5EF4-FFF2-40B4-BE49-F238E27FC236}">
                  <a16:creationId xmlns:a16="http://schemas.microsoft.com/office/drawing/2014/main" id="{CFD870BB-6E85-41C6-B8B8-07CBF8452CDC}"/>
                </a:ext>
              </a:extLst>
            </p:cNvPr>
            <p:cNvSpPr/>
            <p:nvPr/>
          </p:nvSpPr>
          <p:spPr>
            <a:xfrm>
              <a:off x="9694005" y="5957329"/>
              <a:ext cx="37726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4" h="21600" extrusionOk="0">
                  <a:moveTo>
                    <a:pt x="0" y="3459"/>
                  </a:moveTo>
                  <a:lnTo>
                    <a:pt x="1422" y="10208"/>
                  </a:lnTo>
                  <a:cubicBezTo>
                    <a:pt x="1422" y="10208"/>
                    <a:pt x="2469" y="10982"/>
                    <a:pt x="3219" y="10113"/>
                  </a:cubicBezTo>
                  <a:cubicBezTo>
                    <a:pt x="4049" y="9149"/>
                    <a:pt x="6494" y="8518"/>
                    <a:pt x="6992" y="11134"/>
                  </a:cubicBezTo>
                  <a:cubicBezTo>
                    <a:pt x="7491" y="13750"/>
                    <a:pt x="5522" y="14362"/>
                    <a:pt x="4296" y="14027"/>
                  </a:cubicBezTo>
                  <a:cubicBezTo>
                    <a:pt x="3187" y="13725"/>
                    <a:pt x="2357" y="14641"/>
                    <a:pt x="2357" y="14641"/>
                  </a:cubicBezTo>
                  <a:lnTo>
                    <a:pt x="3823" y="21600"/>
                  </a:lnTo>
                  <a:lnTo>
                    <a:pt x="9313" y="20212"/>
                  </a:lnTo>
                  <a:cubicBezTo>
                    <a:pt x="9313" y="20212"/>
                    <a:pt x="9635" y="19276"/>
                    <a:pt x="8958" y="18523"/>
                  </a:cubicBezTo>
                  <a:cubicBezTo>
                    <a:pt x="8134" y="17611"/>
                    <a:pt x="7558" y="15210"/>
                    <a:pt x="10150" y="14555"/>
                  </a:cubicBezTo>
                  <a:cubicBezTo>
                    <a:pt x="12743" y="13899"/>
                    <a:pt x="13216" y="16255"/>
                    <a:pt x="12736" y="17679"/>
                  </a:cubicBezTo>
                  <a:cubicBezTo>
                    <a:pt x="12378" y="18747"/>
                    <a:pt x="13070" y="19262"/>
                    <a:pt x="13070" y="19262"/>
                  </a:cubicBezTo>
                  <a:lnTo>
                    <a:pt x="17693" y="18092"/>
                  </a:lnTo>
                  <a:cubicBezTo>
                    <a:pt x="17693" y="18092"/>
                    <a:pt x="16501" y="13146"/>
                    <a:pt x="16426" y="11786"/>
                  </a:cubicBezTo>
                  <a:cubicBezTo>
                    <a:pt x="16346" y="10328"/>
                    <a:pt x="18026" y="10919"/>
                    <a:pt x="18332" y="11000"/>
                  </a:cubicBezTo>
                  <a:cubicBezTo>
                    <a:pt x="20097" y="11473"/>
                    <a:pt x="21600" y="10153"/>
                    <a:pt x="21079" y="7680"/>
                  </a:cubicBezTo>
                  <a:cubicBezTo>
                    <a:pt x="20558" y="5208"/>
                    <a:pt x="18027" y="5192"/>
                    <a:pt x="17063" y="6452"/>
                  </a:cubicBezTo>
                  <a:cubicBezTo>
                    <a:pt x="16347" y="7388"/>
                    <a:pt x="15661" y="7684"/>
                    <a:pt x="15383" y="7029"/>
                  </a:cubicBezTo>
                  <a:cubicBezTo>
                    <a:pt x="14735" y="5498"/>
                    <a:pt x="13677" y="0"/>
                    <a:pt x="13677" y="0"/>
                  </a:cubicBezTo>
                  <a:lnTo>
                    <a:pt x="9343" y="1096"/>
                  </a:lnTo>
                  <a:cubicBezTo>
                    <a:pt x="9343" y="1096"/>
                    <a:pt x="8732" y="2392"/>
                    <a:pt x="9572" y="3149"/>
                  </a:cubicBezTo>
                  <a:cubicBezTo>
                    <a:pt x="10838" y="4289"/>
                    <a:pt x="10727" y="6525"/>
                    <a:pt x="8669" y="7045"/>
                  </a:cubicBezTo>
                  <a:cubicBezTo>
                    <a:pt x="6612" y="7566"/>
                    <a:pt x="5599" y="5828"/>
                    <a:pt x="6228" y="4123"/>
                  </a:cubicBezTo>
                  <a:cubicBezTo>
                    <a:pt x="6581" y="3168"/>
                    <a:pt x="5664" y="2036"/>
                    <a:pt x="5664" y="2036"/>
                  </a:cubicBezTo>
                  <a:cubicBezTo>
                    <a:pt x="5664" y="2036"/>
                    <a:pt x="0" y="3459"/>
                    <a:pt x="0" y="34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4" name="Shape 34211">
              <a:extLst>
                <a:ext uri="{FF2B5EF4-FFF2-40B4-BE49-F238E27FC236}">
                  <a16:creationId xmlns:a16="http://schemas.microsoft.com/office/drawing/2014/main" id="{2D449E41-EBF7-496F-9601-C0F4A60948A8}"/>
                </a:ext>
              </a:extLst>
            </p:cNvPr>
            <p:cNvSpPr/>
            <p:nvPr/>
          </p:nvSpPr>
          <p:spPr>
            <a:xfrm>
              <a:off x="10312910" y="3971892"/>
              <a:ext cx="478390" cy="684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5" name="Shape 34212">
              <a:extLst>
                <a:ext uri="{FF2B5EF4-FFF2-40B4-BE49-F238E27FC236}">
                  <a16:creationId xmlns:a16="http://schemas.microsoft.com/office/drawing/2014/main" id="{813003F3-1906-4BE1-B321-391211951EE5}"/>
                </a:ext>
              </a:extLst>
            </p:cNvPr>
            <p:cNvSpPr/>
            <p:nvPr/>
          </p:nvSpPr>
          <p:spPr>
            <a:xfrm>
              <a:off x="9175496" y="3615262"/>
              <a:ext cx="674788" cy="478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6" name="Shape 34213">
              <a:extLst>
                <a:ext uri="{FF2B5EF4-FFF2-40B4-BE49-F238E27FC236}">
                  <a16:creationId xmlns:a16="http://schemas.microsoft.com/office/drawing/2014/main" id="{705BA8CC-9DB8-4EEE-803C-5584FEF8DA66}"/>
                </a:ext>
              </a:extLst>
            </p:cNvPr>
            <p:cNvSpPr/>
            <p:nvPr/>
          </p:nvSpPr>
          <p:spPr>
            <a:xfrm>
              <a:off x="14822081" y="4439957"/>
              <a:ext cx="756136" cy="659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94" y="3457"/>
                  </a:moveTo>
                  <a:lnTo>
                    <a:pt x="148" y="16086"/>
                  </a:lnTo>
                  <a:lnTo>
                    <a:pt x="0" y="16165"/>
                  </a:lnTo>
                  <a:lnTo>
                    <a:pt x="1008" y="21600"/>
                  </a:lnTo>
                  <a:lnTo>
                    <a:pt x="10415" y="19280"/>
                  </a:lnTo>
                  <a:lnTo>
                    <a:pt x="10816" y="21443"/>
                  </a:lnTo>
                  <a:lnTo>
                    <a:pt x="12402" y="20369"/>
                  </a:lnTo>
                  <a:lnTo>
                    <a:pt x="14220" y="20613"/>
                  </a:lnTo>
                  <a:lnTo>
                    <a:pt x="13819" y="18450"/>
                  </a:lnTo>
                  <a:lnTo>
                    <a:pt x="17113" y="17634"/>
                  </a:lnTo>
                  <a:lnTo>
                    <a:pt x="17471" y="17546"/>
                  </a:lnTo>
                  <a:lnTo>
                    <a:pt x="21600" y="5952"/>
                  </a:lnTo>
                  <a:lnTo>
                    <a:pt x="20486" y="14"/>
                  </a:lnTo>
                  <a:cubicBezTo>
                    <a:pt x="20486" y="14"/>
                    <a:pt x="20484" y="0"/>
                    <a:pt x="20484" y="0"/>
                  </a:cubicBezTo>
                  <a:lnTo>
                    <a:pt x="6294" y="3457"/>
                  </a:lnTo>
                  <a:close/>
                  <a:moveTo>
                    <a:pt x="19860" y="1754"/>
                  </a:moveTo>
                  <a:cubicBezTo>
                    <a:pt x="19941" y="2188"/>
                    <a:pt x="20020" y="2621"/>
                    <a:pt x="20101" y="3055"/>
                  </a:cubicBezTo>
                  <a:cubicBezTo>
                    <a:pt x="20278" y="3996"/>
                    <a:pt x="20448" y="4934"/>
                    <a:pt x="20624" y="5875"/>
                  </a:cubicBezTo>
                  <a:lnTo>
                    <a:pt x="16762" y="16617"/>
                  </a:lnTo>
                  <a:lnTo>
                    <a:pt x="13623" y="17396"/>
                  </a:lnTo>
                  <a:lnTo>
                    <a:pt x="13219" y="15220"/>
                  </a:lnTo>
                  <a:cubicBezTo>
                    <a:pt x="13219" y="15220"/>
                    <a:pt x="9815" y="16049"/>
                    <a:pt x="9815" y="16049"/>
                  </a:cubicBezTo>
                  <a:lnTo>
                    <a:pt x="10222" y="18239"/>
                  </a:lnTo>
                  <a:lnTo>
                    <a:pt x="1723" y="20338"/>
                  </a:lnTo>
                  <a:lnTo>
                    <a:pt x="908" y="15944"/>
                  </a:lnTo>
                  <a:lnTo>
                    <a:pt x="16076" y="12248"/>
                  </a:lnTo>
                  <a:cubicBezTo>
                    <a:pt x="16076" y="12249"/>
                    <a:pt x="18931" y="4332"/>
                    <a:pt x="19860" y="175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7" name="Shape 34214">
              <a:extLst>
                <a:ext uri="{FF2B5EF4-FFF2-40B4-BE49-F238E27FC236}">
                  <a16:creationId xmlns:a16="http://schemas.microsoft.com/office/drawing/2014/main" id="{F73E10A1-09BB-4382-9807-86674549F2EF}"/>
                </a:ext>
              </a:extLst>
            </p:cNvPr>
            <p:cNvSpPr/>
            <p:nvPr/>
          </p:nvSpPr>
          <p:spPr>
            <a:xfrm>
              <a:off x="12406836" y="10620127"/>
              <a:ext cx="516758" cy="572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8" name="Shape 34215">
              <a:extLst>
                <a:ext uri="{FF2B5EF4-FFF2-40B4-BE49-F238E27FC236}">
                  <a16:creationId xmlns:a16="http://schemas.microsoft.com/office/drawing/2014/main" id="{C7403A64-F206-4EFB-AC82-F990191C5DB2}"/>
                </a:ext>
              </a:extLst>
            </p:cNvPr>
            <p:cNvSpPr/>
            <p:nvPr/>
          </p:nvSpPr>
          <p:spPr>
            <a:xfrm>
              <a:off x="15192453" y="5780593"/>
              <a:ext cx="475406" cy="475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9" name="Shape 34216">
              <a:extLst>
                <a:ext uri="{FF2B5EF4-FFF2-40B4-BE49-F238E27FC236}">
                  <a16:creationId xmlns:a16="http://schemas.microsoft.com/office/drawing/2014/main" id="{D88BDF44-FEE4-455C-AAD3-62E2FB068989}"/>
                </a:ext>
              </a:extLst>
            </p:cNvPr>
            <p:cNvSpPr/>
            <p:nvPr/>
          </p:nvSpPr>
          <p:spPr>
            <a:xfrm>
              <a:off x="11916931" y="8191128"/>
              <a:ext cx="79229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0" name="Shape 34217">
              <a:extLst>
                <a:ext uri="{FF2B5EF4-FFF2-40B4-BE49-F238E27FC236}">
                  <a16:creationId xmlns:a16="http://schemas.microsoft.com/office/drawing/2014/main" id="{3DCB4754-CE12-46B7-B86D-0A5938FF2A8F}"/>
                </a:ext>
              </a:extLst>
            </p:cNvPr>
            <p:cNvSpPr/>
            <p:nvPr/>
          </p:nvSpPr>
          <p:spPr>
            <a:xfrm>
              <a:off x="12395335" y="3740451"/>
              <a:ext cx="693544" cy="915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rgbClr val="00B0F0"/>
              </a:solidFill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1" name="Shape 34218">
              <a:extLst>
                <a:ext uri="{FF2B5EF4-FFF2-40B4-BE49-F238E27FC236}">
                  <a16:creationId xmlns:a16="http://schemas.microsoft.com/office/drawing/2014/main" id="{BC37F305-5646-434C-862F-6783D8F478A1}"/>
                </a:ext>
              </a:extLst>
            </p:cNvPr>
            <p:cNvSpPr/>
            <p:nvPr/>
          </p:nvSpPr>
          <p:spPr>
            <a:xfrm>
              <a:off x="11932702" y="12638103"/>
              <a:ext cx="408708" cy="303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837" y="8637"/>
                  </a:lnTo>
                  <a:lnTo>
                    <a:pt x="17837" y="12781"/>
                  </a:lnTo>
                  <a:cubicBezTo>
                    <a:pt x="17837" y="13798"/>
                    <a:pt x="17539" y="14723"/>
                    <a:pt x="17049" y="15392"/>
                  </a:cubicBezTo>
                  <a:cubicBezTo>
                    <a:pt x="16550" y="16075"/>
                    <a:pt x="15855" y="16492"/>
                    <a:pt x="15079" y="16478"/>
                  </a:cubicBezTo>
                  <a:lnTo>
                    <a:pt x="9158" y="16478"/>
                  </a:lnTo>
                  <a:lnTo>
                    <a:pt x="9158" y="17810"/>
                  </a:lnTo>
                  <a:cubicBezTo>
                    <a:pt x="9158" y="18368"/>
                    <a:pt x="9328" y="18874"/>
                    <a:pt x="9602" y="19240"/>
                  </a:cubicBezTo>
                  <a:cubicBezTo>
                    <a:pt x="9876" y="19606"/>
                    <a:pt x="10255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503" y="19832"/>
                    <a:pt x="20882" y="19606"/>
                    <a:pt x="21156" y="19240"/>
                  </a:cubicBezTo>
                  <a:cubicBezTo>
                    <a:pt x="21430" y="18874"/>
                    <a:pt x="21600" y="18368"/>
                    <a:pt x="21600" y="17810"/>
                  </a:cubicBezTo>
                  <a:lnTo>
                    <a:pt x="21600" y="10554"/>
                  </a:lnTo>
                  <a:cubicBezTo>
                    <a:pt x="21600" y="9996"/>
                    <a:pt x="21430" y="9490"/>
                    <a:pt x="21156" y="9125"/>
                  </a:cubicBezTo>
                  <a:cubicBezTo>
                    <a:pt x="20882" y="8759"/>
                    <a:pt x="20503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1501" y="15450"/>
                    <a:pt x="983" y="15141"/>
                    <a:pt x="607" y="14640"/>
                  </a:cubicBezTo>
                  <a:cubicBezTo>
                    <a:pt x="232" y="14139"/>
                    <a:pt x="0" y="13447"/>
                    <a:pt x="0" y="12683"/>
                  </a:cubicBezTo>
                  <a:lnTo>
                    <a:pt x="0" y="2767"/>
                  </a:lnTo>
                  <a:cubicBezTo>
                    <a:pt x="0" y="2003"/>
                    <a:pt x="232" y="1311"/>
                    <a:pt x="607" y="811"/>
                  </a:cubicBezTo>
                  <a:cubicBezTo>
                    <a:pt x="983" y="310"/>
                    <a:pt x="1501" y="0"/>
                    <a:pt x="2074" y="0"/>
                  </a:cubicBezTo>
                  <a:lnTo>
                    <a:pt x="15034" y="0"/>
                  </a:lnTo>
                  <a:cubicBezTo>
                    <a:pt x="15606" y="0"/>
                    <a:pt x="16125" y="310"/>
                    <a:pt x="16500" y="811"/>
                  </a:cubicBezTo>
                  <a:cubicBezTo>
                    <a:pt x="16875" y="1311"/>
                    <a:pt x="17107" y="2003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3441"/>
                    <a:pt x="16886" y="14134"/>
                    <a:pt x="16522" y="14637"/>
                  </a:cubicBezTo>
                  <a:cubicBezTo>
                    <a:pt x="16159" y="15139"/>
                    <a:pt x="15651" y="15450"/>
                    <a:pt x="15079" y="15450"/>
                  </a:cubicBezTo>
                  <a:lnTo>
                    <a:pt x="9158" y="15450"/>
                  </a:lnTo>
                  <a:lnTo>
                    <a:pt x="6912" y="154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2" name="Shape 34219">
              <a:extLst>
                <a:ext uri="{FF2B5EF4-FFF2-40B4-BE49-F238E27FC236}">
                  <a16:creationId xmlns:a16="http://schemas.microsoft.com/office/drawing/2014/main" id="{922F1F8A-EC21-4CFE-94AA-B0C57664A87E}"/>
                </a:ext>
              </a:extLst>
            </p:cNvPr>
            <p:cNvSpPr/>
            <p:nvPr/>
          </p:nvSpPr>
          <p:spPr>
            <a:xfrm>
              <a:off x="11196245" y="10659511"/>
              <a:ext cx="389798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" y="0"/>
                  </a:moveTo>
                  <a:cubicBezTo>
                    <a:pt x="372" y="0"/>
                    <a:pt x="0" y="302"/>
                    <a:pt x="0" y="675"/>
                  </a:cubicBezTo>
                  <a:cubicBezTo>
                    <a:pt x="0" y="1048"/>
                    <a:pt x="372" y="1350"/>
                    <a:pt x="831" y="1350"/>
                  </a:cubicBezTo>
                  <a:lnTo>
                    <a:pt x="20769" y="1350"/>
                  </a:lnTo>
                  <a:cubicBezTo>
                    <a:pt x="21228" y="1350"/>
                    <a:pt x="21600" y="1048"/>
                    <a:pt x="21600" y="675"/>
                  </a:cubicBezTo>
                  <a:cubicBezTo>
                    <a:pt x="21600" y="302"/>
                    <a:pt x="21228" y="0"/>
                    <a:pt x="20769" y="0"/>
                  </a:cubicBezTo>
                  <a:lnTo>
                    <a:pt x="831" y="0"/>
                  </a:lnTo>
                  <a:close/>
                  <a:moveTo>
                    <a:pt x="831" y="2025"/>
                  </a:moveTo>
                  <a:lnTo>
                    <a:pt x="831" y="15525"/>
                  </a:lnTo>
                  <a:cubicBezTo>
                    <a:pt x="831" y="15525"/>
                    <a:pt x="20769" y="15525"/>
                    <a:pt x="20769" y="15525"/>
                  </a:cubicBezTo>
                  <a:lnTo>
                    <a:pt x="20769" y="2025"/>
                  </a:lnTo>
                  <a:lnTo>
                    <a:pt x="831" y="2025"/>
                  </a:lnTo>
                  <a:close/>
                  <a:moveTo>
                    <a:pt x="15785" y="4050"/>
                  </a:moveTo>
                  <a:lnTo>
                    <a:pt x="18277" y="4050"/>
                  </a:lnTo>
                  <a:cubicBezTo>
                    <a:pt x="18277" y="4050"/>
                    <a:pt x="18277" y="13500"/>
                    <a:pt x="18277" y="13500"/>
                  </a:cubicBezTo>
                  <a:lnTo>
                    <a:pt x="15785" y="13500"/>
                  </a:lnTo>
                  <a:lnTo>
                    <a:pt x="15785" y="4050"/>
                  </a:lnTo>
                  <a:close/>
                  <a:moveTo>
                    <a:pt x="7477" y="6750"/>
                  </a:moveTo>
                  <a:lnTo>
                    <a:pt x="9969" y="6750"/>
                  </a:lnTo>
                  <a:cubicBezTo>
                    <a:pt x="9969" y="6750"/>
                    <a:pt x="9969" y="13500"/>
                    <a:pt x="9969" y="13500"/>
                  </a:cubicBezTo>
                  <a:lnTo>
                    <a:pt x="7477" y="13500"/>
                  </a:lnTo>
                  <a:lnTo>
                    <a:pt x="7477" y="6750"/>
                  </a:lnTo>
                  <a:close/>
                  <a:moveTo>
                    <a:pt x="11631" y="8775"/>
                  </a:moveTo>
                  <a:lnTo>
                    <a:pt x="14123" y="8775"/>
                  </a:lnTo>
                  <a:cubicBezTo>
                    <a:pt x="14123" y="8775"/>
                    <a:pt x="14123" y="13500"/>
                    <a:pt x="14123" y="13500"/>
                  </a:cubicBezTo>
                  <a:lnTo>
                    <a:pt x="11631" y="13500"/>
                  </a:lnTo>
                  <a:lnTo>
                    <a:pt x="11631" y="8775"/>
                  </a:lnTo>
                  <a:close/>
                  <a:moveTo>
                    <a:pt x="3323" y="10800"/>
                  </a:moveTo>
                  <a:lnTo>
                    <a:pt x="5815" y="10800"/>
                  </a:lnTo>
                  <a:cubicBezTo>
                    <a:pt x="5815" y="10800"/>
                    <a:pt x="5815" y="13500"/>
                    <a:pt x="5815" y="13500"/>
                  </a:cubicBezTo>
                  <a:lnTo>
                    <a:pt x="3323" y="13500"/>
                  </a:lnTo>
                  <a:lnTo>
                    <a:pt x="3323" y="10800"/>
                  </a:lnTo>
                  <a:close/>
                  <a:moveTo>
                    <a:pt x="3323" y="16200"/>
                  </a:moveTo>
                  <a:lnTo>
                    <a:pt x="1662" y="21600"/>
                  </a:lnTo>
                  <a:lnTo>
                    <a:pt x="3323" y="21600"/>
                  </a:lnTo>
                  <a:lnTo>
                    <a:pt x="4985" y="16200"/>
                  </a:lnTo>
                  <a:cubicBezTo>
                    <a:pt x="4985" y="16200"/>
                    <a:pt x="3323" y="16200"/>
                    <a:pt x="3323" y="16200"/>
                  </a:cubicBezTo>
                  <a:close/>
                  <a:moveTo>
                    <a:pt x="9969" y="16200"/>
                  </a:moveTo>
                  <a:lnTo>
                    <a:pt x="9969" y="21600"/>
                  </a:lnTo>
                  <a:lnTo>
                    <a:pt x="11615" y="21600"/>
                  </a:lnTo>
                  <a:cubicBezTo>
                    <a:pt x="11615" y="21600"/>
                    <a:pt x="11631" y="16200"/>
                    <a:pt x="11631" y="16200"/>
                  </a:cubicBezTo>
                  <a:lnTo>
                    <a:pt x="9969" y="16200"/>
                  </a:lnTo>
                  <a:close/>
                  <a:moveTo>
                    <a:pt x="16615" y="16200"/>
                  </a:moveTo>
                  <a:lnTo>
                    <a:pt x="18277" y="21600"/>
                  </a:lnTo>
                  <a:lnTo>
                    <a:pt x="19938" y="21600"/>
                  </a:lnTo>
                  <a:cubicBezTo>
                    <a:pt x="19938" y="21600"/>
                    <a:pt x="18277" y="16200"/>
                    <a:pt x="18277" y="16200"/>
                  </a:cubicBezTo>
                  <a:lnTo>
                    <a:pt x="16615" y="162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3" name="Shape 34220">
              <a:extLst>
                <a:ext uri="{FF2B5EF4-FFF2-40B4-BE49-F238E27FC236}">
                  <a16:creationId xmlns:a16="http://schemas.microsoft.com/office/drawing/2014/main" id="{C67FEBAC-4FDA-4888-A68E-EE1855533665}"/>
                </a:ext>
              </a:extLst>
            </p:cNvPr>
            <p:cNvSpPr/>
            <p:nvPr/>
          </p:nvSpPr>
          <p:spPr>
            <a:xfrm>
              <a:off x="12966575" y="6806559"/>
              <a:ext cx="589416" cy="778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4" name="Shape 34221">
              <a:extLst>
                <a:ext uri="{FF2B5EF4-FFF2-40B4-BE49-F238E27FC236}">
                  <a16:creationId xmlns:a16="http://schemas.microsoft.com/office/drawing/2014/main" id="{3E7BA551-B06D-4FE4-97F8-7688D8648651}"/>
                </a:ext>
              </a:extLst>
            </p:cNvPr>
            <p:cNvSpPr/>
            <p:nvPr/>
          </p:nvSpPr>
          <p:spPr>
            <a:xfrm>
              <a:off x="11922329" y="9268053"/>
              <a:ext cx="476450" cy="629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5" name="Shape 34222">
              <a:extLst>
                <a:ext uri="{FF2B5EF4-FFF2-40B4-BE49-F238E27FC236}">
                  <a16:creationId xmlns:a16="http://schemas.microsoft.com/office/drawing/2014/main" id="{D6D14C92-6CC7-48B7-A0E5-5801F672CBDF}"/>
                </a:ext>
              </a:extLst>
            </p:cNvPr>
            <p:cNvSpPr/>
            <p:nvPr/>
          </p:nvSpPr>
          <p:spPr>
            <a:xfrm>
              <a:off x="11993787" y="10946019"/>
              <a:ext cx="447534" cy="447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317" extrusionOk="0">
                  <a:moveTo>
                    <a:pt x="7792" y="27"/>
                  </a:moveTo>
                  <a:cubicBezTo>
                    <a:pt x="7372" y="141"/>
                    <a:pt x="7122" y="573"/>
                    <a:pt x="7234" y="993"/>
                  </a:cubicBezTo>
                  <a:lnTo>
                    <a:pt x="7836" y="3244"/>
                  </a:lnTo>
                  <a:cubicBezTo>
                    <a:pt x="8357" y="3022"/>
                    <a:pt x="8864" y="2878"/>
                    <a:pt x="9346" y="2789"/>
                  </a:cubicBezTo>
                  <a:lnTo>
                    <a:pt x="8758" y="585"/>
                  </a:lnTo>
                  <a:cubicBezTo>
                    <a:pt x="8645" y="164"/>
                    <a:pt x="8213" y="-85"/>
                    <a:pt x="7792" y="27"/>
                  </a:cubicBezTo>
                  <a:close/>
                  <a:moveTo>
                    <a:pt x="13442" y="41"/>
                  </a:moveTo>
                  <a:cubicBezTo>
                    <a:pt x="13020" y="-71"/>
                    <a:pt x="12588" y="179"/>
                    <a:pt x="12475" y="600"/>
                  </a:cubicBezTo>
                  <a:lnTo>
                    <a:pt x="11888" y="2784"/>
                  </a:lnTo>
                  <a:cubicBezTo>
                    <a:pt x="12441" y="2878"/>
                    <a:pt x="12949" y="3027"/>
                    <a:pt x="13408" y="3203"/>
                  </a:cubicBezTo>
                  <a:lnTo>
                    <a:pt x="13998" y="1007"/>
                  </a:lnTo>
                  <a:cubicBezTo>
                    <a:pt x="14110" y="585"/>
                    <a:pt x="13862" y="154"/>
                    <a:pt x="13442" y="41"/>
                  </a:cubicBezTo>
                  <a:close/>
                  <a:moveTo>
                    <a:pt x="585" y="12411"/>
                  </a:moveTo>
                  <a:cubicBezTo>
                    <a:pt x="164" y="12524"/>
                    <a:pt x="-86" y="12956"/>
                    <a:pt x="27" y="13377"/>
                  </a:cubicBezTo>
                  <a:cubicBezTo>
                    <a:pt x="139" y="13798"/>
                    <a:pt x="571" y="14047"/>
                    <a:pt x="992" y="13934"/>
                  </a:cubicBezTo>
                  <a:lnTo>
                    <a:pt x="3181" y="13347"/>
                  </a:lnTo>
                  <a:cubicBezTo>
                    <a:pt x="3009" y="12885"/>
                    <a:pt x="2865" y="12376"/>
                    <a:pt x="2775" y="11823"/>
                  </a:cubicBezTo>
                  <a:cubicBezTo>
                    <a:pt x="2775" y="11823"/>
                    <a:pt x="585" y="12411"/>
                    <a:pt x="585" y="12411"/>
                  </a:cubicBezTo>
                  <a:close/>
                  <a:moveTo>
                    <a:pt x="1013" y="7169"/>
                  </a:moveTo>
                  <a:cubicBezTo>
                    <a:pt x="592" y="7056"/>
                    <a:pt x="160" y="7306"/>
                    <a:pt x="47" y="7727"/>
                  </a:cubicBezTo>
                  <a:cubicBezTo>
                    <a:pt x="-66" y="8148"/>
                    <a:pt x="184" y="8580"/>
                    <a:pt x="604" y="8692"/>
                  </a:cubicBezTo>
                  <a:lnTo>
                    <a:pt x="2805" y="9281"/>
                  </a:lnTo>
                  <a:cubicBezTo>
                    <a:pt x="2896" y="8799"/>
                    <a:pt x="3046" y="8293"/>
                    <a:pt x="3273" y="7773"/>
                  </a:cubicBezTo>
                  <a:cubicBezTo>
                    <a:pt x="3273" y="7773"/>
                    <a:pt x="1013" y="7169"/>
                    <a:pt x="1013" y="7169"/>
                  </a:cubicBezTo>
                  <a:close/>
                  <a:moveTo>
                    <a:pt x="2889" y="2841"/>
                  </a:moveTo>
                  <a:cubicBezTo>
                    <a:pt x="2581" y="3148"/>
                    <a:pt x="2580" y="3648"/>
                    <a:pt x="2888" y="3956"/>
                  </a:cubicBezTo>
                  <a:lnTo>
                    <a:pt x="4607" y="5675"/>
                  </a:lnTo>
                  <a:cubicBezTo>
                    <a:pt x="4732" y="5529"/>
                    <a:pt x="5572" y="4695"/>
                    <a:pt x="5727" y="4563"/>
                  </a:cubicBezTo>
                  <a:lnTo>
                    <a:pt x="4004" y="2840"/>
                  </a:lnTo>
                  <a:cubicBezTo>
                    <a:pt x="3696" y="2532"/>
                    <a:pt x="3197" y="2533"/>
                    <a:pt x="2889" y="2841"/>
                  </a:cubicBezTo>
                  <a:close/>
                  <a:moveTo>
                    <a:pt x="15285" y="5439"/>
                  </a:moveTo>
                  <a:cubicBezTo>
                    <a:pt x="13524" y="3930"/>
                    <a:pt x="9472" y="2164"/>
                    <a:pt x="5822" y="5814"/>
                  </a:cubicBezTo>
                  <a:cubicBezTo>
                    <a:pt x="5821" y="5815"/>
                    <a:pt x="5821" y="5815"/>
                    <a:pt x="5821" y="5816"/>
                  </a:cubicBezTo>
                  <a:cubicBezTo>
                    <a:pt x="5820" y="5816"/>
                    <a:pt x="5819" y="5817"/>
                    <a:pt x="5819" y="5817"/>
                  </a:cubicBezTo>
                  <a:cubicBezTo>
                    <a:pt x="5819" y="5818"/>
                    <a:pt x="5818" y="5818"/>
                    <a:pt x="5818" y="5819"/>
                  </a:cubicBezTo>
                  <a:cubicBezTo>
                    <a:pt x="5817" y="5819"/>
                    <a:pt x="5817" y="5820"/>
                    <a:pt x="5816" y="5820"/>
                  </a:cubicBezTo>
                  <a:cubicBezTo>
                    <a:pt x="2166" y="9471"/>
                    <a:pt x="3932" y="13524"/>
                    <a:pt x="5440" y="15285"/>
                  </a:cubicBezTo>
                  <a:cubicBezTo>
                    <a:pt x="6807" y="16868"/>
                    <a:pt x="9202" y="17222"/>
                    <a:pt x="9535" y="17322"/>
                  </a:cubicBezTo>
                  <a:cubicBezTo>
                    <a:pt x="10076" y="17484"/>
                    <a:pt x="12612" y="17632"/>
                    <a:pt x="13467" y="18402"/>
                  </a:cubicBezTo>
                  <a:cubicBezTo>
                    <a:pt x="14644" y="19461"/>
                    <a:pt x="14810" y="19354"/>
                    <a:pt x="15487" y="18942"/>
                  </a:cubicBezTo>
                  <a:cubicBezTo>
                    <a:pt x="16178" y="18522"/>
                    <a:pt x="18522" y="16178"/>
                    <a:pt x="18942" y="15487"/>
                  </a:cubicBezTo>
                  <a:cubicBezTo>
                    <a:pt x="19354" y="14810"/>
                    <a:pt x="19461" y="14644"/>
                    <a:pt x="18401" y="13467"/>
                  </a:cubicBezTo>
                  <a:cubicBezTo>
                    <a:pt x="17632" y="12612"/>
                    <a:pt x="17484" y="10075"/>
                    <a:pt x="17321" y="9534"/>
                  </a:cubicBezTo>
                  <a:cubicBezTo>
                    <a:pt x="17222" y="9201"/>
                    <a:pt x="16868" y="6805"/>
                    <a:pt x="15285" y="5439"/>
                  </a:cubicBezTo>
                  <a:close/>
                  <a:moveTo>
                    <a:pt x="20706" y="16780"/>
                  </a:moveTo>
                  <a:cubicBezTo>
                    <a:pt x="20530" y="16603"/>
                    <a:pt x="20243" y="16603"/>
                    <a:pt x="20066" y="16780"/>
                  </a:cubicBezTo>
                  <a:lnTo>
                    <a:pt x="16780" y="20067"/>
                  </a:lnTo>
                  <a:cubicBezTo>
                    <a:pt x="16603" y="20244"/>
                    <a:pt x="16603" y="20531"/>
                    <a:pt x="16780" y="20707"/>
                  </a:cubicBezTo>
                  <a:lnTo>
                    <a:pt x="16780" y="20707"/>
                  </a:lnTo>
                  <a:cubicBezTo>
                    <a:pt x="16956" y="20884"/>
                    <a:pt x="17243" y="20884"/>
                    <a:pt x="17419" y="20707"/>
                  </a:cubicBezTo>
                  <a:lnTo>
                    <a:pt x="20706" y="17420"/>
                  </a:lnTo>
                  <a:cubicBezTo>
                    <a:pt x="20883" y="17243"/>
                    <a:pt x="20883" y="16956"/>
                    <a:pt x="20706" y="16780"/>
                  </a:cubicBezTo>
                  <a:cubicBezTo>
                    <a:pt x="20706" y="16780"/>
                    <a:pt x="20706" y="16780"/>
                    <a:pt x="20706" y="16780"/>
                  </a:cubicBezTo>
                  <a:close/>
                  <a:moveTo>
                    <a:pt x="19833" y="15906"/>
                  </a:moveTo>
                  <a:cubicBezTo>
                    <a:pt x="19656" y="15729"/>
                    <a:pt x="19370" y="15730"/>
                    <a:pt x="19193" y="15906"/>
                  </a:cubicBezTo>
                  <a:lnTo>
                    <a:pt x="15906" y="19194"/>
                  </a:lnTo>
                  <a:cubicBezTo>
                    <a:pt x="15729" y="19370"/>
                    <a:pt x="15729" y="19657"/>
                    <a:pt x="15906" y="19833"/>
                  </a:cubicBezTo>
                  <a:lnTo>
                    <a:pt x="15906" y="19833"/>
                  </a:lnTo>
                  <a:cubicBezTo>
                    <a:pt x="16082" y="20010"/>
                    <a:pt x="16369" y="20010"/>
                    <a:pt x="16546" y="19833"/>
                  </a:cubicBezTo>
                  <a:lnTo>
                    <a:pt x="19833" y="16546"/>
                  </a:lnTo>
                  <a:cubicBezTo>
                    <a:pt x="20009" y="16369"/>
                    <a:pt x="20009" y="16083"/>
                    <a:pt x="19833" y="15906"/>
                  </a:cubicBezTo>
                  <a:cubicBezTo>
                    <a:pt x="19833" y="15906"/>
                    <a:pt x="19833" y="15906"/>
                    <a:pt x="19833" y="15906"/>
                  </a:cubicBezTo>
                  <a:close/>
                  <a:moveTo>
                    <a:pt x="17867" y="20727"/>
                  </a:moveTo>
                  <a:lnTo>
                    <a:pt x="20726" y="17867"/>
                  </a:lnTo>
                  <a:cubicBezTo>
                    <a:pt x="21514" y="18656"/>
                    <a:pt x="21513" y="19935"/>
                    <a:pt x="20724" y="20724"/>
                  </a:cubicBezTo>
                  <a:cubicBezTo>
                    <a:pt x="19934" y="21514"/>
                    <a:pt x="18655" y="21515"/>
                    <a:pt x="17867" y="207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6" name="Shape 34223">
              <a:extLst>
                <a:ext uri="{FF2B5EF4-FFF2-40B4-BE49-F238E27FC236}">
                  <a16:creationId xmlns:a16="http://schemas.microsoft.com/office/drawing/2014/main" id="{1A04EC51-D36E-4884-9F09-10AC368049F1}"/>
                </a:ext>
              </a:extLst>
            </p:cNvPr>
            <p:cNvSpPr/>
            <p:nvPr/>
          </p:nvSpPr>
          <p:spPr>
            <a:xfrm>
              <a:off x="11828592" y="12064076"/>
              <a:ext cx="446404" cy="41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7" name="Shape 34224">
              <a:extLst>
                <a:ext uri="{FF2B5EF4-FFF2-40B4-BE49-F238E27FC236}">
                  <a16:creationId xmlns:a16="http://schemas.microsoft.com/office/drawing/2014/main" id="{1FF48417-26E8-4025-81A5-3900579BFBBB}"/>
                </a:ext>
              </a:extLst>
            </p:cNvPr>
            <p:cNvSpPr/>
            <p:nvPr/>
          </p:nvSpPr>
          <p:spPr>
            <a:xfrm>
              <a:off x="11467012" y="10972393"/>
              <a:ext cx="358632" cy="692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6" h="21532" extrusionOk="0">
                  <a:moveTo>
                    <a:pt x="17698" y="0"/>
                  </a:moveTo>
                  <a:lnTo>
                    <a:pt x="16138" y="1685"/>
                  </a:lnTo>
                  <a:cubicBezTo>
                    <a:pt x="16052" y="1663"/>
                    <a:pt x="15626" y="1553"/>
                    <a:pt x="15626" y="1553"/>
                  </a:cubicBezTo>
                  <a:lnTo>
                    <a:pt x="14403" y="2878"/>
                  </a:lnTo>
                  <a:lnTo>
                    <a:pt x="14914" y="3010"/>
                  </a:lnTo>
                  <a:lnTo>
                    <a:pt x="14546" y="3408"/>
                  </a:lnTo>
                  <a:lnTo>
                    <a:pt x="2184" y="16751"/>
                  </a:lnTo>
                  <a:cubicBezTo>
                    <a:pt x="1744" y="17225"/>
                    <a:pt x="202" y="19746"/>
                    <a:pt x="516" y="20547"/>
                  </a:cubicBezTo>
                  <a:cubicBezTo>
                    <a:pt x="560" y="20662"/>
                    <a:pt x="644" y="20742"/>
                    <a:pt x="773" y="20775"/>
                  </a:cubicBezTo>
                  <a:cubicBezTo>
                    <a:pt x="1807" y="21040"/>
                    <a:pt x="5426" y="18252"/>
                    <a:pt x="5928" y="17710"/>
                  </a:cubicBezTo>
                  <a:lnTo>
                    <a:pt x="18283" y="4367"/>
                  </a:lnTo>
                  <a:lnTo>
                    <a:pt x="18652" y="3969"/>
                  </a:lnTo>
                  <a:lnTo>
                    <a:pt x="19186" y="4106"/>
                  </a:lnTo>
                  <a:lnTo>
                    <a:pt x="14380" y="9291"/>
                  </a:lnTo>
                  <a:lnTo>
                    <a:pt x="15147" y="9488"/>
                  </a:lnTo>
                  <a:lnTo>
                    <a:pt x="21176" y="2979"/>
                  </a:lnTo>
                  <a:cubicBezTo>
                    <a:pt x="21176" y="2979"/>
                    <a:pt x="20341" y="2767"/>
                    <a:pt x="19876" y="2647"/>
                  </a:cubicBezTo>
                  <a:lnTo>
                    <a:pt x="21436" y="963"/>
                  </a:lnTo>
                  <a:cubicBezTo>
                    <a:pt x="21436" y="963"/>
                    <a:pt x="17698" y="0"/>
                    <a:pt x="17698" y="0"/>
                  </a:cubicBezTo>
                  <a:close/>
                  <a:moveTo>
                    <a:pt x="516" y="20547"/>
                  </a:moveTo>
                  <a:cubicBezTo>
                    <a:pt x="504" y="20509"/>
                    <a:pt x="483" y="20481"/>
                    <a:pt x="479" y="20436"/>
                  </a:cubicBezTo>
                  <a:lnTo>
                    <a:pt x="223" y="20708"/>
                  </a:lnTo>
                  <a:cubicBezTo>
                    <a:pt x="120" y="20820"/>
                    <a:pt x="-164" y="21449"/>
                    <a:pt x="129" y="21525"/>
                  </a:cubicBezTo>
                  <a:cubicBezTo>
                    <a:pt x="423" y="21600"/>
                    <a:pt x="1188" y="21095"/>
                    <a:pt x="1291" y="20984"/>
                  </a:cubicBezTo>
                  <a:lnTo>
                    <a:pt x="1546" y="20707"/>
                  </a:lnTo>
                  <a:cubicBezTo>
                    <a:pt x="1228" y="20825"/>
                    <a:pt x="959" y="20878"/>
                    <a:pt x="774" y="20830"/>
                  </a:cubicBezTo>
                  <a:cubicBezTo>
                    <a:pt x="630" y="20793"/>
                    <a:pt x="555" y="20685"/>
                    <a:pt x="516" y="20547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8" name="Shape 34225">
              <a:extLst>
                <a:ext uri="{FF2B5EF4-FFF2-40B4-BE49-F238E27FC236}">
                  <a16:creationId xmlns:a16="http://schemas.microsoft.com/office/drawing/2014/main" id="{2F2CADE7-1EB8-4540-8168-345A18DC2482}"/>
                </a:ext>
              </a:extLst>
            </p:cNvPr>
            <p:cNvSpPr/>
            <p:nvPr/>
          </p:nvSpPr>
          <p:spPr>
            <a:xfrm>
              <a:off x="12788908" y="11202698"/>
              <a:ext cx="425116" cy="11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9" name="Shape 34226">
              <a:extLst>
                <a:ext uri="{FF2B5EF4-FFF2-40B4-BE49-F238E27FC236}">
                  <a16:creationId xmlns:a16="http://schemas.microsoft.com/office/drawing/2014/main" id="{2626E289-3644-4D89-A632-9A06B07D991F}"/>
                </a:ext>
              </a:extLst>
            </p:cNvPr>
            <p:cNvSpPr/>
            <p:nvPr/>
          </p:nvSpPr>
          <p:spPr>
            <a:xfrm>
              <a:off x="12691600" y="7661988"/>
              <a:ext cx="463732" cy="545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0" name="Shape 34227">
              <a:extLst>
                <a:ext uri="{FF2B5EF4-FFF2-40B4-BE49-F238E27FC236}">
                  <a16:creationId xmlns:a16="http://schemas.microsoft.com/office/drawing/2014/main" id="{DF3AE396-2033-4E23-B1B0-2CB074260361}"/>
                </a:ext>
              </a:extLst>
            </p:cNvPr>
            <p:cNvSpPr/>
            <p:nvPr/>
          </p:nvSpPr>
          <p:spPr>
            <a:xfrm>
              <a:off x="11861838" y="8796062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1" name="Shape 34228">
              <a:extLst>
                <a:ext uri="{FF2B5EF4-FFF2-40B4-BE49-F238E27FC236}">
                  <a16:creationId xmlns:a16="http://schemas.microsoft.com/office/drawing/2014/main" id="{C31D1EDA-4B16-4A91-88B3-5D0C5BEBD26F}"/>
                </a:ext>
              </a:extLst>
            </p:cNvPr>
            <p:cNvSpPr/>
            <p:nvPr/>
          </p:nvSpPr>
          <p:spPr>
            <a:xfrm>
              <a:off x="9057539" y="5652197"/>
              <a:ext cx="565072" cy="648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2" name="Shape 34229">
              <a:extLst>
                <a:ext uri="{FF2B5EF4-FFF2-40B4-BE49-F238E27FC236}">
                  <a16:creationId xmlns:a16="http://schemas.microsoft.com/office/drawing/2014/main" id="{69D257C2-090D-40ED-8AE6-C1A0794F3FF5}"/>
                </a:ext>
              </a:extLst>
            </p:cNvPr>
            <p:cNvSpPr/>
            <p:nvPr/>
          </p:nvSpPr>
          <p:spPr>
            <a:xfrm>
              <a:off x="14430703" y="5653180"/>
              <a:ext cx="678286" cy="60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3" name="Shape 34230">
              <a:extLst>
                <a:ext uri="{FF2B5EF4-FFF2-40B4-BE49-F238E27FC236}">
                  <a16:creationId xmlns:a16="http://schemas.microsoft.com/office/drawing/2014/main" id="{6668CDD0-0005-4AFC-9032-C6544BF09D80}"/>
                </a:ext>
              </a:extLst>
            </p:cNvPr>
            <p:cNvSpPr/>
            <p:nvPr/>
          </p:nvSpPr>
          <p:spPr>
            <a:xfrm>
              <a:off x="14217720" y="6775957"/>
              <a:ext cx="333440" cy="666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4" name="Shape 34231">
              <a:extLst>
                <a:ext uri="{FF2B5EF4-FFF2-40B4-BE49-F238E27FC236}">
                  <a16:creationId xmlns:a16="http://schemas.microsoft.com/office/drawing/2014/main" id="{B6EB95AD-2468-4AA4-9F51-2FC437664451}"/>
                </a:ext>
              </a:extLst>
            </p:cNvPr>
            <p:cNvSpPr/>
            <p:nvPr/>
          </p:nvSpPr>
          <p:spPr>
            <a:xfrm>
              <a:off x="12484545" y="3228311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5" name="Shape 34232">
              <a:extLst>
                <a:ext uri="{FF2B5EF4-FFF2-40B4-BE49-F238E27FC236}">
                  <a16:creationId xmlns:a16="http://schemas.microsoft.com/office/drawing/2014/main" id="{32DCAC3A-6B36-419D-9893-889513F0ACBF}"/>
                </a:ext>
              </a:extLst>
            </p:cNvPr>
            <p:cNvSpPr/>
            <p:nvPr/>
          </p:nvSpPr>
          <p:spPr>
            <a:xfrm>
              <a:off x="11791096" y="11232556"/>
              <a:ext cx="13046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6" name="Shape 34233">
              <a:extLst>
                <a:ext uri="{FF2B5EF4-FFF2-40B4-BE49-F238E27FC236}">
                  <a16:creationId xmlns:a16="http://schemas.microsoft.com/office/drawing/2014/main" id="{8236CA81-388B-4908-9685-8D6BC8E70187}"/>
                </a:ext>
              </a:extLst>
            </p:cNvPr>
            <p:cNvSpPr/>
            <p:nvPr/>
          </p:nvSpPr>
          <p:spPr>
            <a:xfrm>
              <a:off x="11084739" y="4570184"/>
              <a:ext cx="304442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7" name="Shape 34234">
              <a:extLst>
                <a:ext uri="{FF2B5EF4-FFF2-40B4-BE49-F238E27FC236}">
                  <a16:creationId xmlns:a16="http://schemas.microsoft.com/office/drawing/2014/main" id="{3B7B2670-A08D-473B-89ED-542ECD1FDE80}"/>
                </a:ext>
              </a:extLst>
            </p:cNvPr>
            <p:cNvSpPr/>
            <p:nvPr/>
          </p:nvSpPr>
          <p:spPr>
            <a:xfrm>
              <a:off x="10710090" y="4258444"/>
              <a:ext cx="419088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8" name="Shape 34235">
              <a:extLst>
                <a:ext uri="{FF2B5EF4-FFF2-40B4-BE49-F238E27FC236}">
                  <a16:creationId xmlns:a16="http://schemas.microsoft.com/office/drawing/2014/main" id="{4BA7DD70-A383-473C-B36B-451C12022852}"/>
                </a:ext>
              </a:extLst>
            </p:cNvPr>
            <p:cNvSpPr/>
            <p:nvPr/>
          </p:nvSpPr>
          <p:spPr>
            <a:xfrm>
              <a:off x="9790862" y="4363012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9" name="Shape 34236">
              <a:extLst>
                <a:ext uri="{FF2B5EF4-FFF2-40B4-BE49-F238E27FC236}">
                  <a16:creationId xmlns:a16="http://schemas.microsoft.com/office/drawing/2014/main" id="{7CE95E47-26B3-4B10-A35F-2AB76B3F6165}"/>
                </a:ext>
              </a:extLst>
            </p:cNvPr>
            <p:cNvSpPr/>
            <p:nvPr/>
          </p:nvSpPr>
          <p:spPr>
            <a:xfrm>
              <a:off x="12210021" y="7840631"/>
              <a:ext cx="346528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0" name="Shape 34237">
              <a:extLst>
                <a:ext uri="{FF2B5EF4-FFF2-40B4-BE49-F238E27FC236}">
                  <a16:creationId xmlns:a16="http://schemas.microsoft.com/office/drawing/2014/main" id="{8FAEF7C4-DB17-4314-80F9-A102E8ED182B}"/>
                </a:ext>
              </a:extLst>
            </p:cNvPr>
            <p:cNvSpPr/>
            <p:nvPr/>
          </p:nvSpPr>
          <p:spPr>
            <a:xfrm>
              <a:off x="11135547" y="921478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1" name="Shape 34238">
              <a:extLst>
                <a:ext uri="{FF2B5EF4-FFF2-40B4-BE49-F238E27FC236}">
                  <a16:creationId xmlns:a16="http://schemas.microsoft.com/office/drawing/2014/main" id="{640C6937-306B-447A-8DC0-B0D6D74C2BCA}"/>
                </a:ext>
              </a:extLst>
            </p:cNvPr>
            <p:cNvSpPr/>
            <p:nvPr/>
          </p:nvSpPr>
          <p:spPr>
            <a:xfrm>
              <a:off x="13971261" y="772106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2" name="Shape 34239">
              <a:extLst>
                <a:ext uri="{FF2B5EF4-FFF2-40B4-BE49-F238E27FC236}">
                  <a16:creationId xmlns:a16="http://schemas.microsoft.com/office/drawing/2014/main" id="{99CEE80A-7F00-4293-BBB6-2810E8A7DE26}"/>
                </a:ext>
              </a:extLst>
            </p:cNvPr>
            <p:cNvSpPr/>
            <p:nvPr/>
          </p:nvSpPr>
          <p:spPr>
            <a:xfrm>
              <a:off x="13086555" y="5888971"/>
              <a:ext cx="304442" cy="392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3" name="Shape 34240">
              <a:extLst>
                <a:ext uri="{FF2B5EF4-FFF2-40B4-BE49-F238E27FC236}">
                  <a16:creationId xmlns:a16="http://schemas.microsoft.com/office/drawing/2014/main" id="{47BBC576-B99B-4896-9350-9E0032E033DB}"/>
                </a:ext>
              </a:extLst>
            </p:cNvPr>
            <p:cNvSpPr/>
            <p:nvPr/>
          </p:nvSpPr>
          <p:spPr>
            <a:xfrm>
              <a:off x="12718729" y="8725244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4" name="Shape 34241">
              <a:extLst>
                <a:ext uri="{FF2B5EF4-FFF2-40B4-BE49-F238E27FC236}">
                  <a16:creationId xmlns:a16="http://schemas.microsoft.com/office/drawing/2014/main" id="{C6DE098D-CE5C-4690-81B9-34D96F672299}"/>
                </a:ext>
              </a:extLst>
            </p:cNvPr>
            <p:cNvSpPr/>
            <p:nvPr/>
          </p:nvSpPr>
          <p:spPr>
            <a:xfrm>
              <a:off x="11342014" y="7513407"/>
              <a:ext cx="272208" cy="366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11" h="20821" extrusionOk="0">
                  <a:moveTo>
                    <a:pt x="12499" y="13303"/>
                  </a:moveTo>
                  <a:cubicBezTo>
                    <a:pt x="13474" y="15282"/>
                    <a:pt x="14406" y="17194"/>
                    <a:pt x="14461" y="19063"/>
                  </a:cubicBezTo>
                  <a:cubicBezTo>
                    <a:pt x="14479" y="19633"/>
                    <a:pt x="14582" y="20311"/>
                    <a:pt x="14210" y="20821"/>
                  </a:cubicBezTo>
                  <a:cubicBezTo>
                    <a:pt x="10525" y="17927"/>
                    <a:pt x="9838" y="14212"/>
                    <a:pt x="8115" y="11051"/>
                  </a:cubicBezTo>
                  <a:cubicBezTo>
                    <a:pt x="6053" y="10122"/>
                    <a:pt x="4570" y="7480"/>
                    <a:pt x="6196" y="6231"/>
                  </a:cubicBezTo>
                  <a:cubicBezTo>
                    <a:pt x="8553" y="4419"/>
                    <a:pt x="10035" y="7345"/>
                    <a:pt x="10598" y="8773"/>
                  </a:cubicBezTo>
                  <a:cubicBezTo>
                    <a:pt x="10906" y="9555"/>
                    <a:pt x="10989" y="10416"/>
                    <a:pt x="11671" y="11094"/>
                  </a:cubicBezTo>
                  <a:cubicBezTo>
                    <a:pt x="13112" y="12518"/>
                    <a:pt x="15601" y="11340"/>
                    <a:pt x="16169" y="9915"/>
                  </a:cubicBezTo>
                  <a:cubicBezTo>
                    <a:pt x="16983" y="7871"/>
                    <a:pt x="15656" y="5461"/>
                    <a:pt x="13976" y="3794"/>
                  </a:cubicBezTo>
                  <a:cubicBezTo>
                    <a:pt x="11415" y="1258"/>
                    <a:pt x="6416" y="1969"/>
                    <a:pt x="3932" y="4842"/>
                  </a:cubicBezTo>
                  <a:cubicBezTo>
                    <a:pt x="2652" y="6323"/>
                    <a:pt x="2147" y="8434"/>
                    <a:pt x="3515" y="10418"/>
                  </a:cubicBezTo>
                  <a:cubicBezTo>
                    <a:pt x="4236" y="11464"/>
                    <a:pt x="5170" y="12108"/>
                    <a:pt x="6136" y="12400"/>
                  </a:cubicBezTo>
                  <a:cubicBezTo>
                    <a:pt x="6282" y="12445"/>
                    <a:pt x="6666" y="12458"/>
                    <a:pt x="6895" y="12661"/>
                  </a:cubicBezTo>
                  <a:cubicBezTo>
                    <a:pt x="7361" y="13074"/>
                    <a:pt x="7439" y="13745"/>
                    <a:pt x="7417" y="14249"/>
                  </a:cubicBezTo>
                  <a:cubicBezTo>
                    <a:pt x="5334" y="14777"/>
                    <a:pt x="3377" y="14023"/>
                    <a:pt x="1894" y="12542"/>
                  </a:cubicBezTo>
                  <a:cubicBezTo>
                    <a:pt x="-1478" y="9170"/>
                    <a:pt x="-94" y="4513"/>
                    <a:pt x="4049" y="1953"/>
                  </a:cubicBezTo>
                  <a:cubicBezTo>
                    <a:pt x="8469" y="-779"/>
                    <a:pt x="13971" y="-622"/>
                    <a:pt x="16956" y="2276"/>
                  </a:cubicBezTo>
                  <a:cubicBezTo>
                    <a:pt x="19176" y="4430"/>
                    <a:pt x="20122" y="7281"/>
                    <a:pt x="19546" y="9389"/>
                  </a:cubicBezTo>
                  <a:cubicBezTo>
                    <a:pt x="19112" y="10973"/>
                    <a:pt x="17273" y="13272"/>
                    <a:pt x="14367" y="13517"/>
                  </a:cubicBezTo>
                  <a:cubicBezTo>
                    <a:pt x="13720" y="13571"/>
                    <a:pt x="13303" y="13441"/>
                    <a:pt x="12499" y="133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5" name="Shape 34242">
              <a:extLst>
                <a:ext uri="{FF2B5EF4-FFF2-40B4-BE49-F238E27FC236}">
                  <a16:creationId xmlns:a16="http://schemas.microsoft.com/office/drawing/2014/main" id="{7217F174-CAAA-43B8-8A42-D40B135E6E3C}"/>
                </a:ext>
              </a:extLst>
            </p:cNvPr>
            <p:cNvSpPr/>
            <p:nvPr/>
          </p:nvSpPr>
          <p:spPr>
            <a:xfrm>
              <a:off x="14349166" y="3565132"/>
              <a:ext cx="272152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6" name="Shape 34243">
              <a:extLst>
                <a:ext uri="{FF2B5EF4-FFF2-40B4-BE49-F238E27FC236}">
                  <a16:creationId xmlns:a16="http://schemas.microsoft.com/office/drawing/2014/main" id="{89A5EEC1-EBD9-4A73-B7EC-FF284BAE4498}"/>
                </a:ext>
              </a:extLst>
            </p:cNvPr>
            <p:cNvSpPr/>
            <p:nvPr/>
          </p:nvSpPr>
          <p:spPr>
            <a:xfrm>
              <a:off x="10163109" y="5879849"/>
              <a:ext cx="373972" cy="350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7" name="Shape 34244">
              <a:extLst>
                <a:ext uri="{FF2B5EF4-FFF2-40B4-BE49-F238E27FC236}">
                  <a16:creationId xmlns:a16="http://schemas.microsoft.com/office/drawing/2014/main" id="{54A5EF33-7E56-41CA-B616-7F1B31064651}"/>
                </a:ext>
              </a:extLst>
            </p:cNvPr>
            <p:cNvSpPr/>
            <p:nvPr/>
          </p:nvSpPr>
          <p:spPr>
            <a:xfrm>
              <a:off x="14467934" y="6264695"/>
              <a:ext cx="347528" cy="325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8" name="Shape 34245">
              <a:extLst>
                <a:ext uri="{FF2B5EF4-FFF2-40B4-BE49-F238E27FC236}">
                  <a16:creationId xmlns:a16="http://schemas.microsoft.com/office/drawing/2014/main" id="{75A900EB-E2B9-4767-958A-ABFAC1BE4FFB}"/>
                </a:ext>
              </a:extLst>
            </p:cNvPr>
            <p:cNvSpPr/>
            <p:nvPr/>
          </p:nvSpPr>
          <p:spPr>
            <a:xfrm>
              <a:off x="12353445" y="9604415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9" name="Shape 34246">
              <a:extLst>
                <a:ext uri="{FF2B5EF4-FFF2-40B4-BE49-F238E27FC236}">
                  <a16:creationId xmlns:a16="http://schemas.microsoft.com/office/drawing/2014/main" id="{D0CA7D6C-1605-43BC-A5D7-30245A4E3E15}"/>
                </a:ext>
              </a:extLst>
            </p:cNvPr>
            <p:cNvSpPr/>
            <p:nvPr/>
          </p:nvSpPr>
          <p:spPr>
            <a:xfrm>
              <a:off x="11817349" y="7826120"/>
              <a:ext cx="266022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0" name="Shape 34247">
              <a:extLst>
                <a:ext uri="{FF2B5EF4-FFF2-40B4-BE49-F238E27FC236}">
                  <a16:creationId xmlns:a16="http://schemas.microsoft.com/office/drawing/2014/main" id="{F97FF99F-4D44-4A9A-9493-DBA96D29F4A6}"/>
                </a:ext>
              </a:extLst>
            </p:cNvPr>
            <p:cNvSpPr/>
            <p:nvPr/>
          </p:nvSpPr>
          <p:spPr>
            <a:xfrm>
              <a:off x="10728159" y="11858687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1" name="Shape 34248">
              <a:extLst>
                <a:ext uri="{FF2B5EF4-FFF2-40B4-BE49-F238E27FC236}">
                  <a16:creationId xmlns:a16="http://schemas.microsoft.com/office/drawing/2014/main" id="{921D2600-46C5-4D4C-875E-7FAC4712F6B9}"/>
                </a:ext>
              </a:extLst>
            </p:cNvPr>
            <p:cNvSpPr/>
            <p:nvPr/>
          </p:nvSpPr>
          <p:spPr>
            <a:xfrm>
              <a:off x="11187068" y="11262359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2" name="Shape 34249">
              <a:extLst>
                <a:ext uri="{FF2B5EF4-FFF2-40B4-BE49-F238E27FC236}">
                  <a16:creationId xmlns:a16="http://schemas.microsoft.com/office/drawing/2014/main" id="{2E297742-8436-4B1D-83F9-B322E470EDB3}"/>
                </a:ext>
              </a:extLst>
            </p:cNvPr>
            <p:cNvSpPr/>
            <p:nvPr/>
          </p:nvSpPr>
          <p:spPr>
            <a:xfrm>
              <a:off x="11097651" y="11556529"/>
              <a:ext cx="363722" cy="489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3" name="Shape 34250">
              <a:extLst>
                <a:ext uri="{FF2B5EF4-FFF2-40B4-BE49-F238E27FC236}">
                  <a16:creationId xmlns:a16="http://schemas.microsoft.com/office/drawing/2014/main" id="{6A445B98-1EEC-41F4-B065-B41FB9F82629}"/>
                </a:ext>
              </a:extLst>
            </p:cNvPr>
            <p:cNvSpPr/>
            <p:nvPr/>
          </p:nvSpPr>
          <p:spPr>
            <a:xfrm>
              <a:off x="11475026" y="12061751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4" name="Shape 34251">
              <a:extLst>
                <a:ext uri="{FF2B5EF4-FFF2-40B4-BE49-F238E27FC236}">
                  <a16:creationId xmlns:a16="http://schemas.microsoft.com/office/drawing/2014/main" id="{D9B75CBB-A660-45E9-A6E9-E7F886743FB7}"/>
                </a:ext>
              </a:extLst>
            </p:cNvPr>
            <p:cNvSpPr/>
            <p:nvPr/>
          </p:nvSpPr>
          <p:spPr>
            <a:xfrm>
              <a:off x="11001064" y="12147982"/>
              <a:ext cx="24199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5" name="Shape 34252">
              <a:extLst>
                <a:ext uri="{FF2B5EF4-FFF2-40B4-BE49-F238E27FC236}">
                  <a16:creationId xmlns:a16="http://schemas.microsoft.com/office/drawing/2014/main" id="{EB3225E0-6AFE-461C-ABA8-9D4F5329F9F4}"/>
                </a:ext>
              </a:extLst>
            </p:cNvPr>
            <p:cNvSpPr/>
            <p:nvPr/>
          </p:nvSpPr>
          <p:spPr>
            <a:xfrm>
              <a:off x="11499317" y="12714275"/>
              <a:ext cx="353634" cy="243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6" name="Shape 34253">
              <a:extLst>
                <a:ext uri="{FF2B5EF4-FFF2-40B4-BE49-F238E27FC236}">
                  <a16:creationId xmlns:a16="http://schemas.microsoft.com/office/drawing/2014/main" id="{A48F55E1-9CD4-4666-931D-DFEE4D6DD513}"/>
                </a:ext>
              </a:extLst>
            </p:cNvPr>
            <p:cNvSpPr/>
            <p:nvPr/>
          </p:nvSpPr>
          <p:spPr>
            <a:xfrm rot="1920000">
              <a:off x="12259440" y="12552699"/>
              <a:ext cx="459460" cy="127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7" name="Shape 34254">
              <a:extLst>
                <a:ext uri="{FF2B5EF4-FFF2-40B4-BE49-F238E27FC236}">
                  <a16:creationId xmlns:a16="http://schemas.microsoft.com/office/drawing/2014/main" id="{9FF1B98D-EBFA-4074-9BEB-EC0303F621DF}"/>
                </a:ext>
              </a:extLst>
            </p:cNvPr>
            <p:cNvSpPr/>
            <p:nvPr/>
          </p:nvSpPr>
          <p:spPr>
            <a:xfrm>
              <a:off x="10340903" y="5125500"/>
              <a:ext cx="60945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8" name="Shape 34255">
              <a:extLst>
                <a:ext uri="{FF2B5EF4-FFF2-40B4-BE49-F238E27FC236}">
                  <a16:creationId xmlns:a16="http://schemas.microsoft.com/office/drawing/2014/main" id="{D773A29D-861D-43FE-8FE4-BBB5F5905674}"/>
                </a:ext>
              </a:extLst>
            </p:cNvPr>
            <p:cNvSpPr/>
            <p:nvPr/>
          </p:nvSpPr>
          <p:spPr>
            <a:xfrm>
              <a:off x="9854702" y="4803941"/>
              <a:ext cx="502982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9" name="Shape 34256">
              <a:extLst>
                <a:ext uri="{FF2B5EF4-FFF2-40B4-BE49-F238E27FC236}">
                  <a16:creationId xmlns:a16="http://schemas.microsoft.com/office/drawing/2014/main" id="{D76959AE-132F-4981-BD16-EE589C36875C}"/>
                </a:ext>
              </a:extLst>
            </p:cNvPr>
            <p:cNvSpPr/>
            <p:nvPr/>
          </p:nvSpPr>
          <p:spPr>
            <a:xfrm>
              <a:off x="10882778" y="5040627"/>
              <a:ext cx="347554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0" name="Shape 34257">
              <a:extLst>
                <a:ext uri="{FF2B5EF4-FFF2-40B4-BE49-F238E27FC236}">
                  <a16:creationId xmlns:a16="http://schemas.microsoft.com/office/drawing/2014/main" id="{1914A737-B8BC-436C-9A54-50BADCB330BF}"/>
                </a:ext>
              </a:extLst>
            </p:cNvPr>
            <p:cNvSpPr/>
            <p:nvPr/>
          </p:nvSpPr>
          <p:spPr>
            <a:xfrm>
              <a:off x="10466323" y="4715507"/>
              <a:ext cx="342888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1" name="Shape 34258">
              <a:extLst>
                <a:ext uri="{FF2B5EF4-FFF2-40B4-BE49-F238E27FC236}">
                  <a16:creationId xmlns:a16="http://schemas.microsoft.com/office/drawing/2014/main" id="{15904CCB-F416-4933-9199-2F070BEA3087}"/>
                </a:ext>
              </a:extLst>
            </p:cNvPr>
            <p:cNvSpPr/>
            <p:nvPr/>
          </p:nvSpPr>
          <p:spPr>
            <a:xfrm>
              <a:off x="13456598" y="7929263"/>
              <a:ext cx="368866" cy="329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2" name="Shape 34259">
              <a:extLst>
                <a:ext uri="{FF2B5EF4-FFF2-40B4-BE49-F238E27FC236}">
                  <a16:creationId xmlns:a16="http://schemas.microsoft.com/office/drawing/2014/main" id="{499C2926-2CC8-41B2-9F52-BC1725F5A17B}"/>
                </a:ext>
              </a:extLst>
            </p:cNvPr>
            <p:cNvSpPr/>
            <p:nvPr/>
          </p:nvSpPr>
          <p:spPr>
            <a:xfrm>
              <a:off x="12160172" y="6699066"/>
              <a:ext cx="39292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3" name="Shape 34260">
              <a:extLst>
                <a:ext uri="{FF2B5EF4-FFF2-40B4-BE49-F238E27FC236}">
                  <a16:creationId xmlns:a16="http://schemas.microsoft.com/office/drawing/2014/main" id="{AF681DAF-BC28-42F0-9D15-B39D1F3255CB}"/>
                </a:ext>
              </a:extLst>
            </p:cNvPr>
            <p:cNvSpPr/>
            <p:nvPr/>
          </p:nvSpPr>
          <p:spPr>
            <a:xfrm>
              <a:off x="10867845" y="10886425"/>
              <a:ext cx="279004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4" name="Shape 34261">
              <a:extLst>
                <a:ext uri="{FF2B5EF4-FFF2-40B4-BE49-F238E27FC236}">
                  <a16:creationId xmlns:a16="http://schemas.microsoft.com/office/drawing/2014/main" id="{0D4667A9-0E1F-4CF9-BF13-2339E272571F}"/>
                </a:ext>
              </a:extLst>
            </p:cNvPr>
            <p:cNvSpPr/>
            <p:nvPr/>
          </p:nvSpPr>
          <p:spPr>
            <a:xfrm>
              <a:off x="12725585" y="12289966"/>
              <a:ext cx="373054" cy="303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5" name="Shape 34262">
              <a:extLst>
                <a:ext uri="{FF2B5EF4-FFF2-40B4-BE49-F238E27FC236}">
                  <a16:creationId xmlns:a16="http://schemas.microsoft.com/office/drawing/2014/main" id="{A7D50D99-4E6F-46B6-8F2A-EE8715A11793}"/>
                </a:ext>
              </a:extLst>
            </p:cNvPr>
            <p:cNvSpPr/>
            <p:nvPr/>
          </p:nvSpPr>
          <p:spPr>
            <a:xfrm>
              <a:off x="13639147" y="5652275"/>
              <a:ext cx="728794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6" name="Shape 34263">
              <a:extLst>
                <a:ext uri="{FF2B5EF4-FFF2-40B4-BE49-F238E27FC236}">
                  <a16:creationId xmlns:a16="http://schemas.microsoft.com/office/drawing/2014/main" id="{CC6CBBC0-A0AD-4F61-A966-5DCAE30ADA62}"/>
                </a:ext>
              </a:extLst>
            </p:cNvPr>
            <p:cNvSpPr/>
            <p:nvPr/>
          </p:nvSpPr>
          <p:spPr>
            <a:xfrm>
              <a:off x="14075163" y="6302567"/>
              <a:ext cx="163854" cy="351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7" name="Shape 34264">
              <a:extLst>
                <a:ext uri="{FF2B5EF4-FFF2-40B4-BE49-F238E27FC236}">
                  <a16:creationId xmlns:a16="http://schemas.microsoft.com/office/drawing/2014/main" id="{108A8CEB-6669-4CA1-B5E8-CD388E3D8CB7}"/>
                </a:ext>
              </a:extLst>
            </p:cNvPr>
            <p:cNvSpPr/>
            <p:nvPr/>
          </p:nvSpPr>
          <p:spPr>
            <a:xfrm>
              <a:off x="11378351" y="9431234"/>
              <a:ext cx="527920" cy="391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8" name="Shape 34265">
              <a:extLst>
                <a:ext uri="{FF2B5EF4-FFF2-40B4-BE49-F238E27FC236}">
                  <a16:creationId xmlns:a16="http://schemas.microsoft.com/office/drawing/2014/main" id="{4050123F-E21A-418F-A53F-07F524E8194C}"/>
                </a:ext>
              </a:extLst>
            </p:cNvPr>
            <p:cNvSpPr/>
            <p:nvPr/>
          </p:nvSpPr>
          <p:spPr>
            <a:xfrm>
              <a:off x="13182794" y="4769147"/>
              <a:ext cx="316260" cy="234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2257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674E6988-9F81-9C4F-A395-617E099076A1}" vid="{7BA8343F-A308-F34A-AE1C-33F4B935B6F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BA47EBC066B745A5CD7C315910EB78" ma:contentTypeVersion="3" ma:contentTypeDescription="Crée un document." ma:contentTypeScope="" ma:versionID="b311b5323907d863f9510970e841e24f">
  <xsd:schema xmlns:xsd="http://www.w3.org/2001/XMLSchema" xmlns:xs="http://www.w3.org/2001/XMLSchema" xmlns:p="http://schemas.microsoft.com/office/2006/metadata/properties" xmlns:ns2="abcda3d6-2d03-49e1-9293-8daf0cc773fd" targetNamespace="http://schemas.microsoft.com/office/2006/metadata/properties" ma:root="true" ma:fieldsID="c9731b60f146babbce85d7d615846029" ns2:_="">
    <xsd:import namespace="abcda3d6-2d03-49e1-9293-8daf0cc773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da3d6-2d03-49e1-9293-8daf0cc77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EAA3715-8561-4F37-9522-AAC2CE9FEB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F66469-4B33-4662-BC2B-8143BBCAACBA}"/>
</file>

<file path=customXml/itemProps3.xml><?xml version="1.0" encoding="utf-8"?>
<ds:datastoreItem xmlns:ds="http://schemas.openxmlformats.org/officeDocument/2006/customXml" ds:itemID="{922079DE-C8BD-492C-B050-0BC4F055C88C}">
  <ds:schemaRefs>
    <ds:schemaRef ds:uri="http://purl.org/dc/terms/"/>
    <ds:schemaRef ds:uri="http://purl.org/dc/dcmitype/"/>
    <ds:schemaRef ds:uri="5b446652-b7a6-491a-a629-08742e0ae113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1686</TotalTime>
  <Words>1690</Words>
  <Application>Microsoft Office PowerPoint</Application>
  <PresentationFormat>Personnalisé</PresentationFormat>
  <Paragraphs>386</Paragraphs>
  <Slides>32</Slides>
  <Notes>29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3</vt:i4>
      </vt:variant>
      <vt:variant>
        <vt:lpstr>Titres des diapositives</vt:lpstr>
      </vt:variant>
      <vt:variant>
        <vt:i4>32</vt:i4>
      </vt:variant>
    </vt:vector>
  </HeadingPairs>
  <TitlesOfParts>
    <vt:vector size="43" baseType="lpstr">
      <vt:lpstr>Arial</vt:lpstr>
      <vt:lpstr>Arial Black</vt:lpstr>
      <vt:lpstr>Calibri</vt:lpstr>
      <vt:lpstr>Lato Light</vt:lpstr>
      <vt:lpstr>Symbol</vt:lpstr>
      <vt:lpstr>Times New Roman</vt:lpstr>
      <vt:lpstr>Wingdings</vt:lpstr>
      <vt:lpstr>Thème HEC</vt:lpstr>
      <vt:lpstr>Equation</vt:lpstr>
      <vt:lpstr>Worksheet</vt:lpstr>
      <vt:lpstr>Équation</vt:lpstr>
      <vt:lpstr>OPER10500 Gestion des opérations</vt:lpstr>
      <vt:lpstr>Discussion Comment définit-on la qualité?</vt:lpstr>
      <vt:lpstr>Carte conceptuelle</vt:lpstr>
      <vt:lpstr>Carte conceptuelle</vt:lpstr>
      <vt:lpstr>Les coûts totaux</vt:lpstr>
      <vt:lpstr>Le plan de travail d’un système de contrôle de la qualité</vt:lpstr>
      <vt:lpstr>Le contrôle statistique de la qualité</vt:lpstr>
      <vt:lpstr>Plans d’échantillonnage</vt:lpstr>
      <vt:lpstr>Les risques d’erreurs</vt:lpstr>
      <vt:lpstr>Cartes des moyennes - étendues</vt:lpstr>
      <vt:lpstr>Démarche</vt:lpstr>
      <vt:lpstr>Exemple</vt:lpstr>
      <vt:lpstr>Calcul des limites de contrôle</vt:lpstr>
      <vt:lpstr>Table des coefficients</vt:lpstr>
      <vt:lpstr>Présentation PowerPoint</vt:lpstr>
      <vt:lpstr>Présentation PowerPoint</vt:lpstr>
      <vt:lpstr>Interprétation des cartes</vt:lpstr>
      <vt:lpstr>Interprétation des cartes - Suivi</vt:lpstr>
      <vt:lpstr>Capacité opérationnelle</vt:lpstr>
      <vt:lpstr>Capacité opérationnelle</vt:lpstr>
      <vt:lpstr>Exercice Calculez la capacité opérationnelle - Cp</vt:lpstr>
      <vt:lpstr>Interprétation des résultats</vt:lpstr>
      <vt:lpstr>Interprétation graphique</vt:lpstr>
      <vt:lpstr>Interprétation graphique</vt:lpstr>
      <vt:lpstr>Interprétation graphique</vt:lpstr>
      <vt:lpstr>Méthodologie Six Sigma </vt:lpstr>
      <vt:lpstr>Dérive du processus</vt:lpstr>
      <vt:lpstr>Méthodologie Six Sigma </vt:lpstr>
      <vt:lpstr>Rendement global combiné (RGC) </vt:lpstr>
      <vt:lpstr>Exercice Calculez le RGC</vt:lpstr>
      <vt:lpstr>ISO 9000</vt:lpstr>
      <vt:lpstr>Questions…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OPER10500 Gestion des opérations</dc:title>
  <dc:creator>veronique poirier</dc:creator>
  <cp:lastModifiedBy>Claire Poitras</cp:lastModifiedBy>
  <cp:revision>82</cp:revision>
  <dcterms:created xsi:type="dcterms:W3CDTF">2020-07-21T19:41:54Z</dcterms:created>
  <dcterms:modified xsi:type="dcterms:W3CDTF">2025-06-26T15:00:48Z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0x0101001CBA47EBC066B745A5CD7C315910EB78</vt:lpwstr>
  </property>
</Properties>
</file>