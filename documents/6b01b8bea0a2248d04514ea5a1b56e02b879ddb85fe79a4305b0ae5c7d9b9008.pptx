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3.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4.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5.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6.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7.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8.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9.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10.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11.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12.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notesSlides/notesSlide13.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notesSlides/notesSlide14.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15.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16.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notesSlides/notesSlide17.xml" ContentType="application/vnd.openxmlformats-officedocument.presentationml.notesSlide+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notesSlides/notesSlide18.xml" ContentType="application/vnd.openxmlformats-officedocument.presentationml.notesSlide+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notesSlides/notesSlide19.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notesSlides/notesSlide20.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notesSlides/notesSlide21.xml" ContentType="application/vnd.openxmlformats-officedocument.presentationml.notesSlide+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notesSlides/notesSlide2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notesSlides/notesSlide24.xml" ContentType="application/vnd.openxmlformats-officedocument.presentationml.notesSlide+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notesSlides/notesSlide25.xml" ContentType="application/vnd.openxmlformats-officedocument.presentationml.notesSlide+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notesSlides/notesSlide26.xml" ContentType="application/vnd.openxmlformats-officedocument.presentationml.notesSlide+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notesSlides/notesSlide27.xml" ContentType="application/vnd.openxmlformats-officedocument.presentationml.notesSlide+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notesSlides/notesSlide28.xml" ContentType="application/vnd.openxmlformats-officedocument.presentationml.notesSlide+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notesSlides/notesSlide29.xml" ContentType="application/vnd.openxmlformats-officedocument.presentationml.notesSlide+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notesSlides/notesSlide30.xml" ContentType="application/vnd.openxmlformats-officedocument.presentationml.notesSlide+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notesSlides/notesSlide31.xml" ContentType="application/vnd.openxmlformats-officedocument.presentationml.notesSlide+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notesSlides/notesSlide32.xml" ContentType="application/vnd.openxmlformats-officedocument.presentationml.notesSlide+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notesSlides/notesSlide33.xml" ContentType="application/vnd.openxmlformats-officedocument.presentationml.notesSlide+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notesSlides/notesSlide34.xml" ContentType="application/vnd.openxmlformats-officedocument.presentationml.notesSlide+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notesSlides/notesSlide35.xml" ContentType="application/vnd.openxmlformats-officedocument.presentationml.notesSlide+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notesSlides/notesSlide36.xml" ContentType="application/vnd.openxmlformats-officedocument.presentationml.notesSlide+xml"/>
  <Override PartName="/ppt/tags/tag205.xml" ContentType="application/vnd.openxmlformats-officedocument.presentationml.tags+xml"/>
  <Override PartName="/ppt/tags/tag206.xml" ContentType="application/vnd.openxmlformats-officedocument.presentationml.tags+xml"/>
  <Override PartName="/ppt/notesSlides/notesSlide37.xml" ContentType="application/vnd.openxmlformats-officedocument.presentationml.notesSlide+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notesSlides/notesSlide38.xml" ContentType="application/vnd.openxmlformats-officedocument.presentationml.notesSlide+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notesSlides/notesSlide39.xml" ContentType="application/vnd.openxmlformats-officedocument.presentationml.notesSlide+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notesSlides/notesSlide40.xml" ContentType="application/vnd.openxmlformats-officedocument.presentationml.notesSlide+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notesSlides/notesSlide41.xml" ContentType="application/vnd.openxmlformats-officedocument.presentationml.notesSlide+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notesSlides/notesSlide42.xml" ContentType="application/vnd.openxmlformats-officedocument.presentationml.notesSlide+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notesSlides/notesSlide43.xml" ContentType="application/vnd.openxmlformats-officedocument.presentationml.notesSlide+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notesSlides/notesSlide44.xml" ContentType="application/vnd.openxmlformats-officedocument.presentationml.notesSlide+xml"/>
  <Override PartName="/ppt/theme/themeOverride1.xml" ContentType="application/vnd.openxmlformats-officedocument.themeOverride+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notesSlides/notesSlide4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51"/>
  </p:notesMasterIdLst>
  <p:handoutMasterIdLst>
    <p:handoutMasterId r:id="rId52"/>
  </p:handoutMasterIdLst>
  <p:sldIdLst>
    <p:sldId id="960" r:id="rId5"/>
    <p:sldId id="1523" r:id="rId6"/>
    <p:sldId id="1524" r:id="rId7"/>
    <p:sldId id="1525" r:id="rId8"/>
    <p:sldId id="1526" r:id="rId9"/>
    <p:sldId id="1527" r:id="rId10"/>
    <p:sldId id="1528" r:id="rId11"/>
    <p:sldId id="1529" r:id="rId12"/>
    <p:sldId id="1474" r:id="rId13"/>
    <p:sldId id="350" r:id="rId14"/>
    <p:sldId id="1572" r:id="rId15"/>
    <p:sldId id="1521" r:id="rId16"/>
    <p:sldId id="1520" r:id="rId17"/>
    <p:sldId id="479" r:id="rId18"/>
    <p:sldId id="1582" r:id="rId19"/>
    <p:sldId id="1559" r:id="rId20"/>
    <p:sldId id="1560" r:id="rId21"/>
    <p:sldId id="1561" r:id="rId22"/>
    <p:sldId id="1568" r:id="rId23"/>
    <p:sldId id="1579" r:id="rId24"/>
    <p:sldId id="1570" r:id="rId25"/>
    <p:sldId id="1591" r:id="rId26"/>
    <p:sldId id="1534" r:id="rId27"/>
    <p:sldId id="1571" r:id="rId28"/>
    <p:sldId id="1490" r:id="rId29"/>
    <p:sldId id="1573" r:id="rId30"/>
    <p:sldId id="1512" r:id="rId31"/>
    <p:sldId id="1513" r:id="rId32"/>
    <p:sldId id="1583" r:id="rId33"/>
    <p:sldId id="1517" r:id="rId34"/>
    <p:sldId id="1552" r:id="rId35"/>
    <p:sldId id="1581" r:id="rId36"/>
    <p:sldId id="1584" r:id="rId37"/>
    <p:sldId id="1585" r:id="rId38"/>
    <p:sldId id="1590" r:id="rId39"/>
    <p:sldId id="1588" r:id="rId40"/>
    <p:sldId id="1531" r:id="rId41"/>
    <p:sldId id="1565" r:id="rId42"/>
    <p:sldId id="297" r:id="rId43"/>
    <p:sldId id="1457" r:id="rId44"/>
    <p:sldId id="1515" r:id="rId45"/>
    <p:sldId id="278" r:id="rId46"/>
    <p:sldId id="1535" r:id="rId47"/>
    <p:sldId id="1536" r:id="rId48"/>
    <p:sldId id="952" r:id="rId49"/>
    <p:sldId id="1575" r:id="rId50"/>
  </p:sldIdLst>
  <p:sldSz cx="12192000" cy="6858000"/>
  <p:notesSz cx="7010400" cy="92964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éance 3" id="{29F2F948-010D-4051-BD4E-77C7EB96EF33}">
          <p14:sldIdLst>
            <p14:sldId id="960"/>
            <p14:sldId id="1523"/>
            <p14:sldId id="1524"/>
            <p14:sldId id="1525"/>
            <p14:sldId id="1526"/>
            <p14:sldId id="1527"/>
            <p14:sldId id="1528"/>
            <p14:sldId id="1529"/>
            <p14:sldId id="1474"/>
            <p14:sldId id="350"/>
            <p14:sldId id="1572"/>
            <p14:sldId id="1521"/>
            <p14:sldId id="1520"/>
            <p14:sldId id="479"/>
            <p14:sldId id="1582"/>
            <p14:sldId id="1559"/>
            <p14:sldId id="1560"/>
            <p14:sldId id="1561"/>
            <p14:sldId id="1568"/>
            <p14:sldId id="1579"/>
            <p14:sldId id="1570"/>
            <p14:sldId id="1591"/>
            <p14:sldId id="1534"/>
            <p14:sldId id="1571"/>
            <p14:sldId id="1490"/>
            <p14:sldId id="1573"/>
            <p14:sldId id="1512"/>
            <p14:sldId id="1513"/>
            <p14:sldId id="1583"/>
            <p14:sldId id="1517"/>
            <p14:sldId id="1552"/>
            <p14:sldId id="1581"/>
            <p14:sldId id="1584"/>
            <p14:sldId id="1585"/>
            <p14:sldId id="1590"/>
            <p14:sldId id="1588"/>
            <p14:sldId id="1531"/>
            <p14:sldId id="1565"/>
            <p14:sldId id="297"/>
            <p14:sldId id="1457"/>
            <p14:sldId id="1515"/>
            <p14:sldId id="278"/>
            <p14:sldId id="1535"/>
            <p14:sldId id="1536"/>
            <p14:sldId id="952"/>
            <p14:sldId id="15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oecha philion" initials="lp" lastIdx="1" clrIdx="0">
    <p:extLst>
      <p:ext uri="{19B8F6BF-5375-455C-9EA6-DF929625EA0E}">
        <p15:presenceInfo xmlns:p15="http://schemas.microsoft.com/office/powerpoint/2012/main" userId="S::loecha.philion@hec.ca::0f598feb-c4c0-4dda-b2c1-17de97a01329" providerId="AD"/>
      </p:ext>
    </p:extLst>
  </p:cmAuthor>
  <p:cmAuthor id="2" name="elodie allain" initials="ea" lastIdx="3" clrIdx="1">
    <p:extLst>
      <p:ext uri="{19B8F6BF-5375-455C-9EA6-DF929625EA0E}">
        <p15:presenceInfo xmlns:p15="http://schemas.microsoft.com/office/powerpoint/2012/main" userId="S::elodie.allain@hec.ca::2b943744-3621-400b-bbf1-9af4902ca6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Style léger 1 - Accentuation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083E6E3-FA7D-4D7B-A595-EF9225AFEA82}" styleName="Style léger 1 - Accentuatio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Style léger 2 - Accentuation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856" autoAdjust="0"/>
    <p:restoredTop sz="66949" autoAdjust="0"/>
  </p:normalViewPr>
  <p:slideViewPr>
    <p:cSldViewPr snapToGrid="0">
      <p:cViewPr varScale="1">
        <p:scale>
          <a:sx n="74" d="100"/>
          <a:sy n="74" d="100"/>
        </p:scale>
        <p:origin x="1194" y="66"/>
      </p:cViewPr>
      <p:guideLst/>
    </p:cSldViewPr>
  </p:slideViewPr>
  <p:outlineViewPr>
    <p:cViewPr>
      <p:scale>
        <a:sx n="33" d="100"/>
        <a:sy n="33" d="100"/>
      </p:scale>
      <p:origin x="0" y="-17260"/>
    </p:cViewPr>
  </p:outlineViewPr>
  <p:notesTextViewPr>
    <p:cViewPr>
      <p:scale>
        <a:sx n="1" d="1"/>
        <a:sy n="1" d="1"/>
      </p:scale>
      <p:origin x="0" y="0"/>
    </p:cViewPr>
  </p:notesTextViewPr>
  <p:notesViewPr>
    <p:cSldViewPr snapToGrid="0">
      <p:cViewPr varScale="1">
        <p:scale>
          <a:sx n="83" d="100"/>
          <a:sy n="83" d="100"/>
        </p:scale>
        <p:origin x="3894"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commentAuthors" Target="commentAuthors.xml"/><Relationship Id="rId58" Type="http://schemas.microsoft.com/office/2016/11/relationships/changesInfo" Target="changesInfos/changesInfo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echa Philion" userId="0f598feb-c4c0-4dda-b2c1-17de97a01329" providerId="ADAL" clId="{E7AA05E6-2E3A-4936-92BE-EF366E7850A9}"/>
    <pc:docChg chg="delSld modSld modSection">
      <pc:chgData name="Loecha Philion" userId="0f598feb-c4c0-4dda-b2c1-17de97a01329" providerId="ADAL" clId="{E7AA05E6-2E3A-4936-92BE-EF366E7850A9}" dt="2026-08-28T13:54:39.572" v="23" actId="47"/>
      <pc:docMkLst>
        <pc:docMk/>
      </pc:docMkLst>
      <pc:sldChg chg="modNotesTx">
        <pc:chgData name="Loecha Philion" userId="0f598feb-c4c0-4dda-b2c1-17de97a01329" providerId="ADAL" clId="{E7AA05E6-2E3A-4936-92BE-EF366E7850A9}" dt="2026-08-28T13:53:11.361" v="3" actId="6549"/>
        <pc:sldMkLst>
          <pc:docMk/>
          <pc:sldMk cId="1328331743" sldId="350"/>
        </pc:sldMkLst>
      </pc:sldChg>
      <pc:sldChg chg="modNotesTx">
        <pc:chgData name="Loecha Philion" userId="0f598feb-c4c0-4dda-b2c1-17de97a01329" providerId="ADAL" clId="{E7AA05E6-2E3A-4936-92BE-EF366E7850A9}" dt="2026-08-28T13:53:07.060" v="2" actId="6549"/>
        <pc:sldMkLst>
          <pc:docMk/>
          <pc:sldMk cId="584252093" sldId="1474"/>
        </pc:sldMkLst>
      </pc:sldChg>
      <pc:sldChg chg="modNotesTx">
        <pc:chgData name="Loecha Philion" userId="0f598feb-c4c0-4dda-b2c1-17de97a01329" providerId="ADAL" clId="{E7AA05E6-2E3A-4936-92BE-EF366E7850A9}" dt="2026-08-28T13:54:03.941" v="14" actId="6549"/>
        <pc:sldMkLst>
          <pc:docMk/>
          <pc:sldMk cId="884192975" sldId="1513"/>
        </pc:sldMkLst>
      </pc:sldChg>
      <pc:sldChg chg="modNotesTx">
        <pc:chgData name="Loecha Philion" userId="0f598feb-c4c0-4dda-b2c1-17de97a01329" providerId="ADAL" clId="{E7AA05E6-2E3A-4936-92BE-EF366E7850A9}" dt="2026-08-28T13:54:14.036" v="17" actId="6549"/>
        <pc:sldMkLst>
          <pc:docMk/>
          <pc:sldMk cId="485183666" sldId="1517"/>
        </pc:sldMkLst>
      </pc:sldChg>
      <pc:sldChg chg="del">
        <pc:chgData name="Loecha Philion" userId="0f598feb-c4c0-4dda-b2c1-17de97a01329" providerId="ADAL" clId="{E7AA05E6-2E3A-4936-92BE-EF366E7850A9}" dt="2026-08-28T13:53:26.470" v="6" actId="47"/>
        <pc:sldMkLst>
          <pc:docMk/>
          <pc:sldMk cId="2113180339" sldId="1519"/>
        </pc:sldMkLst>
      </pc:sldChg>
      <pc:sldChg chg="modNotesTx">
        <pc:chgData name="Loecha Philion" userId="0f598feb-c4c0-4dda-b2c1-17de97a01329" providerId="ADAL" clId="{E7AA05E6-2E3A-4936-92BE-EF366E7850A9}" dt="2026-08-28T13:53:22.194" v="5" actId="6549"/>
        <pc:sldMkLst>
          <pc:docMk/>
          <pc:sldMk cId="2215254680" sldId="1520"/>
        </pc:sldMkLst>
      </pc:sldChg>
      <pc:sldChg chg="modNotesTx">
        <pc:chgData name="Loecha Philion" userId="0f598feb-c4c0-4dda-b2c1-17de97a01329" providerId="ADAL" clId="{E7AA05E6-2E3A-4936-92BE-EF366E7850A9}" dt="2026-08-28T13:53:16.420" v="4" actId="6549"/>
        <pc:sldMkLst>
          <pc:docMk/>
          <pc:sldMk cId="2388646846" sldId="1521"/>
        </pc:sldMkLst>
      </pc:sldChg>
      <pc:sldChg chg="modNotesTx">
        <pc:chgData name="Loecha Philion" userId="0f598feb-c4c0-4dda-b2c1-17de97a01329" providerId="ADAL" clId="{E7AA05E6-2E3A-4936-92BE-EF366E7850A9}" dt="2026-08-28T13:52:52.829" v="0" actId="6549"/>
        <pc:sldMkLst>
          <pc:docMk/>
          <pc:sldMk cId="267754294" sldId="1523"/>
        </pc:sldMkLst>
      </pc:sldChg>
      <pc:sldChg chg="modNotesTx">
        <pc:chgData name="Loecha Philion" userId="0f598feb-c4c0-4dda-b2c1-17de97a01329" providerId="ADAL" clId="{E7AA05E6-2E3A-4936-92BE-EF366E7850A9}" dt="2026-08-28T13:53:01.183" v="1" actId="6549"/>
        <pc:sldMkLst>
          <pc:docMk/>
          <pc:sldMk cId="3026091561" sldId="1528"/>
        </pc:sldMkLst>
      </pc:sldChg>
      <pc:sldChg chg="modNotesTx">
        <pc:chgData name="Loecha Philion" userId="0f598feb-c4c0-4dda-b2c1-17de97a01329" providerId="ADAL" clId="{E7AA05E6-2E3A-4936-92BE-EF366E7850A9}" dt="2026-08-28T13:54:36.229" v="22" actId="6549"/>
        <pc:sldMkLst>
          <pc:docMk/>
          <pc:sldMk cId="806275977" sldId="1531"/>
        </pc:sldMkLst>
      </pc:sldChg>
      <pc:sldChg chg="modNotesTx">
        <pc:chgData name="Loecha Philion" userId="0f598feb-c4c0-4dda-b2c1-17de97a01329" providerId="ADAL" clId="{E7AA05E6-2E3A-4936-92BE-EF366E7850A9}" dt="2026-08-28T13:53:49.083" v="11" actId="6549"/>
        <pc:sldMkLst>
          <pc:docMk/>
          <pc:sldMk cId="1613665196" sldId="1534"/>
        </pc:sldMkLst>
      </pc:sldChg>
      <pc:sldChg chg="del">
        <pc:chgData name="Loecha Philion" userId="0f598feb-c4c0-4dda-b2c1-17de97a01329" providerId="ADAL" clId="{E7AA05E6-2E3A-4936-92BE-EF366E7850A9}" dt="2026-08-28T13:54:10.579" v="16" actId="47"/>
        <pc:sldMkLst>
          <pc:docMk/>
          <pc:sldMk cId="12229813" sldId="1550"/>
        </pc:sldMkLst>
      </pc:sldChg>
      <pc:sldChg chg="modNotesTx">
        <pc:chgData name="Loecha Philion" userId="0f598feb-c4c0-4dda-b2c1-17de97a01329" providerId="ADAL" clId="{E7AA05E6-2E3A-4936-92BE-EF366E7850A9}" dt="2026-08-28T13:54:18.433" v="18" actId="6549"/>
        <pc:sldMkLst>
          <pc:docMk/>
          <pc:sldMk cId="986100097" sldId="1552"/>
        </pc:sldMkLst>
      </pc:sldChg>
      <pc:sldChg chg="modNotesTx">
        <pc:chgData name="Loecha Philion" userId="0f598feb-c4c0-4dda-b2c1-17de97a01329" providerId="ADAL" clId="{E7AA05E6-2E3A-4936-92BE-EF366E7850A9}" dt="2026-08-28T13:53:31.756" v="7" actId="6549"/>
        <pc:sldMkLst>
          <pc:docMk/>
          <pc:sldMk cId="1459704826" sldId="1560"/>
        </pc:sldMkLst>
      </pc:sldChg>
      <pc:sldChg chg="modNotesTx">
        <pc:chgData name="Loecha Philion" userId="0f598feb-c4c0-4dda-b2c1-17de97a01329" providerId="ADAL" clId="{E7AA05E6-2E3A-4936-92BE-EF366E7850A9}" dt="2026-08-28T13:53:36.449" v="8" actId="6549"/>
        <pc:sldMkLst>
          <pc:docMk/>
          <pc:sldMk cId="2044904909" sldId="1568"/>
        </pc:sldMkLst>
      </pc:sldChg>
      <pc:sldChg chg="del">
        <pc:chgData name="Loecha Philion" userId="0f598feb-c4c0-4dda-b2c1-17de97a01329" providerId="ADAL" clId="{E7AA05E6-2E3A-4936-92BE-EF366E7850A9}" dt="2026-08-28T13:53:40.607" v="9" actId="47"/>
        <pc:sldMkLst>
          <pc:docMk/>
          <pc:sldMk cId="4099326778" sldId="1569"/>
        </pc:sldMkLst>
      </pc:sldChg>
      <pc:sldChg chg="modNotesTx">
        <pc:chgData name="Loecha Philion" userId="0f598feb-c4c0-4dda-b2c1-17de97a01329" providerId="ADAL" clId="{E7AA05E6-2E3A-4936-92BE-EF366E7850A9}" dt="2026-08-28T13:53:55.130" v="12" actId="6549"/>
        <pc:sldMkLst>
          <pc:docMk/>
          <pc:sldMk cId="131965200" sldId="1573"/>
        </pc:sldMkLst>
      </pc:sldChg>
      <pc:sldChg chg="del">
        <pc:chgData name="Loecha Philion" userId="0f598feb-c4c0-4dda-b2c1-17de97a01329" providerId="ADAL" clId="{E7AA05E6-2E3A-4936-92BE-EF366E7850A9}" dt="2026-08-28T13:53:44.675" v="10" actId="47"/>
        <pc:sldMkLst>
          <pc:docMk/>
          <pc:sldMk cId="3923207096" sldId="1578"/>
        </pc:sldMkLst>
      </pc:sldChg>
      <pc:sldChg chg="modNotesTx">
        <pc:chgData name="Loecha Philion" userId="0f598feb-c4c0-4dda-b2c1-17de97a01329" providerId="ADAL" clId="{E7AA05E6-2E3A-4936-92BE-EF366E7850A9}" dt="2026-08-28T13:54:07.425" v="15" actId="6549"/>
        <pc:sldMkLst>
          <pc:docMk/>
          <pc:sldMk cId="3047122890" sldId="1583"/>
        </pc:sldMkLst>
      </pc:sldChg>
      <pc:sldChg chg="modNotesTx">
        <pc:chgData name="Loecha Philion" userId="0f598feb-c4c0-4dda-b2c1-17de97a01329" providerId="ADAL" clId="{E7AA05E6-2E3A-4936-92BE-EF366E7850A9}" dt="2026-08-28T13:54:24.485" v="19" actId="6549"/>
        <pc:sldMkLst>
          <pc:docMk/>
          <pc:sldMk cId="534418978" sldId="1585"/>
        </pc:sldMkLst>
      </pc:sldChg>
      <pc:sldChg chg="del">
        <pc:chgData name="Loecha Philion" userId="0f598feb-c4c0-4dda-b2c1-17de97a01329" providerId="ADAL" clId="{E7AA05E6-2E3A-4936-92BE-EF366E7850A9}" dt="2026-08-28T13:54:31.798" v="21" actId="47"/>
        <pc:sldMkLst>
          <pc:docMk/>
          <pc:sldMk cId="1932029554" sldId="1586"/>
        </pc:sldMkLst>
      </pc:sldChg>
      <pc:sldChg chg="del">
        <pc:chgData name="Loecha Philion" userId="0f598feb-c4c0-4dda-b2c1-17de97a01329" providerId="ADAL" clId="{E7AA05E6-2E3A-4936-92BE-EF366E7850A9}" dt="2026-08-28T13:54:39.572" v="23" actId="47"/>
        <pc:sldMkLst>
          <pc:docMk/>
          <pc:sldMk cId="980272219" sldId="1589"/>
        </pc:sldMkLst>
      </pc:sldChg>
      <pc:sldChg chg="modNotesTx">
        <pc:chgData name="Loecha Philion" userId="0f598feb-c4c0-4dda-b2c1-17de97a01329" providerId="ADAL" clId="{E7AA05E6-2E3A-4936-92BE-EF366E7850A9}" dt="2026-08-28T13:54:29.322" v="20" actId="6549"/>
        <pc:sldMkLst>
          <pc:docMk/>
          <pc:sldMk cId="1592524686" sldId="159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4717BC-161C-4FD5-99EF-331300DBFAD1}"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fr-CA"/>
        </a:p>
      </dgm:t>
    </dgm:pt>
    <dgm:pt modelId="{499B1914-9304-4CD2-B82A-8A2534DAB8D8}">
      <dgm:prSet custT="1"/>
      <dgm:spPr>
        <a:solidFill>
          <a:schemeClr val="accent1">
            <a:lumMod val="40000"/>
            <a:lumOff val="60000"/>
          </a:schemeClr>
        </a:solidFill>
      </dgm:spPr>
      <dgm:t>
        <a:bodyPr/>
        <a:lstStyle/>
        <a:p>
          <a:pPr rtl="0"/>
          <a:r>
            <a:rPr lang="fr-CA" sz="2400" dirty="0">
              <a:solidFill>
                <a:schemeClr val="tx1"/>
              </a:solidFill>
            </a:rPr>
            <a:t>Coûts pertinents </a:t>
          </a:r>
        </a:p>
      </dgm:t>
    </dgm:pt>
    <dgm:pt modelId="{B4BD4D71-7C9C-4D89-AFFB-EDA4B2C86AA1}" type="parTrans" cxnId="{F633FA39-6EDA-4A50-AD40-7C7848CB58F2}">
      <dgm:prSet/>
      <dgm:spPr/>
      <dgm:t>
        <a:bodyPr/>
        <a:lstStyle/>
        <a:p>
          <a:endParaRPr lang="fr-CA"/>
        </a:p>
      </dgm:t>
    </dgm:pt>
    <dgm:pt modelId="{A5A97557-0438-47DA-B428-D42936C468B5}" type="sibTrans" cxnId="{F633FA39-6EDA-4A50-AD40-7C7848CB58F2}">
      <dgm:prSet/>
      <dgm:spPr/>
      <dgm:t>
        <a:bodyPr/>
        <a:lstStyle/>
        <a:p>
          <a:endParaRPr lang="fr-CA"/>
        </a:p>
      </dgm:t>
    </dgm:pt>
    <dgm:pt modelId="{3313A559-7E69-4B55-B707-42D94D328806}">
      <dgm:prSet/>
      <dgm:spPr/>
      <dgm:t>
        <a:bodyPr/>
        <a:lstStyle/>
        <a:p>
          <a:pPr rtl="0"/>
          <a:r>
            <a:rPr lang="fr-CA"/>
            <a:t>Liés à la prise de décision (acceptation de la commande spéciale)</a:t>
          </a:r>
        </a:p>
      </dgm:t>
    </dgm:pt>
    <dgm:pt modelId="{A98369E8-4337-4145-B21E-2CC6505C2BEC}" type="parTrans" cxnId="{1D916D80-CAB5-4597-9D68-20AA896A35E4}">
      <dgm:prSet/>
      <dgm:spPr/>
      <dgm:t>
        <a:bodyPr/>
        <a:lstStyle/>
        <a:p>
          <a:endParaRPr lang="fr-CA"/>
        </a:p>
      </dgm:t>
    </dgm:pt>
    <dgm:pt modelId="{EB0FA258-5029-44CE-8F59-45A65EB30A3B}" type="sibTrans" cxnId="{1D916D80-CAB5-4597-9D68-20AA896A35E4}">
      <dgm:prSet/>
      <dgm:spPr/>
      <dgm:t>
        <a:bodyPr/>
        <a:lstStyle/>
        <a:p>
          <a:endParaRPr lang="fr-CA"/>
        </a:p>
      </dgm:t>
    </dgm:pt>
    <dgm:pt modelId="{DC48927C-BF55-4650-BEAA-2BC94FDDCDEF}">
      <dgm:prSet custT="1"/>
      <dgm:spPr>
        <a:solidFill>
          <a:schemeClr val="accent1">
            <a:lumMod val="40000"/>
            <a:lumOff val="60000"/>
          </a:schemeClr>
        </a:solidFill>
      </dgm:spPr>
      <dgm:t>
        <a:bodyPr/>
        <a:lstStyle/>
        <a:p>
          <a:pPr rtl="0"/>
          <a:r>
            <a:rPr lang="fr-CA" sz="2400" dirty="0">
              <a:solidFill>
                <a:schemeClr val="tx1"/>
              </a:solidFill>
            </a:rPr>
            <a:t>Coûts non pertinents </a:t>
          </a:r>
        </a:p>
      </dgm:t>
    </dgm:pt>
    <dgm:pt modelId="{891A904F-A29E-45EC-BD1F-EAE6CDE7D04A}" type="parTrans" cxnId="{2A5B091D-6A6B-4DB2-865C-9F7FD7F40A65}">
      <dgm:prSet/>
      <dgm:spPr/>
      <dgm:t>
        <a:bodyPr/>
        <a:lstStyle/>
        <a:p>
          <a:endParaRPr lang="fr-CA"/>
        </a:p>
      </dgm:t>
    </dgm:pt>
    <dgm:pt modelId="{851EEE1C-BF81-47D6-BF39-95401AEFC29F}" type="sibTrans" cxnId="{2A5B091D-6A6B-4DB2-865C-9F7FD7F40A65}">
      <dgm:prSet/>
      <dgm:spPr/>
      <dgm:t>
        <a:bodyPr/>
        <a:lstStyle/>
        <a:p>
          <a:endParaRPr lang="fr-CA"/>
        </a:p>
      </dgm:t>
    </dgm:pt>
    <dgm:pt modelId="{661861DD-346C-498D-BF87-7AB7944039F0}">
      <dgm:prSet>
        <dgm:style>
          <a:lnRef idx="2">
            <a:schemeClr val="accent2"/>
          </a:lnRef>
          <a:fillRef idx="1">
            <a:schemeClr val="lt1"/>
          </a:fillRef>
          <a:effectRef idx="0">
            <a:schemeClr val="accent2"/>
          </a:effectRef>
          <a:fontRef idx="minor">
            <a:schemeClr val="dk1"/>
          </a:fontRef>
        </dgm:style>
      </dgm:prSet>
      <dgm:spPr/>
      <dgm:t>
        <a:bodyPr/>
        <a:lstStyle/>
        <a:p>
          <a:pPr rtl="0"/>
          <a:r>
            <a:rPr lang="fr-CA"/>
            <a:t>Ne sont pas modifiés par la décision </a:t>
          </a:r>
        </a:p>
        <a:p>
          <a:pPr rtl="0"/>
          <a:r>
            <a:rPr lang="fr-CA"/>
            <a:t>(Décision : acceptation de la commande)</a:t>
          </a:r>
        </a:p>
      </dgm:t>
    </dgm:pt>
    <dgm:pt modelId="{0449A25C-9F45-424C-AB82-FC24E9EBB57A}" type="parTrans" cxnId="{C93E880F-1564-4028-AC7E-21A6C5AE656E}">
      <dgm:prSet/>
      <dgm:spPr/>
      <dgm:t>
        <a:bodyPr/>
        <a:lstStyle/>
        <a:p>
          <a:endParaRPr lang="fr-CA"/>
        </a:p>
      </dgm:t>
    </dgm:pt>
    <dgm:pt modelId="{0A2FCB46-09F8-4F2A-ADF0-DD58C17D1663}" type="sibTrans" cxnId="{C93E880F-1564-4028-AC7E-21A6C5AE656E}">
      <dgm:prSet/>
      <dgm:spPr/>
      <dgm:t>
        <a:bodyPr/>
        <a:lstStyle/>
        <a:p>
          <a:endParaRPr lang="fr-CA"/>
        </a:p>
      </dgm:t>
    </dgm:pt>
    <dgm:pt modelId="{D197C5F9-24D9-4B6F-8362-34FACC1F4DB9}">
      <dgm:prSet>
        <dgm:style>
          <a:lnRef idx="2">
            <a:schemeClr val="accent3">
              <a:shade val="50000"/>
            </a:schemeClr>
          </a:lnRef>
          <a:fillRef idx="1">
            <a:schemeClr val="accent3"/>
          </a:fillRef>
          <a:effectRef idx="0">
            <a:schemeClr val="accent3"/>
          </a:effectRef>
          <a:fontRef idx="minor">
            <a:schemeClr val="lt1"/>
          </a:fontRef>
        </dgm:style>
      </dgm:prSet>
      <dgm:spPr>
        <a:solidFill>
          <a:schemeClr val="accent3">
            <a:lumMod val="40000"/>
            <a:lumOff val="60000"/>
          </a:schemeClr>
        </a:solidFill>
      </dgm:spPr>
      <dgm:t>
        <a:bodyPr/>
        <a:lstStyle/>
        <a:p>
          <a:pPr rtl="0"/>
          <a:r>
            <a:rPr lang="fr-CA" dirty="0">
              <a:solidFill>
                <a:schemeClr val="tx1"/>
              </a:solidFill>
            </a:rPr>
            <a:t>Analyse qualitative</a:t>
          </a:r>
        </a:p>
      </dgm:t>
    </dgm:pt>
    <dgm:pt modelId="{0F3295D8-3E6D-4DC6-9C76-C9775574EECA}" type="parTrans" cxnId="{E5B4EE30-84AF-491C-9927-0E158CE5B747}">
      <dgm:prSet/>
      <dgm:spPr/>
      <dgm:t>
        <a:bodyPr/>
        <a:lstStyle/>
        <a:p>
          <a:endParaRPr lang="fr-CA"/>
        </a:p>
      </dgm:t>
    </dgm:pt>
    <dgm:pt modelId="{55EC6C22-CCD6-4F12-8581-0C5BA9639358}" type="sibTrans" cxnId="{E5B4EE30-84AF-491C-9927-0E158CE5B747}">
      <dgm:prSet/>
      <dgm:spPr/>
      <dgm:t>
        <a:bodyPr/>
        <a:lstStyle/>
        <a:p>
          <a:endParaRPr lang="fr-CA"/>
        </a:p>
      </dgm:t>
    </dgm:pt>
    <dgm:pt modelId="{1A285E83-6D1F-4DCE-9C8D-742EB6F3AE55}">
      <dgm:prSet>
        <dgm:style>
          <a:lnRef idx="2">
            <a:schemeClr val="accent3"/>
          </a:lnRef>
          <a:fillRef idx="1">
            <a:schemeClr val="lt1"/>
          </a:fillRef>
          <a:effectRef idx="0">
            <a:schemeClr val="accent3"/>
          </a:effectRef>
          <a:fontRef idx="minor">
            <a:schemeClr val="dk1"/>
          </a:fontRef>
        </dgm:style>
      </dgm:prSet>
      <dgm:spPr/>
      <dgm:t>
        <a:bodyPr/>
        <a:lstStyle/>
        <a:p>
          <a:pPr rtl="0"/>
          <a:r>
            <a:rPr lang="fr-CA"/>
            <a:t>Information utile</a:t>
          </a:r>
        </a:p>
      </dgm:t>
    </dgm:pt>
    <dgm:pt modelId="{F5789094-8819-4CB7-BE0D-CD34E425C951}" type="parTrans" cxnId="{37B82B64-F495-4842-B16F-FC1526FFA670}">
      <dgm:prSet/>
      <dgm:spPr/>
      <dgm:t>
        <a:bodyPr/>
        <a:lstStyle/>
        <a:p>
          <a:endParaRPr lang="fr-CA"/>
        </a:p>
      </dgm:t>
    </dgm:pt>
    <dgm:pt modelId="{6814F2BA-DDF2-47ED-8AB4-FA74C163F177}" type="sibTrans" cxnId="{37B82B64-F495-4842-B16F-FC1526FFA670}">
      <dgm:prSet/>
      <dgm:spPr/>
      <dgm:t>
        <a:bodyPr/>
        <a:lstStyle/>
        <a:p>
          <a:endParaRPr lang="fr-CA"/>
        </a:p>
      </dgm:t>
    </dgm:pt>
    <dgm:pt modelId="{CCA1FC35-8095-4564-B87B-4B096D85A5B9}" type="pres">
      <dgm:prSet presAssocID="{5C4717BC-161C-4FD5-99EF-331300DBFAD1}" presName="diagram" presStyleCnt="0">
        <dgm:presLayoutVars>
          <dgm:chPref val="1"/>
          <dgm:dir/>
          <dgm:animOne val="branch"/>
          <dgm:animLvl val="lvl"/>
          <dgm:resizeHandles/>
        </dgm:presLayoutVars>
      </dgm:prSet>
      <dgm:spPr/>
    </dgm:pt>
    <dgm:pt modelId="{924BC847-9608-4385-808D-44F5E6157173}" type="pres">
      <dgm:prSet presAssocID="{499B1914-9304-4CD2-B82A-8A2534DAB8D8}" presName="root" presStyleCnt="0"/>
      <dgm:spPr/>
    </dgm:pt>
    <dgm:pt modelId="{6102A0F0-2C03-4CEA-BD9D-F7095B47911D}" type="pres">
      <dgm:prSet presAssocID="{499B1914-9304-4CD2-B82A-8A2534DAB8D8}" presName="rootComposite" presStyleCnt="0"/>
      <dgm:spPr/>
    </dgm:pt>
    <dgm:pt modelId="{97952FE1-FD20-4BE9-B04D-98912C9DA3EE}" type="pres">
      <dgm:prSet presAssocID="{499B1914-9304-4CD2-B82A-8A2534DAB8D8}" presName="rootText" presStyleLbl="node1" presStyleIdx="0" presStyleCnt="3"/>
      <dgm:spPr/>
    </dgm:pt>
    <dgm:pt modelId="{4EEF2532-AFCD-4031-BBF4-A0A040501901}" type="pres">
      <dgm:prSet presAssocID="{499B1914-9304-4CD2-B82A-8A2534DAB8D8}" presName="rootConnector" presStyleLbl="node1" presStyleIdx="0" presStyleCnt="3"/>
      <dgm:spPr/>
    </dgm:pt>
    <dgm:pt modelId="{BCD0C3CF-0B81-4C72-8CE1-FEE1EEF83833}" type="pres">
      <dgm:prSet presAssocID="{499B1914-9304-4CD2-B82A-8A2534DAB8D8}" presName="childShape" presStyleCnt="0"/>
      <dgm:spPr/>
    </dgm:pt>
    <dgm:pt modelId="{5A8943E9-AD6B-484B-AE38-19EF6960224C}" type="pres">
      <dgm:prSet presAssocID="{A98369E8-4337-4145-B21E-2CC6505C2BEC}" presName="Name13" presStyleLbl="parChTrans1D2" presStyleIdx="0" presStyleCnt="3"/>
      <dgm:spPr/>
    </dgm:pt>
    <dgm:pt modelId="{AEADE43C-C105-4535-BDE4-E9AD20D9CC0C}" type="pres">
      <dgm:prSet presAssocID="{3313A559-7E69-4B55-B707-42D94D328806}" presName="childText" presStyleLbl="bgAcc1" presStyleIdx="0" presStyleCnt="3">
        <dgm:presLayoutVars>
          <dgm:bulletEnabled val="1"/>
        </dgm:presLayoutVars>
      </dgm:prSet>
      <dgm:spPr/>
    </dgm:pt>
    <dgm:pt modelId="{9268E78F-B163-4B3C-879C-49A1A71BD403}" type="pres">
      <dgm:prSet presAssocID="{DC48927C-BF55-4650-BEAA-2BC94FDDCDEF}" presName="root" presStyleCnt="0"/>
      <dgm:spPr/>
    </dgm:pt>
    <dgm:pt modelId="{DB440B00-4D88-42DD-A02E-BD4ADD9FBE3F}" type="pres">
      <dgm:prSet presAssocID="{DC48927C-BF55-4650-BEAA-2BC94FDDCDEF}" presName="rootComposite" presStyleCnt="0"/>
      <dgm:spPr/>
    </dgm:pt>
    <dgm:pt modelId="{BE118F65-83AB-4EFE-84CF-BA6EA5310031}" type="pres">
      <dgm:prSet presAssocID="{DC48927C-BF55-4650-BEAA-2BC94FDDCDEF}" presName="rootText" presStyleLbl="node1" presStyleIdx="1" presStyleCnt="3"/>
      <dgm:spPr/>
    </dgm:pt>
    <dgm:pt modelId="{4E94C76D-DAF5-481C-BC48-C6290C3A06D4}" type="pres">
      <dgm:prSet presAssocID="{DC48927C-BF55-4650-BEAA-2BC94FDDCDEF}" presName="rootConnector" presStyleLbl="node1" presStyleIdx="1" presStyleCnt="3"/>
      <dgm:spPr/>
    </dgm:pt>
    <dgm:pt modelId="{FF163B12-2936-4C61-B8C6-2BE33F35F537}" type="pres">
      <dgm:prSet presAssocID="{DC48927C-BF55-4650-BEAA-2BC94FDDCDEF}" presName="childShape" presStyleCnt="0"/>
      <dgm:spPr/>
    </dgm:pt>
    <dgm:pt modelId="{971FF7A1-F923-49D4-9DAC-33EB088DDF3E}" type="pres">
      <dgm:prSet presAssocID="{0449A25C-9F45-424C-AB82-FC24E9EBB57A}" presName="Name13" presStyleLbl="parChTrans1D2" presStyleIdx="1" presStyleCnt="3"/>
      <dgm:spPr/>
    </dgm:pt>
    <dgm:pt modelId="{0A255691-60B5-4B93-A558-C41F21E3EDFB}" type="pres">
      <dgm:prSet presAssocID="{661861DD-346C-498D-BF87-7AB7944039F0}" presName="childText" presStyleLbl="bgAcc1" presStyleIdx="1" presStyleCnt="3" custScaleX="197738">
        <dgm:presLayoutVars>
          <dgm:bulletEnabled val="1"/>
        </dgm:presLayoutVars>
      </dgm:prSet>
      <dgm:spPr/>
    </dgm:pt>
    <dgm:pt modelId="{5EB4647D-E671-4105-90A4-FA2220092392}" type="pres">
      <dgm:prSet presAssocID="{D197C5F9-24D9-4B6F-8362-34FACC1F4DB9}" presName="root" presStyleCnt="0"/>
      <dgm:spPr/>
    </dgm:pt>
    <dgm:pt modelId="{3B9D4877-A73B-4A30-9621-E7CB770C8874}" type="pres">
      <dgm:prSet presAssocID="{D197C5F9-24D9-4B6F-8362-34FACC1F4DB9}" presName="rootComposite" presStyleCnt="0"/>
      <dgm:spPr/>
    </dgm:pt>
    <dgm:pt modelId="{1DB34EFD-17DB-436A-BD4E-9E01F861DAD3}" type="pres">
      <dgm:prSet presAssocID="{D197C5F9-24D9-4B6F-8362-34FACC1F4DB9}" presName="rootText" presStyleLbl="node1" presStyleIdx="2" presStyleCnt="3" custLinFactNeighborX="27138"/>
      <dgm:spPr/>
    </dgm:pt>
    <dgm:pt modelId="{13EB9FE9-5501-4D23-A5D5-1273B5CFE3DF}" type="pres">
      <dgm:prSet presAssocID="{D197C5F9-24D9-4B6F-8362-34FACC1F4DB9}" presName="rootConnector" presStyleLbl="node1" presStyleIdx="2" presStyleCnt="3"/>
      <dgm:spPr/>
    </dgm:pt>
    <dgm:pt modelId="{89044646-35CE-4677-B7C9-EE91CBF8113A}" type="pres">
      <dgm:prSet presAssocID="{D197C5F9-24D9-4B6F-8362-34FACC1F4DB9}" presName="childShape" presStyleCnt="0"/>
      <dgm:spPr/>
    </dgm:pt>
    <dgm:pt modelId="{D2285B30-EFC7-4C24-A4B2-A6FA42054CB4}" type="pres">
      <dgm:prSet presAssocID="{F5789094-8819-4CB7-BE0D-CD34E425C951}" presName="Name13" presStyleLbl="parChTrans1D2" presStyleIdx="2" presStyleCnt="3"/>
      <dgm:spPr/>
    </dgm:pt>
    <dgm:pt modelId="{BDA68A8A-8703-403D-8D4C-7974736B98B7}" type="pres">
      <dgm:prSet presAssocID="{1A285E83-6D1F-4DCE-9C8D-742EB6F3AE55}" presName="childText" presStyleLbl="bgAcc1" presStyleIdx="2" presStyleCnt="3" custLinFactNeighborX="11332" custLinFactNeighborY="-2574">
        <dgm:presLayoutVars>
          <dgm:bulletEnabled val="1"/>
        </dgm:presLayoutVars>
      </dgm:prSet>
      <dgm:spPr/>
    </dgm:pt>
  </dgm:ptLst>
  <dgm:cxnLst>
    <dgm:cxn modelId="{C93E880F-1564-4028-AC7E-21A6C5AE656E}" srcId="{DC48927C-BF55-4650-BEAA-2BC94FDDCDEF}" destId="{661861DD-346C-498D-BF87-7AB7944039F0}" srcOrd="0" destOrd="0" parTransId="{0449A25C-9F45-424C-AB82-FC24E9EBB57A}" sibTransId="{0A2FCB46-09F8-4F2A-ADF0-DD58C17D1663}"/>
    <dgm:cxn modelId="{2A5B091D-6A6B-4DB2-865C-9F7FD7F40A65}" srcId="{5C4717BC-161C-4FD5-99EF-331300DBFAD1}" destId="{DC48927C-BF55-4650-BEAA-2BC94FDDCDEF}" srcOrd="1" destOrd="0" parTransId="{891A904F-A29E-45EC-BD1F-EAE6CDE7D04A}" sibTransId="{851EEE1C-BF81-47D6-BF39-95401AEFC29F}"/>
    <dgm:cxn modelId="{64506D20-50ED-4F62-9A2C-1AA3767CBF28}" type="presOf" srcId="{499B1914-9304-4CD2-B82A-8A2534DAB8D8}" destId="{97952FE1-FD20-4BE9-B04D-98912C9DA3EE}" srcOrd="0" destOrd="0" presId="urn:microsoft.com/office/officeart/2005/8/layout/hierarchy3"/>
    <dgm:cxn modelId="{3D21F525-8FAF-404B-9369-202AF6DDC247}" type="presOf" srcId="{0449A25C-9F45-424C-AB82-FC24E9EBB57A}" destId="{971FF7A1-F923-49D4-9DAC-33EB088DDF3E}" srcOrd="0" destOrd="0" presId="urn:microsoft.com/office/officeart/2005/8/layout/hierarchy3"/>
    <dgm:cxn modelId="{E5B4EE30-84AF-491C-9927-0E158CE5B747}" srcId="{5C4717BC-161C-4FD5-99EF-331300DBFAD1}" destId="{D197C5F9-24D9-4B6F-8362-34FACC1F4DB9}" srcOrd="2" destOrd="0" parTransId="{0F3295D8-3E6D-4DC6-9C76-C9775574EECA}" sibTransId="{55EC6C22-CCD6-4F12-8581-0C5BA9639358}"/>
    <dgm:cxn modelId="{F633FA39-6EDA-4A50-AD40-7C7848CB58F2}" srcId="{5C4717BC-161C-4FD5-99EF-331300DBFAD1}" destId="{499B1914-9304-4CD2-B82A-8A2534DAB8D8}" srcOrd="0" destOrd="0" parTransId="{B4BD4D71-7C9C-4D89-AFFB-EDA4B2C86AA1}" sibTransId="{A5A97557-0438-47DA-B428-D42936C468B5}"/>
    <dgm:cxn modelId="{37B82B64-F495-4842-B16F-FC1526FFA670}" srcId="{D197C5F9-24D9-4B6F-8362-34FACC1F4DB9}" destId="{1A285E83-6D1F-4DCE-9C8D-742EB6F3AE55}" srcOrd="0" destOrd="0" parTransId="{F5789094-8819-4CB7-BE0D-CD34E425C951}" sibTransId="{6814F2BA-DDF2-47ED-8AB4-FA74C163F177}"/>
    <dgm:cxn modelId="{DE26816B-49FF-437C-B966-C1D7998E5B07}" type="presOf" srcId="{661861DD-346C-498D-BF87-7AB7944039F0}" destId="{0A255691-60B5-4B93-A558-C41F21E3EDFB}" srcOrd="0" destOrd="0" presId="urn:microsoft.com/office/officeart/2005/8/layout/hierarchy3"/>
    <dgm:cxn modelId="{4C5A6870-AE4E-469F-80F7-23C87E8979CB}" type="presOf" srcId="{F5789094-8819-4CB7-BE0D-CD34E425C951}" destId="{D2285B30-EFC7-4C24-A4B2-A6FA42054CB4}" srcOrd="0" destOrd="0" presId="urn:microsoft.com/office/officeart/2005/8/layout/hierarchy3"/>
    <dgm:cxn modelId="{5510DA57-B2A7-42AE-9806-D266E875D1A7}" type="presOf" srcId="{D197C5F9-24D9-4B6F-8362-34FACC1F4DB9}" destId="{1DB34EFD-17DB-436A-BD4E-9E01F861DAD3}" srcOrd="0" destOrd="0" presId="urn:microsoft.com/office/officeart/2005/8/layout/hierarchy3"/>
    <dgm:cxn modelId="{1D916D80-CAB5-4597-9D68-20AA896A35E4}" srcId="{499B1914-9304-4CD2-B82A-8A2534DAB8D8}" destId="{3313A559-7E69-4B55-B707-42D94D328806}" srcOrd="0" destOrd="0" parTransId="{A98369E8-4337-4145-B21E-2CC6505C2BEC}" sibTransId="{EB0FA258-5029-44CE-8F59-45A65EB30A3B}"/>
    <dgm:cxn modelId="{F5858594-3175-4DD0-AC48-A2B953E75081}" type="presOf" srcId="{A98369E8-4337-4145-B21E-2CC6505C2BEC}" destId="{5A8943E9-AD6B-484B-AE38-19EF6960224C}" srcOrd="0" destOrd="0" presId="urn:microsoft.com/office/officeart/2005/8/layout/hierarchy3"/>
    <dgm:cxn modelId="{A641139D-39D7-4443-A177-F4C8141FC500}" type="presOf" srcId="{499B1914-9304-4CD2-B82A-8A2534DAB8D8}" destId="{4EEF2532-AFCD-4031-BBF4-A0A040501901}" srcOrd="1" destOrd="0" presId="urn:microsoft.com/office/officeart/2005/8/layout/hierarchy3"/>
    <dgm:cxn modelId="{9D1BA9A7-FD88-4564-B1DB-707E65B006C9}" type="presOf" srcId="{5C4717BC-161C-4FD5-99EF-331300DBFAD1}" destId="{CCA1FC35-8095-4564-B87B-4B096D85A5B9}" srcOrd="0" destOrd="0" presId="urn:microsoft.com/office/officeart/2005/8/layout/hierarchy3"/>
    <dgm:cxn modelId="{9015E6AE-6FB5-4979-8E93-150D84AF7460}" type="presOf" srcId="{DC48927C-BF55-4650-BEAA-2BC94FDDCDEF}" destId="{BE118F65-83AB-4EFE-84CF-BA6EA5310031}" srcOrd="0" destOrd="0" presId="urn:microsoft.com/office/officeart/2005/8/layout/hierarchy3"/>
    <dgm:cxn modelId="{EC9CF7C1-6D1A-4712-A014-9F06899A3659}" type="presOf" srcId="{3313A559-7E69-4B55-B707-42D94D328806}" destId="{AEADE43C-C105-4535-BDE4-E9AD20D9CC0C}" srcOrd="0" destOrd="0" presId="urn:microsoft.com/office/officeart/2005/8/layout/hierarchy3"/>
    <dgm:cxn modelId="{70F21EDD-9F2B-4B84-8BE6-397B27B16A9A}" type="presOf" srcId="{DC48927C-BF55-4650-BEAA-2BC94FDDCDEF}" destId="{4E94C76D-DAF5-481C-BC48-C6290C3A06D4}" srcOrd="1" destOrd="0" presId="urn:microsoft.com/office/officeart/2005/8/layout/hierarchy3"/>
    <dgm:cxn modelId="{8EF22EE1-048A-4F22-9741-E886A8EA18EF}" type="presOf" srcId="{D197C5F9-24D9-4B6F-8362-34FACC1F4DB9}" destId="{13EB9FE9-5501-4D23-A5D5-1273B5CFE3DF}" srcOrd="1" destOrd="0" presId="urn:microsoft.com/office/officeart/2005/8/layout/hierarchy3"/>
    <dgm:cxn modelId="{A23D67FE-8480-48B0-8353-E05B2E120CC2}" type="presOf" srcId="{1A285E83-6D1F-4DCE-9C8D-742EB6F3AE55}" destId="{BDA68A8A-8703-403D-8D4C-7974736B98B7}" srcOrd="0" destOrd="0" presId="urn:microsoft.com/office/officeart/2005/8/layout/hierarchy3"/>
    <dgm:cxn modelId="{18DA84CB-C4D8-4DE1-903B-AC26DCDF9580}" type="presParOf" srcId="{CCA1FC35-8095-4564-B87B-4B096D85A5B9}" destId="{924BC847-9608-4385-808D-44F5E6157173}" srcOrd="0" destOrd="0" presId="urn:microsoft.com/office/officeart/2005/8/layout/hierarchy3"/>
    <dgm:cxn modelId="{8D7CF9A6-0A1E-4D58-BB40-815FFF074DE1}" type="presParOf" srcId="{924BC847-9608-4385-808D-44F5E6157173}" destId="{6102A0F0-2C03-4CEA-BD9D-F7095B47911D}" srcOrd="0" destOrd="0" presId="urn:microsoft.com/office/officeart/2005/8/layout/hierarchy3"/>
    <dgm:cxn modelId="{2C89E9AA-8AAC-4F18-B9F6-B25430DB97B7}" type="presParOf" srcId="{6102A0F0-2C03-4CEA-BD9D-F7095B47911D}" destId="{97952FE1-FD20-4BE9-B04D-98912C9DA3EE}" srcOrd="0" destOrd="0" presId="urn:microsoft.com/office/officeart/2005/8/layout/hierarchy3"/>
    <dgm:cxn modelId="{73303074-EF39-4EF3-B2C2-FE5B6D99C118}" type="presParOf" srcId="{6102A0F0-2C03-4CEA-BD9D-F7095B47911D}" destId="{4EEF2532-AFCD-4031-BBF4-A0A040501901}" srcOrd="1" destOrd="0" presId="urn:microsoft.com/office/officeart/2005/8/layout/hierarchy3"/>
    <dgm:cxn modelId="{5A09EA2E-2F19-485E-B71E-AF463A3407ED}" type="presParOf" srcId="{924BC847-9608-4385-808D-44F5E6157173}" destId="{BCD0C3CF-0B81-4C72-8CE1-FEE1EEF83833}" srcOrd="1" destOrd="0" presId="urn:microsoft.com/office/officeart/2005/8/layout/hierarchy3"/>
    <dgm:cxn modelId="{78672152-7516-4BAE-A858-56537655C1A0}" type="presParOf" srcId="{BCD0C3CF-0B81-4C72-8CE1-FEE1EEF83833}" destId="{5A8943E9-AD6B-484B-AE38-19EF6960224C}" srcOrd="0" destOrd="0" presId="urn:microsoft.com/office/officeart/2005/8/layout/hierarchy3"/>
    <dgm:cxn modelId="{EAD41C4E-16D4-44E7-88F9-A0B9D97655EC}" type="presParOf" srcId="{BCD0C3CF-0B81-4C72-8CE1-FEE1EEF83833}" destId="{AEADE43C-C105-4535-BDE4-E9AD20D9CC0C}" srcOrd="1" destOrd="0" presId="urn:microsoft.com/office/officeart/2005/8/layout/hierarchy3"/>
    <dgm:cxn modelId="{171B928A-8BE1-43C3-9A76-F645C4076814}" type="presParOf" srcId="{CCA1FC35-8095-4564-B87B-4B096D85A5B9}" destId="{9268E78F-B163-4B3C-879C-49A1A71BD403}" srcOrd="1" destOrd="0" presId="urn:microsoft.com/office/officeart/2005/8/layout/hierarchy3"/>
    <dgm:cxn modelId="{43027A6E-543F-473D-A12B-5A9AC7952BAB}" type="presParOf" srcId="{9268E78F-B163-4B3C-879C-49A1A71BD403}" destId="{DB440B00-4D88-42DD-A02E-BD4ADD9FBE3F}" srcOrd="0" destOrd="0" presId="urn:microsoft.com/office/officeart/2005/8/layout/hierarchy3"/>
    <dgm:cxn modelId="{DD908422-1032-4C44-B759-5D2A24F84D97}" type="presParOf" srcId="{DB440B00-4D88-42DD-A02E-BD4ADD9FBE3F}" destId="{BE118F65-83AB-4EFE-84CF-BA6EA5310031}" srcOrd="0" destOrd="0" presId="urn:microsoft.com/office/officeart/2005/8/layout/hierarchy3"/>
    <dgm:cxn modelId="{9BA7042F-DD47-47E2-8C7B-839590D55C8B}" type="presParOf" srcId="{DB440B00-4D88-42DD-A02E-BD4ADD9FBE3F}" destId="{4E94C76D-DAF5-481C-BC48-C6290C3A06D4}" srcOrd="1" destOrd="0" presId="urn:microsoft.com/office/officeart/2005/8/layout/hierarchy3"/>
    <dgm:cxn modelId="{A174DFEF-16B8-43D6-854C-6889B8EBDD55}" type="presParOf" srcId="{9268E78F-B163-4B3C-879C-49A1A71BD403}" destId="{FF163B12-2936-4C61-B8C6-2BE33F35F537}" srcOrd="1" destOrd="0" presId="urn:microsoft.com/office/officeart/2005/8/layout/hierarchy3"/>
    <dgm:cxn modelId="{EF15CD29-5ADE-4A8B-8504-72F89E2EBED7}" type="presParOf" srcId="{FF163B12-2936-4C61-B8C6-2BE33F35F537}" destId="{971FF7A1-F923-49D4-9DAC-33EB088DDF3E}" srcOrd="0" destOrd="0" presId="urn:microsoft.com/office/officeart/2005/8/layout/hierarchy3"/>
    <dgm:cxn modelId="{217E9C9B-80F1-4157-9AD1-6F79F559CF23}" type="presParOf" srcId="{FF163B12-2936-4C61-B8C6-2BE33F35F537}" destId="{0A255691-60B5-4B93-A558-C41F21E3EDFB}" srcOrd="1" destOrd="0" presId="urn:microsoft.com/office/officeart/2005/8/layout/hierarchy3"/>
    <dgm:cxn modelId="{8A822DF7-7FBA-4651-A5F4-5175971D5E1A}" type="presParOf" srcId="{CCA1FC35-8095-4564-B87B-4B096D85A5B9}" destId="{5EB4647D-E671-4105-90A4-FA2220092392}" srcOrd="2" destOrd="0" presId="urn:microsoft.com/office/officeart/2005/8/layout/hierarchy3"/>
    <dgm:cxn modelId="{69E6706F-50CD-4CF1-B96F-422DD4BBEED3}" type="presParOf" srcId="{5EB4647D-E671-4105-90A4-FA2220092392}" destId="{3B9D4877-A73B-4A30-9621-E7CB770C8874}" srcOrd="0" destOrd="0" presId="urn:microsoft.com/office/officeart/2005/8/layout/hierarchy3"/>
    <dgm:cxn modelId="{6FDFE4C8-AD80-429F-9C60-99D4FF512D9C}" type="presParOf" srcId="{3B9D4877-A73B-4A30-9621-E7CB770C8874}" destId="{1DB34EFD-17DB-436A-BD4E-9E01F861DAD3}" srcOrd="0" destOrd="0" presId="urn:microsoft.com/office/officeart/2005/8/layout/hierarchy3"/>
    <dgm:cxn modelId="{05C287E7-3F86-448D-A710-CEC6AA56EAB5}" type="presParOf" srcId="{3B9D4877-A73B-4A30-9621-E7CB770C8874}" destId="{13EB9FE9-5501-4D23-A5D5-1273B5CFE3DF}" srcOrd="1" destOrd="0" presId="urn:microsoft.com/office/officeart/2005/8/layout/hierarchy3"/>
    <dgm:cxn modelId="{A9A697CC-441F-4D36-8A45-30931912E5D5}" type="presParOf" srcId="{5EB4647D-E671-4105-90A4-FA2220092392}" destId="{89044646-35CE-4677-B7C9-EE91CBF8113A}" srcOrd="1" destOrd="0" presId="urn:microsoft.com/office/officeart/2005/8/layout/hierarchy3"/>
    <dgm:cxn modelId="{011A4403-6F0C-4627-8F16-6A176852C8CC}" type="presParOf" srcId="{89044646-35CE-4677-B7C9-EE91CBF8113A}" destId="{D2285B30-EFC7-4C24-A4B2-A6FA42054CB4}" srcOrd="0" destOrd="0" presId="urn:microsoft.com/office/officeart/2005/8/layout/hierarchy3"/>
    <dgm:cxn modelId="{30E22F79-2CD4-4336-B1EC-4977C8650E82}" type="presParOf" srcId="{89044646-35CE-4677-B7C9-EE91CBF8113A}" destId="{BDA68A8A-8703-403D-8D4C-7974736B98B7}" srcOrd="1" destOrd="0" presId="urn:microsoft.com/office/officeart/2005/8/layout/hierarchy3"/>
  </dgm:cxnLst>
  <dgm:bg/>
  <dgm:whole>
    <a:ln>
      <a:noFill/>
    </a:ln>
  </dgm:whole>
  <dgm:extLst>
    <a:ext uri="http://schemas.microsoft.com/office/drawing/2008/diagram">
      <dsp:dataModelExt xmlns:dsp="http://schemas.microsoft.com/office/drawing/2008/diagram" relId="rId13"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4F964FB9-632C-4F41-8D9D-92205989E9D7}" type="doc">
      <dgm:prSet loTypeId="urn:microsoft.com/office/officeart/2005/8/layout/hierarchy2" loCatId="hierarchy" qsTypeId="urn:microsoft.com/office/officeart/2005/8/quickstyle/simple1" qsCatId="simple" csTypeId="urn:microsoft.com/office/officeart/2005/8/colors/accent1_1" csCatId="accent1" phldr="1"/>
      <dgm:spPr/>
      <dgm:t>
        <a:bodyPr/>
        <a:lstStyle/>
        <a:p>
          <a:endParaRPr lang="fr-CA"/>
        </a:p>
      </dgm:t>
    </dgm:pt>
    <dgm:pt modelId="{3C8F8D1D-7193-4071-93BA-53072B7237C9}">
      <dgm:prSet phldrT="[Texte]"/>
      <dgm:spPr/>
      <dgm:t>
        <a:bodyPr/>
        <a:lstStyle/>
        <a:p>
          <a:r>
            <a:rPr lang="fr-CA"/>
            <a:t>Analyse de capacité</a:t>
          </a:r>
        </a:p>
      </dgm:t>
    </dgm:pt>
    <dgm:pt modelId="{8C764516-B240-4E91-9939-8125C18C6D3C}" type="parTrans" cxnId="{D504C4B0-4000-446B-8C01-CA6CDB8A3256}">
      <dgm:prSet/>
      <dgm:spPr/>
      <dgm:t>
        <a:bodyPr/>
        <a:lstStyle/>
        <a:p>
          <a:endParaRPr lang="fr-CA"/>
        </a:p>
      </dgm:t>
    </dgm:pt>
    <dgm:pt modelId="{615E53F9-F14C-4FB9-9726-23DE9B2A30F8}" type="sibTrans" cxnId="{D504C4B0-4000-446B-8C01-CA6CDB8A3256}">
      <dgm:prSet/>
      <dgm:spPr/>
      <dgm:t>
        <a:bodyPr/>
        <a:lstStyle/>
        <a:p>
          <a:endParaRPr lang="fr-CA"/>
        </a:p>
      </dgm:t>
    </dgm:pt>
    <dgm:pt modelId="{4073FEF5-448C-49A8-9484-55D724783FD1}">
      <dgm:prSet phldrT="[Texte]"/>
      <dgm:spPr/>
      <dgm:t>
        <a:bodyPr/>
        <a:lstStyle/>
        <a:p>
          <a:r>
            <a:rPr lang="fr-CA"/>
            <a:t>Excédent </a:t>
          </a:r>
        </a:p>
      </dgm:t>
    </dgm:pt>
    <dgm:pt modelId="{89368628-A74F-4ED6-B4A0-BDC96392A96C}" type="parTrans" cxnId="{ECACB6C3-E927-4128-8093-036AB4E18865}">
      <dgm:prSet/>
      <dgm:spPr/>
      <dgm:t>
        <a:bodyPr/>
        <a:lstStyle/>
        <a:p>
          <a:endParaRPr lang="fr-CA"/>
        </a:p>
      </dgm:t>
    </dgm:pt>
    <dgm:pt modelId="{49B2CDF8-755F-4264-A0C6-70EC5FD8A2B5}" type="sibTrans" cxnId="{ECACB6C3-E927-4128-8093-036AB4E18865}">
      <dgm:prSet/>
      <dgm:spPr/>
      <dgm:t>
        <a:bodyPr/>
        <a:lstStyle/>
        <a:p>
          <a:endParaRPr lang="fr-CA"/>
        </a:p>
      </dgm:t>
    </dgm:pt>
    <dgm:pt modelId="{EE522CE3-A7D8-4788-A1AC-3E2E2A83DE7F}">
      <dgm:prSet phldrT="[Texte]"/>
      <dgm:spPr/>
      <dgm:t>
        <a:bodyPr/>
        <a:lstStyle/>
        <a:p>
          <a:r>
            <a:rPr lang="fr-CA"/>
            <a:t>Produire les unités de la commande spéciale</a:t>
          </a:r>
        </a:p>
      </dgm:t>
    </dgm:pt>
    <dgm:pt modelId="{BEA0A583-6EE6-45BE-9DE6-D381AE410017}" type="parTrans" cxnId="{66C53C10-AB9B-42EB-BBA9-18A99D7CD89A}">
      <dgm:prSet/>
      <dgm:spPr/>
      <dgm:t>
        <a:bodyPr/>
        <a:lstStyle/>
        <a:p>
          <a:endParaRPr lang="fr-CA"/>
        </a:p>
      </dgm:t>
    </dgm:pt>
    <dgm:pt modelId="{F4CA4D63-BA15-42BE-BEB7-4F7D5EA90094}" type="sibTrans" cxnId="{66C53C10-AB9B-42EB-BBA9-18A99D7CD89A}">
      <dgm:prSet/>
      <dgm:spPr/>
      <dgm:t>
        <a:bodyPr/>
        <a:lstStyle/>
        <a:p>
          <a:endParaRPr lang="fr-CA"/>
        </a:p>
      </dgm:t>
    </dgm:pt>
    <dgm:pt modelId="{6673CC94-4C18-4599-A4D3-6E333D10A83B}">
      <dgm:prSet phldrT="[Texte]"/>
      <dgm:spPr/>
      <dgm:t>
        <a:bodyPr/>
        <a:lstStyle/>
        <a:p>
          <a:r>
            <a:rPr lang="fr-CA"/>
            <a:t>Déficit</a:t>
          </a:r>
        </a:p>
      </dgm:t>
    </dgm:pt>
    <dgm:pt modelId="{6FD8D24F-3EDA-4131-B6E4-39C2FE195887}" type="parTrans" cxnId="{1013CF89-A88C-4548-B909-38776742466E}">
      <dgm:prSet/>
      <dgm:spPr/>
      <dgm:t>
        <a:bodyPr/>
        <a:lstStyle/>
        <a:p>
          <a:endParaRPr lang="fr-CA"/>
        </a:p>
      </dgm:t>
    </dgm:pt>
    <dgm:pt modelId="{2328C59F-D645-403A-A7E6-D48799902579}" type="sibTrans" cxnId="{1013CF89-A88C-4548-B909-38776742466E}">
      <dgm:prSet/>
      <dgm:spPr/>
      <dgm:t>
        <a:bodyPr/>
        <a:lstStyle/>
        <a:p>
          <a:endParaRPr lang="fr-CA"/>
        </a:p>
      </dgm:t>
    </dgm:pt>
    <dgm:pt modelId="{C96DB403-61F7-4989-8916-B6B098564688}">
      <dgm:prSet phldrT="[Texte]"/>
      <dgm:spPr/>
      <dgm:t>
        <a:bodyPr/>
        <a:lstStyle/>
        <a:p>
          <a:r>
            <a:rPr lang="fr-CA"/>
            <a:t>Augmenter la capacité</a:t>
          </a:r>
        </a:p>
      </dgm:t>
    </dgm:pt>
    <dgm:pt modelId="{0F88830B-5D5E-4CAA-B875-39439F480BEA}" type="parTrans" cxnId="{EF7A3980-0EE4-445A-9C36-301B1DC518EF}">
      <dgm:prSet/>
      <dgm:spPr/>
      <dgm:t>
        <a:bodyPr/>
        <a:lstStyle/>
        <a:p>
          <a:endParaRPr lang="fr-CA"/>
        </a:p>
      </dgm:t>
    </dgm:pt>
    <dgm:pt modelId="{31C5CE2D-1FB7-4A5E-BC7A-A29A67CDB64B}" type="sibTrans" cxnId="{EF7A3980-0EE4-445A-9C36-301B1DC518EF}">
      <dgm:prSet/>
      <dgm:spPr/>
      <dgm:t>
        <a:bodyPr/>
        <a:lstStyle/>
        <a:p>
          <a:endParaRPr lang="fr-CA"/>
        </a:p>
      </dgm:t>
    </dgm:pt>
    <dgm:pt modelId="{ED79587B-B1C9-464E-9932-14C8D346B678}">
      <dgm:prSet phldrT="[Texte]"/>
      <dgm:spPr/>
      <dgm:t>
        <a:bodyPr/>
        <a:lstStyle/>
        <a:p>
          <a:r>
            <a:rPr lang="fr-CA" b="1">
              <a:solidFill>
                <a:schemeClr val="accent6">
                  <a:lumMod val="75000"/>
                </a:schemeClr>
              </a:solidFill>
            </a:rPr>
            <a:t>Renoncer </a:t>
          </a:r>
          <a:r>
            <a:rPr lang="fr-CA"/>
            <a:t>à des unités des clients réguliers</a:t>
          </a:r>
        </a:p>
      </dgm:t>
    </dgm:pt>
    <dgm:pt modelId="{3735F25A-C283-4791-80A5-8D863C56CA89}" type="parTrans" cxnId="{9018FAF3-8811-4820-B882-79AAE02DBAAF}">
      <dgm:prSet/>
      <dgm:spPr/>
      <dgm:t>
        <a:bodyPr/>
        <a:lstStyle/>
        <a:p>
          <a:endParaRPr lang="fr-CA"/>
        </a:p>
      </dgm:t>
    </dgm:pt>
    <dgm:pt modelId="{3FD08EF1-A3D4-4FBB-9145-09B305A44E12}" type="sibTrans" cxnId="{9018FAF3-8811-4820-B882-79AAE02DBAAF}">
      <dgm:prSet/>
      <dgm:spPr/>
      <dgm:t>
        <a:bodyPr/>
        <a:lstStyle/>
        <a:p>
          <a:endParaRPr lang="fr-CA"/>
        </a:p>
      </dgm:t>
    </dgm:pt>
    <dgm:pt modelId="{937353C8-5227-4687-9212-4E64C5A93B61}">
      <dgm:prSet phldrT="[Texte]"/>
      <dgm:spPr/>
      <dgm:t>
        <a:bodyPr/>
        <a:lstStyle/>
        <a:p>
          <a:r>
            <a:rPr lang="fr-CA" b="1" dirty="0"/>
            <a:t>Coût de renonciation</a:t>
          </a:r>
        </a:p>
      </dgm:t>
    </dgm:pt>
    <dgm:pt modelId="{B6C189BD-DCCF-4DB8-9670-B96143F51FCE}" type="parTrans" cxnId="{310436C0-E4A3-4057-BFC5-44A7E294F4EC}">
      <dgm:prSet/>
      <dgm:spPr/>
      <dgm:t>
        <a:bodyPr/>
        <a:lstStyle/>
        <a:p>
          <a:endParaRPr lang="fr-CA"/>
        </a:p>
      </dgm:t>
    </dgm:pt>
    <dgm:pt modelId="{22BDA9EA-CF47-403D-9D6A-53468AAFFD40}" type="sibTrans" cxnId="{310436C0-E4A3-4057-BFC5-44A7E294F4EC}">
      <dgm:prSet/>
      <dgm:spPr/>
      <dgm:t>
        <a:bodyPr/>
        <a:lstStyle/>
        <a:p>
          <a:endParaRPr lang="fr-CA"/>
        </a:p>
      </dgm:t>
    </dgm:pt>
    <dgm:pt modelId="{7FEF0715-273D-451D-B0CB-065F2C09E431}" type="pres">
      <dgm:prSet presAssocID="{4F964FB9-632C-4F41-8D9D-92205989E9D7}" presName="diagram" presStyleCnt="0">
        <dgm:presLayoutVars>
          <dgm:chPref val="1"/>
          <dgm:dir/>
          <dgm:animOne val="branch"/>
          <dgm:animLvl val="lvl"/>
          <dgm:resizeHandles val="exact"/>
        </dgm:presLayoutVars>
      </dgm:prSet>
      <dgm:spPr/>
    </dgm:pt>
    <dgm:pt modelId="{ECB8FFAC-1CE7-4FE6-AF46-EA1D8F57B9B8}" type="pres">
      <dgm:prSet presAssocID="{3C8F8D1D-7193-4071-93BA-53072B7237C9}" presName="root1" presStyleCnt="0"/>
      <dgm:spPr/>
    </dgm:pt>
    <dgm:pt modelId="{FD309663-DB26-408D-A847-B62A19EB35D3}" type="pres">
      <dgm:prSet presAssocID="{3C8F8D1D-7193-4071-93BA-53072B7237C9}" presName="LevelOneTextNode" presStyleLbl="node0" presStyleIdx="0" presStyleCnt="1">
        <dgm:presLayoutVars>
          <dgm:chPref val="3"/>
        </dgm:presLayoutVars>
      </dgm:prSet>
      <dgm:spPr/>
    </dgm:pt>
    <dgm:pt modelId="{7415C1EA-3441-4DCF-B659-5A4D65374198}" type="pres">
      <dgm:prSet presAssocID="{3C8F8D1D-7193-4071-93BA-53072B7237C9}" presName="level2hierChild" presStyleCnt="0"/>
      <dgm:spPr/>
    </dgm:pt>
    <dgm:pt modelId="{FB0B76DC-36BC-463C-85B3-3240EFAA1888}" type="pres">
      <dgm:prSet presAssocID="{89368628-A74F-4ED6-B4A0-BDC96392A96C}" presName="conn2-1" presStyleLbl="parChTrans1D2" presStyleIdx="0" presStyleCnt="2"/>
      <dgm:spPr/>
    </dgm:pt>
    <dgm:pt modelId="{E68545A6-A562-42A7-9AED-A5DA9FBE24AA}" type="pres">
      <dgm:prSet presAssocID="{89368628-A74F-4ED6-B4A0-BDC96392A96C}" presName="connTx" presStyleLbl="parChTrans1D2" presStyleIdx="0" presStyleCnt="2"/>
      <dgm:spPr/>
    </dgm:pt>
    <dgm:pt modelId="{190DFC77-F004-4173-802C-6FA0FBB48691}" type="pres">
      <dgm:prSet presAssocID="{4073FEF5-448C-49A8-9484-55D724783FD1}" presName="root2" presStyleCnt="0"/>
      <dgm:spPr/>
    </dgm:pt>
    <dgm:pt modelId="{6D4D6F9A-B4CE-48F7-B64B-B116B0F23DB3}" type="pres">
      <dgm:prSet presAssocID="{4073FEF5-448C-49A8-9484-55D724783FD1}" presName="LevelTwoTextNode" presStyleLbl="node2" presStyleIdx="0" presStyleCnt="2">
        <dgm:presLayoutVars>
          <dgm:chPref val="3"/>
        </dgm:presLayoutVars>
      </dgm:prSet>
      <dgm:spPr/>
    </dgm:pt>
    <dgm:pt modelId="{3D256DAD-119B-4735-A75D-19BC87261889}" type="pres">
      <dgm:prSet presAssocID="{4073FEF5-448C-49A8-9484-55D724783FD1}" presName="level3hierChild" presStyleCnt="0"/>
      <dgm:spPr/>
    </dgm:pt>
    <dgm:pt modelId="{A2DE55D7-F0EB-430F-B477-C1AEBC344DD3}" type="pres">
      <dgm:prSet presAssocID="{BEA0A583-6EE6-45BE-9DE6-D381AE410017}" presName="conn2-1" presStyleLbl="parChTrans1D3" presStyleIdx="0" presStyleCnt="3"/>
      <dgm:spPr/>
    </dgm:pt>
    <dgm:pt modelId="{A95E8B45-47B6-4E16-BB58-87B5D8627D0B}" type="pres">
      <dgm:prSet presAssocID="{BEA0A583-6EE6-45BE-9DE6-D381AE410017}" presName="connTx" presStyleLbl="parChTrans1D3" presStyleIdx="0" presStyleCnt="3"/>
      <dgm:spPr/>
    </dgm:pt>
    <dgm:pt modelId="{21AC5D83-52A1-4A3C-BC14-BA232522F109}" type="pres">
      <dgm:prSet presAssocID="{EE522CE3-A7D8-4788-A1AC-3E2E2A83DE7F}" presName="root2" presStyleCnt="0"/>
      <dgm:spPr/>
    </dgm:pt>
    <dgm:pt modelId="{85377C26-FDA6-4A5D-899E-6D91D8F0AF78}" type="pres">
      <dgm:prSet presAssocID="{EE522CE3-A7D8-4788-A1AC-3E2E2A83DE7F}" presName="LevelTwoTextNode" presStyleLbl="node3" presStyleIdx="0" presStyleCnt="3">
        <dgm:presLayoutVars>
          <dgm:chPref val="3"/>
        </dgm:presLayoutVars>
      </dgm:prSet>
      <dgm:spPr/>
    </dgm:pt>
    <dgm:pt modelId="{741FD086-F4A0-4C8C-A3B5-F8613FE5DD1A}" type="pres">
      <dgm:prSet presAssocID="{EE522CE3-A7D8-4788-A1AC-3E2E2A83DE7F}" presName="level3hierChild" presStyleCnt="0"/>
      <dgm:spPr/>
    </dgm:pt>
    <dgm:pt modelId="{24A18F94-35B3-49DB-9D0C-38F03CB36A76}" type="pres">
      <dgm:prSet presAssocID="{6FD8D24F-3EDA-4131-B6E4-39C2FE195887}" presName="conn2-1" presStyleLbl="parChTrans1D2" presStyleIdx="1" presStyleCnt="2"/>
      <dgm:spPr/>
    </dgm:pt>
    <dgm:pt modelId="{52450541-6206-4465-AB3C-A28DFF9E0E63}" type="pres">
      <dgm:prSet presAssocID="{6FD8D24F-3EDA-4131-B6E4-39C2FE195887}" presName="connTx" presStyleLbl="parChTrans1D2" presStyleIdx="1" presStyleCnt="2"/>
      <dgm:spPr/>
    </dgm:pt>
    <dgm:pt modelId="{F3A6F213-CFD1-4693-AB7B-5F65FD0067FD}" type="pres">
      <dgm:prSet presAssocID="{6673CC94-4C18-4599-A4D3-6E333D10A83B}" presName="root2" presStyleCnt="0"/>
      <dgm:spPr/>
    </dgm:pt>
    <dgm:pt modelId="{FD736469-9D82-470E-AD87-99E4CEE8643C}" type="pres">
      <dgm:prSet presAssocID="{6673CC94-4C18-4599-A4D3-6E333D10A83B}" presName="LevelTwoTextNode" presStyleLbl="node2" presStyleIdx="1" presStyleCnt="2">
        <dgm:presLayoutVars>
          <dgm:chPref val="3"/>
        </dgm:presLayoutVars>
      </dgm:prSet>
      <dgm:spPr/>
    </dgm:pt>
    <dgm:pt modelId="{3D0B5431-2C70-4273-A9DF-10B34AB59D7F}" type="pres">
      <dgm:prSet presAssocID="{6673CC94-4C18-4599-A4D3-6E333D10A83B}" presName="level3hierChild" presStyleCnt="0"/>
      <dgm:spPr/>
    </dgm:pt>
    <dgm:pt modelId="{D10DE57D-9216-4219-8EC9-8D895AE14B12}" type="pres">
      <dgm:prSet presAssocID="{0F88830B-5D5E-4CAA-B875-39439F480BEA}" presName="conn2-1" presStyleLbl="parChTrans1D3" presStyleIdx="1" presStyleCnt="3"/>
      <dgm:spPr/>
    </dgm:pt>
    <dgm:pt modelId="{0CC9CAEA-CC9D-4AD3-A61E-46A8FF5B0753}" type="pres">
      <dgm:prSet presAssocID="{0F88830B-5D5E-4CAA-B875-39439F480BEA}" presName="connTx" presStyleLbl="parChTrans1D3" presStyleIdx="1" presStyleCnt="3"/>
      <dgm:spPr/>
    </dgm:pt>
    <dgm:pt modelId="{FE6EB873-586B-4987-A5FD-7D3A29A39726}" type="pres">
      <dgm:prSet presAssocID="{C96DB403-61F7-4989-8916-B6B098564688}" presName="root2" presStyleCnt="0"/>
      <dgm:spPr/>
    </dgm:pt>
    <dgm:pt modelId="{4ACD1614-A6A4-4631-B7CD-8873B40A7C63}" type="pres">
      <dgm:prSet presAssocID="{C96DB403-61F7-4989-8916-B6B098564688}" presName="LevelTwoTextNode" presStyleLbl="node3" presStyleIdx="1" presStyleCnt="3">
        <dgm:presLayoutVars>
          <dgm:chPref val="3"/>
        </dgm:presLayoutVars>
      </dgm:prSet>
      <dgm:spPr/>
    </dgm:pt>
    <dgm:pt modelId="{3D1DD977-2446-4DE3-AD62-F3C245E3B8F4}" type="pres">
      <dgm:prSet presAssocID="{C96DB403-61F7-4989-8916-B6B098564688}" presName="level3hierChild" presStyleCnt="0"/>
      <dgm:spPr/>
    </dgm:pt>
    <dgm:pt modelId="{7CF39C5B-5D27-444A-B314-FD15EF763696}" type="pres">
      <dgm:prSet presAssocID="{3735F25A-C283-4791-80A5-8D863C56CA89}" presName="conn2-1" presStyleLbl="parChTrans1D3" presStyleIdx="2" presStyleCnt="3"/>
      <dgm:spPr/>
    </dgm:pt>
    <dgm:pt modelId="{6676C873-89F6-4811-A9C2-EEB720C53CCD}" type="pres">
      <dgm:prSet presAssocID="{3735F25A-C283-4791-80A5-8D863C56CA89}" presName="connTx" presStyleLbl="parChTrans1D3" presStyleIdx="2" presStyleCnt="3"/>
      <dgm:spPr/>
    </dgm:pt>
    <dgm:pt modelId="{E9673415-2DA7-46E4-829F-8D24FBBF6015}" type="pres">
      <dgm:prSet presAssocID="{ED79587B-B1C9-464E-9932-14C8D346B678}" presName="root2" presStyleCnt="0"/>
      <dgm:spPr/>
    </dgm:pt>
    <dgm:pt modelId="{6346994B-2AA6-4A86-9C78-8E03474C9EAB}" type="pres">
      <dgm:prSet presAssocID="{ED79587B-B1C9-464E-9932-14C8D346B678}" presName="LevelTwoTextNode" presStyleLbl="node3" presStyleIdx="2" presStyleCnt="3">
        <dgm:presLayoutVars>
          <dgm:chPref val="3"/>
        </dgm:presLayoutVars>
      </dgm:prSet>
      <dgm:spPr/>
    </dgm:pt>
    <dgm:pt modelId="{EAD0E49E-60D4-41DD-B546-6303FDBA5C2B}" type="pres">
      <dgm:prSet presAssocID="{ED79587B-B1C9-464E-9932-14C8D346B678}" presName="level3hierChild" presStyleCnt="0"/>
      <dgm:spPr/>
    </dgm:pt>
    <dgm:pt modelId="{695A78C5-2C1C-47A1-9B18-7DA98B78B427}" type="pres">
      <dgm:prSet presAssocID="{B6C189BD-DCCF-4DB8-9670-B96143F51FCE}" presName="conn2-1" presStyleLbl="parChTrans1D4" presStyleIdx="0" presStyleCnt="1"/>
      <dgm:spPr/>
    </dgm:pt>
    <dgm:pt modelId="{27552D35-2D49-4C66-98E4-D22F089CB0D0}" type="pres">
      <dgm:prSet presAssocID="{B6C189BD-DCCF-4DB8-9670-B96143F51FCE}" presName="connTx" presStyleLbl="parChTrans1D4" presStyleIdx="0" presStyleCnt="1"/>
      <dgm:spPr/>
    </dgm:pt>
    <dgm:pt modelId="{DC9B9F8A-9CAA-47B5-9C2B-B185181F54B1}" type="pres">
      <dgm:prSet presAssocID="{937353C8-5227-4687-9212-4E64C5A93B61}" presName="root2" presStyleCnt="0"/>
      <dgm:spPr/>
    </dgm:pt>
    <dgm:pt modelId="{619136E7-B0BB-46A1-BE80-4B8BC3B9F011}" type="pres">
      <dgm:prSet presAssocID="{937353C8-5227-4687-9212-4E64C5A93B61}" presName="LevelTwoTextNode" presStyleLbl="node4" presStyleIdx="0" presStyleCnt="1">
        <dgm:presLayoutVars>
          <dgm:chPref val="3"/>
        </dgm:presLayoutVars>
      </dgm:prSet>
      <dgm:spPr/>
    </dgm:pt>
    <dgm:pt modelId="{D443756A-93BD-49D3-8102-2BA338F1BB65}" type="pres">
      <dgm:prSet presAssocID="{937353C8-5227-4687-9212-4E64C5A93B61}" presName="level3hierChild" presStyleCnt="0"/>
      <dgm:spPr/>
    </dgm:pt>
  </dgm:ptLst>
  <dgm:cxnLst>
    <dgm:cxn modelId="{F9128401-F005-4E7F-B1E6-95EE85D96670}" type="presOf" srcId="{B6C189BD-DCCF-4DB8-9670-B96143F51FCE}" destId="{27552D35-2D49-4C66-98E4-D22F089CB0D0}" srcOrd="1" destOrd="0" presId="urn:microsoft.com/office/officeart/2005/8/layout/hierarchy2"/>
    <dgm:cxn modelId="{E0CCC40C-A3B9-4BD0-956C-DC5145036494}" type="presOf" srcId="{BEA0A583-6EE6-45BE-9DE6-D381AE410017}" destId="{A2DE55D7-F0EB-430F-B477-C1AEBC344DD3}" srcOrd="0" destOrd="0" presId="urn:microsoft.com/office/officeart/2005/8/layout/hierarchy2"/>
    <dgm:cxn modelId="{66C53C10-AB9B-42EB-BBA9-18A99D7CD89A}" srcId="{4073FEF5-448C-49A8-9484-55D724783FD1}" destId="{EE522CE3-A7D8-4788-A1AC-3E2E2A83DE7F}" srcOrd="0" destOrd="0" parTransId="{BEA0A583-6EE6-45BE-9DE6-D381AE410017}" sibTransId="{F4CA4D63-BA15-42BE-BEB7-4F7D5EA90094}"/>
    <dgm:cxn modelId="{3752C314-3FD1-4B5C-8545-A5B54B9E2388}" type="presOf" srcId="{89368628-A74F-4ED6-B4A0-BDC96392A96C}" destId="{E68545A6-A562-42A7-9AED-A5DA9FBE24AA}" srcOrd="1" destOrd="0" presId="urn:microsoft.com/office/officeart/2005/8/layout/hierarchy2"/>
    <dgm:cxn modelId="{7DE42E33-8931-4BF0-883F-D1E26124101B}" type="presOf" srcId="{937353C8-5227-4687-9212-4E64C5A93B61}" destId="{619136E7-B0BB-46A1-BE80-4B8BC3B9F011}" srcOrd="0" destOrd="0" presId="urn:microsoft.com/office/officeart/2005/8/layout/hierarchy2"/>
    <dgm:cxn modelId="{521B6163-09E4-4170-BEFA-37431098AF0E}" type="presOf" srcId="{4073FEF5-448C-49A8-9484-55D724783FD1}" destId="{6D4D6F9A-B4CE-48F7-B64B-B116B0F23DB3}" srcOrd="0" destOrd="0" presId="urn:microsoft.com/office/officeart/2005/8/layout/hierarchy2"/>
    <dgm:cxn modelId="{B7F8C351-221E-43C5-8B43-AB9AEFF553F7}" type="presOf" srcId="{6673CC94-4C18-4599-A4D3-6E333D10A83B}" destId="{FD736469-9D82-470E-AD87-99E4CEE8643C}" srcOrd="0" destOrd="0" presId="urn:microsoft.com/office/officeart/2005/8/layout/hierarchy2"/>
    <dgm:cxn modelId="{7B6C4372-C4A5-4EA2-9862-425DFFA659DE}" type="presOf" srcId="{3C8F8D1D-7193-4071-93BA-53072B7237C9}" destId="{FD309663-DB26-408D-A847-B62A19EB35D3}" srcOrd="0" destOrd="0" presId="urn:microsoft.com/office/officeart/2005/8/layout/hierarchy2"/>
    <dgm:cxn modelId="{CB53D158-D230-48E9-9441-F47D0155891E}" type="presOf" srcId="{BEA0A583-6EE6-45BE-9DE6-D381AE410017}" destId="{A95E8B45-47B6-4E16-BB58-87B5D8627D0B}" srcOrd="1" destOrd="0" presId="urn:microsoft.com/office/officeart/2005/8/layout/hierarchy2"/>
    <dgm:cxn modelId="{CA668379-F772-4185-91D1-3DC9DBB46B47}" type="presOf" srcId="{EE522CE3-A7D8-4788-A1AC-3E2E2A83DE7F}" destId="{85377C26-FDA6-4A5D-899E-6D91D8F0AF78}" srcOrd="0" destOrd="0" presId="urn:microsoft.com/office/officeart/2005/8/layout/hierarchy2"/>
    <dgm:cxn modelId="{EF7A3980-0EE4-445A-9C36-301B1DC518EF}" srcId="{6673CC94-4C18-4599-A4D3-6E333D10A83B}" destId="{C96DB403-61F7-4989-8916-B6B098564688}" srcOrd="0" destOrd="0" parTransId="{0F88830B-5D5E-4CAA-B875-39439F480BEA}" sibTransId="{31C5CE2D-1FB7-4A5E-BC7A-A29A67CDB64B}"/>
    <dgm:cxn modelId="{1013CF89-A88C-4548-B909-38776742466E}" srcId="{3C8F8D1D-7193-4071-93BA-53072B7237C9}" destId="{6673CC94-4C18-4599-A4D3-6E333D10A83B}" srcOrd="1" destOrd="0" parTransId="{6FD8D24F-3EDA-4131-B6E4-39C2FE195887}" sibTransId="{2328C59F-D645-403A-A7E6-D48799902579}"/>
    <dgm:cxn modelId="{2C326B8E-D139-4513-A0E3-1C23E37A5732}" type="presOf" srcId="{3735F25A-C283-4791-80A5-8D863C56CA89}" destId="{7CF39C5B-5D27-444A-B314-FD15EF763696}" srcOrd="0" destOrd="0" presId="urn:microsoft.com/office/officeart/2005/8/layout/hierarchy2"/>
    <dgm:cxn modelId="{F8F98690-413B-4F40-BA34-4DBA5B012E39}" type="presOf" srcId="{3735F25A-C283-4791-80A5-8D863C56CA89}" destId="{6676C873-89F6-4811-A9C2-EEB720C53CCD}" srcOrd="1" destOrd="0" presId="urn:microsoft.com/office/officeart/2005/8/layout/hierarchy2"/>
    <dgm:cxn modelId="{F4BF9F97-7440-4A37-B1BB-D5222C991055}" type="presOf" srcId="{ED79587B-B1C9-464E-9932-14C8D346B678}" destId="{6346994B-2AA6-4A86-9C78-8E03474C9EAB}" srcOrd="0" destOrd="0" presId="urn:microsoft.com/office/officeart/2005/8/layout/hierarchy2"/>
    <dgm:cxn modelId="{27059899-CCE2-4D9B-B0FF-129487B7AB9A}" type="presOf" srcId="{0F88830B-5D5E-4CAA-B875-39439F480BEA}" destId="{0CC9CAEA-CC9D-4AD3-A61E-46A8FF5B0753}" srcOrd="1" destOrd="0" presId="urn:microsoft.com/office/officeart/2005/8/layout/hierarchy2"/>
    <dgm:cxn modelId="{CD971FA6-C398-4625-BB61-555E1C05F32D}" type="presOf" srcId="{6FD8D24F-3EDA-4131-B6E4-39C2FE195887}" destId="{52450541-6206-4465-AB3C-A28DFF9E0E63}" srcOrd="1" destOrd="0" presId="urn:microsoft.com/office/officeart/2005/8/layout/hierarchy2"/>
    <dgm:cxn modelId="{589C5FAE-6AA8-44D0-A2AF-F8F6EF46CE2B}" type="presOf" srcId="{C96DB403-61F7-4989-8916-B6B098564688}" destId="{4ACD1614-A6A4-4631-B7CD-8873B40A7C63}" srcOrd="0" destOrd="0" presId="urn:microsoft.com/office/officeart/2005/8/layout/hierarchy2"/>
    <dgm:cxn modelId="{D504C4B0-4000-446B-8C01-CA6CDB8A3256}" srcId="{4F964FB9-632C-4F41-8D9D-92205989E9D7}" destId="{3C8F8D1D-7193-4071-93BA-53072B7237C9}" srcOrd="0" destOrd="0" parTransId="{8C764516-B240-4E91-9939-8125C18C6D3C}" sibTransId="{615E53F9-F14C-4FB9-9726-23DE9B2A30F8}"/>
    <dgm:cxn modelId="{310436C0-E4A3-4057-BFC5-44A7E294F4EC}" srcId="{ED79587B-B1C9-464E-9932-14C8D346B678}" destId="{937353C8-5227-4687-9212-4E64C5A93B61}" srcOrd="0" destOrd="0" parTransId="{B6C189BD-DCCF-4DB8-9670-B96143F51FCE}" sibTransId="{22BDA9EA-CF47-403D-9D6A-53468AAFFD40}"/>
    <dgm:cxn modelId="{ECACB6C3-E927-4128-8093-036AB4E18865}" srcId="{3C8F8D1D-7193-4071-93BA-53072B7237C9}" destId="{4073FEF5-448C-49A8-9484-55D724783FD1}" srcOrd="0" destOrd="0" parTransId="{89368628-A74F-4ED6-B4A0-BDC96392A96C}" sibTransId="{49B2CDF8-755F-4264-A0C6-70EC5FD8A2B5}"/>
    <dgm:cxn modelId="{59182ED7-DD45-4ADE-AFAF-F9D1CAF1F060}" type="presOf" srcId="{B6C189BD-DCCF-4DB8-9670-B96143F51FCE}" destId="{695A78C5-2C1C-47A1-9B18-7DA98B78B427}" srcOrd="0" destOrd="0" presId="urn:microsoft.com/office/officeart/2005/8/layout/hierarchy2"/>
    <dgm:cxn modelId="{FDB7B0DB-0180-4CD8-B064-3C563ED9A359}" type="presOf" srcId="{89368628-A74F-4ED6-B4A0-BDC96392A96C}" destId="{FB0B76DC-36BC-463C-85B3-3240EFAA1888}" srcOrd="0" destOrd="0" presId="urn:microsoft.com/office/officeart/2005/8/layout/hierarchy2"/>
    <dgm:cxn modelId="{B47BA5DC-3A8D-4B59-9D8D-6C57346A4B4B}" type="presOf" srcId="{0F88830B-5D5E-4CAA-B875-39439F480BEA}" destId="{D10DE57D-9216-4219-8EC9-8D895AE14B12}" srcOrd="0" destOrd="0" presId="urn:microsoft.com/office/officeart/2005/8/layout/hierarchy2"/>
    <dgm:cxn modelId="{2B4681E5-09AB-466B-AF68-48BFBB8EBB32}" type="presOf" srcId="{4F964FB9-632C-4F41-8D9D-92205989E9D7}" destId="{7FEF0715-273D-451D-B0CB-065F2C09E431}" srcOrd="0" destOrd="0" presId="urn:microsoft.com/office/officeart/2005/8/layout/hierarchy2"/>
    <dgm:cxn modelId="{63D7C7F2-79AE-4E35-A79A-5AC4A3E3CA4A}" type="presOf" srcId="{6FD8D24F-3EDA-4131-B6E4-39C2FE195887}" destId="{24A18F94-35B3-49DB-9D0C-38F03CB36A76}" srcOrd="0" destOrd="0" presId="urn:microsoft.com/office/officeart/2005/8/layout/hierarchy2"/>
    <dgm:cxn modelId="{9018FAF3-8811-4820-B882-79AAE02DBAAF}" srcId="{6673CC94-4C18-4599-A4D3-6E333D10A83B}" destId="{ED79587B-B1C9-464E-9932-14C8D346B678}" srcOrd="1" destOrd="0" parTransId="{3735F25A-C283-4791-80A5-8D863C56CA89}" sibTransId="{3FD08EF1-A3D4-4FBB-9145-09B305A44E12}"/>
    <dgm:cxn modelId="{4949CDB1-29F1-481E-8673-C0804BD11B28}" type="presParOf" srcId="{7FEF0715-273D-451D-B0CB-065F2C09E431}" destId="{ECB8FFAC-1CE7-4FE6-AF46-EA1D8F57B9B8}" srcOrd="0" destOrd="0" presId="urn:microsoft.com/office/officeart/2005/8/layout/hierarchy2"/>
    <dgm:cxn modelId="{7147944A-1B58-40D4-BBDB-10D3C03A7119}" type="presParOf" srcId="{ECB8FFAC-1CE7-4FE6-AF46-EA1D8F57B9B8}" destId="{FD309663-DB26-408D-A847-B62A19EB35D3}" srcOrd="0" destOrd="0" presId="urn:microsoft.com/office/officeart/2005/8/layout/hierarchy2"/>
    <dgm:cxn modelId="{F75552E2-8175-4685-9946-4A664668F767}" type="presParOf" srcId="{ECB8FFAC-1CE7-4FE6-AF46-EA1D8F57B9B8}" destId="{7415C1EA-3441-4DCF-B659-5A4D65374198}" srcOrd="1" destOrd="0" presId="urn:microsoft.com/office/officeart/2005/8/layout/hierarchy2"/>
    <dgm:cxn modelId="{396C7F5F-267B-4776-AFE8-41187D63B1E9}" type="presParOf" srcId="{7415C1EA-3441-4DCF-B659-5A4D65374198}" destId="{FB0B76DC-36BC-463C-85B3-3240EFAA1888}" srcOrd="0" destOrd="0" presId="urn:microsoft.com/office/officeart/2005/8/layout/hierarchy2"/>
    <dgm:cxn modelId="{2812E221-00DD-40C9-BC26-071A516270EB}" type="presParOf" srcId="{FB0B76DC-36BC-463C-85B3-3240EFAA1888}" destId="{E68545A6-A562-42A7-9AED-A5DA9FBE24AA}" srcOrd="0" destOrd="0" presId="urn:microsoft.com/office/officeart/2005/8/layout/hierarchy2"/>
    <dgm:cxn modelId="{C9F01A28-0584-4853-9313-949F8EBED2B1}" type="presParOf" srcId="{7415C1EA-3441-4DCF-B659-5A4D65374198}" destId="{190DFC77-F004-4173-802C-6FA0FBB48691}" srcOrd="1" destOrd="0" presId="urn:microsoft.com/office/officeart/2005/8/layout/hierarchy2"/>
    <dgm:cxn modelId="{9C07EF4D-F7A5-47E2-924B-524F4A5B12D7}" type="presParOf" srcId="{190DFC77-F004-4173-802C-6FA0FBB48691}" destId="{6D4D6F9A-B4CE-48F7-B64B-B116B0F23DB3}" srcOrd="0" destOrd="0" presId="urn:microsoft.com/office/officeart/2005/8/layout/hierarchy2"/>
    <dgm:cxn modelId="{DCED441F-3C71-4473-B8B5-05E19D590E64}" type="presParOf" srcId="{190DFC77-F004-4173-802C-6FA0FBB48691}" destId="{3D256DAD-119B-4735-A75D-19BC87261889}" srcOrd="1" destOrd="0" presId="urn:microsoft.com/office/officeart/2005/8/layout/hierarchy2"/>
    <dgm:cxn modelId="{D6F7D3D3-80ED-4749-93BA-7EE4FB5B1762}" type="presParOf" srcId="{3D256DAD-119B-4735-A75D-19BC87261889}" destId="{A2DE55D7-F0EB-430F-B477-C1AEBC344DD3}" srcOrd="0" destOrd="0" presId="urn:microsoft.com/office/officeart/2005/8/layout/hierarchy2"/>
    <dgm:cxn modelId="{C443DBDC-2345-400D-BD54-5D6DC0C5845F}" type="presParOf" srcId="{A2DE55D7-F0EB-430F-B477-C1AEBC344DD3}" destId="{A95E8B45-47B6-4E16-BB58-87B5D8627D0B}" srcOrd="0" destOrd="0" presId="urn:microsoft.com/office/officeart/2005/8/layout/hierarchy2"/>
    <dgm:cxn modelId="{7EEFE6E8-E602-4BD4-9A07-B824B084AC93}" type="presParOf" srcId="{3D256DAD-119B-4735-A75D-19BC87261889}" destId="{21AC5D83-52A1-4A3C-BC14-BA232522F109}" srcOrd="1" destOrd="0" presId="urn:microsoft.com/office/officeart/2005/8/layout/hierarchy2"/>
    <dgm:cxn modelId="{E4D022C7-38D4-4951-AE39-200E2DFA2985}" type="presParOf" srcId="{21AC5D83-52A1-4A3C-BC14-BA232522F109}" destId="{85377C26-FDA6-4A5D-899E-6D91D8F0AF78}" srcOrd="0" destOrd="0" presId="urn:microsoft.com/office/officeart/2005/8/layout/hierarchy2"/>
    <dgm:cxn modelId="{05C78E6A-5866-49F4-8A50-3050E1936C32}" type="presParOf" srcId="{21AC5D83-52A1-4A3C-BC14-BA232522F109}" destId="{741FD086-F4A0-4C8C-A3B5-F8613FE5DD1A}" srcOrd="1" destOrd="0" presId="urn:microsoft.com/office/officeart/2005/8/layout/hierarchy2"/>
    <dgm:cxn modelId="{F1B18C64-62E5-49C2-A0BA-EA798F9306EB}" type="presParOf" srcId="{7415C1EA-3441-4DCF-B659-5A4D65374198}" destId="{24A18F94-35B3-49DB-9D0C-38F03CB36A76}" srcOrd="2" destOrd="0" presId="urn:microsoft.com/office/officeart/2005/8/layout/hierarchy2"/>
    <dgm:cxn modelId="{95576793-10CC-4F8F-BC64-BD1691C3BE01}" type="presParOf" srcId="{24A18F94-35B3-49DB-9D0C-38F03CB36A76}" destId="{52450541-6206-4465-AB3C-A28DFF9E0E63}" srcOrd="0" destOrd="0" presId="urn:microsoft.com/office/officeart/2005/8/layout/hierarchy2"/>
    <dgm:cxn modelId="{F17EFE20-62BC-43D1-9F05-BF5425C25F09}" type="presParOf" srcId="{7415C1EA-3441-4DCF-B659-5A4D65374198}" destId="{F3A6F213-CFD1-4693-AB7B-5F65FD0067FD}" srcOrd="3" destOrd="0" presId="urn:microsoft.com/office/officeart/2005/8/layout/hierarchy2"/>
    <dgm:cxn modelId="{E17AFF85-C1F5-4001-9A36-C313380AB39B}" type="presParOf" srcId="{F3A6F213-CFD1-4693-AB7B-5F65FD0067FD}" destId="{FD736469-9D82-470E-AD87-99E4CEE8643C}" srcOrd="0" destOrd="0" presId="urn:microsoft.com/office/officeart/2005/8/layout/hierarchy2"/>
    <dgm:cxn modelId="{0578364F-5F58-4524-B4E4-CD2DB4444CDA}" type="presParOf" srcId="{F3A6F213-CFD1-4693-AB7B-5F65FD0067FD}" destId="{3D0B5431-2C70-4273-A9DF-10B34AB59D7F}" srcOrd="1" destOrd="0" presId="urn:microsoft.com/office/officeart/2005/8/layout/hierarchy2"/>
    <dgm:cxn modelId="{E1BA5021-E021-4FF8-A178-1DF53A415E78}" type="presParOf" srcId="{3D0B5431-2C70-4273-A9DF-10B34AB59D7F}" destId="{D10DE57D-9216-4219-8EC9-8D895AE14B12}" srcOrd="0" destOrd="0" presId="urn:microsoft.com/office/officeart/2005/8/layout/hierarchy2"/>
    <dgm:cxn modelId="{F9A216A8-850D-44D2-B205-2BDB13C60602}" type="presParOf" srcId="{D10DE57D-9216-4219-8EC9-8D895AE14B12}" destId="{0CC9CAEA-CC9D-4AD3-A61E-46A8FF5B0753}" srcOrd="0" destOrd="0" presId="urn:microsoft.com/office/officeart/2005/8/layout/hierarchy2"/>
    <dgm:cxn modelId="{DD0C66D2-067C-4356-9A10-7CF3B01D769B}" type="presParOf" srcId="{3D0B5431-2C70-4273-A9DF-10B34AB59D7F}" destId="{FE6EB873-586B-4987-A5FD-7D3A29A39726}" srcOrd="1" destOrd="0" presId="urn:microsoft.com/office/officeart/2005/8/layout/hierarchy2"/>
    <dgm:cxn modelId="{700165E6-3616-42CA-A7AE-84ED08432296}" type="presParOf" srcId="{FE6EB873-586B-4987-A5FD-7D3A29A39726}" destId="{4ACD1614-A6A4-4631-B7CD-8873B40A7C63}" srcOrd="0" destOrd="0" presId="urn:microsoft.com/office/officeart/2005/8/layout/hierarchy2"/>
    <dgm:cxn modelId="{A19E03F5-9DD3-48AE-8E03-F86357C0A276}" type="presParOf" srcId="{FE6EB873-586B-4987-A5FD-7D3A29A39726}" destId="{3D1DD977-2446-4DE3-AD62-F3C245E3B8F4}" srcOrd="1" destOrd="0" presId="urn:microsoft.com/office/officeart/2005/8/layout/hierarchy2"/>
    <dgm:cxn modelId="{F63669D5-CD89-4D4B-8EC7-5079BFC413F3}" type="presParOf" srcId="{3D0B5431-2C70-4273-A9DF-10B34AB59D7F}" destId="{7CF39C5B-5D27-444A-B314-FD15EF763696}" srcOrd="2" destOrd="0" presId="urn:microsoft.com/office/officeart/2005/8/layout/hierarchy2"/>
    <dgm:cxn modelId="{73233583-AE8C-4FDF-A8FB-B634ADC9C200}" type="presParOf" srcId="{7CF39C5B-5D27-444A-B314-FD15EF763696}" destId="{6676C873-89F6-4811-A9C2-EEB720C53CCD}" srcOrd="0" destOrd="0" presId="urn:microsoft.com/office/officeart/2005/8/layout/hierarchy2"/>
    <dgm:cxn modelId="{4F26B67D-91BB-4A94-8C6B-32F123B2D23C}" type="presParOf" srcId="{3D0B5431-2C70-4273-A9DF-10B34AB59D7F}" destId="{E9673415-2DA7-46E4-829F-8D24FBBF6015}" srcOrd="3" destOrd="0" presId="urn:microsoft.com/office/officeart/2005/8/layout/hierarchy2"/>
    <dgm:cxn modelId="{9A109AC4-A681-44B8-9B38-33651AA52744}" type="presParOf" srcId="{E9673415-2DA7-46E4-829F-8D24FBBF6015}" destId="{6346994B-2AA6-4A86-9C78-8E03474C9EAB}" srcOrd="0" destOrd="0" presId="urn:microsoft.com/office/officeart/2005/8/layout/hierarchy2"/>
    <dgm:cxn modelId="{E6E13176-A9EC-4E1A-B8CE-B135D1521C33}" type="presParOf" srcId="{E9673415-2DA7-46E4-829F-8D24FBBF6015}" destId="{EAD0E49E-60D4-41DD-B546-6303FDBA5C2B}" srcOrd="1" destOrd="0" presId="urn:microsoft.com/office/officeart/2005/8/layout/hierarchy2"/>
    <dgm:cxn modelId="{128A7460-1961-4144-A21F-10C4236A4F68}" type="presParOf" srcId="{EAD0E49E-60D4-41DD-B546-6303FDBA5C2B}" destId="{695A78C5-2C1C-47A1-9B18-7DA98B78B427}" srcOrd="0" destOrd="0" presId="urn:microsoft.com/office/officeart/2005/8/layout/hierarchy2"/>
    <dgm:cxn modelId="{F200C2D7-9659-4A7A-BFFB-83741BD89A07}" type="presParOf" srcId="{695A78C5-2C1C-47A1-9B18-7DA98B78B427}" destId="{27552D35-2D49-4C66-98E4-D22F089CB0D0}" srcOrd="0" destOrd="0" presId="urn:microsoft.com/office/officeart/2005/8/layout/hierarchy2"/>
    <dgm:cxn modelId="{33CD4301-5C10-4FA9-9FF8-E5D5B6BBF2C4}" type="presParOf" srcId="{EAD0E49E-60D4-41DD-B546-6303FDBA5C2B}" destId="{DC9B9F8A-9CAA-47B5-9C2B-B185181F54B1}" srcOrd="1" destOrd="0" presId="urn:microsoft.com/office/officeart/2005/8/layout/hierarchy2"/>
    <dgm:cxn modelId="{F9021E85-B020-4A4B-A7FD-EA0729258BBA}" type="presParOf" srcId="{DC9B9F8A-9CAA-47B5-9C2B-B185181F54B1}" destId="{619136E7-B0BB-46A1-BE80-4B8BC3B9F011}" srcOrd="0" destOrd="0" presId="urn:microsoft.com/office/officeart/2005/8/layout/hierarchy2"/>
    <dgm:cxn modelId="{5B22AE5A-7B66-4888-8342-696D4213723A}" type="presParOf" srcId="{DC9B9F8A-9CAA-47B5-9C2B-B185181F54B1}" destId="{D443756A-93BD-49D3-8102-2BA338F1BB65}" srcOrd="1" destOrd="0" presId="urn:microsoft.com/office/officeart/2005/8/layout/hierarchy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952FE1-FD20-4BE9-B04D-98912C9DA3EE}">
      <dsp:nvSpPr>
        <dsp:cNvPr id="0" name=""/>
        <dsp:cNvSpPr/>
      </dsp:nvSpPr>
      <dsp:spPr>
        <a:xfrm>
          <a:off x="205186" y="204"/>
          <a:ext cx="2071147" cy="1035573"/>
        </a:xfrm>
        <a:prstGeom prst="roundRect">
          <a:avLst>
            <a:gd name="adj" fmla="val 10000"/>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rtl="0">
            <a:lnSpc>
              <a:spcPct val="90000"/>
            </a:lnSpc>
            <a:spcBef>
              <a:spcPct val="0"/>
            </a:spcBef>
            <a:spcAft>
              <a:spcPct val="35000"/>
            </a:spcAft>
            <a:buNone/>
          </a:pPr>
          <a:r>
            <a:rPr lang="fr-CA" sz="2400" kern="1200" dirty="0">
              <a:solidFill>
                <a:schemeClr val="tx1"/>
              </a:solidFill>
            </a:rPr>
            <a:t>Coûts pertinents </a:t>
          </a:r>
        </a:p>
      </dsp:txBody>
      <dsp:txXfrm>
        <a:off x="235517" y="30535"/>
        <a:ext cx="2010485" cy="974911"/>
      </dsp:txXfrm>
    </dsp:sp>
    <dsp:sp modelId="{5A8943E9-AD6B-484B-AE38-19EF6960224C}">
      <dsp:nvSpPr>
        <dsp:cNvPr id="0" name=""/>
        <dsp:cNvSpPr/>
      </dsp:nvSpPr>
      <dsp:spPr>
        <a:xfrm>
          <a:off x="412301" y="1035778"/>
          <a:ext cx="207114" cy="776680"/>
        </a:xfrm>
        <a:custGeom>
          <a:avLst/>
          <a:gdLst/>
          <a:ahLst/>
          <a:cxnLst/>
          <a:rect l="0" t="0" r="0" b="0"/>
          <a:pathLst>
            <a:path>
              <a:moveTo>
                <a:pt x="0" y="0"/>
              </a:moveTo>
              <a:lnTo>
                <a:pt x="0" y="776680"/>
              </a:lnTo>
              <a:lnTo>
                <a:pt x="207114" y="77668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ADE43C-C105-4535-BDE4-E9AD20D9CC0C}">
      <dsp:nvSpPr>
        <dsp:cNvPr id="0" name=""/>
        <dsp:cNvSpPr/>
      </dsp:nvSpPr>
      <dsp:spPr>
        <a:xfrm>
          <a:off x="619415" y="1294671"/>
          <a:ext cx="1656918" cy="103557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fr-CA" sz="1400" kern="1200"/>
            <a:t>Liés à la prise de décision (acceptation de la commande spéciale)</a:t>
          </a:r>
        </a:p>
      </dsp:txBody>
      <dsp:txXfrm>
        <a:off x="649746" y="1325002"/>
        <a:ext cx="1596256" cy="974911"/>
      </dsp:txXfrm>
    </dsp:sp>
    <dsp:sp modelId="{BE118F65-83AB-4EFE-84CF-BA6EA5310031}">
      <dsp:nvSpPr>
        <dsp:cNvPr id="0" name=""/>
        <dsp:cNvSpPr/>
      </dsp:nvSpPr>
      <dsp:spPr>
        <a:xfrm>
          <a:off x="2794121" y="204"/>
          <a:ext cx="2071147" cy="1035573"/>
        </a:xfrm>
        <a:prstGeom prst="roundRect">
          <a:avLst>
            <a:gd name="adj" fmla="val 10000"/>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rtl="0">
            <a:lnSpc>
              <a:spcPct val="90000"/>
            </a:lnSpc>
            <a:spcBef>
              <a:spcPct val="0"/>
            </a:spcBef>
            <a:spcAft>
              <a:spcPct val="35000"/>
            </a:spcAft>
            <a:buNone/>
          </a:pPr>
          <a:r>
            <a:rPr lang="fr-CA" sz="2400" kern="1200" dirty="0">
              <a:solidFill>
                <a:schemeClr val="tx1"/>
              </a:solidFill>
            </a:rPr>
            <a:t>Coûts non pertinents </a:t>
          </a:r>
        </a:p>
      </dsp:txBody>
      <dsp:txXfrm>
        <a:off x="2824452" y="30535"/>
        <a:ext cx="2010485" cy="974911"/>
      </dsp:txXfrm>
    </dsp:sp>
    <dsp:sp modelId="{971FF7A1-F923-49D4-9DAC-33EB088DDF3E}">
      <dsp:nvSpPr>
        <dsp:cNvPr id="0" name=""/>
        <dsp:cNvSpPr/>
      </dsp:nvSpPr>
      <dsp:spPr>
        <a:xfrm>
          <a:off x="3001236" y="1035778"/>
          <a:ext cx="207114" cy="776680"/>
        </a:xfrm>
        <a:custGeom>
          <a:avLst/>
          <a:gdLst/>
          <a:ahLst/>
          <a:cxnLst/>
          <a:rect l="0" t="0" r="0" b="0"/>
          <a:pathLst>
            <a:path>
              <a:moveTo>
                <a:pt x="0" y="0"/>
              </a:moveTo>
              <a:lnTo>
                <a:pt x="0" y="776680"/>
              </a:lnTo>
              <a:lnTo>
                <a:pt x="207114" y="77668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A255691-60B5-4B93-A558-C41F21E3EDFB}">
      <dsp:nvSpPr>
        <dsp:cNvPr id="0" name=""/>
        <dsp:cNvSpPr/>
      </dsp:nvSpPr>
      <dsp:spPr>
        <a:xfrm>
          <a:off x="3208350" y="1294671"/>
          <a:ext cx="3276357" cy="1035573"/>
        </a:xfrm>
        <a:prstGeom prst="roundRect">
          <a:avLst>
            <a:gd name="adj" fmla="val 10000"/>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fr-CA" sz="1400" kern="1200"/>
            <a:t>Ne sont pas modifiés par la décision </a:t>
          </a:r>
        </a:p>
        <a:p>
          <a:pPr marL="0" lvl="0" indent="0" algn="ctr" defTabSz="622300" rtl="0">
            <a:lnSpc>
              <a:spcPct val="90000"/>
            </a:lnSpc>
            <a:spcBef>
              <a:spcPct val="0"/>
            </a:spcBef>
            <a:spcAft>
              <a:spcPct val="35000"/>
            </a:spcAft>
            <a:buNone/>
          </a:pPr>
          <a:r>
            <a:rPr lang="fr-CA" sz="1400" kern="1200"/>
            <a:t>(Décision : acceptation de la commande)</a:t>
          </a:r>
        </a:p>
      </dsp:txBody>
      <dsp:txXfrm>
        <a:off x="3238681" y="1325002"/>
        <a:ext cx="3215695" cy="974911"/>
      </dsp:txXfrm>
    </dsp:sp>
    <dsp:sp modelId="{1DB34EFD-17DB-436A-BD4E-9E01F861DAD3}">
      <dsp:nvSpPr>
        <dsp:cNvPr id="0" name=""/>
        <dsp:cNvSpPr/>
      </dsp:nvSpPr>
      <dsp:spPr>
        <a:xfrm>
          <a:off x="6793452" y="204"/>
          <a:ext cx="2071147" cy="1035573"/>
        </a:xfrm>
        <a:prstGeom prst="roundRect">
          <a:avLst>
            <a:gd name="adj" fmla="val 10000"/>
          </a:avLst>
        </a:prstGeom>
        <a:solidFill>
          <a:schemeClr val="accent3">
            <a:lumMod val="40000"/>
            <a:lumOff val="60000"/>
          </a:schemeClr>
        </a:solidFill>
        <a:ln w="12700" cap="flat" cmpd="sng" algn="ctr">
          <a:solidFill>
            <a:schemeClr val="accent3">
              <a:shade val="50000"/>
            </a:schemeClr>
          </a:solidFill>
          <a:prstDash val="solid"/>
          <a:miter lim="800000"/>
        </a:ln>
        <a:effectLst/>
      </dsp:spPr>
      <dsp:style>
        <a:lnRef idx="2">
          <a:schemeClr val="accent3">
            <a:shade val="50000"/>
          </a:schemeClr>
        </a:lnRef>
        <a:fillRef idx="1">
          <a:schemeClr val="accent3"/>
        </a:fillRef>
        <a:effectRef idx="0">
          <a:schemeClr val="accent3"/>
        </a:effectRef>
        <a:fontRef idx="minor">
          <a:schemeClr val="lt1"/>
        </a:fontRef>
      </dsp:style>
      <dsp:txBody>
        <a:bodyPr spcFirstLastPara="0" vert="horz" wrap="square" lIns="60960" tIns="40640" rIns="60960" bIns="40640" numCol="1" spcCol="1270" anchor="ctr" anchorCtr="0">
          <a:noAutofit/>
        </a:bodyPr>
        <a:lstStyle/>
        <a:p>
          <a:pPr marL="0" lvl="0" indent="0" algn="ctr" defTabSz="1422400" rtl="0">
            <a:lnSpc>
              <a:spcPct val="90000"/>
            </a:lnSpc>
            <a:spcBef>
              <a:spcPct val="0"/>
            </a:spcBef>
            <a:spcAft>
              <a:spcPct val="35000"/>
            </a:spcAft>
            <a:buNone/>
          </a:pPr>
          <a:r>
            <a:rPr lang="fr-CA" sz="3200" kern="1200" dirty="0">
              <a:solidFill>
                <a:schemeClr val="tx1"/>
              </a:solidFill>
            </a:rPr>
            <a:t>Analyse qualitative</a:t>
          </a:r>
        </a:p>
      </dsp:txBody>
      <dsp:txXfrm>
        <a:off x="6823783" y="30535"/>
        <a:ext cx="2010485" cy="974911"/>
      </dsp:txXfrm>
    </dsp:sp>
    <dsp:sp modelId="{D2285B30-EFC7-4C24-A4B2-A6FA42054CB4}">
      <dsp:nvSpPr>
        <dsp:cNvPr id="0" name=""/>
        <dsp:cNvSpPr/>
      </dsp:nvSpPr>
      <dsp:spPr>
        <a:xfrm>
          <a:off x="7000566" y="1035778"/>
          <a:ext cx="189690" cy="750024"/>
        </a:xfrm>
        <a:custGeom>
          <a:avLst/>
          <a:gdLst/>
          <a:ahLst/>
          <a:cxnLst/>
          <a:rect l="0" t="0" r="0" b="0"/>
          <a:pathLst>
            <a:path>
              <a:moveTo>
                <a:pt x="0" y="0"/>
              </a:moveTo>
              <a:lnTo>
                <a:pt x="0" y="750024"/>
              </a:lnTo>
              <a:lnTo>
                <a:pt x="189690" y="75002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DA68A8A-8703-403D-8D4C-7974736B98B7}">
      <dsp:nvSpPr>
        <dsp:cNvPr id="0" name=""/>
        <dsp:cNvSpPr/>
      </dsp:nvSpPr>
      <dsp:spPr>
        <a:xfrm>
          <a:off x="7190257" y="1268016"/>
          <a:ext cx="1656918" cy="1035573"/>
        </a:xfrm>
        <a:prstGeom prst="roundRect">
          <a:avLst>
            <a:gd name="adj" fmla="val 10000"/>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fr-CA" sz="1400" kern="1200"/>
            <a:t>Information utile</a:t>
          </a:r>
        </a:p>
      </dsp:txBody>
      <dsp:txXfrm>
        <a:off x="7220588" y="1298347"/>
        <a:ext cx="1596256" cy="9749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309663-DB26-408D-A847-B62A19EB35D3}">
      <dsp:nvSpPr>
        <dsp:cNvPr id="0" name=""/>
        <dsp:cNvSpPr/>
      </dsp:nvSpPr>
      <dsp:spPr>
        <a:xfrm>
          <a:off x="9364" y="1108549"/>
          <a:ext cx="2018629" cy="1009314"/>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fr-CA" sz="2000" kern="1200"/>
            <a:t>Analyse de capacité</a:t>
          </a:r>
        </a:p>
      </dsp:txBody>
      <dsp:txXfrm>
        <a:off x="38926" y="1138111"/>
        <a:ext cx="1959505" cy="950190"/>
      </dsp:txXfrm>
    </dsp:sp>
    <dsp:sp modelId="{FB0B76DC-36BC-463C-85B3-3240EFAA1888}">
      <dsp:nvSpPr>
        <dsp:cNvPr id="0" name=""/>
        <dsp:cNvSpPr/>
      </dsp:nvSpPr>
      <dsp:spPr>
        <a:xfrm rot="18770822">
          <a:off x="1838042" y="1154077"/>
          <a:ext cx="1187352" cy="47724"/>
        </a:xfrm>
        <a:custGeom>
          <a:avLst/>
          <a:gdLst/>
          <a:ahLst/>
          <a:cxnLst/>
          <a:rect l="0" t="0" r="0" b="0"/>
          <a:pathLst>
            <a:path>
              <a:moveTo>
                <a:pt x="0" y="23862"/>
              </a:moveTo>
              <a:lnTo>
                <a:pt x="1187352" y="2386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2402035" y="1148256"/>
        <a:ext cx="59367" cy="59367"/>
      </dsp:txXfrm>
    </dsp:sp>
    <dsp:sp modelId="{6D4D6F9A-B4CE-48F7-B64B-B116B0F23DB3}">
      <dsp:nvSpPr>
        <dsp:cNvPr id="0" name=""/>
        <dsp:cNvSpPr/>
      </dsp:nvSpPr>
      <dsp:spPr>
        <a:xfrm>
          <a:off x="2835445" y="238016"/>
          <a:ext cx="2018629" cy="1009314"/>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fr-CA" sz="2000" kern="1200"/>
            <a:t>Excédent </a:t>
          </a:r>
        </a:p>
      </dsp:txBody>
      <dsp:txXfrm>
        <a:off x="2865007" y="267578"/>
        <a:ext cx="1959505" cy="950190"/>
      </dsp:txXfrm>
    </dsp:sp>
    <dsp:sp modelId="{A2DE55D7-F0EB-430F-B477-C1AEBC344DD3}">
      <dsp:nvSpPr>
        <dsp:cNvPr id="0" name=""/>
        <dsp:cNvSpPr/>
      </dsp:nvSpPr>
      <dsp:spPr>
        <a:xfrm>
          <a:off x="4854074" y="718811"/>
          <a:ext cx="807451" cy="47724"/>
        </a:xfrm>
        <a:custGeom>
          <a:avLst/>
          <a:gdLst/>
          <a:ahLst/>
          <a:cxnLst/>
          <a:rect l="0" t="0" r="0" b="0"/>
          <a:pathLst>
            <a:path>
              <a:moveTo>
                <a:pt x="0" y="23862"/>
              </a:moveTo>
              <a:lnTo>
                <a:pt x="807451" y="2386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5237613" y="722487"/>
        <a:ext cx="40372" cy="40372"/>
      </dsp:txXfrm>
    </dsp:sp>
    <dsp:sp modelId="{85377C26-FDA6-4A5D-899E-6D91D8F0AF78}">
      <dsp:nvSpPr>
        <dsp:cNvPr id="0" name=""/>
        <dsp:cNvSpPr/>
      </dsp:nvSpPr>
      <dsp:spPr>
        <a:xfrm>
          <a:off x="5661525" y="238016"/>
          <a:ext cx="2018629" cy="1009314"/>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fr-CA" sz="2000" kern="1200"/>
            <a:t>Produire les unités de la commande spéciale</a:t>
          </a:r>
        </a:p>
      </dsp:txBody>
      <dsp:txXfrm>
        <a:off x="5691087" y="267578"/>
        <a:ext cx="1959505" cy="950190"/>
      </dsp:txXfrm>
    </dsp:sp>
    <dsp:sp modelId="{24A18F94-35B3-49DB-9D0C-38F03CB36A76}">
      <dsp:nvSpPr>
        <dsp:cNvPr id="0" name=""/>
        <dsp:cNvSpPr/>
      </dsp:nvSpPr>
      <dsp:spPr>
        <a:xfrm rot="2829178">
          <a:off x="1838042" y="2024611"/>
          <a:ext cx="1187352" cy="47724"/>
        </a:xfrm>
        <a:custGeom>
          <a:avLst/>
          <a:gdLst/>
          <a:ahLst/>
          <a:cxnLst/>
          <a:rect l="0" t="0" r="0" b="0"/>
          <a:pathLst>
            <a:path>
              <a:moveTo>
                <a:pt x="0" y="23862"/>
              </a:moveTo>
              <a:lnTo>
                <a:pt x="1187352" y="2386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2402035" y="2018790"/>
        <a:ext cx="59367" cy="59367"/>
      </dsp:txXfrm>
    </dsp:sp>
    <dsp:sp modelId="{FD736469-9D82-470E-AD87-99E4CEE8643C}">
      <dsp:nvSpPr>
        <dsp:cNvPr id="0" name=""/>
        <dsp:cNvSpPr/>
      </dsp:nvSpPr>
      <dsp:spPr>
        <a:xfrm>
          <a:off x="2835445" y="1979083"/>
          <a:ext cx="2018629" cy="1009314"/>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fr-CA" sz="2000" kern="1200"/>
            <a:t>Déficit</a:t>
          </a:r>
        </a:p>
      </dsp:txBody>
      <dsp:txXfrm>
        <a:off x="2865007" y="2008645"/>
        <a:ext cx="1959505" cy="950190"/>
      </dsp:txXfrm>
    </dsp:sp>
    <dsp:sp modelId="{D10DE57D-9216-4219-8EC9-8D895AE14B12}">
      <dsp:nvSpPr>
        <dsp:cNvPr id="0" name=""/>
        <dsp:cNvSpPr/>
      </dsp:nvSpPr>
      <dsp:spPr>
        <a:xfrm rot="19457599">
          <a:off x="4760610" y="2169700"/>
          <a:ext cx="994379" cy="47724"/>
        </a:xfrm>
        <a:custGeom>
          <a:avLst/>
          <a:gdLst/>
          <a:ahLst/>
          <a:cxnLst/>
          <a:rect l="0" t="0" r="0" b="0"/>
          <a:pathLst>
            <a:path>
              <a:moveTo>
                <a:pt x="0" y="23862"/>
              </a:moveTo>
              <a:lnTo>
                <a:pt x="994379" y="2386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5232940" y="2168703"/>
        <a:ext cx="49718" cy="49718"/>
      </dsp:txXfrm>
    </dsp:sp>
    <dsp:sp modelId="{4ACD1614-A6A4-4631-B7CD-8873B40A7C63}">
      <dsp:nvSpPr>
        <dsp:cNvPr id="0" name=""/>
        <dsp:cNvSpPr/>
      </dsp:nvSpPr>
      <dsp:spPr>
        <a:xfrm>
          <a:off x="5661525" y="1398727"/>
          <a:ext cx="2018629" cy="1009314"/>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fr-CA" sz="2000" kern="1200"/>
            <a:t>Augmenter la capacité</a:t>
          </a:r>
        </a:p>
      </dsp:txBody>
      <dsp:txXfrm>
        <a:off x="5691087" y="1428289"/>
        <a:ext cx="1959505" cy="950190"/>
      </dsp:txXfrm>
    </dsp:sp>
    <dsp:sp modelId="{7CF39C5B-5D27-444A-B314-FD15EF763696}">
      <dsp:nvSpPr>
        <dsp:cNvPr id="0" name=""/>
        <dsp:cNvSpPr/>
      </dsp:nvSpPr>
      <dsp:spPr>
        <a:xfrm rot="2142401">
          <a:off x="4760610" y="2750056"/>
          <a:ext cx="994379" cy="47724"/>
        </a:xfrm>
        <a:custGeom>
          <a:avLst/>
          <a:gdLst/>
          <a:ahLst/>
          <a:cxnLst/>
          <a:rect l="0" t="0" r="0" b="0"/>
          <a:pathLst>
            <a:path>
              <a:moveTo>
                <a:pt x="0" y="23862"/>
              </a:moveTo>
              <a:lnTo>
                <a:pt x="994379" y="2386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5232940" y="2749059"/>
        <a:ext cx="49718" cy="49718"/>
      </dsp:txXfrm>
    </dsp:sp>
    <dsp:sp modelId="{6346994B-2AA6-4A86-9C78-8E03474C9EAB}">
      <dsp:nvSpPr>
        <dsp:cNvPr id="0" name=""/>
        <dsp:cNvSpPr/>
      </dsp:nvSpPr>
      <dsp:spPr>
        <a:xfrm>
          <a:off x="5661525" y="2559439"/>
          <a:ext cx="2018629" cy="1009314"/>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fr-CA" sz="2000" b="1" kern="1200">
              <a:solidFill>
                <a:schemeClr val="accent6">
                  <a:lumMod val="75000"/>
                </a:schemeClr>
              </a:solidFill>
            </a:rPr>
            <a:t>Renoncer </a:t>
          </a:r>
          <a:r>
            <a:rPr lang="fr-CA" sz="2000" kern="1200"/>
            <a:t>à des unités des clients réguliers</a:t>
          </a:r>
        </a:p>
      </dsp:txBody>
      <dsp:txXfrm>
        <a:off x="5691087" y="2589001"/>
        <a:ext cx="1959505" cy="950190"/>
      </dsp:txXfrm>
    </dsp:sp>
    <dsp:sp modelId="{695A78C5-2C1C-47A1-9B18-7DA98B78B427}">
      <dsp:nvSpPr>
        <dsp:cNvPr id="0" name=""/>
        <dsp:cNvSpPr/>
      </dsp:nvSpPr>
      <dsp:spPr>
        <a:xfrm>
          <a:off x="7680154" y="3040234"/>
          <a:ext cx="807451" cy="47724"/>
        </a:xfrm>
        <a:custGeom>
          <a:avLst/>
          <a:gdLst/>
          <a:ahLst/>
          <a:cxnLst/>
          <a:rect l="0" t="0" r="0" b="0"/>
          <a:pathLst>
            <a:path>
              <a:moveTo>
                <a:pt x="0" y="23862"/>
              </a:moveTo>
              <a:lnTo>
                <a:pt x="807451" y="2386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8063694" y="3043910"/>
        <a:ext cx="40372" cy="40372"/>
      </dsp:txXfrm>
    </dsp:sp>
    <dsp:sp modelId="{619136E7-B0BB-46A1-BE80-4B8BC3B9F011}">
      <dsp:nvSpPr>
        <dsp:cNvPr id="0" name=""/>
        <dsp:cNvSpPr/>
      </dsp:nvSpPr>
      <dsp:spPr>
        <a:xfrm>
          <a:off x="8487606" y="2559439"/>
          <a:ext cx="2018629" cy="1009314"/>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fr-CA" sz="2000" b="1" kern="1200" dirty="0"/>
            <a:t>Coût de renonciation</a:t>
          </a:r>
        </a:p>
      </dsp:txBody>
      <dsp:txXfrm>
        <a:off x="8517168" y="2589001"/>
        <a:ext cx="1959505" cy="95019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2"/>
            <a:ext cx="3037840" cy="466434"/>
          </a:xfrm>
          <a:prstGeom prst="rect">
            <a:avLst/>
          </a:prstGeom>
        </p:spPr>
        <p:txBody>
          <a:bodyPr vert="horz" lIns="93177" tIns="46589" rIns="93177" bIns="46589" rtlCol="0"/>
          <a:lstStyle>
            <a:lvl1pPr algn="l">
              <a:defRPr sz="1200"/>
            </a:lvl1pPr>
          </a:lstStyle>
          <a:p>
            <a:endParaRPr lang="fr-CA"/>
          </a:p>
        </p:txBody>
      </p:sp>
      <p:sp>
        <p:nvSpPr>
          <p:cNvPr id="3" name="Espace réservé de la date 2"/>
          <p:cNvSpPr>
            <a:spLocks noGrp="1"/>
          </p:cNvSpPr>
          <p:nvPr>
            <p:ph type="dt" sz="quarter" idx="1"/>
          </p:nvPr>
        </p:nvSpPr>
        <p:spPr>
          <a:xfrm>
            <a:off x="3970938" y="2"/>
            <a:ext cx="3037840" cy="466434"/>
          </a:xfrm>
          <a:prstGeom prst="rect">
            <a:avLst/>
          </a:prstGeom>
        </p:spPr>
        <p:txBody>
          <a:bodyPr vert="horz" lIns="93177" tIns="46589" rIns="93177" bIns="46589" rtlCol="0"/>
          <a:lstStyle>
            <a:lvl1pPr algn="r">
              <a:defRPr sz="1200"/>
            </a:lvl1pPr>
          </a:lstStyle>
          <a:p>
            <a:fld id="{560A3AAB-47D1-4662-A762-08EA563F584F}" type="datetimeFigureOut">
              <a:rPr lang="fr-CA" smtClean="0"/>
              <a:t>2026-08-28</a:t>
            </a:fld>
            <a:endParaRPr lang="fr-CA"/>
          </a:p>
        </p:txBody>
      </p:sp>
      <p:sp>
        <p:nvSpPr>
          <p:cNvPr id="4" name="Espace réservé du pied de page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fr-CA"/>
          </a:p>
        </p:txBody>
      </p:sp>
      <p:sp>
        <p:nvSpPr>
          <p:cNvPr id="5" name="Espace réservé du numéro de diapositive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3CE8287A-0C42-4A4D-92F4-1137A5D8F5F6}" type="slidenum">
              <a:rPr lang="fr-CA" smtClean="0"/>
              <a:t>‹N°›</a:t>
            </a:fld>
            <a:endParaRPr lang="fr-CA"/>
          </a:p>
        </p:txBody>
      </p:sp>
    </p:spTree>
    <p:extLst>
      <p:ext uri="{BB962C8B-B14F-4D97-AF65-F5344CB8AC3E}">
        <p14:creationId xmlns:p14="http://schemas.microsoft.com/office/powerpoint/2010/main" val="41227490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2"/>
            <a:ext cx="3037840" cy="466434"/>
          </a:xfrm>
          <a:prstGeom prst="rect">
            <a:avLst/>
          </a:prstGeom>
        </p:spPr>
        <p:txBody>
          <a:bodyPr vert="horz" lIns="93177" tIns="46589" rIns="93177" bIns="46589" rtlCol="0"/>
          <a:lstStyle>
            <a:lvl1pPr algn="l">
              <a:defRPr sz="1200"/>
            </a:lvl1pPr>
          </a:lstStyle>
          <a:p>
            <a:endParaRPr lang="fr-CA"/>
          </a:p>
        </p:txBody>
      </p:sp>
      <p:sp>
        <p:nvSpPr>
          <p:cNvPr id="3" name="Espace réservé de la date 2"/>
          <p:cNvSpPr>
            <a:spLocks noGrp="1"/>
          </p:cNvSpPr>
          <p:nvPr>
            <p:ph type="dt" idx="1"/>
          </p:nvPr>
        </p:nvSpPr>
        <p:spPr>
          <a:xfrm>
            <a:off x="3970938" y="2"/>
            <a:ext cx="3037840" cy="466434"/>
          </a:xfrm>
          <a:prstGeom prst="rect">
            <a:avLst/>
          </a:prstGeom>
        </p:spPr>
        <p:txBody>
          <a:bodyPr vert="horz" lIns="93177" tIns="46589" rIns="93177" bIns="46589" rtlCol="0"/>
          <a:lstStyle>
            <a:lvl1pPr algn="r">
              <a:defRPr sz="1200"/>
            </a:lvl1pPr>
          </a:lstStyle>
          <a:p>
            <a:fld id="{BF7AB90F-F7BC-4700-9960-B769A15787B7}" type="datetimeFigureOut">
              <a:rPr lang="fr-CA" smtClean="0"/>
              <a:t>2026-08-28</a:t>
            </a:fld>
            <a:endParaRPr lang="fr-CA"/>
          </a:p>
        </p:txBody>
      </p:sp>
      <p:sp>
        <p:nvSpPr>
          <p:cNvPr id="4" name="Espace réservé de l'image des diapositives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fr-CA"/>
          </a:p>
        </p:txBody>
      </p:sp>
      <p:sp>
        <p:nvSpPr>
          <p:cNvPr id="5" name="Espace réservé des commentaires 4"/>
          <p:cNvSpPr>
            <a:spLocks noGrp="1"/>
          </p:cNvSpPr>
          <p:nvPr>
            <p:ph type="body" sz="quarter" idx="3"/>
          </p:nvPr>
        </p:nvSpPr>
        <p:spPr>
          <a:xfrm>
            <a:off x="701040" y="4473891"/>
            <a:ext cx="5608320" cy="3660459"/>
          </a:xfrm>
          <a:prstGeom prst="rect">
            <a:avLst/>
          </a:prstGeom>
        </p:spPr>
        <p:txBody>
          <a:bodyPr vert="horz" lIns="93177" tIns="46589" rIns="93177" bIns="46589"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D8756633-E94B-447C-907F-5A907A338167}" type="slidenum">
              <a:rPr lang="fr-CA" smtClean="0"/>
              <a:t>‹N°›</a:t>
            </a:fld>
            <a:endParaRPr lang="fr-CA"/>
          </a:p>
        </p:txBody>
      </p:sp>
    </p:spTree>
    <p:extLst>
      <p:ext uri="{BB962C8B-B14F-4D97-AF65-F5344CB8AC3E}">
        <p14:creationId xmlns:p14="http://schemas.microsoft.com/office/powerpoint/2010/main" val="1970382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15D131D5-6477-4BF7-8776-36E89AAF915A}" type="slidenum">
              <a:rPr lang="fr-CA" smtClean="0">
                <a:solidFill>
                  <a:prstClr val="black"/>
                </a:solidFill>
              </a:rPr>
              <a:pPr/>
              <a:t>1</a:t>
            </a:fld>
            <a:endParaRPr lang="fr-CA">
              <a:solidFill>
                <a:prstClr val="black"/>
              </a:solidFill>
            </a:endParaRPr>
          </a:p>
        </p:txBody>
      </p:sp>
    </p:spTree>
    <p:extLst>
      <p:ext uri="{BB962C8B-B14F-4D97-AF65-F5344CB8AC3E}">
        <p14:creationId xmlns:p14="http://schemas.microsoft.com/office/powerpoint/2010/main" val="5002241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a:xfrm>
            <a:off x="701040" y="4473892"/>
            <a:ext cx="5608320" cy="3768066"/>
          </a:xfrm>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2</a:t>
            </a:fld>
            <a:endParaRPr lang="fr-CA"/>
          </a:p>
        </p:txBody>
      </p:sp>
    </p:spTree>
    <p:extLst>
      <p:ext uri="{BB962C8B-B14F-4D97-AF65-F5344CB8AC3E}">
        <p14:creationId xmlns:p14="http://schemas.microsoft.com/office/powerpoint/2010/main" val="20791410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3</a:t>
            </a:fld>
            <a:endParaRPr lang="fr-CA"/>
          </a:p>
        </p:txBody>
      </p:sp>
    </p:spTree>
    <p:extLst>
      <p:ext uri="{BB962C8B-B14F-4D97-AF65-F5344CB8AC3E}">
        <p14:creationId xmlns:p14="http://schemas.microsoft.com/office/powerpoint/2010/main" val="1815560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4</a:t>
            </a:fld>
            <a:endParaRPr lang="fr-CA" dirty="0"/>
          </a:p>
        </p:txBody>
      </p:sp>
    </p:spTree>
    <p:extLst>
      <p:ext uri="{BB962C8B-B14F-4D97-AF65-F5344CB8AC3E}">
        <p14:creationId xmlns:p14="http://schemas.microsoft.com/office/powerpoint/2010/main" val="8809295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124239A-3258-4BA2-A3F1-607C310C6FB3}" type="slidenum">
              <a:rPr lang="fr-CA"/>
              <a:pPr/>
              <a:t>5</a:t>
            </a:fld>
            <a:endParaRPr lang="fr-CA"/>
          </a:p>
        </p:txBody>
      </p:sp>
      <p:sp>
        <p:nvSpPr>
          <p:cNvPr id="8194"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13582099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a:p>
            <a:endParaRPr lang="fr-CA" dirty="0"/>
          </a:p>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6</a:t>
            </a:fld>
            <a:endParaRPr lang="fr-CA"/>
          </a:p>
        </p:txBody>
      </p:sp>
    </p:spTree>
    <p:extLst>
      <p:ext uri="{BB962C8B-B14F-4D97-AF65-F5344CB8AC3E}">
        <p14:creationId xmlns:p14="http://schemas.microsoft.com/office/powerpoint/2010/main" val="28703071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7</a:t>
            </a:fld>
            <a:endParaRPr lang="fr-CA"/>
          </a:p>
        </p:txBody>
      </p:sp>
    </p:spTree>
    <p:extLst>
      <p:ext uri="{BB962C8B-B14F-4D97-AF65-F5344CB8AC3E}">
        <p14:creationId xmlns:p14="http://schemas.microsoft.com/office/powerpoint/2010/main" val="29537600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50372E-0BFA-47BB-B76D-32B888680786}" type="slidenum">
              <a:rPr kumimoji="0" lang="fr-CA"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851"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11855543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589C54-E490-4DD9-9C82-312987735FE2}" type="slidenum">
              <a:rPr kumimoji="0" lang="fr-CA"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019"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a:xfrm>
            <a:off x="701040" y="4473891"/>
            <a:ext cx="5608320" cy="4509242"/>
          </a:xfrm>
        </p:spPr>
        <p:txBody>
          <a:bodyPr/>
          <a:lstStyle/>
          <a:p>
            <a:endParaRPr lang="fr-CA" dirty="0"/>
          </a:p>
        </p:txBody>
      </p:sp>
    </p:spTree>
    <p:extLst>
      <p:ext uri="{BB962C8B-B14F-4D97-AF65-F5344CB8AC3E}">
        <p14:creationId xmlns:p14="http://schemas.microsoft.com/office/powerpoint/2010/main" val="2538943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6D0F41-5D59-476F-965B-88EA19BA75D2}" type="slidenum">
              <a:rPr lang="en-US"/>
              <a:pPr/>
              <a:t>10</a:t>
            </a:fld>
            <a:endParaRPr lang="en-US"/>
          </a:p>
        </p:txBody>
      </p:sp>
      <p:sp>
        <p:nvSpPr>
          <p:cNvPr id="117763" name="Rectangle 3"/>
          <p:cNvSpPr>
            <a:spLocks noGrp="1" noRot="1" noChangeAspect="1" noChangeArrowheads="1" noTextEdit="1"/>
          </p:cNvSpPr>
          <p:nvPr>
            <p:ph type="sldImg"/>
          </p:nvPr>
        </p:nvSpPr>
        <p:spPr>
          <a:xfrm>
            <a:off x="354013" y="704850"/>
            <a:ext cx="6173787" cy="3473450"/>
          </a:xfrm>
          <a:ln w="12700" cap="flat">
            <a:solidFill>
              <a:schemeClr val="tx1"/>
            </a:solidFill>
          </a:ln>
        </p:spPr>
      </p:sp>
      <p:sp>
        <p:nvSpPr>
          <p:cNvPr id="2" name="Espace réservé des commentaires 1"/>
          <p:cNvSpPr>
            <a:spLocks noGrp="1"/>
          </p:cNvSpPr>
          <p:nvPr>
            <p:ph type="body" sz="quarter" idx="10"/>
          </p:nvPr>
        </p:nvSpPr>
        <p:spPr/>
        <p:txBody>
          <a:bodyPr/>
          <a:lstStyle/>
          <a:p>
            <a:endParaRPr lang="fr-CA" b="0" dirty="0"/>
          </a:p>
        </p:txBody>
      </p:sp>
    </p:spTree>
    <p:extLst>
      <p:ext uri="{BB962C8B-B14F-4D97-AF65-F5344CB8AC3E}">
        <p14:creationId xmlns:p14="http://schemas.microsoft.com/office/powerpoint/2010/main" val="2171386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09DD26-FA51-4769-8130-265E5C84139C}" type="slidenum">
              <a:rPr kumimoji="0" lang="fr-CA"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923"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dirty="0"/>
          </a:p>
        </p:txBody>
      </p:sp>
    </p:spTree>
    <p:extLst>
      <p:ext uri="{BB962C8B-B14F-4D97-AF65-F5344CB8AC3E}">
        <p14:creationId xmlns:p14="http://schemas.microsoft.com/office/powerpoint/2010/main" val="34042544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10"/>
          </p:nvPr>
        </p:nvSpPr>
        <p:spPr/>
        <p:txBody>
          <a:bodyPr/>
          <a:lstStyle/>
          <a:p>
            <a:pPr>
              <a:defRPr/>
            </a:pPr>
            <a:fld id="{70870A11-ED4F-46C5-B7EE-5AD4C7A3CD48}" type="slidenum">
              <a:rPr lang="fr-CA" smtClean="0"/>
              <a:pPr>
                <a:defRPr/>
              </a:pPr>
              <a:t>12</a:t>
            </a:fld>
            <a:endParaRPr lang="fr-CA"/>
          </a:p>
        </p:txBody>
      </p:sp>
      <p:sp>
        <p:nvSpPr>
          <p:cNvPr id="5" name="Espace réservé des commentaires 4"/>
          <p:cNvSpPr>
            <a:spLocks noGrp="1"/>
          </p:cNvSpPr>
          <p:nvPr>
            <p:ph type="body" sz="quarter" idx="11"/>
          </p:nvPr>
        </p:nvSpPr>
        <p:spPr/>
        <p:txBody>
          <a:bodyPr/>
          <a:lstStyle/>
          <a:p>
            <a:pPr marL="0" indent="0">
              <a:buFontTx/>
              <a:buNone/>
            </a:pPr>
            <a:endParaRPr lang="fr-CA" dirty="0"/>
          </a:p>
        </p:txBody>
      </p:sp>
    </p:spTree>
    <p:extLst>
      <p:ext uri="{BB962C8B-B14F-4D97-AF65-F5344CB8AC3E}">
        <p14:creationId xmlns:p14="http://schemas.microsoft.com/office/powerpoint/2010/main" val="37545973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13</a:t>
            </a:fld>
            <a:endParaRPr lang="fr-CA"/>
          </a:p>
        </p:txBody>
      </p:sp>
    </p:spTree>
    <p:extLst>
      <p:ext uri="{BB962C8B-B14F-4D97-AF65-F5344CB8AC3E}">
        <p14:creationId xmlns:p14="http://schemas.microsoft.com/office/powerpoint/2010/main" val="33940061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14</a:t>
            </a:fld>
            <a:endParaRPr lang="fr-CA" dirty="0"/>
          </a:p>
        </p:txBody>
      </p:sp>
    </p:spTree>
    <p:extLst>
      <p:ext uri="{BB962C8B-B14F-4D97-AF65-F5344CB8AC3E}">
        <p14:creationId xmlns:p14="http://schemas.microsoft.com/office/powerpoint/2010/main" val="42281077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EAD23-CE81-DED3-B778-BAFA73171D6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6555831-6FC7-2F42-9D53-A4D615F13B3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B2B0816-429A-7639-6E50-742A04A515E7}"/>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CE9AB705-20A6-D96B-156E-F33C86519591}"/>
              </a:ext>
            </a:extLst>
          </p:cNvPr>
          <p:cNvSpPr>
            <a:spLocks noGrp="1"/>
          </p:cNvSpPr>
          <p:nvPr>
            <p:ph type="sldNum" sz="quarter" idx="5"/>
          </p:nvPr>
        </p:nvSpPr>
        <p:spPr/>
        <p:txBody>
          <a:bodyPr/>
          <a:lstStyle/>
          <a:p>
            <a:fld id="{D8756633-E94B-447C-907F-5A907A338167}" type="slidenum">
              <a:rPr lang="fr-CA" smtClean="0"/>
              <a:t>15</a:t>
            </a:fld>
            <a:endParaRPr lang="fr-CA"/>
          </a:p>
        </p:txBody>
      </p:sp>
    </p:spTree>
    <p:extLst>
      <p:ext uri="{BB962C8B-B14F-4D97-AF65-F5344CB8AC3E}">
        <p14:creationId xmlns:p14="http://schemas.microsoft.com/office/powerpoint/2010/main" val="18452510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16</a:t>
            </a:fld>
            <a:endParaRPr lang="fr-CA"/>
          </a:p>
        </p:txBody>
      </p:sp>
    </p:spTree>
    <p:extLst>
      <p:ext uri="{BB962C8B-B14F-4D97-AF65-F5344CB8AC3E}">
        <p14:creationId xmlns:p14="http://schemas.microsoft.com/office/powerpoint/2010/main" val="29139222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26BF3A1-F758-403B-AD42-6B0E149A0DD7}" type="slidenum">
              <a:rPr lang="fr-CA"/>
              <a:pPr/>
              <a:t>17</a:t>
            </a:fld>
            <a:endParaRPr lang="fr-CA"/>
          </a:p>
        </p:txBody>
      </p:sp>
      <p:sp>
        <p:nvSpPr>
          <p:cNvPr id="43010"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a:xfrm>
            <a:off x="701040" y="4473891"/>
            <a:ext cx="5608320" cy="3936013"/>
          </a:xfrm>
        </p:spPr>
        <p:txBody>
          <a:bodyPr/>
          <a:lstStyle/>
          <a:p>
            <a:endParaRPr lang="fr-CA" dirty="0"/>
          </a:p>
        </p:txBody>
      </p:sp>
    </p:spTree>
    <p:extLst>
      <p:ext uri="{BB962C8B-B14F-4D97-AF65-F5344CB8AC3E}">
        <p14:creationId xmlns:p14="http://schemas.microsoft.com/office/powerpoint/2010/main" val="2533898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26BF3A1-F758-403B-AD42-6B0E149A0DD7}" type="slidenum">
              <a:rPr lang="fr-CA"/>
              <a:pPr/>
              <a:t>18</a:t>
            </a:fld>
            <a:endParaRPr lang="fr-CA"/>
          </a:p>
        </p:txBody>
      </p:sp>
      <p:sp>
        <p:nvSpPr>
          <p:cNvPr id="43010"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a:xfrm>
            <a:off x="701040" y="4473891"/>
            <a:ext cx="5608320" cy="3936013"/>
          </a:xfrm>
        </p:spPr>
        <p:txBody>
          <a:bodyPr/>
          <a:lstStyle/>
          <a:p>
            <a:endParaRPr lang="fr-CA" dirty="0"/>
          </a:p>
        </p:txBody>
      </p:sp>
    </p:spTree>
    <p:extLst>
      <p:ext uri="{BB962C8B-B14F-4D97-AF65-F5344CB8AC3E}">
        <p14:creationId xmlns:p14="http://schemas.microsoft.com/office/powerpoint/2010/main" val="29819285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26BF3A1-F758-403B-AD42-6B0E149A0DD7}" type="slidenum">
              <a:rPr lang="fr-CA"/>
              <a:pPr/>
              <a:t>19</a:t>
            </a:fld>
            <a:endParaRPr lang="fr-CA"/>
          </a:p>
        </p:txBody>
      </p:sp>
      <p:sp>
        <p:nvSpPr>
          <p:cNvPr id="43010"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a:xfrm>
            <a:off x="701039" y="4473891"/>
            <a:ext cx="5983095" cy="3660459"/>
          </a:xfrm>
        </p:spPr>
        <p:txBody>
          <a:bodyPr/>
          <a:lstStyle/>
          <a:p>
            <a:endParaRPr lang="fr-CA" dirty="0"/>
          </a:p>
        </p:txBody>
      </p:sp>
    </p:spTree>
    <p:extLst>
      <p:ext uri="{BB962C8B-B14F-4D97-AF65-F5344CB8AC3E}">
        <p14:creationId xmlns:p14="http://schemas.microsoft.com/office/powerpoint/2010/main" val="9054926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9248A-C7FA-4901-70BC-9DE9DFCB72A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6D56765-1BFA-4C20-CEB0-43DF9DE98053}"/>
              </a:ext>
            </a:extLst>
          </p:cNvPr>
          <p:cNvSpPr>
            <a:spLocks noGrp="1" noRot="1" noChangeAspect="1"/>
          </p:cNvSpPr>
          <p:nvPr>
            <p:ph type="sldImg"/>
          </p:nvPr>
        </p:nvSpPr>
        <p:spPr>
          <a:xfrm>
            <a:off x="733425" y="1162050"/>
            <a:ext cx="5575300" cy="3136900"/>
          </a:xfrm>
        </p:spPr>
      </p:sp>
      <p:sp>
        <p:nvSpPr>
          <p:cNvPr id="3" name="Espace réservé des commentaires 2">
            <a:extLst>
              <a:ext uri="{FF2B5EF4-FFF2-40B4-BE49-F238E27FC236}">
                <a16:creationId xmlns:a16="http://schemas.microsoft.com/office/drawing/2014/main" id="{1C44F10C-B2DE-1D30-15A2-F5B311F5B0D3}"/>
              </a:ext>
            </a:extLst>
          </p:cNvPr>
          <p:cNvSpPr>
            <a:spLocks noGrp="1"/>
          </p:cNvSpPr>
          <p:nvPr>
            <p:ph type="body" idx="1"/>
          </p:nvPr>
        </p:nvSpPr>
        <p:spPr/>
        <p:txBody>
          <a:bodyPr/>
          <a:lstStyle/>
          <a:p>
            <a:endParaRPr lang="fr-CA" dirty="0"/>
          </a:p>
        </p:txBody>
      </p:sp>
      <p:sp>
        <p:nvSpPr>
          <p:cNvPr id="4" name="Espace réservé du numéro de diapositive 3">
            <a:extLst>
              <a:ext uri="{FF2B5EF4-FFF2-40B4-BE49-F238E27FC236}">
                <a16:creationId xmlns:a16="http://schemas.microsoft.com/office/drawing/2014/main" id="{731121D6-2454-79E6-F0F0-0F1532EDBFC3}"/>
              </a:ext>
            </a:extLst>
          </p:cNvPr>
          <p:cNvSpPr>
            <a:spLocks noGrp="1"/>
          </p:cNvSpPr>
          <p:nvPr>
            <p:ph type="sldNum" sz="quarter" idx="10"/>
          </p:nvPr>
        </p:nvSpPr>
        <p:spPr/>
        <p:txBody>
          <a:bodyPr/>
          <a:lstStyle/>
          <a:p>
            <a:fld id="{7AF7707D-0897-4DF0-B5FE-CC24E17167B5}" type="slidenum">
              <a:rPr lang="fr-CA" smtClean="0"/>
              <a:t>20</a:t>
            </a:fld>
            <a:endParaRPr lang="fr-CA"/>
          </a:p>
        </p:txBody>
      </p:sp>
    </p:spTree>
    <p:extLst>
      <p:ext uri="{BB962C8B-B14F-4D97-AF65-F5344CB8AC3E}">
        <p14:creationId xmlns:p14="http://schemas.microsoft.com/office/powerpoint/2010/main" val="7676617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10"/>
          </p:nvPr>
        </p:nvSpPr>
        <p:spPr/>
        <p:txBody>
          <a:bodyPr/>
          <a:lstStyle/>
          <a:p>
            <a:pPr>
              <a:defRPr/>
            </a:pPr>
            <a:fld id="{70870A11-ED4F-46C5-B7EE-5AD4C7A3CD48}" type="slidenum">
              <a:rPr lang="fr-CA" smtClean="0"/>
              <a:pPr>
                <a:defRPr/>
              </a:pPr>
              <a:t>21</a:t>
            </a:fld>
            <a:endParaRPr lang="fr-CA"/>
          </a:p>
        </p:txBody>
      </p:sp>
      <p:sp>
        <p:nvSpPr>
          <p:cNvPr id="5" name="Espace réservé des commentaires 4"/>
          <p:cNvSpPr>
            <a:spLocks noGrp="1"/>
          </p:cNvSpPr>
          <p:nvPr>
            <p:ph type="body" sz="quarter" idx="11"/>
          </p:nvPr>
        </p:nvSpPr>
        <p:spPr/>
        <p:txBody>
          <a:bodyPr/>
          <a:lstStyle/>
          <a:p>
            <a:pPr marL="0" indent="0">
              <a:buNone/>
            </a:pPr>
            <a:endParaRPr lang="fr-CA" b="0" dirty="0"/>
          </a:p>
        </p:txBody>
      </p:sp>
    </p:spTree>
    <p:extLst>
      <p:ext uri="{BB962C8B-B14F-4D97-AF65-F5344CB8AC3E}">
        <p14:creationId xmlns:p14="http://schemas.microsoft.com/office/powerpoint/2010/main" val="733204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AF7707D-0897-4DF0-B5FE-CC24E17167B5}"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18968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cs typeface="Calibri"/>
            </a:endParaRPr>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24</a:t>
            </a:fld>
            <a:endParaRPr lang="fr-CA" dirty="0"/>
          </a:p>
        </p:txBody>
      </p:sp>
    </p:spTree>
    <p:extLst>
      <p:ext uri="{BB962C8B-B14F-4D97-AF65-F5344CB8AC3E}">
        <p14:creationId xmlns:p14="http://schemas.microsoft.com/office/powerpoint/2010/main" val="11247001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CC4BF827-E851-4752-A591-0B2FD8DC885F}" type="slidenum">
              <a:rPr lang="fr-FR"/>
              <a:pPr/>
              <a:t>25</a:t>
            </a:fld>
            <a:endParaRPr lang="fr-FR"/>
          </a:p>
        </p:txBody>
      </p:sp>
      <p:sp>
        <p:nvSpPr>
          <p:cNvPr id="36867"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dirty="0">
              <a:cs typeface="Calibri" panose="020F0502020204030204"/>
            </a:endParaRPr>
          </a:p>
          <a:p>
            <a:endParaRPr lang="fr-CA" b="1" dirty="0">
              <a:cs typeface="Calibri" panose="020F0502020204030204"/>
            </a:endParaRPr>
          </a:p>
          <a:p>
            <a:endParaRPr lang="fr-CA" b="1" dirty="0">
              <a:cs typeface="Calibri" panose="020F0502020204030204"/>
            </a:endParaRPr>
          </a:p>
        </p:txBody>
      </p:sp>
    </p:spTree>
    <p:extLst>
      <p:ext uri="{BB962C8B-B14F-4D97-AF65-F5344CB8AC3E}">
        <p14:creationId xmlns:p14="http://schemas.microsoft.com/office/powerpoint/2010/main" val="36679078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26</a:t>
            </a:fld>
            <a:endParaRPr lang="fr-CA"/>
          </a:p>
        </p:txBody>
      </p:sp>
    </p:spTree>
    <p:extLst>
      <p:ext uri="{BB962C8B-B14F-4D97-AF65-F5344CB8AC3E}">
        <p14:creationId xmlns:p14="http://schemas.microsoft.com/office/powerpoint/2010/main" val="8096916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27</a:t>
            </a:fld>
            <a:endParaRPr lang="fr-CA"/>
          </a:p>
        </p:txBody>
      </p:sp>
    </p:spTree>
    <p:extLst>
      <p:ext uri="{BB962C8B-B14F-4D97-AF65-F5344CB8AC3E}">
        <p14:creationId xmlns:p14="http://schemas.microsoft.com/office/powerpoint/2010/main" val="15244178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10"/>
          </p:nvPr>
        </p:nvSpPr>
        <p:spPr/>
        <p:txBody>
          <a:bodyPr/>
          <a:lstStyle/>
          <a:p>
            <a:pPr>
              <a:defRPr/>
            </a:pPr>
            <a:fld id="{70870A11-ED4F-46C5-B7EE-5AD4C7A3CD48}" type="slidenum">
              <a:rPr lang="fr-CA" smtClean="0"/>
              <a:pPr>
                <a:defRPr/>
              </a:pPr>
              <a:t>28</a:t>
            </a:fld>
            <a:endParaRPr lang="fr-CA"/>
          </a:p>
        </p:txBody>
      </p:sp>
      <p:sp>
        <p:nvSpPr>
          <p:cNvPr id="5" name="Espace réservé des commentaires 4"/>
          <p:cNvSpPr>
            <a:spLocks noGrp="1"/>
          </p:cNvSpPr>
          <p:nvPr>
            <p:ph type="body" sz="quarter" idx="11"/>
          </p:nvPr>
        </p:nvSpPr>
        <p:spPr/>
        <p:txBody>
          <a:bodyPr/>
          <a:lstStyle/>
          <a:p>
            <a:endParaRPr lang="fr-CA" b="1" dirty="0"/>
          </a:p>
        </p:txBody>
      </p:sp>
    </p:spTree>
    <p:extLst>
      <p:ext uri="{BB962C8B-B14F-4D97-AF65-F5344CB8AC3E}">
        <p14:creationId xmlns:p14="http://schemas.microsoft.com/office/powerpoint/2010/main" val="31045005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4DBE8-4F19-5626-3DE1-192B038E520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AEEEB97-C1B0-F6A0-6D26-FD63F1B97C9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4B10DBB-5F7D-4120-0872-9C1292703FB0}"/>
              </a:ext>
            </a:extLst>
          </p:cNvPr>
          <p:cNvSpPr>
            <a:spLocks noGrp="1"/>
          </p:cNvSpPr>
          <p:nvPr>
            <p:ph type="body" idx="1"/>
          </p:nvPr>
        </p:nvSpPr>
        <p:spPr/>
        <p:txBody>
          <a:bodyPr/>
          <a:lstStyle/>
          <a:p>
            <a:endParaRPr lang="fr-CA" b="1" dirty="0"/>
          </a:p>
        </p:txBody>
      </p:sp>
      <p:sp>
        <p:nvSpPr>
          <p:cNvPr id="4" name="Espace réservé du numéro de diapositive 3">
            <a:extLst>
              <a:ext uri="{FF2B5EF4-FFF2-40B4-BE49-F238E27FC236}">
                <a16:creationId xmlns:a16="http://schemas.microsoft.com/office/drawing/2014/main" id="{021E77EA-5035-5597-5515-EBFF2ABB0399}"/>
              </a:ext>
            </a:extLst>
          </p:cNvPr>
          <p:cNvSpPr>
            <a:spLocks noGrp="1"/>
          </p:cNvSpPr>
          <p:nvPr>
            <p:ph type="sldNum" sz="quarter" idx="5"/>
          </p:nvPr>
        </p:nvSpPr>
        <p:spPr/>
        <p:txBody>
          <a:bodyPr/>
          <a:lstStyle/>
          <a:p>
            <a:fld id="{D8756633-E94B-447C-907F-5A907A338167}" type="slidenum">
              <a:rPr lang="fr-CA" smtClean="0"/>
              <a:t>29</a:t>
            </a:fld>
            <a:endParaRPr lang="fr-CA"/>
          </a:p>
        </p:txBody>
      </p:sp>
    </p:spTree>
    <p:extLst>
      <p:ext uri="{BB962C8B-B14F-4D97-AF65-F5344CB8AC3E}">
        <p14:creationId xmlns:p14="http://schemas.microsoft.com/office/powerpoint/2010/main" val="32406967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cs typeface="Calibri"/>
            </a:endParaRPr>
          </a:p>
        </p:txBody>
      </p:sp>
      <p:sp>
        <p:nvSpPr>
          <p:cNvPr id="4" name="Slide Number Placeholder 3"/>
          <p:cNvSpPr>
            <a:spLocks noGrp="1"/>
          </p:cNvSpPr>
          <p:nvPr>
            <p:ph type="sldNum" sz="quarter" idx="5"/>
          </p:nvPr>
        </p:nvSpPr>
        <p:spPr/>
        <p:txBody>
          <a:bodyPr/>
          <a:lstStyle/>
          <a:p>
            <a:fld id="{D8756633-E94B-447C-907F-5A907A338167}" type="slidenum">
              <a:rPr lang="fr-CA" smtClean="0"/>
              <a:t>30</a:t>
            </a:fld>
            <a:endParaRPr lang="fr-CA"/>
          </a:p>
        </p:txBody>
      </p:sp>
    </p:spTree>
    <p:extLst>
      <p:ext uri="{BB962C8B-B14F-4D97-AF65-F5344CB8AC3E}">
        <p14:creationId xmlns:p14="http://schemas.microsoft.com/office/powerpoint/2010/main" val="17784697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b="1"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31</a:t>
            </a:fld>
            <a:endParaRPr lang="fr-CA"/>
          </a:p>
        </p:txBody>
      </p:sp>
    </p:spTree>
    <p:extLst>
      <p:ext uri="{BB962C8B-B14F-4D97-AF65-F5344CB8AC3E}">
        <p14:creationId xmlns:p14="http://schemas.microsoft.com/office/powerpoint/2010/main" val="28384861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10"/>
          </p:nvPr>
        </p:nvSpPr>
        <p:spPr/>
        <p:txBody>
          <a:bodyPr/>
          <a:lstStyle/>
          <a:p>
            <a:pPr>
              <a:defRPr/>
            </a:pPr>
            <a:fld id="{70870A11-ED4F-46C5-B7EE-5AD4C7A3CD48}" type="slidenum">
              <a:rPr lang="fr-CA" smtClean="0"/>
              <a:pPr>
                <a:defRPr/>
              </a:pPr>
              <a:t>32</a:t>
            </a:fld>
            <a:endParaRPr lang="fr-CA"/>
          </a:p>
        </p:txBody>
      </p:sp>
      <p:sp>
        <p:nvSpPr>
          <p:cNvPr id="5" name="Espace réservé des commentaires 4"/>
          <p:cNvSpPr>
            <a:spLocks noGrp="1"/>
          </p:cNvSpPr>
          <p:nvPr>
            <p:ph type="body" sz="quarter" idx="11"/>
          </p:nvPr>
        </p:nvSpPr>
        <p:spPr/>
        <p:txBody>
          <a:bodyPr/>
          <a:lstStyle/>
          <a:p>
            <a:endParaRPr lang="fr-CA"/>
          </a:p>
        </p:txBody>
      </p:sp>
    </p:spTree>
    <p:extLst>
      <p:ext uri="{BB962C8B-B14F-4D97-AF65-F5344CB8AC3E}">
        <p14:creationId xmlns:p14="http://schemas.microsoft.com/office/powerpoint/2010/main" val="17661451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33</a:t>
            </a:fld>
            <a:endParaRPr lang="fr-CA"/>
          </a:p>
        </p:txBody>
      </p:sp>
    </p:spTree>
    <p:extLst>
      <p:ext uri="{BB962C8B-B14F-4D97-AF65-F5344CB8AC3E}">
        <p14:creationId xmlns:p14="http://schemas.microsoft.com/office/powerpoint/2010/main" val="12868749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a:xfrm>
            <a:off x="701040" y="4473891"/>
            <a:ext cx="5608320" cy="4356076"/>
          </a:xfrm>
        </p:spPr>
        <p:txBody>
          <a:bodyPr/>
          <a:lstStyle/>
          <a:p>
            <a:endParaRPr lang="fr-CA" b="0"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34</a:t>
            </a:fld>
            <a:endParaRPr lang="fr-CA"/>
          </a:p>
        </p:txBody>
      </p:sp>
    </p:spTree>
    <p:extLst>
      <p:ext uri="{BB962C8B-B14F-4D97-AF65-F5344CB8AC3E}">
        <p14:creationId xmlns:p14="http://schemas.microsoft.com/office/powerpoint/2010/main" val="11511449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B1F93-24EE-5D61-BF9C-EE7D280BD2B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811F90C-6E7A-4B7F-8A17-9C08337763E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E311E2A-33C1-F5C5-FCD5-E5C2DF12DC73}"/>
              </a:ext>
            </a:extLst>
          </p:cNvPr>
          <p:cNvSpPr>
            <a:spLocks noGrp="1"/>
          </p:cNvSpPr>
          <p:nvPr>
            <p:ph type="body" idx="1"/>
          </p:nvPr>
        </p:nvSpPr>
        <p:spPr>
          <a:xfrm>
            <a:off x="701040" y="4473891"/>
            <a:ext cx="5608320" cy="4356076"/>
          </a:xfrm>
        </p:spPr>
        <p:txBody>
          <a:bodyPr/>
          <a:lstStyle/>
          <a:p>
            <a:endParaRPr lang="fr-CA" b="0" dirty="0"/>
          </a:p>
        </p:txBody>
      </p:sp>
      <p:sp>
        <p:nvSpPr>
          <p:cNvPr id="4" name="Espace réservé du numéro de diapositive 3">
            <a:extLst>
              <a:ext uri="{FF2B5EF4-FFF2-40B4-BE49-F238E27FC236}">
                <a16:creationId xmlns:a16="http://schemas.microsoft.com/office/drawing/2014/main" id="{54F3D69A-D385-7BA4-4006-3ACB8A2F4B0B}"/>
              </a:ext>
            </a:extLst>
          </p:cNvPr>
          <p:cNvSpPr>
            <a:spLocks noGrp="1"/>
          </p:cNvSpPr>
          <p:nvPr>
            <p:ph type="sldNum" sz="quarter" idx="5"/>
          </p:nvPr>
        </p:nvSpPr>
        <p:spPr/>
        <p:txBody>
          <a:bodyPr/>
          <a:lstStyle/>
          <a:p>
            <a:fld id="{D8756633-E94B-447C-907F-5A907A338167}" type="slidenum">
              <a:rPr lang="fr-CA" smtClean="0"/>
              <a:t>35</a:t>
            </a:fld>
            <a:endParaRPr lang="fr-CA"/>
          </a:p>
        </p:txBody>
      </p:sp>
    </p:spTree>
    <p:extLst>
      <p:ext uri="{BB962C8B-B14F-4D97-AF65-F5344CB8AC3E}">
        <p14:creationId xmlns:p14="http://schemas.microsoft.com/office/powerpoint/2010/main" val="26649275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10"/>
          </p:nvPr>
        </p:nvSpPr>
        <p:spPr/>
        <p:txBody>
          <a:bodyPr/>
          <a:lstStyle/>
          <a:p>
            <a:pPr>
              <a:defRPr/>
            </a:pPr>
            <a:fld id="{70870A11-ED4F-46C5-B7EE-5AD4C7A3CD48}" type="slidenum">
              <a:rPr lang="fr-CA" smtClean="0"/>
              <a:pPr>
                <a:defRPr/>
              </a:pPr>
              <a:t>36</a:t>
            </a:fld>
            <a:endParaRPr lang="fr-CA"/>
          </a:p>
        </p:txBody>
      </p:sp>
      <p:sp>
        <p:nvSpPr>
          <p:cNvPr id="5" name="Espace réservé des commentaires 4"/>
          <p:cNvSpPr>
            <a:spLocks noGrp="1"/>
          </p:cNvSpPr>
          <p:nvPr>
            <p:ph type="body" sz="quarter" idx="11"/>
          </p:nvPr>
        </p:nvSpPr>
        <p:spPr/>
        <p:txBody>
          <a:bodyPr/>
          <a:lstStyle/>
          <a:p>
            <a:endParaRPr lang="fr-CA"/>
          </a:p>
        </p:txBody>
      </p:sp>
    </p:spTree>
    <p:extLst>
      <p:ext uri="{BB962C8B-B14F-4D97-AF65-F5344CB8AC3E}">
        <p14:creationId xmlns:p14="http://schemas.microsoft.com/office/powerpoint/2010/main" val="29160513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a:xfrm>
            <a:off x="701040" y="4473891"/>
            <a:ext cx="5608320" cy="3660459"/>
          </a:xfrm>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37</a:t>
            </a:fld>
            <a:endParaRPr lang="fr-CA"/>
          </a:p>
        </p:txBody>
      </p:sp>
    </p:spTree>
    <p:extLst>
      <p:ext uri="{BB962C8B-B14F-4D97-AF65-F5344CB8AC3E}">
        <p14:creationId xmlns:p14="http://schemas.microsoft.com/office/powerpoint/2010/main" val="19238979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b="1" dirty="0"/>
          </a:p>
          <a:p>
            <a:endParaRPr lang="fr-CA" dirty="0"/>
          </a:p>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38</a:t>
            </a:fld>
            <a:endParaRPr lang="fr-CA"/>
          </a:p>
        </p:txBody>
      </p:sp>
    </p:spTree>
    <p:extLst>
      <p:ext uri="{BB962C8B-B14F-4D97-AF65-F5344CB8AC3E}">
        <p14:creationId xmlns:p14="http://schemas.microsoft.com/office/powerpoint/2010/main" val="3365309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10"/>
          </p:nvPr>
        </p:nvSpPr>
        <p:spPr/>
        <p:txBody>
          <a:bodyPr/>
          <a:lstStyle/>
          <a:p>
            <a:fld id="{C6203257-382C-424D-AAED-938AD3F18826}" type="slidenum">
              <a:rPr lang="fr-CA" smtClean="0"/>
              <a:pPr/>
              <a:t>39</a:t>
            </a:fld>
            <a:endParaRPr lang="fr-CA" dirty="0"/>
          </a:p>
        </p:txBody>
      </p:sp>
      <p:sp>
        <p:nvSpPr>
          <p:cNvPr id="5" name="Espace réservé des commentaires 4"/>
          <p:cNvSpPr>
            <a:spLocks noGrp="1"/>
          </p:cNvSpPr>
          <p:nvPr>
            <p:ph type="body" sz="quarter" idx="11"/>
          </p:nvPr>
        </p:nvSpPr>
        <p:spPr/>
        <p:txBody>
          <a:bodyPr/>
          <a:lstStyle/>
          <a:p>
            <a:endParaRPr lang="fr-CA"/>
          </a:p>
        </p:txBody>
      </p:sp>
    </p:spTree>
    <p:extLst>
      <p:ext uri="{BB962C8B-B14F-4D97-AF65-F5344CB8AC3E}">
        <p14:creationId xmlns:p14="http://schemas.microsoft.com/office/powerpoint/2010/main" val="5743739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40</a:t>
            </a:fld>
            <a:endParaRPr lang="fr-CA"/>
          </a:p>
        </p:txBody>
      </p:sp>
    </p:spTree>
    <p:extLst>
      <p:ext uri="{BB962C8B-B14F-4D97-AF65-F5344CB8AC3E}">
        <p14:creationId xmlns:p14="http://schemas.microsoft.com/office/powerpoint/2010/main" val="16053224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733425" y="1162050"/>
            <a:ext cx="5575300" cy="3136900"/>
          </a:xfrm>
          <a:solidFill>
            <a:schemeClr val="accent2"/>
          </a:solidFill>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41</a:t>
            </a:fld>
            <a:endParaRPr lang="fr-CA" dirty="0"/>
          </a:p>
        </p:txBody>
      </p:sp>
      <p:sp>
        <p:nvSpPr>
          <p:cNvPr id="5" name="ZoneTexte 4">
            <a:extLst>
              <a:ext uri="{FF2B5EF4-FFF2-40B4-BE49-F238E27FC236}">
                <a16:creationId xmlns:a16="http://schemas.microsoft.com/office/drawing/2014/main" id="{BA239D46-1CCC-7B77-699D-E2A4CA4BEDB5}"/>
              </a:ext>
            </a:extLst>
          </p:cNvPr>
          <p:cNvSpPr txBox="1"/>
          <p:nvPr/>
        </p:nvSpPr>
        <p:spPr>
          <a:xfrm>
            <a:off x="0" y="0"/>
            <a:ext cx="3810000" cy="1270000"/>
          </a:xfrm>
          <a:prstGeom prst="rect">
            <a:avLst/>
          </a:prstGeom>
          <a:noFill/>
        </p:spPr>
        <p:txBody>
          <a:bodyPr vert="horz" rtlCol="0">
            <a:spAutoFit/>
          </a:bodyPr>
          <a:lstStyle/>
          <a:p>
            <a:endParaRPr lang="fr-CA"/>
          </a:p>
        </p:txBody>
      </p:sp>
    </p:spTree>
    <p:extLst>
      <p:ext uri="{BB962C8B-B14F-4D97-AF65-F5344CB8AC3E}">
        <p14:creationId xmlns:p14="http://schemas.microsoft.com/office/powerpoint/2010/main" val="112076155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6D7997-8CD3-48EB-BBA1-F5A9390C8EA1}" type="slidenum">
              <a:rPr lang="fr-CA"/>
              <a:pPr/>
              <a:t>42</a:t>
            </a:fld>
            <a:endParaRPr lang="fr-CA"/>
          </a:p>
        </p:txBody>
      </p:sp>
      <p:sp>
        <p:nvSpPr>
          <p:cNvPr id="83970"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29875366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6D7997-8CD3-48EB-BBA1-F5A9390C8EA1}" type="slidenum">
              <a:rPr lang="fr-CA"/>
              <a:pPr/>
              <a:t>43</a:t>
            </a:fld>
            <a:endParaRPr lang="fr-CA"/>
          </a:p>
        </p:txBody>
      </p:sp>
      <p:sp>
        <p:nvSpPr>
          <p:cNvPr id="83970"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384785853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6D7997-8CD3-48EB-BBA1-F5A9390C8EA1}" type="slidenum">
              <a:rPr lang="fr-CA"/>
              <a:pPr/>
              <a:t>44</a:t>
            </a:fld>
            <a:endParaRPr lang="fr-CA"/>
          </a:p>
        </p:txBody>
      </p:sp>
      <p:sp>
        <p:nvSpPr>
          <p:cNvPr id="83970"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dirty="0"/>
          </a:p>
        </p:txBody>
      </p:sp>
    </p:spTree>
    <p:extLst>
      <p:ext uri="{BB962C8B-B14F-4D97-AF65-F5344CB8AC3E}">
        <p14:creationId xmlns:p14="http://schemas.microsoft.com/office/powerpoint/2010/main" val="31124788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6D7997-8CD3-48EB-BBA1-F5A9390C8EA1}" type="slidenum">
              <a:rPr lang="fr-CA"/>
              <a:pPr/>
              <a:t>45</a:t>
            </a:fld>
            <a:endParaRPr lang="fr-CA" dirty="0"/>
          </a:p>
        </p:txBody>
      </p:sp>
      <p:sp>
        <p:nvSpPr>
          <p:cNvPr id="83970"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242135093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46</a:t>
            </a:fld>
            <a:endParaRPr lang="fr-CA" dirty="0"/>
          </a:p>
        </p:txBody>
      </p:sp>
    </p:spTree>
    <p:extLst>
      <p:ext uri="{BB962C8B-B14F-4D97-AF65-F5344CB8AC3E}">
        <p14:creationId xmlns:p14="http://schemas.microsoft.com/office/powerpoint/2010/main" val="8096916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8200" y="160589"/>
            <a:ext cx="10515600" cy="1042570"/>
          </a:xfrm>
        </p:spPr>
        <p:txBody>
          <a:bodyPr/>
          <a:lstStyle/>
          <a:p>
            <a:r>
              <a:rPr lang="fr-FR"/>
              <a:t>Modifiez le style du titre</a:t>
            </a:r>
            <a:endParaRPr lang="fr-CA"/>
          </a:p>
        </p:txBody>
      </p:sp>
      <p:sp>
        <p:nvSpPr>
          <p:cNvPr id="3" name="Espace réservé du contenu 2"/>
          <p:cNvSpPr>
            <a:spLocks noGrp="1"/>
          </p:cNvSpPr>
          <p:nvPr>
            <p:ph idx="1"/>
          </p:nvPr>
        </p:nvSpPr>
        <p:spPr>
          <a:xfrm>
            <a:off x="838200" y="1467851"/>
            <a:ext cx="10515600" cy="4709112"/>
          </a:xfrm>
          <a:noFill/>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772885" y="1214827"/>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933061" y="1349764"/>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4032948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9"/>
            <a:ext cx="10515600" cy="2309812"/>
          </a:xfrm>
        </p:spPr>
        <p:txBody>
          <a:bodyPr anchor="b"/>
          <a:lstStyle>
            <a:lvl1pPr>
              <a:defRPr sz="6000"/>
            </a:lvl1pPr>
          </a:lstStyle>
          <a:p>
            <a:r>
              <a:rPr lang="fr-FR"/>
              <a:t>Modifiez le style du titre</a:t>
            </a:r>
            <a:endParaRPr lang="fr-CA"/>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cxnSp>
        <p:nvCxnSpPr>
          <p:cNvPr id="6" name="Connecteur droit 5"/>
          <p:cNvCxnSpPr/>
          <p:nvPr userDrawn="1"/>
        </p:nvCxnSpPr>
        <p:spPr>
          <a:xfrm>
            <a:off x="828870" y="421928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p:cNvCxnSpPr/>
          <p:nvPr userDrawn="1"/>
        </p:nvCxnSpPr>
        <p:spPr>
          <a:xfrm>
            <a:off x="989046" y="435422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11"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4099369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44738"/>
          </a:xfrm>
        </p:spPr>
        <p:txBody>
          <a:bodyPr anchor="b"/>
          <a:lstStyle>
            <a:lvl1pPr algn="ctr">
              <a:defRPr sz="6000"/>
            </a:lvl1pPr>
          </a:lstStyle>
          <a:p>
            <a:r>
              <a:rPr lang="fr-FR"/>
              <a:t>Modifiez le style du titre</a:t>
            </a:r>
            <a:endParaRPr lang="fr-CA"/>
          </a:p>
        </p:txBody>
      </p:sp>
      <p:sp>
        <p:nvSpPr>
          <p:cNvPr id="3" name="Sous-titre 2"/>
          <p:cNvSpPr>
            <a:spLocks noGrp="1"/>
          </p:cNvSpPr>
          <p:nvPr>
            <p:ph type="subTitle" idx="1"/>
          </p:nvPr>
        </p:nvSpPr>
        <p:spPr>
          <a:xfrm>
            <a:off x="1524000" y="3736974"/>
            <a:ext cx="9144000" cy="15208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6"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7"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cxnSp>
        <p:nvCxnSpPr>
          <p:cNvPr id="8" name="Connecteur droit 7"/>
          <p:cNvCxnSpPr/>
          <p:nvPr userDrawn="1"/>
        </p:nvCxnSpPr>
        <p:spPr>
          <a:xfrm>
            <a:off x="765111" y="3480657"/>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Connecteur droit 8"/>
          <p:cNvCxnSpPr/>
          <p:nvPr userDrawn="1"/>
        </p:nvCxnSpPr>
        <p:spPr>
          <a:xfrm>
            <a:off x="951722" y="359094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25733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8200" y="160589"/>
            <a:ext cx="10515600" cy="1042570"/>
          </a:xfrm>
        </p:spPr>
        <p:txBody>
          <a:bodyPr/>
          <a:lstStyle/>
          <a:p>
            <a:r>
              <a:rPr lang="fr-FR"/>
              <a:t>Modifiez le style du titre</a:t>
            </a:r>
            <a:endParaRPr lang="fr-CA"/>
          </a:p>
        </p:txBody>
      </p:sp>
      <p:sp>
        <p:nvSpPr>
          <p:cNvPr id="3" name="Espace réservé du contenu 2"/>
          <p:cNvSpPr>
            <a:spLocks noGrp="1"/>
          </p:cNvSpPr>
          <p:nvPr>
            <p:ph idx="1"/>
          </p:nvPr>
        </p:nvSpPr>
        <p:spPr>
          <a:xfrm>
            <a:off x="838200" y="1467851"/>
            <a:ext cx="10515600" cy="4709112"/>
          </a:xfrm>
          <a:noFill/>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772885" y="1214827"/>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933061" y="1349764"/>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338980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9"/>
            <a:ext cx="10515600" cy="2309812"/>
          </a:xfrm>
        </p:spPr>
        <p:txBody>
          <a:bodyPr anchor="b"/>
          <a:lstStyle>
            <a:lvl1pPr>
              <a:defRPr sz="6000"/>
            </a:lvl1pPr>
          </a:lstStyle>
          <a:p>
            <a:r>
              <a:rPr lang="fr-FR"/>
              <a:t>Modifiez le style du titre</a:t>
            </a:r>
            <a:endParaRPr lang="fr-CA"/>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cxnSp>
        <p:nvCxnSpPr>
          <p:cNvPr id="6" name="Connecteur droit 5"/>
          <p:cNvCxnSpPr/>
          <p:nvPr userDrawn="1"/>
        </p:nvCxnSpPr>
        <p:spPr>
          <a:xfrm>
            <a:off x="828870" y="421928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p:cNvCxnSpPr/>
          <p:nvPr userDrawn="1"/>
        </p:nvCxnSpPr>
        <p:spPr>
          <a:xfrm>
            <a:off x="989046" y="435422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11"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4099369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endParaRPr lang="fr-CA"/>
          </a:p>
        </p:txBody>
      </p:sp>
      <p:cxnSp>
        <p:nvCxnSpPr>
          <p:cNvPr id="3" name="Connecteur droit 2"/>
          <p:cNvCxnSpPr/>
          <p:nvPr userDrawn="1"/>
        </p:nvCxnSpPr>
        <p:spPr>
          <a:xfrm>
            <a:off x="838200" y="223808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 name="Connecteur droit 3"/>
          <p:cNvCxnSpPr/>
          <p:nvPr userDrawn="1"/>
        </p:nvCxnSpPr>
        <p:spPr>
          <a:xfrm>
            <a:off x="989046" y="2381986"/>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474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838200" y="180301"/>
            <a:ext cx="10515600" cy="1031881"/>
          </a:xfrm>
        </p:spPr>
        <p:txBody>
          <a:bodyPr/>
          <a:lstStyle/>
          <a:p>
            <a:r>
              <a:rPr lang="fr-FR"/>
              <a:t>Modifiez le style du titre</a:t>
            </a:r>
            <a:endParaRPr lang="fr-CA"/>
          </a:p>
        </p:txBody>
      </p:sp>
      <p:sp>
        <p:nvSpPr>
          <p:cNvPr id="3" name="Espace réservé du contenu 2"/>
          <p:cNvSpPr>
            <a:spLocks noGrp="1"/>
          </p:cNvSpPr>
          <p:nvPr>
            <p:ph sz="half" idx="1"/>
          </p:nvPr>
        </p:nvSpPr>
        <p:spPr>
          <a:xfrm>
            <a:off x="838200" y="1598769"/>
            <a:ext cx="5181600" cy="4578194"/>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6172200" y="1598769"/>
            <a:ext cx="5181600" cy="4578194"/>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847530" y="131746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1007706" y="145240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978938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839788" y="1598769"/>
            <a:ext cx="5157787" cy="652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250833"/>
            <a:ext cx="5157787" cy="393883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6172200" y="1598769"/>
            <a:ext cx="5183188" cy="652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250833"/>
            <a:ext cx="5183188" cy="393883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10" name="Titre 1"/>
          <p:cNvSpPr>
            <a:spLocks noGrp="1"/>
          </p:cNvSpPr>
          <p:nvPr>
            <p:ph type="title"/>
          </p:nvPr>
        </p:nvSpPr>
        <p:spPr>
          <a:xfrm>
            <a:off x="838200" y="180301"/>
            <a:ext cx="10515600" cy="1031881"/>
          </a:xfrm>
        </p:spPr>
        <p:txBody>
          <a:bodyPr/>
          <a:lstStyle/>
          <a:p>
            <a:r>
              <a:rPr lang="fr-FR"/>
              <a:t>Modifiez le style du titre</a:t>
            </a:r>
            <a:endParaRPr lang="fr-CA"/>
          </a:p>
        </p:txBody>
      </p:sp>
      <p:cxnSp>
        <p:nvCxnSpPr>
          <p:cNvPr id="9" name="Connecteur droit 8"/>
          <p:cNvCxnSpPr/>
          <p:nvPr userDrawn="1"/>
        </p:nvCxnSpPr>
        <p:spPr>
          <a:xfrm>
            <a:off x="838200" y="1233488"/>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Connecteur droit 10"/>
          <p:cNvCxnSpPr/>
          <p:nvPr userDrawn="1"/>
        </p:nvCxnSpPr>
        <p:spPr>
          <a:xfrm>
            <a:off x="998376" y="1368425"/>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15"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948584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6" name="Titre 1"/>
          <p:cNvSpPr>
            <a:spLocks noGrp="1"/>
          </p:cNvSpPr>
          <p:nvPr>
            <p:ph type="title"/>
          </p:nvPr>
        </p:nvSpPr>
        <p:spPr>
          <a:xfrm>
            <a:off x="838200" y="180301"/>
            <a:ext cx="10515600" cy="1031881"/>
          </a:xfrm>
        </p:spPr>
        <p:txBody>
          <a:bodyPr/>
          <a:lstStyle/>
          <a:p>
            <a:r>
              <a:rPr lang="fr-FR"/>
              <a:t>Modifiez le style du titre</a:t>
            </a:r>
            <a:endParaRPr lang="fr-CA"/>
          </a:p>
        </p:txBody>
      </p:sp>
      <p:cxnSp>
        <p:nvCxnSpPr>
          <p:cNvPr id="5" name="Connecteur droit 4"/>
          <p:cNvCxnSpPr/>
          <p:nvPr userDrawn="1"/>
        </p:nvCxnSpPr>
        <p:spPr>
          <a:xfrm>
            <a:off x="800878" y="1242819"/>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p:cNvCxnSpPr/>
          <p:nvPr userDrawn="1"/>
        </p:nvCxnSpPr>
        <p:spPr>
          <a:xfrm>
            <a:off x="961054" y="1377756"/>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11"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330745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4"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6"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11605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7"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9"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1377960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7"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9"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3792156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 colonnes">
    <p:spTree>
      <p:nvGrpSpPr>
        <p:cNvPr id="1" name=""/>
        <p:cNvGrpSpPr/>
        <p:nvPr/>
      </p:nvGrpSpPr>
      <p:grpSpPr>
        <a:xfrm>
          <a:off x="0" y="0"/>
          <a:ext cx="0" cy="0"/>
          <a:chOff x="0" y="0"/>
          <a:chExt cx="0" cy="0"/>
        </a:xfrm>
      </p:grpSpPr>
      <p:sp>
        <p:nvSpPr>
          <p:cNvPr id="2" name="Title 1"/>
          <p:cNvSpPr>
            <a:spLocks noGrp="1"/>
          </p:cNvSpPr>
          <p:nvPr>
            <p:ph type="title"/>
          </p:nvPr>
        </p:nvSpPr>
        <p:spPr>
          <a:xfrm>
            <a:off x="788839" y="369690"/>
            <a:ext cx="10553700" cy="901700"/>
          </a:xfrm>
        </p:spPr>
        <p:txBody>
          <a:bodyPr/>
          <a:lstStyle>
            <a:lvl1pPr>
              <a:defRPr sz="3200"/>
            </a:lvl1pPr>
          </a:lstStyle>
          <a:p>
            <a:r>
              <a:rPr lang="fr-FR"/>
              <a:t>Modifiez le style du titre</a:t>
            </a:r>
            <a:endParaRPr lang="en-US"/>
          </a:p>
        </p:txBody>
      </p:sp>
      <p:sp>
        <p:nvSpPr>
          <p:cNvPr id="3" name="Text Placeholder 2"/>
          <p:cNvSpPr>
            <a:spLocks noGrp="1"/>
          </p:cNvSpPr>
          <p:nvPr>
            <p:ph type="body" idx="1"/>
          </p:nvPr>
        </p:nvSpPr>
        <p:spPr>
          <a:xfrm>
            <a:off x="788839" y="1435942"/>
            <a:ext cx="3449255" cy="92580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22" name="Text Placeholder 3"/>
          <p:cNvSpPr>
            <a:spLocks noGrp="1"/>
          </p:cNvSpPr>
          <p:nvPr>
            <p:ph type="body" sz="half" idx="15"/>
          </p:nvPr>
        </p:nvSpPr>
        <p:spPr>
          <a:xfrm>
            <a:off x="788839" y="2361745"/>
            <a:ext cx="3449255" cy="3673784"/>
          </a:xfrm>
        </p:spPr>
        <p:txBody>
          <a:bodyPr anchor="t">
            <a:normAutofit/>
          </a:bodyPr>
          <a:lstStyle>
            <a:lvl1pPr marL="0" indent="0">
              <a:buNone/>
              <a:defRPr sz="2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Text Placeholder 4"/>
          <p:cNvSpPr>
            <a:spLocks noGrp="1"/>
          </p:cNvSpPr>
          <p:nvPr>
            <p:ph type="body" sz="quarter" idx="3"/>
          </p:nvPr>
        </p:nvSpPr>
        <p:spPr>
          <a:xfrm>
            <a:off x="4539084" y="1435942"/>
            <a:ext cx="3101854" cy="92580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23" name="Text Placeholder 3"/>
          <p:cNvSpPr>
            <a:spLocks noGrp="1"/>
          </p:cNvSpPr>
          <p:nvPr>
            <p:ph type="body" sz="half" idx="16"/>
          </p:nvPr>
        </p:nvSpPr>
        <p:spPr>
          <a:xfrm>
            <a:off x="4542893" y="2361745"/>
            <a:ext cx="3101854" cy="3673784"/>
          </a:xfrm>
        </p:spPr>
        <p:txBody>
          <a:bodyPr anchor="t">
            <a:normAutofit/>
          </a:bodyPr>
          <a:lstStyle>
            <a:lvl1pPr marL="0" indent="0">
              <a:buNone/>
              <a:defRPr sz="2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14" name="Text Placeholder 4"/>
          <p:cNvSpPr>
            <a:spLocks noGrp="1"/>
          </p:cNvSpPr>
          <p:nvPr>
            <p:ph type="body" sz="quarter" idx="13"/>
          </p:nvPr>
        </p:nvSpPr>
        <p:spPr>
          <a:xfrm>
            <a:off x="7943121" y="1435942"/>
            <a:ext cx="3401154" cy="92580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cxnSp>
        <p:nvCxnSpPr>
          <p:cNvPr id="17" name="Straight Connector 16"/>
          <p:cNvCxnSpPr/>
          <p:nvPr/>
        </p:nvCxnSpPr>
        <p:spPr>
          <a:xfrm>
            <a:off x="4392707"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9936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6" name="Espace réservé pour une image  5"/>
          <p:cNvSpPr>
            <a:spLocks noGrp="1"/>
          </p:cNvSpPr>
          <p:nvPr>
            <p:ph type="pic" sz="quarter" idx="18"/>
          </p:nvPr>
        </p:nvSpPr>
        <p:spPr>
          <a:xfrm>
            <a:off x="7960468" y="2361743"/>
            <a:ext cx="3382071" cy="3673785"/>
          </a:xfrm>
        </p:spPr>
        <p:txBody>
          <a:bodyPr>
            <a:normAutofit/>
          </a:bodyPr>
          <a:lstStyle>
            <a:lvl1pPr marL="0" indent="0">
              <a:buNone/>
              <a:defRPr sz="1600">
                <a:solidFill>
                  <a:schemeClr val="tx1"/>
                </a:solidFill>
              </a:defRPr>
            </a:lvl1pPr>
          </a:lstStyle>
          <a:p>
            <a:endParaRPr lang="fr-CA"/>
          </a:p>
        </p:txBody>
      </p:sp>
      <p:cxnSp>
        <p:nvCxnSpPr>
          <p:cNvPr id="19" name="Connecteur droit 18"/>
          <p:cNvCxnSpPr/>
          <p:nvPr userDrawn="1"/>
        </p:nvCxnSpPr>
        <p:spPr>
          <a:xfrm>
            <a:off x="628663" y="1298249"/>
            <a:ext cx="11010426" cy="1448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Connecteur droit 19"/>
          <p:cNvCxnSpPr/>
          <p:nvPr userDrawn="1"/>
        </p:nvCxnSpPr>
        <p:spPr>
          <a:xfrm flipV="1">
            <a:off x="788839" y="1427030"/>
            <a:ext cx="10850250" cy="6156"/>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1"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24"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3819187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re et text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3292CD-2331-41BD-95EA-A19884406306}"/>
              </a:ext>
            </a:extLst>
          </p:cNvPr>
          <p:cNvSpPr>
            <a:spLocks noGrp="1"/>
          </p:cNvSpPr>
          <p:nvPr>
            <p:ph type="title"/>
          </p:nvPr>
        </p:nvSpPr>
        <p:spPr/>
        <p:txBody>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FF824291-2540-4210-9FCC-AAFEB9931174}"/>
              </a:ext>
            </a:extLst>
          </p:cNvPr>
          <p:cNvSpPr>
            <a:spLocks noGrp="1"/>
          </p:cNvSpPr>
          <p:nvPr>
            <p:ph type="body"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D7A456F8-1359-4B85-9F2E-BC4C681A4A98}"/>
              </a:ext>
            </a:extLst>
          </p:cNvPr>
          <p:cNvSpPr>
            <a:spLocks noGrp="1"/>
          </p:cNvSpPr>
          <p:nvPr>
            <p:ph type="dt" sz="half" idx="10"/>
          </p:nvPr>
        </p:nvSpPr>
        <p:spPr/>
        <p:txBody>
          <a:bodyPr/>
          <a:lstStyle/>
          <a:p>
            <a:endParaRPr lang="fr-CA"/>
          </a:p>
        </p:txBody>
      </p:sp>
      <p:sp>
        <p:nvSpPr>
          <p:cNvPr id="5" name="Espace réservé du pied de page 4">
            <a:extLst>
              <a:ext uri="{FF2B5EF4-FFF2-40B4-BE49-F238E27FC236}">
                <a16:creationId xmlns:a16="http://schemas.microsoft.com/office/drawing/2014/main" id="{F8520133-7095-4C1B-AA0A-06B1B37DFAA2}"/>
              </a:ext>
            </a:extLst>
          </p:cNvPr>
          <p:cNvSpPr>
            <a:spLocks noGrp="1"/>
          </p:cNvSpPr>
          <p:nvPr>
            <p:ph type="ftr" sz="quarter" idx="11"/>
          </p:nvPr>
        </p:nvSpPr>
        <p:spPr/>
        <p:txBody>
          <a:bodyPr/>
          <a:lstStyle/>
          <a:p>
            <a:r>
              <a:rPr lang="pt-BR"/>
              <a:t>(c) 10904 / S03 - Version H2024</a:t>
            </a:r>
            <a:endParaRPr lang="fr-CA"/>
          </a:p>
        </p:txBody>
      </p:sp>
      <p:sp>
        <p:nvSpPr>
          <p:cNvPr id="6" name="Espace réservé du numéro de diapositive 5">
            <a:extLst>
              <a:ext uri="{FF2B5EF4-FFF2-40B4-BE49-F238E27FC236}">
                <a16:creationId xmlns:a16="http://schemas.microsoft.com/office/drawing/2014/main" id="{E18C4214-C59A-481F-850C-A8D15C7FBF9F}"/>
              </a:ext>
            </a:extLst>
          </p:cNvPr>
          <p:cNvSpPr>
            <a:spLocks noGrp="1"/>
          </p:cNvSpPr>
          <p:nvPr>
            <p:ph type="sldNum" sz="quarter" idx="12"/>
          </p:nvPr>
        </p:nvSpPr>
        <p:spPr/>
        <p:txBody>
          <a:bodyPr/>
          <a:lstStyle/>
          <a:p>
            <a:fld id="{BB699B6F-7984-48A3-9A47-56A72CAD0B37}" type="slidenum">
              <a:rPr lang="fr-CA" smtClean="0"/>
              <a:t>‹N°›</a:t>
            </a:fld>
            <a:endParaRPr lang="fr-CA"/>
          </a:p>
        </p:txBody>
      </p:sp>
    </p:spTree>
    <p:extLst>
      <p:ext uri="{BB962C8B-B14F-4D97-AF65-F5344CB8AC3E}">
        <p14:creationId xmlns:p14="http://schemas.microsoft.com/office/powerpoint/2010/main" val="5044680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37932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44738"/>
          </a:xfrm>
        </p:spPr>
        <p:txBody>
          <a:bodyPr anchor="b"/>
          <a:lstStyle>
            <a:lvl1pPr algn="ctr">
              <a:defRPr sz="6000"/>
            </a:lvl1pPr>
          </a:lstStyle>
          <a:p>
            <a:r>
              <a:rPr lang="fr-FR"/>
              <a:t>Modifiez le style du titre</a:t>
            </a:r>
            <a:endParaRPr lang="fr-CA"/>
          </a:p>
        </p:txBody>
      </p:sp>
      <p:sp>
        <p:nvSpPr>
          <p:cNvPr id="3" name="Sous-titre 2"/>
          <p:cNvSpPr>
            <a:spLocks noGrp="1"/>
          </p:cNvSpPr>
          <p:nvPr>
            <p:ph type="subTitle" idx="1"/>
          </p:nvPr>
        </p:nvSpPr>
        <p:spPr>
          <a:xfrm>
            <a:off x="1524000" y="3736974"/>
            <a:ext cx="9144000" cy="15208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cxnSp>
        <p:nvCxnSpPr>
          <p:cNvPr id="4" name="Connecteur droit 3"/>
          <p:cNvCxnSpPr/>
          <p:nvPr userDrawn="1"/>
        </p:nvCxnSpPr>
        <p:spPr>
          <a:xfrm>
            <a:off x="604935" y="3467101"/>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 name="Connecteur droit 4"/>
          <p:cNvCxnSpPr/>
          <p:nvPr userDrawn="1"/>
        </p:nvCxnSpPr>
        <p:spPr>
          <a:xfrm>
            <a:off x="765111" y="3602038"/>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7"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3725733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44738"/>
          </a:xfrm>
        </p:spPr>
        <p:txBody>
          <a:bodyPr anchor="b"/>
          <a:lstStyle>
            <a:lvl1pPr algn="ctr">
              <a:defRPr sz="6000"/>
            </a:lvl1pPr>
          </a:lstStyle>
          <a:p>
            <a:r>
              <a:rPr lang="fr-FR"/>
              <a:t>Modifiez le style du titre</a:t>
            </a:r>
            <a:endParaRPr lang="fr-CA"/>
          </a:p>
        </p:txBody>
      </p:sp>
      <p:sp>
        <p:nvSpPr>
          <p:cNvPr id="3" name="Sous-titre 2"/>
          <p:cNvSpPr>
            <a:spLocks noGrp="1"/>
          </p:cNvSpPr>
          <p:nvPr>
            <p:ph type="subTitle" idx="1"/>
          </p:nvPr>
        </p:nvSpPr>
        <p:spPr>
          <a:xfrm>
            <a:off x="1524000" y="3736974"/>
            <a:ext cx="9144000" cy="15208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6"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7"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cxnSp>
        <p:nvCxnSpPr>
          <p:cNvPr id="8" name="Connecteur droit 7"/>
          <p:cNvCxnSpPr/>
          <p:nvPr userDrawn="1"/>
        </p:nvCxnSpPr>
        <p:spPr>
          <a:xfrm>
            <a:off x="765111" y="3480657"/>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Connecteur droit 8"/>
          <p:cNvCxnSpPr/>
          <p:nvPr userDrawn="1"/>
        </p:nvCxnSpPr>
        <p:spPr>
          <a:xfrm>
            <a:off x="951722" y="359094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25733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8200" y="160589"/>
            <a:ext cx="10515600" cy="1042570"/>
          </a:xfrm>
        </p:spPr>
        <p:txBody>
          <a:bodyPr/>
          <a:lstStyle/>
          <a:p>
            <a:r>
              <a:rPr lang="fr-FR"/>
              <a:t>Modifiez le style du titre</a:t>
            </a:r>
            <a:endParaRPr lang="fr-CA"/>
          </a:p>
        </p:txBody>
      </p:sp>
      <p:sp>
        <p:nvSpPr>
          <p:cNvPr id="3" name="Espace réservé du contenu 2"/>
          <p:cNvSpPr>
            <a:spLocks noGrp="1"/>
          </p:cNvSpPr>
          <p:nvPr>
            <p:ph idx="1"/>
          </p:nvPr>
        </p:nvSpPr>
        <p:spPr>
          <a:xfrm>
            <a:off x="838200" y="1467851"/>
            <a:ext cx="10515600" cy="4709112"/>
          </a:xfrm>
          <a:noFill/>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772885" y="1214827"/>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933061" y="1349764"/>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3389806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9"/>
            <a:ext cx="10515600" cy="2309812"/>
          </a:xfrm>
        </p:spPr>
        <p:txBody>
          <a:bodyPr anchor="b"/>
          <a:lstStyle>
            <a:lvl1pPr>
              <a:defRPr sz="6000"/>
            </a:lvl1pPr>
          </a:lstStyle>
          <a:p>
            <a:r>
              <a:rPr lang="fr-FR"/>
              <a:t>Modifiez le style du titre</a:t>
            </a:r>
            <a:endParaRPr lang="fr-CA"/>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cxnSp>
        <p:nvCxnSpPr>
          <p:cNvPr id="6" name="Connecteur droit 5"/>
          <p:cNvCxnSpPr/>
          <p:nvPr userDrawn="1"/>
        </p:nvCxnSpPr>
        <p:spPr>
          <a:xfrm>
            <a:off x="828870" y="421928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p:cNvCxnSpPr/>
          <p:nvPr userDrawn="1"/>
        </p:nvCxnSpPr>
        <p:spPr>
          <a:xfrm>
            <a:off x="989046" y="435422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11"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40993699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44738"/>
          </a:xfrm>
        </p:spPr>
        <p:txBody>
          <a:bodyPr anchor="b"/>
          <a:lstStyle>
            <a:lvl1pPr algn="ctr">
              <a:defRPr sz="6000"/>
            </a:lvl1pPr>
          </a:lstStyle>
          <a:p>
            <a:r>
              <a:rPr lang="fr-FR"/>
              <a:t>Modifiez le style du titre</a:t>
            </a:r>
            <a:endParaRPr lang="fr-CA"/>
          </a:p>
        </p:txBody>
      </p:sp>
      <p:sp>
        <p:nvSpPr>
          <p:cNvPr id="3" name="Sous-titre 2"/>
          <p:cNvSpPr>
            <a:spLocks noGrp="1"/>
          </p:cNvSpPr>
          <p:nvPr>
            <p:ph type="subTitle" idx="1"/>
          </p:nvPr>
        </p:nvSpPr>
        <p:spPr>
          <a:xfrm>
            <a:off x="1524000" y="3736974"/>
            <a:ext cx="9144000" cy="15208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cxnSp>
        <p:nvCxnSpPr>
          <p:cNvPr id="4" name="Connecteur droit 3"/>
          <p:cNvCxnSpPr/>
          <p:nvPr userDrawn="1"/>
        </p:nvCxnSpPr>
        <p:spPr>
          <a:xfrm>
            <a:off x="604935" y="3467101"/>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 name="Connecteur droit 4"/>
          <p:cNvCxnSpPr/>
          <p:nvPr userDrawn="1"/>
        </p:nvCxnSpPr>
        <p:spPr>
          <a:xfrm>
            <a:off x="765111" y="3602038"/>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7"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3725733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8200" y="160589"/>
            <a:ext cx="10515600" cy="1042570"/>
          </a:xfrm>
        </p:spPr>
        <p:txBody>
          <a:bodyPr/>
          <a:lstStyle/>
          <a:p>
            <a:r>
              <a:rPr lang="fr-FR"/>
              <a:t>Modifiez le style du titre</a:t>
            </a:r>
            <a:endParaRPr lang="fr-CA"/>
          </a:p>
        </p:txBody>
      </p:sp>
      <p:sp>
        <p:nvSpPr>
          <p:cNvPr id="3" name="Espace réservé du contenu 2"/>
          <p:cNvSpPr>
            <a:spLocks noGrp="1"/>
          </p:cNvSpPr>
          <p:nvPr>
            <p:ph idx="1"/>
          </p:nvPr>
        </p:nvSpPr>
        <p:spPr>
          <a:xfrm>
            <a:off x="838200" y="1467851"/>
            <a:ext cx="10515600" cy="4709112"/>
          </a:xfrm>
          <a:noFill/>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772885" y="1214827"/>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933061" y="1349764"/>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3389806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9"/>
            <a:ext cx="10515600" cy="2309812"/>
          </a:xfrm>
        </p:spPr>
        <p:txBody>
          <a:bodyPr anchor="b"/>
          <a:lstStyle>
            <a:lvl1pPr>
              <a:defRPr sz="6000"/>
            </a:lvl1pPr>
          </a:lstStyle>
          <a:p>
            <a:r>
              <a:rPr lang="fr-FR"/>
              <a:t>Modifiez le style du titre</a:t>
            </a:r>
            <a:endParaRPr lang="fr-CA"/>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cxnSp>
        <p:nvCxnSpPr>
          <p:cNvPr id="6" name="Connecteur droit 5"/>
          <p:cNvCxnSpPr/>
          <p:nvPr userDrawn="1"/>
        </p:nvCxnSpPr>
        <p:spPr>
          <a:xfrm>
            <a:off x="828870" y="421928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p:cNvCxnSpPr/>
          <p:nvPr userDrawn="1"/>
        </p:nvCxnSpPr>
        <p:spPr>
          <a:xfrm>
            <a:off x="989046" y="435422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11"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40993699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838200" y="180301"/>
            <a:ext cx="10515600" cy="1031881"/>
          </a:xfrm>
        </p:spPr>
        <p:txBody>
          <a:bodyPr/>
          <a:lstStyle/>
          <a:p>
            <a:r>
              <a:rPr lang="fr-FR"/>
              <a:t>Modifiez le style du titre</a:t>
            </a:r>
            <a:endParaRPr lang="fr-CA"/>
          </a:p>
        </p:txBody>
      </p:sp>
      <p:sp>
        <p:nvSpPr>
          <p:cNvPr id="3" name="Espace réservé du contenu 2"/>
          <p:cNvSpPr>
            <a:spLocks noGrp="1"/>
          </p:cNvSpPr>
          <p:nvPr>
            <p:ph sz="half" idx="1"/>
          </p:nvPr>
        </p:nvSpPr>
        <p:spPr>
          <a:xfrm>
            <a:off x="838200" y="1598769"/>
            <a:ext cx="5181600" cy="4578194"/>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6172200" y="1598769"/>
            <a:ext cx="5181600" cy="4578194"/>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847530" y="131746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1007706" y="145240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9789387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839788" y="1598769"/>
            <a:ext cx="5157787" cy="652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250833"/>
            <a:ext cx="5157787" cy="393883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6172200" y="1598769"/>
            <a:ext cx="5183188" cy="652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250833"/>
            <a:ext cx="5183188" cy="393883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10" name="Titre 1"/>
          <p:cNvSpPr>
            <a:spLocks noGrp="1"/>
          </p:cNvSpPr>
          <p:nvPr>
            <p:ph type="title"/>
          </p:nvPr>
        </p:nvSpPr>
        <p:spPr>
          <a:xfrm>
            <a:off x="838200" y="180301"/>
            <a:ext cx="10515600" cy="1031881"/>
          </a:xfrm>
        </p:spPr>
        <p:txBody>
          <a:bodyPr/>
          <a:lstStyle/>
          <a:p>
            <a:r>
              <a:rPr lang="fr-FR"/>
              <a:t>Modifiez le style du titre</a:t>
            </a:r>
            <a:endParaRPr lang="fr-CA"/>
          </a:p>
        </p:txBody>
      </p:sp>
      <p:cxnSp>
        <p:nvCxnSpPr>
          <p:cNvPr id="9" name="Connecteur droit 8"/>
          <p:cNvCxnSpPr/>
          <p:nvPr userDrawn="1"/>
        </p:nvCxnSpPr>
        <p:spPr>
          <a:xfrm>
            <a:off x="838200" y="1233488"/>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Connecteur droit 10"/>
          <p:cNvCxnSpPr/>
          <p:nvPr userDrawn="1"/>
        </p:nvCxnSpPr>
        <p:spPr>
          <a:xfrm>
            <a:off x="998376" y="1368425"/>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15"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9485847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6" name="Titre 1"/>
          <p:cNvSpPr>
            <a:spLocks noGrp="1"/>
          </p:cNvSpPr>
          <p:nvPr>
            <p:ph type="title"/>
          </p:nvPr>
        </p:nvSpPr>
        <p:spPr>
          <a:xfrm>
            <a:off x="838200" y="180301"/>
            <a:ext cx="10515600" cy="1031881"/>
          </a:xfrm>
        </p:spPr>
        <p:txBody>
          <a:bodyPr/>
          <a:lstStyle/>
          <a:p>
            <a:r>
              <a:rPr lang="fr-FR"/>
              <a:t>Modifiez le style du titre</a:t>
            </a:r>
            <a:endParaRPr lang="fr-CA"/>
          </a:p>
        </p:txBody>
      </p:sp>
      <p:cxnSp>
        <p:nvCxnSpPr>
          <p:cNvPr id="5" name="Connecteur droit 4"/>
          <p:cNvCxnSpPr/>
          <p:nvPr userDrawn="1"/>
        </p:nvCxnSpPr>
        <p:spPr>
          <a:xfrm>
            <a:off x="800878" y="1242819"/>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p:cNvCxnSpPr/>
          <p:nvPr userDrawn="1"/>
        </p:nvCxnSpPr>
        <p:spPr>
          <a:xfrm>
            <a:off x="961054" y="1377756"/>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11"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3307452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4"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6"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1160557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7"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9"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1377960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7"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9"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37921567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bl">
  <p:cSld name="Titre et tableau">
    <p:spTree>
      <p:nvGrpSpPr>
        <p:cNvPr id="1" name=""/>
        <p:cNvGrpSpPr/>
        <p:nvPr/>
      </p:nvGrpSpPr>
      <p:grpSpPr>
        <a:xfrm>
          <a:off x="0" y="0"/>
          <a:ext cx="0" cy="0"/>
          <a:chOff x="0" y="0"/>
          <a:chExt cx="0" cy="0"/>
        </a:xfrm>
      </p:grpSpPr>
      <p:sp>
        <p:nvSpPr>
          <p:cNvPr id="2" name="Titre 1"/>
          <p:cNvSpPr>
            <a:spLocks noGrp="1"/>
          </p:cNvSpPr>
          <p:nvPr>
            <p:ph type="title"/>
          </p:nvPr>
        </p:nvSpPr>
        <p:spPr>
          <a:xfrm>
            <a:off x="685800" y="190500"/>
            <a:ext cx="11004206" cy="828675"/>
          </a:xfrm>
        </p:spPr>
        <p:txBody>
          <a:bodyPr/>
          <a:lstStyle/>
          <a:p>
            <a:r>
              <a:rPr lang="fr-FR"/>
              <a:t>Cliquez pour modifier le style du titre</a:t>
            </a:r>
            <a:endParaRPr lang="en-CA"/>
          </a:p>
        </p:txBody>
      </p:sp>
      <p:sp>
        <p:nvSpPr>
          <p:cNvPr id="3" name="Espace réservé du tableau 2"/>
          <p:cNvSpPr>
            <a:spLocks noGrp="1"/>
          </p:cNvSpPr>
          <p:nvPr>
            <p:ph type="tbl" idx="1"/>
          </p:nvPr>
        </p:nvSpPr>
        <p:spPr>
          <a:xfrm>
            <a:off x="685800" y="1133475"/>
            <a:ext cx="11004206" cy="4886325"/>
          </a:xfrm>
        </p:spPr>
        <p:txBody>
          <a:bodyPr/>
          <a:lstStyle/>
          <a:p>
            <a:pPr lvl="0"/>
            <a:endParaRPr lang="en-CA" noProof="0"/>
          </a:p>
        </p:txBody>
      </p:sp>
      <p:cxnSp>
        <p:nvCxnSpPr>
          <p:cNvPr id="11" name="Connecteur droit 10"/>
          <p:cNvCxnSpPr/>
          <p:nvPr userDrawn="1"/>
        </p:nvCxnSpPr>
        <p:spPr>
          <a:xfrm>
            <a:off x="679580" y="1004694"/>
            <a:ext cx="11010426" cy="1448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Connecteur droit 11"/>
          <p:cNvCxnSpPr/>
          <p:nvPr userDrawn="1"/>
        </p:nvCxnSpPr>
        <p:spPr>
          <a:xfrm flipV="1">
            <a:off x="839756" y="1133475"/>
            <a:ext cx="10850250" cy="6156"/>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13"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2764571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x">
  <p:cSld name="Titre et text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3292CD-2331-41BD-95EA-A19884406306}"/>
              </a:ext>
            </a:extLst>
          </p:cNvPr>
          <p:cNvSpPr>
            <a:spLocks noGrp="1"/>
          </p:cNvSpPr>
          <p:nvPr>
            <p:ph type="title"/>
          </p:nvPr>
        </p:nvSpPr>
        <p:spPr/>
        <p:txBody>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FF824291-2540-4210-9FCC-AAFEB9931174}"/>
              </a:ext>
            </a:extLst>
          </p:cNvPr>
          <p:cNvSpPr>
            <a:spLocks noGrp="1"/>
          </p:cNvSpPr>
          <p:nvPr>
            <p:ph type="body"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D7A456F8-1359-4B85-9F2E-BC4C681A4A98}"/>
              </a:ext>
            </a:extLst>
          </p:cNvPr>
          <p:cNvSpPr>
            <a:spLocks noGrp="1"/>
          </p:cNvSpPr>
          <p:nvPr>
            <p:ph type="dt" sz="half" idx="10"/>
          </p:nvPr>
        </p:nvSpPr>
        <p:spPr/>
        <p:txBody>
          <a:bodyPr/>
          <a:lstStyle/>
          <a:p>
            <a:endParaRPr lang="fr-CA"/>
          </a:p>
        </p:txBody>
      </p:sp>
      <p:sp>
        <p:nvSpPr>
          <p:cNvPr id="5" name="Espace réservé du pied de page 4">
            <a:extLst>
              <a:ext uri="{FF2B5EF4-FFF2-40B4-BE49-F238E27FC236}">
                <a16:creationId xmlns:a16="http://schemas.microsoft.com/office/drawing/2014/main" id="{F8520133-7095-4C1B-AA0A-06B1B37DFAA2}"/>
              </a:ext>
            </a:extLst>
          </p:cNvPr>
          <p:cNvSpPr>
            <a:spLocks noGrp="1"/>
          </p:cNvSpPr>
          <p:nvPr>
            <p:ph type="ftr" sz="quarter" idx="11"/>
          </p:nvPr>
        </p:nvSpPr>
        <p:spPr/>
        <p:txBody>
          <a:bodyPr/>
          <a:lstStyle/>
          <a:p>
            <a:r>
              <a:rPr lang="pt-BR"/>
              <a:t>(c) 10904 / S03 - Version H2024</a:t>
            </a:r>
            <a:endParaRPr lang="fr-CA"/>
          </a:p>
        </p:txBody>
      </p:sp>
      <p:sp>
        <p:nvSpPr>
          <p:cNvPr id="6" name="Espace réservé du numéro de diapositive 5">
            <a:extLst>
              <a:ext uri="{FF2B5EF4-FFF2-40B4-BE49-F238E27FC236}">
                <a16:creationId xmlns:a16="http://schemas.microsoft.com/office/drawing/2014/main" id="{E18C4214-C59A-481F-850C-A8D15C7FBF9F}"/>
              </a:ext>
            </a:extLst>
          </p:cNvPr>
          <p:cNvSpPr>
            <a:spLocks noGrp="1"/>
          </p:cNvSpPr>
          <p:nvPr>
            <p:ph type="sldNum" sz="quarter" idx="12"/>
          </p:nvPr>
        </p:nvSpPr>
        <p:spPr/>
        <p:txBody>
          <a:bodyPr/>
          <a:lstStyle/>
          <a:p>
            <a:fld id="{BB699B6F-7984-48A3-9A47-56A72CAD0B37}" type="slidenum">
              <a:rPr lang="fr-CA" smtClean="0"/>
              <a:t>‹N°›</a:t>
            </a:fld>
            <a:endParaRPr lang="fr-CA"/>
          </a:p>
        </p:txBody>
      </p:sp>
    </p:spTree>
    <p:extLst>
      <p:ext uri="{BB962C8B-B14F-4D97-AF65-F5344CB8AC3E}">
        <p14:creationId xmlns:p14="http://schemas.microsoft.com/office/powerpoint/2010/main" val="26897829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44738"/>
          </a:xfrm>
        </p:spPr>
        <p:txBody>
          <a:bodyPr anchor="b"/>
          <a:lstStyle>
            <a:lvl1pPr algn="ctr">
              <a:defRPr sz="6000"/>
            </a:lvl1pPr>
          </a:lstStyle>
          <a:p>
            <a:r>
              <a:rPr lang="fr-FR"/>
              <a:t>Modifiez le style du titre</a:t>
            </a:r>
            <a:endParaRPr lang="fr-CA"/>
          </a:p>
        </p:txBody>
      </p:sp>
      <p:sp>
        <p:nvSpPr>
          <p:cNvPr id="3" name="Sous-titre 2"/>
          <p:cNvSpPr>
            <a:spLocks noGrp="1"/>
          </p:cNvSpPr>
          <p:nvPr>
            <p:ph type="subTitle" idx="1"/>
          </p:nvPr>
        </p:nvSpPr>
        <p:spPr>
          <a:xfrm>
            <a:off x="1524000" y="3736974"/>
            <a:ext cx="9144000" cy="15208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cxnSp>
        <p:nvCxnSpPr>
          <p:cNvPr id="4" name="Connecteur droit 3"/>
          <p:cNvCxnSpPr/>
          <p:nvPr userDrawn="1"/>
        </p:nvCxnSpPr>
        <p:spPr>
          <a:xfrm>
            <a:off x="604935" y="3467101"/>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 name="Connecteur droit 4"/>
          <p:cNvCxnSpPr/>
          <p:nvPr userDrawn="1"/>
        </p:nvCxnSpPr>
        <p:spPr>
          <a:xfrm>
            <a:off x="765111" y="3602038"/>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7"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37257339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44738"/>
          </a:xfrm>
        </p:spPr>
        <p:txBody>
          <a:bodyPr anchor="b"/>
          <a:lstStyle>
            <a:lvl1pPr algn="ctr">
              <a:defRPr sz="6000"/>
            </a:lvl1pPr>
          </a:lstStyle>
          <a:p>
            <a:r>
              <a:rPr lang="fr-FR"/>
              <a:t>Modifiez le style du titre</a:t>
            </a:r>
            <a:endParaRPr lang="fr-CA"/>
          </a:p>
        </p:txBody>
      </p:sp>
      <p:sp>
        <p:nvSpPr>
          <p:cNvPr id="3" name="Sous-titre 2"/>
          <p:cNvSpPr>
            <a:spLocks noGrp="1"/>
          </p:cNvSpPr>
          <p:nvPr>
            <p:ph type="subTitle" idx="1"/>
          </p:nvPr>
        </p:nvSpPr>
        <p:spPr>
          <a:xfrm>
            <a:off x="1524000" y="3736974"/>
            <a:ext cx="9144000" cy="15208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6"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7"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cxnSp>
        <p:nvCxnSpPr>
          <p:cNvPr id="8" name="Connecteur droit 7"/>
          <p:cNvCxnSpPr/>
          <p:nvPr userDrawn="1"/>
        </p:nvCxnSpPr>
        <p:spPr>
          <a:xfrm>
            <a:off x="765111" y="3480657"/>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Connecteur droit 8"/>
          <p:cNvCxnSpPr/>
          <p:nvPr userDrawn="1"/>
        </p:nvCxnSpPr>
        <p:spPr>
          <a:xfrm>
            <a:off x="951722" y="359094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25733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8200" y="160589"/>
            <a:ext cx="10515600" cy="1042570"/>
          </a:xfrm>
        </p:spPr>
        <p:txBody>
          <a:bodyPr/>
          <a:lstStyle/>
          <a:p>
            <a:r>
              <a:rPr lang="fr-FR"/>
              <a:t>Modifiez le style du titre</a:t>
            </a:r>
            <a:endParaRPr lang="fr-CA"/>
          </a:p>
        </p:txBody>
      </p:sp>
      <p:sp>
        <p:nvSpPr>
          <p:cNvPr id="3" name="Espace réservé du contenu 2"/>
          <p:cNvSpPr>
            <a:spLocks noGrp="1"/>
          </p:cNvSpPr>
          <p:nvPr>
            <p:ph idx="1"/>
          </p:nvPr>
        </p:nvSpPr>
        <p:spPr>
          <a:xfrm>
            <a:off x="838200" y="1467851"/>
            <a:ext cx="10515600" cy="4709112"/>
          </a:xfrm>
          <a:noFill/>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772885" y="1214827"/>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933061" y="1349764"/>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3389806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9"/>
            <a:ext cx="10515600" cy="2309812"/>
          </a:xfrm>
        </p:spPr>
        <p:txBody>
          <a:bodyPr anchor="b"/>
          <a:lstStyle>
            <a:lvl1pPr>
              <a:defRPr sz="6000"/>
            </a:lvl1pPr>
          </a:lstStyle>
          <a:p>
            <a:r>
              <a:rPr lang="fr-FR"/>
              <a:t>Modifiez le style du titre</a:t>
            </a:r>
            <a:endParaRPr lang="fr-CA"/>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cxnSp>
        <p:nvCxnSpPr>
          <p:cNvPr id="6" name="Connecteur droit 5"/>
          <p:cNvCxnSpPr/>
          <p:nvPr userDrawn="1"/>
        </p:nvCxnSpPr>
        <p:spPr>
          <a:xfrm>
            <a:off x="828870" y="421928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p:cNvCxnSpPr/>
          <p:nvPr userDrawn="1"/>
        </p:nvCxnSpPr>
        <p:spPr>
          <a:xfrm>
            <a:off x="989046" y="435422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11"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40993699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endParaRPr lang="fr-CA"/>
          </a:p>
        </p:txBody>
      </p:sp>
      <p:cxnSp>
        <p:nvCxnSpPr>
          <p:cNvPr id="3" name="Connecteur droit 2"/>
          <p:cNvCxnSpPr/>
          <p:nvPr userDrawn="1"/>
        </p:nvCxnSpPr>
        <p:spPr>
          <a:xfrm>
            <a:off x="838200" y="223808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 name="Connecteur droit 3"/>
          <p:cNvCxnSpPr/>
          <p:nvPr userDrawn="1"/>
        </p:nvCxnSpPr>
        <p:spPr>
          <a:xfrm>
            <a:off x="989046" y="2381986"/>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4744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838200" y="180301"/>
            <a:ext cx="10515600" cy="1031881"/>
          </a:xfrm>
        </p:spPr>
        <p:txBody>
          <a:bodyPr/>
          <a:lstStyle/>
          <a:p>
            <a:r>
              <a:rPr lang="fr-FR"/>
              <a:t>Modifiez le style du titre</a:t>
            </a:r>
            <a:endParaRPr lang="fr-CA"/>
          </a:p>
        </p:txBody>
      </p:sp>
      <p:sp>
        <p:nvSpPr>
          <p:cNvPr id="3" name="Espace réservé du contenu 2"/>
          <p:cNvSpPr>
            <a:spLocks noGrp="1"/>
          </p:cNvSpPr>
          <p:nvPr>
            <p:ph sz="half" idx="1"/>
          </p:nvPr>
        </p:nvSpPr>
        <p:spPr>
          <a:xfrm>
            <a:off x="838200" y="1598769"/>
            <a:ext cx="5181600" cy="4578194"/>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6172200" y="1598769"/>
            <a:ext cx="5181600" cy="4578194"/>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847530" y="131746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1007706" y="145240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97893874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839788" y="1598769"/>
            <a:ext cx="5157787" cy="652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250833"/>
            <a:ext cx="5157787" cy="393883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6172200" y="1598769"/>
            <a:ext cx="5183188" cy="652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250833"/>
            <a:ext cx="5183188" cy="393883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10" name="Titre 1"/>
          <p:cNvSpPr>
            <a:spLocks noGrp="1"/>
          </p:cNvSpPr>
          <p:nvPr>
            <p:ph type="title"/>
          </p:nvPr>
        </p:nvSpPr>
        <p:spPr>
          <a:xfrm>
            <a:off x="838200" y="180301"/>
            <a:ext cx="10515600" cy="1031881"/>
          </a:xfrm>
        </p:spPr>
        <p:txBody>
          <a:bodyPr/>
          <a:lstStyle/>
          <a:p>
            <a:r>
              <a:rPr lang="fr-FR"/>
              <a:t>Modifiez le style du titre</a:t>
            </a:r>
            <a:endParaRPr lang="fr-CA"/>
          </a:p>
        </p:txBody>
      </p:sp>
      <p:cxnSp>
        <p:nvCxnSpPr>
          <p:cNvPr id="9" name="Connecteur droit 8"/>
          <p:cNvCxnSpPr/>
          <p:nvPr userDrawn="1"/>
        </p:nvCxnSpPr>
        <p:spPr>
          <a:xfrm>
            <a:off x="838200" y="1233488"/>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Connecteur droit 10"/>
          <p:cNvCxnSpPr/>
          <p:nvPr userDrawn="1"/>
        </p:nvCxnSpPr>
        <p:spPr>
          <a:xfrm>
            <a:off x="998376" y="1368425"/>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15"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94858477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6" name="Titre 1"/>
          <p:cNvSpPr>
            <a:spLocks noGrp="1"/>
          </p:cNvSpPr>
          <p:nvPr>
            <p:ph type="title"/>
          </p:nvPr>
        </p:nvSpPr>
        <p:spPr>
          <a:xfrm>
            <a:off x="838200" y="180301"/>
            <a:ext cx="10515600" cy="1031881"/>
          </a:xfrm>
        </p:spPr>
        <p:txBody>
          <a:bodyPr/>
          <a:lstStyle/>
          <a:p>
            <a:r>
              <a:rPr lang="fr-FR"/>
              <a:t>Modifiez le style du titre</a:t>
            </a:r>
            <a:endParaRPr lang="fr-CA"/>
          </a:p>
        </p:txBody>
      </p:sp>
      <p:cxnSp>
        <p:nvCxnSpPr>
          <p:cNvPr id="5" name="Connecteur droit 4"/>
          <p:cNvCxnSpPr/>
          <p:nvPr userDrawn="1"/>
        </p:nvCxnSpPr>
        <p:spPr>
          <a:xfrm>
            <a:off x="800878" y="1242819"/>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p:cNvCxnSpPr/>
          <p:nvPr userDrawn="1"/>
        </p:nvCxnSpPr>
        <p:spPr>
          <a:xfrm>
            <a:off x="961054" y="1377756"/>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11"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3307452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4"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6"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116055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7"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9"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13779607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7"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9"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37921567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bl">
  <p:cSld name="Titre et tableau">
    <p:spTree>
      <p:nvGrpSpPr>
        <p:cNvPr id="1" name=""/>
        <p:cNvGrpSpPr/>
        <p:nvPr/>
      </p:nvGrpSpPr>
      <p:grpSpPr>
        <a:xfrm>
          <a:off x="0" y="0"/>
          <a:ext cx="0" cy="0"/>
          <a:chOff x="0" y="0"/>
          <a:chExt cx="0" cy="0"/>
        </a:xfrm>
      </p:grpSpPr>
      <p:sp>
        <p:nvSpPr>
          <p:cNvPr id="2" name="Titre 1"/>
          <p:cNvSpPr>
            <a:spLocks noGrp="1"/>
          </p:cNvSpPr>
          <p:nvPr>
            <p:ph type="title"/>
          </p:nvPr>
        </p:nvSpPr>
        <p:spPr>
          <a:xfrm>
            <a:off x="685800" y="190500"/>
            <a:ext cx="11004206" cy="828675"/>
          </a:xfrm>
        </p:spPr>
        <p:txBody>
          <a:bodyPr/>
          <a:lstStyle/>
          <a:p>
            <a:r>
              <a:rPr lang="fr-FR"/>
              <a:t>Cliquez pour modifier le style du titre</a:t>
            </a:r>
            <a:endParaRPr lang="en-CA"/>
          </a:p>
        </p:txBody>
      </p:sp>
      <p:sp>
        <p:nvSpPr>
          <p:cNvPr id="3" name="Espace réservé du tableau 2"/>
          <p:cNvSpPr>
            <a:spLocks noGrp="1"/>
          </p:cNvSpPr>
          <p:nvPr>
            <p:ph type="tbl" idx="1"/>
          </p:nvPr>
        </p:nvSpPr>
        <p:spPr>
          <a:xfrm>
            <a:off x="685800" y="1133475"/>
            <a:ext cx="11004206" cy="4886325"/>
          </a:xfrm>
        </p:spPr>
        <p:txBody>
          <a:bodyPr/>
          <a:lstStyle/>
          <a:p>
            <a:pPr lvl="0"/>
            <a:endParaRPr lang="en-CA" noProof="0"/>
          </a:p>
        </p:txBody>
      </p:sp>
      <p:cxnSp>
        <p:nvCxnSpPr>
          <p:cNvPr id="11" name="Connecteur droit 10"/>
          <p:cNvCxnSpPr/>
          <p:nvPr userDrawn="1"/>
        </p:nvCxnSpPr>
        <p:spPr>
          <a:xfrm>
            <a:off x="679580" y="1004694"/>
            <a:ext cx="11010426" cy="1448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Connecteur droit 11"/>
          <p:cNvCxnSpPr/>
          <p:nvPr userDrawn="1"/>
        </p:nvCxnSpPr>
        <p:spPr>
          <a:xfrm flipV="1">
            <a:off x="839756" y="1133475"/>
            <a:ext cx="10850250" cy="6156"/>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13"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27645713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58708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3 colonnes">
    <p:spTree>
      <p:nvGrpSpPr>
        <p:cNvPr id="1" name=""/>
        <p:cNvGrpSpPr/>
        <p:nvPr/>
      </p:nvGrpSpPr>
      <p:grpSpPr>
        <a:xfrm>
          <a:off x="0" y="0"/>
          <a:ext cx="0" cy="0"/>
          <a:chOff x="0" y="0"/>
          <a:chExt cx="0" cy="0"/>
        </a:xfrm>
      </p:grpSpPr>
      <p:sp>
        <p:nvSpPr>
          <p:cNvPr id="2" name="Title 1"/>
          <p:cNvSpPr>
            <a:spLocks noGrp="1"/>
          </p:cNvSpPr>
          <p:nvPr>
            <p:ph type="title"/>
          </p:nvPr>
        </p:nvSpPr>
        <p:spPr>
          <a:xfrm>
            <a:off x="788839" y="369690"/>
            <a:ext cx="10553700" cy="901700"/>
          </a:xfrm>
        </p:spPr>
        <p:txBody>
          <a:bodyPr/>
          <a:lstStyle>
            <a:lvl1pPr>
              <a:defRPr sz="3200"/>
            </a:lvl1pPr>
          </a:lstStyle>
          <a:p>
            <a:r>
              <a:rPr lang="fr-FR"/>
              <a:t>Modifiez le style du titre</a:t>
            </a:r>
            <a:endParaRPr lang="en-US"/>
          </a:p>
        </p:txBody>
      </p:sp>
      <p:sp>
        <p:nvSpPr>
          <p:cNvPr id="3" name="Text Placeholder 2"/>
          <p:cNvSpPr>
            <a:spLocks noGrp="1"/>
          </p:cNvSpPr>
          <p:nvPr>
            <p:ph type="body" idx="1"/>
          </p:nvPr>
        </p:nvSpPr>
        <p:spPr>
          <a:xfrm>
            <a:off x="788839" y="1435942"/>
            <a:ext cx="3449255" cy="92580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22" name="Text Placeholder 3"/>
          <p:cNvSpPr>
            <a:spLocks noGrp="1"/>
          </p:cNvSpPr>
          <p:nvPr>
            <p:ph type="body" sz="half" idx="15"/>
          </p:nvPr>
        </p:nvSpPr>
        <p:spPr>
          <a:xfrm>
            <a:off x="788839" y="2361745"/>
            <a:ext cx="3449255" cy="3673784"/>
          </a:xfrm>
        </p:spPr>
        <p:txBody>
          <a:bodyPr anchor="t">
            <a:normAutofit/>
          </a:bodyPr>
          <a:lstStyle>
            <a:lvl1pPr marL="0" indent="0">
              <a:buNone/>
              <a:defRPr sz="2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Text Placeholder 4"/>
          <p:cNvSpPr>
            <a:spLocks noGrp="1"/>
          </p:cNvSpPr>
          <p:nvPr>
            <p:ph type="body" sz="quarter" idx="3"/>
          </p:nvPr>
        </p:nvSpPr>
        <p:spPr>
          <a:xfrm>
            <a:off x="4539084" y="1435942"/>
            <a:ext cx="3101854" cy="92580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23" name="Text Placeholder 3"/>
          <p:cNvSpPr>
            <a:spLocks noGrp="1"/>
          </p:cNvSpPr>
          <p:nvPr>
            <p:ph type="body" sz="half" idx="16"/>
          </p:nvPr>
        </p:nvSpPr>
        <p:spPr>
          <a:xfrm>
            <a:off x="4542893" y="2361745"/>
            <a:ext cx="3101854" cy="3673784"/>
          </a:xfrm>
        </p:spPr>
        <p:txBody>
          <a:bodyPr anchor="t">
            <a:normAutofit/>
          </a:bodyPr>
          <a:lstStyle>
            <a:lvl1pPr marL="0" indent="0">
              <a:buNone/>
              <a:defRPr sz="2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14" name="Text Placeholder 4"/>
          <p:cNvSpPr>
            <a:spLocks noGrp="1"/>
          </p:cNvSpPr>
          <p:nvPr>
            <p:ph type="body" sz="quarter" idx="13"/>
          </p:nvPr>
        </p:nvSpPr>
        <p:spPr>
          <a:xfrm>
            <a:off x="7943121" y="1435942"/>
            <a:ext cx="3401154" cy="92580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cxnSp>
        <p:nvCxnSpPr>
          <p:cNvPr id="17" name="Straight Connector 16"/>
          <p:cNvCxnSpPr/>
          <p:nvPr/>
        </p:nvCxnSpPr>
        <p:spPr>
          <a:xfrm>
            <a:off x="4392707"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9936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6" name="Espace réservé pour une image  5"/>
          <p:cNvSpPr>
            <a:spLocks noGrp="1"/>
          </p:cNvSpPr>
          <p:nvPr>
            <p:ph type="pic" sz="quarter" idx="18"/>
          </p:nvPr>
        </p:nvSpPr>
        <p:spPr>
          <a:xfrm>
            <a:off x="7960468" y="2361743"/>
            <a:ext cx="3382071" cy="3673785"/>
          </a:xfrm>
        </p:spPr>
        <p:txBody>
          <a:bodyPr>
            <a:normAutofit/>
          </a:bodyPr>
          <a:lstStyle>
            <a:lvl1pPr marL="0" indent="0">
              <a:buNone/>
              <a:defRPr sz="1600">
                <a:solidFill>
                  <a:schemeClr val="tx1"/>
                </a:solidFill>
              </a:defRPr>
            </a:lvl1pPr>
          </a:lstStyle>
          <a:p>
            <a:endParaRPr lang="fr-CA"/>
          </a:p>
        </p:txBody>
      </p:sp>
      <p:cxnSp>
        <p:nvCxnSpPr>
          <p:cNvPr id="19" name="Connecteur droit 18"/>
          <p:cNvCxnSpPr/>
          <p:nvPr userDrawn="1"/>
        </p:nvCxnSpPr>
        <p:spPr>
          <a:xfrm>
            <a:off x="628663" y="1298249"/>
            <a:ext cx="11010426" cy="1448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Connecteur droit 19"/>
          <p:cNvCxnSpPr/>
          <p:nvPr userDrawn="1"/>
        </p:nvCxnSpPr>
        <p:spPr>
          <a:xfrm flipV="1">
            <a:off x="788839" y="1427030"/>
            <a:ext cx="10850250" cy="6156"/>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1"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24"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38191875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x">
  <p:cSld name="Titre et text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3292CD-2331-41BD-95EA-A19884406306}"/>
              </a:ext>
            </a:extLst>
          </p:cNvPr>
          <p:cNvSpPr>
            <a:spLocks noGrp="1"/>
          </p:cNvSpPr>
          <p:nvPr>
            <p:ph type="title"/>
          </p:nvPr>
        </p:nvSpPr>
        <p:spPr/>
        <p:txBody>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FF824291-2540-4210-9FCC-AAFEB9931174}"/>
              </a:ext>
            </a:extLst>
          </p:cNvPr>
          <p:cNvSpPr>
            <a:spLocks noGrp="1"/>
          </p:cNvSpPr>
          <p:nvPr>
            <p:ph type="body"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D7A456F8-1359-4B85-9F2E-BC4C681A4A98}"/>
              </a:ext>
            </a:extLst>
          </p:cNvPr>
          <p:cNvSpPr>
            <a:spLocks noGrp="1"/>
          </p:cNvSpPr>
          <p:nvPr>
            <p:ph type="dt" sz="half" idx="10"/>
          </p:nvPr>
        </p:nvSpPr>
        <p:spPr/>
        <p:txBody>
          <a:bodyPr/>
          <a:lstStyle/>
          <a:p>
            <a:endParaRPr lang="fr-CA"/>
          </a:p>
        </p:txBody>
      </p:sp>
      <p:sp>
        <p:nvSpPr>
          <p:cNvPr id="5" name="Espace réservé du pied de page 4">
            <a:extLst>
              <a:ext uri="{FF2B5EF4-FFF2-40B4-BE49-F238E27FC236}">
                <a16:creationId xmlns:a16="http://schemas.microsoft.com/office/drawing/2014/main" id="{F8520133-7095-4C1B-AA0A-06B1B37DFAA2}"/>
              </a:ext>
            </a:extLst>
          </p:cNvPr>
          <p:cNvSpPr>
            <a:spLocks noGrp="1"/>
          </p:cNvSpPr>
          <p:nvPr>
            <p:ph type="ftr" sz="quarter" idx="11"/>
          </p:nvPr>
        </p:nvSpPr>
        <p:spPr/>
        <p:txBody>
          <a:bodyPr/>
          <a:lstStyle/>
          <a:p>
            <a:r>
              <a:rPr lang="pt-BR"/>
              <a:t>(c) 10904 / S03 - Version H2024</a:t>
            </a:r>
            <a:endParaRPr lang="fr-CA"/>
          </a:p>
        </p:txBody>
      </p:sp>
      <p:sp>
        <p:nvSpPr>
          <p:cNvPr id="6" name="Espace réservé du numéro de diapositive 5">
            <a:extLst>
              <a:ext uri="{FF2B5EF4-FFF2-40B4-BE49-F238E27FC236}">
                <a16:creationId xmlns:a16="http://schemas.microsoft.com/office/drawing/2014/main" id="{E18C4214-C59A-481F-850C-A8D15C7FBF9F}"/>
              </a:ext>
            </a:extLst>
          </p:cNvPr>
          <p:cNvSpPr>
            <a:spLocks noGrp="1"/>
          </p:cNvSpPr>
          <p:nvPr>
            <p:ph type="sldNum" sz="quarter" idx="12"/>
          </p:nvPr>
        </p:nvSpPr>
        <p:spPr/>
        <p:txBody>
          <a:bodyPr/>
          <a:lstStyle/>
          <a:p>
            <a:fld id="{BB699B6F-7984-48A3-9A47-56A72CAD0B37}" type="slidenum">
              <a:rPr lang="fr-CA" smtClean="0"/>
              <a:t>‹N°›</a:t>
            </a:fld>
            <a:endParaRPr lang="fr-CA"/>
          </a:p>
        </p:txBody>
      </p:sp>
    </p:spTree>
    <p:extLst>
      <p:ext uri="{BB962C8B-B14F-4D97-AF65-F5344CB8AC3E}">
        <p14:creationId xmlns:p14="http://schemas.microsoft.com/office/powerpoint/2010/main" val="50446806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44738"/>
          </a:xfrm>
        </p:spPr>
        <p:txBody>
          <a:bodyPr anchor="b"/>
          <a:lstStyle>
            <a:lvl1pPr algn="ctr">
              <a:defRPr sz="6000"/>
            </a:lvl1pPr>
          </a:lstStyle>
          <a:p>
            <a:r>
              <a:rPr lang="fr-FR"/>
              <a:t>Modifiez le style du titre</a:t>
            </a:r>
            <a:endParaRPr lang="fr-CA"/>
          </a:p>
        </p:txBody>
      </p:sp>
      <p:sp>
        <p:nvSpPr>
          <p:cNvPr id="3" name="Sous-titre 2"/>
          <p:cNvSpPr>
            <a:spLocks noGrp="1"/>
          </p:cNvSpPr>
          <p:nvPr>
            <p:ph type="subTitle" idx="1"/>
          </p:nvPr>
        </p:nvSpPr>
        <p:spPr>
          <a:xfrm>
            <a:off x="1524000" y="3736974"/>
            <a:ext cx="9144000" cy="15208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cxnSp>
        <p:nvCxnSpPr>
          <p:cNvPr id="4" name="Connecteur droit 3"/>
          <p:cNvCxnSpPr/>
          <p:nvPr userDrawn="1"/>
        </p:nvCxnSpPr>
        <p:spPr>
          <a:xfrm>
            <a:off x="604935" y="3467101"/>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 name="Connecteur droit 4"/>
          <p:cNvCxnSpPr/>
          <p:nvPr userDrawn="1"/>
        </p:nvCxnSpPr>
        <p:spPr>
          <a:xfrm>
            <a:off x="765111" y="3602038"/>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7"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37257339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838200" y="180301"/>
            <a:ext cx="10515600" cy="1031881"/>
          </a:xfrm>
        </p:spPr>
        <p:txBody>
          <a:bodyPr/>
          <a:lstStyle/>
          <a:p>
            <a:r>
              <a:rPr lang="fr-FR"/>
              <a:t>Modifiez le style du titre</a:t>
            </a:r>
            <a:endParaRPr lang="fr-CA"/>
          </a:p>
        </p:txBody>
      </p:sp>
      <p:sp>
        <p:nvSpPr>
          <p:cNvPr id="3" name="Espace réservé du contenu 2"/>
          <p:cNvSpPr>
            <a:spLocks noGrp="1"/>
          </p:cNvSpPr>
          <p:nvPr>
            <p:ph sz="half" idx="1"/>
          </p:nvPr>
        </p:nvSpPr>
        <p:spPr>
          <a:xfrm>
            <a:off x="838200" y="1598769"/>
            <a:ext cx="5181600" cy="4578194"/>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6172200" y="1598769"/>
            <a:ext cx="5181600" cy="4578194"/>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cxnSp>
        <p:nvCxnSpPr>
          <p:cNvPr id="7" name="Connecteur droit 6"/>
          <p:cNvCxnSpPr/>
          <p:nvPr userDrawn="1"/>
        </p:nvCxnSpPr>
        <p:spPr>
          <a:xfrm>
            <a:off x="847530" y="131746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p:cNvCxnSpPr/>
          <p:nvPr userDrawn="1"/>
        </p:nvCxnSpPr>
        <p:spPr>
          <a:xfrm>
            <a:off x="1007706" y="145240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12"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97893874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839788" y="1598769"/>
            <a:ext cx="5157787" cy="652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250833"/>
            <a:ext cx="5157787" cy="393883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6172200" y="1598769"/>
            <a:ext cx="5183188" cy="652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250833"/>
            <a:ext cx="5183188" cy="393883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10" name="Titre 1"/>
          <p:cNvSpPr>
            <a:spLocks noGrp="1"/>
          </p:cNvSpPr>
          <p:nvPr>
            <p:ph type="title"/>
          </p:nvPr>
        </p:nvSpPr>
        <p:spPr>
          <a:xfrm>
            <a:off x="838200" y="180301"/>
            <a:ext cx="10515600" cy="1031881"/>
          </a:xfrm>
        </p:spPr>
        <p:txBody>
          <a:bodyPr/>
          <a:lstStyle/>
          <a:p>
            <a:r>
              <a:rPr lang="fr-FR"/>
              <a:t>Modifiez le style du titre</a:t>
            </a:r>
            <a:endParaRPr lang="fr-CA"/>
          </a:p>
        </p:txBody>
      </p:sp>
      <p:cxnSp>
        <p:nvCxnSpPr>
          <p:cNvPr id="9" name="Connecteur droit 8"/>
          <p:cNvCxnSpPr/>
          <p:nvPr userDrawn="1"/>
        </p:nvCxnSpPr>
        <p:spPr>
          <a:xfrm>
            <a:off x="838200" y="1233488"/>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Connecteur droit 10"/>
          <p:cNvCxnSpPr/>
          <p:nvPr userDrawn="1"/>
        </p:nvCxnSpPr>
        <p:spPr>
          <a:xfrm>
            <a:off x="998376" y="1368425"/>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15"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94858477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6" name="Titre 1"/>
          <p:cNvSpPr>
            <a:spLocks noGrp="1"/>
          </p:cNvSpPr>
          <p:nvPr>
            <p:ph type="title"/>
          </p:nvPr>
        </p:nvSpPr>
        <p:spPr>
          <a:xfrm>
            <a:off x="838200" y="180301"/>
            <a:ext cx="10515600" cy="1031881"/>
          </a:xfrm>
        </p:spPr>
        <p:txBody>
          <a:bodyPr/>
          <a:lstStyle/>
          <a:p>
            <a:r>
              <a:rPr lang="fr-FR"/>
              <a:t>Modifiez le style du titre</a:t>
            </a:r>
            <a:endParaRPr lang="fr-CA"/>
          </a:p>
        </p:txBody>
      </p:sp>
      <p:cxnSp>
        <p:nvCxnSpPr>
          <p:cNvPr id="5" name="Connecteur droit 4"/>
          <p:cNvCxnSpPr/>
          <p:nvPr userDrawn="1"/>
        </p:nvCxnSpPr>
        <p:spPr>
          <a:xfrm>
            <a:off x="800878" y="1242819"/>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p:cNvCxnSpPr/>
          <p:nvPr userDrawn="1"/>
        </p:nvCxnSpPr>
        <p:spPr>
          <a:xfrm>
            <a:off x="961054" y="1377756"/>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11"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33074526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4"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6"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1160557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7"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9"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13779607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7"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9"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379215671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bl">
  <p:cSld name="Titre et tableau">
    <p:spTree>
      <p:nvGrpSpPr>
        <p:cNvPr id="1" name=""/>
        <p:cNvGrpSpPr/>
        <p:nvPr/>
      </p:nvGrpSpPr>
      <p:grpSpPr>
        <a:xfrm>
          <a:off x="0" y="0"/>
          <a:ext cx="0" cy="0"/>
          <a:chOff x="0" y="0"/>
          <a:chExt cx="0" cy="0"/>
        </a:xfrm>
      </p:grpSpPr>
      <p:sp>
        <p:nvSpPr>
          <p:cNvPr id="2" name="Titre 1"/>
          <p:cNvSpPr>
            <a:spLocks noGrp="1"/>
          </p:cNvSpPr>
          <p:nvPr>
            <p:ph type="title"/>
          </p:nvPr>
        </p:nvSpPr>
        <p:spPr>
          <a:xfrm>
            <a:off x="685800" y="190500"/>
            <a:ext cx="11004206" cy="828675"/>
          </a:xfrm>
        </p:spPr>
        <p:txBody>
          <a:bodyPr/>
          <a:lstStyle/>
          <a:p>
            <a:r>
              <a:rPr lang="fr-FR"/>
              <a:t>Cliquez pour modifier le style du titre</a:t>
            </a:r>
            <a:endParaRPr lang="en-CA"/>
          </a:p>
        </p:txBody>
      </p:sp>
      <p:sp>
        <p:nvSpPr>
          <p:cNvPr id="3" name="Espace réservé du tableau 2"/>
          <p:cNvSpPr>
            <a:spLocks noGrp="1"/>
          </p:cNvSpPr>
          <p:nvPr>
            <p:ph type="tbl" idx="1"/>
          </p:nvPr>
        </p:nvSpPr>
        <p:spPr>
          <a:xfrm>
            <a:off x="685800" y="1133475"/>
            <a:ext cx="11004206" cy="4886325"/>
          </a:xfrm>
        </p:spPr>
        <p:txBody>
          <a:bodyPr/>
          <a:lstStyle/>
          <a:p>
            <a:pPr lvl="0"/>
            <a:endParaRPr lang="en-CA" noProof="0"/>
          </a:p>
        </p:txBody>
      </p:sp>
      <p:cxnSp>
        <p:nvCxnSpPr>
          <p:cNvPr id="11" name="Connecteur droit 10"/>
          <p:cNvCxnSpPr/>
          <p:nvPr userDrawn="1"/>
        </p:nvCxnSpPr>
        <p:spPr>
          <a:xfrm>
            <a:off x="679580" y="1004694"/>
            <a:ext cx="11010426" cy="1448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Connecteur droit 11"/>
          <p:cNvCxnSpPr/>
          <p:nvPr userDrawn="1"/>
        </p:nvCxnSpPr>
        <p:spPr>
          <a:xfrm flipV="1">
            <a:off x="839756" y="1133475"/>
            <a:ext cx="10850250" cy="6156"/>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13"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27645713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3 colonnes">
    <p:spTree>
      <p:nvGrpSpPr>
        <p:cNvPr id="1" name=""/>
        <p:cNvGrpSpPr/>
        <p:nvPr/>
      </p:nvGrpSpPr>
      <p:grpSpPr>
        <a:xfrm>
          <a:off x="0" y="0"/>
          <a:ext cx="0" cy="0"/>
          <a:chOff x="0" y="0"/>
          <a:chExt cx="0" cy="0"/>
        </a:xfrm>
      </p:grpSpPr>
      <p:sp>
        <p:nvSpPr>
          <p:cNvPr id="2" name="Title 1"/>
          <p:cNvSpPr>
            <a:spLocks noGrp="1"/>
          </p:cNvSpPr>
          <p:nvPr>
            <p:ph type="title"/>
          </p:nvPr>
        </p:nvSpPr>
        <p:spPr>
          <a:xfrm>
            <a:off x="788839" y="369690"/>
            <a:ext cx="10553700" cy="901700"/>
          </a:xfrm>
        </p:spPr>
        <p:txBody>
          <a:bodyPr/>
          <a:lstStyle>
            <a:lvl1pPr>
              <a:defRPr sz="3200"/>
            </a:lvl1pPr>
          </a:lstStyle>
          <a:p>
            <a:r>
              <a:rPr lang="fr-FR"/>
              <a:t>Modifiez le style du titre</a:t>
            </a:r>
            <a:endParaRPr lang="en-US"/>
          </a:p>
        </p:txBody>
      </p:sp>
      <p:sp>
        <p:nvSpPr>
          <p:cNvPr id="3" name="Text Placeholder 2"/>
          <p:cNvSpPr>
            <a:spLocks noGrp="1"/>
          </p:cNvSpPr>
          <p:nvPr>
            <p:ph type="body" idx="1"/>
          </p:nvPr>
        </p:nvSpPr>
        <p:spPr>
          <a:xfrm>
            <a:off x="788839" y="1435942"/>
            <a:ext cx="3449255" cy="92580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22" name="Text Placeholder 3"/>
          <p:cNvSpPr>
            <a:spLocks noGrp="1"/>
          </p:cNvSpPr>
          <p:nvPr>
            <p:ph type="body" sz="half" idx="15"/>
          </p:nvPr>
        </p:nvSpPr>
        <p:spPr>
          <a:xfrm>
            <a:off x="788839" y="2361745"/>
            <a:ext cx="3449255" cy="3673784"/>
          </a:xfrm>
        </p:spPr>
        <p:txBody>
          <a:bodyPr anchor="t">
            <a:normAutofit/>
          </a:bodyPr>
          <a:lstStyle>
            <a:lvl1pPr marL="0" indent="0">
              <a:buNone/>
              <a:defRPr sz="2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Text Placeholder 4"/>
          <p:cNvSpPr>
            <a:spLocks noGrp="1"/>
          </p:cNvSpPr>
          <p:nvPr>
            <p:ph type="body" sz="quarter" idx="3"/>
          </p:nvPr>
        </p:nvSpPr>
        <p:spPr>
          <a:xfrm>
            <a:off x="4539084" y="1435942"/>
            <a:ext cx="3101854" cy="92580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23" name="Text Placeholder 3"/>
          <p:cNvSpPr>
            <a:spLocks noGrp="1"/>
          </p:cNvSpPr>
          <p:nvPr>
            <p:ph type="body" sz="half" idx="16"/>
          </p:nvPr>
        </p:nvSpPr>
        <p:spPr>
          <a:xfrm>
            <a:off x="4542893" y="2361745"/>
            <a:ext cx="3101854" cy="3673784"/>
          </a:xfrm>
        </p:spPr>
        <p:txBody>
          <a:bodyPr anchor="t">
            <a:normAutofit/>
          </a:bodyPr>
          <a:lstStyle>
            <a:lvl1pPr marL="0" indent="0">
              <a:buNone/>
              <a:defRPr sz="2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14" name="Text Placeholder 4"/>
          <p:cNvSpPr>
            <a:spLocks noGrp="1"/>
          </p:cNvSpPr>
          <p:nvPr>
            <p:ph type="body" sz="quarter" idx="13"/>
          </p:nvPr>
        </p:nvSpPr>
        <p:spPr>
          <a:xfrm>
            <a:off x="7943121" y="1435942"/>
            <a:ext cx="3401154" cy="92580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cxnSp>
        <p:nvCxnSpPr>
          <p:cNvPr id="17" name="Straight Connector 16"/>
          <p:cNvCxnSpPr/>
          <p:nvPr/>
        </p:nvCxnSpPr>
        <p:spPr>
          <a:xfrm>
            <a:off x="4392707"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9936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6" name="Espace réservé pour une image  5"/>
          <p:cNvSpPr>
            <a:spLocks noGrp="1"/>
          </p:cNvSpPr>
          <p:nvPr>
            <p:ph type="pic" sz="quarter" idx="18"/>
          </p:nvPr>
        </p:nvSpPr>
        <p:spPr>
          <a:xfrm>
            <a:off x="7960468" y="2361743"/>
            <a:ext cx="3382071" cy="3673785"/>
          </a:xfrm>
        </p:spPr>
        <p:txBody>
          <a:bodyPr>
            <a:normAutofit/>
          </a:bodyPr>
          <a:lstStyle>
            <a:lvl1pPr marL="0" indent="0">
              <a:buNone/>
              <a:defRPr sz="1600">
                <a:solidFill>
                  <a:schemeClr val="tx1"/>
                </a:solidFill>
              </a:defRPr>
            </a:lvl1pPr>
          </a:lstStyle>
          <a:p>
            <a:endParaRPr lang="fr-CA"/>
          </a:p>
        </p:txBody>
      </p:sp>
      <p:cxnSp>
        <p:nvCxnSpPr>
          <p:cNvPr id="19" name="Connecteur droit 18"/>
          <p:cNvCxnSpPr/>
          <p:nvPr userDrawn="1"/>
        </p:nvCxnSpPr>
        <p:spPr>
          <a:xfrm>
            <a:off x="628663" y="1298249"/>
            <a:ext cx="11010426" cy="1448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Connecteur droit 19"/>
          <p:cNvCxnSpPr/>
          <p:nvPr userDrawn="1"/>
        </p:nvCxnSpPr>
        <p:spPr>
          <a:xfrm flipV="1">
            <a:off x="788839" y="1427030"/>
            <a:ext cx="10850250" cy="6156"/>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1"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S03 - Version H2024</a:t>
            </a:r>
            <a:endParaRPr lang="fr-CA">
              <a:solidFill>
                <a:prstClr val="black">
                  <a:tint val="75000"/>
                </a:prstClr>
              </a:solidFill>
            </a:endParaRPr>
          </a:p>
        </p:txBody>
      </p:sp>
      <p:sp>
        <p:nvSpPr>
          <p:cNvPr id="24"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38191875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x">
  <p:cSld name="Titre et text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3292CD-2331-41BD-95EA-A19884406306}"/>
              </a:ext>
            </a:extLst>
          </p:cNvPr>
          <p:cNvSpPr>
            <a:spLocks noGrp="1"/>
          </p:cNvSpPr>
          <p:nvPr>
            <p:ph type="title"/>
          </p:nvPr>
        </p:nvSpPr>
        <p:spPr/>
        <p:txBody>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FF824291-2540-4210-9FCC-AAFEB9931174}"/>
              </a:ext>
            </a:extLst>
          </p:cNvPr>
          <p:cNvSpPr>
            <a:spLocks noGrp="1"/>
          </p:cNvSpPr>
          <p:nvPr>
            <p:ph type="body"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D7A456F8-1359-4B85-9F2E-BC4C681A4A98}"/>
              </a:ext>
            </a:extLst>
          </p:cNvPr>
          <p:cNvSpPr>
            <a:spLocks noGrp="1"/>
          </p:cNvSpPr>
          <p:nvPr>
            <p:ph type="dt" sz="half" idx="10"/>
          </p:nvPr>
        </p:nvSpPr>
        <p:spPr/>
        <p:txBody>
          <a:bodyPr/>
          <a:lstStyle/>
          <a:p>
            <a:endParaRPr lang="fr-CA"/>
          </a:p>
        </p:txBody>
      </p:sp>
      <p:sp>
        <p:nvSpPr>
          <p:cNvPr id="5" name="Espace réservé du pied de page 4">
            <a:extLst>
              <a:ext uri="{FF2B5EF4-FFF2-40B4-BE49-F238E27FC236}">
                <a16:creationId xmlns:a16="http://schemas.microsoft.com/office/drawing/2014/main" id="{F8520133-7095-4C1B-AA0A-06B1B37DFAA2}"/>
              </a:ext>
            </a:extLst>
          </p:cNvPr>
          <p:cNvSpPr>
            <a:spLocks noGrp="1"/>
          </p:cNvSpPr>
          <p:nvPr>
            <p:ph type="ftr" sz="quarter" idx="11"/>
          </p:nvPr>
        </p:nvSpPr>
        <p:spPr/>
        <p:txBody>
          <a:bodyPr/>
          <a:lstStyle/>
          <a:p>
            <a:r>
              <a:rPr lang="pt-BR"/>
              <a:t>(c) 10904 / S03 - Version H2024</a:t>
            </a:r>
            <a:endParaRPr lang="fr-CA"/>
          </a:p>
        </p:txBody>
      </p:sp>
      <p:sp>
        <p:nvSpPr>
          <p:cNvPr id="6" name="Espace réservé du numéro de diapositive 5">
            <a:extLst>
              <a:ext uri="{FF2B5EF4-FFF2-40B4-BE49-F238E27FC236}">
                <a16:creationId xmlns:a16="http://schemas.microsoft.com/office/drawing/2014/main" id="{E18C4214-C59A-481F-850C-A8D15C7FBF9F}"/>
              </a:ext>
            </a:extLst>
          </p:cNvPr>
          <p:cNvSpPr>
            <a:spLocks noGrp="1"/>
          </p:cNvSpPr>
          <p:nvPr>
            <p:ph type="sldNum" sz="quarter" idx="12"/>
          </p:nvPr>
        </p:nvSpPr>
        <p:spPr/>
        <p:txBody>
          <a:bodyPr/>
          <a:lstStyle/>
          <a:p>
            <a:fld id="{BB699B6F-7984-48A3-9A47-56A72CAD0B37}" type="slidenum">
              <a:rPr lang="fr-CA" smtClean="0"/>
              <a:t>‹N°›</a:t>
            </a:fld>
            <a:endParaRPr lang="fr-CA"/>
          </a:p>
        </p:txBody>
      </p:sp>
    </p:spTree>
    <p:extLst>
      <p:ext uri="{BB962C8B-B14F-4D97-AF65-F5344CB8AC3E}">
        <p14:creationId xmlns:p14="http://schemas.microsoft.com/office/powerpoint/2010/main" val="50446806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image" Target="../media/image1.png"/><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pic>
        <p:nvPicPr>
          <p:cNvPr id="10" name="Image 9"/>
          <p:cNvPicPr>
            <a:picLocks noChangeAspect="1"/>
          </p:cNvPicPr>
          <p:nvPr userDrawn="1"/>
        </p:nvPicPr>
        <p:blipFill>
          <a:blip r:embed="rId57" cstate="print">
            <a:extLst>
              <a:ext uri="{28A0092B-C50C-407E-A947-70E740481C1C}">
                <a14:useLocalDpi xmlns:a14="http://schemas.microsoft.com/office/drawing/2010/main" val="0"/>
              </a:ext>
            </a:extLst>
          </a:blip>
          <a:stretch>
            <a:fillRect/>
          </a:stretch>
        </p:blipFill>
        <p:spPr>
          <a:xfrm>
            <a:off x="0" y="6354906"/>
            <a:ext cx="1821024" cy="368015"/>
          </a:xfrm>
          <a:prstGeom prst="rect">
            <a:avLst/>
          </a:prstGeom>
          <a:noFill/>
          <a:ln>
            <a:noFill/>
          </a:ln>
        </p:spPr>
      </p:pic>
    </p:spTree>
    <p:extLst>
      <p:ext uri="{BB962C8B-B14F-4D97-AF65-F5344CB8AC3E}">
        <p14:creationId xmlns:p14="http://schemas.microsoft.com/office/powerpoint/2010/main" val="1899543394"/>
      </p:ext>
    </p:extLst>
  </p:cSld>
  <p:clrMap bg1="lt1" tx1="dk1" bg2="lt2" tx2="dk2" accent1="accent1" accent2="accent2" accent3="accent3" accent4="accent4" accent5="accent5" accent6="accent6" hlink="hlink" folHlink="folHlink"/>
  <p:sldLayoutIdLst>
    <p:sldLayoutId id="2147483741" r:id="rId1"/>
    <p:sldLayoutId id="2147483760" r:id="rId2"/>
    <p:sldLayoutId id="2147483746" r:id="rId3"/>
    <p:sldLayoutId id="2147483747" r:id="rId4"/>
    <p:sldLayoutId id="2147483748" r:id="rId5"/>
    <p:sldLayoutId id="2147483727" r:id="rId6"/>
    <p:sldLayoutId id="2147483749" r:id="rId7"/>
    <p:sldLayoutId id="2147483750" r:id="rId8"/>
    <p:sldLayoutId id="2147483751" r:id="rId9"/>
    <p:sldLayoutId id="2147483752" r:id="rId10"/>
    <p:sldLayoutId id="2147483753" r:id="rId11"/>
    <p:sldLayoutId id="2147483754" r:id="rId12"/>
    <p:sldLayoutId id="2147483756" r:id="rId13"/>
    <p:sldLayoutId id="2147483757" r:id="rId14"/>
    <p:sldLayoutId id="2147483688" r:id="rId15"/>
    <p:sldLayoutId id="2147483759" r:id="rId16"/>
    <p:sldLayoutId id="2147483724" r:id="rId17"/>
    <p:sldLayoutId id="2147483725" r:id="rId18"/>
    <p:sldLayoutId id="2147483726" r:id="rId19"/>
    <p:sldLayoutId id="2147483661" r:id="rId20"/>
    <p:sldLayoutId id="2147483662" r:id="rId21"/>
    <p:sldLayoutId id="2147483663" r:id="rId22"/>
    <p:sldLayoutId id="2147483664" r:id="rId23"/>
    <p:sldLayoutId id="2147483665" r:id="rId24"/>
    <p:sldLayoutId id="2147483666" r:id="rId25"/>
    <p:sldLayoutId id="2147483667" r:id="rId26"/>
    <p:sldLayoutId id="2147483668" r:id="rId27"/>
    <p:sldLayoutId id="2147483669" r:id="rId28"/>
    <p:sldLayoutId id="2147483671" r:id="rId29"/>
    <p:sldLayoutId id="2147483740" r:id="rId30"/>
    <p:sldLayoutId id="2147483738" r:id="rId31"/>
    <p:sldLayoutId id="2147483698" r:id="rId32"/>
    <p:sldLayoutId id="2147483699" r:id="rId33"/>
    <p:sldLayoutId id="2147483700" r:id="rId34"/>
    <p:sldLayoutId id="2147483673" r:id="rId35"/>
    <p:sldLayoutId id="2147483702" r:id="rId36"/>
    <p:sldLayoutId id="2147483703" r:id="rId37"/>
    <p:sldLayoutId id="2147483704" r:id="rId38"/>
    <p:sldLayoutId id="2147483705" r:id="rId39"/>
    <p:sldLayoutId id="2147483706" r:id="rId40"/>
    <p:sldLayoutId id="2147483707" r:id="rId41"/>
    <p:sldLayoutId id="2147483708" r:id="rId42"/>
    <p:sldLayoutId id="2147483709" r:id="rId43"/>
    <p:sldLayoutId id="2147483672" r:id="rId44"/>
    <p:sldLayoutId id="2147483687" r:id="rId45"/>
    <p:sldLayoutId id="2147483745" r:id="rId46"/>
    <p:sldLayoutId id="2147483728" r:id="rId47"/>
    <p:sldLayoutId id="2147483729" r:id="rId48"/>
    <p:sldLayoutId id="2147483730" r:id="rId49"/>
    <p:sldLayoutId id="2147483731" r:id="rId50"/>
    <p:sldLayoutId id="2147483732" r:id="rId51"/>
    <p:sldLayoutId id="2147483733" r:id="rId52"/>
    <p:sldLayoutId id="2147483734" r:id="rId53"/>
    <p:sldLayoutId id="2147483735" r:id="rId54"/>
    <p:sldLayoutId id="2147483736" r:id="rId55"/>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1.xml"/><Relationship Id="rId5" Type="http://schemas.openxmlformats.org/officeDocument/2006/relationships/slideLayout" Target="../slideLayouts/slideLayout34.xml"/><Relationship Id="rId4" Type="http://schemas.openxmlformats.org/officeDocument/2006/relationships/tags" Target="../tags/tag4.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3" Type="http://schemas.openxmlformats.org/officeDocument/2006/relationships/tags" Target="../tags/tag7.xml"/><Relationship Id="rId7" Type="http://schemas.openxmlformats.org/officeDocument/2006/relationships/slideLayout" Target="../slideLayouts/slideLayout1.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s>
</file>

<file path=ppt/slides/_rels/slide3.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image" Target="../media/image2.svg"/><Relationship Id="rId3" Type="http://schemas.openxmlformats.org/officeDocument/2006/relationships/tags" Target="../tags/tag13.xml"/><Relationship Id="rId7" Type="http://schemas.openxmlformats.org/officeDocument/2006/relationships/tags" Target="../tags/tag17.xml"/><Relationship Id="rId12" Type="http://schemas.openxmlformats.org/officeDocument/2006/relationships/notesSlide" Target="../notesSlides/notesSlide3.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slideLayout" Target="../slideLayouts/slideLayout1.xml"/><Relationship Id="rId5" Type="http://schemas.openxmlformats.org/officeDocument/2006/relationships/tags" Target="../tags/tag15.xml"/><Relationship Id="rId10" Type="http://schemas.openxmlformats.org/officeDocument/2006/relationships/tags" Target="../tags/tag20.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image" Target="../media/image3.sv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3" Type="http://schemas.openxmlformats.org/officeDocument/2006/relationships/tags" Target="../tags/tag23.xml"/><Relationship Id="rId7" Type="http://schemas.openxmlformats.org/officeDocument/2006/relationships/slideLayout" Target="../slideLayouts/slideLayout10.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s>
</file>

<file path=ppt/slides/_rels/slide5.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notesSlide" Target="../notesSlides/notesSlide5.xml"/><Relationship Id="rId5" Type="http://schemas.openxmlformats.org/officeDocument/2006/relationships/slideLayout" Target="../slideLayouts/slideLayout1.xml"/><Relationship Id="rId4" Type="http://schemas.openxmlformats.org/officeDocument/2006/relationships/tags" Target="../tags/tag30.xml"/></Relationships>
</file>

<file path=ppt/slides/_rels/slide6.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tags" Target="../tags/tag34.xml"/></Relationships>
</file>

<file path=ppt/slides/_rels/slide7.xml.rels><?xml version="1.0" encoding="UTF-8" standalone="yes"?>
<Relationships xmlns="http://schemas.openxmlformats.org/package/2006/relationships"><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notesSlide" Target="../notesSlides/notesSlide7.xml"/><Relationship Id="rId5" Type="http://schemas.openxmlformats.org/officeDocument/2006/relationships/slideLayout" Target="../slideLayouts/slideLayout1.xml"/><Relationship Id="rId4" Type="http://schemas.openxmlformats.org/officeDocument/2006/relationships/tags" Target="../tags/tag38.xml"/></Relationships>
</file>

<file path=ppt/slides/_rels/slide8.xml.rels><?xml version="1.0" encoding="UTF-8" standalone="yes"?>
<Relationships xmlns="http://schemas.openxmlformats.org/package/2006/relationships"><Relationship Id="rId3" Type="http://schemas.openxmlformats.org/officeDocument/2006/relationships/tags" Target="../tags/tag41.xml"/><Relationship Id="rId7" Type="http://schemas.openxmlformats.org/officeDocument/2006/relationships/notesSlide" Target="../notesSlides/notesSlide8.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slideLayout" Target="../slideLayouts/slideLayout1.xml"/><Relationship Id="rId5" Type="http://schemas.openxmlformats.org/officeDocument/2006/relationships/tags" Target="../tags/tag43.xml"/><Relationship Id="rId4" Type="http://schemas.openxmlformats.org/officeDocument/2006/relationships/tags" Target="../tags/tag42.xml"/></Relationships>
</file>

<file path=ppt/slides/_rels/slide9.xml.rels><?xml version="1.0" encoding="UTF-8" standalone="yes"?>
<Relationships xmlns="http://schemas.openxmlformats.org/package/2006/relationships"><Relationship Id="rId3" Type="http://schemas.openxmlformats.org/officeDocument/2006/relationships/tags" Target="../tags/tag46.xml"/><Relationship Id="rId7" Type="http://schemas.openxmlformats.org/officeDocument/2006/relationships/notesSlide" Target="../notesSlides/notesSlide9.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slideLayout" Target="../slideLayouts/slideLayout1.xml"/><Relationship Id="rId5" Type="http://schemas.openxmlformats.org/officeDocument/2006/relationships/tags" Target="../tags/tag48.xml"/><Relationship Id="rId4" Type="http://schemas.openxmlformats.org/officeDocument/2006/relationships/tags" Target="../tags/tag47.xml"/></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51.xml"/><Relationship Id="rId7" Type="http://schemas.openxmlformats.org/officeDocument/2006/relationships/tags" Target="../tags/tag55.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tags" Target="../tags/tag58.xml"/><Relationship Id="rId7" Type="http://schemas.openxmlformats.org/officeDocument/2006/relationships/notesSlide" Target="../notesSlides/notesSlide11.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slideLayout" Target="../slideLayouts/slideLayout1.xml"/><Relationship Id="rId5" Type="http://schemas.openxmlformats.org/officeDocument/2006/relationships/tags" Target="../tags/tag60.xml"/><Relationship Id="rId4" Type="http://schemas.openxmlformats.org/officeDocument/2006/relationships/tags" Target="../tags/tag59.xml"/></Relationships>
</file>

<file path=ppt/slides/_rels/slide12.xml.rels><?xml version="1.0" encoding="UTF-8" standalone="yes"?>
<Relationships xmlns="http://schemas.openxmlformats.org/package/2006/relationships"><Relationship Id="rId8" Type="http://schemas.openxmlformats.org/officeDocument/2006/relationships/slideLayout" Target="../slideLayouts/slideLayout7.xml"/><Relationship Id="rId3" Type="http://schemas.openxmlformats.org/officeDocument/2006/relationships/tags" Target="../tags/tag63.xml"/><Relationship Id="rId7" Type="http://schemas.openxmlformats.org/officeDocument/2006/relationships/tags" Target="../tags/tag67.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8" Type="http://schemas.openxmlformats.org/officeDocument/2006/relationships/tags" Target="../tags/tag75.xml"/><Relationship Id="rId13" Type="http://schemas.openxmlformats.org/officeDocument/2006/relationships/tags" Target="../tags/tag80.xml"/><Relationship Id="rId18" Type="http://schemas.openxmlformats.org/officeDocument/2006/relationships/image" Target="../media/image6.png"/><Relationship Id="rId3" Type="http://schemas.openxmlformats.org/officeDocument/2006/relationships/tags" Target="../tags/tag70.xml"/><Relationship Id="rId7" Type="http://schemas.openxmlformats.org/officeDocument/2006/relationships/tags" Target="../tags/tag74.xml"/><Relationship Id="rId12" Type="http://schemas.openxmlformats.org/officeDocument/2006/relationships/tags" Target="../tags/tag79.xml"/><Relationship Id="rId17" Type="http://schemas.openxmlformats.org/officeDocument/2006/relationships/image" Target="../media/image5.png"/><Relationship Id="rId2" Type="http://schemas.openxmlformats.org/officeDocument/2006/relationships/tags" Target="../tags/tag69.xml"/><Relationship Id="rId16" Type="http://schemas.openxmlformats.org/officeDocument/2006/relationships/image" Target="../media/image4.png"/><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tags" Target="../tags/tag78.xml"/><Relationship Id="rId5" Type="http://schemas.openxmlformats.org/officeDocument/2006/relationships/tags" Target="../tags/tag72.xml"/><Relationship Id="rId15" Type="http://schemas.openxmlformats.org/officeDocument/2006/relationships/notesSlide" Target="../notesSlides/notesSlide13.xml"/><Relationship Id="rId10" Type="http://schemas.openxmlformats.org/officeDocument/2006/relationships/tags" Target="../tags/tag77.xml"/><Relationship Id="rId4" Type="http://schemas.openxmlformats.org/officeDocument/2006/relationships/tags" Target="../tags/tag71.xml"/><Relationship Id="rId9" Type="http://schemas.openxmlformats.org/officeDocument/2006/relationships/tags" Target="../tags/tag76.xml"/><Relationship Id="rId14"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notesSlide" Target="../notesSlides/notesSlide14.xml"/><Relationship Id="rId5" Type="http://schemas.openxmlformats.org/officeDocument/2006/relationships/slideLayout" Target="../slideLayouts/slideLayout1.xml"/><Relationship Id="rId4" Type="http://schemas.openxmlformats.org/officeDocument/2006/relationships/tags" Target="../tags/tag84.xml"/></Relationships>
</file>

<file path=ppt/slides/_rels/slide15.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notesSlide" Target="../notesSlides/notesSlide15.xml"/><Relationship Id="rId5" Type="http://schemas.openxmlformats.org/officeDocument/2006/relationships/slideLayout" Target="../slideLayouts/slideLayout3.xml"/><Relationship Id="rId4" Type="http://schemas.openxmlformats.org/officeDocument/2006/relationships/tags" Target="../tags/tag88.xml"/></Relationships>
</file>

<file path=ppt/slides/_rels/slide16.xml.rels><?xml version="1.0" encoding="UTF-8" standalone="yes"?>
<Relationships xmlns="http://schemas.openxmlformats.org/package/2006/relationships"><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notesSlide" Target="../notesSlides/notesSlide16.xml"/><Relationship Id="rId5" Type="http://schemas.openxmlformats.org/officeDocument/2006/relationships/slideLayout" Target="../slideLayouts/slideLayout1.xml"/><Relationship Id="rId4" Type="http://schemas.openxmlformats.org/officeDocument/2006/relationships/tags" Target="../tags/tag92.xml"/></Relationships>
</file>

<file path=ppt/slides/_rels/slide17.xml.rels><?xml version="1.0" encoding="UTF-8" standalone="yes"?>
<Relationships xmlns="http://schemas.openxmlformats.org/package/2006/relationships"><Relationship Id="rId8" Type="http://schemas.openxmlformats.org/officeDocument/2006/relationships/tags" Target="../tags/tag100.xml"/><Relationship Id="rId3" Type="http://schemas.openxmlformats.org/officeDocument/2006/relationships/tags" Target="../tags/tag95.xml"/><Relationship Id="rId7" Type="http://schemas.openxmlformats.org/officeDocument/2006/relationships/tags" Target="../tags/tag99.xml"/><Relationship Id="rId12" Type="http://schemas.openxmlformats.org/officeDocument/2006/relationships/image" Target="../media/image8.jpeg"/><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tags" Target="../tags/tag98.xml"/><Relationship Id="rId11" Type="http://schemas.openxmlformats.org/officeDocument/2006/relationships/image" Target="../media/image7.jpeg"/><Relationship Id="rId5" Type="http://schemas.openxmlformats.org/officeDocument/2006/relationships/tags" Target="../tags/tag97.xml"/><Relationship Id="rId10" Type="http://schemas.openxmlformats.org/officeDocument/2006/relationships/notesSlide" Target="../notesSlides/notesSlide17.xml"/><Relationship Id="rId4" Type="http://schemas.openxmlformats.org/officeDocument/2006/relationships/tags" Target="../tags/tag96.xml"/><Relationship Id="rId9"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slideLayout" Target="../slideLayouts/slideLayout7.xml"/><Relationship Id="rId3" Type="http://schemas.openxmlformats.org/officeDocument/2006/relationships/tags" Target="../tags/tag103.xml"/><Relationship Id="rId7" Type="http://schemas.openxmlformats.org/officeDocument/2006/relationships/tags" Target="../tags/tag107.xml"/><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tags" Target="../tags/tag106.xml"/><Relationship Id="rId5" Type="http://schemas.openxmlformats.org/officeDocument/2006/relationships/tags" Target="../tags/tag105.xml"/><Relationship Id="rId10" Type="http://schemas.openxmlformats.org/officeDocument/2006/relationships/image" Target="../media/image7.jpeg"/><Relationship Id="rId4" Type="http://schemas.openxmlformats.org/officeDocument/2006/relationships/tags" Target="../tags/tag104.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110.xml"/><Relationship Id="rId7" Type="http://schemas.openxmlformats.org/officeDocument/2006/relationships/tags" Target="../tags/tag114.xml"/><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tags" Target="../tags/tag11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notesSlide" Target="../notesSlides/notesSlide20.xml"/><Relationship Id="rId5" Type="http://schemas.openxmlformats.org/officeDocument/2006/relationships/slideLayout" Target="../slideLayouts/slideLayout1.xml"/><Relationship Id="rId4" Type="http://schemas.openxmlformats.org/officeDocument/2006/relationships/tags" Target="../tags/tag118.xml"/></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121.xml"/><Relationship Id="rId7" Type="http://schemas.openxmlformats.org/officeDocument/2006/relationships/tags" Target="../tags/tag125.xml"/><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tags" Target="../tags/tag124.xml"/><Relationship Id="rId5" Type="http://schemas.openxmlformats.org/officeDocument/2006/relationships/tags" Target="../tags/tag123.xml"/><Relationship Id="rId4" Type="http://schemas.openxmlformats.org/officeDocument/2006/relationships/tags" Target="../tags/tag122.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22.xml"/><Relationship Id="rId13" Type="http://schemas.microsoft.com/office/2007/relationships/diagramDrawing" Target="../diagrams/drawing1.xml"/><Relationship Id="rId3" Type="http://schemas.openxmlformats.org/officeDocument/2006/relationships/tags" Target="../tags/tag128.xml"/><Relationship Id="rId7" Type="http://schemas.openxmlformats.org/officeDocument/2006/relationships/slideLayout" Target="../slideLayouts/slideLayout9.xml"/><Relationship Id="rId12" Type="http://schemas.openxmlformats.org/officeDocument/2006/relationships/diagramColors" Target="../diagrams/colors1.xml"/><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tags" Target="../tags/tag131.xml"/><Relationship Id="rId11" Type="http://schemas.openxmlformats.org/officeDocument/2006/relationships/diagramQuickStyle" Target="../diagrams/quickStyle1.xml"/><Relationship Id="rId5" Type="http://schemas.openxmlformats.org/officeDocument/2006/relationships/tags" Target="../tags/tag130.xml"/><Relationship Id="rId10" Type="http://schemas.openxmlformats.org/officeDocument/2006/relationships/diagramLayout" Target="../diagrams/layout1.xml"/><Relationship Id="rId4" Type="http://schemas.openxmlformats.org/officeDocument/2006/relationships/tags" Target="../tags/tag129.xml"/><Relationship Id="rId9" Type="http://schemas.openxmlformats.org/officeDocument/2006/relationships/diagramData" Target="../diagrams/data1.xml"/></Relationships>
</file>

<file path=ppt/slides/_rels/slide24.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tags" Target="../tags/tag134.xml"/><Relationship Id="rId7" Type="http://schemas.openxmlformats.org/officeDocument/2006/relationships/notesSlide" Target="../notesSlides/notesSlide23.xml"/><Relationship Id="rId12" Type="http://schemas.microsoft.com/office/2007/relationships/diagramDrawing" Target="../diagrams/drawing2.xml"/><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slideLayout" Target="../slideLayouts/slideLayout1.xml"/><Relationship Id="rId11" Type="http://schemas.openxmlformats.org/officeDocument/2006/relationships/diagramColors" Target="../diagrams/colors2.xml"/><Relationship Id="rId5" Type="http://schemas.openxmlformats.org/officeDocument/2006/relationships/tags" Target="../tags/tag136.xml"/><Relationship Id="rId10" Type="http://schemas.openxmlformats.org/officeDocument/2006/relationships/diagramQuickStyle" Target="../diagrams/quickStyle2.xml"/><Relationship Id="rId4" Type="http://schemas.openxmlformats.org/officeDocument/2006/relationships/tags" Target="../tags/tag135.xml"/><Relationship Id="rId9" Type="http://schemas.openxmlformats.org/officeDocument/2006/relationships/diagramLayout" Target="../diagrams/layout2.xml"/></Relationships>
</file>

<file path=ppt/slides/_rels/slide25.xml.rels><?xml version="1.0" encoding="UTF-8" standalone="yes"?>
<Relationships xmlns="http://schemas.openxmlformats.org/package/2006/relationships"><Relationship Id="rId8" Type="http://schemas.openxmlformats.org/officeDocument/2006/relationships/notesSlide" Target="../notesSlides/notesSlide24.xml"/><Relationship Id="rId3" Type="http://schemas.openxmlformats.org/officeDocument/2006/relationships/tags" Target="../tags/tag139.xml"/><Relationship Id="rId7" Type="http://schemas.openxmlformats.org/officeDocument/2006/relationships/slideLayout" Target="../slideLayouts/slideLayout1.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5" Type="http://schemas.openxmlformats.org/officeDocument/2006/relationships/tags" Target="../tags/tag141.xml"/><Relationship Id="rId4" Type="http://schemas.openxmlformats.org/officeDocument/2006/relationships/tags" Target="../tags/tag140.xml"/></Relationships>
</file>

<file path=ppt/slides/_rels/slide26.xml.rels><?xml version="1.0" encoding="UTF-8" standalone="yes"?>
<Relationships xmlns="http://schemas.openxmlformats.org/package/2006/relationships"><Relationship Id="rId8" Type="http://schemas.openxmlformats.org/officeDocument/2006/relationships/notesSlide" Target="../notesSlides/notesSlide25.xml"/><Relationship Id="rId3" Type="http://schemas.openxmlformats.org/officeDocument/2006/relationships/tags" Target="../tags/tag145.xml"/><Relationship Id="rId7" Type="http://schemas.openxmlformats.org/officeDocument/2006/relationships/slideLayout" Target="../slideLayouts/slideLayout1.xml"/><Relationship Id="rId2" Type="http://schemas.openxmlformats.org/officeDocument/2006/relationships/tags" Target="../tags/tag144.xml"/><Relationship Id="rId1" Type="http://schemas.openxmlformats.org/officeDocument/2006/relationships/tags" Target="../tags/tag143.xml"/><Relationship Id="rId6" Type="http://schemas.openxmlformats.org/officeDocument/2006/relationships/tags" Target="../tags/tag148.xml"/><Relationship Id="rId5" Type="http://schemas.openxmlformats.org/officeDocument/2006/relationships/tags" Target="../tags/tag147.xml"/><Relationship Id="rId4" Type="http://schemas.openxmlformats.org/officeDocument/2006/relationships/tags" Target="../tags/tag146.xml"/></Relationships>
</file>

<file path=ppt/slides/_rels/slide27.xml.rels><?xml version="1.0" encoding="UTF-8" standalone="yes"?>
<Relationships xmlns="http://schemas.openxmlformats.org/package/2006/relationships"><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 Id="rId6" Type="http://schemas.openxmlformats.org/officeDocument/2006/relationships/notesSlide" Target="../notesSlides/notesSlide26.xml"/><Relationship Id="rId5" Type="http://schemas.openxmlformats.org/officeDocument/2006/relationships/slideLayout" Target="../slideLayouts/slideLayout3.xml"/><Relationship Id="rId4" Type="http://schemas.openxmlformats.org/officeDocument/2006/relationships/tags" Target="../tags/tag152.xml"/></Relationships>
</file>

<file path=ppt/slides/_rels/slide28.xml.rels><?xml version="1.0" encoding="UTF-8" standalone="yes"?>
<Relationships xmlns="http://schemas.openxmlformats.org/package/2006/relationships"><Relationship Id="rId8" Type="http://schemas.openxmlformats.org/officeDocument/2006/relationships/slideLayout" Target="../slideLayouts/slideLayout7.xml"/><Relationship Id="rId3" Type="http://schemas.openxmlformats.org/officeDocument/2006/relationships/tags" Target="../tags/tag155.xml"/><Relationship Id="rId7" Type="http://schemas.openxmlformats.org/officeDocument/2006/relationships/tags" Target="../tags/tag159.xml"/><Relationship Id="rId2" Type="http://schemas.openxmlformats.org/officeDocument/2006/relationships/tags" Target="../tags/tag154.xml"/><Relationship Id="rId1" Type="http://schemas.openxmlformats.org/officeDocument/2006/relationships/tags" Target="../tags/tag153.xml"/><Relationship Id="rId6" Type="http://schemas.openxmlformats.org/officeDocument/2006/relationships/tags" Target="../tags/tag158.xml"/><Relationship Id="rId5" Type="http://schemas.openxmlformats.org/officeDocument/2006/relationships/tags" Target="../tags/tag157.xml"/><Relationship Id="rId4" Type="http://schemas.openxmlformats.org/officeDocument/2006/relationships/tags" Target="../tags/tag156.xml"/><Relationship Id="rId9"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28.xml"/><Relationship Id="rId3" Type="http://schemas.openxmlformats.org/officeDocument/2006/relationships/tags" Target="../tags/tag162.xml"/><Relationship Id="rId7" Type="http://schemas.openxmlformats.org/officeDocument/2006/relationships/slideLayout" Target="../slideLayouts/slideLayout1.xml"/><Relationship Id="rId2" Type="http://schemas.openxmlformats.org/officeDocument/2006/relationships/tags" Target="../tags/tag161.xml"/><Relationship Id="rId1" Type="http://schemas.openxmlformats.org/officeDocument/2006/relationships/tags" Target="../tags/tag160.xml"/><Relationship Id="rId6" Type="http://schemas.openxmlformats.org/officeDocument/2006/relationships/tags" Target="../tags/tag165.xml"/><Relationship Id="rId5" Type="http://schemas.openxmlformats.org/officeDocument/2006/relationships/tags" Target="../tags/tag164.xml"/><Relationship Id="rId4" Type="http://schemas.openxmlformats.org/officeDocument/2006/relationships/tags" Target="../tags/tag163.xml"/></Relationships>
</file>

<file path=ppt/slides/_rels/slide30.xml.rels><?xml version="1.0" encoding="UTF-8" standalone="yes"?>
<Relationships xmlns="http://schemas.openxmlformats.org/package/2006/relationships"><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tags" Target="../tags/tag166.xml"/><Relationship Id="rId6" Type="http://schemas.openxmlformats.org/officeDocument/2006/relationships/notesSlide" Target="../notesSlides/notesSlide29.xml"/><Relationship Id="rId5" Type="http://schemas.openxmlformats.org/officeDocument/2006/relationships/slideLayout" Target="../slideLayouts/slideLayout1.xml"/><Relationship Id="rId4" Type="http://schemas.openxmlformats.org/officeDocument/2006/relationships/tags" Target="../tags/tag169.xml"/></Relationships>
</file>

<file path=ppt/slides/_rels/slide31.xml.rels><?xml version="1.0" encoding="UTF-8" standalone="yes"?>
<Relationships xmlns="http://schemas.openxmlformats.org/package/2006/relationships"><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tags" Target="../tags/tag170.xml"/><Relationship Id="rId6" Type="http://schemas.openxmlformats.org/officeDocument/2006/relationships/notesSlide" Target="../notesSlides/notesSlide30.xml"/><Relationship Id="rId5" Type="http://schemas.openxmlformats.org/officeDocument/2006/relationships/slideLayout" Target="../slideLayouts/slideLayout1.xml"/><Relationship Id="rId4" Type="http://schemas.openxmlformats.org/officeDocument/2006/relationships/tags" Target="../tags/tag173.xml"/></Relationships>
</file>

<file path=ppt/slides/_rels/slide32.xml.rels><?xml version="1.0" encoding="UTF-8" standalone="yes"?>
<Relationships xmlns="http://schemas.openxmlformats.org/package/2006/relationships"><Relationship Id="rId3" Type="http://schemas.openxmlformats.org/officeDocument/2006/relationships/tags" Target="../tags/tag176.xml"/><Relationship Id="rId7" Type="http://schemas.openxmlformats.org/officeDocument/2006/relationships/notesSlide" Target="../notesSlides/notesSlide31.xml"/><Relationship Id="rId2" Type="http://schemas.openxmlformats.org/officeDocument/2006/relationships/tags" Target="../tags/tag175.xml"/><Relationship Id="rId1" Type="http://schemas.openxmlformats.org/officeDocument/2006/relationships/tags" Target="../tags/tag174.xml"/><Relationship Id="rId6" Type="http://schemas.openxmlformats.org/officeDocument/2006/relationships/slideLayout" Target="../slideLayouts/slideLayout1.xml"/><Relationship Id="rId5" Type="http://schemas.openxmlformats.org/officeDocument/2006/relationships/tags" Target="../tags/tag178.xml"/><Relationship Id="rId4" Type="http://schemas.openxmlformats.org/officeDocument/2006/relationships/tags" Target="../tags/tag177.xml"/></Relationships>
</file>

<file path=ppt/slides/_rels/slide33.xml.rels><?xml version="1.0" encoding="UTF-8" standalone="yes"?>
<Relationships xmlns="http://schemas.openxmlformats.org/package/2006/relationships"><Relationship Id="rId3" Type="http://schemas.openxmlformats.org/officeDocument/2006/relationships/tags" Target="../tags/tag181.xml"/><Relationship Id="rId2" Type="http://schemas.openxmlformats.org/officeDocument/2006/relationships/tags" Target="../tags/tag180.xml"/><Relationship Id="rId1" Type="http://schemas.openxmlformats.org/officeDocument/2006/relationships/tags" Target="../tags/tag179.xml"/><Relationship Id="rId6" Type="http://schemas.openxmlformats.org/officeDocument/2006/relationships/notesSlide" Target="../notesSlides/notesSlide32.xml"/><Relationship Id="rId5" Type="http://schemas.openxmlformats.org/officeDocument/2006/relationships/slideLayout" Target="../slideLayouts/slideLayout3.xml"/><Relationship Id="rId4" Type="http://schemas.openxmlformats.org/officeDocument/2006/relationships/tags" Target="../tags/tag182.xml"/></Relationships>
</file>

<file path=ppt/slides/_rels/slide34.xml.rels><?xml version="1.0" encoding="UTF-8" standalone="yes"?>
<Relationships xmlns="http://schemas.openxmlformats.org/package/2006/relationships"><Relationship Id="rId3" Type="http://schemas.openxmlformats.org/officeDocument/2006/relationships/tags" Target="../tags/tag185.xml"/><Relationship Id="rId7" Type="http://schemas.openxmlformats.org/officeDocument/2006/relationships/notesSlide" Target="../notesSlides/notesSlide33.xml"/><Relationship Id="rId2" Type="http://schemas.openxmlformats.org/officeDocument/2006/relationships/tags" Target="../tags/tag184.xml"/><Relationship Id="rId1" Type="http://schemas.openxmlformats.org/officeDocument/2006/relationships/tags" Target="../tags/tag183.xml"/><Relationship Id="rId6" Type="http://schemas.openxmlformats.org/officeDocument/2006/relationships/slideLayout" Target="../slideLayouts/slideLayout7.xml"/><Relationship Id="rId5" Type="http://schemas.openxmlformats.org/officeDocument/2006/relationships/tags" Target="../tags/tag187.xml"/><Relationship Id="rId4" Type="http://schemas.openxmlformats.org/officeDocument/2006/relationships/tags" Target="../tags/tag186.xml"/></Relationships>
</file>

<file path=ppt/slides/_rels/slide35.xml.rels><?xml version="1.0" encoding="UTF-8" standalone="yes"?>
<Relationships xmlns="http://schemas.openxmlformats.org/package/2006/relationships"><Relationship Id="rId3" Type="http://schemas.openxmlformats.org/officeDocument/2006/relationships/tags" Target="../tags/tag190.xml"/><Relationship Id="rId7" Type="http://schemas.openxmlformats.org/officeDocument/2006/relationships/notesSlide" Target="../notesSlides/notesSlide34.xml"/><Relationship Id="rId2" Type="http://schemas.openxmlformats.org/officeDocument/2006/relationships/tags" Target="../tags/tag189.xml"/><Relationship Id="rId1" Type="http://schemas.openxmlformats.org/officeDocument/2006/relationships/tags" Target="../tags/tag188.xml"/><Relationship Id="rId6" Type="http://schemas.openxmlformats.org/officeDocument/2006/relationships/slideLayout" Target="../slideLayouts/slideLayout7.xml"/><Relationship Id="rId5" Type="http://schemas.openxmlformats.org/officeDocument/2006/relationships/tags" Target="../tags/tag192.xml"/><Relationship Id="rId4" Type="http://schemas.openxmlformats.org/officeDocument/2006/relationships/tags" Target="../tags/tag191.xml"/></Relationships>
</file>

<file path=ppt/slides/_rels/slide36.xml.rels><?xml version="1.0" encoding="UTF-8" standalone="yes"?>
<Relationships xmlns="http://schemas.openxmlformats.org/package/2006/relationships"><Relationship Id="rId8" Type="http://schemas.openxmlformats.org/officeDocument/2006/relationships/notesSlide" Target="../notesSlides/notesSlide35.xml"/><Relationship Id="rId3" Type="http://schemas.openxmlformats.org/officeDocument/2006/relationships/tags" Target="../tags/tag195.xml"/><Relationship Id="rId7" Type="http://schemas.openxmlformats.org/officeDocument/2006/relationships/slideLayout" Target="../slideLayouts/slideLayout1.xml"/><Relationship Id="rId2" Type="http://schemas.openxmlformats.org/officeDocument/2006/relationships/tags" Target="../tags/tag194.xml"/><Relationship Id="rId1" Type="http://schemas.openxmlformats.org/officeDocument/2006/relationships/tags" Target="../tags/tag193.xml"/><Relationship Id="rId6" Type="http://schemas.openxmlformats.org/officeDocument/2006/relationships/tags" Target="../tags/tag198.xml"/><Relationship Id="rId5" Type="http://schemas.openxmlformats.org/officeDocument/2006/relationships/tags" Target="../tags/tag197.xml"/><Relationship Id="rId4" Type="http://schemas.openxmlformats.org/officeDocument/2006/relationships/tags" Target="../tags/tag196.xml"/></Relationships>
</file>

<file path=ppt/slides/_rels/slide37.xml.rels><?xml version="1.0" encoding="UTF-8" standalone="yes"?>
<Relationships xmlns="http://schemas.openxmlformats.org/package/2006/relationships"><Relationship Id="rId8" Type="http://schemas.openxmlformats.org/officeDocument/2006/relationships/notesSlide" Target="../notesSlides/notesSlide36.xml"/><Relationship Id="rId3" Type="http://schemas.openxmlformats.org/officeDocument/2006/relationships/tags" Target="../tags/tag201.xml"/><Relationship Id="rId7" Type="http://schemas.openxmlformats.org/officeDocument/2006/relationships/slideLayout" Target="../slideLayouts/slideLayout1.xml"/><Relationship Id="rId2" Type="http://schemas.openxmlformats.org/officeDocument/2006/relationships/tags" Target="../tags/tag200.xml"/><Relationship Id="rId1" Type="http://schemas.openxmlformats.org/officeDocument/2006/relationships/tags" Target="../tags/tag199.xml"/><Relationship Id="rId6" Type="http://schemas.openxmlformats.org/officeDocument/2006/relationships/tags" Target="../tags/tag204.xml"/><Relationship Id="rId5" Type="http://schemas.openxmlformats.org/officeDocument/2006/relationships/tags" Target="../tags/tag203.xml"/><Relationship Id="rId4" Type="http://schemas.openxmlformats.org/officeDocument/2006/relationships/tags" Target="../tags/tag202.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06.xml"/><Relationship Id="rId1" Type="http://schemas.openxmlformats.org/officeDocument/2006/relationships/tags" Target="../tags/tag205.xml"/><Relationship Id="rId4"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8" Type="http://schemas.openxmlformats.org/officeDocument/2006/relationships/tags" Target="../tags/tag214.xml"/><Relationship Id="rId13" Type="http://schemas.openxmlformats.org/officeDocument/2006/relationships/tags" Target="../tags/tag219.xml"/><Relationship Id="rId3" Type="http://schemas.openxmlformats.org/officeDocument/2006/relationships/tags" Target="../tags/tag209.xml"/><Relationship Id="rId7" Type="http://schemas.openxmlformats.org/officeDocument/2006/relationships/tags" Target="../tags/tag213.xml"/><Relationship Id="rId12" Type="http://schemas.openxmlformats.org/officeDocument/2006/relationships/tags" Target="../tags/tag218.xml"/><Relationship Id="rId2" Type="http://schemas.openxmlformats.org/officeDocument/2006/relationships/tags" Target="../tags/tag208.xml"/><Relationship Id="rId16" Type="http://schemas.openxmlformats.org/officeDocument/2006/relationships/notesSlide" Target="../notesSlides/notesSlide38.xml"/><Relationship Id="rId1" Type="http://schemas.openxmlformats.org/officeDocument/2006/relationships/tags" Target="../tags/tag207.xml"/><Relationship Id="rId6" Type="http://schemas.openxmlformats.org/officeDocument/2006/relationships/tags" Target="../tags/tag212.xml"/><Relationship Id="rId11" Type="http://schemas.openxmlformats.org/officeDocument/2006/relationships/tags" Target="../tags/tag217.xml"/><Relationship Id="rId5" Type="http://schemas.openxmlformats.org/officeDocument/2006/relationships/tags" Target="../tags/tag211.xml"/><Relationship Id="rId15" Type="http://schemas.openxmlformats.org/officeDocument/2006/relationships/slideLayout" Target="../slideLayouts/slideLayout25.xml"/><Relationship Id="rId10" Type="http://schemas.openxmlformats.org/officeDocument/2006/relationships/tags" Target="../tags/tag216.xml"/><Relationship Id="rId4" Type="http://schemas.openxmlformats.org/officeDocument/2006/relationships/tags" Target="../tags/tag210.xml"/><Relationship Id="rId9" Type="http://schemas.openxmlformats.org/officeDocument/2006/relationships/tags" Target="../tags/tag215.xml"/><Relationship Id="rId14" Type="http://schemas.openxmlformats.org/officeDocument/2006/relationships/tags" Target="../tags/tag220.xml"/></Relationships>
</file>

<file path=ppt/slides/_rels/slide40.xml.rels><?xml version="1.0" encoding="UTF-8" standalone="yes"?>
<Relationships xmlns="http://schemas.openxmlformats.org/package/2006/relationships"><Relationship Id="rId3" Type="http://schemas.openxmlformats.org/officeDocument/2006/relationships/tags" Target="../tags/tag223.xml"/><Relationship Id="rId2" Type="http://schemas.openxmlformats.org/officeDocument/2006/relationships/tags" Target="../tags/tag222.xml"/><Relationship Id="rId1" Type="http://schemas.openxmlformats.org/officeDocument/2006/relationships/tags" Target="../tags/tag221.xml"/><Relationship Id="rId6" Type="http://schemas.openxmlformats.org/officeDocument/2006/relationships/notesSlide" Target="../notesSlides/notesSlide39.xml"/><Relationship Id="rId5" Type="http://schemas.openxmlformats.org/officeDocument/2006/relationships/slideLayout" Target="../slideLayouts/slideLayout1.xml"/><Relationship Id="rId4" Type="http://schemas.openxmlformats.org/officeDocument/2006/relationships/tags" Target="../tags/tag224.xml"/></Relationships>
</file>

<file path=ppt/slides/_rels/slide41.xml.rels><?xml version="1.0" encoding="UTF-8" standalone="yes"?>
<Relationships xmlns="http://schemas.openxmlformats.org/package/2006/relationships"><Relationship Id="rId3" Type="http://schemas.openxmlformats.org/officeDocument/2006/relationships/tags" Target="../tags/tag227.xml"/><Relationship Id="rId2" Type="http://schemas.openxmlformats.org/officeDocument/2006/relationships/tags" Target="../tags/tag226.xml"/><Relationship Id="rId1" Type="http://schemas.openxmlformats.org/officeDocument/2006/relationships/tags" Target="../tags/tag225.xml"/><Relationship Id="rId6" Type="http://schemas.openxmlformats.org/officeDocument/2006/relationships/notesSlide" Target="../notesSlides/notesSlide40.xml"/><Relationship Id="rId5" Type="http://schemas.openxmlformats.org/officeDocument/2006/relationships/slideLayout" Target="../slideLayouts/slideLayout2.xml"/><Relationship Id="rId4" Type="http://schemas.openxmlformats.org/officeDocument/2006/relationships/tags" Target="../tags/tag228.xml"/></Relationships>
</file>

<file path=ppt/slides/_rels/slide42.xml.rels><?xml version="1.0" encoding="UTF-8" standalone="yes"?>
<Relationships xmlns="http://schemas.openxmlformats.org/package/2006/relationships"><Relationship Id="rId3" Type="http://schemas.openxmlformats.org/officeDocument/2006/relationships/tags" Target="../tags/tag231.xml"/><Relationship Id="rId7" Type="http://schemas.openxmlformats.org/officeDocument/2006/relationships/notesSlide" Target="../notesSlides/notesSlide41.xml"/><Relationship Id="rId2" Type="http://schemas.openxmlformats.org/officeDocument/2006/relationships/tags" Target="../tags/tag230.xml"/><Relationship Id="rId1" Type="http://schemas.openxmlformats.org/officeDocument/2006/relationships/tags" Target="../tags/tag229.xml"/><Relationship Id="rId6" Type="http://schemas.openxmlformats.org/officeDocument/2006/relationships/slideLayout" Target="../slideLayouts/slideLayout23.xml"/><Relationship Id="rId5" Type="http://schemas.openxmlformats.org/officeDocument/2006/relationships/tags" Target="../tags/tag233.xml"/><Relationship Id="rId4" Type="http://schemas.openxmlformats.org/officeDocument/2006/relationships/tags" Target="../tags/tag232.xml"/></Relationships>
</file>

<file path=ppt/slides/_rels/slide43.xml.rels><?xml version="1.0" encoding="UTF-8" standalone="yes"?>
<Relationships xmlns="http://schemas.openxmlformats.org/package/2006/relationships"><Relationship Id="rId3" Type="http://schemas.openxmlformats.org/officeDocument/2006/relationships/tags" Target="../tags/tag236.xml"/><Relationship Id="rId7" Type="http://schemas.openxmlformats.org/officeDocument/2006/relationships/notesSlide" Target="../notesSlides/notesSlide42.xml"/><Relationship Id="rId2" Type="http://schemas.openxmlformats.org/officeDocument/2006/relationships/tags" Target="../tags/tag235.xml"/><Relationship Id="rId1" Type="http://schemas.openxmlformats.org/officeDocument/2006/relationships/tags" Target="../tags/tag234.xml"/><Relationship Id="rId6" Type="http://schemas.openxmlformats.org/officeDocument/2006/relationships/slideLayout" Target="../slideLayouts/slideLayout7.xml"/><Relationship Id="rId5" Type="http://schemas.openxmlformats.org/officeDocument/2006/relationships/tags" Target="../tags/tag238.xml"/><Relationship Id="rId4" Type="http://schemas.openxmlformats.org/officeDocument/2006/relationships/tags" Target="../tags/tag237.xml"/></Relationships>
</file>

<file path=ppt/slides/_rels/slide44.xml.rels><?xml version="1.0" encoding="UTF-8" standalone="yes"?>
<Relationships xmlns="http://schemas.openxmlformats.org/package/2006/relationships"><Relationship Id="rId3" Type="http://schemas.openxmlformats.org/officeDocument/2006/relationships/tags" Target="../tags/tag241.xml"/><Relationship Id="rId7" Type="http://schemas.openxmlformats.org/officeDocument/2006/relationships/notesSlide" Target="../notesSlides/notesSlide43.xml"/><Relationship Id="rId2" Type="http://schemas.openxmlformats.org/officeDocument/2006/relationships/tags" Target="../tags/tag240.xml"/><Relationship Id="rId1" Type="http://schemas.openxmlformats.org/officeDocument/2006/relationships/tags" Target="../tags/tag239.xml"/><Relationship Id="rId6" Type="http://schemas.openxmlformats.org/officeDocument/2006/relationships/slideLayout" Target="../slideLayouts/slideLayout7.xml"/><Relationship Id="rId5" Type="http://schemas.openxmlformats.org/officeDocument/2006/relationships/tags" Target="../tags/tag243.xml"/><Relationship Id="rId4" Type="http://schemas.openxmlformats.org/officeDocument/2006/relationships/tags" Target="../tags/tag242.xml"/></Relationships>
</file>

<file path=ppt/slides/_rels/slide45.xml.rels><?xml version="1.0" encoding="UTF-8" standalone="yes"?>
<Relationships xmlns="http://schemas.openxmlformats.org/package/2006/relationships"><Relationship Id="rId8" Type="http://schemas.openxmlformats.org/officeDocument/2006/relationships/notesSlide" Target="../notesSlides/notesSlide44.xml"/><Relationship Id="rId3" Type="http://schemas.openxmlformats.org/officeDocument/2006/relationships/tags" Target="../tags/tag246.xml"/><Relationship Id="rId7" Type="http://schemas.openxmlformats.org/officeDocument/2006/relationships/slideLayout" Target="../slideLayouts/slideLayout23.xml"/><Relationship Id="rId2" Type="http://schemas.openxmlformats.org/officeDocument/2006/relationships/tags" Target="../tags/tag245.xml"/><Relationship Id="rId1" Type="http://schemas.openxmlformats.org/officeDocument/2006/relationships/tags" Target="../tags/tag244.xml"/><Relationship Id="rId6" Type="http://schemas.openxmlformats.org/officeDocument/2006/relationships/tags" Target="../tags/tag249.xml"/><Relationship Id="rId5" Type="http://schemas.openxmlformats.org/officeDocument/2006/relationships/tags" Target="../tags/tag248.xml"/><Relationship Id="rId4" Type="http://schemas.openxmlformats.org/officeDocument/2006/relationships/tags" Target="../tags/tag247.xml"/></Relationships>
</file>

<file path=ppt/slides/_rels/slide46.xml.rels><?xml version="1.0" encoding="UTF-8" standalone="yes"?>
<Relationships xmlns="http://schemas.openxmlformats.org/package/2006/relationships"><Relationship Id="rId8" Type="http://schemas.openxmlformats.org/officeDocument/2006/relationships/tags" Target="../tags/tag256.xml"/><Relationship Id="rId13" Type="http://schemas.openxmlformats.org/officeDocument/2006/relationships/tags" Target="../tags/tag261.xml"/><Relationship Id="rId18" Type="http://schemas.openxmlformats.org/officeDocument/2006/relationships/notesSlide" Target="../notesSlides/notesSlide45.xml"/><Relationship Id="rId3" Type="http://schemas.openxmlformats.org/officeDocument/2006/relationships/tags" Target="../tags/tag251.xml"/><Relationship Id="rId7" Type="http://schemas.openxmlformats.org/officeDocument/2006/relationships/tags" Target="../tags/tag255.xml"/><Relationship Id="rId12" Type="http://schemas.openxmlformats.org/officeDocument/2006/relationships/tags" Target="../tags/tag260.xml"/><Relationship Id="rId17" Type="http://schemas.openxmlformats.org/officeDocument/2006/relationships/slideLayout" Target="../slideLayouts/slideLayout1.xml"/><Relationship Id="rId2" Type="http://schemas.openxmlformats.org/officeDocument/2006/relationships/tags" Target="../tags/tag250.xml"/><Relationship Id="rId16" Type="http://schemas.openxmlformats.org/officeDocument/2006/relationships/tags" Target="../tags/tag264.xml"/><Relationship Id="rId20" Type="http://schemas.openxmlformats.org/officeDocument/2006/relationships/image" Target="../media/image10.svg"/><Relationship Id="rId1" Type="http://schemas.openxmlformats.org/officeDocument/2006/relationships/themeOverride" Target="../theme/themeOverride1.xml"/><Relationship Id="rId6" Type="http://schemas.openxmlformats.org/officeDocument/2006/relationships/tags" Target="../tags/tag254.xml"/><Relationship Id="rId11" Type="http://schemas.openxmlformats.org/officeDocument/2006/relationships/tags" Target="../tags/tag259.xml"/><Relationship Id="rId5" Type="http://schemas.openxmlformats.org/officeDocument/2006/relationships/tags" Target="../tags/tag253.xml"/><Relationship Id="rId15" Type="http://schemas.openxmlformats.org/officeDocument/2006/relationships/tags" Target="../tags/tag263.xml"/><Relationship Id="rId10" Type="http://schemas.openxmlformats.org/officeDocument/2006/relationships/tags" Target="../tags/tag258.xml"/><Relationship Id="rId19" Type="http://schemas.openxmlformats.org/officeDocument/2006/relationships/image" Target="../media/image9.svg"/><Relationship Id="rId4" Type="http://schemas.openxmlformats.org/officeDocument/2006/relationships/tags" Target="../tags/tag252.xml"/><Relationship Id="rId9" Type="http://schemas.openxmlformats.org/officeDocument/2006/relationships/tags" Target="../tags/tag257.xml"/><Relationship Id="rId14" Type="http://schemas.openxmlformats.org/officeDocument/2006/relationships/tags" Target="../tags/tag26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body" idx="1"/>
            <p:custDataLst>
              <p:tags r:id="rId1"/>
            </p:custDataLst>
          </p:nvPr>
        </p:nvSpPr>
        <p:spPr>
          <a:xfrm>
            <a:off x="841248" y="3194857"/>
            <a:ext cx="5808448" cy="911117"/>
          </a:xfrm>
        </p:spPr>
        <p:style>
          <a:lnRef idx="2">
            <a:schemeClr val="accent1"/>
          </a:lnRef>
          <a:fillRef idx="1">
            <a:schemeClr val="lt1"/>
          </a:fillRef>
          <a:effectRef idx="0">
            <a:schemeClr val="accent1"/>
          </a:effectRef>
          <a:fontRef idx="minor">
            <a:schemeClr val="dk1"/>
          </a:fontRef>
        </p:style>
        <p:txBody>
          <a:bodyPr vert="horz" lIns="91440" tIns="45720" rIns="91440" bIns="45720" rtlCol="0" anchor="t">
            <a:normAutofit/>
          </a:bodyPr>
          <a:lstStyle/>
          <a:p>
            <a:r>
              <a:rPr lang="en-US" sz="2000" dirty="0">
                <a:solidFill>
                  <a:schemeClr val="tx1"/>
                </a:solidFill>
              </a:rPr>
              <a:t>Département de sciences </a:t>
            </a:r>
            <a:r>
              <a:rPr lang="en-US" sz="2000" dirty="0" err="1">
                <a:solidFill>
                  <a:schemeClr val="tx1"/>
                </a:solidFill>
              </a:rPr>
              <a:t>comptables</a:t>
            </a:r>
            <a:endParaRPr lang="en-US" sz="2000" dirty="0">
              <a:solidFill>
                <a:schemeClr val="tx1"/>
              </a:solidFill>
            </a:endParaRPr>
          </a:p>
          <a:p>
            <a:r>
              <a:rPr lang="en-US" sz="2000" dirty="0">
                <a:solidFill>
                  <a:schemeClr val="tx1"/>
                </a:solidFill>
              </a:rPr>
              <a:t>Année </a:t>
            </a:r>
            <a:r>
              <a:rPr lang="en-US" sz="2000" dirty="0" err="1">
                <a:solidFill>
                  <a:schemeClr val="tx1"/>
                </a:solidFill>
              </a:rPr>
              <a:t>universitaire</a:t>
            </a:r>
            <a:r>
              <a:rPr lang="en-US" sz="2000" dirty="0">
                <a:solidFill>
                  <a:schemeClr val="tx1"/>
                </a:solidFill>
              </a:rPr>
              <a:t> 2026-2027</a:t>
            </a:r>
            <a:endParaRPr lang="en-US" sz="2000" dirty="0">
              <a:solidFill>
                <a:schemeClr val="tx1"/>
              </a:solidFill>
              <a:ea typeface="Calibri"/>
              <a:cs typeface="Calibri"/>
            </a:endParaRPr>
          </a:p>
        </p:txBody>
      </p:sp>
      <p:sp>
        <p:nvSpPr>
          <p:cNvPr id="2" name="Titre 1"/>
          <p:cNvSpPr>
            <a:spLocks noGrp="1"/>
          </p:cNvSpPr>
          <p:nvPr>
            <p:ph type="title"/>
            <p:custDataLst>
              <p:tags r:id="rId2"/>
            </p:custDataLst>
          </p:nvPr>
        </p:nvSpPr>
        <p:spPr>
          <a:xfrm>
            <a:off x="841248" y="1380847"/>
            <a:ext cx="6270964" cy="1807054"/>
          </a:xfrm>
        </p:spPr>
        <p:style>
          <a:lnRef idx="2">
            <a:schemeClr val="accent6"/>
          </a:lnRef>
          <a:fillRef idx="1">
            <a:schemeClr val="lt1"/>
          </a:fillRef>
          <a:effectRef idx="0">
            <a:schemeClr val="accent6"/>
          </a:effectRef>
          <a:fontRef idx="minor">
            <a:schemeClr val="dk1"/>
          </a:fontRef>
        </p:style>
        <p:txBody>
          <a:bodyPr vert="horz" lIns="91440" tIns="45720" rIns="91440" bIns="45720" rtlCol="0" anchor="b">
            <a:normAutofit/>
          </a:bodyPr>
          <a:lstStyle/>
          <a:p>
            <a:r>
              <a:rPr lang="en-US" sz="3800" dirty="0" err="1">
                <a:solidFill>
                  <a:schemeClr val="tx1"/>
                </a:solidFill>
                <a:latin typeface="+mj-lt"/>
                <a:ea typeface="+mj-ea"/>
                <a:cs typeface="+mj-cs"/>
              </a:rPr>
              <a:t>Comptabilité</a:t>
            </a:r>
            <a:r>
              <a:rPr lang="en-US" sz="3800" dirty="0">
                <a:solidFill>
                  <a:schemeClr val="tx1"/>
                </a:solidFill>
                <a:latin typeface="+mj-lt"/>
                <a:ea typeface="+mj-ea"/>
                <a:cs typeface="+mj-cs"/>
              </a:rPr>
              <a:t> de gestion</a:t>
            </a:r>
            <a:br>
              <a:rPr lang="en-US" sz="3800" dirty="0">
                <a:latin typeface="+mj-lt"/>
                <a:ea typeface="+mj-ea"/>
                <a:cs typeface="+mj-cs"/>
              </a:rPr>
            </a:br>
            <a:r>
              <a:rPr lang="en-US" sz="3800" dirty="0">
                <a:solidFill>
                  <a:schemeClr val="tx1"/>
                </a:solidFill>
                <a:latin typeface="+mj-lt"/>
                <a:ea typeface="+mj-ea"/>
                <a:cs typeface="+mj-cs"/>
              </a:rPr>
              <a:t>(10904) – Séance 3</a:t>
            </a:r>
            <a:br>
              <a:rPr lang="en-US" sz="3800" dirty="0">
                <a:latin typeface="+mj-lt"/>
                <a:ea typeface="+mj-ea"/>
                <a:cs typeface="+mj-cs"/>
              </a:rPr>
            </a:br>
            <a:r>
              <a:rPr lang="en-US" sz="3800" dirty="0">
                <a:solidFill>
                  <a:schemeClr val="tx1"/>
                </a:solidFill>
                <a:latin typeface="+mj-lt"/>
                <a:ea typeface="+mj-ea"/>
                <a:cs typeface="+mj-cs"/>
              </a:rPr>
              <a:t>Séance </a:t>
            </a:r>
            <a:r>
              <a:rPr lang="en-US" sz="3800" dirty="0" err="1">
                <a:solidFill>
                  <a:schemeClr val="tx1"/>
                </a:solidFill>
                <a:latin typeface="+mj-lt"/>
                <a:ea typeface="+mj-ea"/>
                <a:cs typeface="+mj-cs"/>
              </a:rPr>
              <a:t>en</a:t>
            </a:r>
            <a:r>
              <a:rPr lang="en-US" sz="3800" dirty="0">
                <a:solidFill>
                  <a:schemeClr val="tx1"/>
                </a:solidFill>
                <a:latin typeface="+mj-lt"/>
                <a:ea typeface="+mj-ea"/>
                <a:cs typeface="+mj-cs"/>
              </a:rPr>
              <a:t> </a:t>
            </a:r>
            <a:r>
              <a:rPr lang="en-US" sz="3800" dirty="0" err="1">
                <a:solidFill>
                  <a:schemeClr val="tx1"/>
                </a:solidFill>
                <a:latin typeface="+mj-lt"/>
                <a:ea typeface="+mj-ea"/>
                <a:cs typeface="+mj-cs"/>
              </a:rPr>
              <a:t>classe</a:t>
            </a:r>
            <a:endParaRPr lang="en-US" sz="3800" dirty="0">
              <a:solidFill>
                <a:schemeClr val="tx1"/>
              </a:solidFill>
              <a:latin typeface="+mj-lt"/>
              <a:ea typeface="+mj-ea"/>
              <a:cs typeface="+mj-cs"/>
            </a:endParaRPr>
          </a:p>
        </p:txBody>
      </p:sp>
      <p:sp>
        <p:nvSpPr>
          <p:cNvPr id="7" name="Espace réservé du pied de page 6">
            <a:extLst>
              <a:ext uri="{FF2B5EF4-FFF2-40B4-BE49-F238E27FC236}">
                <a16:creationId xmlns:a16="http://schemas.microsoft.com/office/drawing/2014/main" id="{9B810BA0-F7A4-4878-95AF-BB4297265AEB}"/>
              </a:ext>
            </a:extLst>
          </p:cNvPr>
          <p:cNvSpPr>
            <a:spLocks noGrp="1"/>
          </p:cNvSpPr>
          <p:nvPr>
            <p:ph type="ftr" sz="quarter" idx="11"/>
            <p:custDataLst>
              <p:tags r:id="rId3"/>
            </p:custDataLst>
          </p:nvPr>
        </p:nvSpPr>
        <p:spPr>
          <a:xfrm>
            <a:off x="7112212" y="6355080"/>
            <a:ext cx="4241588" cy="365125"/>
          </a:xfrm>
        </p:spPr>
        <p:txBody>
          <a:bodyPr vert="horz" lIns="91440" tIns="45720" rIns="91440" bIns="45720" rtlCol="0" anchor="ctr">
            <a:normAutofit/>
          </a:bodyPr>
          <a:lstStyle/>
          <a:p>
            <a:pPr algn="r">
              <a:spcAft>
                <a:spcPts val="600"/>
              </a:spcAft>
              <a:defRPr/>
            </a:pPr>
            <a:r>
              <a:rPr lang="pt-BR" kern="1200">
                <a:solidFill>
                  <a:srgbClr val="FFFFFF">
                    <a:alpha val="80000"/>
                  </a:srgbClr>
                </a:solidFill>
                <a:latin typeface="Calibri" panose="020F0502020204030204"/>
                <a:ea typeface="+mn-ea"/>
                <a:cs typeface="+mn-cs"/>
              </a:rPr>
              <a:t>(c) 10904 / S03 - Version H2024</a:t>
            </a:r>
            <a:endParaRPr lang="en-US" kern="1200">
              <a:solidFill>
                <a:srgbClr val="FFFFFF">
                  <a:alpha val="80000"/>
                </a:srgbClr>
              </a:solidFill>
              <a:latin typeface="Calibri" panose="020F0502020204030204"/>
              <a:ea typeface="+mn-ea"/>
              <a:cs typeface="+mn-cs"/>
            </a:endParaRPr>
          </a:p>
        </p:txBody>
      </p:sp>
      <p:sp>
        <p:nvSpPr>
          <p:cNvPr id="5" name="Espace réservé du numéro de diapositive 4">
            <a:extLst>
              <a:ext uri="{FF2B5EF4-FFF2-40B4-BE49-F238E27FC236}">
                <a16:creationId xmlns:a16="http://schemas.microsoft.com/office/drawing/2014/main" id="{53126ACE-D29A-4EF2-F941-C04F61874D68}"/>
              </a:ext>
            </a:extLst>
          </p:cNvPr>
          <p:cNvSpPr>
            <a:spLocks noGrp="1"/>
          </p:cNvSpPr>
          <p:nvPr>
            <p:ph type="sldNum" sz="quarter" idx="12"/>
            <p:custDataLst>
              <p:tags r:id="rId4"/>
            </p:custDataLst>
          </p:nvPr>
        </p:nvSpPr>
        <p:spPr/>
        <p:txBody>
          <a:bodyPr/>
          <a:lstStyle/>
          <a:p>
            <a:fld id="{1F20FBA3-27E4-4E13-841E-B59ED0E8E620}" type="slidenum">
              <a:rPr lang="fr-CA" smtClean="0">
                <a:solidFill>
                  <a:prstClr val="black">
                    <a:tint val="75000"/>
                  </a:prstClr>
                </a:solidFill>
              </a:rPr>
              <a:pPr/>
              <a:t>1</a:t>
            </a:fld>
            <a:endParaRPr lang="fr-CA">
              <a:solidFill>
                <a:prstClr val="black">
                  <a:tint val="75000"/>
                </a:prstClr>
              </a:solidFill>
            </a:endParaRPr>
          </a:p>
        </p:txBody>
      </p:sp>
    </p:spTree>
    <p:extLst>
      <p:ext uri="{BB962C8B-B14F-4D97-AF65-F5344CB8AC3E}">
        <p14:creationId xmlns:p14="http://schemas.microsoft.com/office/powerpoint/2010/main" val="1211245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09E6DE-5434-90FE-8706-3A380747A594}"/>
              </a:ext>
            </a:extLst>
          </p:cNvPr>
          <p:cNvSpPr>
            <a:spLocks noGrp="1"/>
          </p:cNvSpPr>
          <p:nvPr>
            <p:ph type="title"/>
            <p:custDataLst>
              <p:tags r:id="rId1"/>
            </p:custDataLst>
          </p:nvPr>
        </p:nvSpPr>
        <p:spPr/>
        <p:txBody>
          <a:bodyPr/>
          <a:lstStyle/>
          <a:p>
            <a:r>
              <a:rPr lang="fr-CA" dirty="0"/>
              <a:t>Révision S02 - Analyse Coût-Volume-Résultat</a:t>
            </a:r>
          </a:p>
        </p:txBody>
      </p:sp>
      <p:sp>
        <p:nvSpPr>
          <p:cNvPr id="3" name="Espace réservé du contenu 2">
            <a:extLst>
              <a:ext uri="{FF2B5EF4-FFF2-40B4-BE49-F238E27FC236}">
                <a16:creationId xmlns:a16="http://schemas.microsoft.com/office/drawing/2014/main" id="{EF77D2A3-5411-8E1E-71B3-F93DFCE2F770}"/>
              </a:ext>
            </a:extLst>
          </p:cNvPr>
          <p:cNvSpPr>
            <a:spLocks noGrp="1"/>
          </p:cNvSpPr>
          <p:nvPr>
            <p:ph idx="1"/>
            <p:custDataLst>
              <p:tags r:id="rId2"/>
            </p:custDataLst>
          </p:nvPr>
        </p:nvSpPr>
        <p:spPr>
          <a:xfrm>
            <a:off x="310662" y="1467851"/>
            <a:ext cx="11043138" cy="1445166"/>
          </a:xfrm>
        </p:spPr>
        <p:txBody>
          <a:bodyPr>
            <a:normAutofit/>
          </a:bodyPr>
          <a:lstStyle/>
          <a:p>
            <a:r>
              <a:rPr lang="fr-CA" sz="2400" dirty="0" err="1"/>
              <a:t>FlashCo</a:t>
            </a:r>
            <a:r>
              <a:rPr lang="fr-CA" sz="2400" dirty="0"/>
              <a:t> fabrique des clés USB 64 GB. L'entreprise a la capacité de produire jusqu'à 200 000 unités par mois. Le tableau ci-dessous présente le prix de vente ainsi que les différents coûts </a:t>
            </a:r>
            <a:r>
              <a:rPr lang="fr-CA" sz="2400" u="sng" dirty="0"/>
              <a:t>mensuels</a:t>
            </a:r>
            <a:r>
              <a:rPr lang="fr-CA" sz="2400" dirty="0"/>
              <a:t> : </a:t>
            </a:r>
          </a:p>
        </p:txBody>
      </p:sp>
      <p:graphicFrame>
        <p:nvGraphicFramePr>
          <p:cNvPr id="5" name="Tableau 4">
            <a:extLst>
              <a:ext uri="{FF2B5EF4-FFF2-40B4-BE49-F238E27FC236}">
                <a16:creationId xmlns:a16="http://schemas.microsoft.com/office/drawing/2014/main" id="{29A93ECE-3CB7-AEA2-6DC3-21EFEBF81ABF}"/>
              </a:ext>
            </a:extLst>
          </p:cNvPr>
          <p:cNvGraphicFramePr>
            <a:graphicFrameLocks noGrp="1"/>
          </p:cNvGraphicFramePr>
          <p:nvPr>
            <p:custDataLst>
              <p:tags r:id="rId3"/>
            </p:custDataLst>
            <p:extLst>
              <p:ext uri="{D42A27DB-BD31-4B8C-83A1-F6EECF244321}">
                <p14:modId xmlns:p14="http://schemas.microsoft.com/office/powerpoint/2010/main" val="2463973823"/>
              </p:ext>
            </p:extLst>
          </p:nvPr>
        </p:nvGraphicFramePr>
        <p:xfrm>
          <a:off x="6096000" y="2393461"/>
          <a:ext cx="5660572" cy="3926414"/>
        </p:xfrm>
        <a:graphic>
          <a:graphicData uri="http://schemas.openxmlformats.org/drawingml/2006/table">
            <a:tbl>
              <a:tblPr firstRow="1" firstCol="1" bandRow="1">
                <a:tableStyleId>{3B4B98B0-60AC-42C2-AFA5-B58CD77FA1E5}</a:tableStyleId>
              </a:tblPr>
              <a:tblGrid>
                <a:gridCol w="4293134">
                  <a:extLst>
                    <a:ext uri="{9D8B030D-6E8A-4147-A177-3AD203B41FA5}">
                      <a16:colId xmlns:a16="http://schemas.microsoft.com/office/drawing/2014/main" val="3753446577"/>
                    </a:ext>
                  </a:extLst>
                </a:gridCol>
                <a:gridCol w="1367438">
                  <a:extLst>
                    <a:ext uri="{9D8B030D-6E8A-4147-A177-3AD203B41FA5}">
                      <a16:colId xmlns:a16="http://schemas.microsoft.com/office/drawing/2014/main" val="2817149182"/>
                    </a:ext>
                  </a:extLst>
                </a:gridCol>
              </a:tblGrid>
              <a:tr h="1208129">
                <a:tc>
                  <a:txBody>
                    <a:bodyPr/>
                    <a:lstStyle/>
                    <a:p>
                      <a:pPr>
                        <a:lnSpc>
                          <a:spcPct val="100000"/>
                        </a:lnSpc>
                        <a:spcAft>
                          <a:spcPts val="0"/>
                        </a:spcAft>
                      </a:pPr>
                      <a:r>
                        <a:rPr lang="en-CA" sz="1800" dirty="0">
                          <a:effectLst/>
                        </a:rPr>
                        <a:t>Prix de vente </a:t>
                      </a:r>
                      <a:r>
                        <a:rPr lang="en-CA" sz="1800" dirty="0" err="1">
                          <a:effectLst/>
                        </a:rPr>
                        <a:t>unitaire</a:t>
                      </a:r>
                      <a:r>
                        <a:rPr lang="en-CA" sz="1800" dirty="0">
                          <a:effectLst/>
                        </a:rPr>
                        <a:t> </a:t>
                      </a:r>
                    </a:p>
                    <a:p>
                      <a:pPr>
                        <a:lnSpc>
                          <a:spcPct val="100000"/>
                        </a:lnSpc>
                        <a:spcAft>
                          <a:spcPts val="0"/>
                        </a:spcAft>
                      </a:pPr>
                      <a:endParaRPr lang="fr-CA" sz="1800" dirty="0">
                        <a:effectLst/>
                      </a:endParaRPr>
                    </a:p>
                    <a:p>
                      <a:pPr>
                        <a:lnSpc>
                          <a:spcPct val="100000"/>
                        </a:lnSpc>
                        <a:spcAft>
                          <a:spcPts val="0"/>
                        </a:spcAft>
                      </a:pPr>
                      <a:r>
                        <a:rPr lang="en-CA" sz="1800" dirty="0">
                          <a:effectLst/>
                        </a:rPr>
                        <a:t>(Volume de vente </a:t>
                      </a:r>
                      <a:r>
                        <a:rPr lang="en-CA" sz="1800" dirty="0" err="1">
                          <a:effectLst/>
                        </a:rPr>
                        <a:t>actuel</a:t>
                      </a:r>
                      <a:r>
                        <a:rPr lang="en-CA" sz="1800" dirty="0">
                          <a:effectLst/>
                        </a:rPr>
                        <a:t> 120 000 </a:t>
                      </a:r>
                      <a:r>
                        <a:rPr lang="en-CA" sz="1800" dirty="0" err="1">
                          <a:effectLst/>
                        </a:rPr>
                        <a:t>unités</a:t>
                      </a:r>
                      <a:r>
                        <a:rPr lang="en-CA" sz="1800" dirty="0">
                          <a:effectLst/>
                        </a:rPr>
                        <a:t>)</a:t>
                      </a:r>
                    </a:p>
                    <a:p>
                      <a:pPr>
                        <a:lnSpc>
                          <a:spcPct val="100000"/>
                        </a:lnSpc>
                        <a:spcAft>
                          <a:spcPts val="0"/>
                        </a:spcAft>
                      </a:pPr>
                      <a:endParaRPr lang="fr-CA"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0000"/>
                        </a:lnSpc>
                        <a:spcAft>
                          <a:spcPts val="0"/>
                        </a:spcAft>
                      </a:pPr>
                      <a:r>
                        <a:rPr lang="en-CA" sz="1800" dirty="0">
                          <a:effectLst/>
                        </a:rPr>
                        <a:t>20,00 $</a:t>
                      </a:r>
                      <a:endParaRPr lang="fr-CA"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15470737"/>
                  </a:ext>
                </a:extLst>
              </a:tr>
              <a:tr h="302032">
                <a:tc>
                  <a:txBody>
                    <a:bodyPr/>
                    <a:lstStyle/>
                    <a:p>
                      <a:pPr>
                        <a:lnSpc>
                          <a:spcPct val="100000"/>
                        </a:lnSpc>
                        <a:spcAft>
                          <a:spcPts val="0"/>
                        </a:spcAft>
                      </a:pPr>
                      <a:r>
                        <a:rPr lang="en-CA" sz="1800" dirty="0" err="1">
                          <a:effectLst/>
                        </a:rPr>
                        <a:t>Coûts</a:t>
                      </a:r>
                      <a:r>
                        <a:rPr lang="en-CA" sz="1800" dirty="0">
                          <a:effectLst/>
                        </a:rPr>
                        <a:t> variables </a:t>
                      </a:r>
                      <a:r>
                        <a:rPr lang="en-CA" sz="1800" dirty="0" err="1">
                          <a:effectLst/>
                        </a:rPr>
                        <a:t>unitaires</a:t>
                      </a:r>
                      <a:r>
                        <a:rPr lang="en-CA" sz="1800" dirty="0">
                          <a:effectLst/>
                        </a:rPr>
                        <a:t> :</a:t>
                      </a:r>
                      <a:endParaRPr lang="fr-CA"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0000"/>
                        </a:lnSpc>
                        <a:spcAft>
                          <a:spcPts val="0"/>
                        </a:spcAft>
                      </a:pPr>
                      <a:r>
                        <a:rPr lang="en-CA" sz="1800" dirty="0">
                          <a:effectLst/>
                        </a:rPr>
                        <a:t> </a:t>
                      </a:r>
                      <a:endParaRPr lang="fr-CA"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74551581"/>
                  </a:ext>
                </a:extLst>
              </a:tr>
              <a:tr h="1510157">
                <a:tc>
                  <a:txBody>
                    <a:bodyPr/>
                    <a:lstStyle/>
                    <a:p>
                      <a:pPr marL="449580">
                        <a:lnSpc>
                          <a:spcPct val="100000"/>
                        </a:lnSpc>
                        <a:spcAft>
                          <a:spcPts val="0"/>
                        </a:spcAft>
                      </a:pPr>
                      <a:r>
                        <a:rPr lang="fr-CA" sz="1800" b="0" dirty="0">
                          <a:effectLst/>
                        </a:rPr>
                        <a:t>Matières premières</a:t>
                      </a:r>
                    </a:p>
                    <a:p>
                      <a:pPr marL="449580">
                        <a:lnSpc>
                          <a:spcPct val="100000"/>
                        </a:lnSpc>
                        <a:spcAft>
                          <a:spcPts val="0"/>
                        </a:spcAft>
                      </a:pPr>
                      <a:r>
                        <a:rPr lang="fr-CA" sz="1800" b="0" dirty="0">
                          <a:effectLst/>
                        </a:rPr>
                        <a:t>Main-d’œuvre directe</a:t>
                      </a:r>
                    </a:p>
                    <a:p>
                      <a:pPr marL="449580">
                        <a:lnSpc>
                          <a:spcPct val="100000"/>
                        </a:lnSpc>
                        <a:spcAft>
                          <a:spcPts val="0"/>
                        </a:spcAft>
                      </a:pPr>
                      <a:r>
                        <a:rPr lang="fr-CA" sz="1800" b="0" dirty="0">
                          <a:effectLst/>
                        </a:rPr>
                        <a:t>Frais généraux de fabrication variables</a:t>
                      </a:r>
                    </a:p>
                    <a:p>
                      <a:pPr marL="449580">
                        <a:lnSpc>
                          <a:spcPct val="100000"/>
                        </a:lnSpc>
                        <a:spcAft>
                          <a:spcPts val="0"/>
                        </a:spcAft>
                      </a:pPr>
                      <a:r>
                        <a:rPr lang="en-CA" sz="1800" b="0" dirty="0">
                          <a:effectLst/>
                        </a:rPr>
                        <a:t>Frais de vente variables</a:t>
                      </a:r>
                      <a:endParaRPr lang="fr-CA"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0000"/>
                        </a:lnSpc>
                        <a:spcAft>
                          <a:spcPts val="0"/>
                        </a:spcAft>
                      </a:pPr>
                      <a:r>
                        <a:rPr lang="en-CA" sz="1800" dirty="0">
                          <a:effectLst/>
                        </a:rPr>
                        <a:t>6,40 $</a:t>
                      </a:r>
                      <a:endParaRPr lang="fr-CA" sz="1800" dirty="0">
                        <a:effectLst/>
                      </a:endParaRPr>
                    </a:p>
                    <a:p>
                      <a:pPr>
                        <a:lnSpc>
                          <a:spcPct val="100000"/>
                        </a:lnSpc>
                        <a:spcAft>
                          <a:spcPts val="0"/>
                        </a:spcAft>
                      </a:pPr>
                      <a:r>
                        <a:rPr lang="en-CA" sz="1800" dirty="0">
                          <a:effectLst/>
                        </a:rPr>
                        <a:t>5,00 $</a:t>
                      </a:r>
                      <a:endParaRPr lang="fr-CA" sz="1800" dirty="0">
                        <a:effectLst/>
                      </a:endParaRPr>
                    </a:p>
                    <a:p>
                      <a:pPr>
                        <a:lnSpc>
                          <a:spcPct val="100000"/>
                        </a:lnSpc>
                        <a:spcAft>
                          <a:spcPts val="0"/>
                        </a:spcAft>
                      </a:pPr>
                      <a:r>
                        <a:rPr lang="en-CA" sz="1800" dirty="0">
                          <a:effectLst/>
                        </a:rPr>
                        <a:t>2,20 $</a:t>
                      </a:r>
                      <a:endParaRPr lang="fr-CA" sz="1800" dirty="0">
                        <a:effectLst/>
                      </a:endParaRPr>
                    </a:p>
                    <a:p>
                      <a:pPr>
                        <a:lnSpc>
                          <a:spcPct val="100000"/>
                        </a:lnSpc>
                        <a:spcAft>
                          <a:spcPts val="0"/>
                        </a:spcAft>
                      </a:pPr>
                      <a:r>
                        <a:rPr lang="en-CA" sz="1800" dirty="0">
                          <a:effectLst/>
                        </a:rPr>
                        <a:t>1,40 $</a:t>
                      </a:r>
                    </a:p>
                    <a:p>
                      <a:pPr>
                        <a:lnSpc>
                          <a:spcPct val="100000"/>
                        </a:lnSpc>
                        <a:spcAft>
                          <a:spcPts val="0"/>
                        </a:spcAft>
                      </a:pPr>
                      <a:endParaRPr lang="fr-CA"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45696181"/>
                  </a:ext>
                </a:extLst>
              </a:tr>
              <a:tr h="906096">
                <a:tc>
                  <a:txBody>
                    <a:bodyPr/>
                    <a:lstStyle/>
                    <a:p>
                      <a:pPr>
                        <a:lnSpc>
                          <a:spcPct val="100000"/>
                        </a:lnSpc>
                        <a:spcAft>
                          <a:spcPts val="0"/>
                        </a:spcAft>
                      </a:pPr>
                      <a:r>
                        <a:rPr lang="en-CA" sz="1800" dirty="0" err="1">
                          <a:effectLst/>
                        </a:rPr>
                        <a:t>Coûts</a:t>
                      </a:r>
                      <a:r>
                        <a:rPr lang="en-CA" sz="1800" dirty="0">
                          <a:effectLst/>
                        </a:rPr>
                        <a:t> fixes </a:t>
                      </a:r>
                      <a:r>
                        <a:rPr lang="en-CA" sz="1800" dirty="0" err="1">
                          <a:effectLst/>
                        </a:rPr>
                        <a:t>totaux</a:t>
                      </a:r>
                      <a:r>
                        <a:rPr lang="en-CA" sz="1800" dirty="0">
                          <a:effectLst/>
                        </a:rPr>
                        <a:t> :</a:t>
                      </a:r>
                      <a:endParaRPr lang="fr-CA" sz="1800" dirty="0">
                        <a:effectLst/>
                      </a:endParaRPr>
                    </a:p>
                    <a:p>
                      <a:pPr marL="449580">
                        <a:lnSpc>
                          <a:spcPct val="100000"/>
                        </a:lnSpc>
                        <a:spcAft>
                          <a:spcPts val="0"/>
                        </a:spcAft>
                      </a:pPr>
                      <a:r>
                        <a:rPr lang="fr-CA" sz="1800" b="0" dirty="0">
                          <a:effectLst/>
                        </a:rPr>
                        <a:t>Frais généraux de fabrication fixes</a:t>
                      </a:r>
                    </a:p>
                    <a:p>
                      <a:pPr marL="449580">
                        <a:lnSpc>
                          <a:spcPct val="100000"/>
                        </a:lnSpc>
                        <a:spcAft>
                          <a:spcPts val="0"/>
                        </a:spcAft>
                      </a:pPr>
                      <a:r>
                        <a:rPr lang="en-CA" sz="1800" b="0" dirty="0">
                          <a:effectLst/>
                        </a:rPr>
                        <a:t>Frais de ventes et </a:t>
                      </a:r>
                      <a:r>
                        <a:rPr lang="en-CA" sz="1800" b="0" dirty="0" err="1">
                          <a:effectLst/>
                        </a:rPr>
                        <a:t>d’administration</a:t>
                      </a:r>
                      <a:r>
                        <a:rPr lang="en-CA" sz="1800" b="0" dirty="0">
                          <a:effectLst/>
                        </a:rPr>
                        <a:t> fixes</a:t>
                      </a:r>
                      <a:endParaRPr lang="fr-CA"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0000"/>
                        </a:lnSpc>
                        <a:spcAft>
                          <a:spcPts val="0"/>
                        </a:spcAft>
                      </a:pPr>
                      <a:r>
                        <a:rPr lang="en-CA" sz="1800" dirty="0">
                          <a:effectLst/>
                        </a:rPr>
                        <a:t> </a:t>
                      </a:r>
                      <a:endParaRPr lang="fr-CA" sz="1800" dirty="0">
                        <a:effectLst/>
                      </a:endParaRPr>
                    </a:p>
                    <a:p>
                      <a:pPr>
                        <a:lnSpc>
                          <a:spcPct val="100000"/>
                        </a:lnSpc>
                        <a:spcAft>
                          <a:spcPts val="0"/>
                        </a:spcAft>
                      </a:pPr>
                      <a:r>
                        <a:rPr lang="en-CA" sz="1800" dirty="0">
                          <a:effectLst/>
                        </a:rPr>
                        <a:t>191 400 $</a:t>
                      </a:r>
                      <a:endParaRPr lang="fr-CA" sz="1800" dirty="0">
                        <a:effectLst/>
                      </a:endParaRPr>
                    </a:p>
                    <a:p>
                      <a:pPr>
                        <a:lnSpc>
                          <a:spcPct val="100000"/>
                        </a:lnSpc>
                        <a:spcAft>
                          <a:spcPts val="0"/>
                        </a:spcAft>
                      </a:pPr>
                      <a:r>
                        <a:rPr lang="en-CA" sz="1800" dirty="0">
                          <a:effectLst/>
                        </a:rPr>
                        <a:t>276 600 $</a:t>
                      </a:r>
                      <a:endParaRPr lang="fr-CA"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25777285"/>
                  </a:ext>
                </a:extLst>
              </a:tr>
            </a:tbl>
          </a:graphicData>
        </a:graphic>
      </p:graphicFrame>
      <p:sp>
        <p:nvSpPr>
          <p:cNvPr id="6" name="Espace réservé du contenu 2">
            <a:extLst>
              <a:ext uri="{FF2B5EF4-FFF2-40B4-BE49-F238E27FC236}">
                <a16:creationId xmlns:a16="http://schemas.microsoft.com/office/drawing/2014/main" id="{E95EE3A9-1CD8-5526-405A-D5360AA9721F}"/>
              </a:ext>
            </a:extLst>
          </p:cNvPr>
          <p:cNvSpPr txBox="1">
            <a:spLocks/>
          </p:cNvSpPr>
          <p:nvPr>
            <p:custDataLst>
              <p:tags r:id="rId4"/>
            </p:custDataLst>
          </p:nvPr>
        </p:nvSpPr>
        <p:spPr>
          <a:xfrm>
            <a:off x="309768" y="2744140"/>
            <a:ext cx="5660572" cy="3448030"/>
          </a:xfrm>
          <a:prstGeom prst="rect">
            <a:avLst/>
          </a:prstGeom>
          <a:no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indent="-182880">
              <a:buAutoNum type="arabicPeriod"/>
            </a:pPr>
            <a:r>
              <a:rPr lang="fr-CA" sz="2000" dirty="0"/>
              <a:t> Quelle est la  (MCV) unitaire? </a:t>
            </a:r>
            <a:endParaRPr lang="fr-CA" sz="2000" dirty="0">
              <a:ea typeface="Calibri"/>
              <a:cs typeface="Calibri"/>
            </a:endParaRPr>
          </a:p>
          <a:p>
            <a:pPr marL="0" indent="0">
              <a:buNone/>
            </a:pPr>
            <a:endParaRPr lang="fr-CA" sz="2000" dirty="0">
              <a:ea typeface="Calibri"/>
              <a:cs typeface="Calibri"/>
            </a:endParaRPr>
          </a:p>
          <a:p>
            <a:pPr marL="0" indent="0">
              <a:buNone/>
            </a:pPr>
            <a:endParaRPr lang="fr-CA" sz="2000" dirty="0">
              <a:ea typeface="Calibri"/>
              <a:cs typeface="Calibri"/>
            </a:endParaRPr>
          </a:p>
          <a:p>
            <a:pPr marL="0" indent="0">
              <a:buNone/>
            </a:pPr>
            <a:r>
              <a:rPr lang="fr-CA" sz="2000" dirty="0"/>
              <a:t>2. Quel est le point mort en unités ?</a:t>
            </a:r>
            <a:endParaRPr lang="fr-CA" sz="2000" dirty="0">
              <a:ea typeface="Calibri" panose="020F0502020204030204"/>
              <a:cs typeface="Calibri" panose="020F0502020204030204"/>
            </a:endParaRPr>
          </a:p>
        </p:txBody>
      </p:sp>
      <p:sp>
        <p:nvSpPr>
          <p:cNvPr id="7" name="Espace réservé du numéro de diapositive 6">
            <a:extLst>
              <a:ext uri="{FF2B5EF4-FFF2-40B4-BE49-F238E27FC236}">
                <a16:creationId xmlns:a16="http://schemas.microsoft.com/office/drawing/2014/main" id="{39CA5445-B466-2B63-081E-B75D0C371D6F}"/>
              </a:ext>
            </a:extLst>
          </p:cNvPr>
          <p:cNvSpPr>
            <a:spLocks noGrp="1"/>
          </p:cNvSpPr>
          <p:nvPr>
            <p:ph type="sldNum" sz="quarter" idx="12"/>
            <p:custDataLst>
              <p:tags r:id="rId5"/>
            </p:custDataLst>
          </p:nvPr>
        </p:nvSpPr>
        <p:spPr/>
        <p:txBody>
          <a:bodyPr/>
          <a:lstStyle/>
          <a:p>
            <a:fld id="{1F20FBA3-27E4-4E13-841E-B59ED0E8E620}" type="slidenum">
              <a:rPr lang="fr-CA" smtClean="0">
                <a:solidFill>
                  <a:prstClr val="black">
                    <a:tint val="75000"/>
                  </a:prstClr>
                </a:solidFill>
              </a:rPr>
              <a:pPr/>
              <a:t>2</a:t>
            </a:fld>
            <a:endParaRPr lang="fr-CA">
              <a:solidFill>
                <a:prstClr val="black">
                  <a:tint val="75000"/>
                </a:prstClr>
              </a:solidFill>
            </a:endParaRPr>
          </a:p>
        </p:txBody>
      </p:sp>
      <p:sp>
        <p:nvSpPr>
          <p:cNvPr id="8" name="Espace réservé du pied de page 3">
            <a:extLst>
              <a:ext uri="{FF2B5EF4-FFF2-40B4-BE49-F238E27FC236}">
                <a16:creationId xmlns:a16="http://schemas.microsoft.com/office/drawing/2014/main" id="{5261D145-0287-2DC1-E39B-A5C92D2B1C8A}"/>
              </a:ext>
            </a:extLst>
          </p:cNvPr>
          <p:cNvSpPr>
            <a:spLocks noGrp="1"/>
          </p:cNvSpPr>
          <p:nvPr>
            <p:ph type="ftr" sz="quarter" idx="11"/>
            <p:custDataLst>
              <p:tags r:id="rId6"/>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Tree>
    <p:extLst>
      <p:ext uri="{BB962C8B-B14F-4D97-AF65-F5344CB8AC3E}">
        <p14:creationId xmlns:p14="http://schemas.microsoft.com/office/powerpoint/2010/main" val="267754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extBox 39">
            <a:extLst>
              <a:ext uri="{FF2B5EF4-FFF2-40B4-BE49-F238E27FC236}">
                <a16:creationId xmlns:a16="http://schemas.microsoft.com/office/drawing/2014/main" id="{4F7C04F3-7CCE-184B-8FEF-62BA96BA43D7}"/>
              </a:ext>
            </a:extLst>
          </p:cNvPr>
          <p:cNvSpPr txBox="1"/>
          <p:nvPr>
            <p:custDataLst>
              <p:tags r:id="rId1"/>
            </p:custDataLst>
          </p:nvPr>
        </p:nvSpPr>
        <p:spPr>
          <a:xfrm>
            <a:off x="230312" y="349341"/>
            <a:ext cx="11731377" cy="707886"/>
          </a:xfrm>
          <a:prstGeom prst="rect">
            <a:avLst/>
          </a:prstGeom>
          <a:noFill/>
        </p:spPr>
        <p:txBody>
          <a:bodyPr wrap="square" lIns="91440" tIns="45720" rIns="91440" bIns="45720" rtlCol="0" anchor="t">
            <a:spAutoFit/>
          </a:bodyPr>
          <a:lstStyle/>
          <a:p>
            <a:pPr algn="ctr"/>
            <a:r>
              <a:rPr lang="fr-CA" sz="4000" dirty="0">
                <a:latin typeface="Calibri Light"/>
                <a:ea typeface="+mn-lt"/>
                <a:cs typeface="+mn-lt"/>
              </a:rPr>
              <a:t>PLAN DE LA SÉANCE 3</a:t>
            </a:r>
          </a:p>
        </p:txBody>
      </p:sp>
      <p:sp>
        <p:nvSpPr>
          <p:cNvPr id="29" name="Shape 46488">
            <a:extLst>
              <a:ext uri="{FF2B5EF4-FFF2-40B4-BE49-F238E27FC236}">
                <a16:creationId xmlns:a16="http://schemas.microsoft.com/office/drawing/2014/main" id="{10812663-49DB-8544-A992-5B1029F73BD4}"/>
              </a:ext>
            </a:extLst>
          </p:cNvPr>
          <p:cNvSpPr>
            <a:spLocks/>
          </p:cNvSpPr>
          <p:nvPr>
            <p:custDataLst>
              <p:tags r:id="rId2"/>
            </p:custDataLst>
          </p:nvPr>
        </p:nvSpPr>
        <p:spPr>
          <a:xfrm rot="5400000" flipH="1">
            <a:off x="1031973" y="2360285"/>
            <a:ext cx="2066493" cy="3030398"/>
          </a:xfrm>
          <a:custGeom>
            <a:avLst/>
            <a:gdLst/>
            <a:ahLst/>
            <a:cxnLst>
              <a:cxn ang="0">
                <a:pos x="wd2" y="hd2"/>
              </a:cxn>
              <a:cxn ang="5400000">
                <a:pos x="wd2" y="hd2"/>
              </a:cxn>
              <a:cxn ang="10800000">
                <a:pos x="wd2" y="hd2"/>
              </a:cxn>
              <a:cxn ang="16200000">
                <a:pos x="wd2" y="hd2"/>
              </a:cxn>
            </a:cxnLst>
            <a:rect l="0" t="0" r="r" b="b"/>
            <a:pathLst>
              <a:path w="21600" h="21600" extrusionOk="0">
                <a:moveTo>
                  <a:pt x="4503" y="0"/>
                </a:moveTo>
                <a:cubicBezTo>
                  <a:pt x="3064" y="0"/>
                  <a:pt x="1896" y="1280"/>
                  <a:pt x="1896" y="2858"/>
                </a:cubicBezTo>
                <a:lnTo>
                  <a:pt x="1896" y="9446"/>
                </a:lnTo>
                <a:lnTo>
                  <a:pt x="0" y="10876"/>
                </a:lnTo>
                <a:lnTo>
                  <a:pt x="1896" y="12312"/>
                </a:lnTo>
                <a:lnTo>
                  <a:pt x="1896" y="18742"/>
                </a:lnTo>
                <a:cubicBezTo>
                  <a:pt x="1896" y="20320"/>
                  <a:pt x="3064" y="21600"/>
                  <a:pt x="4503" y="21600"/>
                </a:cubicBezTo>
                <a:lnTo>
                  <a:pt x="18993" y="21600"/>
                </a:lnTo>
                <a:cubicBezTo>
                  <a:pt x="20432" y="21600"/>
                  <a:pt x="21600" y="20320"/>
                  <a:pt x="21600" y="18742"/>
                </a:cubicBezTo>
                <a:lnTo>
                  <a:pt x="21600" y="2858"/>
                </a:lnTo>
                <a:cubicBezTo>
                  <a:pt x="21600" y="1280"/>
                  <a:pt x="20432" y="0"/>
                  <a:pt x="18993" y="0"/>
                </a:cubicBezTo>
                <a:lnTo>
                  <a:pt x="4503" y="0"/>
                </a:lnTo>
                <a:close/>
              </a:path>
            </a:pathLst>
          </a:custGeom>
          <a:ln/>
        </p:spPr>
        <p:style>
          <a:lnRef idx="2">
            <a:schemeClr val="accent1"/>
          </a:lnRef>
          <a:fillRef idx="1">
            <a:schemeClr val="lt1"/>
          </a:fillRef>
          <a:effectRef idx="0">
            <a:schemeClr val="accent1"/>
          </a:effectRef>
          <a:fontRef idx="minor">
            <a:schemeClr val="dk1"/>
          </a:fontRef>
        </p:style>
        <p:txBody>
          <a:bodyPr vert="vert270" wrap="square" lIns="0" tIns="0" rIns="0" bIns="0" numCol="1" anchor="t">
            <a:noAutofit/>
          </a:bodyPr>
          <a:lstStyle/>
          <a:p>
            <a:pPr algn="ctr"/>
            <a:r>
              <a:rPr lang="fr-CA" sz="2279" b="1" dirty="0">
                <a:latin typeface="Lato Light" panose="020F0502020204030203" pitchFamily="34" charset="0"/>
              </a:rPr>
              <a:t>THÉORIE</a:t>
            </a:r>
            <a:r>
              <a:rPr lang="fr-CA" sz="2279" dirty="0">
                <a:latin typeface="Lato Light" panose="020F0502020204030203" pitchFamily="34" charset="0"/>
              </a:rPr>
              <a:t>-</a:t>
            </a:r>
          </a:p>
          <a:p>
            <a:pPr algn="ctr"/>
            <a:r>
              <a:rPr lang="fr-CA" sz="2279" dirty="0">
                <a:latin typeface="Lato Light" panose="020F0502020204030203" pitchFamily="34" charset="0"/>
              </a:rPr>
              <a:t>L’analyse différentielle et les notions de coûts pertinents à la prise de décision d’exploitation</a:t>
            </a:r>
          </a:p>
        </p:txBody>
      </p:sp>
      <p:sp>
        <p:nvSpPr>
          <p:cNvPr id="25" name="Shape 46493">
            <a:extLst>
              <a:ext uri="{FF2B5EF4-FFF2-40B4-BE49-F238E27FC236}">
                <a16:creationId xmlns:a16="http://schemas.microsoft.com/office/drawing/2014/main" id="{FEE676C4-64DA-8045-83AB-D66EA1A9D4AC}"/>
              </a:ext>
            </a:extLst>
          </p:cNvPr>
          <p:cNvSpPr>
            <a:spLocks/>
          </p:cNvSpPr>
          <p:nvPr>
            <p:custDataLst>
              <p:tags r:id="rId3"/>
            </p:custDataLst>
          </p:nvPr>
        </p:nvSpPr>
        <p:spPr>
          <a:xfrm rot="5400000" flipH="1">
            <a:off x="4138310" y="2697753"/>
            <a:ext cx="2066491" cy="2355457"/>
          </a:xfrm>
          <a:custGeom>
            <a:avLst/>
            <a:gdLst/>
            <a:ahLst/>
            <a:cxnLst>
              <a:cxn ang="0">
                <a:pos x="wd2" y="hd2"/>
              </a:cxn>
              <a:cxn ang="5400000">
                <a:pos x="wd2" y="hd2"/>
              </a:cxn>
              <a:cxn ang="10800000">
                <a:pos x="wd2" y="hd2"/>
              </a:cxn>
              <a:cxn ang="16200000">
                <a:pos x="wd2" y="hd2"/>
              </a:cxn>
            </a:cxnLst>
            <a:rect l="0" t="0" r="r" b="b"/>
            <a:pathLst>
              <a:path w="21600" h="21600" extrusionOk="0">
                <a:moveTo>
                  <a:pt x="4503" y="0"/>
                </a:moveTo>
                <a:cubicBezTo>
                  <a:pt x="3064" y="0"/>
                  <a:pt x="1896" y="1280"/>
                  <a:pt x="1896" y="2858"/>
                </a:cubicBezTo>
                <a:lnTo>
                  <a:pt x="1896" y="9446"/>
                </a:lnTo>
                <a:lnTo>
                  <a:pt x="0" y="10876"/>
                </a:lnTo>
                <a:lnTo>
                  <a:pt x="1896" y="12312"/>
                </a:lnTo>
                <a:lnTo>
                  <a:pt x="1896" y="18742"/>
                </a:lnTo>
                <a:cubicBezTo>
                  <a:pt x="1896" y="20320"/>
                  <a:pt x="3064" y="21600"/>
                  <a:pt x="4503" y="21600"/>
                </a:cubicBezTo>
                <a:lnTo>
                  <a:pt x="18993" y="21600"/>
                </a:lnTo>
                <a:cubicBezTo>
                  <a:pt x="20432" y="21600"/>
                  <a:pt x="21600" y="20320"/>
                  <a:pt x="21600" y="18742"/>
                </a:cubicBezTo>
                <a:lnTo>
                  <a:pt x="21600" y="2858"/>
                </a:lnTo>
                <a:cubicBezTo>
                  <a:pt x="21600" y="1280"/>
                  <a:pt x="20432" y="0"/>
                  <a:pt x="18993" y="0"/>
                </a:cubicBezTo>
                <a:lnTo>
                  <a:pt x="4503" y="0"/>
                </a:lnTo>
                <a:close/>
              </a:path>
            </a:pathLst>
          </a:custGeom>
          <a:ln/>
        </p:spPr>
        <p:style>
          <a:lnRef idx="2">
            <a:schemeClr val="accent6"/>
          </a:lnRef>
          <a:fillRef idx="1">
            <a:schemeClr val="lt1"/>
          </a:fillRef>
          <a:effectRef idx="0">
            <a:schemeClr val="accent6"/>
          </a:effectRef>
          <a:fontRef idx="minor">
            <a:schemeClr val="dk1"/>
          </a:fontRef>
        </p:style>
        <p:txBody>
          <a:bodyPr vert="vert270" wrap="square" lIns="0" tIns="0" rIns="0" bIns="0" numCol="1" anchor="t">
            <a:noAutofit/>
          </a:bodyPr>
          <a:lstStyle/>
          <a:p>
            <a:pPr algn="ctr"/>
            <a:r>
              <a:rPr lang="fr-CA" sz="2279" dirty="0">
                <a:latin typeface="Lato Light" panose="020F0502020204030203" pitchFamily="34" charset="0"/>
              </a:rPr>
              <a:t>Exemple 1</a:t>
            </a:r>
          </a:p>
          <a:p>
            <a:pPr algn="ctr"/>
            <a:r>
              <a:rPr lang="fr-CA" sz="2279" dirty="0">
                <a:latin typeface="Lato Light" panose="020F0502020204030203" pitchFamily="34" charset="0"/>
              </a:rPr>
              <a:t>La Commande Spéciale</a:t>
            </a:r>
          </a:p>
        </p:txBody>
      </p:sp>
      <p:pic>
        <p:nvPicPr>
          <p:cNvPr id="5" name="Graphique 4" descr="Badge 1 contour">
            <a:extLst>
              <a:ext uri="{FF2B5EF4-FFF2-40B4-BE49-F238E27FC236}">
                <a16:creationId xmlns:a16="http://schemas.microsoft.com/office/drawing/2014/main" id="{CCB1879A-CE9A-BF7C-5979-6FAB792BF2EF}"/>
              </a:ext>
            </a:extLst>
          </p:cNvPr>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608019" y="5001553"/>
            <a:ext cx="914400" cy="914400"/>
          </a:xfrm>
          <a:prstGeom prst="rect">
            <a:avLst/>
          </a:prstGeom>
        </p:spPr>
      </p:pic>
      <p:pic>
        <p:nvPicPr>
          <p:cNvPr id="7" name="Graphique 6" descr="Badge contour">
            <a:extLst>
              <a:ext uri="{FF2B5EF4-FFF2-40B4-BE49-F238E27FC236}">
                <a16:creationId xmlns:a16="http://schemas.microsoft.com/office/drawing/2014/main" id="{1ADBDBF0-A6E8-741F-E12D-71307E92BB27}"/>
              </a:ext>
            </a:extLst>
          </p:cNvPr>
          <p:cNvPicPr>
            <a:picLocks noChangeAspect="1"/>
          </p:cNvPicPr>
          <p:nvPr>
            <p:custDataLst>
              <p:tags r:id="rId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262225" y="5001553"/>
            <a:ext cx="914400" cy="914400"/>
          </a:xfrm>
          <a:prstGeom prst="rect">
            <a:avLst/>
          </a:prstGeom>
        </p:spPr>
      </p:pic>
      <p:sp>
        <p:nvSpPr>
          <p:cNvPr id="3" name="Espace réservé du numéro de diapositive 2">
            <a:extLst>
              <a:ext uri="{FF2B5EF4-FFF2-40B4-BE49-F238E27FC236}">
                <a16:creationId xmlns:a16="http://schemas.microsoft.com/office/drawing/2014/main" id="{88767227-1902-D9FB-3245-CB4355DE34C8}"/>
              </a:ext>
            </a:extLst>
          </p:cNvPr>
          <p:cNvSpPr>
            <a:spLocks noGrp="1"/>
          </p:cNvSpPr>
          <p:nvPr>
            <p:ph type="sldNum" sz="quarter" idx="12"/>
            <p:custDataLst>
              <p:tags r:id="rId6"/>
            </p:custDataLst>
          </p:nvPr>
        </p:nvSpPr>
        <p:spPr/>
        <p:txBody>
          <a:bodyPr/>
          <a:lstStyle/>
          <a:p>
            <a:fld id="{1F20FBA3-27E4-4E13-841E-B59ED0E8E620}" type="slidenum">
              <a:rPr lang="fr-CA" smtClean="0">
                <a:solidFill>
                  <a:prstClr val="black">
                    <a:tint val="75000"/>
                  </a:prstClr>
                </a:solidFill>
              </a:rPr>
              <a:pPr/>
              <a:t>3</a:t>
            </a:fld>
            <a:endParaRPr lang="fr-CA">
              <a:solidFill>
                <a:prstClr val="black">
                  <a:tint val="75000"/>
                </a:prstClr>
              </a:solidFill>
            </a:endParaRPr>
          </a:p>
        </p:txBody>
      </p:sp>
      <p:sp>
        <p:nvSpPr>
          <p:cNvPr id="2" name="Espace réservé du pied de page 3">
            <a:extLst>
              <a:ext uri="{FF2B5EF4-FFF2-40B4-BE49-F238E27FC236}">
                <a16:creationId xmlns:a16="http://schemas.microsoft.com/office/drawing/2014/main" id="{034C15A6-D52E-5DAB-DD27-97F1021DC130}"/>
              </a:ext>
            </a:extLst>
          </p:cNvPr>
          <p:cNvSpPr>
            <a:spLocks noGrp="1"/>
          </p:cNvSpPr>
          <p:nvPr>
            <p:ph type="ftr" sz="quarter" idx="11"/>
            <p:custDataLst>
              <p:tags r:id="rId7"/>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
        <p:nvSpPr>
          <p:cNvPr id="4" name="TextBox 39">
            <a:extLst>
              <a:ext uri="{FF2B5EF4-FFF2-40B4-BE49-F238E27FC236}">
                <a16:creationId xmlns:a16="http://schemas.microsoft.com/office/drawing/2014/main" id="{D15B4BD6-19EF-31F0-82F9-85E6A9D3C9A5}"/>
              </a:ext>
            </a:extLst>
          </p:cNvPr>
          <p:cNvSpPr txBox="1"/>
          <p:nvPr>
            <p:custDataLst>
              <p:tags r:id="rId8"/>
            </p:custDataLst>
          </p:nvPr>
        </p:nvSpPr>
        <p:spPr>
          <a:xfrm>
            <a:off x="402852" y="1580354"/>
            <a:ext cx="11731377" cy="1261884"/>
          </a:xfrm>
          <a:prstGeom prst="rect">
            <a:avLst/>
          </a:prstGeom>
          <a:noFill/>
        </p:spPr>
        <p:txBody>
          <a:bodyPr wrap="square" lIns="91440" tIns="45720" rIns="91440" bIns="45720" rtlCol="0" anchor="t">
            <a:spAutoFit/>
          </a:bodyPr>
          <a:lstStyle/>
          <a:p>
            <a:pPr algn="ctr"/>
            <a:r>
              <a:rPr lang="en-US" sz="3600" b="1" dirty="0" err="1">
                <a:latin typeface="Calibri Light"/>
                <a:ea typeface="+mn-lt"/>
                <a:cs typeface="+mn-lt"/>
              </a:rPr>
              <a:t>Prise</a:t>
            </a:r>
            <a:r>
              <a:rPr lang="en-US" sz="3600" b="1" dirty="0">
                <a:latin typeface="Calibri Light"/>
                <a:ea typeface="+mn-lt"/>
                <a:cs typeface="+mn-lt"/>
              </a:rPr>
              <a:t> de </a:t>
            </a:r>
            <a:r>
              <a:rPr lang="en-US" sz="3600" b="1" dirty="0" err="1">
                <a:latin typeface="Calibri Light"/>
                <a:ea typeface="+mn-lt"/>
                <a:cs typeface="+mn-lt"/>
              </a:rPr>
              <a:t>décision</a:t>
            </a:r>
            <a:r>
              <a:rPr lang="en-US" sz="3600" b="1" dirty="0">
                <a:latin typeface="Calibri Light"/>
                <a:ea typeface="+mn-lt"/>
                <a:cs typeface="+mn-lt"/>
              </a:rPr>
              <a:t> </a:t>
            </a:r>
            <a:r>
              <a:rPr lang="en-US" sz="3600" b="1" dirty="0" err="1">
                <a:latin typeface="Calibri Light"/>
                <a:ea typeface="+mn-lt"/>
                <a:cs typeface="+mn-lt"/>
              </a:rPr>
              <a:t>d’exploitation</a:t>
            </a:r>
            <a:r>
              <a:rPr lang="en-US" sz="3600" b="1" dirty="0">
                <a:latin typeface="Calibri Light"/>
                <a:ea typeface="+mn-lt"/>
                <a:cs typeface="+mn-lt"/>
              </a:rPr>
              <a:t> –</a:t>
            </a:r>
            <a:endParaRPr lang="en-US" sz="3600" b="1" dirty="0">
              <a:solidFill>
                <a:schemeClr val="tx2"/>
              </a:solidFill>
              <a:latin typeface="Calibri Light"/>
              <a:cs typeface="Poppins"/>
            </a:endParaRPr>
          </a:p>
          <a:p>
            <a:pPr algn="ctr"/>
            <a:endParaRPr lang="en-US" sz="4000" dirty="0">
              <a:latin typeface="Calibri Light"/>
              <a:cs typeface="Poppins"/>
            </a:endParaRPr>
          </a:p>
        </p:txBody>
      </p:sp>
      <p:sp>
        <p:nvSpPr>
          <p:cNvPr id="8" name="Shape 46493">
            <a:extLst>
              <a:ext uri="{FF2B5EF4-FFF2-40B4-BE49-F238E27FC236}">
                <a16:creationId xmlns:a16="http://schemas.microsoft.com/office/drawing/2014/main" id="{DC33C7BB-A315-059C-68F3-BB551947E606}"/>
              </a:ext>
            </a:extLst>
          </p:cNvPr>
          <p:cNvSpPr>
            <a:spLocks/>
          </p:cNvSpPr>
          <p:nvPr>
            <p:custDataLst>
              <p:tags r:id="rId9"/>
            </p:custDataLst>
          </p:nvPr>
        </p:nvSpPr>
        <p:spPr>
          <a:xfrm rot="5400000" flipH="1">
            <a:off x="6686180" y="2697753"/>
            <a:ext cx="2066491" cy="2355457"/>
          </a:xfrm>
          <a:custGeom>
            <a:avLst/>
            <a:gdLst/>
            <a:ahLst/>
            <a:cxnLst>
              <a:cxn ang="0">
                <a:pos x="wd2" y="hd2"/>
              </a:cxn>
              <a:cxn ang="5400000">
                <a:pos x="wd2" y="hd2"/>
              </a:cxn>
              <a:cxn ang="10800000">
                <a:pos x="wd2" y="hd2"/>
              </a:cxn>
              <a:cxn ang="16200000">
                <a:pos x="wd2" y="hd2"/>
              </a:cxn>
            </a:cxnLst>
            <a:rect l="0" t="0" r="r" b="b"/>
            <a:pathLst>
              <a:path w="21600" h="21600" extrusionOk="0">
                <a:moveTo>
                  <a:pt x="4503" y="0"/>
                </a:moveTo>
                <a:cubicBezTo>
                  <a:pt x="3064" y="0"/>
                  <a:pt x="1896" y="1280"/>
                  <a:pt x="1896" y="2858"/>
                </a:cubicBezTo>
                <a:lnTo>
                  <a:pt x="1896" y="9446"/>
                </a:lnTo>
                <a:lnTo>
                  <a:pt x="0" y="10876"/>
                </a:lnTo>
                <a:lnTo>
                  <a:pt x="1896" y="12312"/>
                </a:lnTo>
                <a:lnTo>
                  <a:pt x="1896" y="18742"/>
                </a:lnTo>
                <a:cubicBezTo>
                  <a:pt x="1896" y="20320"/>
                  <a:pt x="3064" y="21600"/>
                  <a:pt x="4503" y="21600"/>
                </a:cubicBezTo>
                <a:lnTo>
                  <a:pt x="18993" y="21600"/>
                </a:lnTo>
                <a:cubicBezTo>
                  <a:pt x="20432" y="21600"/>
                  <a:pt x="21600" y="20320"/>
                  <a:pt x="21600" y="18742"/>
                </a:cubicBezTo>
                <a:lnTo>
                  <a:pt x="21600" y="2858"/>
                </a:lnTo>
                <a:cubicBezTo>
                  <a:pt x="21600" y="1280"/>
                  <a:pt x="20432" y="0"/>
                  <a:pt x="18993" y="0"/>
                </a:cubicBezTo>
                <a:lnTo>
                  <a:pt x="4503" y="0"/>
                </a:lnTo>
                <a:close/>
              </a:path>
            </a:pathLst>
          </a:custGeom>
          <a:ln/>
        </p:spPr>
        <p:style>
          <a:lnRef idx="2">
            <a:schemeClr val="accent6"/>
          </a:lnRef>
          <a:fillRef idx="1">
            <a:schemeClr val="lt1"/>
          </a:fillRef>
          <a:effectRef idx="0">
            <a:schemeClr val="accent6"/>
          </a:effectRef>
          <a:fontRef idx="minor">
            <a:schemeClr val="dk1"/>
          </a:fontRef>
        </p:style>
        <p:txBody>
          <a:bodyPr vert="vert270" wrap="square" lIns="0" tIns="0" rIns="0" bIns="0" numCol="1" anchor="t">
            <a:noAutofit/>
          </a:bodyPr>
          <a:lstStyle/>
          <a:p>
            <a:pPr algn="ctr"/>
            <a:r>
              <a:rPr lang="fr-CA" sz="2279" dirty="0">
                <a:latin typeface="Lato Light" panose="020F0502020204030203" pitchFamily="34" charset="0"/>
              </a:rPr>
              <a:t>Exemple 2</a:t>
            </a:r>
          </a:p>
          <a:p>
            <a:pPr algn="ctr"/>
            <a:r>
              <a:rPr lang="fr-CA" sz="2279" dirty="0">
                <a:latin typeface="Lato Light" panose="020F0502020204030203" pitchFamily="34" charset="0"/>
              </a:rPr>
              <a:t>Fabriquer ou acheter</a:t>
            </a:r>
          </a:p>
        </p:txBody>
      </p:sp>
      <p:sp>
        <p:nvSpPr>
          <p:cNvPr id="9" name="Shape 46493">
            <a:extLst>
              <a:ext uri="{FF2B5EF4-FFF2-40B4-BE49-F238E27FC236}">
                <a16:creationId xmlns:a16="http://schemas.microsoft.com/office/drawing/2014/main" id="{80B37B5E-E3B7-A685-6D53-F5C02D61B3F2}"/>
              </a:ext>
            </a:extLst>
          </p:cNvPr>
          <p:cNvSpPr>
            <a:spLocks/>
          </p:cNvSpPr>
          <p:nvPr>
            <p:custDataLst>
              <p:tags r:id="rId10"/>
            </p:custDataLst>
          </p:nvPr>
        </p:nvSpPr>
        <p:spPr>
          <a:xfrm rot="5400000" flipH="1">
            <a:off x="9324203" y="2697752"/>
            <a:ext cx="2066491" cy="2355457"/>
          </a:xfrm>
          <a:custGeom>
            <a:avLst/>
            <a:gdLst/>
            <a:ahLst/>
            <a:cxnLst>
              <a:cxn ang="0">
                <a:pos x="wd2" y="hd2"/>
              </a:cxn>
              <a:cxn ang="5400000">
                <a:pos x="wd2" y="hd2"/>
              </a:cxn>
              <a:cxn ang="10800000">
                <a:pos x="wd2" y="hd2"/>
              </a:cxn>
              <a:cxn ang="16200000">
                <a:pos x="wd2" y="hd2"/>
              </a:cxn>
            </a:cxnLst>
            <a:rect l="0" t="0" r="r" b="b"/>
            <a:pathLst>
              <a:path w="21600" h="21600" extrusionOk="0">
                <a:moveTo>
                  <a:pt x="4503" y="0"/>
                </a:moveTo>
                <a:cubicBezTo>
                  <a:pt x="3064" y="0"/>
                  <a:pt x="1896" y="1280"/>
                  <a:pt x="1896" y="2858"/>
                </a:cubicBezTo>
                <a:lnTo>
                  <a:pt x="1896" y="9446"/>
                </a:lnTo>
                <a:lnTo>
                  <a:pt x="0" y="10876"/>
                </a:lnTo>
                <a:lnTo>
                  <a:pt x="1896" y="12312"/>
                </a:lnTo>
                <a:lnTo>
                  <a:pt x="1896" y="18742"/>
                </a:lnTo>
                <a:cubicBezTo>
                  <a:pt x="1896" y="20320"/>
                  <a:pt x="3064" y="21600"/>
                  <a:pt x="4503" y="21600"/>
                </a:cubicBezTo>
                <a:lnTo>
                  <a:pt x="18993" y="21600"/>
                </a:lnTo>
                <a:cubicBezTo>
                  <a:pt x="20432" y="21600"/>
                  <a:pt x="21600" y="20320"/>
                  <a:pt x="21600" y="18742"/>
                </a:cubicBezTo>
                <a:lnTo>
                  <a:pt x="21600" y="2858"/>
                </a:lnTo>
                <a:cubicBezTo>
                  <a:pt x="21600" y="1280"/>
                  <a:pt x="20432" y="0"/>
                  <a:pt x="18993" y="0"/>
                </a:cubicBezTo>
                <a:lnTo>
                  <a:pt x="4503" y="0"/>
                </a:lnTo>
                <a:close/>
              </a:path>
            </a:pathLst>
          </a:custGeom>
          <a:ln/>
        </p:spPr>
        <p:style>
          <a:lnRef idx="2">
            <a:schemeClr val="accent6"/>
          </a:lnRef>
          <a:fillRef idx="1">
            <a:schemeClr val="lt1"/>
          </a:fillRef>
          <a:effectRef idx="0">
            <a:schemeClr val="accent6"/>
          </a:effectRef>
          <a:fontRef idx="minor">
            <a:schemeClr val="dk1"/>
          </a:fontRef>
        </p:style>
        <p:txBody>
          <a:bodyPr vert="vert270" wrap="square" lIns="0" tIns="0" rIns="0" bIns="0" numCol="1" anchor="t">
            <a:noAutofit/>
          </a:bodyPr>
          <a:lstStyle/>
          <a:p>
            <a:pPr algn="ctr"/>
            <a:r>
              <a:rPr lang="fr-CA" sz="2279" dirty="0">
                <a:latin typeface="Lato Light" panose="020F0502020204030203" pitchFamily="34" charset="0"/>
              </a:rPr>
              <a:t>Exemple 3</a:t>
            </a:r>
          </a:p>
          <a:p>
            <a:pPr algn="ctr"/>
            <a:r>
              <a:rPr lang="fr-CA" sz="2279" dirty="0">
                <a:latin typeface="Lato Light" panose="020F0502020204030203" pitchFamily="34" charset="0"/>
              </a:rPr>
              <a:t>Abandonner ou Continuer </a:t>
            </a:r>
          </a:p>
        </p:txBody>
      </p:sp>
    </p:spTree>
    <p:extLst>
      <p:ext uri="{BB962C8B-B14F-4D97-AF65-F5344CB8AC3E}">
        <p14:creationId xmlns:p14="http://schemas.microsoft.com/office/powerpoint/2010/main" val="2655799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4BE599E6-8DE8-E7CB-F9D9-592F2E2B42EE}"/>
              </a:ext>
            </a:extLst>
          </p:cNvPr>
          <p:cNvSpPr txBox="1"/>
          <p:nvPr>
            <p:custDataLst>
              <p:tags r:id="rId1"/>
            </p:custDataLst>
          </p:nvPr>
        </p:nvSpPr>
        <p:spPr>
          <a:xfrm>
            <a:off x="161829" y="810182"/>
            <a:ext cx="4603531" cy="5524589"/>
          </a:xfrm>
          <a:prstGeom prst="rect">
            <a:avLst/>
          </a:prstGeom>
          <a:noFill/>
        </p:spPr>
        <p:txBody>
          <a:bodyPr wrap="square" rtlCol="0">
            <a:spAutoFit/>
          </a:bodyPr>
          <a:lstStyle/>
          <a:p>
            <a:r>
              <a:rPr lang="fr-CA" sz="2200" b="1" u="sng" dirty="0"/>
              <a:t>Diriger</a:t>
            </a:r>
            <a:r>
              <a:rPr lang="fr-CA" u="sng" dirty="0"/>
              <a:t> (analyse d’aide à la prise de décision)</a:t>
            </a:r>
          </a:p>
          <a:p>
            <a:endParaRPr lang="fr-CA" u="sng" dirty="0"/>
          </a:p>
          <a:p>
            <a:pPr>
              <a:spcAft>
                <a:spcPts val="600"/>
              </a:spcAft>
            </a:pPr>
            <a:r>
              <a:rPr lang="fr-CA" dirty="0">
                <a:solidFill>
                  <a:schemeClr val="bg1">
                    <a:lumMod val="85000"/>
                  </a:schemeClr>
                </a:solidFill>
              </a:rPr>
              <a:t>(S02) L’analyse coût-volume-résultat (CVR)</a:t>
            </a:r>
          </a:p>
          <a:p>
            <a:pPr>
              <a:spcAft>
                <a:spcPts val="600"/>
              </a:spcAft>
            </a:pPr>
            <a:r>
              <a:rPr lang="fr-CA" b="1" dirty="0"/>
              <a:t>Prise de décision à court terme</a:t>
            </a:r>
          </a:p>
          <a:p>
            <a:pPr>
              <a:spcAft>
                <a:spcPts val="600"/>
              </a:spcAft>
            </a:pPr>
            <a:r>
              <a:rPr lang="fr-CA" b="1" dirty="0"/>
              <a:t>(S03) </a:t>
            </a:r>
            <a:r>
              <a:rPr lang="fr-CA" dirty="0"/>
              <a:t>L’analyse différentielle : </a:t>
            </a:r>
            <a:r>
              <a:rPr lang="fr-CA" i="1" dirty="0">
                <a:solidFill>
                  <a:srgbClr val="0070C0"/>
                </a:solidFill>
              </a:rPr>
              <a:t>consiste à faire ressortir les divers éléments de revenu et de coûts sur lesquels influe chaque décision et permets de la comparer à une situation de référence.</a:t>
            </a:r>
          </a:p>
          <a:p>
            <a:pPr marL="285750" indent="-285750">
              <a:buFont typeface="Arial" panose="020B0604020202020204" pitchFamily="34" charset="0"/>
              <a:buChar char="•"/>
            </a:pPr>
            <a:r>
              <a:rPr lang="fr-CA" i="1" dirty="0"/>
              <a:t>Exemples de décisions d’exploitation :</a:t>
            </a:r>
          </a:p>
          <a:p>
            <a:pPr marL="742950" lvl="1" indent="-285750">
              <a:buFontTx/>
              <a:buChar char="-"/>
            </a:pPr>
            <a:r>
              <a:rPr lang="fr-CA" dirty="0"/>
              <a:t>Commande spéciale</a:t>
            </a:r>
          </a:p>
          <a:p>
            <a:pPr marL="742950" lvl="1" indent="-285750">
              <a:buFontTx/>
              <a:buChar char="-"/>
            </a:pPr>
            <a:r>
              <a:rPr lang="fr-CA" dirty="0"/>
              <a:t>Fabriquer ou sous-traiter un produit</a:t>
            </a:r>
          </a:p>
          <a:p>
            <a:pPr marL="742950" lvl="1" indent="-285750">
              <a:buFontTx/>
              <a:buChar char="-"/>
            </a:pPr>
            <a:r>
              <a:rPr lang="fr-CA" dirty="0"/>
              <a:t>Continuer ou abandonner un produit</a:t>
            </a:r>
          </a:p>
          <a:p>
            <a:pPr marL="742950" lvl="1" indent="-285750">
              <a:buFontTx/>
              <a:buChar char="-"/>
            </a:pPr>
            <a:endParaRPr lang="fr-CA" b="1" dirty="0"/>
          </a:p>
          <a:p>
            <a:pPr>
              <a:spcAft>
                <a:spcPts val="600"/>
              </a:spcAft>
            </a:pPr>
            <a:r>
              <a:rPr lang="fr-CA" dirty="0"/>
              <a:t>(S04) Prendre des décisions à court terme </a:t>
            </a:r>
          </a:p>
          <a:p>
            <a:pPr marL="285750" indent="-180000">
              <a:spcAft>
                <a:spcPts val="600"/>
              </a:spcAft>
              <a:buFont typeface="Arial" panose="020B0604020202020204" pitchFamily="34" charset="0"/>
              <a:buChar char="•"/>
            </a:pPr>
            <a:r>
              <a:rPr lang="fr-CA" i="1" dirty="0"/>
              <a:t>Calcul et analyse avec les marges</a:t>
            </a:r>
          </a:p>
          <a:p>
            <a:r>
              <a:rPr lang="fr-CA" dirty="0">
                <a:solidFill>
                  <a:schemeClr val="bg1">
                    <a:lumMod val="85000"/>
                  </a:schemeClr>
                </a:solidFill>
              </a:rPr>
              <a:t>(S05) Analyse la rentabilité par produit</a:t>
            </a:r>
          </a:p>
          <a:p>
            <a:pPr marL="285750" indent="-180000">
              <a:buFont typeface="Arial" panose="020B0604020202020204" pitchFamily="34" charset="0"/>
              <a:buChar char="•"/>
            </a:pPr>
            <a:r>
              <a:rPr lang="fr-CA" dirty="0">
                <a:solidFill>
                  <a:schemeClr val="bg1">
                    <a:lumMod val="85000"/>
                  </a:schemeClr>
                </a:solidFill>
              </a:rPr>
              <a:t>Imputation et Coût de fabrication unitaire</a:t>
            </a:r>
          </a:p>
        </p:txBody>
      </p:sp>
      <p:sp>
        <p:nvSpPr>
          <p:cNvPr id="8" name="ZoneTexte 7">
            <a:extLst>
              <a:ext uri="{FF2B5EF4-FFF2-40B4-BE49-F238E27FC236}">
                <a16:creationId xmlns:a16="http://schemas.microsoft.com/office/drawing/2014/main" id="{279518F0-7F00-9EDE-A4A0-F575EEDA4DB9}"/>
              </a:ext>
            </a:extLst>
          </p:cNvPr>
          <p:cNvSpPr txBox="1"/>
          <p:nvPr>
            <p:custDataLst>
              <p:tags r:id="rId2"/>
            </p:custDataLst>
          </p:nvPr>
        </p:nvSpPr>
        <p:spPr>
          <a:xfrm>
            <a:off x="346841" y="228600"/>
            <a:ext cx="1229711" cy="553998"/>
          </a:xfrm>
          <a:prstGeom prst="rect">
            <a:avLst/>
          </a:prstGeom>
          <a:noFill/>
        </p:spPr>
        <p:txBody>
          <a:bodyPr wrap="square" rtlCol="0">
            <a:spAutoFit/>
          </a:bodyPr>
          <a:lstStyle/>
          <a:p>
            <a:r>
              <a:rPr lang="fr-CA" sz="3000">
                <a:ln w="0"/>
                <a:solidFill>
                  <a:srgbClr val="002060"/>
                </a:solidFill>
                <a:latin typeface="+mj-lt"/>
              </a:rPr>
              <a:t>S03</a:t>
            </a:r>
          </a:p>
        </p:txBody>
      </p:sp>
      <p:graphicFrame>
        <p:nvGraphicFramePr>
          <p:cNvPr id="9" name="Tableau 9">
            <a:extLst>
              <a:ext uri="{FF2B5EF4-FFF2-40B4-BE49-F238E27FC236}">
                <a16:creationId xmlns:a16="http://schemas.microsoft.com/office/drawing/2014/main" id="{C03961DD-7D0C-0EAD-3248-4ACAB2AB15B3}"/>
              </a:ext>
            </a:extLst>
          </p:cNvPr>
          <p:cNvGraphicFramePr>
            <a:graphicFrameLocks noGrp="1"/>
          </p:cNvGraphicFramePr>
          <p:nvPr>
            <p:custDataLst>
              <p:tags r:id="rId3"/>
            </p:custDataLst>
            <p:extLst>
              <p:ext uri="{D42A27DB-BD31-4B8C-83A1-F6EECF244321}">
                <p14:modId xmlns:p14="http://schemas.microsoft.com/office/powerpoint/2010/main" val="1719977124"/>
              </p:ext>
            </p:extLst>
          </p:nvPr>
        </p:nvGraphicFramePr>
        <p:xfrm>
          <a:off x="4796989" y="1550494"/>
          <a:ext cx="7233182" cy="2656840"/>
        </p:xfrm>
        <a:graphic>
          <a:graphicData uri="http://schemas.openxmlformats.org/drawingml/2006/table">
            <a:tbl>
              <a:tblPr firstRow="1" bandRow="1">
                <a:tableStyleId>{5940675A-B579-460E-94D1-54222C63F5DA}</a:tableStyleId>
              </a:tblPr>
              <a:tblGrid>
                <a:gridCol w="2437282">
                  <a:extLst>
                    <a:ext uri="{9D8B030D-6E8A-4147-A177-3AD203B41FA5}">
                      <a16:colId xmlns:a16="http://schemas.microsoft.com/office/drawing/2014/main" val="3498432828"/>
                    </a:ext>
                  </a:extLst>
                </a:gridCol>
                <a:gridCol w="2137721">
                  <a:extLst>
                    <a:ext uri="{9D8B030D-6E8A-4147-A177-3AD203B41FA5}">
                      <a16:colId xmlns:a16="http://schemas.microsoft.com/office/drawing/2014/main" val="555937702"/>
                    </a:ext>
                  </a:extLst>
                </a:gridCol>
                <a:gridCol w="2658179">
                  <a:extLst>
                    <a:ext uri="{9D8B030D-6E8A-4147-A177-3AD203B41FA5}">
                      <a16:colId xmlns:a16="http://schemas.microsoft.com/office/drawing/2014/main" val="155866701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u="sng" dirty="0"/>
                        <a:t>Méthodes pour la comptabilité de gestion</a:t>
                      </a:r>
                    </a:p>
                  </a:txBody>
                  <a:tcPr/>
                </a:tc>
                <a:tc>
                  <a:txBody>
                    <a:bodyPr/>
                    <a:lstStyle/>
                    <a:p>
                      <a:r>
                        <a:rPr lang="fr-CA" sz="1400" dirty="0"/>
                        <a:t>Classification des coûts</a:t>
                      </a:r>
                    </a:p>
                  </a:txBody>
                  <a:tcPr/>
                </a:tc>
                <a:tc>
                  <a:txBody>
                    <a:bodyPr/>
                    <a:lstStyle/>
                    <a:p>
                      <a:r>
                        <a:rPr lang="fr-CA" sz="1400"/>
                        <a:t>Types de marges calculées</a:t>
                      </a:r>
                    </a:p>
                  </a:txBody>
                  <a:tcPr/>
                </a:tc>
                <a:extLst>
                  <a:ext uri="{0D108BD9-81ED-4DB2-BD59-A6C34878D82A}">
                    <a16:rowId xmlns:a16="http://schemas.microsoft.com/office/drawing/2014/main" val="102588944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a:solidFill>
                            <a:srgbClr val="0070C0"/>
                          </a:solidFill>
                        </a:rPr>
                        <a:t>Méthode des coûts variables</a:t>
                      </a:r>
                    </a:p>
                  </a:txBody>
                  <a:tcPr/>
                </a:tc>
                <a:tc>
                  <a:txBody>
                    <a:bodyPr/>
                    <a:lstStyle/>
                    <a:p>
                      <a:r>
                        <a:rPr lang="fr-CA" sz="1400" dirty="0">
                          <a:solidFill>
                            <a:srgbClr val="0070C0"/>
                          </a:solidFill>
                        </a:rPr>
                        <a:t>Variables ou Fixes</a:t>
                      </a:r>
                      <a:endParaRPr lang="fr-CA" sz="1400" dirty="0"/>
                    </a:p>
                  </a:txBody>
                  <a:tcPr/>
                </a:tc>
                <a:tc>
                  <a:txBody>
                    <a:bodyPr/>
                    <a:lstStyle/>
                    <a:p>
                      <a:r>
                        <a:rPr lang="fr-CA" sz="1400" dirty="0">
                          <a:solidFill>
                            <a:srgbClr val="0070C0"/>
                          </a:solidFill>
                        </a:rPr>
                        <a:t>Marge sur coûts variables (MCV)</a:t>
                      </a:r>
                    </a:p>
                    <a:p>
                      <a:r>
                        <a:rPr lang="fr-CA" sz="1400" dirty="0">
                          <a:solidFill>
                            <a:schemeClr val="bg1">
                              <a:lumMod val="85000"/>
                            </a:schemeClr>
                          </a:solidFill>
                        </a:rPr>
                        <a:t>Marge par facteur de production</a:t>
                      </a:r>
                    </a:p>
                  </a:txBody>
                  <a:tcPr/>
                </a:tc>
                <a:extLst>
                  <a:ext uri="{0D108BD9-81ED-4DB2-BD59-A6C34878D82A}">
                    <a16:rowId xmlns:a16="http://schemas.microsoft.com/office/drawing/2014/main" val="281182291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dirty="0">
                          <a:solidFill>
                            <a:schemeClr val="bg1">
                              <a:lumMod val="85000"/>
                            </a:schemeClr>
                          </a:solidFill>
                        </a:rPr>
                        <a:t>Méthode des coûts spécifiques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dirty="0">
                          <a:solidFill>
                            <a:schemeClr val="bg1">
                              <a:lumMod val="85000"/>
                            </a:schemeClr>
                          </a:solidFill>
                        </a:rPr>
                        <a:t>Variables ou Fixes</a:t>
                      </a:r>
                    </a:p>
                    <a:p>
                      <a:r>
                        <a:rPr lang="fr-CA" sz="1400" dirty="0">
                          <a:solidFill>
                            <a:schemeClr val="bg1">
                              <a:lumMod val="85000"/>
                            </a:schemeClr>
                          </a:solidFill>
                        </a:rPr>
                        <a:t>Fixes : communs ou spécifiques</a:t>
                      </a:r>
                    </a:p>
                  </a:txBody>
                  <a:tcPr/>
                </a:tc>
                <a:tc>
                  <a:txBody>
                    <a:bodyPr/>
                    <a:lstStyle/>
                    <a:p>
                      <a:r>
                        <a:rPr lang="fr-CA" sz="1400" dirty="0">
                          <a:solidFill>
                            <a:schemeClr val="bg1">
                              <a:lumMod val="85000"/>
                            </a:schemeClr>
                          </a:solidFill>
                        </a:rPr>
                        <a:t>Marge sur coûts spécifiques</a:t>
                      </a:r>
                    </a:p>
                  </a:txBody>
                  <a:tcPr/>
                </a:tc>
                <a:extLst>
                  <a:ext uri="{0D108BD9-81ED-4DB2-BD59-A6C34878D82A}">
                    <a16:rowId xmlns:a16="http://schemas.microsoft.com/office/drawing/2014/main" val="375870894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a:solidFill>
                            <a:schemeClr val="bg1">
                              <a:lumMod val="85000"/>
                            </a:schemeClr>
                          </a:solidFill>
                        </a:rPr>
                        <a:t>Méthode des coûts complets </a:t>
                      </a:r>
                    </a:p>
                  </a:txBody>
                  <a:tcPr/>
                </a:tc>
                <a:tc>
                  <a:txBody>
                    <a:bodyPr/>
                    <a:lstStyle/>
                    <a:p>
                      <a:r>
                        <a:rPr lang="fr-CA" sz="1400">
                          <a:solidFill>
                            <a:schemeClr val="bg1">
                              <a:lumMod val="85000"/>
                            </a:schemeClr>
                          </a:solidFill>
                        </a:rPr>
                        <a:t>Coût de fabrication et frais d’exploitation</a:t>
                      </a:r>
                    </a:p>
                  </a:txBody>
                  <a:tcPr/>
                </a:tc>
                <a:tc>
                  <a:txBody>
                    <a:bodyPr/>
                    <a:lstStyle/>
                    <a:p>
                      <a:r>
                        <a:rPr lang="fr-CA" sz="1400" dirty="0">
                          <a:solidFill>
                            <a:schemeClr val="bg1">
                              <a:lumMod val="85000"/>
                            </a:schemeClr>
                          </a:solidFill>
                        </a:rPr>
                        <a:t>Marge brute</a:t>
                      </a:r>
                    </a:p>
                  </a:txBody>
                  <a:tcPr/>
                </a:tc>
                <a:extLst>
                  <a:ext uri="{0D108BD9-81ED-4DB2-BD59-A6C34878D82A}">
                    <a16:rowId xmlns:a16="http://schemas.microsoft.com/office/drawing/2014/main" val="279876993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a:solidFill>
                            <a:schemeClr val="bg1">
                              <a:lumMod val="85000"/>
                            </a:schemeClr>
                          </a:solidFill>
                        </a:rPr>
                        <a:t>Méthode des coûts standards </a:t>
                      </a:r>
                    </a:p>
                  </a:txBody>
                  <a:tcPr/>
                </a:tc>
                <a:tc>
                  <a:txBody>
                    <a:bodyPr/>
                    <a:lstStyle/>
                    <a:p>
                      <a:endParaRPr lang="fr-CA" sz="1400">
                        <a:solidFill>
                          <a:schemeClr val="bg1">
                            <a:lumMod val="85000"/>
                          </a:schemeClr>
                        </a:solidFill>
                      </a:endParaRPr>
                    </a:p>
                  </a:txBody>
                  <a:tcPr/>
                </a:tc>
                <a:tc>
                  <a:txBody>
                    <a:bodyPr/>
                    <a:lstStyle/>
                    <a:p>
                      <a:endParaRPr lang="fr-CA" sz="1400" dirty="0">
                        <a:solidFill>
                          <a:schemeClr val="bg1">
                            <a:lumMod val="85000"/>
                          </a:schemeClr>
                        </a:solidFill>
                      </a:endParaRPr>
                    </a:p>
                  </a:txBody>
                  <a:tcPr/>
                </a:tc>
                <a:extLst>
                  <a:ext uri="{0D108BD9-81ED-4DB2-BD59-A6C34878D82A}">
                    <a16:rowId xmlns:a16="http://schemas.microsoft.com/office/drawing/2014/main" val="2669136118"/>
                  </a:ext>
                </a:extLst>
              </a:tr>
            </a:tbl>
          </a:graphicData>
        </a:graphic>
      </p:graphicFrame>
      <p:sp>
        <p:nvSpPr>
          <p:cNvPr id="11" name="ZoneTexte 10">
            <a:extLst>
              <a:ext uri="{FF2B5EF4-FFF2-40B4-BE49-F238E27FC236}">
                <a16:creationId xmlns:a16="http://schemas.microsoft.com/office/drawing/2014/main" id="{6D4CF873-CD73-4889-3FA2-CD40C5DFDD73}"/>
              </a:ext>
            </a:extLst>
          </p:cNvPr>
          <p:cNvSpPr txBox="1"/>
          <p:nvPr>
            <p:custDataLst>
              <p:tags r:id="rId4"/>
            </p:custDataLst>
          </p:nvPr>
        </p:nvSpPr>
        <p:spPr>
          <a:xfrm>
            <a:off x="5112793" y="459432"/>
            <a:ext cx="3085360" cy="646331"/>
          </a:xfrm>
          <a:prstGeom prst="rect">
            <a:avLst/>
          </a:prstGeom>
          <a:ln w="38100">
            <a:solidFill>
              <a:schemeClr val="accent6">
                <a:lumMod val="75000"/>
              </a:schemeClr>
            </a:solidFill>
          </a:ln>
          <a:effectLst>
            <a:glow rad="63500">
              <a:schemeClr val="accent2">
                <a:satMod val="175000"/>
                <a:alpha val="40000"/>
              </a:schemeClr>
            </a:glo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CA" dirty="0"/>
              <a:t>Gestionnaire veut agir sur</a:t>
            </a:r>
          </a:p>
          <a:p>
            <a:pPr algn="ctr"/>
            <a:r>
              <a:rPr lang="fr-CA" b="1" dirty="0"/>
              <a:t>Résultat d’exploitation</a:t>
            </a:r>
          </a:p>
        </p:txBody>
      </p:sp>
      <p:sp>
        <p:nvSpPr>
          <p:cNvPr id="4" name="Espace réservé du numéro de diapositive 3">
            <a:extLst>
              <a:ext uri="{FF2B5EF4-FFF2-40B4-BE49-F238E27FC236}">
                <a16:creationId xmlns:a16="http://schemas.microsoft.com/office/drawing/2014/main" id="{7475C5A4-6713-D89D-15A6-735EA2C449EF}"/>
              </a:ext>
            </a:extLst>
          </p:cNvPr>
          <p:cNvSpPr>
            <a:spLocks noGrp="1"/>
          </p:cNvSpPr>
          <p:nvPr>
            <p:ph type="sldNum" sz="quarter" idx="12"/>
            <p:custDataLst>
              <p:tags r:id="rId5"/>
            </p:custDataLst>
          </p:nvPr>
        </p:nvSpPr>
        <p:spPr/>
        <p:txBody>
          <a:bodyPr/>
          <a:lstStyle/>
          <a:p>
            <a:fld id="{1F20FBA3-27E4-4E13-841E-B59ED0E8E620}" type="slidenum">
              <a:rPr lang="fr-CA" smtClean="0">
                <a:solidFill>
                  <a:prstClr val="black">
                    <a:tint val="75000"/>
                  </a:prstClr>
                </a:solidFill>
              </a:rPr>
              <a:pPr/>
              <a:t>4</a:t>
            </a:fld>
            <a:endParaRPr lang="fr-CA">
              <a:solidFill>
                <a:prstClr val="black">
                  <a:tint val="75000"/>
                </a:prstClr>
              </a:solidFill>
            </a:endParaRPr>
          </a:p>
        </p:txBody>
      </p:sp>
      <p:sp>
        <p:nvSpPr>
          <p:cNvPr id="6" name="Espace réservé du pied de page 3">
            <a:extLst>
              <a:ext uri="{FF2B5EF4-FFF2-40B4-BE49-F238E27FC236}">
                <a16:creationId xmlns:a16="http://schemas.microsoft.com/office/drawing/2014/main" id="{A39C648A-1251-761F-AD3B-1290330D99EE}"/>
              </a:ext>
            </a:extLst>
          </p:cNvPr>
          <p:cNvSpPr>
            <a:spLocks noGrp="1"/>
          </p:cNvSpPr>
          <p:nvPr>
            <p:ph type="ftr" sz="quarter" idx="11"/>
            <p:custDataLst>
              <p:tags r:id="rId6"/>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Tree>
    <p:extLst>
      <p:ext uri="{BB962C8B-B14F-4D97-AF65-F5344CB8AC3E}">
        <p14:creationId xmlns:p14="http://schemas.microsoft.com/office/powerpoint/2010/main" val="985079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custDataLst>
              <p:tags r:id="rId1"/>
            </p:custDataLst>
          </p:nvPr>
        </p:nvSpPr>
        <p:spPr/>
        <p:txBody>
          <a:bodyPr>
            <a:normAutofit/>
          </a:bodyPr>
          <a:lstStyle/>
          <a:p>
            <a:r>
              <a:rPr lang="fr-CA" sz="4000" dirty="0"/>
              <a:t>Objectifs de la séance</a:t>
            </a:r>
          </a:p>
        </p:txBody>
      </p:sp>
      <p:sp>
        <p:nvSpPr>
          <p:cNvPr id="7" name="Espace réservé du contenu 6"/>
          <p:cNvSpPr>
            <a:spLocks noGrp="1"/>
          </p:cNvSpPr>
          <p:nvPr>
            <p:ph idx="1"/>
            <p:custDataLst>
              <p:tags r:id="rId2"/>
            </p:custDataLst>
          </p:nvPr>
        </p:nvSpPr>
        <p:spPr/>
        <p:txBody>
          <a:bodyPr vert="horz" lIns="91440" tIns="45720" rIns="91440" bIns="45720" rtlCol="0" anchor="t">
            <a:normAutofit/>
          </a:bodyPr>
          <a:lstStyle/>
          <a:p>
            <a:r>
              <a:rPr lang="fr-CA" dirty="0"/>
              <a:t>Identifier les coûts pertinents lors de décisions d’exploitation.</a:t>
            </a:r>
          </a:p>
          <a:p>
            <a:r>
              <a:rPr lang="fr-CA" dirty="0"/>
              <a:t>Utiliser l’approche différentielle pour la prise de décision d’exploitation à court terme. </a:t>
            </a:r>
          </a:p>
          <a:p>
            <a:pPr marL="457200" lvl="1" indent="0">
              <a:buNone/>
            </a:pPr>
            <a:r>
              <a:rPr lang="fr-CA" dirty="0"/>
              <a:t>-   La commande spéciale</a:t>
            </a:r>
          </a:p>
          <a:p>
            <a:pPr marL="742950" lvl="1" indent="-285750">
              <a:buFontTx/>
              <a:buChar char="-"/>
            </a:pPr>
            <a:r>
              <a:rPr lang="fr-CA" dirty="0"/>
              <a:t>Fabriquer ou sous-traiter un produit</a:t>
            </a:r>
          </a:p>
          <a:p>
            <a:pPr marL="742950" lvl="1" indent="-285750">
              <a:buFontTx/>
              <a:buChar char="-"/>
            </a:pPr>
            <a:r>
              <a:rPr lang="fr-CA" dirty="0"/>
              <a:t>Continuer ou abandonner un produit</a:t>
            </a:r>
          </a:p>
          <a:p>
            <a:pPr marL="457200" lvl="1" indent="0">
              <a:buNone/>
            </a:pPr>
            <a:endParaRPr lang="fr-CA" dirty="0"/>
          </a:p>
          <a:p>
            <a:r>
              <a:rPr lang="fr-CA" dirty="0"/>
              <a:t>Calculer et comprendre le prix de vente minimum acceptable lors d’une commande spéciale</a:t>
            </a:r>
            <a:endParaRPr lang="fr-CA" dirty="0">
              <a:cs typeface="Calibri"/>
            </a:endParaRPr>
          </a:p>
          <a:p>
            <a:pPr marL="0" indent="0">
              <a:buNone/>
            </a:pPr>
            <a:endParaRPr lang="fr-CA" dirty="0"/>
          </a:p>
          <a:p>
            <a:endParaRPr lang="fr-CA" i="1" dirty="0"/>
          </a:p>
        </p:txBody>
      </p:sp>
      <p:sp>
        <p:nvSpPr>
          <p:cNvPr id="3" name="Espace réservé du numéro de diapositive 2">
            <a:extLst>
              <a:ext uri="{FF2B5EF4-FFF2-40B4-BE49-F238E27FC236}">
                <a16:creationId xmlns:a16="http://schemas.microsoft.com/office/drawing/2014/main" id="{683FA15D-3FA1-25C3-7F78-E151F4455F6E}"/>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5</a:t>
            </a:fld>
            <a:endParaRPr lang="fr-CA">
              <a:solidFill>
                <a:prstClr val="black">
                  <a:tint val="75000"/>
                </a:prstClr>
              </a:solidFill>
            </a:endParaRPr>
          </a:p>
        </p:txBody>
      </p:sp>
      <p:sp>
        <p:nvSpPr>
          <p:cNvPr id="2" name="Espace réservé du pied de page 3">
            <a:extLst>
              <a:ext uri="{FF2B5EF4-FFF2-40B4-BE49-F238E27FC236}">
                <a16:creationId xmlns:a16="http://schemas.microsoft.com/office/drawing/2014/main" id="{03CBDDB8-A7ED-AE09-D87B-74DC9D2E7961}"/>
              </a:ext>
            </a:extLst>
          </p:cNvPr>
          <p:cNvSpPr>
            <a:spLocks noGrp="1"/>
          </p:cNvSpPr>
          <p:nvPr>
            <p:ph type="ftr" sz="quarter" idx="11"/>
            <p:custDataLst>
              <p:tags r:id="rId4"/>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Tree>
    <p:extLst>
      <p:ext uri="{BB962C8B-B14F-4D97-AF65-F5344CB8AC3E}">
        <p14:creationId xmlns:p14="http://schemas.microsoft.com/office/powerpoint/2010/main" val="1085958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6F70C8-E187-8FCA-367B-100B0F46AE3B}"/>
              </a:ext>
            </a:extLst>
          </p:cNvPr>
          <p:cNvSpPr>
            <a:spLocks noGrp="1"/>
          </p:cNvSpPr>
          <p:nvPr>
            <p:ph type="title"/>
            <p:custDataLst>
              <p:tags r:id="rId1"/>
            </p:custDataLst>
          </p:nvPr>
        </p:nvSpPr>
        <p:spPr/>
        <p:txBody>
          <a:bodyPr/>
          <a:lstStyle/>
          <a:p>
            <a:r>
              <a:rPr lang="fr-CA"/>
              <a:t>Les décisions d’exploitation</a:t>
            </a:r>
          </a:p>
        </p:txBody>
      </p:sp>
      <p:sp>
        <p:nvSpPr>
          <p:cNvPr id="3" name="Espace réservé du contenu 2">
            <a:extLst>
              <a:ext uri="{FF2B5EF4-FFF2-40B4-BE49-F238E27FC236}">
                <a16:creationId xmlns:a16="http://schemas.microsoft.com/office/drawing/2014/main" id="{1B4B9C0E-1571-F453-8DC9-8E867D31DB7F}"/>
              </a:ext>
            </a:extLst>
          </p:cNvPr>
          <p:cNvSpPr>
            <a:spLocks noGrp="1"/>
          </p:cNvSpPr>
          <p:nvPr>
            <p:ph idx="1"/>
            <p:custDataLst>
              <p:tags r:id="rId2"/>
            </p:custDataLst>
          </p:nvPr>
        </p:nvSpPr>
        <p:spPr>
          <a:xfrm>
            <a:off x="838200" y="1467850"/>
            <a:ext cx="10515600" cy="4981717"/>
          </a:xfrm>
        </p:spPr>
        <p:txBody>
          <a:bodyPr>
            <a:normAutofit/>
          </a:bodyPr>
          <a:lstStyle/>
          <a:p>
            <a:pPr>
              <a:lnSpc>
                <a:spcPct val="120000"/>
              </a:lnSpc>
              <a:spcAft>
                <a:spcPts val="600"/>
              </a:spcAft>
            </a:pPr>
            <a:r>
              <a:rPr lang="fr-CA" dirty="0"/>
              <a:t>Les décisions d’exploitation n’exigent pas d’investissement et sont souvent liées à des opérations courantes. Les décisions de ce type se présentent sous forme d’un choix entre deux ou plusieurs propositions. </a:t>
            </a:r>
          </a:p>
          <a:p>
            <a:pPr>
              <a:lnSpc>
                <a:spcPct val="120000"/>
              </a:lnSpc>
              <a:spcAft>
                <a:spcPts val="600"/>
              </a:spcAft>
            </a:pPr>
            <a:r>
              <a:rPr lang="fr-CA" sz="2800" dirty="0"/>
              <a:t>Exemples de décisions d’exploitation</a:t>
            </a:r>
            <a:endParaRPr lang="fr-CA" dirty="0"/>
          </a:p>
          <a:p>
            <a:pPr lvl="1"/>
            <a:r>
              <a:rPr lang="fr-CA" dirty="0"/>
              <a:t>Accepter ou rejeter une commande spéciale </a:t>
            </a:r>
            <a:endParaRPr lang="fr-CA" u="sng" dirty="0"/>
          </a:p>
          <a:p>
            <a:pPr lvl="1"/>
            <a:r>
              <a:rPr lang="fr-CA" dirty="0"/>
              <a:t>Acheter (sous-traiter) ou fabriquer un produit </a:t>
            </a:r>
          </a:p>
          <a:p>
            <a:pPr lvl="1"/>
            <a:r>
              <a:rPr lang="fr-CA" dirty="0"/>
              <a:t>Continuer (ajouter) ou abandonner un produit</a:t>
            </a:r>
          </a:p>
          <a:p>
            <a:pPr marL="0" indent="0">
              <a:lnSpc>
                <a:spcPct val="120000"/>
              </a:lnSpc>
              <a:spcAft>
                <a:spcPts val="600"/>
              </a:spcAft>
              <a:buNone/>
            </a:pPr>
            <a:endParaRPr lang="fr-CA" dirty="0"/>
          </a:p>
          <a:p>
            <a:pPr marL="457200" lvl="1" indent="0">
              <a:buNone/>
            </a:pPr>
            <a:endParaRPr lang="fr-CA" u="sng" dirty="0"/>
          </a:p>
          <a:p>
            <a:endParaRPr lang="fr-CA" dirty="0"/>
          </a:p>
        </p:txBody>
      </p:sp>
      <p:sp>
        <p:nvSpPr>
          <p:cNvPr id="6" name="Espace réservé du numéro de diapositive 5">
            <a:extLst>
              <a:ext uri="{FF2B5EF4-FFF2-40B4-BE49-F238E27FC236}">
                <a16:creationId xmlns:a16="http://schemas.microsoft.com/office/drawing/2014/main" id="{B271EA5D-7555-A5C1-0AF0-79EA8FAFEAB9}"/>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6</a:t>
            </a:fld>
            <a:endParaRPr lang="fr-CA">
              <a:solidFill>
                <a:prstClr val="black">
                  <a:tint val="75000"/>
                </a:prstClr>
              </a:solidFill>
            </a:endParaRPr>
          </a:p>
        </p:txBody>
      </p:sp>
      <p:sp>
        <p:nvSpPr>
          <p:cNvPr id="4" name="Espace réservé du pied de page 3">
            <a:extLst>
              <a:ext uri="{FF2B5EF4-FFF2-40B4-BE49-F238E27FC236}">
                <a16:creationId xmlns:a16="http://schemas.microsoft.com/office/drawing/2014/main" id="{7E8E0A48-2251-30A4-2ED1-3821CBD62F21}"/>
              </a:ext>
            </a:extLst>
          </p:cNvPr>
          <p:cNvSpPr>
            <a:spLocks noGrp="1"/>
          </p:cNvSpPr>
          <p:nvPr>
            <p:ph type="ftr" sz="quarter" idx="11"/>
            <p:custDataLst>
              <p:tags r:id="rId4"/>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Tree>
    <p:extLst>
      <p:ext uri="{BB962C8B-B14F-4D97-AF65-F5344CB8AC3E}">
        <p14:creationId xmlns:p14="http://schemas.microsoft.com/office/powerpoint/2010/main" val="1710798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59DC78-E814-484B-BAF3-449A92C77DF0}"/>
              </a:ext>
            </a:extLst>
          </p:cNvPr>
          <p:cNvSpPr>
            <a:spLocks noGrp="1"/>
          </p:cNvSpPr>
          <p:nvPr>
            <p:ph type="title"/>
            <p:custDataLst>
              <p:tags r:id="rId1"/>
            </p:custDataLst>
          </p:nvPr>
        </p:nvSpPr>
        <p:spPr/>
        <p:txBody>
          <a:bodyPr/>
          <a:lstStyle/>
          <a:p>
            <a:r>
              <a:rPr lang="fr-CA" dirty="0"/>
              <a:t>L’analyse des décisions d’exploitation</a:t>
            </a:r>
          </a:p>
        </p:txBody>
      </p:sp>
      <p:sp>
        <p:nvSpPr>
          <p:cNvPr id="3" name="Espace réservé du contenu 2">
            <a:extLst>
              <a:ext uri="{FF2B5EF4-FFF2-40B4-BE49-F238E27FC236}">
                <a16:creationId xmlns:a16="http://schemas.microsoft.com/office/drawing/2014/main" id="{8C6E3A51-93ED-4BBD-B26B-34224C8F229D}"/>
              </a:ext>
            </a:extLst>
          </p:cNvPr>
          <p:cNvSpPr>
            <a:spLocks noGrp="1"/>
          </p:cNvSpPr>
          <p:nvPr>
            <p:ph idx="1"/>
            <p:custDataLst>
              <p:tags r:id="rId2"/>
            </p:custDataLst>
          </p:nvPr>
        </p:nvSpPr>
        <p:spPr>
          <a:xfrm>
            <a:off x="838199" y="1553591"/>
            <a:ext cx="10787743" cy="4796795"/>
          </a:xfrm>
        </p:spPr>
        <p:txBody>
          <a:bodyPr vert="horz" lIns="91440" tIns="45720" rIns="91440" bIns="45720" rtlCol="0" anchor="t">
            <a:normAutofit fontScale="85000" lnSpcReduction="20000"/>
          </a:bodyPr>
          <a:lstStyle/>
          <a:p>
            <a:r>
              <a:rPr lang="fr-CA" sz="3000" dirty="0"/>
              <a:t>Les décisions d’exploitation doivent se faire :</a:t>
            </a:r>
          </a:p>
          <a:p>
            <a:pPr lvl="1">
              <a:lnSpc>
                <a:spcPct val="120000"/>
              </a:lnSpc>
            </a:pPr>
            <a:r>
              <a:rPr lang="fr-CA" dirty="0"/>
              <a:t>En identifiant les coûts et les revenus </a:t>
            </a:r>
            <a:r>
              <a:rPr lang="fr-CA" u="sng" dirty="0"/>
              <a:t>pertinents</a:t>
            </a:r>
            <a:r>
              <a:rPr lang="fr-CA" dirty="0"/>
              <a:t> (facteurs quantitatifs) pour connaître l’impact sur le résultat d’exploitation (augmentation ou diminution)</a:t>
            </a:r>
          </a:p>
          <a:p>
            <a:pPr lvl="1">
              <a:lnSpc>
                <a:spcPct val="120000"/>
              </a:lnSpc>
            </a:pPr>
            <a:r>
              <a:rPr lang="fr-CA" dirty="0"/>
              <a:t>Des aspects </a:t>
            </a:r>
            <a:r>
              <a:rPr lang="fr-CA" b="1" dirty="0"/>
              <a:t>non financiers </a:t>
            </a:r>
            <a:r>
              <a:rPr lang="fr-CA" dirty="0"/>
              <a:t>seront également considérés par les gestionnaires lorsqu’ils prendront leurs décisions (facteurs </a:t>
            </a:r>
            <a:r>
              <a:rPr lang="fr-CA" b="1" dirty="0"/>
              <a:t>qualitatifs</a:t>
            </a:r>
            <a:r>
              <a:rPr lang="fr-CA" dirty="0"/>
              <a:t>)</a:t>
            </a:r>
          </a:p>
          <a:p>
            <a:pPr marL="0" indent="0">
              <a:buNone/>
            </a:pPr>
            <a:endParaRPr lang="fr-CA" dirty="0"/>
          </a:p>
          <a:p>
            <a:r>
              <a:rPr lang="fr-CA" dirty="0"/>
              <a:t>Ces différents facteurs (qualitatifs) peuvent concerner : </a:t>
            </a:r>
          </a:p>
          <a:p>
            <a:pPr lvl="1"/>
            <a:r>
              <a:rPr lang="fr-CA" dirty="0"/>
              <a:t>les </a:t>
            </a:r>
            <a:r>
              <a:rPr lang="fr-CA" b="1" dirty="0"/>
              <a:t>clients</a:t>
            </a:r>
            <a:r>
              <a:rPr lang="fr-CA" dirty="0"/>
              <a:t> – ex : Cette décision va-t-elle nous permettre d’acquérir de nouveaux clients?</a:t>
            </a:r>
          </a:p>
          <a:p>
            <a:pPr lvl="1"/>
            <a:r>
              <a:rPr lang="fr-CA" dirty="0"/>
              <a:t>les </a:t>
            </a:r>
            <a:r>
              <a:rPr lang="fr-CA" b="1" dirty="0"/>
              <a:t>fournisseurs</a:t>
            </a:r>
            <a:r>
              <a:rPr lang="fr-CA" dirty="0"/>
              <a:t> – ex : Est-ce que nous trouverons des fournisseurs pour nous approvisionner? </a:t>
            </a:r>
          </a:p>
          <a:p>
            <a:pPr lvl="1"/>
            <a:r>
              <a:rPr lang="fr-CA" dirty="0"/>
              <a:t>les </a:t>
            </a:r>
            <a:r>
              <a:rPr lang="fr-CA" b="1" dirty="0"/>
              <a:t>employés</a:t>
            </a:r>
            <a:r>
              <a:rPr lang="fr-CA" dirty="0"/>
              <a:t> – ex : Est-ce que les employés seront satisfaits de cette décision? </a:t>
            </a:r>
          </a:p>
          <a:p>
            <a:pPr lvl="1"/>
            <a:r>
              <a:rPr lang="fr-CA" dirty="0"/>
              <a:t>la </a:t>
            </a:r>
            <a:r>
              <a:rPr lang="fr-CA" b="1" dirty="0"/>
              <a:t>qualité</a:t>
            </a:r>
            <a:r>
              <a:rPr lang="fr-CA" dirty="0"/>
              <a:t> – ex : Quels pourraient être les impacts de notre décision sur la qualité de notre produit?</a:t>
            </a:r>
          </a:p>
          <a:p>
            <a:pPr lvl="1"/>
            <a:r>
              <a:rPr lang="fr-CA" dirty="0"/>
              <a:t>la </a:t>
            </a:r>
            <a:r>
              <a:rPr lang="fr-CA" b="1" dirty="0"/>
              <a:t>trésorerie</a:t>
            </a:r>
            <a:r>
              <a:rPr lang="fr-CA" dirty="0"/>
              <a:t> – ex : Avons-nous la trésorerie nécessaire pour assumer l’accroissement du fonds de roulement associé à la décision? </a:t>
            </a:r>
          </a:p>
          <a:p>
            <a:pPr lvl="1"/>
            <a:r>
              <a:rPr lang="fr-CA" dirty="0"/>
              <a:t>(…)</a:t>
            </a:r>
          </a:p>
          <a:p>
            <a:pPr lvl="2"/>
            <a:endParaRPr lang="fr-CA" dirty="0">
              <a:highlight>
                <a:srgbClr val="FFFF00"/>
              </a:highlight>
            </a:endParaRPr>
          </a:p>
        </p:txBody>
      </p:sp>
      <p:sp>
        <p:nvSpPr>
          <p:cNvPr id="6" name="Espace réservé du numéro de diapositive 5">
            <a:extLst>
              <a:ext uri="{FF2B5EF4-FFF2-40B4-BE49-F238E27FC236}">
                <a16:creationId xmlns:a16="http://schemas.microsoft.com/office/drawing/2014/main" id="{38DAFBF1-1F99-A742-C8C9-4AA46D9EB587}"/>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7</a:t>
            </a:fld>
            <a:endParaRPr lang="fr-CA" dirty="0">
              <a:solidFill>
                <a:prstClr val="black">
                  <a:tint val="75000"/>
                </a:prstClr>
              </a:solidFill>
            </a:endParaRPr>
          </a:p>
        </p:txBody>
      </p:sp>
      <p:sp>
        <p:nvSpPr>
          <p:cNvPr id="4" name="Espace réservé du pied de page 3">
            <a:extLst>
              <a:ext uri="{FF2B5EF4-FFF2-40B4-BE49-F238E27FC236}">
                <a16:creationId xmlns:a16="http://schemas.microsoft.com/office/drawing/2014/main" id="{48FC1B59-15F2-4066-7950-921FE9FAB8A8}"/>
              </a:ext>
            </a:extLst>
          </p:cNvPr>
          <p:cNvSpPr>
            <a:spLocks noGrp="1"/>
          </p:cNvSpPr>
          <p:nvPr>
            <p:ph type="ftr" sz="quarter" idx="11"/>
            <p:custDataLst>
              <p:tags r:id="rId4"/>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Tree>
    <p:extLst>
      <p:ext uri="{BB962C8B-B14F-4D97-AF65-F5344CB8AC3E}">
        <p14:creationId xmlns:p14="http://schemas.microsoft.com/office/powerpoint/2010/main" val="3026091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2"/>
          <p:cNvSpPr>
            <a:spLocks noGrp="1" noChangeArrowheads="1"/>
          </p:cNvSpPr>
          <p:nvPr>
            <p:ph type="title"/>
            <p:custDataLst>
              <p:tags r:id="rId2"/>
            </p:custDataLst>
          </p:nvPr>
        </p:nvSpPr>
        <p:spPr/>
        <p:txBody>
          <a:bodyPr vert="horz" anchor="ctr">
            <a:noAutofit/>
          </a:bodyPr>
          <a:lstStyle/>
          <a:p>
            <a:pPr>
              <a:lnSpc>
                <a:spcPct val="80000"/>
              </a:lnSpc>
            </a:pPr>
            <a:r>
              <a:rPr lang="fr-FR" sz="4000"/>
              <a:t>Les coûts afférents à une décision</a:t>
            </a:r>
          </a:p>
        </p:txBody>
      </p:sp>
      <p:sp>
        <p:nvSpPr>
          <p:cNvPr id="5" name="Espace réservé du contenu 4"/>
          <p:cNvSpPr>
            <a:spLocks noGrp="1"/>
          </p:cNvSpPr>
          <p:nvPr>
            <p:ph idx="1"/>
            <p:custDataLst>
              <p:tags r:id="rId3"/>
            </p:custDataLst>
          </p:nvPr>
        </p:nvSpPr>
        <p:spPr>
          <a:xfrm>
            <a:off x="838200" y="1619522"/>
            <a:ext cx="10515600" cy="4882536"/>
          </a:xfrm>
        </p:spPr>
        <p:txBody>
          <a:bodyPr>
            <a:normAutofit fontScale="70000" lnSpcReduction="20000"/>
          </a:bodyPr>
          <a:lstStyle/>
          <a:p>
            <a:r>
              <a:rPr lang="fr-CA" dirty="0"/>
              <a:t>Les coûts pertinents</a:t>
            </a:r>
          </a:p>
          <a:p>
            <a:pPr lvl="1">
              <a:spcAft>
                <a:spcPts val="600"/>
              </a:spcAft>
            </a:pPr>
            <a:r>
              <a:rPr lang="fr-CA" dirty="0"/>
              <a:t>Coûts à prendre en considération </a:t>
            </a:r>
            <a:r>
              <a:rPr lang="fr-CA" sz="2400" dirty="0"/>
              <a:t>lors de l’évaluation quantitative d’une décision</a:t>
            </a:r>
          </a:p>
          <a:p>
            <a:pPr lvl="1"/>
            <a:r>
              <a:rPr lang="fr-CA" dirty="0"/>
              <a:t>S</a:t>
            </a:r>
            <a:r>
              <a:rPr lang="fr-CA" sz="2400" dirty="0"/>
              <a:t>ont encourus dans le futur, c’est-à-dire </a:t>
            </a:r>
            <a:r>
              <a:rPr lang="fr-CA" dirty="0"/>
              <a:t>qui «apparaît» si on va de l’avant avec la proposition</a:t>
            </a:r>
          </a:p>
          <a:p>
            <a:pPr lvl="2">
              <a:lnSpc>
                <a:spcPct val="120000"/>
              </a:lnSpc>
            </a:pPr>
            <a:r>
              <a:rPr lang="fr-CA" dirty="0"/>
              <a:t>Ex :  Vous hésitez à accepter une commande d’un client : Le coût des matières premières nécessaires pour fabriquer les produits de cette commande est un coût pertinent (car ce coût augmente si vous faites la commande). Par contre, le coût du loyer de l’usine n’est pas un coût pertinent (car ce coût est fixe et n’augmente pas si vous faites la commande).  </a:t>
            </a:r>
          </a:p>
          <a:p>
            <a:pPr lvl="1"/>
            <a:r>
              <a:rPr lang="fr-CA" sz="2400" dirty="0"/>
              <a:t>Les coûts qui diffèrent d’une proposition à l’autre</a:t>
            </a:r>
          </a:p>
          <a:p>
            <a:pPr marL="457200" lvl="1" indent="0">
              <a:buNone/>
            </a:pPr>
            <a:r>
              <a:rPr lang="fr-CA" dirty="0"/>
              <a:t>Exemples : </a:t>
            </a:r>
          </a:p>
          <a:p>
            <a:pPr lvl="1"/>
            <a:r>
              <a:rPr lang="fr-CA" dirty="0"/>
              <a:t>coûts </a:t>
            </a:r>
            <a:r>
              <a:rPr lang="fr-CA" b="1" dirty="0"/>
              <a:t>fixes spécifiques</a:t>
            </a:r>
          </a:p>
          <a:p>
            <a:pPr lvl="1"/>
            <a:r>
              <a:rPr lang="fr-CA" b="1" dirty="0"/>
              <a:t>Coût </a:t>
            </a:r>
            <a:r>
              <a:rPr lang="fr-CA" b="1"/>
              <a:t>de renonciation</a:t>
            </a:r>
            <a:endParaRPr lang="fr-CA" dirty="0"/>
          </a:p>
          <a:p>
            <a:r>
              <a:rPr lang="fr-CA" dirty="0"/>
              <a:t>Les coûts non pertinents</a:t>
            </a:r>
          </a:p>
          <a:p>
            <a:pPr lvl="1">
              <a:lnSpc>
                <a:spcPct val="120000"/>
              </a:lnSpc>
            </a:pPr>
            <a:r>
              <a:rPr lang="fr-CA" dirty="0"/>
              <a:t>Tous les coûts ne présentent pas de l’intérêt pour la prise de décision, par exemple les coûts qui ne diffèrent pas entre les deux propositions. Si un coût est identique quelle que soit l'alternative choisie, il peut être ignoré</a:t>
            </a:r>
          </a:p>
          <a:p>
            <a:pPr marL="457200" lvl="1" indent="0">
              <a:buNone/>
            </a:pPr>
            <a:r>
              <a:rPr lang="fr-CA" dirty="0"/>
              <a:t>Exemples : </a:t>
            </a:r>
          </a:p>
          <a:p>
            <a:pPr lvl="1"/>
            <a:r>
              <a:rPr lang="fr-CA" b="1" dirty="0"/>
              <a:t>coûts irrécupérables</a:t>
            </a:r>
          </a:p>
          <a:p>
            <a:pPr lvl="1"/>
            <a:r>
              <a:rPr lang="fr-CA" b="1" dirty="0"/>
              <a:t>coûts fixes communs</a:t>
            </a:r>
          </a:p>
          <a:p>
            <a:pPr marL="457200" lvl="1" indent="0">
              <a:buNone/>
            </a:pPr>
            <a:r>
              <a:rPr lang="fr-CA" dirty="0"/>
              <a:t>	</a:t>
            </a:r>
          </a:p>
        </p:txBody>
      </p:sp>
      <p:sp>
        <p:nvSpPr>
          <p:cNvPr id="4" name="Espace réservé du numéro de diapositive 3">
            <a:extLst>
              <a:ext uri="{FF2B5EF4-FFF2-40B4-BE49-F238E27FC236}">
                <a16:creationId xmlns:a16="http://schemas.microsoft.com/office/drawing/2014/main" id="{CD0F2368-3FB2-8CCD-50EF-21769489D9E2}"/>
              </a:ext>
            </a:extLst>
          </p:cNvPr>
          <p:cNvSpPr>
            <a:spLocks noGrp="1"/>
          </p:cNvSpPr>
          <p:nvPr>
            <p:ph type="sldNum" sz="quarter" idx="12"/>
            <p:custDataLst>
              <p:tags r:id="rId4"/>
            </p:custDataLst>
          </p:nvPr>
        </p:nvSpPr>
        <p:spPr/>
        <p:txBody>
          <a:bodyPr/>
          <a:lstStyle/>
          <a:p>
            <a:fld id="{1F20FBA3-27E4-4E13-841E-B59ED0E8E620}" type="slidenum">
              <a:rPr lang="fr-CA" smtClean="0">
                <a:solidFill>
                  <a:prstClr val="black">
                    <a:tint val="75000"/>
                  </a:prstClr>
                </a:solidFill>
              </a:rPr>
              <a:pPr/>
              <a:t>8</a:t>
            </a:fld>
            <a:endParaRPr lang="fr-CA" dirty="0">
              <a:solidFill>
                <a:prstClr val="black">
                  <a:tint val="75000"/>
                </a:prstClr>
              </a:solidFill>
            </a:endParaRPr>
          </a:p>
        </p:txBody>
      </p:sp>
      <p:sp>
        <p:nvSpPr>
          <p:cNvPr id="2" name="Espace réservé du pied de page 3">
            <a:extLst>
              <a:ext uri="{FF2B5EF4-FFF2-40B4-BE49-F238E27FC236}">
                <a16:creationId xmlns:a16="http://schemas.microsoft.com/office/drawing/2014/main" id="{B984A28F-7498-B399-6742-891B8062102B}"/>
              </a:ext>
            </a:extLst>
          </p:cNvPr>
          <p:cNvSpPr>
            <a:spLocks noGrp="1"/>
          </p:cNvSpPr>
          <p:nvPr>
            <p:ph type="ftr" sz="quarter" idx="11"/>
            <p:custDataLst>
              <p:tags r:id="rId5"/>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1321067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Grp="1" noChangeArrowheads="1"/>
          </p:cNvSpPr>
          <p:nvPr>
            <p:ph type="title"/>
            <p:custDataLst>
              <p:tags r:id="rId2"/>
            </p:custDataLst>
          </p:nvPr>
        </p:nvSpPr>
        <p:spPr/>
        <p:txBody>
          <a:bodyPr vert="horz" anchor="ctr">
            <a:noAutofit/>
          </a:bodyPr>
          <a:lstStyle/>
          <a:p>
            <a:pPr>
              <a:lnSpc>
                <a:spcPct val="80000"/>
              </a:lnSpc>
            </a:pPr>
            <a:r>
              <a:rPr lang="fr-CA" sz="4000" dirty="0"/>
              <a:t>Les coûts irrécupérables </a:t>
            </a:r>
            <a:r>
              <a:rPr lang="fr-CA" sz="2400" i="1" dirty="0"/>
              <a:t>(</a:t>
            </a:r>
            <a:r>
              <a:rPr lang="fr-CA" sz="2400" i="1" dirty="0" err="1"/>
              <a:t>sunk</a:t>
            </a:r>
            <a:r>
              <a:rPr lang="fr-CA" sz="2400" i="1" dirty="0"/>
              <a:t> </a:t>
            </a:r>
            <a:r>
              <a:rPr lang="fr-CA" sz="2400" i="1" dirty="0" err="1"/>
              <a:t>costs</a:t>
            </a:r>
            <a:r>
              <a:rPr lang="fr-CA" sz="2400" i="1" dirty="0"/>
              <a:t>)</a:t>
            </a:r>
          </a:p>
        </p:txBody>
      </p:sp>
      <p:sp>
        <p:nvSpPr>
          <p:cNvPr id="4" name="Espace réservé du contenu 3"/>
          <p:cNvSpPr>
            <a:spLocks noGrp="1"/>
          </p:cNvSpPr>
          <p:nvPr>
            <p:ph idx="1"/>
            <p:custDataLst>
              <p:tags r:id="rId3"/>
            </p:custDataLst>
          </p:nvPr>
        </p:nvSpPr>
        <p:spPr>
          <a:xfrm>
            <a:off x="838200" y="1541003"/>
            <a:ext cx="10515600" cy="4709112"/>
          </a:xfrm>
        </p:spPr>
        <p:txBody>
          <a:bodyPr>
            <a:normAutofit fontScale="85000" lnSpcReduction="20000"/>
          </a:bodyPr>
          <a:lstStyle/>
          <a:p>
            <a:pPr>
              <a:lnSpc>
                <a:spcPct val="120000"/>
              </a:lnSpc>
            </a:pPr>
            <a:r>
              <a:rPr lang="fr-CA" dirty="0"/>
              <a:t>Coût résultant d’une décision irrévocable dans le passé et qui ne peut être changée, peu importe la décision prise.</a:t>
            </a:r>
          </a:p>
          <a:p>
            <a:pPr lvl="1">
              <a:lnSpc>
                <a:spcPct val="120000"/>
              </a:lnSpc>
            </a:pPr>
            <a:r>
              <a:rPr lang="fr-CA" dirty="0"/>
              <a:t>Exemples: coût d’un stock désuet, coût d’une immobilisation que l’on veut changer, coût de recherche et développement déjà encourus</a:t>
            </a:r>
          </a:p>
          <a:p>
            <a:pPr marL="0" indent="0">
              <a:buNone/>
            </a:pPr>
            <a:endParaRPr lang="fr-CA" dirty="0"/>
          </a:p>
          <a:p>
            <a:pPr marL="0" indent="0">
              <a:buNone/>
            </a:pPr>
            <a:r>
              <a:rPr lang="fr-CA" dirty="0">
                <a:solidFill>
                  <a:srgbClr val="C00000"/>
                </a:solidFill>
              </a:rPr>
              <a:t>Quel coût est irrécupérable dans cette décision?</a:t>
            </a:r>
          </a:p>
          <a:p>
            <a:pPr marL="0" indent="0">
              <a:buNone/>
            </a:pPr>
            <a:r>
              <a:rPr lang="fr-CA" dirty="0"/>
              <a:t>Depuis 8 mois, l’entreprise ABC prépare un nouveau projet</a:t>
            </a:r>
          </a:p>
          <a:p>
            <a:r>
              <a:rPr lang="fr-CA" dirty="0"/>
              <a:t>Voici certaines données</a:t>
            </a:r>
          </a:p>
          <a:p>
            <a:pPr lvl="1"/>
            <a:r>
              <a:rPr lang="fr-CA" dirty="0"/>
              <a:t>Les frais d’étude du projet engagés jusqu’à maintenant s’élèvent à 600 000 $</a:t>
            </a:r>
          </a:p>
          <a:p>
            <a:pPr lvl="1"/>
            <a:r>
              <a:rPr lang="fr-CA" dirty="0"/>
              <a:t>Il n’y a aucun actif immobilisé d’inclus dans ce montant</a:t>
            </a:r>
          </a:p>
          <a:p>
            <a:pPr lvl="1"/>
            <a:r>
              <a:rPr lang="fr-CA" dirty="0"/>
              <a:t>En date d’aujourd’hui, on détermine que:</a:t>
            </a:r>
          </a:p>
          <a:p>
            <a:pPr lvl="2"/>
            <a:r>
              <a:rPr lang="fr-CA" sz="2400" dirty="0"/>
              <a:t>Les frais prévus pour terminer le projet sont de 900 000 $</a:t>
            </a:r>
          </a:p>
          <a:p>
            <a:pPr lvl="2"/>
            <a:r>
              <a:rPr lang="fr-CA" sz="2400" dirty="0"/>
              <a:t>Les revenus prévus s’élèvent à 1 300 000 $</a:t>
            </a:r>
          </a:p>
          <a:p>
            <a:endParaRPr lang="fr-CA" dirty="0"/>
          </a:p>
          <a:p>
            <a:endParaRPr lang="fr-CA" dirty="0"/>
          </a:p>
          <a:p>
            <a:pPr marL="0" indent="0">
              <a:buNone/>
            </a:pPr>
            <a:endParaRPr lang="fr-CA" dirty="0"/>
          </a:p>
        </p:txBody>
      </p:sp>
      <p:sp>
        <p:nvSpPr>
          <p:cNvPr id="5" name="Espace réservé du numéro de diapositive 4">
            <a:extLst>
              <a:ext uri="{FF2B5EF4-FFF2-40B4-BE49-F238E27FC236}">
                <a16:creationId xmlns:a16="http://schemas.microsoft.com/office/drawing/2014/main" id="{6F221141-0936-AD56-D857-C123C748B884}"/>
              </a:ext>
            </a:extLst>
          </p:cNvPr>
          <p:cNvSpPr>
            <a:spLocks noGrp="1"/>
          </p:cNvSpPr>
          <p:nvPr>
            <p:ph type="sldNum" sz="quarter" idx="12"/>
            <p:custDataLst>
              <p:tags r:id="rId4"/>
            </p:custDataLst>
          </p:nvPr>
        </p:nvSpPr>
        <p:spPr/>
        <p:txBody>
          <a:bodyPr/>
          <a:lstStyle/>
          <a:p>
            <a:fld id="{1F20FBA3-27E4-4E13-841E-B59ED0E8E620}" type="slidenum">
              <a:rPr lang="fr-CA" smtClean="0">
                <a:solidFill>
                  <a:prstClr val="black">
                    <a:tint val="75000"/>
                  </a:prstClr>
                </a:solidFill>
              </a:rPr>
              <a:pPr/>
              <a:t>9</a:t>
            </a:fld>
            <a:endParaRPr lang="fr-CA">
              <a:solidFill>
                <a:prstClr val="black">
                  <a:tint val="75000"/>
                </a:prstClr>
              </a:solidFill>
            </a:endParaRPr>
          </a:p>
        </p:txBody>
      </p:sp>
      <p:sp>
        <p:nvSpPr>
          <p:cNvPr id="2" name="Espace réservé du pied de page 3">
            <a:extLst>
              <a:ext uri="{FF2B5EF4-FFF2-40B4-BE49-F238E27FC236}">
                <a16:creationId xmlns:a16="http://schemas.microsoft.com/office/drawing/2014/main" id="{DB1A7EE6-AF2A-4D06-23B5-353E25A545B2}"/>
              </a:ext>
            </a:extLst>
          </p:cNvPr>
          <p:cNvSpPr>
            <a:spLocks noGrp="1"/>
          </p:cNvSpPr>
          <p:nvPr>
            <p:ph type="ftr" sz="quarter" idx="11"/>
            <p:custDataLst>
              <p:tags r:id="rId5"/>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584252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itre 3"/>
          <p:cNvSpPr>
            <a:spLocks noGrp="1"/>
          </p:cNvSpPr>
          <p:nvPr>
            <p:ph type="title"/>
            <p:custDataLst>
              <p:tags r:id="rId2"/>
            </p:custDataLst>
          </p:nvPr>
        </p:nvSpPr>
        <p:spPr>
          <a:xfrm>
            <a:off x="661416" y="215453"/>
            <a:ext cx="11106912" cy="1042570"/>
          </a:xfrm>
        </p:spPr>
        <p:txBody>
          <a:bodyPr>
            <a:noAutofit/>
          </a:bodyPr>
          <a:lstStyle/>
          <a:p>
            <a:r>
              <a:rPr lang="fr-CA" sz="4000" dirty="0"/>
              <a:t>Coûts fixes spécifiques et Coûts communs</a:t>
            </a:r>
            <a:endParaRPr lang="fr-CA" sz="3400" dirty="0">
              <a:highlight>
                <a:srgbClr val="FFFF00"/>
              </a:highlight>
              <a:cs typeface="Calibri Light" panose="020F0302020204030204"/>
            </a:endParaRPr>
          </a:p>
        </p:txBody>
      </p:sp>
      <p:sp>
        <p:nvSpPr>
          <p:cNvPr id="6" name="Espace réservé du contenu 5"/>
          <p:cNvSpPr>
            <a:spLocks noGrp="1"/>
          </p:cNvSpPr>
          <p:nvPr>
            <p:ph idx="1"/>
            <p:custDataLst>
              <p:tags r:id="rId3"/>
            </p:custDataLst>
          </p:nvPr>
        </p:nvSpPr>
        <p:spPr>
          <a:xfrm>
            <a:off x="838200" y="1441414"/>
            <a:ext cx="10601130" cy="5035586"/>
          </a:xfrm>
        </p:spPr>
        <p:txBody>
          <a:bodyPr vert="horz" lIns="91440" tIns="45720" rIns="91440" bIns="45720" rtlCol="0" anchor="t">
            <a:noAutofit/>
          </a:bodyPr>
          <a:lstStyle/>
          <a:p>
            <a:r>
              <a:rPr lang="fr-CA" sz="2400" b="1" dirty="0"/>
              <a:t>Coûts spécifiques</a:t>
            </a:r>
          </a:p>
          <a:p>
            <a:pPr lvl="1"/>
            <a:r>
              <a:rPr lang="fr-CA" sz="2000" dirty="0"/>
              <a:t>Coûts pouvant être associés spécifiquement à une entité organisationnelle, un centre de coûts ou un objet de coûts.</a:t>
            </a:r>
          </a:p>
          <a:p>
            <a:pPr lvl="1"/>
            <a:r>
              <a:rPr lang="fr-FR" sz="2000" dirty="0"/>
              <a:t>Si une ressource est consommée par un seul centre de coûts ou un seul objet de coûts, la ressource est entièrement affectée à </a:t>
            </a:r>
            <a:r>
              <a:rPr lang="fr-CA" sz="2000" dirty="0"/>
              <a:t>ce centre de coûts ou cet objet de coûts.</a:t>
            </a:r>
          </a:p>
          <a:p>
            <a:pPr lvl="2"/>
            <a:r>
              <a:rPr lang="fr-FR" sz="1800" dirty="0"/>
              <a:t>Exemple: Amortissement de l’équipement Y qui est utilisé uniquement pour l’objet de coûts Z</a:t>
            </a:r>
          </a:p>
          <a:p>
            <a:pPr lvl="1"/>
            <a:r>
              <a:rPr lang="fr-CA" sz="2000" i="1" dirty="0"/>
              <a:t>En théorie, ce coût disparaît si on arrête la production d’un objet de coûts ou si on procède à la fermeture (arrêt) d’un centre de coûts.</a:t>
            </a:r>
          </a:p>
          <a:p>
            <a:r>
              <a:rPr lang="fr-CA" sz="2400" b="1" dirty="0"/>
              <a:t> Coûts communs</a:t>
            </a:r>
            <a:endParaRPr lang="fr-CA" sz="2400" b="1" dirty="0">
              <a:cs typeface="Calibri"/>
            </a:endParaRPr>
          </a:p>
          <a:p>
            <a:pPr lvl="1"/>
            <a:r>
              <a:rPr lang="fr-CA" sz="2000" dirty="0"/>
              <a:t>Coûts partagés par plusieurs entités, centres de coûts ou objets de coûts </a:t>
            </a:r>
          </a:p>
          <a:p>
            <a:pPr lvl="1"/>
            <a:r>
              <a:rPr lang="fr-CA" sz="2000" dirty="0"/>
              <a:t>Autrement dit, ce sont les ressources que se partagent plusieurs objets de coûts (plusieurs produits) ou plusieurs centres de coûts.</a:t>
            </a:r>
          </a:p>
          <a:p>
            <a:pPr lvl="2"/>
            <a:r>
              <a:rPr lang="fr-CA" sz="1600" dirty="0"/>
              <a:t>Exemples : Amortissement du bâtiment, Taxes foncières, Chauffage et éclairage, salaire du directeur d’usine, etc.</a:t>
            </a:r>
          </a:p>
          <a:p>
            <a:pPr lvl="1"/>
            <a:r>
              <a:rPr lang="fr-CA" sz="2000" i="1" dirty="0"/>
              <a:t>Ce coût n’est généralement pas affecté par l’arrêt de production d’un objet de coûts ou la fermeture (arrêt) d’un centre de coûts.</a:t>
            </a:r>
          </a:p>
        </p:txBody>
      </p:sp>
      <p:sp>
        <p:nvSpPr>
          <p:cNvPr id="116738" name="Rectangle 2"/>
          <p:cNvSpPr>
            <a:spLocks noChangeArrowheads="1"/>
          </p:cNvSpPr>
          <p:nvPr>
            <p:custDataLst>
              <p:tags r:id="rId4"/>
            </p:custDataLst>
          </p:nvPr>
        </p:nvSpPr>
        <p:spPr bwMode="auto">
          <a:xfrm>
            <a:off x="2209800" y="6248400"/>
            <a:ext cx="1905000" cy="457200"/>
          </a:xfrm>
          <a:prstGeom prst="rect">
            <a:avLst/>
          </a:prstGeom>
          <a:noFill/>
          <a:ln w="9525">
            <a:noFill/>
            <a:miter lim="800000"/>
            <a:headEnd/>
            <a:tailEnd/>
          </a:ln>
          <a:effectLst/>
        </p:spPr>
        <p:txBody>
          <a:bodyPr wrap="none" anchor="ctr"/>
          <a:lstStyle/>
          <a:p>
            <a:endParaRPr lang="fr-CA"/>
          </a:p>
        </p:txBody>
      </p:sp>
      <p:sp>
        <p:nvSpPr>
          <p:cNvPr id="116739" name="Rectangle 3"/>
          <p:cNvSpPr>
            <a:spLocks noChangeArrowheads="1"/>
          </p:cNvSpPr>
          <p:nvPr>
            <p:custDataLst>
              <p:tags r:id="rId5"/>
            </p:custDataLst>
          </p:nvPr>
        </p:nvSpPr>
        <p:spPr bwMode="auto">
          <a:xfrm>
            <a:off x="4648200" y="6354233"/>
            <a:ext cx="2895600" cy="457200"/>
          </a:xfrm>
          <a:prstGeom prst="rect">
            <a:avLst/>
          </a:prstGeom>
          <a:noFill/>
          <a:ln w="9525">
            <a:noFill/>
            <a:miter lim="800000"/>
            <a:headEnd/>
            <a:tailEnd/>
          </a:ln>
          <a:effectLst/>
        </p:spPr>
        <p:txBody>
          <a:bodyPr wrap="none" anchor="ctr"/>
          <a:lstStyle/>
          <a:p>
            <a:endParaRPr lang="fr-CA"/>
          </a:p>
        </p:txBody>
      </p:sp>
      <p:sp>
        <p:nvSpPr>
          <p:cNvPr id="5" name="Espace réservé du numéro de diapositive 4">
            <a:extLst>
              <a:ext uri="{FF2B5EF4-FFF2-40B4-BE49-F238E27FC236}">
                <a16:creationId xmlns:a16="http://schemas.microsoft.com/office/drawing/2014/main" id="{8C717BD1-C6C2-BE10-90A9-F3CC6D629977}"/>
              </a:ext>
            </a:extLst>
          </p:cNvPr>
          <p:cNvSpPr>
            <a:spLocks noGrp="1"/>
          </p:cNvSpPr>
          <p:nvPr>
            <p:ph type="sldNum" sz="quarter" idx="12"/>
            <p:custDataLst>
              <p:tags r:id="rId6"/>
            </p:custDataLst>
          </p:nvPr>
        </p:nvSpPr>
        <p:spPr/>
        <p:txBody>
          <a:bodyPr/>
          <a:lstStyle/>
          <a:p>
            <a:fld id="{1F20FBA3-27E4-4E13-841E-B59ED0E8E620}" type="slidenum">
              <a:rPr lang="fr-CA" smtClean="0">
                <a:solidFill>
                  <a:prstClr val="black">
                    <a:tint val="75000"/>
                  </a:prstClr>
                </a:solidFill>
              </a:rPr>
              <a:pPr/>
              <a:t>10</a:t>
            </a:fld>
            <a:endParaRPr lang="fr-CA" dirty="0">
              <a:solidFill>
                <a:prstClr val="black">
                  <a:tint val="75000"/>
                </a:prstClr>
              </a:solidFill>
            </a:endParaRPr>
          </a:p>
        </p:txBody>
      </p:sp>
      <p:sp>
        <p:nvSpPr>
          <p:cNvPr id="2" name="Espace réservé du pied de page 3">
            <a:extLst>
              <a:ext uri="{FF2B5EF4-FFF2-40B4-BE49-F238E27FC236}">
                <a16:creationId xmlns:a16="http://schemas.microsoft.com/office/drawing/2014/main" id="{A1D81ECE-A872-BD54-F8CF-CE3DDE10ECD9}"/>
              </a:ext>
            </a:extLst>
          </p:cNvPr>
          <p:cNvSpPr>
            <a:spLocks noGrp="1"/>
          </p:cNvSpPr>
          <p:nvPr>
            <p:ph type="ftr" sz="quarter" idx="11"/>
            <p:custDataLst>
              <p:tags r:id="rId7"/>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1328331743"/>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p:cNvSpPr>
            <a:spLocks noGrp="1" noChangeArrowheads="1"/>
          </p:cNvSpPr>
          <p:nvPr>
            <p:ph type="title"/>
            <p:custDataLst>
              <p:tags r:id="rId2"/>
            </p:custDataLst>
          </p:nvPr>
        </p:nvSpPr>
        <p:spPr/>
        <p:txBody>
          <a:bodyPr vert="horz" anchor="ctr">
            <a:noAutofit/>
          </a:bodyPr>
          <a:lstStyle/>
          <a:p>
            <a:pPr>
              <a:lnSpc>
                <a:spcPct val="80000"/>
              </a:lnSpc>
            </a:pPr>
            <a:r>
              <a:rPr lang="fr-FR" sz="4000" dirty="0"/>
              <a:t>Coût de renonciation</a:t>
            </a:r>
            <a:r>
              <a:rPr lang="fr-FR" sz="2400" i="1" dirty="0"/>
              <a:t> (</a:t>
            </a:r>
            <a:r>
              <a:rPr lang="fr-CA" sz="2400" i="1" dirty="0"/>
              <a:t>Opportunity </a:t>
            </a:r>
            <a:r>
              <a:rPr lang="fr-CA" sz="2400" i="1" dirty="0" err="1"/>
              <a:t>cost</a:t>
            </a:r>
            <a:r>
              <a:rPr lang="fr-CA" sz="2400" i="1" dirty="0"/>
              <a:t>)</a:t>
            </a:r>
            <a:endParaRPr lang="fr-FR" sz="4000" dirty="0"/>
          </a:p>
        </p:txBody>
      </p:sp>
      <p:sp>
        <p:nvSpPr>
          <p:cNvPr id="4" name="Espace réservé du contenu 3"/>
          <p:cNvSpPr>
            <a:spLocks noGrp="1"/>
          </p:cNvSpPr>
          <p:nvPr>
            <p:ph idx="1"/>
            <p:custDataLst>
              <p:tags r:id="rId3"/>
            </p:custDataLst>
          </p:nvPr>
        </p:nvSpPr>
        <p:spPr>
          <a:xfrm>
            <a:off x="923730" y="1544292"/>
            <a:ext cx="10515600" cy="4709112"/>
          </a:xfrm>
        </p:spPr>
        <p:txBody>
          <a:bodyPr vert="horz" lIns="91440" tIns="45720" rIns="91440" bIns="45720" rtlCol="0" anchor="t">
            <a:normAutofit fontScale="92500" lnSpcReduction="10000"/>
          </a:bodyPr>
          <a:lstStyle/>
          <a:p>
            <a:pPr>
              <a:lnSpc>
                <a:spcPct val="120000"/>
              </a:lnSpc>
              <a:spcBef>
                <a:spcPts val="600"/>
              </a:spcBef>
            </a:pPr>
            <a:r>
              <a:rPr lang="fr-CA" dirty="0"/>
              <a:t>Manque à gagner (gain auquel on renonce) causé par la renonciation à une option considérée comme la meilleure après celle qui a été choisie.</a:t>
            </a:r>
          </a:p>
          <a:p>
            <a:pPr lvl="1">
              <a:lnSpc>
                <a:spcPct val="120000"/>
              </a:lnSpc>
            </a:pPr>
            <a:r>
              <a:rPr lang="fr-CA" sz="2600" b="1" i="1" dirty="0"/>
              <a:t>Par exemple : </a:t>
            </a:r>
            <a:r>
              <a:rPr lang="fr-CA" sz="2600" dirty="0"/>
              <a:t>L’entreprise ABC détient une machine qui peut être utilisée pour faire le produit A </a:t>
            </a:r>
            <a:r>
              <a:rPr lang="fr-CA" sz="2600" u="sng" dirty="0"/>
              <a:t>ou</a:t>
            </a:r>
            <a:r>
              <a:rPr lang="fr-CA" sz="2600" dirty="0"/>
              <a:t> le produit B. Si l’entreprise choisit d’utiliser la machine pour fabriquer le produit A, elle renoncera à la marge qui aurait pu être dégagée grâce à la production du produit B. Ce gain perdu s'appelle un coût de renonciation.</a:t>
            </a:r>
          </a:p>
          <a:p>
            <a:pPr marL="457200" lvl="1" indent="0">
              <a:buNone/>
            </a:pPr>
            <a:endParaRPr lang="fr-CA" dirty="0">
              <a:cs typeface="Calibri" panose="020F0502020204030204"/>
            </a:endParaRPr>
          </a:p>
          <a:p>
            <a:pPr>
              <a:spcBef>
                <a:spcPts val="600"/>
              </a:spcBef>
            </a:pPr>
            <a:r>
              <a:rPr lang="fr-CA" dirty="0"/>
              <a:t>Il est </a:t>
            </a:r>
            <a:r>
              <a:rPr lang="fr-CA" u="sng" dirty="0"/>
              <a:t>toujours pertinent </a:t>
            </a:r>
            <a:r>
              <a:rPr lang="fr-CA" dirty="0"/>
              <a:t>pour la prise de décision</a:t>
            </a:r>
            <a:endParaRPr lang="fr-CA" dirty="0">
              <a:cs typeface="Calibri"/>
            </a:endParaRPr>
          </a:p>
          <a:p>
            <a:pPr marL="0" indent="0">
              <a:spcBef>
                <a:spcPts val="600"/>
              </a:spcBef>
              <a:buNone/>
            </a:pPr>
            <a:endParaRPr lang="fr-CA" dirty="0"/>
          </a:p>
          <a:p>
            <a:pPr>
              <a:spcBef>
                <a:spcPts val="600"/>
              </a:spcBef>
            </a:pPr>
            <a:r>
              <a:rPr lang="fr-CA" dirty="0"/>
              <a:t>Il n’implique pas de déboursés, car il ne résulte d’aucune transaction</a:t>
            </a:r>
            <a:endParaRPr lang="fr-CA" dirty="0">
              <a:cs typeface="Calibri"/>
            </a:endParaRPr>
          </a:p>
          <a:p>
            <a:pPr marL="0" indent="0">
              <a:spcBef>
                <a:spcPts val="600"/>
              </a:spcBef>
              <a:buNone/>
            </a:pPr>
            <a:endParaRPr lang="fr-CA" dirty="0"/>
          </a:p>
        </p:txBody>
      </p:sp>
      <p:sp>
        <p:nvSpPr>
          <p:cNvPr id="5" name="Espace réservé du numéro de diapositive 4">
            <a:extLst>
              <a:ext uri="{FF2B5EF4-FFF2-40B4-BE49-F238E27FC236}">
                <a16:creationId xmlns:a16="http://schemas.microsoft.com/office/drawing/2014/main" id="{6140B50B-B217-6702-E6E6-761744398F9A}"/>
              </a:ext>
            </a:extLst>
          </p:cNvPr>
          <p:cNvSpPr>
            <a:spLocks noGrp="1"/>
          </p:cNvSpPr>
          <p:nvPr>
            <p:ph type="sldNum" sz="quarter" idx="12"/>
            <p:custDataLst>
              <p:tags r:id="rId4"/>
            </p:custDataLst>
          </p:nvPr>
        </p:nvSpPr>
        <p:spPr/>
        <p:txBody>
          <a:bodyPr/>
          <a:lstStyle/>
          <a:p>
            <a:fld id="{1F20FBA3-27E4-4E13-841E-B59ED0E8E620}" type="slidenum">
              <a:rPr lang="fr-CA" smtClean="0">
                <a:solidFill>
                  <a:prstClr val="black">
                    <a:tint val="75000"/>
                  </a:prstClr>
                </a:solidFill>
              </a:rPr>
              <a:pPr/>
              <a:t>11</a:t>
            </a:fld>
            <a:endParaRPr lang="fr-CA">
              <a:solidFill>
                <a:prstClr val="black">
                  <a:tint val="75000"/>
                </a:prstClr>
              </a:solidFill>
            </a:endParaRPr>
          </a:p>
        </p:txBody>
      </p:sp>
      <p:sp>
        <p:nvSpPr>
          <p:cNvPr id="2" name="Espace réservé du pied de page 3">
            <a:extLst>
              <a:ext uri="{FF2B5EF4-FFF2-40B4-BE49-F238E27FC236}">
                <a16:creationId xmlns:a16="http://schemas.microsoft.com/office/drawing/2014/main" id="{C7CA13F8-0B9F-FD5F-4B4A-F0B04C05FEEB}"/>
              </a:ext>
            </a:extLst>
          </p:cNvPr>
          <p:cNvSpPr>
            <a:spLocks noGrp="1"/>
          </p:cNvSpPr>
          <p:nvPr>
            <p:ph type="ftr" sz="quarter" idx="11"/>
            <p:custDataLst>
              <p:tags r:id="rId5"/>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2548101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p:custDataLst>
              <p:tags r:id="rId2"/>
            </p:custDataLst>
          </p:nvPr>
        </p:nvSpPr>
        <p:spPr/>
        <p:txBody>
          <a:bodyPr>
            <a:noAutofit/>
          </a:bodyPr>
          <a:lstStyle/>
          <a:p>
            <a:pPr>
              <a:lnSpc>
                <a:spcPct val="90000"/>
              </a:lnSpc>
            </a:pPr>
            <a:r>
              <a:rPr lang="fr-CA" sz="4000" dirty="0"/>
              <a:t>Exemple - coûts pertinents</a:t>
            </a:r>
          </a:p>
        </p:txBody>
      </p:sp>
      <p:sp>
        <p:nvSpPr>
          <p:cNvPr id="7" name="Espace réservé du contenu 6"/>
          <p:cNvSpPr>
            <a:spLocks noGrp="1"/>
          </p:cNvSpPr>
          <p:nvPr>
            <p:ph sz="half" idx="1"/>
            <p:custDataLst>
              <p:tags r:id="rId3"/>
            </p:custDataLst>
          </p:nvPr>
        </p:nvSpPr>
        <p:spPr>
          <a:xfrm>
            <a:off x="838200" y="1598769"/>
            <a:ext cx="10515600" cy="2896853"/>
          </a:xfrm>
        </p:spPr>
        <p:txBody>
          <a:bodyPr>
            <a:normAutofit fontScale="92500" lnSpcReduction="10000"/>
          </a:bodyPr>
          <a:lstStyle/>
          <a:p>
            <a:r>
              <a:rPr lang="fr-CA" sz="2400" dirty="0"/>
              <a:t>Une entreprise fabrique un produit vendu à 20 $ l’unité.</a:t>
            </a:r>
          </a:p>
          <a:p>
            <a:r>
              <a:rPr lang="fr-CA" sz="2400" dirty="0"/>
              <a:t>Le volume des ventes actuelles s’élève à 4 000 unités par mois, ce qui représente 80 % de la capacité de production.</a:t>
            </a:r>
          </a:p>
          <a:p>
            <a:pPr>
              <a:spcAft>
                <a:spcPts val="600"/>
              </a:spcAft>
            </a:pPr>
            <a:r>
              <a:rPr lang="fr-CA" sz="2400" dirty="0"/>
              <a:t>Les coûts totaux actuels pour produire les 4 000 unités, s’élèvent à 56 000 $, ce qui inclut 16 000 $ de coûts fixes.</a:t>
            </a:r>
          </a:p>
          <a:p>
            <a:r>
              <a:rPr lang="fr-CA" sz="2400" dirty="0"/>
              <a:t>On pourrait vendre les unités produites avec la capacité excédentaire, soit 1 000 unités, au prix de 11 $ l’unité.</a:t>
            </a:r>
          </a:p>
          <a:p>
            <a:pPr marL="0" indent="0">
              <a:buNone/>
            </a:pPr>
            <a:r>
              <a:rPr lang="fr-CA" sz="2400" dirty="0"/>
              <a:t>Le directeur de production vous assure que cette vente n’est pas rentable.</a:t>
            </a:r>
          </a:p>
          <a:p>
            <a:pPr marL="457200" lvl="1" indent="0">
              <a:buNone/>
            </a:pPr>
            <a:endParaRPr lang="fr-CA" dirty="0"/>
          </a:p>
          <a:p>
            <a:endParaRPr lang="fr-CA" sz="2000" dirty="0"/>
          </a:p>
          <a:p>
            <a:pPr marL="0" indent="0">
              <a:buNone/>
            </a:pPr>
            <a:endParaRPr lang="fr-CA" sz="2000" dirty="0"/>
          </a:p>
        </p:txBody>
      </p:sp>
      <p:sp>
        <p:nvSpPr>
          <p:cNvPr id="4" name="Espace réservé du numéro de diapositive 3">
            <a:extLst>
              <a:ext uri="{FF2B5EF4-FFF2-40B4-BE49-F238E27FC236}">
                <a16:creationId xmlns:a16="http://schemas.microsoft.com/office/drawing/2014/main" id="{863FFEEB-97FC-7553-8CCF-F4D5DB5D9C7B}"/>
              </a:ext>
            </a:extLst>
          </p:cNvPr>
          <p:cNvSpPr>
            <a:spLocks noGrp="1"/>
          </p:cNvSpPr>
          <p:nvPr>
            <p:ph type="sldNum" sz="quarter" idx="12"/>
            <p:custDataLst>
              <p:tags r:id="rId4"/>
            </p:custDataLst>
          </p:nvPr>
        </p:nvSpPr>
        <p:spPr/>
        <p:txBody>
          <a:bodyPr/>
          <a:lstStyle/>
          <a:p>
            <a:fld id="{1F20FBA3-27E4-4E13-841E-B59ED0E8E620}" type="slidenum">
              <a:rPr lang="fr-CA" smtClean="0">
                <a:solidFill>
                  <a:prstClr val="black">
                    <a:tint val="75000"/>
                  </a:prstClr>
                </a:solidFill>
              </a:rPr>
              <a:pPr/>
              <a:t>12</a:t>
            </a:fld>
            <a:endParaRPr lang="fr-CA">
              <a:solidFill>
                <a:prstClr val="black">
                  <a:tint val="75000"/>
                </a:prstClr>
              </a:solidFill>
            </a:endParaRPr>
          </a:p>
        </p:txBody>
      </p:sp>
      <p:sp>
        <p:nvSpPr>
          <p:cNvPr id="3" name="Espace réservé du pied de page 3">
            <a:extLst>
              <a:ext uri="{FF2B5EF4-FFF2-40B4-BE49-F238E27FC236}">
                <a16:creationId xmlns:a16="http://schemas.microsoft.com/office/drawing/2014/main" id="{5E809CD7-7FAB-C7B8-AA5A-73E1DB83FC9C}"/>
              </a:ext>
            </a:extLst>
          </p:cNvPr>
          <p:cNvSpPr>
            <a:spLocks noGrp="1"/>
          </p:cNvSpPr>
          <p:nvPr>
            <p:ph type="ftr" sz="quarter" idx="11"/>
            <p:custDataLst>
              <p:tags r:id="rId5"/>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
        <p:nvSpPr>
          <p:cNvPr id="5" name="Espace réservé du contenu 6">
            <a:extLst>
              <a:ext uri="{FF2B5EF4-FFF2-40B4-BE49-F238E27FC236}">
                <a16:creationId xmlns:a16="http://schemas.microsoft.com/office/drawing/2014/main" id="{CC57FB5A-D6D4-33FE-17A8-F3DABBAF3690}"/>
              </a:ext>
            </a:extLst>
          </p:cNvPr>
          <p:cNvSpPr txBox="1">
            <a:spLocks/>
          </p:cNvSpPr>
          <p:nvPr>
            <p:custDataLst>
              <p:tags r:id="rId6"/>
            </p:custDataLst>
          </p:nvPr>
        </p:nvSpPr>
        <p:spPr>
          <a:xfrm>
            <a:off x="412989" y="4567995"/>
            <a:ext cx="3455644" cy="706581"/>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fr-CA" sz="2200" b="1" dirty="0">
                <a:solidFill>
                  <a:srgbClr val="C00000"/>
                </a:solidFill>
              </a:rPr>
              <a:t>Qu’en pensez-vous? </a:t>
            </a:r>
            <a:endParaRPr lang="fr-CA" sz="2200" b="1" dirty="0">
              <a:solidFill>
                <a:srgbClr val="C00000"/>
              </a:solidFill>
              <a:ea typeface="Calibri"/>
              <a:cs typeface="Calibri"/>
            </a:endParaRPr>
          </a:p>
          <a:p>
            <a:pPr marL="457200" lvl="1" indent="0">
              <a:buFont typeface="Arial" panose="020B0604020202020204" pitchFamily="34" charset="0"/>
              <a:buNone/>
            </a:pPr>
            <a:r>
              <a:rPr lang="fr-CA" sz="2200" dirty="0"/>
              <a:t>Justification du directeur</a:t>
            </a:r>
            <a:endParaRPr lang="fr-CA" sz="2200" dirty="0">
              <a:ea typeface="Calibri"/>
              <a:cs typeface="Calibri"/>
            </a:endParaRPr>
          </a:p>
          <a:p>
            <a:endParaRPr lang="fr-CA" sz="2000" dirty="0"/>
          </a:p>
          <a:p>
            <a:pPr marL="0" indent="0">
              <a:buNone/>
            </a:pPr>
            <a:endParaRPr lang="fr-CA" sz="2000" dirty="0"/>
          </a:p>
        </p:txBody>
      </p:sp>
      <p:graphicFrame>
        <p:nvGraphicFramePr>
          <p:cNvPr id="6" name="Tableau 5">
            <a:extLst>
              <a:ext uri="{FF2B5EF4-FFF2-40B4-BE49-F238E27FC236}">
                <a16:creationId xmlns:a16="http://schemas.microsoft.com/office/drawing/2014/main" id="{4E978045-F9B5-C31B-C8BE-57B63061CB3B}"/>
              </a:ext>
            </a:extLst>
          </p:cNvPr>
          <p:cNvGraphicFramePr>
            <a:graphicFrameLocks noGrp="1"/>
          </p:cNvGraphicFramePr>
          <p:nvPr>
            <p:custDataLst>
              <p:tags r:id="rId7"/>
            </p:custDataLst>
          </p:nvPr>
        </p:nvGraphicFramePr>
        <p:xfrm>
          <a:off x="3944140" y="4701187"/>
          <a:ext cx="4307148" cy="1381760"/>
        </p:xfrm>
        <a:graphic>
          <a:graphicData uri="http://schemas.openxmlformats.org/drawingml/2006/table">
            <a:tbl>
              <a:tblPr firstRow="1" bandRow="1">
                <a:tableStyleId>{5940675A-B579-460E-94D1-54222C63F5DA}</a:tableStyleId>
              </a:tblPr>
              <a:tblGrid>
                <a:gridCol w="3105375">
                  <a:extLst>
                    <a:ext uri="{9D8B030D-6E8A-4147-A177-3AD203B41FA5}">
                      <a16:colId xmlns:a16="http://schemas.microsoft.com/office/drawing/2014/main" val="650547502"/>
                    </a:ext>
                  </a:extLst>
                </a:gridCol>
                <a:gridCol w="1201773">
                  <a:extLst>
                    <a:ext uri="{9D8B030D-6E8A-4147-A177-3AD203B41FA5}">
                      <a16:colId xmlns:a16="http://schemas.microsoft.com/office/drawing/2014/main" val="2463165038"/>
                    </a:ext>
                  </a:extLst>
                </a:gridCol>
              </a:tblGrid>
              <a:tr h="370840">
                <a:tc>
                  <a:txBody>
                    <a:bodyPr/>
                    <a:lstStyle/>
                    <a:p>
                      <a:r>
                        <a:rPr lang="fr-CA" dirty="0"/>
                        <a:t>Prix de vente </a:t>
                      </a:r>
                    </a:p>
                  </a:txBody>
                  <a:tcPr/>
                </a:tc>
                <a:tc>
                  <a:txBody>
                    <a:bodyPr/>
                    <a:lstStyle/>
                    <a:p>
                      <a:pPr algn="ctr"/>
                      <a:r>
                        <a:rPr lang="fr-CA" dirty="0"/>
                        <a:t>    11 $</a:t>
                      </a:r>
                    </a:p>
                  </a:txBody>
                  <a:tcPr/>
                </a:tc>
                <a:extLst>
                  <a:ext uri="{0D108BD9-81ED-4DB2-BD59-A6C34878D82A}">
                    <a16:rowId xmlns:a16="http://schemas.microsoft.com/office/drawing/2014/main" val="3893467185"/>
                  </a:ext>
                </a:extLst>
              </a:tr>
              <a:tr h="370840">
                <a:tc>
                  <a:txBody>
                    <a:bodyPr/>
                    <a:lstStyle/>
                    <a:p>
                      <a:r>
                        <a:rPr lang="fr-CA" dirty="0"/>
                        <a:t>Coût moyen de fabrication</a:t>
                      </a:r>
                    </a:p>
                    <a:p>
                      <a:r>
                        <a:rPr lang="fr-CA" dirty="0"/>
                        <a:t>56 000 $ / 4 000 unités</a:t>
                      </a:r>
                    </a:p>
                  </a:txBody>
                  <a:tcPr/>
                </a:tc>
                <a:tc>
                  <a:txBody>
                    <a:bodyPr/>
                    <a:lstStyle/>
                    <a:p>
                      <a:pPr algn="ctr"/>
                      <a:r>
                        <a:rPr lang="fr-CA" dirty="0"/>
                        <a:t>    14 $</a:t>
                      </a:r>
                    </a:p>
                  </a:txBody>
                  <a:tcPr/>
                </a:tc>
                <a:extLst>
                  <a:ext uri="{0D108BD9-81ED-4DB2-BD59-A6C34878D82A}">
                    <a16:rowId xmlns:a16="http://schemas.microsoft.com/office/drawing/2014/main" val="4258617267"/>
                  </a:ext>
                </a:extLst>
              </a:tr>
              <a:tr h="370840">
                <a:tc>
                  <a:txBody>
                    <a:bodyPr/>
                    <a:lstStyle/>
                    <a:p>
                      <a:r>
                        <a:rPr lang="fr-CA" dirty="0"/>
                        <a:t>Résultat</a:t>
                      </a:r>
                    </a:p>
                  </a:txBody>
                  <a:tcPr/>
                </a:tc>
                <a:tc>
                  <a:txBody>
                    <a:bodyPr/>
                    <a:lstStyle/>
                    <a:p>
                      <a:pPr algn="ctr"/>
                      <a:r>
                        <a:rPr lang="fr-CA" dirty="0"/>
                        <a:t>   (3 $) </a:t>
                      </a:r>
                    </a:p>
                  </a:txBody>
                  <a:tcPr/>
                </a:tc>
                <a:extLst>
                  <a:ext uri="{0D108BD9-81ED-4DB2-BD59-A6C34878D82A}">
                    <a16:rowId xmlns:a16="http://schemas.microsoft.com/office/drawing/2014/main" val="3759847599"/>
                  </a:ext>
                </a:extLst>
              </a:tr>
            </a:tbl>
          </a:graphicData>
        </a:graphic>
      </p:graphicFrame>
    </p:spTree>
    <p:custDataLst>
      <p:tags r:id="rId1"/>
    </p:custDataLst>
    <p:extLst>
      <p:ext uri="{BB962C8B-B14F-4D97-AF65-F5344CB8AC3E}">
        <p14:creationId xmlns:p14="http://schemas.microsoft.com/office/powerpoint/2010/main" val="23886468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EF6EE-4B2B-358A-AD46-1351672981A3}"/>
              </a:ext>
            </a:extLst>
          </p:cNvPr>
          <p:cNvSpPr>
            <a:spLocks noGrp="1"/>
          </p:cNvSpPr>
          <p:nvPr>
            <p:ph type="title"/>
            <p:custDataLst>
              <p:tags r:id="rId1"/>
            </p:custDataLst>
          </p:nvPr>
        </p:nvSpPr>
        <p:spPr/>
        <p:txBody>
          <a:bodyPr>
            <a:normAutofit/>
          </a:bodyPr>
          <a:lstStyle/>
          <a:p>
            <a:r>
              <a:rPr lang="fr-CA" dirty="0"/>
              <a:t>Piste de solution… </a:t>
            </a:r>
            <a:endParaRPr lang="en-US" dirty="0" err="1"/>
          </a:p>
        </p:txBody>
      </p:sp>
      <p:sp>
        <p:nvSpPr>
          <p:cNvPr id="6" name="Slide Number Placeholder 5">
            <a:extLst>
              <a:ext uri="{FF2B5EF4-FFF2-40B4-BE49-F238E27FC236}">
                <a16:creationId xmlns:a16="http://schemas.microsoft.com/office/drawing/2014/main" id="{FDBE28C2-569E-DFEF-FB40-C4513BAC748C}"/>
              </a:ext>
            </a:extLst>
          </p:cNvPr>
          <p:cNvSpPr>
            <a:spLocks noGrp="1"/>
          </p:cNvSpPr>
          <p:nvPr>
            <p:ph type="sldNum" sz="quarter" idx="12"/>
            <p:custDataLst>
              <p:tags r:id="rId2"/>
            </p:custDataLst>
          </p:nvPr>
        </p:nvSpPr>
        <p:spPr/>
        <p:txBody>
          <a:bodyPr/>
          <a:lstStyle/>
          <a:p>
            <a:fld id="{1F20FBA3-27E4-4E13-841E-B59ED0E8E620}" type="slidenum">
              <a:rPr lang="fr-CA" smtClean="0">
                <a:solidFill>
                  <a:prstClr val="black">
                    <a:tint val="75000"/>
                  </a:prstClr>
                </a:solidFill>
              </a:rPr>
              <a:pPr/>
              <a:t>13</a:t>
            </a:fld>
            <a:endParaRPr lang="fr-CA" dirty="0">
              <a:solidFill>
                <a:prstClr val="black">
                  <a:tint val="75000"/>
                </a:prstClr>
              </a:solidFill>
            </a:endParaRPr>
          </a:p>
        </p:txBody>
      </p:sp>
      <p:pic>
        <p:nvPicPr>
          <p:cNvPr id="8" name="Picture 7">
            <a:extLst>
              <a:ext uri="{FF2B5EF4-FFF2-40B4-BE49-F238E27FC236}">
                <a16:creationId xmlns:a16="http://schemas.microsoft.com/office/drawing/2014/main" id="{12B9EB4F-A110-420B-AEEE-DBB738EF7DD2}"/>
              </a:ext>
            </a:extLst>
          </p:cNvPr>
          <p:cNvPicPr>
            <a:picLocks noChangeAspect="1"/>
          </p:cNvPicPr>
          <p:nvPr>
            <p:custDataLst>
              <p:tags r:id="rId3"/>
            </p:custDataLst>
          </p:nvPr>
        </p:nvPicPr>
        <p:blipFill>
          <a:blip r:embed="rId16"/>
          <a:stretch>
            <a:fillRect/>
          </a:stretch>
        </p:blipFill>
        <p:spPr>
          <a:xfrm>
            <a:off x="1837460" y="5899874"/>
            <a:ext cx="4998027" cy="309129"/>
          </a:xfrm>
          <a:prstGeom prst="rect">
            <a:avLst/>
          </a:prstGeom>
        </p:spPr>
      </p:pic>
      <p:pic>
        <p:nvPicPr>
          <p:cNvPr id="9" name="Picture 8">
            <a:extLst>
              <a:ext uri="{FF2B5EF4-FFF2-40B4-BE49-F238E27FC236}">
                <a16:creationId xmlns:a16="http://schemas.microsoft.com/office/drawing/2014/main" id="{748C2995-6D90-B078-3D32-F65AA332EE6B}"/>
              </a:ext>
            </a:extLst>
          </p:cNvPr>
          <p:cNvPicPr>
            <a:picLocks noChangeAspect="1"/>
          </p:cNvPicPr>
          <p:nvPr>
            <p:custDataLst>
              <p:tags r:id="rId4"/>
            </p:custDataLst>
          </p:nvPr>
        </p:nvPicPr>
        <p:blipFill>
          <a:blip r:embed="rId16"/>
          <a:stretch>
            <a:fillRect/>
          </a:stretch>
        </p:blipFill>
        <p:spPr>
          <a:xfrm rot="-5400000">
            <a:off x="-379269" y="3724707"/>
            <a:ext cx="4457701" cy="226002"/>
          </a:xfrm>
          <a:prstGeom prst="rect">
            <a:avLst/>
          </a:prstGeom>
        </p:spPr>
      </p:pic>
      <p:sp>
        <p:nvSpPr>
          <p:cNvPr id="10" name="TextBox 9">
            <a:extLst>
              <a:ext uri="{FF2B5EF4-FFF2-40B4-BE49-F238E27FC236}">
                <a16:creationId xmlns:a16="http://schemas.microsoft.com/office/drawing/2014/main" id="{3F676ADF-3600-3981-7443-1EC6F09C418E}"/>
              </a:ext>
            </a:extLst>
          </p:cNvPr>
          <p:cNvSpPr txBox="1"/>
          <p:nvPr>
            <p:custDataLst>
              <p:tags r:id="rId5"/>
            </p:custDataLst>
          </p:nvPr>
        </p:nvSpPr>
        <p:spPr>
          <a:xfrm>
            <a:off x="5999018" y="5624945"/>
            <a:ext cx="108065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000" b="1" dirty="0">
                <a:ea typeface="Calibri"/>
                <a:cs typeface="Calibri"/>
              </a:rPr>
              <a:t>Volume</a:t>
            </a:r>
            <a:endParaRPr lang="en-US" sz="2000" dirty="0">
              <a:ea typeface="Calibri" panose="020F0502020204030204"/>
              <a:cs typeface="Calibri" panose="020F0502020204030204"/>
            </a:endParaRPr>
          </a:p>
        </p:txBody>
      </p:sp>
      <p:sp>
        <p:nvSpPr>
          <p:cNvPr id="11" name="TextBox 10">
            <a:extLst>
              <a:ext uri="{FF2B5EF4-FFF2-40B4-BE49-F238E27FC236}">
                <a16:creationId xmlns:a16="http://schemas.microsoft.com/office/drawing/2014/main" id="{7E48FDF2-687B-C859-3D50-FF043628CB40}"/>
              </a:ext>
            </a:extLst>
          </p:cNvPr>
          <p:cNvSpPr txBox="1"/>
          <p:nvPr>
            <p:custDataLst>
              <p:tags r:id="rId6"/>
            </p:custDataLst>
          </p:nvPr>
        </p:nvSpPr>
        <p:spPr>
          <a:xfrm>
            <a:off x="1177635" y="1607127"/>
            <a:ext cx="554183" cy="4924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600" b="1" dirty="0">
                <a:ea typeface="Calibri"/>
                <a:cs typeface="Calibri"/>
              </a:rPr>
              <a:t>$</a:t>
            </a:r>
          </a:p>
        </p:txBody>
      </p:sp>
      <p:pic>
        <p:nvPicPr>
          <p:cNvPr id="12" name="Picture 11">
            <a:extLst>
              <a:ext uri="{FF2B5EF4-FFF2-40B4-BE49-F238E27FC236}">
                <a16:creationId xmlns:a16="http://schemas.microsoft.com/office/drawing/2014/main" id="{9F604C8F-E707-481E-BADC-0DAA2CD290EF}"/>
              </a:ext>
            </a:extLst>
          </p:cNvPr>
          <p:cNvPicPr>
            <a:picLocks noChangeAspect="1"/>
          </p:cNvPicPr>
          <p:nvPr>
            <p:custDataLst>
              <p:tags r:id="rId7"/>
            </p:custDataLst>
          </p:nvPr>
        </p:nvPicPr>
        <p:blipFill>
          <a:blip r:embed="rId17"/>
          <a:stretch>
            <a:fillRect/>
          </a:stretch>
        </p:blipFill>
        <p:spPr>
          <a:xfrm rot="21021663">
            <a:off x="1668173" y="3090474"/>
            <a:ext cx="4632387" cy="2018453"/>
          </a:xfrm>
          <a:prstGeom prst="rect">
            <a:avLst/>
          </a:prstGeom>
        </p:spPr>
      </p:pic>
      <p:pic>
        <p:nvPicPr>
          <p:cNvPr id="13" name="Picture 12">
            <a:extLst>
              <a:ext uri="{FF2B5EF4-FFF2-40B4-BE49-F238E27FC236}">
                <a16:creationId xmlns:a16="http://schemas.microsoft.com/office/drawing/2014/main" id="{A8C3C815-3795-7ADD-0275-C4CD9F06D8BA}"/>
              </a:ext>
            </a:extLst>
          </p:cNvPr>
          <p:cNvPicPr>
            <a:picLocks noChangeAspect="1"/>
          </p:cNvPicPr>
          <p:nvPr>
            <p:custDataLst>
              <p:tags r:id="rId8"/>
            </p:custDataLst>
          </p:nvPr>
        </p:nvPicPr>
        <p:blipFill>
          <a:blip r:embed="rId18"/>
          <a:stretch>
            <a:fillRect/>
          </a:stretch>
        </p:blipFill>
        <p:spPr>
          <a:xfrm>
            <a:off x="5170669" y="3453932"/>
            <a:ext cx="9525" cy="2477020"/>
          </a:xfrm>
          <a:prstGeom prst="rect">
            <a:avLst/>
          </a:prstGeom>
        </p:spPr>
      </p:pic>
      <p:pic>
        <p:nvPicPr>
          <p:cNvPr id="14" name="Picture 13">
            <a:extLst>
              <a:ext uri="{FF2B5EF4-FFF2-40B4-BE49-F238E27FC236}">
                <a16:creationId xmlns:a16="http://schemas.microsoft.com/office/drawing/2014/main" id="{1987D3CC-6F55-1DCC-7FDF-564662907675}"/>
              </a:ext>
            </a:extLst>
          </p:cNvPr>
          <p:cNvPicPr>
            <a:picLocks noChangeAspect="1"/>
          </p:cNvPicPr>
          <p:nvPr>
            <p:custDataLst>
              <p:tags r:id="rId9"/>
            </p:custDataLst>
          </p:nvPr>
        </p:nvPicPr>
        <p:blipFill>
          <a:blip r:embed="rId18"/>
          <a:stretch>
            <a:fillRect/>
          </a:stretch>
        </p:blipFill>
        <p:spPr>
          <a:xfrm>
            <a:off x="5980400" y="2755756"/>
            <a:ext cx="9525" cy="3200226"/>
          </a:xfrm>
          <a:prstGeom prst="rect">
            <a:avLst/>
          </a:prstGeom>
        </p:spPr>
      </p:pic>
      <p:pic>
        <p:nvPicPr>
          <p:cNvPr id="16" name="Picture 15">
            <a:extLst>
              <a:ext uri="{FF2B5EF4-FFF2-40B4-BE49-F238E27FC236}">
                <a16:creationId xmlns:a16="http://schemas.microsoft.com/office/drawing/2014/main" id="{8EBABA66-D6D6-DF63-90E5-0B0F4987FF99}"/>
              </a:ext>
            </a:extLst>
          </p:cNvPr>
          <p:cNvPicPr>
            <a:picLocks noChangeAspect="1"/>
          </p:cNvPicPr>
          <p:nvPr>
            <p:custDataLst>
              <p:tags r:id="rId10"/>
            </p:custDataLst>
          </p:nvPr>
        </p:nvPicPr>
        <p:blipFill>
          <a:blip r:embed="rId18"/>
          <a:stretch>
            <a:fillRect/>
          </a:stretch>
        </p:blipFill>
        <p:spPr>
          <a:xfrm rot="5400000">
            <a:off x="3444931" y="1701781"/>
            <a:ext cx="9525" cy="3200226"/>
          </a:xfrm>
          <a:prstGeom prst="rect">
            <a:avLst/>
          </a:prstGeom>
        </p:spPr>
      </p:pic>
      <p:sp>
        <p:nvSpPr>
          <p:cNvPr id="3" name="Espace réservé du pied de page 3">
            <a:extLst>
              <a:ext uri="{FF2B5EF4-FFF2-40B4-BE49-F238E27FC236}">
                <a16:creationId xmlns:a16="http://schemas.microsoft.com/office/drawing/2014/main" id="{7D7606E5-64B3-948C-1D1F-7A7A5AAD38AB}"/>
              </a:ext>
            </a:extLst>
          </p:cNvPr>
          <p:cNvSpPr>
            <a:spLocks noGrp="1"/>
          </p:cNvSpPr>
          <p:nvPr>
            <p:ph type="ftr" sz="quarter" idx="11"/>
            <p:custDataLst>
              <p:tags r:id="rId11"/>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
        <p:nvSpPr>
          <p:cNvPr id="4" name="ZoneTexte 3">
            <a:extLst>
              <a:ext uri="{FF2B5EF4-FFF2-40B4-BE49-F238E27FC236}">
                <a16:creationId xmlns:a16="http://schemas.microsoft.com/office/drawing/2014/main" id="{7F3669F1-FACA-35FD-D6E3-F3C85D1FB541}"/>
              </a:ext>
            </a:extLst>
          </p:cNvPr>
          <p:cNvSpPr txBox="1"/>
          <p:nvPr/>
        </p:nvSpPr>
        <p:spPr>
          <a:xfrm>
            <a:off x="4706001" y="6062732"/>
            <a:ext cx="929335" cy="369332"/>
          </a:xfrm>
          <a:prstGeom prst="rect">
            <a:avLst/>
          </a:prstGeom>
          <a:noFill/>
        </p:spPr>
        <p:txBody>
          <a:bodyPr wrap="square" rtlCol="0">
            <a:spAutoFit/>
          </a:bodyPr>
          <a:lstStyle/>
          <a:p>
            <a:r>
              <a:rPr lang="fr-CA" dirty="0"/>
              <a:t>4 000 u. </a:t>
            </a:r>
          </a:p>
        </p:txBody>
      </p:sp>
      <p:sp>
        <p:nvSpPr>
          <p:cNvPr id="5" name="ZoneTexte 4">
            <a:extLst>
              <a:ext uri="{FF2B5EF4-FFF2-40B4-BE49-F238E27FC236}">
                <a16:creationId xmlns:a16="http://schemas.microsoft.com/office/drawing/2014/main" id="{BCDB93CD-6D3E-AA95-BD7D-A815BBC1EF3E}"/>
              </a:ext>
            </a:extLst>
          </p:cNvPr>
          <p:cNvSpPr txBox="1"/>
          <p:nvPr/>
        </p:nvSpPr>
        <p:spPr>
          <a:xfrm>
            <a:off x="5743484" y="6084934"/>
            <a:ext cx="929335" cy="369332"/>
          </a:xfrm>
          <a:prstGeom prst="rect">
            <a:avLst/>
          </a:prstGeom>
          <a:noFill/>
        </p:spPr>
        <p:txBody>
          <a:bodyPr wrap="square" rtlCol="0">
            <a:spAutoFit/>
          </a:bodyPr>
          <a:lstStyle/>
          <a:p>
            <a:r>
              <a:rPr lang="fr-CA" dirty="0"/>
              <a:t>5 000 u. </a:t>
            </a:r>
          </a:p>
        </p:txBody>
      </p:sp>
      <p:sp>
        <p:nvSpPr>
          <p:cNvPr id="7" name="ZoneTexte 6">
            <a:extLst>
              <a:ext uri="{FF2B5EF4-FFF2-40B4-BE49-F238E27FC236}">
                <a16:creationId xmlns:a16="http://schemas.microsoft.com/office/drawing/2014/main" id="{42763D93-EBBA-8C24-93A0-4D9399E5B9C0}"/>
              </a:ext>
            </a:extLst>
          </p:cNvPr>
          <p:cNvSpPr txBox="1"/>
          <p:nvPr/>
        </p:nvSpPr>
        <p:spPr>
          <a:xfrm>
            <a:off x="6233375" y="1725769"/>
            <a:ext cx="5736244" cy="707886"/>
          </a:xfrm>
          <a:prstGeom prst="rect">
            <a:avLst/>
          </a:prstGeom>
          <a:noFill/>
        </p:spPr>
        <p:txBody>
          <a:bodyPr wrap="square" rtlCol="0">
            <a:spAutoFit/>
          </a:bodyPr>
          <a:lstStyle/>
          <a:p>
            <a:r>
              <a:rPr lang="fr-CA" sz="2000" dirty="0"/>
              <a:t>Quels coûts augmentent avec l’augmentation du volume de production ?</a:t>
            </a:r>
          </a:p>
        </p:txBody>
      </p:sp>
      <p:sp>
        <p:nvSpPr>
          <p:cNvPr id="15" name="Rectangle : carré corné 14">
            <a:extLst>
              <a:ext uri="{FF2B5EF4-FFF2-40B4-BE49-F238E27FC236}">
                <a16:creationId xmlns:a16="http://schemas.microsoft.com/office/drawing/2014/main" id="{87C6F858-370A-2482-3871-1380F22C4A09}"/>
              </a:ext>
            </a:extLst>
          </p:cNvPr>
          <p:cNvSpPr/>
          <p:nvPr>
            <p:custDataLst>
              <p:tags r:id="rId12"/>
            </p:custDataLst>
          </p:nvPr>
        </p:nvSpPr>
        <p:spPr>
          <a:xfrm>
            <a:off x="7064663" y="2556000"/>
            <a:ext cx="4904956" cy="1506185"/>
          </a:xfrm>
          <a:prstGeom prst="foldedCorner">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fr-CA" dirty="0">
              <a:solidFill>
                <a:schemeClr val="tx1"/>
              </a:solidFill>
            </a:endParaRPr>
          </a:p>
          <a:p>
            <a:pPr algn="ctr"/>
            <a:r>
              <a:rPr lang="fr-CA" dirty="0">
                <a:solidFill>
                  <a:schemeClr val="tx1"/>
                </a:solidFill>
              </a:rPr>
              <a:t>Le coût fixe total est constant à l’intérieur du segment significatif, il est donc non pertinent, car il ne change pas avec l’augmentation du volume (S01) </a:t>
            </a:r>
          </a:p>
          <a:p>
            <a:pPr algn="ctr"/>
            <a:r>
              <a:rPr lang="fr-CA" dirty="0">
                <a:solidFill>
                  <a:schemeClr val="tx1"/>
                </a:solidFill>
                <a:cs typeface="Calibri"/>
              </a:rPr>
              <a:t>(coût commun)</a:t>
            </a:r>
          </a:p>
        </p:txBody>
      </p:sp>
      <p:sp>
        <p:nvSpPr>
          <p:cNvPr id="17" name="ZoneTexte 16">
            <a:extLst>
              <a:ext uri="{FF2B5EF4-FFF2-40B4-BE49-F238E27FC236}">
                <a16:creationId xmlns:a16="http://schemas.microsoft.com/office/drawing/2014/main" id="{133F5778-B490-7A3D-6AEA-664461B896A5}"/>
              </a:ext>
            </a:extLst>
          </p:cNvPr>
          <p:cNvSpPr txBox="1"/>
          <p:nvPr>
            <p:custDataLst>
              <p:tags r:id="rId13"/>
            </p:custDataLst>
          </p:nvPr>
        </p:nvSpPr>
        <p:spPr>
          <a:xfrm>
            <a:off x="7079674" y="4413241"/>
            <a:ext cx="4889946" cy="1477328"/>
          </a:xfrm>
          <a:prstGeom prst="rect">
            <a:avLst/>
          </a:prstGeom>
          <a:noFill/>
        </p:spPr>
        <p:txBody>
          <a:bodyPr wrap="square" lIns="91440" tIns="45720" rIns="91440" bIns="45720" rtlCol="0" anchor="t">
            <a:spAutoFit/>
          </a:bodyPr>
          <a:lstStyle/>
          <a:p>
            <a:r>
              <a:rPr lang="fr-CA" dirty="0"/>
              <a:t>Rappel S01 notion de coût total. </a:t>
            </a:r>
          </a:p>
          <a:p>
            <a:r>
              <a:rPr lang="fr-CA" dirty="0"/>
              <a:t>Coût total = coûts variables + coûts fixes</a:t>
            </a:r>
          </a:p>
          <a:p>
            <a:r>
              <a:rPr lang="fr-CA" dirty="0"/>
              <a:t>Coûts variables = coût total – coûts fixes</a:t>
            </a:r>
          </a:p>
          <a:p>
            <a:r>
              <a:rPr lang="fr-CA" dirty="0"/>
              <a:t>Coûts variables = 56 000 $ - 16 000 $ = 40 000 $</a:t>
            </a:r>
          </a:p>
          <a:p>
            <a:r>
              <a:rPr lang="fr-CA" dirty="0"/>
              <a:t>40 000 $/ 4 000 u = 10 $</a:t>
            </a:r>
            <a:endParaRPr lang="fr-CA" dirty="0">
              <a:cs typeface="Calibri"/>
            </a:endParaRPr>
          </a:p>
        </p:txBody>
      </p:sp>
      <p:sp>
        <p:nvSpPr>
          <p:cNvPr id="18" name="ZoneTexte 17">
            <a:extLst>
              <a:ext uri="{FF2B5EF4-FFF2-40B4-BE49-F238E27FC236}">
                <a16:creationId xmlns:a16="http://schemas.microsoft.com/office/drawing/2014/main" id="{9D71ABCF-2A77-44CE-31CE-CE7844196763}"/>
              </a:ext>
            </a:extLst>
          </p:cNvPr>
          <p:cNvSpPr txBox="1"/>
          <p:nvPr/>
        </p:nvSpPr>
        <p:spPr>
          <a:xfrm>
            <a:off x="793984" y="3059668"/>
            <a:ext cx="1084987" cy="369332"/>
          </a:xfrm>
          <a:prstGeom prst="rect">
            <a:avLst/>
          </a:prstGeom>
          <a:noFill/>
        </p:spPr>
        <p:txBody>
          <a:bodyPr wrap="square" rtlCol="0">
            <a:spAutoFit/>
          </a:bodyPr>
          <a:lstStyle/>
          <a:p>
            <a:r>
              <a:rPr lang="fr-CA" dirty="0"/>
              <a:t>40 000 $ </a:t>
            </a:r>
          </a:p>
        </p:txBody>
      </p:sp>
    </p:spTree>
    <p:extLst>
      <p:ext uri="{BB962C8B-B14F-4D97-AF65-F5344CB8AC3E}">
        <p14:creationId xmlns:p14="http://schemas.microsoft.com/office/powerpoint/2010/main" val="22152546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766CEA-7FBC-46FC-BC23-C97AF3309583}"/>
              </a:ext>
            </a:extLst>
          </p:cNvPr>
          <p:cNvSpPr>
            <a:spLocks noGrp="1"/>
          </p:cNvSpPr>
          <p:nvPr>
            <p:ph type="title"/>
            <p:custDataLst>
              <p:tags r:id="rId1"/>
            </p:custDataLst>
          </p:nvPr>
        </p:nvSpPr>
        <p:spPr>
          <a:xfrm>
            <a:off x="838200" y="159752"/>
            <a:ext cx="10515600" cy="1042570"/>
          </a:xfrm>
        </p:spPr>
        <p:txBody>
          <a:bodyPr>
            <a:normAutofit/>
          </a:bodyPr>
          <a:lstStyle/>
          <a:p>
            <a:r>
              <a:rPr lang="fr-CA" sz="4000"/>
              <a:t>Résultat différentiel - Définition</a:t>
            </a:r>
            <a:endParaRPr lang="fr-CA" sz="4000">
              <a:cs typeface="Calibri Light"/>
            </a:endParaRPr>
          </a:p>
        </p:txBody>
      </p:sp>
      <p:sp>
        <p:nvSpPr>
          <p:cNvPr id="6" name="Espace réservé du contenu 3">
            <a:extLst>
              <a:ext uri="{FF2B5EF4-FFF2-40B4-BE49-F238E27FC236}">
                <a16:creationId xmlns:a16="http://schemas.microsoft.com/office/drawing/2014/main" id="{4AD3F8DF-AE1D-4B4B-9FF1-1D0F7762C25A}"/>
              </a:ext>
            </a:extLst>
          </p:cNvPr>
          <p:cNvSpPr>
            <a:spLocks noGrp="1"/>
          </p:cNvSpPr>
          <p:nvPr>
            <p:ph idx="1"/>
            <p:custDataLst>
              <p:tags r:id="rId2"/>
            </p:custDataLst>
          </p:nvPr>
        </p:nvSpPr>
        <p:spPr>
          <a:xfrm>
            <a:off x="838199" y="1467851"/>
            <a:ext cx="10689771" cy="4709112"/>
          </a:xfrm>
        </p:spPr>
        <p:txBody>
          <a:bodyPr vert="horz" lIns="91440" tIns="45720" rIns="91440" bIns="45720" rtlCol="0" anchor="t">
            <a:normAutofit/>
          </a:bodyPr>
          <a:lstStyle/>
          <a:p>
            <a:r>
              <a:rPr lang="fr-CA" dirty="0"/>
              <a:t>Utilisé lorsque l’on doit choisir entre deux propositions</a:t>
            </a:r>
          </a:p>
          <a:p>
            <a:pPr lvl="1"/>
            <a:r>
              <a:rPr lang="fr-CA" dirty="0"/>
              <a:t>Souvent, aide à faire un choix entre le statu quo (ne rien faire) et apporter un changement (ex : accepter une commande)</a:t>
            </a:r>
          </a:p>
          <a:p>
            <a:endParaRPr lang="fr-CA" dirty="0"/>
          </a:p>
          <a:p>
            <a:r>
              <a:rPr lang="fr-CA" dirty="0"/>
              <a:t>Correspond à la </a:t>
            </a:r>
            <a:r>
              <a:rPr lang="fr-CA" u="sng" dirty="0"/>
              <a:t>différence</a:t>
            </a:r>
            <a:r>
              <a:rPr lang="fr-CA" dirty="0"/>
              <a:t> entre les résultats de deux propositions</a:t>
            </a:r>
          </a:p>
          <a:p>
            <a:pPr lvl="1"/>
            <a:r>
              <a:rPr lang="fr-CA" dirty="0"/>
              <a:t>Résultat Proposition A (-) Résultat Proposition B</a:t>
            </a:r>
          </a:p>
          <a:p>
            <a:pPr lvl="1"/>
            <a:endParaRPr lang="fr-CA" dirty="0"/>
          </a:p>
          <a:p>
            <a:r>
              <a:rPr lang="fr-CA" dirty="0"/>
              <a:t>Elle fait ressortir l’impact sur le résultat lors d’une décision</a:t>
            </a:r>
          </a:p>
          <a:p>
            <a:pPr lvl="1"/>
            <a:r>
              <a:rPr lang="fr-CA" dirty="0"/>
              <a:t>L’impact sur le résultat peut être positif (augmentation) ou négatif (diminution)</a:t>
            </a:r>
          </a:p>
          <a:p>
            <a:pPr marL="457200" lvl="1" indent="0">
              <a:buNone/>
            </a:pPr>
            <a:endParaRPr lang="fr-CA" dirty="0"/>
          </a:p>
        </p:txBody>
      </p:sp>
      <p:sp>
        <p:nvSpPr>
          <p:cNvPr id="5" name="Espace réservé du numéro de diapositive 4">
            <a:extLst>
              <a:ext uri="{FF2B5EF4-FFF2-40B4-BE49-F238E27FC236}">
                <a16:creationId xmlns:a16="http://schemas.microsoft.com/office/drawing/2014/main" id="{2BEF835F-FD0C-02B3-AD39-B43474875DC1}"/>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14</a:t>
            </a:fld>
            <a:endParaRPr lang="fr-CA">
              <a:solidFill>
                <a:prstClr val="black">
                  <a:tint val="75000"/>
                </a:prstClr>
              </a:solidFill>
            </a:endParaRPr>
          </a:p>
        </p:txBody>
      </p:sp>
      <p:sp>
        <p:nvSpPr>
          <p:cNvPr id="3" name="Espace réservé du pied de page 3">
            <a:extLst>
              <a:ext uri="{FF2B5EF4-FFF2-40B4-BE49-F238E27FC236}">
                <a16:creationId xmlns:a16="http://schemas.microsoft.com/office/drawing/2014/main" id="{4C702256-BFF5-688D-2791-6924258A6C1D}"/>
              </a:ext>
            </a:extLst>
          </p:cNvPr>
          <p:cNvSpPr>
            <a:spLocks noGrp="1"/>
          </p:cNvSpPr>
          <p:nvPr>
            <p:ph type="ftr" sz="quarter" idx="11"/>
            <p:custDataLst>
              <p:tags r:id="rId4"/>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Tree>
    <p:extLst>
      <p:ext uri="{BB962C8B-B14F-4D97-AF65-F5344CB8AC3E}">
        <p14:creationId xmlns:p14="http://schemas.microsoft.com/office/powerpoint/2010/main" val="3735554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BA44D-CC17-E492-6C0C-9D98EAA73D3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E3356BE-087E-2A04-E57E-723905939FCE}"/>
              </a:ext>
            </a:extLst>
          </p:cNvPr>
          <p:cNvSpPr>
            <a:spLocks noGrp="1"/>
          </p:cNvSpPr>
          <p:nvPr>
            <p:ph type="ctrTitle"/>
            <p:custDataLst>
              <p:tags r:id="rId1"/>
            </p:custDataLst>
          </p:nvPr>
        </p:nvSpPr>
        <p:spPr/>
        <p:txBody>
          <a:bodyPr>
            <a:normAutofit/>
          </a:bodyPr>
          <a:lstStyle/>
          <a:p>
            <a:r>
              <a:rPr lang="fr-CA" sz="5000" dirty="0"/>
              <a:t>Décision d’exploitation </a:t>
            </a:r>
            <a:br>
              <a:rPr lang="fr-CA" sz="5000" dirty="0"/>
            </a:br>
            <a:r>
              <a:rPr lang="fr-CA" sz="5000" dirty="0"/>
              <a:t>Exemple 1 : </a:t>
            </a:r>
          </a:p>
        </p:txBody>
      </p:sp>
      <p:sp>
        <p:nvSpPr>
          <p:cNvPr id="3" name="Sous-titre 2">
            <a:extLst>
              <a:ext uri="{FF2B5EF4-FFF2-40B4-BE49-F238E27FC236}">
                <a16:creationId xmlns:a16="http://schemas.microsoft.com/office/drawing/2014/main" id="{801DE190-CC99-DD6A-7667-D9B218C688F9}"/>
              </a:ext>
            </a:extLst>
          </p:cNvPr>
          <p:cNvSpPr>
            <a:spLocks noGrp="1"/>
          </p:cNvSpPr>
          <p:nvPr>
            <p:ph type="subTitle" idx="1"/>
            <p:custDataLst>
              <p:tags r:id="rId2"/>
            </p:custDataLst>
          </p:nvPr>
        </p:nvSpPr>
        <p:spPr/>
        <p:txBody>
          <a:bodyPr>
            <a:normAutofit/>
          </a:bodyPr>
          <a:lstStyle/>
          <a:p>
            <a:r>
              <a:rPr lang="fr-CA" sz="3200" dirty="0"/>
              <a:t>La commande spéciale</a:t>
            </a:r>
          </a:p>
        </p:txBody>
      </p:sp>
      <p:sp>
        <p:nvSpPr>
          <p:cNvPr id="4" name="Espace réservé du pied de page 3">
            <a:extLst>
              <a:ext uri="{FF2B5EF4-FFF2-40B4-BE49-F238E27FC236}">
                <a16:creationId xmlns:a16="http://schemas.microsoft.com/office/drawing/2014/main" id="{A60E9867-7872-9939-9992-64214F31E1F4}"/>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F56A61A3-5A00-2504-A674-8F63D12DC3E5}"/>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15</a:t>
            </a:fld>
            <a:endParaRPr lang="fr-CA">
              <a:solidFill>
                <a:prstClr val="black">
                  <a:tint val="75000"/>
                </a:prstClr>
              </a:solidFill>
            </a:endParaRPr>
          </a:p>
        </p:txBody>
      </p:sp>
    </p:spTree>
    <p:extLst>
      <p:ext uri="{BB962C8B-B14F-4D97-AF65-F5344CB8AC3E}">
        <p14:creationId xmlns:p14="http://schemas.microsoft.com/office/powerpoint/2010/main" val="3525325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EF2FC5-6CBA-AD1F-2D44-3C4D72C0059F}"/>
              </a:ext>
            </a:extLst>
          </p:cNvPr>
          <p:cNvSpPr>
            <a:spLocks noGrp="1"/>
          </p:cNvSpPr>
          <p:nvPr>
            <p:ph type="title"/>
            <p:custDataLst>
              <p:tags r:id="rId1"/>
            </p:custDataLst>
          </p:nvPr>
        </p:nvSpPr>
        <p:spPr/>
        <p:txBody>
          <a:bodyPr/>
          <a:lstStyle/>
          <a:p>
            <a:r>
              <a:rPr lang="fr-CA" dirty="0"/>
              <a:t>La commande spéciale</a:t>
            </a:r>
          </a:p>
        </p:txBody>
      </p:sp>
      <p:sp>
        <p:nvSpPr>
          <p:cNvPr id="3" name="Espace réservé du contenu 2">
            <a:extLst>
              <a:ext uri="{FF2B5EF4-FFF2-40B4-BE49-F238E27FC236}">
                <a16:creationId xmlns:a16="http://schemas.microsoft.com/office/drawing/2014/main" id="{2633E401-F3F2-A36A-23E9-5D7DE4A062BF}"/>
              </a:ext>
            </a:extLst>
          </p:cNvPr>
          <p:cNvSpPr>
            <a:spLocks noGrp="1"/>
          </p:cNvSpPr>
          <p:nvPr>
            <p:ph idx="1"/>
            <p:custDataLst>
              <p:tags r:id="rId2"/>
            </p:custDataLst>
          </p:nvPr>
        </p:nvSpPr>
        <p:spPr/>
        <p:txBody>
          <a:bodyPr>
            <a:normAutofit lnSpcReduction="10000"/>
          </a:bodyPr>
          <a:lstStyle/>
          <a:p>
            <a:pPr algn="l"/>
            <a:r>
              <a:rPr lang="fr-CA" b="0" i="0" dirty="0">
                <a:solidFill>
                  <a:srgbClr val="000000"/>
                </a:solidFill>
                <a:effectLst/>
                <a:latin typeface="Calibri Light" panose="020F0302020204030204" pitchFamily="34" charset="0"/>
                <a:cs typeface="Calibri Light" panose="020F0302020204030204" pitchFamily="34" charset="0"/>
              </a:rPr>
              <a:t>Les entreprises de fabrication et de services reçoivent souvent des demandes de commandes spéciales. </a:t>
            </a:r>
          </a:p>
          <a:p>
            <a:pPr algn="l"/>
            <a:r>
              <a:rPr lang="fr-CA" b="0" i="0" dirty="0">
                <a:solidFill>
                  <a:srgbClr val="000000"/>
                </a:solidFill>
                <a:effectLst/>
                <a:latin typeface="Calibri Light" panose="020F0302020204030204" pitchFamily="34" charset="0"/>
                <a:cs typeface="Calibri Light" panose="020F0302020204030204" pitchFamily="34" charset="0"/>
              </a:rPr>
              <a:t>Ces </a:t>
            </a:r>
            <a:r>
              <a:rPr lang="fr-CA" b="1" i="0" dirty="0">
                <a:solidFill>
                  <a:srgbClr val="000000"/>
                </a:solidFill>
                <a:effectLst/>
                <a:latin typeface="Calibri Light" panose="020F0302020204030204" pitchFamily="34" charset="0"/>
                <a:cs typeface="Calibri Light" panose="020F0302020204030204" pitchFamily="34" charset="0"/>
              </a:rPr>
              <a:t>commandes spéciales</a:t>
            </a:r>
            <a:r>
              <a:rPr lang="fr-CA" b="0" i="0" dirty="0">
                <a:solidFill>
                  <a:srgbClr val="000000"/>
                </a:solidFill>
                <a:effectLst/>
                <a:latin typeface="Calibri Light" panose="020F0302020204030204" pitchFamily="34" charset="0"/>
                <a:cs typeface="Calibri Light" panose="020F0302020204030204" pitchFamily="34" charset="0"/>
              </a:rPr>
              <a:t> concernent généralement des biens ou des services à prix réduit et sont généralement une commande unique. </a:t>
            </a:r>
          </a:p>
          <a:p>
            <a:pPr algn="l"/>
            <a:endParaRPr lang="fr-CA" dirty="0">
              <a:solidFill>
                <a:srgbClr val="000000"/>
              </a:solidFill>
              <a:latin typeface="Calibri Light" panose="020F0302020204030204" pitchFamily="34" charset="0"/>
              <a:cs typeface="Calibri Light" panose="020F0302020204030204" pitchFamily="34" charset="0"/>
            </a:endParaRPr>
          </a:p>
          <a:p>
            <a:pPr marL="0" indent="0" algn="l">
              <a:buNone/>
            </a:pPr>
            <a:r>
              <a:rPr lang="fr-CA" b="0" i="0" dirty="0">
                <a:solidFill>
                  <a:srgbClr val="000000"/>
                </a:solidFill>
                <a:effectLst/>
                <a:latin typeface="Calibri Light" panose="020F0302020204030204" pitchFamily="34" charset="0"/>
                <a:cs typeface="Calibri Light" panose="020F0302020204030204" pitchFamily="34" charset="0"/>
              </a:rPr>
              <a:t>Pour décider d'accepter ou non une commande spéciale, la direction doit tenir compte de plusieurs facteurs :</a:t>
            </a:r>
          </a:p>
          <a:p>
            <a:pPr lvl="1"/>
            <a:r>
              <a:rPr lang="fr-CA" b="0" i="0" dirty="0">
                <a:solidFill>
                  <a:srgbClr val="000000"/>
                </a:solidFill>
                <a:effectLst/>
                <a:latin typeface="Calibri Light" panose="020F0302020204030204" pitchFamily="34" charset="0"/>
                <a:cs typeface="Calibri Light" panose="020F0302020204030204" pitchFamily="34" charset="0"/>
              </a:rPr>
              <a:t> La capacité requise pour exécuter la commande spéciale</a:t>
            </a:r>
          </a:p>
          <a:p>
            <a:pPr lvl="1"/>
            <a:r>
              <a:rPr lang="fr-CA" b="0" i="0" dirty="0">
                <a:solidFill>
                  <a:srgbClr val="000000"/>
                </a:solidFill>
                <a:effectLst/>
                <a:latin typeface="Calibri Light" panose="020F0302020204030204" pitchFamily="34" charset="0"/>
                <a:cs typeface="Calibri Light" panose="020F0302020204030204" pitchFamily="34" charset="0"/>
              </a:rPr>
              <a:t> Déterminer si le prix proposé par l'acheteur couvrira les coûts de cette commande (coût de renonciation)</a:t>
            </a:r>
          </a:p>
          <a:p>
            <a:pPr lvl="1"/>
            <a:r>
              <a:rPr lang="fr-CA" b="0" i="0" dirty="0">
                <a:solidFill>
                  <a:srgbClr val="000000"/>
                </a:solidFill>
                <a:effectLst/>
                <a:latin typeface="Calibri Light" panose="020F0302020204030204" pitchFamily="34" charset="0"/>
                <a:cs typeface="Calibri Light" panose="020F0302020204030204" pitchFamily="34" charset="0"/>
              </a:rPr>
              <a:t> Le rôle des coûts fixes dans l'analyse</a:t>
            </a:r>
          </a:p>
          <a:p>
            <a:pPr lvl="1"/>
            <a:r>
              <a:rPr lang="fr-CA" b="0" i="0" dirty="0">
                <a:solidFill>
                  <a:srgbClr val="000000"/>
                </a:solidFill>
                <a:effectLst/>
                <a:latin typeface="Calibri Light" panose="020F0302020204030204" pitchFamily="34" charset="0"/>
                <a:cs typeface="Calibri Light" panose="020F0302020204030204" pitchFamily="34" charset="0"/>
              </a:rPr>
              <a:t> Les facteurs qualitatifs</a:t>
            </a:r>
          </a:p>
          <a:p>
            <a:endParaRPr lang="fr-CA" dirty="0"/>
          </a:p>
        </p:txBody>
      </p:sp>
      <p:sp>
        <p:nvSpPr>
          <p:cNvPr id="5" name="Espace réservé du numéro de diapositive 4">
            <a:extLst>
              <a:ext uri="{FF2B5EF4-FFF2-40B4-BE49-F238E27FC236}">
                <a16:creationId xmlns:a16="http://schemas.microsoft.com/office/drawing/2014/main" id="{04F4C96E-EFD4-3611-C1B8-24068FD71818}"/>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16</a:t>
            </a:fld>
            <a:endParaRPr lang="fr-CA">
              <a:solidFill>
                <a:prstClr val="black">
                  <a:tint val="75000"/>
                </a:prstClr>
              </a:solidFill>
            </a:endParaRPr>
          </a:p>
        </p:txBody>
      </p:sp>
      <p:sp>
        <p:nvSpPr>
          <p:cNvPr id="6" name="Espace réservé du pied de page 3">
            <a:extLst>
              <a:ext uri="{FF2B5EF4-FFF2-40B4-BE49-F238E27FC236}">
                <a16:creationId xmlns:a16="http://schemas.microsoft.com/office/drawing/2014/main" id="{B139BF0E-D875-7897-7CB8-60514E5D485A}"/>
              </a:ext>
            </a:extLst>
          </p:cNvPr>
          <p:cNvSpPr>
            <a:spLocks noGrp="1"/>
          </p:cNvSpPr>
          <p:nvPr>
            <p:ph type="ftr" sz="quarter" idx="11"/>
            <p:custDataLst>
              <p:tags r:id="rId4"/>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Tree>
    <p:extLst>
      <p:ext uri="{BB962C8B-B14F-4D97-AF65-F5344CB8AC3E}">
        <p14:creationId xmlns:p14="http://schemas.microsoft.com/office/powerpoint/2010/main" val="2910470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custDataLst>
              <p:tags r:id="rId2"/>
            </p:custDataLst>
          </p:nvPr>
        </p:nvSpPr>
        <p:spPr>
          <a:xfrm>
            <a:off x="737419" y="7937"/>
            <a:ext cx="10610031" cy="1325563"/>
          </a:xfrm>
        </p:spPr>
        <p:txBody>
          <a:bodyPr>
            <a:normAutofit/>
          </a:bodyPr>
          <a:lstStyle/>
          <a:p>
            <a:r>
              <a:rPr lang="fr-FR" sz="4000" dirty="0"/>
              <a:t> Illustration – Commande spéciale – Énoncé (1/2)</a:t>
            </a:r>
            <a:endParaRPr lang="fr-CA" sz="4000" dirty="0"/>
          </a:p>
        </p:txBody>
      </p:sp>
      <p:sp>
        <p:nvSpPr>
          <p:cNvPr id="2" name="AutoShape 2" descr="Atelier Make - Vente de Céramique"/>
          <p:cNvSpPr>
            <a:spLocks noChangeAspect="1" noChangeArrowheads="1"/>
          </p:cNvSpPr>
          <p:nvPr>
            <p:custDataLst>
              <p:tags r:id="rId3"/>
            </p:custDataLst>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CA"/>
          </a:p>
        </p:txBody>
      </p:sp>
      <p:pic>
        <p:nvPicPr>
          <p:cNvPr id="1028" name="Picture 4" descr="Large Handmade Ceramic Stoneware Bottles / Vases - Chic &amp; Basta"/>
          <p:cNvPicPr>
            <a:picLocks noChangeAspect="1" noChangeArrowheads="1"/>
          </p:cNvPicPr>
          <p:nvPr>
            <p:custDataLst>
              <p:tags r:id="rId4"/>
            </p:custDataLst>
          </p:nvPr>
        </p:nvPicPr>
        <p:blipFill>
          <a:blip r:embed="rId11" cstate="print">
            <a:extLst>
              <a:ext uri="{28A0092B-C50C-407E-A947-70E740481C1C}">
                <a14:useLocalDpi xmlns:a14="http://schemas.microsoft.com/office/drawing/2010/main" val="0"/>
              </a:ext>
            </a:extLst>
          </a:blip>
          <a:srcRect/>
          <a:stretch>
            <a:fillRect/>
          </a:stretch>
        </p:blipFill>
        <p:spPr bwMode="auto">
          <a:xfrm>
            <a:off x="155575" y="-9144000"/>
            <a:ext cx="900000" cy="900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Large Handmade Ceramic Stoneware Bottles / Vases - Chic &amp; Basta"/>
          <p:cNvPicPr>
            <a:picLocks noChangeAspect="1" noChangeArrowheads="1"/>
          </p:cNvPicPr>
          <p:nvPr>
            <p:custDataLst>
              <p:tags r:id="rId5"/>
            </p:custDataLst>
          </p:nvPr>
        </p:nvPicPr>
        <p:blipFill>
          <a:blip r:embed="rId12" cstate="print">
            <a:extLst>
              <a:ext uri="{28A0092B-C50C-407E-A947-70E740481C1C}">
                <a14:useLocalDpi xmlns:a14="http://schemas.microsoft.com/office/drawing/2010/main" val="0"/>
              </a:ext>
            </a:extLst>
          </a:blip>
          <a:srcRect/>
          <a:stretch>
            <a:fillRect/>
          </a:stretch>
        </p:blipFill>
        <p:spPr bwMode="auto">
          <a:xfrm>
            <a:off x="9525002" y="1690688"/>
            <a:ext cx="1828798" cy="182879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custDataLst>
              <p:tags r:id="rId6"/>
            </p:custDataLst>
          </p:nvPr>
        </p:nvSpPr>
        <p:spPr>
          <a:xfrm>
            <a:off x="460375" y="1567808"/>
            <a:ext cx="8503592" cy="4701320"/>
          </a:xfrm>
          <a:prstGeom prst="rect">
            <a:avLst/>
          </a:prstGeom>
        </p:spPr>
        <p:txBody>
          <a:bodyPr lIns="91440" tIns="45720" rIns="91440" bIns="45720" anchor="t"/>
          <a:lstStyle/>
          <a:p>
            <a:pPr marL="342900" lvl="0" indent="-342900">
              <a:buFont typeface="Arial" panose="020B0604020202020204" pitchFamily="34" charset="0"/>
              <a:buChar char="•"/>
            </a:pPr>
            <a:r>
              <a:rPr lang="fr-CA" sz="2200" dirty="0"/>
              <a:t>Atelier FAB fabrique des vases en céramique à la main et est localisé dans la grande région de Montréal près d’un ruisseau. L’atelier privilégie des méthodes respectueuses de l’environnement et favorise les clients situés dans la grande région de Montréal afin de limiter son empreinte carbone.</a:t>
            </a:r>
          </a:p>
          <a:p>
            <a:pPr marL="342900" lvl="0" indent="-342900">
              <a:buFont typeface="Arial" panose="020B0604020202020204" pitchFamily="34" charset="0"/>
              <a:buChar char="•"/>
            </a:pPr>
            <a:r>
              <a:rPr lang="fr-CA" sz="2200" dirty="0"/>
              <a:t>Sa capacité maximale de production est de 1 400 vases par mois. </a:t>
            </a:r>
            <a:endParaRPr lang="fr-FR" sz="2200" dirty="0"/>
          </a:p>
          <a:p>
            <a:pPr marL="342900" indent="-342900">
              <a:buFont typeface="Arial"/>
              <a:buChar char="•"/>
            </a:pPr>
            <a:r>
              <a:rPr lang="fr-CA" sz="2200" dirty="0"/>
              <a:t>Chaque vase nécessite 30 minutes de MOD.</a:t>
            </a:r>
            <a:endParaRPr lang="fr-FR" sz="2200" dirty="0">
              <a:ea typeface="Calibri"/>
              <a:cs typeface="Calibri"/>
            </a:endParaRPr>
          </a:p>
          <a:p>
            <a:pPr marL="342900" lvl="0" indent="-342900">
              <a:buFont typeface="Arial" panose="020B0604020202020204" pitchFamily="34" charset="0"/>
              <a:buChar char="•"/>
            </a:pPr>
            <a:r>
              <a:rPr lang="fr-CA" sz="2200" dirty="0"/>
              <a:t>Le prix de vente unitaire des vases est de 150 $ et les ventes prévues pour le mois de juin sont de 1 000 unités pour ses clients du grand Montréal.</a:t>
            </a:r>
            <a:endParaRPr lang="fr-FR" sz="2200" dirty="0"/>
          </a:p>
          <a:p>
            <a:pPr marL="342900" lvl="0" indent="-342900">
              <a:buFont typeface="Arial" panose="020B0604020202020204" pitchFamily="34" charset="0"/>
              <a:buChar char="•"/>
            </a:pPr>
            <a:r>
              <a:rPr lang="fr-CA" sz="2200" dirty="0"/>
              <a:t>Les coûts variables unitaires s’élèvent à 40 $</a:t>
            </a:r>
            <a:endParaRPr lang="fr-FR" sz="2200" dirty="0"/>
          </a:p>
          <a:p>
            <a:pPr marL="342900" indent="-342900">
              <a:buFont typeface="Arial" panose="020B0604020202020204" pitchFamily="34" charset="0"/>
              <a:buChar char="•"/>
            </a:pPr>
            <a:r>
              <a:rPr lang="fr-CA" sz="2200" dirty="0"/>
              <a:t>Les coûts fixes totaux mensuels sont de 37 500 $.</a:t>
            </a:r>
            <a:endParaRPr lang="fr-CA" sz="2200" dirty="0">
              <a:cs typeface="Calibri"/>
            </a:endParaRPr>
          </a:p>
          <a:p>
            <a:pPr lvl="0"/>
            <a:endParaRPr lang="fr-FR" sz="2200" dirty="0"/>
          </a:p>
        </p:txBody>
      </p:sp>
      <p:sp>
        <p:nvSpPr>
          <p:cNvPr id="3" name="Espace réservé du numéro de diapositive 2">
            <a:extLst>
              <a:ext uri="{FF2B5EF4-FFF2-40B4-BE49-F238E27FC236}">
                <a16:creationId xmlns:a16="http://schemas.microsoft.com/office/drawing/2014/main" id="{26B173E2-A22B-B138-F265-35FB57C36223}"/>
              </a:ext>
            </a:extLst>
          </p:cNvPr>
          <p:cNvSpPr>
            <a:spLocks noGrp="1"/>
          </p:cNvSpPr>
          <p:nvPr>
            <p:ph type="sldNum" sz="quarter" idx="12"/>
            <p:custDataLst>
              <p:tags r:id="rId7"/>
            </p:custDataLst>
          </p:nvPr>
        </p:nvSpPr>
        <p:spPr/>
        <p:txBody>
          <a:bodyPr/>
          <a:lstStyle/>
          <a:p>
            <a:fld id="{1F20FBA3-27E4-4E13-841E-B59ED0E8E620}" type="slidenum">
              <a:rPr lang="fr-CA" smtClean="0">
                <a:solidFill>
                  <a:prstClr val="black">
                    <a:tint val="75000"/>
                  </a:prstClr>
                </a:solidFill>
              </a:rPr>
              <a:pPr/>
              <a:t>17</a:t>
            </a:fld>
            <a:endParaRPr lang="fr-CA">
              <a:solidFill>
                <a:prstClr val="black">
                  <a:tint val="75000"/>
                </a:prstClr>
              </a:solidFill>
            </a:endParaRPr>
          </a:p>
        </p:txBody>
      </p:sp>
      <p:sp>
        <p:nvSpPr>
          <p:cNvPr id="6" name="Espace réservé du pied de page 3">
            <a:extLst>
              <a:ext uri="{FF2B5EF4-FFF2-40B4-BE49-F238E27FC236}">
                <a16:creationId xmlns:a16="http://schemas.microsoft.com/office/drawing/2014/main" id="{96835E5C-A1DC-8924-CC2F-95F0945DAB67}"/>
              </a:ext>
            </a:extLst>
          </p:cNvPr>
          <p:cNvSpPr>
            <a:spLocks noGrp="1"/>
          </p:cNvSpPr>
          <p:nvPr>
            <p:ph type="ftr" sz="quarter" idx="11"/>
            <p:custDataLst>
              <p:tags r:id="rId8"/>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1459704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custDataLst>
              <p:tags r:id="rId2"/>
            </p:custDataLst>
          </p:nvPr>
        </p:nvSpPr>
        <p:spPr>
          <a:xfrm>
            <a:off x="840658" y="7937"/>
            <a:ext cx="10506792" cy="1325563"/>
          </a:xfrm>
        </p:spPr>
        <p:txBody>
          <a:bodyPr>
            <a:normAutofit/>
          </a:bodyPr>
          <a:lstStyle/>
          <a:p>
            <a:r>
              <a:rPr lang="fr-FR" sz="4000" dirty="0"/>
              <a:t>Illustration – Commande spéciale – Énoncé (2/2)</a:t>
            </a:r>
            <a:endParaRPr lang="fr-CA" sz="4000" dirty="0"/>
          </a:p>
        </p:txBody>
      </p:sp>
      <p:sp>
        <p:nvSpPr>
          <p:cNvPr id="2" name="AutoShape 2" descr="Atelier Make - Vente de Céramique"/>
          <p:cNvSpPr>
            <a:spLocks noChangeAspect="1" noChangeArrowheads="1"/>
          </p:cNvSpPr>
          <p:nvPr>
            <p:custDataLst>
              <p:tags r:id="rId3"/>
            </p:custDataLst>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CA"/>
          </a:p>
        </p:txBody>
      </p:sp>
      <p:pic>
        <p:nvPicPr>
          <p:cNvPr id="1028" name="Picture 4" descr="Large Handmade Ceramic Stoneware Bottles / Vases - Chic &amp; Basta"/>
          <p:cNvPicPr>
            <a:picLocks noChangeAspect="1" noChangeArrowheads="1"/>
          </p:cNvPicPr>
          <p:nvPr>
            <p:custDataLst>
              <p:tags r:id="rId4"/>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155575" y="-9144000"/>
            <a:ext cx="900000" cy="900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custDataLst>
              <p:tags r:id="rId5"/>
            </p:custDataLst>
          </p:nvPr>
        </p:nvSpPr>
        <p:spPr>
          <a:xfrm>
            <a:off x="460374" y="1567808"/>
            <a:ext cx="10506792" cy="4701320"/>
          </a:xfrm>
          <a:prstGeom prst="rect">
            <a:avLst/>
          </a:prstGeom>
        </p:spPr>
        <p:txBody>
          <a:bodyPr lIns="91440" tIns="45720" rIns="91440" bIns="45720" anchor="t"/>
          <a:lstStyle/>
          <a:p>
            <a:pPr marL="342900" indent="-342900">
              <a:buFont typeface="Arial" panose="020B0604020202020204" pitchFamily="34" charset="0"/>
              <a:buChar char="•"/>
            </a:pPr>
            <a:r>
              <a:rPr lang="fr-CA" sz="2200" dirty="0"/>
              <a:t>Atelier FAB a reçu une commande spéciale d’un client situé à New-York pour 500 vases. Les vases devront être livrés au mois de juin. Le client lui a offert 60 000 $ pour les 500 vases. </a:t>
            </a:r>
            <a:endParaRPr lang="fr-FR" sz="2200" dirty="0"/>
          </a:p>
          <a:p>
            <a:pPr marL="342900" lvl="0" indent="-342900">
              <a:buFont typeface="Arial" panose="020B0604020202020204" pitchFamily="34" charset="0"/>
              <a:buChar char="•"/>
            </a:pPr>
            <a:r>
              <a:rPr lang="fr-CA" sz="2200" dirty="0"/>
              <a:t>Ces 500 vases nécessiteront un fini spécifique. Cependant, l’utilisation d’un produit contenant du plomb pour cette finition soulève des préoccupations importantes.</a:t>
            </a:r>
            <a:endParaRPr lang="fr-CA" sz="2200" dirty="0">
              <a:cs typeface="Calibri"/>
            </a:endParaRPr>
          </a:p>
          <a:p>
            <a:pPr marL="342900" lvl="0" indent="-342900">
              <a:buFont typeface="Arial" panose="020B0604020202020204" pitchFamily="34" charset="0"/>
              <a:buChar char="•"/>
            </a:pPr>
            <a:r>
              <a:rPr lang="fr-CA" sz="2200" dirty="0"/>
              <a:t>La location de la machine pour réaliser ce fini s’élève à 25 000 $ et celle-ci sera utilisée uniquement pour cette commande.</a:t>
            </a:r>
          </a:p>
          <a:p>
            <a:pPr marL="342900" lvl="0" indent="-342900">
              <a:buFont typeface="Arial" panose="020B0604020202020204" pitchFamily="34" charset="0"/>
              <a:buChar char="•"/>
            </a:pPr>
            <a:endParaRPr lang="fr-CA" sz="2200" dirty="0"/>
          </a:p>
          <a:p>
            <a:pPr lvl="0"/>
            <a:r>
              <a:rPr lang="fr-CA" sz="2200" b="1" dirty="0"/>
              <a:t>Travail à faire </a:t>
            </a:r>
            <a:r>
              <a:rPr lang="fr-CA" sz="2200" dirty="0"/>
              <a:t>:</a:t>
            </a:r>
            <a:endParaRPr lang="fr-CA" sz="2000" dirty="0"/>
          </a:p>
          <a:p>
            <a:pPr marL="457200" indent="-457200">
              <a:buAutoNum type="arabicPeriod"/>
            </a:pPr>
            <a:r>
              <a:rPr lang="fr-CA" sz="2000" dirty="0"/>
              <a:t>Déterminer si l’entreprise a la </a:t>
            </a:r>
            <a:r>
              <a:rPr lang="fr-CA" sz="2000" b="1" dirty="0"/>
              <a:t>capacité</a:t>
            </a:r>
            <a:r>
              <a:rPr lang="fr-CA" sz="2000" dirty="0"/>
              <a:t> de produire les 500 vases. </a:t>
            </a:r>
          </a:p>
          <a:p>
            <a:pPr marL="457200" indent="-457200">
              <a:buFontTx/>
              <a:buAutoNum type="arabicPeriod"/>
            </a:pPr>
            <a:r>
              <a:rPr lang="fr-CA" sz="2000" dirty="0"/>
              <a:t>Identifier les </a:t>
            </a:r>
            <a:r>
              <a:rPr lang="fr-CA" sz="2000" b="1" dirty="0"/>
              <a:t>coûts pertinents </a:t>
            </a:r>
            <a:r>
              <a:rPr lang="fr-CA" sz="2000" dirty="0"/>
              <a:t>à cette analyse et calculer le prix de vente minimum pour accepter cette commande spéciale</a:t>
            </a:r>
          </a:p>
          <a:p>
            <a:pPr marL="457200" indent="-457200">
              <a:buFontTx/>
              <a:buAutoNum type="arabicPeriod"/>
            </a:pPr>
            <a:r>
              <a:rPr lang="fr-CA" sz="2000" dirty="0"/>
              <a:t>Calculer le </a:t>
            </a:r>
            <a:r>
              <a:rPr lang="fr-CA" sz="2000" b="1" dirty="0"/>
              <a:t>résultat différentiel </a:t>
            </a:r>
            <a:r>
              <a:rPr lang="fr-CA" sz="2000" dirty="0"/>
              <a:t>de la commande spéciale</a:t>
            </a:r>
          </a:p>
          <a:p>
            <a:pPr marL="457200" indent="-457200">
              <a:buAutoNum type="arabicPeriod"/>
            </a:pPr>
            <a:r>
              <a:rPr lang="fr-CA" sz="2000" dirty="0"/>
              <a:t>Discutez des éléments </a:t>
            </a:r>
            <a:r>
              <a:rPr lang="fr-CA" sz="2000" b="1" dirty="0"/>
              <a:t>qualitatifs </a:t>
            </a:r>
            <a:r>
              <a:rPr lang="fr-CA" sz="2000" dirty="0"/>
              <a:t>qui pourraient influencer votre décision. </a:t>
            </a:r>
            <a:endParaRPr lang="fr-FR" sz="2200" dirty="0"/>
          </a:p>
        </p:txBody>
      </p:sp>
      <p:sp>
        <p:nvSpPr>
          <p:cNvPr id="3" name="Espace réservé du numéro de diapositive 2">
            <a:extLst>
              <a:ext uri="{FF2B5EF4-FFF2-40B4-BE49-F238E27FC236}">
                <a16:creationId xmlns:a16="http://schemas.microsoft.com/office/drawing/2014/main" id="{26B173E2-A22B-B138-F265-35FB57C36223}"/>
              </a:ext>
            </a:extLst>
          </p:cNvPr>
          <p:cNvSpPr>
            <a:spLocks noGrp="1"/>
          </p:cNvSpPr>
          <p:nvPr>
            <p:ph type="sldNum" sz="quarter" idx="12"/>
            <p:custDataLst>
              <p:tags r:id="rId6"/>
            </p:custDataLst>
          </p:nvPr>
        </p:nvSpPr>
        <p:spPr/>
        <p:txBody>
          <a:bodyPr/>
          <a:lstStyle/>
          <a:p>
            <a:fld id="{1F20FBA3-27E4-4E13-841E-B59ED0E8E620}" type="slidenum">
              <a:rPr lang="fr-CA" smtClean="0">
                <a:solidFill>
                  <a:prstClr val="black">
                    <a:tint val="75000"/>
                  </a:prstClr>
                </a:solidFill>
              </a:rPr>
              <a:pPr/>
              <a:t>18</a:t>
            </a:fld>
            <a:endParaRPr lang="fr-CA">
              <a:solidFill>
                <a:prstClr val="black">
                  <a:tint val="75000"/>
                </a:prstClr>
              </a:solidFill>
            </a:endParaRPr>
          </a:p>
        </p:txBody>
      </p:sp>
      <p:sp>
        <p:nvSpPr>
          <p:cNvPr id="6" name="Espace réservé du pied de page 3">
            <a:extLst>
              <a:ext uri="{FF2B5EF4-FFF2-40B4-BE49-F238E27FC236}">
                <a16:creationId xmlns:a16="http://schemas.microsoft.com/office/drawing/2014/main" id="{339BDAC9-B68B-A10E-F7EA-EBF8A87BF5A3}"/>
              </a:ext>
            </a:extLst>
          </p:cNvPr>
          <p:cNvSpPr>
            <a:spLocks noGrp="1"/>
          </p:cNvSpPr>
          <p:nvPr>
            <p:ph type="ftr" sz="quarter" idx="11"/>
            <p:custDataLst>
              <p:tags r:id="rId7"/>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4252912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custDataLst>
              <p:tags r:id="rId2"/>
            </p:custDataLst>
          </p:nvPr>
        </p:nvSpPr>
        <p:spPr>
          <a:xfrm>
            <a:off x="838200" y="160589"/>
            <a:ext cx="10693998" cy="1042570"/>
          </a:xfrm>
        </p:spPr>
        <p:txBody>
          <a:bodyPr>
            <a:noAutofit/>
          </a:bodyPr>
          <a:lstStyle/>
          <a:p>
            <a:pPr algn="ctr"/>
            <a:r>
              <a:rPr lang="fr-FR" sz="4000" dirty="0"/>
              <a:t>Illustration - </a:t>
            </a:r>
            <a:r>
              <a:rPr lang="fr-FR" sz="3200" dirty="0"/>
              <a:t>Évaluation d’une commande spéciale avec </a:t>
            </a:r>
            <a:r>
              <a:rPr lang="fr-FR" sz="3200" u="sng" dirty="0"/>
              <a:t>manque de capacité </a:t>
            </a:r>
            <a:r>
              <a:rPr lang="fr-FR" sz="3200" dirty="0"/>
              <a:t>de production – Solution </a:t>
            </a:r>
            <a:endParaRPr lang="fr-CA" sz="3200" dirty="0"/>
          </a:p>
        </p:txBody>
      </p:sp>
      <p:sp>
        <p:nvSpPr>
          <p:cNvPr id="2" name="Espace réservé du contenu 1"/>
          <p:cNvSpPr>
            <a:spLocks noGrp="1"/>
          </p:cNvSpPr>
          <p:nvPr>
            <p:ph idx="1"/>
            <p:custDataLst>
              <p:tags r:id="rId3"/>
            </p:custDataLst>
          </p:nvPr>
        </p:nvSpPr>
        <p:spPr>
          <a:xfrm>
            <a:off x="838200" y="1467851"/>
            <a:ext cx="10515600" cy="652779"/>
          </a:xfrm>
        </p:spPr>
        <p:txBody>
          <a:bodyPr/>
          <a:lstStyle/>
          <a:p>
            <a:pPr marL="0" indent="0">
              <a:buNone/>
            </a:pPr>
            <a:r>
              <a:rPr lang="fr-CA" b="1" dirty="0"/>
              <a:t>Analyse préalable - Analyse de capacité</a:t>
            </a:r>
            <a:endParaRPr lang="fr-CA" dirty="0"/>
          </a:p>
        </p:txBody>
      </p:sp>
      <p:graphicFrame>
        <p:nvGraphicFramePr>
          <p:cNvPr id="3" name="Tableau 3">
            <a:extLst>
              <a:ext uri="{FF2B5EF4-FFF2-40B4-BE49-F238E27FC236}">
                <a16:creationId xmlns:a16="http://schemas.microsoft.com/office/drawing/2014/main" id="{F19FAC8E-CB7A-BF3D-504C-3E1EA17E892A}"/>
              </a:ext>
            </a:extLst>
          </p:cNvPr>
          <p:cNvGraphicFramePr>
            <a:graphicFrameLocks noGrp="1"/>
          </p:cNvGraphicFramePr>
          <p:nvPr>
            <p:custDataLst>
              <p:tags r:id="rId4"/>
            </p:custDataLst>
          </p:nvPr>
        </p:nvGraphicFramePr>
        <p:xfrm>
          <a:off x="838200" y="2259525"/>
          <a:ext cx="8583592" cy="2354528"/>
        </p:xfrm>
        <a:graphic>
          <a:graphicData uri="http://schemas.openxmlformats.org/drawingml/2006/table">
            <a:tbl>
              <a:tblPr firstRow="1" bandRow="1">
                <a:tableStyleId>{5940675A-B579-460E-94D1-54222C63F5DA}</a:tableStyleId>
              </a:tblPr>
              <a:tblGrid>
                <a:gridCol w="3791673">
                  <a:extLst>
                    <a:ext uri="{9D8B030D-6E8A-4147-A177-3AD203B41FA5}">
                      <a16:colId xmlns:a16="http://schemas.microsoft.com/office/drawing/2014/main" val="1099062629"/>
                    </a:ext>
                  </a:extLst>
                </a:gridCol>
                <a:gridCol w="4791919">
                  <a:extLst>
                    <a:ext uri="{9D8B030D-6E8A-4147-A177-3AD203B41FA5}">
                      <a16:colId xmlns:a16="http://schemas.microsoft.com/office/drawing/2014/main" val="1957059907"/>
                    </a:ext>
                  </a:extLst>
                </a:gridCol>
              </a:tblGrid>
              <a:tr h="588632">
                <a:tc>
                  <a:txBody>
                    <a:bodyPr/>
                    <a:lstStyle/>
                    <a:p>
                      <a:r>
                        <a:rPr lang="fr-CA" dirty="0"/>
                        <a:t>Capacité totale:</a:t>
                      </a:r>
                    </a:p>
                  </a:txBody>
                  <a:tcPr anchor="ctr"/>
                </a:tc>
                <a:tc>
                  <a:txBody>
                    <a:bodyPr/>
                    <a:lstStyle/>
                    <a:p>
                      <a:endParaRPr lang="fr-CA" dirty="0"/>
                    </a:p>
                  </a:txBody>
                  <a:tcPr/>
                </a:tc>
                <a:extLst>
                  <a:ext uri="{0D108BD9-81ED-4DB2-BD59-A6C34878D82A}">
                    <a16:rowId xmlns:a16="http://schemas.microsoft.com/office/drawing/2014/main" val="1853933220"/>
                  </a:ext>
                </a:extLst>
              </a:tr>
              <a:tr h="588632">
                <a:tc>
                  <a:txBody>
                    <a:bodyPr/>
                    <a:lstStyle/>
                    <a:p>
                      <a:r>
                        <a:rPr lang="fr-CA" dirty="0"/>
                        <a:t>Capacité actuellement utilisée: </a:t>
                      </a:r>
                    </a:p>
                  </a:txBody>
                  <a:tcPr anchor="ctr"/>
                </a:tc>
                <a:tc>
                  <a:txBody>
                    <a:bodyPr/>
                    <a:lstStyle/>
                    <a:p>
                      <a:endParaRPr lang="fr-CA" dirty="0"/>
                    </a:p>
                  </a:txBody>
                  <a:tcPr/>
                </a:tc>
                <a:extLst>
                  <a:ext uri="{0D108BD9-81ED-4DB2-BD59-A6C34878D82A}">
                    <a16:rowId xmlns:a16="http://schemas.microsoft.com/office/drawing/2014/main" val="711187194"/>
                  </a:ext>
                </a:extLst>
              </a:tr>
              <a:tr h="5886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Capacité requise de la commande: </a:t>
                      </a:r>
                    </a:p>
                  </a:txBody>
                  <a:tcPr anchor="ctr"/>
                </a:tc>
                <a:tc>
                  <a:txBody>
                    <a:bodyPr/>
                    <a:lstStyle/>
                    <a:p>
                      <a:endParaRPr lang="fr-CA"/>
                    </a:p>
                  </a:txBody>
                  <a:tcPr/>
                </a:tc>
                <a:extLst>
                  <a:ext uri="{0D108BD9-81ED-4DB2-BD59-A6C34878D82A}">
                    <a16:rowId xmlns:a16="http://schemas.microsoft.com/office/drawing/2014/main" val="3353930318"/>
                  </a:ext>
                </a:extLst>
              </a:tr>
              <a:tr h="588632">
                <a:tc>
                  <a:txBody>
                    <a:bodyPr/>
                    <a:lstStyle/>
                    <a:p>
                      <a:r>
                        <a:rPr lang="fr-CA" dirty="0"/>
                        <a:t>Capacité manquante (déficit) :</a:t>
                      </a:r>
                    </a:p>
                  </a:txBody>
                  <a:tcPr anchor="ctr"/>
                </a:tc>
                <a:tc>
                  <a:txBody>
                    <a:bodyPr/>
                    <a:lstStyle/>
                    <a:p>
                      <a:endParaRPr lang="fr-CA"/>
                    </a:p>
                  </a:txBody>
                  <a:tcPr/>
                </a:tc>
                <a:extLst>
                  <a:ext uri="{0D108BD9-81ED-4DB2-BD59-A6C34878D82A}">
                    <a16:rowId xmlns:a16="http://schemas.microsoft.com/office/drawing/2014/main" val="2812025769"/>
                  </a:ext>
                </a:extLst>
              </a:tr>
            </a:tbl>
          </a:graphicData>
        </a:graphic>
      </p:graphicFrame>
      <p:sp>
        <p:nvSpPr>
          <p:cNvPr id="5" name="Espace réservé du numéro de diapositive 4">
            <a:extLst>
              <a:ext uri="{FF2B5EF4-FFF2-40B4-BE49-F238E27FC236}">
                <a16:creationId xmlns:a16="http://schemas.microsoft.com/office/drawing/2014/main" id="{44B78975-203D-5CBD-F9DE-AE254E708C9A}"/>
              </a:ext>
            </a:extLst>
          </p:cNvPr>
          <p:cNvSpPr>
            <a:spLocks noGrp="1"/>
          </p:cNvSpPr>
          <p:nvPr>
            <p:ph type="sldNum" sz="quarter" idx="12"/>
            <p:custDataLst>
              <p:tags r:id="rId5"/>
            </p:custDataLst>
          </p:nvPr>
        </p:nvSpPr>
        <p:spPr/>
        <p:txBody>
          <a:bodyPr/>
          <a:lstStyle/>
          <a:p>
            <a:fld id="{1F20FBA3-27E4-4E13-841E-B59ED0E8E620}" type="slidenum">
              <a:rPr lang="fr-CA" smtClean="0">
                <a:solidFill>
                  <a:prstClr val="black">
                    <a:tint val="75000"/>
                  </a:prstClr>
                </a:solidFill>
              </a:rPr>
              <a:pPr/>
              <a:t>19</a:t>
            </a:fld>
            <a:endParaRPr lang="fr-CA" dirty="0">
              <a:solidFill>
                <a:prstClr val="black">
                  <a:tint val="75000"/>
                </a:prstClr>
              </a:solidFill>
            </a:endParaRPr>
          </a:p>
        </p:txBody>
      </p:sp>
      <p:sp>
        <p:nvSpPr>
          <p:cNvPr id="6" name="ZoneTexte 5">
            <a:extLst>
              <a:ext uri="{FF2B5EF4-FFF2-40B4-BE49-F238E27FC236}">
                <a16:creationId xmlns:a16="http://schemas.microsoft.com/office/drawing/2014/main" id="{E4644A66-CD64-5780-E659-5CFF75F5C59E}"/>
              </a:ext>
            </a:extLst>
          </p:cNvPr>
          <p:cNvSpPr txBox="1"/>
          <p:nvPr>
            <p:custDataLst>
              <p:tags r:id="rId6"/>
            </p:custDataLst>
          </p:nvPr>
        </p:nvSpPr>
        <p:spPr>
          <a:xfrm>
            <a:off x="838199" y="5066675"/>
            <a:ext cx="9340121" cy="923330"/>
          </a:xfrm>
          <a:prstGeom prst="rect">
            <a:avLst/>
          </a:prstGeom>
          <a:noFill/>
        </p:spPr>
        <p:txBody>
          <a:bodyPr wrap="square" rtlCol="0">
            <a:spAutoFit/>
          </a:bodyPr>
          <a:lstStyle/>
          <a:p>
            <a:r>
              <a:rPr lang="fr-CA" dirty="0"/>
              <a:t>Conclusion: pour accepter la commande spéciale de 500 unités, nous allons produire 900 unités (au lieu des 1 000 unités prévues) de nos commandes régulières pour respecter notre capacité totale de production (soit, 1 400 vases). </a:t>
            </a:r>
          </a:p>
        </p:txBody>
      </p:sp>
      <p:sp>
        <p:nvSpPr>
          <p:cNvPr id="7" name="Espace réservé du pied de page 3">
            <a:extLst>
              <a:ext uri="{FF2B5EF4-FFF2-40B4-BE49-F238E27FC236}">
                <a16:creationId xmlns:a16="http://schemas.microsoft.com/office/drawing/2014/main" id="{834747B7-5CA1-38BF-5754-E10D910B3F4B}"/>
              </a:ext>
            </a:extLst>
          </p:cNvPr>
          <p:cNvSpPr>
            <a:spLocks noGrp="1"/>
          </p:cNvSpPr>
          <p:nvPr>
            <p:ph type="ftr" sz="quarter" idx="11"/>
            <p:custDataLst>
              <p:tags r:id="rId7"/>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20449049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CD7BA-0994-8DFC-C9C6-A7DC232D8ED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848226D-37A6-83BA-E52C-3E961F4E5EB5}"/>
              </a:ext>
            </a:extLst>
          </p:cNvPr>
          <p:cNvSpPr>
            <a:spLocks noGrp="1"/>
          </p:cNvSpPr>
          <p:nvPr>
            <p:ph type="title"/>
            <p:custDataLst>
              <p:tags r:id="rId1"/>
            </p:custDataLst>
          </p:nvPr>
        </p:nvSpPr>
        <p:spPr>
          <a:xfrm>
            <a:off x="838200" y="365126"/>
            <a:ext cx="10515600" cy="646232"/>
          </a:xfrm>
        </p:spPr>
        <p:txBody>
          <a:bodyPr>
            <a:normAutofit fontScale="90000"/>
          </a:bodyPr>
          <a:lstStyle/>
          <a:p>
            <a:r>
              <a:rPr lang="fr-CA" dirty="0"/>
              <a:t>Illustration - </a:t>
            </a:r>
            <a:r>
              <a:rPr lang="fr-CA" sz="3600" b="1" dirty="0"/>
              <a:t>prix minimum (étudiants)</a:t>
            </a:r>
            <a:br>
              <a:rPr lang="fr-CA" sz="3600" b="1" dirty="0"/>
            </a:br>
            <a:r>
              <a:rPr lang="fr-CA" sz="3600" dirty="0"/>
              <a:t>Quels sont les coûts pertinents à cette prise de décision?</a:t>
            </a:r>
          </a:p>
        </p:txBody>
      </p:sp>
      <p:graphicFrame>
        <p:nvGraphicFramePr>
          <p:cNvPr id="5" name="Tableau 5">
            <a:extLst>
              <a:ext uri="{FF2B5EF4-FFF2-40B4-BE49-F238E27FC236}">
                <a16:creationId xmlns:a16="http://schemas.microsoft.com/office/drawing/2014/main" id="{B7DA6218-811B-DB0F-391B-C3AC0B0DDD51}"/>
              </a:ext>
            </a:extLst>
          </p:cNvPr>
          <p:cNvGraphicFramePr>
            <a:graphicFrameLocks noGrp="1"/>
          </p:cNvGraphicFramePr>
          <p:nvPr>
            <p:custDataLst>
              <p:tags r:id="rId2"/>
            </p:custDataLst>
            <p:extLst>
              <p:ext uri="{D42A27DB-BD31-4B8C-83A1-F6EECF244321}">
                <p14:modId xmlns:p14="http://schemas.microsoft.com/office/powerpoint/2010/main" val="2969014475"/>
              </p:ext>
            </p:extLst>
          </p:nvPr>
        </p:nvGraphicFramePr>
        <p:xfrm>
          <a:off x="923730" y="1666352"/>
          <a:ext cx="10515600" cy="4139728"/>
        </p:xfrm>
        <a:graphic>
          <a:graphicData uri="http://schemas.openxmlformats.org/drawingml/2006/table">
            <a:tbl>
              <a:tblPr firstRow="1" bandRow="1">
                <a:tableStyleId>{5940675A-B579-460E-94D1-54222C63F5DA}</a:tableStyleId>
              </a:tblPr>
              <a:tblGrid>
                <a:gridCol w="3907421">
                  <a:extLst>
                    <a:ext uri="{9D8B030D-6E8A-4147-A177-3AD203B41FA5}">
                      <a16:colId xmlns:a16="http://schemas.microsoft.com/office/drawing/2014/main" val="2778251956"/>
                    </a:ext>
                  </a:extLst>
                </a:gridCol>
                <a:gridCol w="4537276">
                  <a:extLst>
                    <a:ext uri="{9D8B030D-6E8A-4147-A177-3AD203B41FA5}">
                      <a16:colId xmlns:a16="http://schemas.microsoft.com/office/drawing/2014/main" val="1170904824"/>
                    </a:ext>
                  </a:extLst>
                </a:gridCol>
                <a:gridCol w="2070903">
                  <a:extLst>
                    <a:ext uri="{9D8B030D-6E8A-4147-A177-3AD203B41FA5}">
                      <a16:colId xmlns:a16="http://schemas.microsoft.com/office/drawing/2014/main" val="2409238187"/>
                    </a:ext>
                  </a:extLst>
                </a:gridCol>
              </a:tblGrid>
              <a:tr h="707008">
                <a:tc>
                  <a:txBody>
                    <a:bodyPr/>
                    <a:lstStyle/>
                    <a:p>
                      <a:endParaRPr lang="fr-CA" sz="2000" dirty="0"/>
                    </a:p>
                  </a:txBody>
                  <a:tcPr anchor="ctr"/>
                </a:tc>
                <a:tc>
                  <a:txBody>
                    <a:bodyPr/>
                    <a:lstStyle/>
                    <a:p>
                      <a:endParaRPr lang="fr-CA" dirty="0"/>
                    </a:p>
                  </a:txBody>
                  <a:tcPr anchor="ctr"/>
                </a:tc>
                <a:tc>
                  <a:txBody>
                    <a:bodyPr/>
                    <a:lstStyle/>
                    <a:p>
                      <a:pPr algn="r"/>
                      <a:endParaRPr lang="fr-CA" dirty="0"/>
                    </a:p>
                  </a:txBody>
                  <a:tcPr anchor="ctr"/>
                </a:tc>
                <a:extLst>
                  <a:ext uri="{0D108BD9-81ED-4DB2-BD59-A6C34878D82A}">
                    <a16:rowId xmlns:a16="http://schemas.microsoft.com/office/drawing/2014/main" val="1844993784"/>
                  </a:ext>
                </a:extLst>
              </a:tr>
              <a:tr h="6829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sz="2000" dirty="0"/>
                    </a:p>
                  </a:txBody>
                  <a:tcPr anchor="ctr"/>
                </a:tc>
                <a:tc>
                  <a:txBody>
                    <a:bodyPr/>
                    <a:lstStyle/>
                    <a:p>
                      <a:endParaRPr lang="fr-CA" dirty="0"/>
                    </a:p>
                  </a:txBody>
                  <a:tcPr anchor="ctr"/>
                </a:tc>
                <a:tc>
                  <a:txBody>
                    <a:bodyPr/>
                    <a:lstStyle/>
                    <a:p>
                      <a:pPr algn="r"/>
                      <a:endParaRPr lang="fr-CA" dirty="0"/>
                    </a:p>
                  </a:txBody>
                  <a:tcPr anchor="ctr"/>
                </a:tc>
                <a:extLst>
                  <a:ext uri="{0D108BD9-81ED-4DB2-BD59-A6C34878D82A}">
                    <a16:rowId xmlns:a16="http://schemas.microsoft.com/office/drawing/2014/main" val="2635004920"/>
                  </a:ext>
                </a:extLst>
              </a:tr>
              <a:tr h="1296364">
                <a:tc>
                  <a:txBody>
                    <a:bodyPr/>
                    <a:lstStyle/>
                    <a:p>
                      <a:endParaRPr lang="fr-CA" sz="2000" i="0" dirty="0"/>
                    </a:p>
                  </a:txBody>
                  <a:tcPr/>
                </a:tc>
                <a:tc>
                  <a:txBody>
                    <a:bodyPr/>
                    <a:lstStyle/>
                    <a:p>
                      <a:endParaRPr lang="fr-CA" dirty="0"/>
                    </a:p>
                  </a:txBody>
                  <a:tcPr/>
                </a:tc>
                <a:tc>
                  <a:txBody>
                    <a:bodyPr/>
                    <a:lstStyle/>
                    <a:p>
                      <a:pPr algn="r"/>
                      <a:endParaRPr lang="fr-CA" dirty="0"/>
                    </a:p>
                  </a:txBody>
                  <a:tcPr anchor="ctr"/>
                </a:tc>
                <a:extLst>
                  <a:ext uri="{0D108BD9-81ED-4DB2-BD59-A6C34878D82A}">
                    <a16:rowId xmlns:a16="http://schemas.microsoft.com/office/drawing/2014/main" val="669727680"/>
                  </a:ext>
                </a:extLst>
              </a:tr>
              <a:tr h="880950">
                <a:tc>
                  <a:txBody>
                    <a:bodyPr/>
                    <a:lstStyle/>
                    <a:p>
                      <a:endParaRPr lang="fr-CA" sz="2000" b="1" dirty="0"/>
                    </a:p>
                  </a:txBody>
                  <a:tcPr anchor="ctr"/>
                </a:tc>
                <a:tc>
                  <a:txBody>
                    <a:bodyPr/>
                    <a:lstStyle/>
                    <a:p>
                      <a:endParaRPr lang="fr-CA" dirty="0"/>
                    </a:p>
                  </a:txBody>
                  <a:tcPr/>
                </a:tc>
                <a:tc>
                  <a:txBody>
                    <a:bodyPr/>
                    <a:lstStyle/>
                    <a:p>
                      <a:pPr algn="r"/>
                      <a:endParaRPr lang="fr-CA" dirty="0"/>
                    </a:p>
                  </a:txBody>
                  <a:tcPr anchor="ctr"/>
                </a:tc>
                <a:extLst>
                  <a:ext uri="{0D108BD9-81ED-4DB2-BD59-A6C34878D82A}">
                    <a16:rowId xmlns:a16="http://schemas.microsoft.com/office/drawing/2014/main" val="3206589604"/>
                  </a:ext>
                </a:extLst>
              </a:tr>
              <a:tr h="5725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dirty="0"/>
                        <a:t>Prix minimum </a:t>
                      </a:r>
                    </a:p>
                  </a:txBody>
                  <a:tcPr anchor="ctr"/>
                </a:tc>
                <a:tc>
                  <a:txBody>
                    <a:bodyPr/>
                    <a:lstStyle/>
                    <a:p>
                      <a:r>
                        <a:rPr lang="fr-CA" dirty="0"/>
                        <a:t>56 000 $ / 500 unités</a:t>
                      </a:r>
                    </a:p>
                  </a:txBody>
                  <a:tcPr anchor="ctr"/>
                </a:tc>
                <a:tc>
                  <a:txBody>
                    <a:bodyPr/>
                    <a:lstStyle/>
                    <a:p>
                      <a:pPr algn="r"/>
                      <a:r>
                        <a:rPr lang="fr-CA" dirty="0"/>
                        <a:t>112 $/unités</a:t>
                      </a:r>
                    </a:p>
                  </a:txBody>
                  <a:tcPr anchor="ctr"/>
                </a:tc>
                <a:extLst>
                  <a:ext uri="{0D108BD9-81ED-4DB2-BD59-A6C34878D82A}">
                    <a16:rowId xmlns:a16="http://schemas.microsoft.com/office/drawing/2014/main" val="319844477"/>
                  </a:ext>
                </a:extLst>
              </a:tr>
            </a:tbl>
          </a:graphicData>
        </a:graphic>
      </p:graphicFrame>
      <p:sp>
        <p:nvSpPr>
          <p:cNvPr id="3" name="Espace réservé du numéro de diapositive 2">
            <a:extLst>
              <a:ext uri="{FF2B5EF4-FFF2-40B4-BE49-F238E27FC236}">
                <a16:creationId xmlns:a16="http://schemas.microsoft.com/office/drawing/2014/main" id="{F32D77A2-4610-BD3F-4FA2-9040CCE810C2}"/>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20</a:t>
            </a:fld>
            <a:endParaRPr lang="fr-CA">
              <a:solidFill>
                <a:prstClr val="black">
                  <a:tint val="75000"/>
                </a:prstClr>
              </a:solidFill>
            </a:endParaRPr>
          </a:p>
        </p:txBody>
      </p:sp>
      <p:sp>
        <p:nvSpPr>
          <p:cNvPr id="4" name="Espace réservé du pied de page 3">
            <a:extLst>
              <a:ext uri="{FF2B5EF4-FFF2-40B4-BE49-F238E27FC236}">
                <a16:creationId xmlns:a16="http://schemas.microsoft.com/office/drawing/2014/main" id="{713B6D40-BDE9-71CA-F6E6-69ED48C2FD97}"/>
              </a:ext>
            </a:extLst>
          </p:cNvPr>
          <p:cNvSpPr>
            <a:spLocks noGrp="1"/>
          </p:cNvSpPr>
          <p:nvPr>
            <p:ph type="ftr" sz="quarter" idx="11"/>
            <p:custDataLst>
              <p:tags r:id="rId4"/>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Tree>
    <p:extLst>
      <p:ext uri="{BB962C8B-B14F-4D97-AF65-F5344CB8AC3E}">
        <p14:creationId xmlns:p14="http://schemas.microsoft.com/office/powerpoint/2010/main" val="1867265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p:custDataLst>
              <p:tags r:id="rId2"/>
            </p:custDataLst>
          </p:nvPr>
        </p:nvSpPr>
        <p:spPr/>
        <p:txBody>
          <a:bodyPr vert="horz" lIns="91440" tIns="45720" rIns="91440" bIns="45720" rtlCol="0" anchor="ctr">
            <a:noAutofit/>
          </a:bodyPr>
          <a:lstStyle/>
          <a:p>
            <a:pPr lvl="0"/>
            <a:r>
              <a:rPr lang="fr-CA" sz="4000" dirty="0"/>
              <a:t>Piste de solution analyse différentielle…(étudiants) </a:t>
            </a:r>
            <a:endParaRPr lang="fr-CA" sz="4000" b="1" dirty="0"/>
          </a:p>
        </p:txBody>
      </p:sp>
      <p:sp>
        <p:nvSpPr>
          <p:cNvPr id="3" name="Espace réservé du contenu 2"/>
          <p:cNvSpPr>
            <a:spLocks noGrp="1"/>
          </p:cNvSpPr>
          <p:nvPr>
            <p:ph idx="1"/>
            <p:custDataLst>
              <p:tags r:id="rId3"/>
            </p:custDataLst>
          </p:nvPr>
        </p:nvSpPr>
        <p:spPr/>
        <p:txBody>
          <a:bodyPr>
            <a:normAutofit/>
          </a:bodyPr>
          <a:lstStyle/>
          <a:p>
            <a:pPr marL="0" indent="0">
              <a:buNone/>
            </a:pPr>
            <a:endParaRPr lang="fr-CA" sz="2400" dirty="0"/>
          </a:p>
          <a:p>
            <a:pPr marL="0" indent="0">
              <a:buNone/>
            </a:pPr>
            <a:endParaRPr lang="fr-CA" sz="2400" dirty="0"/>
          </a:p>
          <a:p>
            <a:pPr marL="0" indent="0">
              <a:buNone/>
            </a:pPr>
            <a:endParaRPr lang="fr-CA" sz="2400" dirty="0"/>
          </a:p>
        </p:txBody>
      </p:sp>
      <p:sp>
        <p:nvSpPr>
          <p:cNvPr id="5" name="Espace réservé du numéro de diapositive 4">
            <a:extLst>
              <a:ext uri="{FF2B5EF4-FFF2-40B4-BE49-F238E27FC236}">
                <a16:creationId xmlns:a16="http://schemas.microsoft.com/office/drawing/2014/main" id="{C5180B35-063B-1CA0-DEAC-C40BDFDF20AB}"/>
              </a:ext>
            </a:extLst>
          </p:cNvPr>
          <p:cNvSpPr>
            <a:spLocks noGrp="1"/>
          </p:cNvSpPr>
          <p:nvPr>
            <p:ph type="sldNum" sz="quarter" idx="12"/>
            <p:custDataLst>
              <p:tags r:id="rId4"/>
            </p:custDataLst>
          </p:nvPr>
        </p:nvSpPr>
        <p:spPr/>
        <p:txBody>
          <a:bodyPr/>
          <a:lstStyle/>
          <a:p>
            <a:fld id="{1F20FBA3-27E4-4E13-841E-B59ED0E8E620}" type="slidenum">
              <a:rPr lang="fr-CA" smtClean="0">
                <a:solidFill>
                  <a:prstClr val="black">
                    <a:tint val="75000"/>
                  </a:prstClr>
                </a:solidFill>
              </a:rPr>
              <a:pPr/>
              <a:t>21</a:t>
            </a:fld>
            <a:endParaRPr lang="fr-CA">
              <a:solidFill>
                <a:prstClr val="black">
                  <a:tint val="75000"/>
                </a:prstClr>
              </a:solidFill>
            </a:endParaRPr>
          </a:p>
        </p:txBody>
      </p:sp>
      <p:graphicFrame>
        <p:nvGraphicFramePr>
          <p:cNvPr id="4" name="Tableau 5">
            <a:extLst>
              <a:ext uri="{FF2B5EF4-FFF2-40B4-BE49-F238E27FC236}">
                <a16:creationId xmlns:a16="http://schemas.microsoft.com/office/drawing/2014/main" id="{F65B4FF2-067C-8A12-EDFE-1C276A221E0F}"/>
              </a:ext>
            </a:extLst>
          </p:cNvPr>
          <p:cNvGraphicFramePr>
            <a:graphicFrameLocks noGrp="1"/>
          </p:cNvGraphicFramePr>
          <p:nvPr>
            <p:custDataLst>
              <p:tags r:id="rId5"/>
            </p:custDataLst>
            <p:extLst>
              <p:ext uri="{D42A27DB-BD31-4B8C-83A1-F6EECF244321}">
                <p14:modId xmlns:p14="http://schemas.microsoft.com/office/powerpoint/2010/main" val="2897827693"/>
              </p:ext>
            </p:extLst>
          </p:nvPr>
        </p:nvGraphicFramePr>
        <p:xfrm>
          <a:off x="167426" y="1529632"/>
          <a:ext cx="4108360" cy="4487026"/>
        </p:xfrm>
        <a:graphic>
          <a:graphicData uri="http://schemas.openxmlformats.org/drawingml/2006/table">
            <a:tbl>
              <a:tblPr firstRow="1" bandRow="1">
                <a:tableStyleId>{5C22544A-7EE6-4342-B048-85BDC9FD1C3A}</a:tableStyleId>
              </a:tblPr>
              <a:tblGrid>
                <a:gridCol w="3074612">
                  <a:extLst>
                    <a:ext uri="{9D8B030D-6E8A-4147-A177-3AD203B41FA5}">
                      <a16:colId xmlns:a16="http://schemas.microsoft.com/office/drawing/2014/main" val="3834366886"/>
                    </a:ext>
                  </a:extLst>
                </a:gridCol>
                <a:gridCol w="1033748">
                  <a:extLst>
                    <a:ext uri="{9D8B030D-6E8A-4147-A177-3AD203B41FA5}">
                      <a16:colId xmlns:a16="http://schemas.microsoft.com/office/drawing/2014/main" val="3423370203"/>
                    </a:ext>
                  </a:extLst>
                </a:gridCol>
              </a:tblGrid>
              <a:tr h="483023">
                <a:tc gridSpan="2">
                  <a:txBody>
                    <a:bodyPr/>
                    <a:lstStyle/>
                    <a:p>
                      <a:r>
                        <a:rPr lang="fr-CA" dirty="0"/>
                        <a:t>Situation actuelle (client régulier) </a:t>
                      </a:r>
                    </a:p>
                  </a:txBody>
                  <a:tcPr/>
                </a:tc>
                <a:tc hMerge="1">
                  <a:txBody>
                    <a:bodyPr/>
                    <a:lstStyle/>
                    <a:p>
                      <a:pPr algn="ctr"/>
                      <a:endParaRPr lang="fr-CA" dirty="0"/>
                    </a:p>
                  </a:txBody>
                  <a:tcPr/>
                </a:tc>
                <a:extLst>
                  <a:ext uri="{0D108BD9-81ED-4DB2-BD59-A6C34878D82A}">
                    <a16:rowId xmlns:a16="http://schemas.microsoft.com/office/drawing/2014/main" val="263971878"/>
                  </a:ext>
                </a:extLst>
              </a:tr>
              <a:tr h="483023">
                <a:tc>
                  <a:txBody>
                    <a:bodyPr/>
                    <a:lstStyle/>
                    <a:p>
                      <a:r>
                        <a:rPr lang="fr-CA" dirty="0"/>
                        <a:t>Unités vendues 1 000 unités</a:t>
                      </a:r>
                    </a:p>
                  </a:txBody>
                  <a:tcPr/>
                </a:tc>
                <a:tc>
                  <a:txBody>
                    <a:bodyPr/>
                    <a:lstStyle/>
                    <a:p>
                      <a:pPr algn="ctr"/>
                      <a:r>
                        <a:rPr lang="fr-CA" dirty="0"/>
                        <a:t>1 unité</a:t>
                      </a:r>
                    </a:p>
                  </a:txBody>
                  <a:tcPr/>
                </a:tc>
                <a:extLst>
                  <a:ext uri="{0D108BD9-81ED-4DB2-BD59-A6C34878D82A}">
                    <a16:rowId xmlns:a16="http://schemas.microsoft.com/office/drawing/2014/main" val="1570569473"/>
                  </a:ext>
                </a:extLst>
              </a:tr>
              <a:tr h="483023">
                <a:tc>
                  <a:txBody>
                    <a:bodyPr/>
                    <a:lstStyle/>
                    <a:p>
                      <a:r>
                        <a:rPr lang="fr-CA" dirty="0"/>
                        <a:t>Prix de vente</a:t>
                      </a:r>
                    </a:p>
                  </a:txBody>
                  <a:tcPr/>
                </a:tc>
                <a:tc>
                  <a:txBody>
                    <a:bodyPr/>
                    <a:lstStyle/>
                    <a:p>
                      <a:pPr algn="ctr"/>
                      <a:r>
                        <a:rPr lang="fr-CA" dirty="0"/>
                        <a:t>150 $</a:t>
                      </a:r>
                    </a:p>
                  </a:txBody>
                  <a:tcPr/>
                </a:tc>
                <a:extLst>
                  <a:ext uri="{0D108BD9-81ED-4DB2-BD59-A6C34878D82A}">
                    <a16:rowId xmlns:a16="http://schemas.microsoft.com/office/drawing/2014/main" val="1824748021"/>
                  </a:ext>
                </a:extLst>
              </a:tr>
              <a:tr h="483023">
                <a:tc>
                  <a:txBody>
                    <a:bodyPr/>
                    <a:lstStyle/>
                    <a:p>
                      <a:r>
                        <a:rPr lang="fr-CA" dirty="0"/>
                        <a:t>(-) Coûts variables</a:t>
                      </a:r>
                    </a:p>
                  </a:txBody>
                  <a:tcPr/>
                </a:tc>
                <a:tc>
                  <a:txBody>
                    <a:bodyPr/>
                    <a:lstStyle/>
                    <a:p>
                      <a:pPr algn="ctr"/>
                      <a:r>
                        <a:rPr lang="fr-CA" u="sng" dirty="0"/>
                        <a:t>40 $</a:t>
                      </a:r>
                    </a:p>
                  </a:txBody>
                  <a:tcPr/>
                </a:tc>
                <a:extLst>
                  <a:ext uri="{0D108BD9-81ED-4DB2-BD59-A6C34878D82A}">
                    <a16:rowId xmlns:a16="http://schemas.microsoft.com/office/drawing/2014/main" val="2569423457"/>
                  </a:ext>
                </a:extLst>
              </a:tr>
              <a:tr h="483023">
                <a:tc>
                  <a:txBody>
                    <a:bodyPr/>
                    <a:lstStyle/>
                    <a:p>
                      <a:r>
                        <a:rPr lang="fr-CA" dirty="0"/>
                        <a:t>= Marge sur coûts variables</a:t>
                      </a:r>
                    </a:p>
                  </a:txBody>
                  <a:tcPr/>
                </a:tc>
                <a:tc>
                  <a:txBody>
                    <a:bodyPr/>
                    <a:lstStyle/>
                    <a:p>
                      <a:pPr algn="ctr"/>
                      <a:r>
                        <a:rPr lang="fr-CA" dirty="0"/>
                        <a:t>110 $</a:t>
                      </a:r>
                    </a:p>
                  </a:txBody>
                  <a:tcPr/>
                </a:tc>
                <a:extLst>
                  <a:ext uri="{0D108BD9-81ED-4DB2-BD59-A6C34878D82A}">
                    <a16:rowId xmlns:a16="http://schemas.microsoft.com/office/drawing/2014/main" val="3678214387"/>
                  </a:ext>
                </a:extLst>
              </a:tr>
              <a:tr h="934640">
                <a:tc>
                  <a:txBody>
                    <a:bodyPr/>
                    <a:lstStyle/>
                    <a:p>
                      <a:r>
                        <a:rPr lang="fr-CA" dirty="0"/>
                        <a:t>(-) Coûts fixes </a:t>
                      </a:r>
                      <a:r>
                        <a:rPr lang="fr-CA" b="1" dirty="0"/>
                        <a:t>communs</a:t>
                      </a:r>
                      <a:r>
                        <a:rPr lang="fr-CA" dirty="0"/>
                        <a:t> (loyer, chauffage, frais </a:t>
                      </a:r>
                      <a:r>
                        <a:rPr lang="fr-CA" dirty="0" err="1"/>
                        <a:t>mktg</a:t>
                      </a:r>
                      <a:r>
                        <a:rPr lang="fr-CA" dirty="0"/>
                        <a:t>, etc.)</a:t>
                      </a:r>
                    </a:p>
                    <a:p>
                      <a:r>
                        <a:rPr lang="fr-CA" dirty="0"/>
                        <a:t>37 500 $ / 1 000 u.</a:t>
                      </a:r>
                    </a:p>
                  </a:txBody>
                  <a:tcPr/>
                </a:tc>
                <a:tc>
                  <a:txBody>
                    <a:bodyPr/>
                    <a:lstStyle/>
                    <a:p>
                      <a:pPr algn="ctr"/>
                      <a:r>
                        <a:rPr lang="fr-CA" u="sng" dirty="0"/>
                        <a:t>37,50 $</a:t>
                      </a:r>
                    </a:p>
                  </a:txBody>
                  <a:tcPr/>
                </a:tc>
                <a:extLst>
                  <a:ext uri="{0D108BD9-81ED-4DB2-BD59-A6C34878D82A}">
                    <a16:rowId xmlns:a16="http://schemas.microsoft.com/office/drawing/2014/main" val="2570439702"/>
                  </a:ext>
                </a:extLst>
              </a:tr>
              <a:tr h="483023">
                <a:tc>
                  <a:txBody>
                    <a:bodyPr/>
                    <a:lstStyle/>
                    <a:p>
                      <a:endParaRPr lang="fr-CA" dirty="0"/>
                    </a:p>
                  </a:txBody>
                  <a:tcPr/>
                </a:tc>
                <a:tc>
                  <a:txBody>
                    <a:bodyPr/>
                    <a:lstStyle/>
                    <a:p>
                      <a:pPr algn="ctr"/>
                      <a:endParaRPr lang="fr-CA" u="sng" dirty="0"/>
                    </a:p>
                  </a:txBody>
                  <a:tcPr/>
                </a:tc>
                <a:extLst>
                  <a:ext uri="{0D108BD9-81ED-4DB2-BD59-A6C34878D82A}">
                    <a16:rowId xmlns:a16="http://schemas.microsoft.com/office/drawing/2014/main" val="3073715194"/>
                  </a:ext>
                </a:extLst>
              </a:tr>
              <a:tr h="654248">
                <a:tc>
                  <a:txBody>
                    <a:bodyPr/>
                    <a:lstStyle/>
                    <a:p>
                      <a:r>
                        <a:rPr lang="fr-CA" dirty="0"/>
                        <a:t>(=) Résultat d’exploitation</a:t>
                      </a:r>
                    </a:p>
                    <a:p>
                      <a:r>
                        <a:rPr lang="fr-CA" dirty="0"/>
                        <a:t>72,50 $ x  1 000 unités</a:t>
                      </a:r>
                    </a:p>
                  </a:txBody>
                  <a:tcPr/>
                </a:tc>
                <a:tc>
                  <a:txBody>
                    <a:bodyPr/>
                    <a:lstStyle/>
                    <a:p>
                      <a:pPr algn="ctr"/>
                      <a:r>
                        <a:rPr lang="fr-CA" b="1" dirty="0"/>
                        <a:t>72 500 $</a:t>
                      </a:r>
                    </a:p>
                  </a:txBody>
                  <a:tcPr/>
                </a:tc>
                <a:extLst>
                  <a:ext uri="{0D108BD9-81ED-4DB2-BD59-A6C34878D82A}">
                    <a16:rowId xmlns:a16="http://schemas.microsoft.com/office/drawing/2014/main" val="1456019484"/>
                  </a:ext>
                </a:extLst>
              </a:tr>
            </a:tbl>
          </a:graphicData>
        </a:graphic>
      </p:graphicFrame>
      <p:sp>
        <p:nvSpPr>
          <p:cNvPr id="10" name="Espace réservé du pied de page 3">
            <a:extLst>
              <a:ext uri="{FF2B5EF4-FFF2-40B4-BE49-F238E27FC236}">
                <a16:creationId xmlns:a16="http://schemas.microsoft.com/office/drawing/2014/main" id="{625D0998-0BC0-EF0B-5428-9215E5E0F27A}"/>
              </a:ext>
            </a:extLst>
          </p:cNvPr>
          <p:cNvSpPr>
            <a:spLocks noGrp="1"/>
          </p:cNvSpPr>
          <p:nvPr>
            <p:ph type="ftr" sz="quarter" idx="11"/>
            <p:custDataLst>
              <p:tags r:id="rId6"/>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graphicFrame>
        <p:nvGraphicFramePr>
          <p:cNvPr id="6" name="Tableau 5">
            <a:extLst>
              <a:ext uri="{FF2B5EF4-FFF2-40B4-BE49-F238E27FC236}">
                <a16:creationId xmlns:a16="http://schemas.microsoft.com/office/drawing/2014/main" id="{2A8D6758-4914-03A1-8A73-78A1F7A75ADB}"/>
              </a:ext>
            </a:extLst>
          </p:cNvPr>
          <p:cNvGraphicFramePr>
            <a:graphicFrameLocks noGrp="1"/>
          </p:cNvGraphicFramePr>
          <p:nvPr>
            <p:custDataLst>
              <p:tags r:id="rId7"/>
            </p:custDataLst>
            <p:extLst>
              <p:ext uri="{D42A27DB-BD31-4B8C-83A1-F6EECF244321}">
                <p14:modId xmlns:p14="http://schemas.microsoft.com/office/powerpoint/2010/main" val="4060140853"/>
              </p:ext>
            </p:extLst>
          </p:nvPr>
        </p:nvGraphicFramePr>
        <p:xfrm>
          <a:off x="4392024" y="1467851"/>
          <a:ext cx="7632551" cy="4548809"/>
        </p:xfrm>
        <a:graphic>
          <a:graphicData uri="http://schemas.openxmlformats.org/drawingml/2006/table">
            <a:tbl>
              <a:tblPr firstRow="1" bandRow="1">
                <a:tableStyleId>{3B4B98B0-60AC-42C2-AFA5-B58CD77FA1E5}</a:tableStyleId>
              </a:tblPr>
              <a:tblGrid>
                <a:gridCol w="1606989">
                  <a:extLst>
                    <a:ext uri="{9D8B030D-6E8A-4147-A177-3AD203B41FA5}">
                      <a16:colId xmlns:a16="http://schemas.microsoft.com/office/drawing/2014/main" val="3834366886"/>
                    </a:ext>
                  </a:extLst>
                </a:gridCol>
                <a:gridCol w="1226035">
                  <a:extLst>
                    <a:ext uri="{9D8B030D-6E8A-4147-A177-3AD203B41FA5}">
                      <a16:colId xmlns:a16="http://schemas.microsoft.com/office/drawing/2014/main" val="3022276740"/>
                    </a:ext>
                  </a:extLst>
                </a:gridCol>
                <a:gridCol w="2275247">
                  <a:extLst>
                    <a:ext uri="{9D8B030D-6E8A-4147-A177-3AD203B41FA5}">
                      <a16:colId xmlns:a16="http://schemas.microsoft.com/office/drawing/2014/main" val="1888503047"/>
                    </a:ext>
                  </a:extLst>
                </a:gridCol>
                <a:gridCol w="2524280">
                  <a:extLst>
                    <a:ext uri="{9D8B030D-6E8A-4147-A177-3AD203B41FA5}">
                      <a16:colId xmlns:a16="http://schemas.microsoft.com/office/drawing/2014/main" val="3573550667"/>
                    </a:ext>
                  </a:extLst>
                </a:gridCol>
              </a:tblGrid>
              <a:tr h="711714">
                <a:tc>
                  <a:txBody>
                    <a:bodyPr/>
                    <a:lstStyle/>
                    <a:p>
                      <a:r>
                        <a:rPr lang="fr-CA" dirty="0"/>
                        <a:t>Unités vendues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600" dirty="0"/>
                        <a:t>Refuser</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1600" dirty="0"/>
                        <a:t>Alternative 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600" dirty="0"/>
                        <a:t>Accepter la commande spéciale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1600" dirty="0"/>
                        <a:t>Alternative B</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600" dirty="0"/>
                        <a:t>Résultat différentiel</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1600" dirty="0"/>
                        <a:t>Impact sur le résultat augmentation (diminution)</a:t>
                      </a:r>
                    </a:p>
                  </a:txBody>
                  <a:tcPr/>
                </a:tc>
                <a:extLst>
                  <a:ext uri="{0D108BD9-81ED-4DB2-BD59-A6C34878D82A}">
                    <a16:rowId xmlns:a16="http://schemas.microsoft.com/office/drawing/2014/main" val="1570569473"/>
                  </a:ext>
                </a:extLst>
              </a:tr>
              <a:tr h="525449">
                <a:tc>
                  <a:txBody>
                    <a:bodyPr/>
                    <a:lstStyle/>
                    <a:p>
                      <a:r>
                        <a:rPr lang="fr-CA" dirty="0"/>
                        <a:t>Ventes</a:t>
                      </a:r>
                    </a:p>
                  </a:txBody>
                  <a:tcPr/>
                </a:tc>
                <a:tc>
                  <a:txBody>
                    <a:bodyPr/>
                    <a:lstStyle/>
                    <a:p>
                      <a:pPr algn="ctr"/>
                      <a:endParaRPr lang="fr-CA" dirty="0"/>
                    </a:p>
                  </a:txBody>
                  <a:tcPr/>
                </a:tc>
                <a:tc>
                  <a:txBody>
                    <a:bodyPr/>
                    <a:lstStyle/>
                    <a:p>
                      <a:pPr algn="ctr"/>
                      <a:endParaRPr lang="fr-CA" dirty="0"/>
                    </a:p>
                  </a:txBody>
                  <a:tcPr/>
                </a:tc>
                <a:tc>
                  <a:txBody>
                    <a:bodyPr/>
                    <a:lstStyle/>
                    <a:p>
                      <a:pPr algn="ctr"/>
                      <a:endParaRPr lang="fr-CA" dirty="0"/>
                    </a:p>
                  </a:txBody>
                  <a:tcPr/>
                </a:tc>
                <a:extLst>
                  <a:ext uri="{0D108BD9-81ED-4DB2-BD59-A6C34878D82A}">
                    <a16:rowId xmlns:a16="http://schemas.microsoft.com/office/drawing/2014/main" val="1824748021"/>
                  </a:ext>
                </a:extLst>
              </a:tr>
              <a:tr h="525449">
                <a:tc>
                  <a:txBody>
                    <a:bodyPr/>
                    <a:lstStyle/>
                    <a:p>
                      <a:r>
                        <a:rPr lang="fr-CA" dirty="0"/>
                        <a:t>(-) Coûts variables</a:t>
                      </a:r>
                    </a:p>
                  </a:txBody>
                  <a:tcPr/>
                </a:tc>
                <a:tc>
                  <a:txBody>
                    <a:bodyPr/>
                    <a:lstStyle/>
                    <a:p>
                      <a:pPr algn="ctr"/>
                      <a:endParaRPr lang="fr-CA" dirty="0"/>
                    </a:p>
                  </a:txBody>
                  <a:tcPr/>
                </a:tc>
                <a:tc>
                  <a:txBody>
                    <a:bodyPr/>
                    <a:lstStyle/>
                    <a:p>
                      <a:pPr algn="ctr"/>
                      <a:endParaRPr lang="fr-CA" dirty="0"/>
                    </a:p>
                  </a:txBody>
                  <a:tcPr/>
                </a:tc>
                <a:tc>
                  <a:txBody>
                    <a:bodyPr/>
                    <a:lstStyle/>
                    <a:p>
                      <a:pPr algn="ctr"/>
                      <a:endParaRPr lang="fr-CA" dirty="0"/>
                    </a:p>
                  </a:txBody>
                  <a:tcPr/>
                </a:tc>
                <a:extLst>
                  <a:ext uri="{0D108BD9-81ED-4DB2-BD59-A6C34878D82A}">
                    <a16:rowId xmlns:a16="http://schemas.microsoft.com/office/drawing/2014/main" val="2569423457"/>
                  </a:ext>
                </a:extLst>
              </a:tr>
              <a:tr h="525449">
                <a:tc>
                  <a:txBody>
                    <a:bodyPr/>
                    <a:lstStyle/>
                    <a:p>
                      <a:r>
                        <a:rPr lang="fr-CA" dirty="0"/>
                        <a:t>= Marge sur coûts variables</a:t>
                      </a:r>
                    </a:p>
                  </a:txBody>
                  <a:tcPr/>
                </a:tc>
                <a:tc>
                  <a:txBody>
                    <a:bodyPr/>
                    <a:lstStyle/>
                    <a:p>
                      <a:pPr algn="ctr"/>
                      <a:endParaRPr lang="fr-CA" dirty="0"/>
                    </a:p>
                  </a:txBody>
                  <a:tcPr/>
                </a:tc>
                <a:tc>
                  <a:txBody>
                    <a:bodyPr/>
                    <a:lstStyle/>
                    <a:p>
                      <a:pPr algn="ctr"/>
                      <a:endParaRPr lang="fr-CA" dirty="0"/>
                    </a:p>
                  </a:txBody>
                  <a:tcPr/>
                </a:tc>
                <a:tc>
                  <a:txBody>
                    <a:bodyPr/>
                    <a:lstStyle/>
                    <a:p>
                      <a:pPr algn="ctr"/>
                      <a:endParaRPr lang="fr-CA" dirty="0"/>
                    </a:p>
                  </a:txBody>
                  <a:tcPr/>
                </a:tc>
                <a:extLst>
                  <a:ext uri="{0D108BD9-81ED-4DB2-BD59-A6C34878D82A}">
                    <a16:rowId xmlns:a16="http://schemas.microsoft.com/office/drawing/2014/main" val="3678214387"/>
                  </a:ext>
                </a:extLst>
              </a:tr>
              <a:tr h="525449">
                <a:tc>
                  <a:txBody>
                    <a:bodyPr/>
                    <a:lstStyle/>
                    <a:p>
                      <a:r>
                        <a:rPr lang="fr-CA" dirty="0"/>
                        <a:t>(-) Coûts fixes spécifiques </a:t>
                      </a:r>
                    </a:p>
                  </a:txBody>
                  <a:tcPr/>
                </a:tc>
                <a:tc>
                  <a:txBody>
                    <a:bodyPr/>
                    <a:lstStyle/>
                    <a:p>
                      <a:pPr algn="ctr"/>
                      <a:endParaRPr lang="fr-CA" u="none" dirty="0"/>
                    </a:p>
                  </a:txBody>
                  <a:tcPr/>
                </a:tc>
                <a:tc>
                  <a:txBody>
                    <a:bodyPr/>
                    <a:lstStyle/>
                    <a:p>
                      <a:pPr algn="ctr"/>
                      <a:endParaRPr lang="fr-CA" u="none" dirty="0"/>
                    </a:p>
                  </a:txBody>
                  <a:tcPr/>
                </a:tc>
                <a:tc>
                  <a:txBody>
                    <a:bodyPr/>
                    <a:lstStyle/>
                    <a:p>
                      <a:pPr algn="ctr"/>
                      <a:endParaRPr lang="fr-CA" u="none" dirty="0"/>
                    </a:p>
                  </a:txBody>
                  <a:tcPr/>
                </a:tc>
                <a:extLst>
                  <a:ext uri="{0D108BD9-81ED-4DB2-BD59-A6C34878D82A}">
                    <a16:rowId xmlns:a16="http://schemas.microsoft.com/office/drawing/2014/main" val="3073715194"/>
                  </a:ext>
                </a:extLst>
              </a:tr>
              <a:tr h="525449">
                <a:tc>
                  <a:txBody>
                    <a:bodyPr/>
                    <a:lstStyle/>
                    <a:p>
                      <a:r>
                        <a:rPr lang="fr-CA" dirty="0"/>
                        <a:t>(-) Coût de renonciation</a:t>
                      </a:r>
                    </a:p>
                  </a:txBody>
                  <a:tcPr/>
                </a:tc>
                <a:tc>
                  <a:txBody>
                    <a:bodyPr/>
                    <a:lstStyle/>
                    <a:p>
                      <a:pPr algn="ctr"/>
                      <a:endParaRPr lang="fr-CA" u="none" dirty="0"/>
                    </a:p>
                  </a:txBody>
                  <a:tcPr/>
                </a:tc>
                <a:tc>
                  <a:txBody>
                    <a:bodyPr/>
                    <a:lstStyle/>
                    <a:p>
                      <a:pPr algn="ctr"/>
                      <a:endParaRPr lang="fr-CA" u="none" dirty="0"/>
                    </a:p>
                  </a:txBody>
                  <a:tcPr/>
                </a:tc>
                <a:tc>
                  <a:txBody>
                    <a:bodyPr/>
                    <a:lstStyle/>
                    <a:p>
                      <a:pPr algn="ctr"/>
                      <a:endParaRPr lang="fr-CA" u="none" dirty="0"/>
                    </a:p>
                  </a:txBody>
                  <a:tcPr/>
                </a:tc>
                <a:extLst>
                  <a:ext uri="{0D108BD9-81ED-4DB2-BD59-A6C34878D82A}">
                    <a16:rowId xmlns:a16="http://schemas.microsoft.com/office/drawing/2014/main" val="2850613211"/>
                  </a:ext>
                </a:extLst>
              </a:tr>
              <a:tr h="525449">
                <a:tc>
                  <a:txBody>
                    <a:bodyPr/>
                    <a:lstStyle/>
                    <a:p>
                      <a:r>
                        <a:rPr lang="fr-CA" dirty="0"/>
                        <a:t>(=) Résultat d’exploitation</a:t>
                      </a:r>
                    </a:p>
                  </a:txBody>
                  <a:tcPr/>
                </a:tc>
                <a:tc>
                  <a:txBody>
                    <a:bodyPr/>
                    <a:lstStyle/>
                    <a:p>
                      <a:pPr algn="ctr"/>
                      <a:endParaRPr lang="fr-CA" b="1" dirty="0"/>
                    </a:p>
                  </a:txBody>
                  <a:tcPr/>
                </a:tc>
                <a:tc>
                  <a:txBody>
                    <a:bodyPr/>
                    <a:lstStyle/>
                    <a:p>
                      <a:pPr algn="ctr"/>
                      <a:endParaRPr lang="fr-CA" b="1" dirty="0"/>
                    </a:p>
                  </a:txBody>
                  <a:tcPr/>
                </a:tc>
                <a:tc>
                  <a:txBody>
                    <a:bodyPr/>
                    <a:lstStyle/>
                    <a:p>
                      <a:pPr algn="ctr"/>
                      <a:endParaRPr lang="fr-CA" b="1" dirty="0"/>
                    </a:p>
                  </a:txBody>
                  <a:tcPr/>
                </a:tc>
                <a:extLst>
                  <a:ext uri="{0D108BD9-81ED-4DB2-BD59-A6C34878D82A}">
                    <a16:rowId xmlns:a16="http://schemas.microsoft.com/office/drawing/2014/main" val="1456019484"/>
                  </a:ext>
                </a:extLst>
              </a:tr>
            </a:tbl>
          </a:graphicData>
        </a:graphic>
      </p:graphicFrame>
    </p:spTree>
    <p:custDataLst>
      <p:tags r:id="rId1"/>
    </p:custDataLst>
    <p:extLst>
      <p:ext uri="{BB962C8B-B14F-4D97-AF65-F5344CB8AC3E}">
        <p14:creationId xmlns:p14="http://schemas.microsoft.com/office/powerpoint/2010/main" val="36430455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7AE513-79F3-3C89-EF65-88E4A0D6EA8A}"/>
              </a:ext>
            </a:extLst>
          </p:cNvPr>
          <p:cNvSpPr>
            <a:spLocks noGrp="1"/>
          </p:cNvSpPr>
          <p:nvPr>
            <p:ph type="ctrTitle"/>
          </p:nvPr>
        </p:nvSpPr>
        <p:spPr/>
        <p:txBody>
          <a:bodyPr>
            <a:normAutofit fontScale="90000"/>
          </a:bodyPr>
          <a:lstStyle/>
          <a:p>
            <a:r>
              <a:rPr lang="fr-CA" dirty="0"/>
              <a:t>Résumé des différentes étapes pour analyser une commande spéciale</a:t>
            </a:r>
          </a:p>
        </p:txBody>
      </p:sp>
      <p:sp>
        <p:nvSpPr>
          <p:cNvPr id="3" name="Sous-titre 2">
            <a:extLst>
              <a:ext uri="{FF2B5EF4-FFF2-40B4-BE49-F238E27FC236}">
                <a16:creationId xmlns:a16="http://schemas.microsoft.com/office/drawing/2014/main" id="{80035A48-C0A6-691D-0749-7558082823BC}"/>
              </a:ext>
            </a:extLst>
          </p:cNvPr>
          <p:cNvSpPr>
            <a:spLocks noGrp="1"/>
          </p:cNvSpPr>
          <p:nvPr>
            <p:ph type="subTitle" idx="1"/>
          </p:nvPr>
        </p:nvSpPr>
        <p:spPr/>
        <p:txBody>
          <a:bodyPr/>
          <a:lstStyle/>
          <a:p>
            <a:endParaRPr lang="fr-CA"/>
          </a:p>
        </p:txBody>
      </p:sp>
      <p:sp>
        <p:nvSpPr>
          <p:cNvPr id="4" name="Espace réservé du pied de page 3">
            <a:extLst>
              <a:ext uri="{FF2B5EF4-FFF2-40B4-BE49-F238E27FC236}">
                <a16:creationId xmlns:a16="http://schemas.microsoft.com/office/drawing/2014/main" id="{E7DEE378-83F8-370F-B148-B1024A88605A}"/>
              </a:ext>
            </a:extLst>
          </p:cNvPr>
          <p:cNvSpPr>
            <a:spLocks noGrp="1"/>
          </p:cNvSpPr>
          <p:nvPr>
            <p:ph type="ftr" sz="quarter" idx="11"/>
          </p:nvPr>
        </p:nvSpPr>
        <p:spPr/>
        <p:txBody>
          <a:bodyPr/>
          <a:lstStyle/>
          <a:p>
            <a:r>
              <a:rPr lang="pt-BR">
                <a:solidFill>
                  <a:prstClr val="black">
                    <a:tint val="75000"/>
                  </a:prstClr>
                </a:solidFill>
              </a:rPr>
              <a:t>(c) 10904 / S03 - Version H2024</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63578697-19E9-2395-4E02-213FD7547EC6}"/>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22</a:t>
            </a:fld>
            <a:endParaRPr lang="fr-CA">
              <a:solidFill>
                <a:prstClr val="black">
                  <a:tint val="75000"/>
                </a:prstClr>
              </a:solidFill>
            </a:endParaRPr>
          </a:p>
        </p:txBody>
      </p:sp>
    </p:spTree>
    <p:extLst>
      <p:ext uri="{BB962C8B-B14F-4D97-AF65-F5344CB8AC3E}">
        <p14:creationId xmlns:p14="http://schemas.microsoft.com/office/powerpoint/2010/main" val="20623696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custDataLst>
              <p:tags r:id="rId1"/>
            </p:custDataLst>
          </p:nvPr>
        </p:nvSpPr>
        <p:spPr>
          <a:xfrm>
            <a:off x="409074" y="180301"/>
            <a:ext cx="10944726" cy="1031881"/>
          </a:xfrm>
        </p:spPr>
        <p:txBody>
          <a:bodyPr>
            <a:normAutofit fontScale="90000"/>
          </a:bodyPr>
          <a:lstStyle/>
          <a:p>
            <a:r>
              <a:rPr lang="fr-CA" dirty="0"/>
              <a:t>Identifier les coûts pertinents </a:t>
            </a:r>
            <a:r>
              <a:rPr lang="fr-CA" sz="4000" dirty="0"/>
              <a:t>(à la lecture de l’énoncé)</a:t>
            </a:r>
            <a:endParaRPr lang="fr-CA" dirty="0"/>
          </a:p>
        </p:txBody>
      </p:sp>
      <p:graphicFrame>
        <p:nvGraphicFramePr>
          <p:cNvPr id="7" name="Espace réservé du contenu 6"/>
          <p:cNvGraphicFramePr>
            <a:graphicFrameLocks noGrp="1"/>
          </p:cNvGraphicFramePr>
          <p:nvPr>
            <p:ph idx="4294967295"/>
            <p:custDataLst>
              <p:tags r:id="rId2"/>
            </p:custDataLst>
          </p:nvPr>
        </p:nvGraphicFramePr>
        <p:xfrm>
          <a:off x="1607507" y="1606550"/>
          <a:ext cx="8864600" cy="233045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pSp>
        <p:nvGrpSpPr>
          <p:cNvPr id="10" name="Groupe 9"/>
          <p:cNvGrpSpPr/>
          <p:nvPr>
            <p:custDataLst>
              <p:tags r:id="rId3"/>
            </p:custDataLst>
          </p:nvPr>
        </p:nvGrpSpPr>
        <p:grpSpPr>
          <a:xfrm>
            <a:off x="1607507" y="4261213"/>
            <a:ext cx="3498310" cy="1698452"/>
            <a:chOff x="0" y="935561"/>
            <a:chExt cx="3076574" cy="1999773"/>
          </a:xfrm>
          <a:scene3d>
            <a:camera prst="orthographicFront"/>
            <a:lightRig rig="threePt" dir="t">
              <a:rot lat="0" lon="0" rev="7500000"/>
            </a:lightRig>
          </a:scene3d>
        </p:grpSpPr>
        <p:sp>
          <p:nvSpPr>
            <p:cNvPr id="11" name="Rectangle à coins arrondis 10"/>
            <p:cNvSpPr/>
            <p:nvPr/>
          </p:nvSpPr>
          <p:spPr>
            <a:xfrm>
              <a:off x="0" y="935561"/>
              <a:ext cx="3076574" cy="1999773"/>
            </a:xfrm>
            <a:prstGeom prst="roundRect">
              <a:avLst/>
            </a:prstGeom>
            <a:ln>
              <a:solidFill>
                <a:schemeClr val="tx2">
                  <a:lumMod val="60000"/>
                  <a:lumOff val="40000"/>
                </a:schemeClr>
              </a:solidFill>
            </a:ln>
          </p:spPr>
          <p:style>
            <a:lnRef idx="2">
              <a:schemeClr val="accent2"/>
            </a:lnRef>
            <a:fillRef idx="1">
              <a:schemeClr val="lt1"/>
            </a:fillRef>
            <a:effectRef idx="0">
              <a:schemeClr val="accent2"/>
            </a:effectRef>
            <a:fontRef idx="minor">
              <a:schemeClr val="dk1"/>
            </a:fontRef>
          </p:style>
          <p:txBody>
            <a:bodyPr/>
            <a:lstStyle/>
            <a:p>
              <a:endParaRPr lang="fr-CA"/>
            </a:p>
          </p:txBody>
        </p:sp>
        <p:sp>
          <p:nvSpPr>
            <p:cNvPr id="12" name="Rectangle 11"/>
            <p:cNvSpPr/>
            <p:nvPr/>
          </p:nvSpPr>
          <p:spPr>
            <a:xfrm>
              <a:off x="97621" y="1033182"/>
              <a:ext cx="2881332" cy="1804531"/>
            </a:xfrm>
            <a:prstGeom prst="rect">
              <a:avLst/>
            </a:prstGeom>
            <a:ln>
              <a:noFill/>
            </a:ln>
          </p:spPr>
          <p:style>
            <a:lnRef idx="2">
              <a:schemeClr val="accent2"/>
            </a:lnRef>
            <a:fillRef idx="1">
              <a:schemeClr val="lt1"/>
            </a:fillRef>
            <a:effectRef idx="0">
              <a:schemeClr val="accent2"/>
            </a:effectRef>
            <a:fontRef idx="minor">
              <a:schemeClr val="dk1"/>
            </a:fontRef>
          </p:style>
          <p:txBody>
            <a:bodyPr spcFirstLastPara="0" vert="horz" wrap="square" lIns="68580" tIns="68580" rIns="68580" bIns="68580" numCol="1" spcCol="1270" anchor="t" anchorCtr="0">
              <a:noAutofit/>
            </a:bodyPr>
            <a:lstStyle/>
            <a:p>
              <a:pPr marL="0" marR="0" lvl="0" indent="0" algn="ctr" defTabSz="800100" rtl="0" eaLnBrk="1" fontAlgn="auto" latinLnBrk="0" hangingPunct="1">
                <a:lnSpc>
                  <a:spcPct val="90000"/>
                </a:lnSpc>
                <a:spcBef>
                  <a:spcPct val="0"/>
                </a:spcBef>
                <a:spcAft>
                  <a:spcPct val="35000"/>
                </a:spcAft>
                <a:buClrTx/>
                <a:buSzTx/>
                <a:buFontTx/>
                <a:buNone/>
                <a:tabLst/>
                <a:defRPr/>
              </a:pPr>
              <a:r>
                <a:rPr kumimoji="0" lang="fr-CA" sz="1800" b="1" i="0" u="none" strike="noStrike" kern="1200" cap="none" spc="0" normalizeH="0" baseline="0" dirty="0">
                  <a:ln>
                    <a:noFill/>
                  </a:ln>
                  <a:solidFill>
                    <a:prstClr val="black"/>
                  </a:solidFill>
                  <a:effectLst/>
                  <a:uLnTx/>
                  <a:uFillTx/>
                  <a:latin typeface="Calibri" panose="020F0502020204030204"/>
                  <a:ea typeface="+mn-ea"/>
                  <a:cs typeface="+mn-cs"/>
                </a:rPr>
                <a:t>Coûts pertinents </a:t>
              </a:r>
            </a:p>
            <a:p>
              <a:pPr marL="228600" marR="0" lvl="1" indent="-114300" algn="l" defTabSz="622300" rtl="0" eaLnBrk="1" fontAlgn="auto" latinLnBrk="0" hangingPunct="1">
                <a:lnSpc>
                  <a:spcPct val="90000"/>
                </a:lnSpc>
                <a:spcBef>
                  <a:spcPct val="0"/>
                </a:spcBef>
                <a:spcAft>
                  <a:spcPct val="15000"/>
                </a:spcAft>
                <a:buClrTx/>
                <a:buSzTx/>
                <a:buFontTx/>
                <a:buChar char="••"/>
                <a:tabLst/>
                <a:defRPr/>
              </a:pPr>
              <a:r>
                <a:rPr lang="fr-CA" sz="1600" b="0" kern="1200" dirty="0">
                  <a:solidFill>
                    <a:prstClr val="black"/>
                  </a:solidFill>
                  <a:latin typeface="Calibri" panose="020F0502020204030204"/>
                  <a:ea typeface="+mn-ea"/>
                  <a:cs typeface="+mn-cs"/>
                </a:rPr>
                <a:t>Coûts variables (de la commande)</a:t>
              </a:r>
            </a:p>
            <a:p>
              <a:pPr marL="228600" marR="0" lvl="1" indent="-114300" algn="l" defTabSz="622300" rtl="0" eaLnBrk="1" fontAlgn="auto" latinLnBrk="0" hangingPunct="1">
                <a:lnSpc>
                  <a:spcPct val="90000"/>
                </a:lnSpc>
                <a:spcBef>
                  <a:spcPct val="0"/>
                </a:spcBef>
                <a:spcAft>
                  <a:spcPct val="15000"/>
                </a:spcAft>
                <a:buClrTx/>
                <a:buSzTx/>
                <a:buFontTx/>
                <a:buChar char="••"/>
                <a:tabLst/>
                <a:defRPr/>
              </a:pPr>
              <a:r>
                <a:rPr lang="fr-CA" sz="1600" b="0" kern="1200" dirty="0">
                  <a:solidFill>
                    <a:prstClr val="black"/>
                  </a:solidFill>
                  <a:latin typeface="Calibri" panose="020F0502020204030204"/>
                  <a:ea typeface="+mn-ea"/>
                  <a:cs typeface="+mn-cs"/>
                </a:rPr>
                <a:t>Coûts fixes spécifiques (à la commande) </a:t>
              </a:r>
            </a:p>
            <a:p>
              <a:pPr marL="228600" marR="0" lvl="1" indent="-114300" algn="l" defTabSz="622300" rtl="0" eaLnBrk="1" fontAlgn="auto" latinLnBrk="0" hangingPunct="1">
                <a:lnSpc>
                  <a:spcPct val="90000"/>
                </a:lnSpc>
                <a:spcBef>
                  <a:spcPct val="0"/>
                </a:spcBef>
                <a:spcAft>
                  <a:spcPct val="15000"/>
                </a:spcAft>
                <a:buClrTx/>
                <a:buSzTx/>
                <a:buFontTx/>
                <a:buChar char="••"/>
                <a:tabLst/>
                <a:defRPr/>
              </a:pPr>
              <a:r>
                <a:rPr lang="fr-CA" sz="1600" b="0" kern="1200" dirty="0">
                  <a:solidFill>
                    <a:prstClr val="black"/>
                  </a:solidFill>
                  <a:latin typeface="Calibri" panose="020F0502020204030204"/>
                  <a:ea typeface="+mn-ea"/>
                  <a:cs typeface="+mn-cs"/>
                </a:rPr>
                <a:t>Coûts de renonciation</a:t>
              </a:r>
              <a:endParaRPr lang="fr-CA" sz="1200" b="0" kern="1200" dirty="0">
                <a:solidFill>
                  <a:prstClr val="black"/>
                </a:solidFill>
                <a:latin typeface="Calibri" panose="020F0502020204030204"/>
                <a:ea typeface="+mn-ea"/>
                <a:cs typeface="+mn-cs"/>
              </a:endParaRPr>
            </a:p>
            <a:p>
              <a:pPr marL="0" marR="0" lvl="1" indent="0" algn="l" defTabSz="622300" rtl="0" eaLnBrk="1" fontAlgn="auto" latinLnBrk="0" hangingPunct="1">
                <a:lnSpc>
                  <a:spcPct val="90000"/>
                </a:lnSpc>
                <a:spcBef>
                  <a:spcPct val="0"/>
                </a:spcBef>
                <a:spcAft>
                  <a:spcPct val="15000"/>
                </a:spcAft>
                <a:buClrTx/>
                <a:buSzTx/>
                <a:buFontTx/>
                <a:buNone/>
                <a:tabLst/>
                <a:defRPr/>
              </a:pPr>
              <a:endParaRPr kumimoji="0" lang="fr-CA" sz="1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 name="Espace réservé du numéro de diapositive 1">
            <a:extLst>
              <a:ext uri="{FF2B5EF4-FFF2-40B4-BE49-F238E27FC236}">
                <a16:creationId xmlns:a16="http://schemas.microsoft.com/office/drawing/2014/main" id="{AA260222-7580-C67F-47EC-1ECBEE0A55B8}"/>
              </a:ext>
            </a:extLst>
          </p:cNvPr>
          <p:cNvSpPr>
            <a:spLocks noGrp="1"/>
          </p:cNvSpPr>
          <p:nvPr>
            <p:ph type="sldNum" sz="quarter" idx="12"/>
            <p:custDataLst>
              <p:tags r:id="rId4"/>
            </p:custDataLst>
          </p:nvPr>
        </p:nvSpPr>
        <p:spPr/>
        <p:txBody>
          <a:bodyPr/>
          <a:lstStyle/>
          <a:p>
            <a:fld id="{1F20FBA3-27E4-4E13-841E-B59ED0E8E620}" type="slidenum">
              <a:rPr lang="fr-CA" smtClean="0">
                <a:solidFill>
                  <a:prstClr val="black">
                    <a:tint val="75000"/>
                  </a:prstClr>
                </a:solidFill>
              </a:rPr>
              <a:pPr/>
              <a:t>23</a:t>
            </a:fld>
            <a:endParaRPr lang="fr-CA">
              <a:solidFill>
                <a:prstClr val="black">
                  <a:tint val="75000"/>
                </a:prstClr>
              </a:solidFill>
            </a:endParaRPr>
          </a:p>
        </p:txBody>
      </p:sp>
      <p:sp>
        <p:nvSpPr>
          <p:cNvPr id="4" name="Espace réservé du pied de page 3">
            <a:extLst>
              <a:ext uri="{FF2B5EF4-FFF2-40B4-BE49-F238E27FC236}">
                <a16:creationId xmlns:a16="http://schemas.microsoft.com/office/drawing/2014/main" id="{2852AFAC-9922-6A48-9866-B7AE4A29BA91}"/>
              </a:ext>
            </a:extLst>
          </p:cNvPr>
          <p:cNvSpPr>
            <a:spLocks noGrp="1"/>
          </p:cNvSpPr>
          <p:nvPr>
            <p:ph type="ftr" sz="quarter" idx="11"/>
            <p:custDataLst>
              <p:tags r:id="rId5"/>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grpSp>
        <p:nvGrpSpPr>
          <p:cNvPr id="3" name="Groupe 2">
            <a:extLst>
              <a:ext uri="{FF2B5EF4-FFF2-40B4-BE49-F238E27FC236}">
                <a16:creationId xmlns:a16="http://schemas.microsoft.com/office/drawing/2014/main" id="{A2DA36E2-4CF9-F6D5-35A0-EBE3B68591C4}"/>
              </a:ext>
            </a:extLst>
          </p:cNvPr>
          <p:cNvGrpSpPr/>
          <p:nvPr>
            <p:custDataLst>
              <p:tags r:id="rId6"/>
            </p:custDataLst>
          </p:nvPr>
        </p:nvGrpSpPr>
        <p:grpSpPr>
          <a:xfrm>
            <a:off x="5451861" y="4251066"/>
            <a:ext cx="3498310" cy="1698452"/>
            <a:chOff x="0" y="935561"/>
            <a:chExt cx="3076574" cy="1999773"/>
          </a:xfrm>
          <a:scene3d>
            <a:camera prst="orthographicFront"/>
            <a:lightRig rig="threePt" dir="t">
              <a:rot lat="0" lon="0" rev="7500000"/>
            </a:lightRig>
          </a:scene3d>
        </p:grpSpPr>
        <p:sp>
          <p:nvSpPr>
            <p:cNvPr id="6" name="Rectangle à coins arrondis 10">
              <a:extLst>
                <a:ext uri="{FF2B5EF4-FFF2-40B4-BE49-F238E27FC236}">
                  <a16:creationId xmlns:a16="http://schemas.microsoft.com/office/drawing/2014/main" id="{2CFF942D-2ECF-A099-B13D-46509038896C}"/>
                </a:ext>
              </a:extLst>
            </p:cNvPr>
            <p:cNvSpPr/>
            <p:nvPr/>
          </p:nvSpPr>
          <p:spPr>
            <a:xfrm>
              <a:off x="0" y="935561"/>
              <a:ext cx="3076574" cy="1999773"/>
            </a:xfrm>
            <a:prstGeom prst="roundRect">
              <a:avLst/>
            </a:prstGeom>
          </p:spPr>
          <p:style>
            <a:lnRef idx="2">
              <a:schemeClr val="accent2"/>
            </a:lnRef>
            <a:fillRef idx="1">
              <a:schemeClr val="lt1"/>
            </a:fillRef>
            <a:effectRef idx="0">
              <a:schemeClr val="accent2"/>
            </a:effectRef>
            <a:fontRef idx="minor">
              <a:schemeClr val="dk1"/>
            </a:fontRef>
          </p:style>
          <p:txBody>
            <a:bodyPr/>
            <a:lstStyle/>
            <a:p>
              <a:endParaRPr lang="fr-CA"/>
            </a:p>
          </p:txBody>
        </p:sp>
        <p:sp>
          <p:nvSpPr>
            <p:cNvPr id="8" name="Rectangle 7">
              <a:extLst>
                <a:ext uri="{FF2B5EF4-FFF2-40B4-BE49-F238E27FC236}">
                  <a16:creationId xmlns:a16="http://schemas.microsoft.com/office/drawing/2014/main" id="{48BA02B1-1DB2-FD4F-C476-86BF5892C7D6}"/>
                </a:ext>
              </a:extLst>
            </p:cNvPr>
            <p:cNvSpPr/>
            <p:nvPr/>
          </p:nvSpPr>
          <p:spPr>
            <a:xfrm>
              <a:off x="97621" y="1033182"/>
              <a:ext cx="2881332" cy="1804531"/>
            </a:xfrm>
            <a:prstGeom prst="rect">
              <a:avLst/>
            </a:prstGeom>
            <a:ln>
              <a:noFill/>
            </a:ln>
          </p:spPr>
          <p:style>
            <a:lnRef idx="2">
              <a:schemeClr val="accent2"/>
            </a:lnRef>
            <a:fillRef idx="1">
              <a:schemeClr val="lt1"/>
            </a:fillRef>
            <a:effectRef idx="0">
              <a:schemeClr val="accent2"/>
            </a:effectRef>
            <a:fontRef idx="minor">
              <a:schemeClr val="dk1"/>
            </a:fontRef>
          </p:style>
          <p:txBody>
            <a:bodyPr spcFirstLastPara="0" vert="horz" wrap="square" lIns="68580" tIns="68580" rIns="68580" bIns="68580" numCol="1" spcCol="1270" anchor="t" anchorCtr="0">
              <a:noAutofit/>
            </a:bodyPr>
            <a:lstStyle/>
            <a:p>
              <a:pPr marL="0" marR="0" lvl="0" indent="0" algn="ctr" defTabSz="800100" rtl="0" eaLnBrk="1" fontAlgn="auto" latinLnBrk="0" hangingPunct="1">
                <a:lnSpc>
                  <a:spcPct val="90000"/>
                </a:lnSpc>
                <a:spcBef>
                  <a:spcPct val="0"/>
                </a:spcBef>
                <a:spcAft>
                  <a:spcPct val="35000"/>
                </a:spcAft>
                <a:buClrTx/>
                <a:buSzTx/>
                <a:buFontTx/>
                <a:buNone/>
                <a:tabLst/>
                <a:defRPr/>
              </a:pPr>
              <a:r>
                <a:rPr kumimoji="0" lang="fr-CA" sz="1800" b="1" i="0" u="none" strike="noStrike" kern="1200" cap="none" spc="0" normalizeH="0" baseline="0" noProof="0" dirty="0">
                  <a:ln>
                    <a:noFill/>
                  </a:ln>
                  <a:solidFill>
                    <a:prstClr val="black"/>
                  </a:solidFill>
                  <a:effectLst/>
                  <a:uLnTx/>
                  <a:uFillTx/>
                  <a:latin typeface="Calibri" panose="020F0502020204030204"/>
                  <a:ea typeface="+mn-ea"/>
                  <a:cs typeface="+mn-cs"/>
                </a:rPr>
                <a:t>Coûts non pertinents </a:t>
              </a:r>
            </a:p>
            <a:p>
              <a:pPr marL="114300" marR="0" lvl="1" indent="-114300" algn="l" defTabSz="622300" rtl="0" eaLnBrk="1" fontAlgn="auto" latinLnBrk="0" hangingPunct="1">
                <a:lnSpc>
                  <a:spcPct val="90000"/>
                </a:lnSpc>
                <a:spcBef>
                  <a:spcPct val="0"/>
                </a:spcBef>
                <a:spcAft>
                  <a:spcPct val="15000"/>
                </a:spcAft>
                <a:buClrTx/>
                <a:buSzTx/>
                <a:buFontTx/>
                <a:buChar char="••"/>
                <a:tabLst/>
                <a:defRPr/>
              </a:pPr>
              <a:r>
                <a:rPr kumimoji="0" lang="fr-CA" sz="1600" i="0" u="none" strike="noStrike" kern="1200" cap="none" spc="0" normalizeH="0" baseline="0" noProof="0" dirty="0">
                  <a:ln>
                    <a:noFill/>
                  </a:ln>
                  <a:solidFill>
                    <a:prstClr val="black"/>
                  </a:solidFill>
                  <a:effectLst/>
                  <a:uLnTx/>
                  <a:uFillTx/>
                  <a:latin typeface="Calibri" panose="020F0502020204030204"/>
                  <a:ea typeface="+mn-ea"/>
                  <a:cs typeface="+mn-cs"/>
                </a:rPr>
                <a:t>Coûts variables (générés par les commandes régulières)</a:t>
              </a:r>
            </a:p>
            <a:p>
              <a:pPr marL="114300" lvl="1" indent="-114300" defTabSz="622300">
                <a:lnSpc>
                  <a:spcPct val="90000"/>
                </a:lnSpc>
                <a:spcBef>
                  <a:spcPct val="0"/>
                </a:spcBef>
                <a:spcAft>
                  <a:spcPct val="15000"/>
                </a:spcAft>
                <a:buFontTx/>
                <a:buChar char="••"/>
                <a:defRPr/>
              </a:pPr>
              <a:r>
                <a:rPr lang="fr-CA" sz="1600" dirty="0">
                  <a:solidFill>
                    <a:prstClr val="black"/>
                  </a:solidFill>
                  <a:latin typeface="Calibri" panose="020F0502020204030204"/>
                </a:rPr>
                <a:t>Coûts fixes communs</a:t>
              </a:r>
              <a:endParaRPr kumimoji="0" lang="fr-CA" sz="160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14300" marR="0" lvl="1" indent="-114300" algn="l" defTabSz="622300" rtl="0" eaLnBrk="1" fontAlgn="auto" latinLnBrk="0" hangingPunct="1">
                <a:lnSpc>
                  <a:spcPct val="90000"/>
                </a:lnSpc>
                <a:spcBef>
                  <a:spcPct val="0"/>
                </a:spcBef>
                <a:spcAft>
                  <a:spcPct val="15000"/>
                </a:spcAft>
                <a:buClrTx/>
                <a:buSzTx/>
                <a:buFontTx/>
                <a:buChar char="••"/>
                <a:tabLst/>
                <a:defRPr/>
              </a:pPr>
              <a:r>
                <a:rPr lang="fr-CA" sz="1600" dirty="0">
                  <a:solidFill>
                    <a:prstClr val="black"/>
                  </a:solidFill>
                  <a:latin typeface="Calibri" panose="020F0502020204030204"/>
                </a:rPr>
                <a:t>Coûts irrécupérables</a:t>
              </a:r>
              <a:endParaRPr kumimoji="0" lang="fr-CA" sz="160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1" indent="0" algn="l" defTabSz="622300" rtl="0" eaLnBrk="1" fontAlgn="auto" latinLnBrk="0" hangingPunct="1">
                <a:lnSpc>
                  <a:spcPct val="90000"/>
                </a:lnSpc>
                <a:spcBef>
                  <a:spcPct val="0"/>
                </a:spcBef>
                <a:spcAft>
                  <a:spcPct val="15000"/>
                </a:spcAft>
                <a:buClrTx/>
                <a:buSzTx/>
                <a:buFontTx/>
                <a:buNone/>
                <a:tabLst/>
                <a:defRPr/>
              </a:pPr>
              <a:endParaRPr kumimoji="0" lang="fr-CA" sz="1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16136651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D3376C-E584-4B78-AC76-951373905D1A}"/>
              </a:ext>
            </a:extLst>
          </p:cNvPr>
          <p:cNvSpPr>
            <a:spLocks noGrp="1"/>
          </p:cNvSpPr>
          <p:nvPr>
            <p:ph type="title"/>
            <p:custDataLst>
              <p:tags r:id="rId1"/>
            </p:custDataLst>
          </p:nvPr>
        </p:nvSpPr>
        <p:spPr/>
        <p:txBody>
          <a:bodyPr>
            <a:normAutofit/>
          </a:bodyPr>
          <a:lstStyle/>
          <a:p>
            <a:r>
              <a:rPr lang="fr-CA" sz="4000" dirty="0"/>
              <a:t>Analyse d’une commande spéciale</a:t>
            </a:r>
          </a:p>
        </p:txBody>
      </p:sp>
      <p:graphicFrame>
        <p:nvGraphicFramePr>
          <p:cNvPr id="4" name="Espace réservé du contenu 3">
            <a:extLst>
              <a:ext uri="{FF2B5EF4-FFF2-40B4-BE49-F238E27FC236}">
                <a16:creationId xmlns:a16="http://schemas.microsoft.com/office/drawing/2014/main" id="{C196435F-976C-43A6-BE86-00B55766547A}"/>
              </a:ext>
            </a:extLst>
          </p:cNvPr>
          <p:cNvGraphicFramePr>
            <a:graphicFrameLocks noGrp="1"/>
          </p:cNvGraphicFramePr>
          <p:nvPr>
            <p:ph idx="1"/>
            <p:custDataLst>
              <p:tags r:id="rId2"/>
            </p:custDataLst>
          </p:nvPr>
        </p:nvGraphicFramePr>
        <p:xfrm>
          <a:off x="838200" y="2370193"/>
          <a:ext cx="10515600" cy="380677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5" name="ZoneTexte 4">
            <a:extLst>
              <a:ext uri="{FF2B5EF4-FFF2-40B4-BE49-F238E27FC236}">
                <a16:creationId xmlns:a16="http://schemas.microsoft.com/office/drawing/2014/main" id="{70A19FE7-5582-4EFC-B0EC-C9F3118BEBC3}"/>
              </a:ext>
            </a:extLst>
          </p:cNvPr>
          <p:cNvSpPr txBox="1"/>
          <p:nvPr>
            <p:custDataLst>
              <p:tags r:id="rId3"/>
            </p:custDataLst>
          </p:nvPr>
        </p:nvSpPr>
        <p:spPr>
          <a:xfrm>
            <a:off x="1122218" y="1525066"/>
            <a:ext cx="9961418" cy="523220"/>
          </a:xfrm>
          <a:prstGeom prst="rect">
            <a:avLst/>
          </a:prstGeom>
          <a:noFill/>
        </p:spPr>
        <p:txBody>
          <a:bodyPr wrap="square" rtlCol="0">
            <a:spAutoFit/>
          </a:bodyPr>
          <a:lstStyle/>
          <a:p>
            <a:r>
              <a:rPr lang="fr-CA" sz="2800" dirty="0"/>
              <a:t>Avons-nous la capacité pour produire les unités additionnelles?</a:t>
            </a:r>
          </a:p>
        </p:txBody>
      </p:sp>
      <p:sp>
        <p:nvSpPr>
          <p:cNvPr id="7" name="Espace réservé du numéro de diapositive 6">
            <a:extLst>
              <a:ext uri="{FF2B5EF4-FFF2-40B4-BE49-F238E27FC236}">
                <a16:creationId xmlns:a16="http://schemas.microsoft.com/office/drawing/2014/main" id="{50658D9F-43B6-AAB4-4A46-491EFD541B0C}"/>
              </a:ext>
            </a:extLst>
          </p:cNvPr>
          <p:cNvSpPr>
            <a:spLocks noGrp="1"/>
          </p:cNvSpPr>
          <p:nvPr>
            <p:ph type="sldNum" sz="quarter" idx="12"/>
            <p:custDataLst>
              <p:tags r:id="rId4"/>
            </p:custDataLst>
          </p:nvPr>
        </p:nvSpPr>
        <p:spPr/>
        <p:txBody>
          <a:bodyPr/>
          <a:lstStyle/>
          <a:p>
            <a:fld id="{1F20FBA3-27E4-4E13-841E-B59ED0E8E620}" type="slidenum">
              <a:rPr lang="fr-CA" smtClean="0">
                <a:solidFill>
                  <a:prstClr val="black">
                    <a:tint val="75000"/>
                  </a:prstClr>
                </a:solidFill>
              </a:rPr>
              <a:pPr/>
              <a:t>24</a:t>
            </a:fld>
            <a:endParaRPr lang="fr-CA">
              <a:solidFill>
                <a:prstClr val="black">
                  <a:tint val="75000"/>
                </a:prstClr>
              </a:solidFill>
            </a:endParaRPr>
          </a:p>
        </p:txBody>
      </p:sp>
      <p:sp>
        <p:nvSpPr>
          <p:cNvPr id="3" name="Espace réservé du pied de page 3">
            <a:extLst>
              <a:ext uri="{FF2B5EF4-FFF2-40B4-BE49-F238E27FC236}">
                <a16:creationId xmlns:a16="http://schemas.microsoft.com/office/drawing/2014/main" id="{17BCB00A-898C-2CC7-0A33-2A7512A4FF0B}"/>
              </a:ext>
            </a:extLst>
          </p:cNvPr>
          <p:cNvSpPr>
            <a:spLocks noGrp="1"/>
          </p:cNvSpPr>
          <p:nvPr>
            <p:ph type="ftr" sz="quarter" idx="11"/>
            <p:custDataLst>
              <p:tags r:id="rId5"/>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Tree>
    <p:extLst>
      <p:ext uri="{BB962C8B-B14F-4D97-AF65-F5344CB8AC3E}">
        <p14:creationId xmlns:p14="http://schemas.microsoft.com/office/powerpoint/2010/main" val="40984386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custDataLst>
              <p:tags r:id="rId1"/>
            </p:custDataLst>
          </p:nvPr>
        </p:nvSpPr>
        <p:spPr>
          <a:xfrm>
            <a:off x="881484" y="1291498"/>
            <a:ext cx="10845800" cy="1042570"/>
          </a:xfrm>
        </p:spPr>
        <p:txBody>
          <a:bodyPr vert="horz" anchor="ctr">
            <a:noAutofit/>
          </a:bodyPr>
          <a:lstStyle/>
          <a:p>
            <a:r>
              <a:rPr lang="fr-CA" sz="3000" dirty="0"/>
              <a:t>Quel serait le prix de vente minimum pour accepter cette commande spéciale ?</a:t>
            </a:r>
            <a:endParaRPr lang="fr-FR" sz="3000" dirty="0"/>
          </a:p>
        </p:txBody>
      </p:sp>
      <p:sp>
        <p:nvSpPr>
          <p:cNvPr id="5" name="Espace réservé du contenu 4"/>
          <p:cNvSpPr>
            <a:spLocks noGrp="1"/>
          </p:cNvSpPr>
          <p:nvPr>
            <p:ph idx="1"/>
            <p:custDataLst>
              <p:tags r:id="rId2"/>
            </p:custDataLst>
          </p:nvPr>
        </p:nvSpPr>
        <p:spPr>
          <a:xfrm>
            <a:off x="508000" y="4285345"/>
            <a:ext cx="7160491" cy="2218092"/>
          </a:xfrm>
        </p:spPr>
        <p:txBody>
          <a:bodyPr>
            <a:normAutofit fontScale="55000" lnSpcReduction="20000"/>
          </a:bodyPr>
          <a:lstStyle/>
          <a:p>
            <a:pPr marL="457200" lvl="1" indent="0">
              <a:lnSpc>
                <a:spcPct val="120000"/>
              </a:lnSpc>
              <a:spcBef>
                <a:spcPts val="0"/>
              </a:spcBef>
              <a:buNone/>
            </a:pPr>
            <a:endParaRPr lang="fr-CA" sz="3800" dirty="0"/>
          </a:p>
          <a:p>
            <a:pPr>
              <a:lnSpc>
                <a:spcPct val="120000"/>
              </a:lnSpc>
              <a:spcBef>
                <a:spcPts val="0"/>
              </a:spcBef>
            </a:pPr>
            <a:r>
              <a:rPr lang="fr-CA" sz="3800" dirty="0"/>
              <a:t>Prix de la commande </a:t>
            </a:r>
            <a:r>
              <a:rPr lang="fr-CA" sz="3800" dirty="0">
                <a:sym typeface="Wingdings" panose="05000000000000000000" pitchFamily="2" charset="2"/>
              </a:rPr>
              <a:t> </a:t>
            </a:r>
            <a:r>
              <a:rPr lang="fr-CA" sz="3800" dirty="0"/>
              <a:t>impact sur résultat = 0 </a:t>
            </a:r>
            <a:r>
              <a:rPr lang="fr-CA" sz="3800"/>
              <a:t>$ </a:t>
            </a:r>
          </a:p>
          <a:p>
            <a:pPr>
              <a:lnSpc>
                <a:spcPct val="120000"/>
              </a:lnSpc>
              <a:spcBef>
                <a:spcPts val="0"/>
              </a:spcBef>
            </a:pPr>
            <a:r>
              <a:rPr lang="fr-CA" sz="3800"/>
              <a:t>(</a:t>
            </a:r>
            <a:r>
              <a:rPr lang="fr-CA" sz="3800" dirty="0"/>
              <a:t>Prix = Coûts)</a:t>
            </a:r>
          </a:p>
          <a:p>
            <a:pPr>
              <a:lnSpc>
                <a:spcPct val="120000"/>
              </a:lnSpc>
              <a:spcBef>
                <a:spcPts val="0"/>
              </a:spcBef>
            </a:pPr>
            <a:r>
              <a:rPr lang="fr-CA" sz="3800" dirty="0"/>
              <a:t>Donc, pour le vendeur, si l’on ne peut pas obtenir le prix minimum (ou plus), il vaut mieux ne pas produire (ne pas accepter la commande).</a:t>
            </a:r>
          </a:p>
        </p:txBody>
      </p:sp>
      <p:graphicFrame>
        <p:nvGraphicFramePr>
          <p:cNvPr id="2" name="Tableau 2">
            <a:extLst>
              <a:ext uri="{FF2B5EF4-FFF2-40B4-BE49-F238E27FC236}">
                <a16:creationId xmlns:a16="http://schemas.microsoft.com/office/drawing/2014/main" id="{E960CF89-E554-69B8-F7FB-D16C98C27BC1}"/>
              </a:ext>
            </a:extLst>
          </p:cNvPr>
          <p:cNvGraphicFramePr>
            <a:graphicFrameLocks noGrp="1"/>
          </p:cNvGraphicFramePr>
          <p:nvPr>
            <p:custDataLst>
              <p:tags r:id="rId3"/>
            </p:custDataLst>
            <p:extLst>
              <p:ext uri="{D42A27DB-BD31-4B8C-83A1-F6EECF244321}">
                <p14:modId xmlns:p14="http://schemas.microsoft.com/office/powerpoint/2010/main" val="3783762099"/>
              </p:ext>
            </p:extLst>
          </p:nvPr>
        </p:nvGraphicFramePr>
        <p:xfrm>
          <a:off x="1739364" y="2284732"/>
          <a:ext cx="8343900" cy="2164020"/>
        </p:xfrm>
        <a:graphic>
          <a:graphicData uri="http://schemas.openxmlformats.org/drawingml/2006/table">
            <a:tbl>
              <a:tblPr firstRow="1" bandRow="1">
                <a:tableStyleId>{5940675A-B579-460E-94D1-54222C63F5DA}</a:tableStyleId>
              </a:tblPr>
              <a:tblGrid>
                <a:gridCol w="7366466">
                  <a:extLst>
                    <a:ext uri="{9D8B030D-6E8A-4147-A177-3AD203B41FA5}">
                      <a16:colId xmlns:a16="http://schemas.microsoft.com/office/drawing/2014/main" val="1520691616"/>
                    </a:ext>
                  </a:extLst>
                </a:gridCol>
                <a:gridCol w="977434">
                  <a:extLst>
                    <a:ext uri="{9D8B030D-6E8A-4147-A177-3AD203B41FA5}">
                      <a16:colId xmlns:a16="http://schemas.microsoft.com/office/drawing/2014/main" val="2841375647"/>
                    </a:ext>
                  </a:extLst>
                </a:gridCol>
              </a:tblGrid>
              <a:tr h="4390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dirty="0"/>
                        <a:t>Coûts variables de la commande spéciale</a:t>
                      </a:r>
                    </a:p>
                  </a:txBody>
                  <a:tcPr/>
                </a:tc>
                <a:tc>
                  <a:txBody>
                    <a:bodyPr/>
                    <a:lstStyle/>
                    <a:p>
                      <a:pPr algn="ctr"/>
                      <a:r>
                        <a:rPr lang="fr-CA" dirty="0"/>
                        <a:t>XX</a:t>
                      </a:r>
                    </a:p>
                  </a:txBody>
                  <a:tcPr/>
                </a:tc>
                <a:extLst>
                  <a:ext uri="{0D108BD9-81ED-4DB2-BD59-A6C34878D82A}">
                    <a16:rowId xmlns:a16="http://schemas.microsoft.com/office/drawing/2014/main" val="1816539334"/>
                  </a:ext>
                </a:extLst>
              </a:tr>
              <a:tr h="4390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dirty="0"/>
                        <a:t>(+) Coûts fixes spécifiques </a:t>
                      </a:r>
                    </a:p>
                  </a:txBody>
                  <a:tcPr/>
                </a:tc>
                <a:tc>
                  <a:txBody>
                    <a:bodyPr/>
                    <a:lstStyle/>
                    <a:p>
                      <a:pPr algn="ctr"/>
                      <a:r>
                        <a:rPr lang="fr-CA" dirty="0"/>
                        <a:t>XX</a:t>
                      </a:r>
                    </a:p>
                  </a:txBody>
                  <a:tcPr/>
                </a:tc>
                <a:extLst>
                  <a:ext uri="{0D108BD9-81ED-4DB2-BD59-A6C34878D82A}">
                    <a16:rowId xmlns:a16="http://schemas.microsoft.com/office/drawing/2014/main" val="1591798287"/>
                  </a:ext>
                </a:extLst>
              </a:tr>
              <a:tr h="8469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dirty="0"/>
                        <a:t>(+) Coût de </a:t>
                      </a:r>
                      <a:r>
                        <a:rPr lang="fr-CA" sz="1800" u="sng" dirty="0"/>
                        <a:t>renonciation</a:t>
                      </a:r>
                      <a:r>
                        <a:rPr lang="fr-CA" sz="1800" dirty="0"/>
                        <a:t> si manque de capacité (doit-on renoncer à des unités des ventes régulières?)</a:t>
                      </a:r>
                    </a:p>
                  </a:txBody>
                  <a:tcPr/>
                </a:tc>
                <a:tc>
                  <a:txBody>
                    <a:bodyPr/>
                    <a:lstStyle/>
                    <a:p>
                      <a:pPr algn="ctr"/>
                      <a:r>
                        <a:rPr lang="fr-CA" dirty="0"/>
                        <a:t>XX</a:t>
                      </a:r>
                    </a:p>
                  </a:txBody>
                  <a:tcPr/>
                </a:tc>
                <a:extLst>
                  <a:ext uri="{0D108BD9-81ED-4DB2-BD59-A6C34878D82A}">
                    <a16:rowId xmlns:a16="http://schemas.microsoft.com/office/drawing/2014/main" val="2106608830"/>
                  </a:ext>
                </a:extLst>
              </a:tr>
              <a:tr h="439010">
                <a:tc>
                  <a:txBody>
                    <a:bodyPr/>
                    <a:lstStyle/>
                    <a:p>
                      <a:r>
                        <a:rPr lang="fr-CA" dirty="0"/>
                        <a:t>Total des coûts de la commande spéciale</a:t>
                      </a:r>
                    </a:p>
                  </a:txBody>
                  <a:tcPr/>
                </a:tc>
                <a:tc>
                  <a:txBody>
                    <a:bodyPr/>
                    <a:lstStyle/>
                    <a:p>
                      <a:pPr algn="ctr"/>
                      <a:r>
                        <a:rPr lang="fr-CA" b="1" dirty="0"/>
                        <a:t>XX</a:t>
                      </a:r>
                    </a:p>
                  </a:txBody>
                  <a:tcPr/>
                </a:tc>
                <a:extLst>
                  <a:ext uri="{0D108BD9-81ED-4DB2-BD59-A6C34878D82A}">
                    <a16:rowId xmlns:a16="http://schemas.microsoft.com/office/drawing/2014/main" val="2537489616"/>
                  </a:ext>
                </a:extLst>
              </a:tr>
            </a:tbl>
          </a:graphicData>
        </a:graphic>
      </p:graphicFrame>
      <p:sp>
        <p:nvSpPr>
          <p:cNvPr id="3" name="Espace réservé du contenu 4">
            <a:extLst>
              <a:ext uri="{FF2B5EF4-FFF2-40B4-BE49-F238E27FC236}">
                <a16:creationId xmlns:a16="http://schemas.microsoft.com/office/drawing/2014/main" id="{A9CF3E70-C59B-B8B6-B4CE-5C1B0541484A}"/>
              </a:ext>
            </a:extLst>
          </p:cNvPr>
          <p:cNvSpPr txBox="1">
            <a:spLocks/>
          </p:cNvSpPr>
          <p:nvPr>
            <p:custDataLst>
              <p:tags r:id="rId4"/>
            </p:custDataLst>
          </p:nvPr>
        </p:nvSpPr>
        <p:spPr>
          <a:xfrm>
            <a:off x="7641631" y="4612158"/>
            <a:ext cx="4062844" cy="1643940"/>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spcBef>
                <a:spcPts val="0"/>
              </a:spcBef>
              <a:buFont typeface="Arial" panose="020B0604020202020204" pitchFamily="34" charset="0"/>
              <a:buNone/>
            </a:pPr>
            <a:r>
              <a:rPr lang="fr-CA" sz="2000" b="1" dirty="0"/>
              <a:t>Prix de vente minimum </a:t>
            </a:r>
            <a:r>
              <a:rPr lang="fr-CA" sz="2000" dirty="0"/>
              <a:t>= </a:t>
            </a:r>
          </a:p>
          <a:p>
            <a:pPr marL="0" indent="0" algn="ctr">
              <a:lnSpc>
                <a:spcPct val="120000"/>
              </a:lnSpc>
              <a:spcBef>
                <a:spcPts val="600"/>
              </a:spcBef>
              <a:spcAft>
                <a:spcPts val="600"/>
              </a:spcAft>
              <a:buFont typeface="Arial" panose="020B0604020202020204" pitchFamily="34" charset="0"/>
              <a:buNone/>
            </a:pPr>
            <a:r>
              <a:rPr lang="fr-CA" sz="1800" u="sng" dirty="0"/>
              <a:t>Total des coûts de la commande spéciale </a:t>
            </a:r>
            <a:r>
              <a:rPr lang="fr-CA" sz="1800" dirty="0"/>
              <a:t>Nbre d’unités de la commande spéciale</a:t>
            </a:r>
          </a:p>
        </p:txBody>
      </p:sp>
      <p:sp>
        <p:nvSpPr>
          <p:cNvPr id="6" name="Espace réservé du numéro de diapositive 5">
            <a:extLst>
              <a:ext uri="{FF2B5EF4-FFF2-40B4-BE49-F238E27FC236}">
                <a16:creationId xmlns:a16="http://schemas.microsoft.com/office/drawing/2014/main" id="{565B902B-F1AD-C964-18E9-C903767B0C97}"/>
              </a:ext>
            </a:extLst>
          </p:cNvPr>
          <p:cNvSpPr>
            <a:spLocks noGrp="1"/>
          </p:cNvSpPr>
          <p:nvPr>
            <p:ph type="sldNum" sz="quarter" idx="12"/>
            <p:custDataLst>
              <p:tags r:id="rId5"/>
            </p:custDataLst>
          </p:nvPr>
        </p:nvSpPr>
        <p:spPr/>
        <p:txBody>
          <a:bodyPr/>
          <a:lstStyle/>
          <a:p>
            <a:fld id="{1F20FBA3-27E4-4E13-841E-B59ED0E8E620}" type="slidenum">
              <a:rPr lang="fr-CA" smtClean="0">
                <a:solidFill>
                  <a:prstClr val="black">
                    <a:tint val="75000"/>
                  </a:prstClr>
                </a:solidFill>
              </a:rPr>
              <a:pPr/>
              <a:t>25</a:t>
            </a:fld>
            <a:endParaRPr lang="fr-CA">
              <a:solidFill>
                <a:prstClr val="black">
                  <a:tint val="75000"/>
                </a:prstClr>
              </a:solidFill>
            </a:endParaRPr>
          </a:p>
        </p:txBody>
      </p:sp>
      <p:sp>
        <p:nvSpPr>
          <p:cNvPr id="4" name="Espace réservé du pied de page 3">
            <a:extLst>
              <a:ext uri="{FF2B5EF4-FFF2-40B4-BE49-F238E27FC236}">
                <a16:creationId xmlns:a16="http://schemas.microsoft.com/office/drawing/2014/main" id="{8B586E5D-FF8C-12C4-C44E-18ECA28A2DBC}"/>
              </a:ext>
            </a:extLst>
          </p:cNvPr>
          <p:cNvSpPr>
            <a:spLocks noGrp="1"/>
          </p:cNvSpPr>
          <p:nvPr>
            <p:ph type="ftr" sz="quarter" idx="11"/>
            <p:custDataLst>
              <p:tags r:id="rId6"/>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
        <p:nvSpPr>
          <p:cNvPr id="8" name="ZoneTexte 7">
            <a:extLst>
              <a:ext uri="{FF2B5EF4-FFF2-40B4-BE49-F238E27FC236}">
                <a16:creationId xmlns:a16="http://schemas.microsoft.com/office/drawing/2014/main" id="{ED2B844D-6FB4-F1C3-09B4-202E11BF7C5B}"/>
              </a:ext>
            </a:extLst>
          </p:cNvPr>
          <p:cNvSpPr txBox="1"/>
          <p:nvPr/>
        </p:nvSpPr>
        <p:spPr>
          <a:xfrm>
            <a:off x="904294" y="354563"/>
            <a:ext cx="10800181" cy="707886"/>
          </a:xfrm>
          <a:prstGeom prst="rect">
            <a:avLst/>
          </a:prstGeom>
          <a:noFill/>
        </p:spPr>
        <p:txBody>
          <a:bodyPr wrap="square">
            <a:spAutoFit/>
          </a:bodyPr>
          <a:lstStyle/>
          <a:p>
            <a:r>
              <a:rPr lang="fr-CA" sz="4000" dirty="0">
                <a:latin typeface="+mj-lt"/>
                <a:ea typeface="+mj-ea"/>
                <a:cs typeface="+mj-cs"/>
              </a:rPr>
              <a:t>Analyse d’une commande spéciale - </a:t>
            </a:r>
            <a:r>
              <a:rPr lang="fr-CA" sz="4000" b="1" dirty="0">
                <a:latin typeface="+mj-lt"/>
                <a:ea typeface="+mj-ea"/>
                <a:cs typeface="+mj-cs"/>
              </a:rPr>
              <a:t>prix minimum </a:t>
            </a:r>
          </a:p>
        </p:txBody>
      </p:sp>
    </p:spTree>
    <p:extLst>
      <p:ext uri="{BB962C8B-B14F-4D97-AF65-F5344CB8AC3E}">
        <p14:creationId xmlns:p14="http://schemas.microsoft.com/office/powerpoint/2010/main" val="41818357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B929F8-4776-47EB-9934-DB559A04E97B}"/>
              </a:ext>
            </a:extLst>
          </p:cNvPr>
          <p:cNvSpPr>
            <a:spLocks noGrp="1"/>
          </p:cNvSpPr>
          <p:nvPr>
            <p:ph type="title"/>
            <p:custDataLst>
              <p:tags r:id="rId1"/>
            </p:custDataLst>
          </p:nvPr>
        </p:nvSpPr>
        <p:spPr>
          <a:xfrm>
            <a:off x="838199" y="160589"/>
            <a:ext cx="11156013" cy="1042570"/>
          </a:xfrm>
        </p:spPr>
        <p:txBody>
          <a:bodyPr>
            <a:normAutofit fontScale="90000"/>
          </a:bodyPr>
          <a:lstStyle/>
          <a:p>
            <a:pPr algn="ctr"/>
            <a:r>
              <a:rPr lang="fr-CA" dirty="0"/>
              <a:t>Analyse d’une commande spéciale -</a:t>
            </a:r>
            <a:br>
              <a:rPr lang="fr-CA" dirty="0"/>
            </a:br>
            <a:r>
              <a:rPr lang="fr-CA" dirty="0"/>
              <a:t>Calcul du résultat différentiel </a:t>
            </a:r>
            <a:r>
              <a:rPr lang="fr-CA" sz="3600" dirty="0"/>
              <a:t>(impact sur le résultat) </a:t>
            </a:r>
            <a:endParaRPr lang="fr-CA" dirty="0"/>
          </a:p>
        </p:txBody>
      </p:sp>
      <p:sp>
        <p:nvSpPr>
          <p:cNvPr id="5" name="Espace réservé du numéro de diapositive 4">
            <a:extLst>
              <a:ext uri="{FF2B5EF4-FFF2-40B4-BE49-F238E27FC236}">
                <a16:creationId xmlns:a16="http://schemas.microsoft.com/office/drawing/2014/main" id="{0D195ED2-12C5-3667-2839-FFB2AF2B4842}"/>
              </a:ext>
            </a:extLst>
          </p:cNvPr>
          <p:cNvSpPr>
            <a:spLocks noGrp="1"/>
          </p:cNvSpPr>
          <p:nvPr>
            <p:ph type="sldNum" sz="quarter" idx="12"/>
            <p:custDataLst>
              <p:tags r:id="rId2"/>
            </p:custDataLst>
          </p:nvPr>
        </p:nvSpPr>
        <p:spPr/>
        <p:txBody>
          <a:bodyPr/>
          <a:lstStyle/>
          <a:p>
            <a:fld id="{1F20FBA3-27E4-4E13-841E-B59ED0E8E620}" type="slidenum">
              <a:rPr lang="fr-CA" smtClean="0">
                <a:solidFill>
                  <a:prstClr val="black">
                    <a:tint val="75000"/>
                  </a:prstClr>
                </a:solidFill>
              </a:rPr>
              <a:pPr/>
              <a:t>26</a:t>
            </a:fld>
            <a:endParaRPr lang="fr-CA">
              <a:solidFill>
                <a:prstClr val="black">
                  <a:tint val="75000"/>
                </a:prstClr>
              </a:solidFill>
            </a:endParaRPr>
          </a:p>
        </p:txBody>
      </p:sp>
      <p:sp>
        <p:nvSpPr>
          <p:cNvPr id="7" name="Espace réservé du pied de page 3">
            <a:extLst>
              <a:ext uri="{FF2B5EF4-FFF2-40B4-BE49-F238E27FC236}">
                <a16:creationId xmlns:a16="http://schemas.microsoft.com/office/drawing/2014/main" id="{07A1110F-E03A-06FC-8DFC-7A98E92E07E3}"/>
              </a:ext>
            </a:extLst>
          </p:cNvPr>
          <p:cNvSpPr>
            <a:spLocks noGrp="1"/>
          </p:cNvSpPr>
          <p:nvPr>
            <p:ph type="ftr" sz="quarter" idx="11"/>
            <p:custDataLst>
              <p:tags r:id="rId3"/>
            </p:custDataLst>
          </p:nvPr>
        </p:nvSpPr>
        <p:spPr>
          <a:xfrm>
            <a:off x="8934838" y="6329390"/>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
        <p:nvSpPr>
          <p:cNvPr id="8" name="Bulle narrative : rectangle 7">
            <a:extLst>
              <a:ext uri="{FF2B5EF4-FFF2-40B4-BE49-F238E27FC236}">
                <a16:creationId xmlns:a16="http://schemas.microsoft.com/office/drawing/2014/main" id="{ECBF5DF9-FCB7-8E84-4A58-29F79A7EF143}"/>
              </a:ext>
            </a:extLst>
          </p:cNvPr>
          <p:cNvSpPr/>
          <p:nvPr>
            <p:custDataLst>
              <p:tags r:id="rId4"/>
            </p:custDataLst>
          </p:nvPr>
        </p:nvSpPr>
        <p:spPr>
          <a:xfrm>
            <a:off x="5884721" y="5464656"/>
            <a:ext cx="5554609" cy="1233930"/>
          </a:xfrm>
          <a:prstGeom prst="wedgeRectCallout">
            <a:avLst>
              <a:gd name="adj1" fmla="val 50304"/>
              <a:gd name="adj2" fmla="val -4800"/>
            </a:avLst>
          </a:prstGeom>
          <a:ln/>
        </p:spPr>
        <p:style>
          <a:lnRef idx="2">
            <a:schemeClr val="accent6"/>
          </a:lnRef>
          <a:fillRef idx="1">
            <a:schemeClr val="lt1"/>
          </a:fillRef>
          <a:effectRef idx="0">
            <a:schemeClr val="accent6"/>
          </a:effectRef>
          <a:fontRef idx="minor">
            <a:schemeClr val="dk1"/>
          </a:fontRef>
        </p:style>
        <p:txBody>
          <a:bodyPr rtlCol="0" anchor="ctr"/>
          <a:lstStyle/>
          <a:p>
            <a:pPr algn="ctr"/>
            <a:r>
              <a:rPr lang="fr-CA" sz="1600" u="sng" dirty="0"/>
              <a:t>Si plusieurs produits</a:t>
            </a:r>
            <a:r>
              <a:rPr lang="fr-CA" sz="1600" dirty="0"/>
              <a:t>, on doit choisir l’ordre de priorité (renoncer aux unités </a:t>
            </a:r>
            <a:r>
              <a:rPr lang="fr-CA" sz="1600" dirty="0">
                <a:sym typeface="Wingdings" panose="05000000000000000000" pitchFamily="2" charset="2"/>
              </a:rPr>
              <a:t> des moins rentables au plus rentables).</a:t>
            </a:r>
          </a:p>
          <a:p>
            <a:pPr algn="ctr"/>
            <a:r>
              <a:rPr lang="fr-CA" sz="1600" dirty="0"/>
              <a:t>On doit utiliser la </a:t>
            </a:r>
            <a:r>
              <a:rPr lang="fr-CA" sz="1600" b="1" dirty="0"/>
              <a:t>MCV par facteur de production (S04) </a:t>
            </a:r>
            <a:r>
              <a:rPr lang="fr-CA" sz="1600" dirty="0"/>
              <a:t>pour déterminer l’ordre de priorité de production.</a:t>
            </a:r>
          </a:p>
        </p:txBody>
      </p:sp>
      <p:graphicFrame>
        <p:nvGraphicFramePr>
          <p:cNvPr id="3" name="Tableau 2">
            <a:extLst>
              <a:ext uri="{FF2B5EF4-FFF2-40B4-BE49-F238E27FC236}">
                <a16:creationId xmlns:a16="http://schemas.microsoft.com/office/drawing/2014/main" id="{DCF8D84C-7F43-8347-0807-5CA147A129F1}"/>
              </a:ext>
            </a:extLst>
          </p:cNvPr>
          <p:cNvGraphicFramePr>
            <a:graphicFrameLocks noGrp="1"/>
          </p:cNvGraphicFramePr>
          <p:nvPr>
            <p:custDataLst>
              <p:tags r:id="rId5"/>
            </p:custDataLst>
            <p:extLst>
              <p:ext uri="{D42A27DB-BD31-4B8C-83A1-F6EECF244321}">
                <p14:modId xmlns:p14="http://schemas.microsoft.com/office/powerpoint/2010/main" val="2565204193"/>
              </p:ext>
            </p:extLst>
          </p:nvPr>
        </p:nvGraphicFramePr>
        <p:xfrm>
          <a:off x="513346" y="1457359"/>
          <a:ext cx="11456273" cy="4352740"/>
        </p:xfrm>
        <a:graphic>
          <a:graphicData uri="http://schemas.openxmlformats.org/drawingml/2006/table">
            <a:tbl>
              <a:tblPr firstRow="1" bandRow="1">
                <a:tableStyleId>{5940675A-B579-460E-94D1-54222C63F5DA}</a:tableStyleId>
              </a:tblPr>
              <a:tblGrid>
                <a:gridCol w="3809947">
                  <a:extLst>
                    <a:ext uri="{9D8B030D-6E8A-4147-A177-3AD203B41FA5}">
                      <a16:colId xmlns:a16="http://schemas.microsoft.com/office/drawing/2014/main" val="1520691616"/>
                    </a:ext>
                  </a:extLst>
                </a:gridCol>
                <a:gridCol w="1179149">
                  <a:extLst>
                    <a:ext uri="{9D8B030D-6E8A-4147-A177-3AD203B41FA5}">
                      <a16:colId xmlns:a16="http://schemas.microsoft.com/office/drawing/2014/main" val="2841375647"/>
                    </a:ext>
                  </a:extLst>
                </a:gridCol>
                <a:gridCol w="6467177">
                  <a:extLst>
                    <a:ext uri="{9D8B030D-6E8A-4147-A177-3AD203B41FA5}">
                      <a16:colId xmlns:a16="http://schemas.microsoft.com/office/drawing/2014/main" val="2825917460"/>
                    </a:ext>
                  </a:extLst>
                </a:gridCol>
              </a:tblGrid>
              <a:tr h="43901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2000" b="1" dirty="0"/>
                        <a:t>Éléments de CALCUL</a:t>
                      </a:r>
                    </a:p>
                  </a:txBody>
                  <a:tcPr/>
                </a:tc>
                <a:tc>
                  <a:txBody>
                    <a:bodyPr/>
                    <a:lstStyle/>
                    <a:p>
                      <a:pPr algn="ctr"/>
                      <a:r>
                        <a:rPr lang="fr-CA" b="1" dirty="0"/>
                        <a:t>Montant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2000" b="1" kern="1200" dirty="0">
                          <a:solidFill>
                            <a:schemeClr val="tx1"/>
                          </a:solidFill>
                          <a:latin typeface="+mn-lt"/>
                          <a:ea typeface="+mn-ea"/>
                          <a:cs typeface="+mn-cs"/>
                        </a:rPr>
                        <a:t>À savoir</a:t>
                      </a:r>
                    </a:p>
                  </a:txBody>
                  <a:tcPr/>
                </a:tc>
                <a:extLst>
                  <a:ext uri="{0D108BD9-81ED-4DB2-BD59-A6C34878D82A}">
                    <a16:rowId xmlns:a16="http://schemas.microsoft.com/office/drawing/2014/main" val="937785637"/>
                  </a:ext>
                </a:extLst>
              </a:tr>
              <a:tr h="4390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dirty="0"/>
                        <a:t>Prix de vente </a:t>
                      </a:r>
                    </a:p>
                    <a:p>
                      <a:pPr marL="0" marR="0" lvl="0" indent="0" algn="l" defTabSz="914400" rtl="0" eaLnBrk="1" fontAlgn="auto" latinLnBrk="0" hangingPunct="1">
                        <a:lnSpc>
                          <a:spcPct val="100000"/>
                        </a:lnSpc>
                        <a:spcBef>
                          <a:spcPts val="0"/>
                        </a:spcBef>
                        <a:spcAft>
                          <a:spcPts val="0"/>
                        </a:spcAft>
                        <a:buClrTx/>
                        <a:buSzTx/>
                        <a:buFontTx/>
                        <a:buNone/>
                        <a:tabLst/>
                        <a:defRPr/>
                      </a:pPr>
                      <a:r>
                        <a:rPr lang="fr-CA" sz="1800" dirty="0"/>
                        <a:t>(de la commande spéciale)</a:t>
                      </a:r>
                    </a:p>
                  </a:txBody>
                  <a:tcPr/>
                </a:tc>
                <a:tc>
                  <a:txBody>
                    <a:bodyPr/>
                    <a:lstStyle/>
                    <a:p>
                      <a:pPr algn="ctr"/>
                      <a:r>
                        <a:rPr lang="fr-CA" dirty="0"/>
                        <a:t>XX $</a:t>
                      </a:r>
                    </a:p>
                  </a:txBody>
                  <a:tcPr/>
                </a:tc>
                <a:tc>
                  <a:txBody>
                    <a:bodyPr/>
                    <a:lstStyle/>
                    <a:p>
                      <a:pPr algn="ctr"/>
                      <a:r>
                        <a:rPr lang="fr-CA" dirty="0"/>
                        <a:t>Souvent le prix de la commande spéciale sera inférieur aux prix des commandes régulières</a:t>
                      </a:r>
                    </a:p>
                  </a:txBody>
                  <a:tcPr/>
                </a:tc>
                <a:extLst>
                  <a:ext uri="{0D108BD9-81ED-4DB2-BD59-A6C34878D82A}">
                    <a16:rowId xmlns:a16="http://schemas.microsoft.com/office/drawing/2014/main" val="3405745477"/>
                  </a:ext>
                </a:extLst>
              </a:tr>
              <a:tr h="4390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dirty="0"/>
                        <a:t>(-) Coûts variables unitaires</a:t>
                      </a:r>
                    </a:p>
                    <a:p>
                      <a:pPr marL="0" marR="0" lvl="0" indent="0" algn="l" defTabSz="914400" rtl="0" eaLnBrk="1" fontAlgn="auto" latinLnBrk="0" hangingPunct="1">
                        <a:lnSpc>
                          <a:spcPct val="100000"/>
                        </a:lnSpc>
                        <a:spcBef>
                          <a:spcPts val="0"/>
                        </a:spcBef>
                        <a:spcAft>
                          <a:spcPts val="0"/>
                        </a:spcAft>
                        <a:buClrTx/>
                        <a:buSzTx/>
                        <a:buFontTx/>
                        <a:buNone/>
                        <a:tabLst/>
                        <a:defRPr/>
                      </a:pPr>
                      <a:r>
                        <a:rPr lang="fr-CA" sz="1800" dirty="0"/>
                        <a:t>(de la commande spéciale)</a:t>
                      </a:r>
                    </a:p>
                  </a:txBody>
                  <a:tcPr/>
                </a:tc>
                <a:tc>
                  <a:txBody>
                    <a:bodyPr/>
                    <a:lstStyle/>
                    <a:p>
                      <a:pPr algn="ctr"/>
                      <a:r>
                        <a:rPr lang="fr-CA" dirty="0"/>
                        <a:t>XX</a:t>
                      </a:r>
                    </a:p>
                  </a:txBody>
                  <a:tcPr/>
                </a:tc>
                <a:tc>
                  <a:txBody>
                    <a:bodyPr/>
                    <a:lstStyle/>
                    <a:p>
                      <a:pPr algn="ctr"/>
                      <a:r>
                        <a:rPr lang="fr-CA" dirty="0"/>
                        <a:t>Les coûts variables associés à la commande spéciale peuvent être identiques ou différents de ceux des clients réguliers. </a:t>
                      </a:r>
                    </a:p>
                  </a:txBody>
                  <a:tcPr/>
                </a:tc>
                <a:extLst>
                  <a:ext uri="{0D108BD9-81ED-4DB2-BD59-A6C34878D82A}">
                    <a16:rowId xmlns:a16="http://schemas.microsoft.com/office/drawing/2014/main" val="1816539334"/>
                  </a:ext>
                </a:extLst>
              </a:tr>
              <a:tr h="4390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dirty="0"/>
                        <a:t>= MCV totale de la commande  </a:t>
                      </a:r>
                    </a:p>
                    <a:p>
                      <a:pPr marL="0" marR="0" lvl="0" indent="0" algn="l" defTabSz="914400" rtl="0" eaLnBrk="1" fontAlgn="auto" latinLnBrk="0" hangingPunct="1">
                        <a:lnSpc>
                          <a:spcPct val="100000"/>
                        </a:lnSpc>
                        <a:spcBef>
                          <a:spcPts val="0"/>
                        </a:spcBef>
                        <a:spcAft>
                          <a:spcPts val="0"/>
                        </a:spcAft>
                        <a:buClrTx/>
                        <a:buSzTx/>
                        <a:buFontTx/>
                        <a:buNone/>
                        <a:tabLst/>
                        <a:defRPr/>
                      </a:pPr>
                      <a:r>
                        <a:rPr lang="fr-CA" sz="1800" dirty="0"/>
                        <a:t>   (MCV unitaire x unités commandées)</a:t>
                      </a:r>
                    </a:p>
                  </a:txBody>
                  <a:tcPr/>
                </a:tc>
                <a:tc>
                  <a:txBody>
                    <a:bodyPr/>
                    <a:lstStyle/>
                    <a:p>
                      <a:pPr algn="ctr"/>
                      <a:r>
                        <a:rPr lang="fr-CA" dirty="0"/>
                        <a:t>XX</a:t>
                      </a:r>
                    </a:p>
                  </a:txBody>
                  <a:tcPr/>
                </a:tc>
                <a:tc>
                  <a:txBody>
                    <a:bodyPr/>
                    <a:lstStyle/>
                    <a:p>
                      <a:pPr algn="ctr"/>
                      <a:r>
                        <a:rPr lang="fr-CA" dirty="0"/>
                        <a:t>Si la MCV est négative, la commande spéciale sera refusée. </a:t>
                      </a:r>
                    </a:p>
                  </a:txBody>
                  <a:tcPr/>
                </a:tc>
                <a:extLst>
                  <a:ext uri="{0D108BD9-81ED-4DB2-BD59-A6C34878D82A}">
                    <a16:rowId xmlns:a16="http://schemas.microsoft.com/office/drawing/2014/main" val="1019960769"/>
                  </a:ext>
                </a:extLst>
              </a:tr>
              <a:tr h="4390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dirty="0"/>
                        <a:t>(- ) Coûts fixes spécifiques </a:t>
                      </a:r>
                    </a:p>
                  </a:txBody>
                  <a:tcPr/>
                </a:tc>
                <a:tc>
                  <a:txBody>
                    <a:bodyPr/>
                    <a:lstStyle/>
                    <a:p>
                      <a:pPr algn="ctr"/>
                      <a:r>
                        <a:rPr lang="fr-CA" dirty="0"/>
                        <a:t>XX</a:t>
                      </a:r>
                    </a:p>
                  </a:txBody>
                  <a:tcPr/>
                </a:tc>
                <a:tc>
                  <a:txBody>
                    <a:bodyPr/>
                    <a:lstStyle/>
                    <a:p>
                      <a:pPr algn="ctr"/>
                      <a:r>
                        <a:rPr lang="fr-CA" dirty="0"/>
                        <a:t>Coûts fixes additionnels liés à la production des unités de la commande spéciale.</a:t>
                      </a:r>
                    </a:p>
                  </a:txBody>
                  <a:tcPr/>
                </a:tc>
                <a:extLst>
                  <a:ext uri="{0D108BD9-81ED-4DB2-BD59-A6C34878D82A}">
                    <a16:rowId xmlns:a16="http://schemas.microsoft.com/office/drawing/2014/main" val="1591798287"/>
                  </a:ext>
                </a:extLst>
              </a:tr>
              <a:tr h="8469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dirty="0"/>
                        <a:t>(-) Coût de </a:t>
                      </a:r>
                      <a:r>
                        <a:rPr lang="fr-CA" sz="1800" u="sng" dirty="0"/>
                        <a:t>renonciation</a:t>
                      </a:r>
                      <a:endParaRPr lang="fr-CA" sz="1800" dirty="0"/>
                    </a:p>
                  </a:txBody>
                  <a:tcPr/>
                </a:tc>
                <a:tc>
                  <a:txBody>
                    <a:bodyPr/>
                    <a:lstStyle/>
                    <a:p>
                      <a:pPr algn="ctr"/>
                      <a:r>
                        <a:rPr lang="fr-CA" dirty="0"/>
                        <a:t>XX</a:t>
                      </a:r>
                    </a:p>
                  </a:txBody>
                  <a:tcPr/>
                </a:tc>
                <a:tc>
                  <a:txBody>
                    <a:bodyPr/>
                    <a:lstStyle/>
                    <a:p>
                      <a:pPr algn="ctr"/>
                      <a:r>
                        <a:rPr lang="fr-CA" sz="1800" dirty="0"/>
                        <a:t>S’il y a un manque de capacité, on doit renoncer à des unités des ventes régulières.</a:t>
                      </a:r>
                    </a:p>
                    <a:p>
                      <a:pPr algn="ctr"/>
                      <a:r>
                        <a:rPr lang="fr-CA" sz="1800" dirty="0"/>
                        <a:t>MCV unitaire (régulier) x nombre d’unités renoncées *</a:t>
                      </a:r>
                      <a:endParaRPr lang="fr-CA" dirty="0"/>
                    </a:p>
                  </a:txBody>
                  <a:tcPr/>
                </a:tc>
                <a:extLst>
                  <a:ext uri="{0D108BD9-81ED-4DB2-BD59-A6C34878D82A}">
                    <a16:rowId xmlns:a16="http://schemas.microsoft.com/office/drawing/2014/main" val="2106608830"/>
                  </a:ext>
                </a:extLst>
              </a:tr>
              <a:tr h="439010">
                <a:tc>
                  <a:txBody>
                    <a:bodyPr/>
                    <a:lstStyle/>
                    <a:p>
                      <a:r>
                        <a:rPr lang="fr-CA" b="1" dirty="0"/>
                        <a:t>Résultat différentiel</a:t>
                      </a:r>
                    </a:p>
                  </a:txBody>
                  <a:tcPr/>
                </a:tc>
                <a:tc>
                  <a:txBody>
                    <a:bodyPr/>
                    <a:lstStyle/>
                    <a:p>
                      <a:pPr algn="ctr"/>
                      <a:r>
                        <a:rPr lang="fr-CA" b="1" dirty="0"/>
                        <a:t>XX $</a:t>
                      </a:r>
                    </a:p>
                  </a:txBody>
                  <a:tcPr/>
                </a:tc>
                <a:tc>
                  <a:txBody>
                    <a:bodyPr/>
                    <a:lstStyle/>
                    <a:p>
                      <a:pPr algn="ctr"/>
                      <a:endParaRPr lang="fr-CA" b="1" dirty="0"/>
                    </a:p>
                  </a:txBody>
                  <a:tcPr/>
                </a:tc>
                <a:extLst>
                  <a:ext uri="{0D108BD9-81ED-4DB2-BD59-A6C34878D82A}">
                    <a16:rowId xmlns:a16="http://schemas.microsoft.com/office/drawing/2014/main" val="2537489616"/>
                  </a:ext>
                </a:extLst>
              </a:tr>
            </a:tbl>
          </a:graphicData>
        </a:graphic>
      </p:graphicFrame>
      <p:sp>
        <p:nvSpPr>
          <p:cNvPr id="6" name="Espace réservé du pied de page 3">
            <a:extLst>
              <a:ext uri="{FF2B5EF4-FFF2-40B4-BE49-F238E27FC236}">
                <a16:creationId xmlns:a16="http://schemas.microsoft.com/office/drawing/2014/main" id="{F5E7F8FA-3C9E-1919-487F-0518C91101AE}"/>
              </a:ext>
            </a:extLst>
          </p:cNvPr>
          <p:cNvSpPr txBox="1">
            <a:spLocks/>
          </p:cNvSpPr>
          <p:nvPr>
            <p:custDataLst>
              <p:tags r:id="rId6"/>
            </p:custDataLst>
          </p:nvPr>
        </p:nvSpPr>
        <p:spPr>
          <a:xfrm>
            <a:off x="3911713" y="6465580"/>
            <a:ext cx="2504492" cy="303343"/>
          </a:xfrm>
          <a:prstGeom prst="rect">
            <a:avLst/>
          </a:prstGeom>
        </p:spPr>
        <p:txBody>
          <a:bodyPr/>
          <a:lstStyle>
            <a:defPPr>
              <a:defRPr lang="fr-FR"/>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pt-BR">
                <a:solidFill>
                  <a:prstClr val="black">
                    <a:tint val="75000"/>
                  </a:prstClr>
                </a:solidFill>
              </a:rPr>
              <a:t>(c) 10904 / S03</a:t>
            </a:r>
            <a:endParaRPr lang="fr-CA" dirty="0">
              <a:solidFill>
                <a:prstClr val="black">
                  <a:tint val="75000"/>
                </a:prstClr>
              </a:solidFill>
            </a:endParaRPr>
          </a:p>
        </p:txBody>
      </p:sp>
    </p:spTree>
    <p:extLst>
      <p:ext uri="{BB962C8B-B14F-4D97-AF65-F5344CB8AC3E}">
        <p14:creationId xmlns:p14="http://schemas.microsoft.com/office/powerpoint/2010/main" val="131965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9D64B1-CCAF-006D-F457-2E496A8824F6}"/>
              </a:ext>
            </a:extLst>
          </p:cNvPr>
          <p:cNvSpPr>
            <a:spLocks noGrp="1"/>
          </p:cNvSpPr>
          <p:nvPr>
            <p:ph type="ctrTitle"/>
            <p:custDataLst>
              <p:tags r:id="rId1"/>
            </p:custDataLst>
          </p:nvPr>
        </p:nvSpPr>
        <p:spPr/>
        <p:txBody>
          <a:bodyPr>
            <a:normAutofit/>
          </a:bodyPr>
          <a:lstStyle/>
          <a:p>
            <a:r>
              <a:rPr lang="fr-CA" sz="5000" dirty="0"/>
              <a:t>Décision d’exploitation </a:t>
            </a:r>
            <a:br>
              <a:rPr lang="fr-CA" sz="5000" dirty="0"/>
            </a:br>
            <a:r>
              <a:rPr lang="fr-CA" sz="5000" dirty="0"/>
              <a:t>Exemple 2 : </a:t>
            </a:r>
          </a:p>
        </p:txBody>
      </p:sp>
      <p:sp>
        <p:nvSpPr>
          <p:cNvPr id="3" name="Sous-titre 2">
            <a:extLst>
              <a:ext uri="{FF2B5EF4-FFF2-40B4-BE49-F238E27FC236}">
                <a16:creationId xmlns:a16="http://schemas.microsoft.com/office/drawing/2014/main" id="{4C67F49F-DA2C-CFE2-5941-63E00D3B2C97}"/>
              </a:ext>
            </a:extLst>
          </p:cNvPr>
          <p:cNvSpPr>
            <a:spLocks noGrp="1"/>
          </p:cNvSpPr>
          <p:nvPr>
            <p:ph type="subTitle" idx="1"/>
            <p:custDataLst>
              <p:tags r:id="rId2"/>
            </p:custDataLst>
          </p:nvPr>
        </p:nvSpPr>
        <p:spPr/>
        <p:txBody>
          <a:bodyPr>
            <a:normAutofit/>
          </a:bodyPr>
          <a:lstStyle/>
          <a:p>
            <a:r>
              <a:rPr lang="fr-CA" sz="3200" dirty="0"/>
              <a:t>Fabriquer ou acheter (sous-traiter) un produit</a:t>
            </a:r>
          </a:p>
        </p:txBody>
      </p:sp>
      <p:sp>
        <p:nvSpPr>
          <p:cNvPr id="4" name="Espace réservé du pied de page 3">
            <a:extLst>
              <a:ext uri="{FF2B5EF4-FFF2-40B4-BE49-F238E27FC236}">
                <a16:creationId xmlns:a16="http://schemas.microsoft.com/office/drawing/2014/main" id="{2DABE706-570C-57DB-D6F4-7013F1D46074}"/>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E6E89C2E-9BAA-8027-DCFB-24D0E2373FA0}"/>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27</a:t>
            </a:fld>
            <a:endParaRPr lang="fr-CA">
              <a:solidFill>
                <a:prstClr val="black">
                  <a:tint val="75000"/>
                </a:prstClr>
              </a:solidFill>
            </a:endParaRPr>
          </a:p>
        </p:txBody>
      </p:sp>
    </p:spTree>
    <p:extLst>
      <p:ext uri="{BB962C8B-B14F-4D97-AF65-F5344CB8AC3E}">
        <p14:creationId xmlns:p14="http://schemas.microsoft.com/office/powerpoint/2010/main" val="21746796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p:custDataLst>
              <p:tags r:id="rId2"/>
            </p:custDataLst>
          </p:nvPr>
        </p:nvSpPr>
        <p:spPr>
          <a:xfrm>
            <a:off x="838200" y="180301"/>
            <a:ext cx="10600266" cy="1031881"/>
          </a:xfrm>
        </p:spPr>
        <p:txBody>
          <a:bodyPr anchor="ctr">
            <a:noAutofit/>
          </a:bodyPr>
          <a:lstStyle/>
          <a:p>
            <a:r>
              <a:rPr lang="fr-CA" sz="4000" dirty="0"/>
              <a:t>Fabriquer ou acheter (sous-traiter) un produit</a:t>
            </a:r>
          </a:p>
        </p:txBody>
      </p:sp>
      <p:graphicFrame>
        <p:nvGraphicFramePr>
          <p:cNvPr id="7" name="Espace réservé du contenu 6"/>
          <p:cNvGraphicFramePr>
            <a:graphicFrameLocks noGrp="1"/>
          </p:cNvGraphicFramePr>
          <p:nvPr>
            <p:ph sz="half" idx="2"/>
            <p:custDataLst>
              <p:tags r:id="rId3"/>
            </p:custDataLst>
            <p:extLst>
              <p:ext uri="{D42A27DB-BD31-4B8C-83A1-F6EECF244321}">
                <p14:modId xmlns:p14="http://schemas.microsoft.com/office/powerpoint/2010/main" val="285688092"/>
              </p:ext>
            </p:extLst>
          </p:nvPr>
        </p:nvGraphicFramePr>
        <p:xfrm>
          <a:off x="6375096" y="1574800"/>
          <a:ext cx="5491174" cy="4662684"/>
        </p:xfrm>
        <a:graphic>
          <a:graphicData uri="http://schemas.openxmlformats.org/drawingml/2006/table">
            <a:tbl>
              <a:tblPr bandRow="1">
                <a:tableStyleId>{BC89EF96-8CEA-46FF-86C4-4CE0E7609802}</a:tableStyleId>
              </a:tblPr>
              <a:tblGrid>
                <a:gridCol w="4119574">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494436">
                <a:tc gridSpan="2">
                  <a:txBody>
                    <a:bodyPr/>
                    <a:lstStyle/>
                    <a:p>
                      <a:r>
                        <a:rPr lang="fr-CA" sz="2000" b="1" dirty="0"/>
                        <a:t>Coût total pour 50 000 unités du BK200</a:t>
                      </a:r>
                    </a:p>
                  </a:txBody>
                  <a:tcPr marL="118766" marR="118766" anchor="ctr"/>
                </a:tc>
                <a:tc hMerge="1">
                  <a:txBody>
                    <a:bodyPr/>
                    <a:lstStyle/>
                    <a:p>
                      <a:pPr algn="r"/>
                      <a:endParaRPr lang="fr-CA" sz="2400"/>
                    </a:p>
                  </a:txBody>
                  <a:tcPr marL="118766" marR="118766" anchor="ctr"/>
                </a:tc>
                <a:extLst>
                  <a:ext uri="{0D108BD9-81ED-4DB2-BD59-A6C34878D82A}">
                    <a16:rowId xmlns:a16="http://schemas.microsoft.com/office/drawing/2014/main" val="3985371385"/>
                  </a:ext>
                </a:extLst>
              </a:tr>
              <a:tr h="490937">
                <a:tc>
                  <a:txBody>
                    <a:bodyPr/>
                    <a:lstStyle/>
                    <a:p>
                      <a:r>
                        <a:rPr lang="fr-CA" sz="2000" dirty="0"/>
                        <a:t>Matières premières (MP)</a:t>
                      </a:r>
                    </a:p>
                  </a:txBody>
                  <a:tcPr marL="118766" marR="118766" anchor="ctr"/>
                </a:tc>
                <a:tc>
                  <a:txBody>
                    <a:bodyPr/>
                    <a:lstStyle/>
                    <a:p>
                      <a:pPr algn="r"/>
                      <a:r>
                        <a:rPr lang="fr-CA" sz="2000"/>
                        <a:t>125 000 $</a:t>
                      </a:r>
                    </a:p>
                  </a:txBody>
                  <a:tcPr marL="118766" marR="118766" anchor="ctr"/>
                </a:tc>
                <a:extLst>
                  <a:ext uri="{0D108BD9-81ED-4DB2-BD59-A6C34878D82A}">
                    <a16:rowId xmlns:a16="http://schemas.microsoft.com/office/drawing/2014/main" val="10000"/>
                  </a:ext>
                </a:extLst>
              </a:tr>
              <a:tr h="530472">
                <a:tc>
                  <a:txBody>
                    <a:bodyPr/>
                    <a:lstStyle/>
                    <a:p>
                      <a:r>
                        <a:rPr lang="fr-CA" sz="2000" dirty="0"/>
                        <a:t>Salaires des employés de production (MOD)</a:t>
                      </a:r>
                    </a:p>
                  </a:txBody>
                  <a:tcPr marL="118766" marR="118766" anchor="ctr"/>
                </a:tc>
                <a:tc>
                  <a:txBody>
                    <a:bodyPr/>
                    <a:lstStyle/>
                    <a:p>
                      <a:pPr algn="r"/>
                      <a:r>
                        <a:rPr lang="fr-CA" sz="2000"/>
                        <a:t>62 500 $</a:t>
                      </a:r>
                    </a:p>
                  </a:txBody>
                  <a:tcPr marL="118766" marR="118766" anchor="ctr"/>
                </a:tc>
                <a:extLst>
                  <a:ext uri="{0D108BD9-81ED-4DB2-BD59-A6C34878D82A}">
                    <a16:rowId xmlns:a16="http://schemas.microsoft.com/office/drawing/2014/main" val="10001"/>
                  </a:ext>
                </a:extLst>
              </a:tr>
              <a:tr h="598410">
                <a:tc>
                  <a:txBody>
                    <a:bodyPr/>
                    <a:lstStyle/>
                    <a:p>
                      <a:r>
                        <a:rPr lang="fr-CA" sz="2000" dirty="0"/>
                        <a:t>Frais généraux de fabrication </a:t>
                      </a:r>
                      <a:r>
                        <a:rPr lang="fr-CA" sz="2000" b="1" dirty="0"/>
                        <a:t>variables</a:t>
                      </a:r>
                    </a:p>
                  </a:txBody>
                  <a:tcPr marL="118766" marR="118766" anchor="ctr"/>
                </a:tc>
                <a:tc>
                  <a:txBody>
                    <a:bodyPr/>
                    <a:lstStyle/>
                    <a:p>
                      <a:pPr algn="r"/>
                      <a:r>
                        <a:rPr lang="fr-CA" sz="2000"/>
                        <a:t>87 500 $</a:t>
                      </a:r>
                    </a:p>
                  </a:txBody>
                  <a:tcPr marL="118766" marR="118766" anchor="ctr"/>
                </a:tc>
                <a:extLst>
                  <a:ext uri="{0D108BD9-81ED-4DB2-BD59-A6C34878D82A}">
                    <a16:rowId xmlns:a16="http://schemas.microsoft.com/office/drawing/2014/main" val="10002"/>
                  </a:ext>
                </a:extLst>
              </a:tr>
              <a:tr h="598410">
                <a:tc>
                  <a:txBody>
                    <a:bodyPr/>
                    <a:lstStyle/>
                    <a:p>
                      <a:r>
                        <a:rPr lang="fr-CA" sz="2000" dirty="0"/>
                        <a:t>Frais généraux de fabrication </a:t>
                      </a:r>
                      <a:r>
                        <a:rPr lang="fr-CA" sz="2000" b="1" dirty="0"/>
                        <a:t>fixes</a:t>
                      </a:r>
                    </a:p>
                  </a:txBody>
                  <a:tcPr marL="118766" marR="118766" anchor="ctr"/>
                </a:tc>
                <a:tc>
                  <a:txBody>
                    <a:bodyPr/>
                    <a:lstStyle/>
                    <a:p>
                      <a:pPr algn="r"/>
                      <a:r>
                        <a:rPr lang="fr-CA" sz="2000" u="sng"/>
                        <a:t>175 000 $</a:t>
                      </a:r>
                    </a:p>
                  </a:txBody>
                  <a:tcPr marL="118766" marR="118766" anchor="ctr"/>
                </a:tc>
                <a:extLst>
                  <a:ext uri="{0D108BD9-81ED-4DB2-BD59-A6C34878D82A}">
                    <a16:rowId xmlns:a16="http://schemas.microsoft.com/office/drawing/2014/main" val="10003"/>
                  </a:ext>
                </a:extLst>
              </a:tr>
              <a:tr h="598410">
                <a:tc>
                  <a:txBody>
                    <a:bodyPr/>
                    <a:lstStyle/>
                    <a:p>
                      <a:r>
                        <a:rPr lang="fr-CA" sz="2000" b="1" dirty="0"/>
                        <a:t>Coût</a:t>
                      </a:r>
                      <a:r>
                        <a:rPr lang="fr-CA" sz="2000" b="1" baseline="0" dirty="0"/>
                        <a:t> t</a:t>
                      </a:r>
                      <a:r>
                        <a:rPr lang="fr-CA" sz="2000" b="1" dirty="0"/>
                        <a:t>otal</a:t>
                      </a:r>
                    </a:p>
                  </a:txBody>
                  <a:tcPr marL="118766" marR="118766" anchor="ctr"/>
                </a:tc>
                <a:tc>
                  <a:txBody>
                    <a:bodyPr/>
                    <a:lstStyle/>
                    <a:p>
                      <a:pPr algn="r"/>
                      <a:r>
                        <a:rPr lang="fr-CA" sz="2000"/>
                        <a:t>450 000 $</a:t>
                      </a:r>
                    </a:p>
                  </a:txBody>
                  <a:tcPr marL="118766" marR="118766" anchor="ctr"/>
                </a:tc>
                <a:extLst>
                  <a:ext uri="{0D108BD9-81ED-4DB2-BD59-A6C34878D82A}">
                    <a16:rowId xmlns:a16="http://schemas.microsoft.com/office/drawing/2014/main" val="10004"/>
                  </a:ext>
                </a:extLst>
              </a:tr>
              <a:tr h="598410">
                <a:tc>
                  <a:txBody>
                    <a:bodyPr/>
                    <a:lstStyle/>
                    <a:p>
                      <a:r>
                        <a:rPr lang="fr-CA" sz="2000" dirty="0"/>
                        <a:t>Nombre d’unités du BK200</a:t>
                      </a:r>
                    </a:p>
                  </a:txBody>
                  <a:tcPr marL="118766" marR="118766" anchor="ctr"/>
                </a:tc>
                <a:tc>
                  <a:txBody>
                    <a:bodyPr/>
                    <a:lstStyle/>
                    <a:p>
                      <a:pPr algn="r"/>
                      <a:r>
                        <a:rPr lang="fr-CA" sz="2000" u="sng" dirty="0"/>
                        <a:t> ÷ 50 000</a:t>
                      </a:r>
                    </a:p>
                  </a:txBody>
                  <a:tcPr marL="118766" marR="118766" anchor="ctr"/>
                </a:tc>
                <a:extLst>
                  <a:ext uri="{0D108BD9-81ED-4DB2-BD59-A6C34878D82A}">
                    <a16:rowId xmlns:a16="http://schemas.microsoft.com/office/drawing/2014/main" val="4199834883"/>
                  </a:ext>
                </a:extLst>
              </a:tr>
              <a:tr h="480001">
                <a:tc>
                  <a:txBody>
                    <a:bodyPr/>
                    <a:lstStyle/>
                    <a:p>
                      <a:r>
                        <a:rPr lang="fr-CA" sz="2000" dirty="0"/>
                        <a:t>Coût unitaire 450 000 $ / 50 000 u.</a:t>
                      </a:r>
                    </a:p>
                  </a:txBody>
                  <a:tcPr marL="118766" marR="118766" anchor="ctr"/>
                </a:tc>
                <a:tc>
                  <a:txBody>
                    <a:bodyPr/>
                    <a:lstStyle/>
                    <a:p>
                      <a:pPr algn="r"/>
                      <a:r>
                        <a:rPr lang="fr-CA" sz="2000" b="1" dirty="0"/>
                        <a:t>9,00 $</a:t>
                      </a:r>
                    </a:p>
                  </a:txBody>
                  <a:tcPr marL="118766" marR="118766" anchor="ctr"/>
                </a:tc>
                <a:extLst>
                  <a:ext uri="{0D108BD9-81ED-4DB2-BD59-A6C34878D82A}">
                    <a16:rowId xmlns:a16="http://schemas.microsoft.com/office/drawing/2014/main" val="520056235"/>
                  </a:ext>
                </a:extLst>
              </a:tr>
            </a:tbl>
          </a:graphicData>
        </a:graphic>
      </p:graphicFrame>
      <p:sp>
        <p:nvSpPr>
          <p:cNvPr id="5" name="Espace réservé du numéro de diapositive 4"/>
          <p:cNvSpPr>
            <a:spLocks noGrp="1"/>
          </p:cNvSpPr>
          <p:nvPr>
            <p:ph type="sldNum" sz="quarter" idx="12"/>
            <p:custDataLst>
              <p:tags r:id="rId4"/>
            </p:custDataLst>
          </p:nvPr>
        </p:nvSpPr>
        <p:spPr/>
        <p:txBody>
          <a:bodyPr/>
          <a:lstStyle/>
          <a:p>
            <a:fld id="{D3008ED5-8015-41DF-BC47-EA62E6FE4E18}" type="slidenum">
              <a:rPr lang="fr-CA" smtClean="0"/>
              <a:t>28</a:t>
            </a:fld>
            <a:endParaRPr lang="fr-CA"/>
          </a:p>
        </p:txBody>
      </p:sp>
      <p:sp>
        <p:nvSpPr>
          <p:cNvPr id="6" name="Espace réservé du contenu 5"/>
          <p:cNvSpPr>
            <a:spLocks noGrp="1"/>
          </p:cNvSpPr>
          <p:nvPr>
            <p:ph sz="half" idx="1"/>
            <p:custDataLst>
              <p:tags r:id="rId5"/>
            </p:custDataLst>
          </p:nvPr>
        </p:nvSpPr>
        <p:spPr>
          <a:xfrm>
            <a:off x="496077" y="1598769"/>
            <a:ext cx="5597545" cy="4904667"/>
          </a:xfrm>
        </p:spPr>
        <p:txBody>
          <a:bodyPr>
            <a:normAutofit fontScale="70000" lnSpcReduction="20000"/>
          </a:bodyPr>
          <a:lstStyle/>
          <a:p>
            <a:pPr lvl="0" rtl="0">
              <a:lnSpc>
                <a:spcPct val="120000"/>
              </a:lnSpc>
            </a:pPr>
            <a:r>
              <a:rPr lang="fr-CA" sz="2400" dirty="0"/>
              <a:t>La société ABC fabrique des vélos. Présentement, elle produit elle-même les pédales utilisées dans ses vélos. Le détail du coût de fabrication unitaire de cette pièce est présenté dans le tableau ci-contre.</a:t>
            </a:r>
          </a:p>
          <a:p>
            <a:pPr lvl="0" rtl="0">
              <a:lnSpc>
                <a:spcPct val="120000"/>
              </a:lnSpc>
            </a:pPr>
            <a:r>
              <a:rPr lang="fr-CA" sz="2400" dirty="0"/>
              <a:t>Un fournisseur externe a récemment proposé à ABC de lui vendre les pédales à 7,75 $ l'unité. Le directeur de production envisage donc de cesser leur fabrication et de les acheter auprès du fournisseur.</a:t>
            </a:r>
          </a:p>
          <a:p>
            <a:pPr lvl="0" rtl="0">
              <a:lnSpc>
                <a:spcPct val="120000"/>
              </a:lnSpc>
            </a:pPr>
            <a:r>
              <a:rPr lang="fr-CA" sz="2400" dirty="0"/>
              <a:t>Du total des frais généraux de fabrication (FGF) fixes annuels, 25 000 $ sont attribuables à l'amortissement d'une machine utilisée exclusivement pour la fabrication des pédales. Les autres FGF fixes comprennent notamment le loyer, le chauffage, les taxes et diverses autres charges. </a:t>
            </a:r>
          </a:p>
          <a:p>
            <a:pPr lvl="0" rtl="0">
              <a:lnSpc>
                <a:spcPct val="120000"/>
              </a:lnSpc>
            </a:pPr>
            <a:r>
              <a:rPr lang="fr-CA" sz="2400" b="1" dirty="0"/>
              <a:t>ABC devrait fabriquer ou acheter les pédales auprès du fournisseur ?</a:t>
            </a:r>
          </a:p>
        </p:txBody>
      </p:sp>
      <p:sp>
        <p:nvSpPr>
          <p:cNvPr id="4" name="Espace réservé du pied de page 3">
            <a:extLst>
              <a:ext uri="{FF2B5EF4-FFF2-40B4-BE49-F238E27FC236}">
                <a16:creationId xmlns:a16="http://schemas.microsoft.com/office/drawing/2014/main" id="{3C42B161-A361-B516-6441-1AA7E138C326}"/>
              </a:ext>
            </a:extLst>
          </p:cNvPr>
          <p:cNvSpPr>
            <a:spLocks noGrp="1"/>
          </p:cNvSpPr>
          <p:nvPr>
            <p:ph type="ftr" sz="quarter" idx="11"/>
            <p:custDataLst>
              <p:tags r:id="rId6"/>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8" name="Espace réservé du numéro de diapositive 4">
            <a:extLst>
              <a:ext uri="{FF2B5EF4-FFF2-40B4-BE49-F238E27FC236}">
                <a16:creationId xmlns:a16="http://schemas.microsoft.com/office/drawing/2014/main" id="{2045641E-BEDB-5EC5-D267-28BB92C22EAD}"/>
              </a:ext>
            </a:extLst>
          </p:cNvPr>
          <p:cNvSpPr txBox="1">
            <a:spLocks/>
          </p:cNvSpPr>
          <p:nvPr>
            <p:custDataLst>
              <p:tags r:id="rId7"/>
            </p:custDataLst>
          </p:nvPr>
        </p:nvSpPr>
        <p:spPr>
          <a:xfrm>
            <a:off x="11591730" y="6505543"/>
            <a:ext cx="530290" cy="300587"/>
          </a:xfrm>
          <a:prstGeom prst="rect">
            <a:avLst/>
          </a:prstGeom>
        </p:spPr>
        <p:txBody>
          <a:bodyPr/>
          <a:lstStyle>
            <a:defPPr>
              <a:defRPr lang="fr-FR"/>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F20FBA3-27E4-4E13-841E-B59ED0E8E620}" type="slidenum">
              <a:rPr lang="fr-CA" smtClean="0">
                <a:solidFill>
                  <a:prstClr val="black">
                    <a:tint val="75000"/>
                  </a:prstClr>
                </a:solidFill>
              </a:rPr>
              <a:pPr/>
              <a:t>28</a:t>
            </a:fld>
            <a:endParaRPr lang="fr-CA">
              <a:solidFill>
                <a:prstClr val="black">
                  <a:tint val="75000"/>
                </a:prstClr>
              </a:solidFill>
            </a:endParaRPr>
          </a:p>
        </p:txBody>
      </p:sp>
    </p:spTree>
    <p:custDataLst>
      <p:tags r:id="rId1"/>
    </p:custDataLst>
    <p:extLst>
      <p:ext uri="{BB962C8B-B14F-4D97-AF65-F5344CB8AC3E}">
        <p14:creationId xmlns:p14="http://schemas.microsoft.com/office/powerpoint/2010/main" val="8841929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550AA-A7F2-A439-1422-581340B5D30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8D5D46C-AD31-8F36-F8F3-68E7F0FC96AE}"/>
              </a:ext>
            </a:extLst>
          </p:cNvPr>
          <p:cNvSpPr>
            <a:spLocks noGrp="1"/>
          </p:cNvSpPr>
          <p:nvPr>
            <p:ph type="title"/>
            <p:custDataLst>
              <p:tags r:id="rId1"/>
            </p:custDataLst>
          </p:nvPr>
        </p:nvSpPr>
        <p:spPr>
          <a:xfrm>
            <a:off x="838200" y="160589"/>
            <a:ext cx="11353800" cy="1042570"/>
          </a:xfrm>
        </p:spPr>
        <p:txBody>
          <a:bodyPr vert="horz" lIns="91440" tIns="45720" rIns="91440" bIns="45720" rtlCol="0" anchor="ctr">
            <a:noAutofit/>
          </a:bodyPr>
          <a:lstStyle/>
          <a:p>
            <a:r>
              <a:rPr lang="fr-CA" sz="4000" b="1" dirty="0"/>
              <a:t>Analyse différentielle -</a:t>
            </a:r>
            <a:r>
              <a:rPr lang="fr-CA" sz="4000" dirty="0"/>
              <a:t> Fabriquer ou acheter (étudiants)</a:t>
            </a:r>
            <a:endParaRPr lang="fr-CA" sz="4000" b="1" dirty="0">
              <a:highlight>
                <a:srgbClr val="FFFF00"/>
              </a:highlight>
            </a:endParaRPr>
          </a:p>
        </p:txBody>
      </p:sp>
      <p:graphicFrame>
        <p:nvGraphicFramePr>
          <p:cNvPr id="6" name="Tableau 6">
            <a:extLst>
              <a:ext uri="{FF2B5EF4-FFF2-40B4-BE49-F238E27FC236}">
                <a16:creationId xmlns:a16="http://schemas.microsoft.com/office/drawing/2014/main" id="{BFD9D6E7-D9A6-1C5C-85C4-253A6C338555}"/>
              </a:ext>
            </a:extLst>
          </p:cNvPr>
          <p:cNvGraphicFramePr>
            <a:graphicFrameLocks noGrp="1"/>
          </p:cNvGraphicFramePr>
          <p:nvPr>
            <p:custDataLst>
              <p:tags r:id="rId2"/>
            </p:custDataLst>
            <p:extLst>
              <p:ext uri="{D42A27DB-BD31-4B8C-83A1-F6EECF244321}">
                <p14:modId xmlns:p14="http://schemas.microsoft.com/office/powerpoint/2010/main" val="2382849692"/>
              </p:ext>
            </p:extLst>
          </p:nvPr>
        </p:nvGraphicFramePr>
        <p:xfrm>
          <a:off x="198005" y="1626272"/>
          <a:ext cx="4475946" cy="4306517"/>
        </p:xfrm>
        <a:graphic>
          <a:graphicData uri="http://schemas.openxmlformats.org/drawingml/2006/table">
            <a:tbl>
              <a:tblPr firstRow="1" bandRow="1">
                <a:tableStyleId>{9D7B26C5-4107-4FEC-AEDC-1716B250A1EF}</a:tableStyleId>
              </a:tblPr>
              <a:tblGrid>
                <a:gridCol w="2352012">
                  <a:extLst>
                    <a:ext uri="{9D8B030D-6E8A-4147-A177-3AD203B41FA5}">
                      <a16:colId xmlns:a16="http://schemas.microsoft.com/office/drawing/2014/main" val="3526071591"/>
                    </a:ext>
                  </a:extLst>
                </a:gridCol>
                <a:gridCol w="2123934">
                  <a:extLst>
                    <a:ext uri="{9D8B030D-6E8A-4147-A177-3AD203B41FA5}">
                      <a16:colId xmlns:a16="http://schemas.microsoft.com/office/drawing/2014/main" val="2611129504"/>
                    </a:ext>
                  </a:extLst>
                </a:gridCol>
              </a:tblGrid>
              <a:tr h="773970">
                <a:tc>
                  <a:txBody>
                    <a:bodyPr/>
                    <a:lstStyle/>
                    <a:p>
                      <a:r>
                        <a:rPr lang="fr-CA" u="none" dirty="0">
                          <a:solidFill>
                            <a:schemeClr val="tx1"/>
                          </a:solidFill>
                        </a:rPr>
                        <a:t>Coût de fabrication</a:t>
                      </a:r>
                    </a:p>
                  </a:txBody>
                  <a:tcPr anchor="ctr"/>
                </a:tc>
                <a:tc>
                  <a:txBody>
                    <a:bodyPr/>
                    <a:lstStyle/>
                    <a:p>
                      <a:r>
                        <a:rPr lang="fr-CA" sz="2000" b="1" dirty="0"/>
                        <a:t>Alternative A</a:t>
                      </a:r>
                    </a:p>
                    <a:p>
                      <a:r>
                        <a:rPr lang="fr-CA" sz="2000" b="0" dirty="0"/>
                        <a:t>Fabriquer</a:t>
                      </a:r>
                    </a:p>
                  </a:txBody>
                  <a:tcPr anchor="ctr"/>
                </a:tc>
                <a:extLst>
                  <a:ext uri="{0D108BD9-81ED-4DB2-BD59-A6C34878D82A}">
                    <a16:rowId xmlns:a16="http://schemas.microsoft.com/office/drawing/2014/main" val="4155510371"/>
                  </a:ext>
                </a:extLst>
              </a:tr>
              <a:tr h="4094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a:t>Matières premières</a:t>
                      </a:r>
                    </a:p>
                  </a:txBody>
                  <a:tcPr>
                    <a:solidFill>
                      <a:schemeClr val="bg1">
                        <a:lumMod val="75000"/>
                        <a:alpha val="20000"/>
                      </a:schemeClr>
                    </a:solidFill>
                  </a:tcPr>
                </a:tc>
                <a:tc>
                  <a:txBody>
                    <a:bodyPr/>
                    <a:lstStyle/>
                    <a:p>
                      <a:endParaRPr lang="fr-CA" sz="1600" dirty="0"/>
                    </a:p>
                  </a:txBody>
                  <a:tcPr>
                    <a:solidFill>
                      <a:schemeClr val="bg1">
                        <a:lumMod val="75000"/>
                        <a:alpha val="20000"/>
                      </a:schemeClr>
                    </a:solidFill>
                  </a:tcPr>
                </a:tc>
                <a:extLst>
                  <a:ext uri="{0D108BD9-81ED-4DB2-BD59-A6C34878D82A}">
                    <a16:rowId xmlns:a16="http://schemas.microsoft.com/office/drawing/2014/main" val="1303404451"/>
                  </a:ext>
                </a:extLst>
              </a:tr>
              <a:tr h="409419">
                <a:tc>
                  <a:txBody>
                    <a:bodyPr/>
                    <a:lstStyle/>
                    <a:p>
                      <a:r>
                        <a:rPr lang="fr-CA" dirty="0"/>
                        <a:t>Main d’œuvre directe</a:t>
                      </a:r>
                      <a:endParaRPr lang="fr-CA" sz="1600" kern="1200" dirty="0">
                        <a:solidFill>
                          <a:schemeClr val="tx1"/>
                        </a:solidFill>
                        <a:latin typeface="+mn-lt"/>
                        <a:ea typeface="+mn-ea"/>
                        <a:cs typeface="+mn-cs"/>
                      </a:endParaRPr>
                    </a:p>
                  </a:txBody>
                  <a:tcPr/>
                </a:tc>
                <a:tc>
                  <a:txBody>
                    <a:bodyPr/>
                    <a:lstStyle/>
                    <a:p>
                      <a:endParaRPr lang="fr-CA" sz="1600" dirty="0"/>
                    </a:p>
                  </a:txBody>
                  <a:tcPr/>
                </a:tc>
                <a:extLst>
                  <a:ext uri="{0D108BD9-81ED-4DB2-BD59-A6C34878D82A}">
                    <a16:rowId xmlns:a16="http://schemas.microsoft.com/office/drawing/2014/main" val="220123461"/>
                  </a:ext>
                </a:extLst>
              </a:tr>
              <a:tr h="416921">
                <a:tc>
                  <a:txBody>
                    <a:bodyPr/>
                    <a:lstStyle/>
                    <a:p>
                      <a:r>
                        <a:rPr lang="fr-CA"/>
                        <a:t>FGF variables</a:t>
                      </a:r>
                    </a:p>
                  </a:txBody>
                  <a:tcPr>
                    <a:solidFill>
                      <a:schemeClr val="bg1">
                        <a:lumMod val="75000"/>
                        <a:alpha val="2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sz="1600" kern="1200" dirty="0">
                        <a:solidFill>
                          <a:schemeClr val="tx1"/>
                        </a:solidFill>
                        <a:latin typeface="+mn-lt"/>
                        <a:ea typeface="+mn-ea"/>
                        <a:cs typeface="+mn-cs"/>
                      </a:endParaRPr>
                    </a:p>
                  </a:txBody>
                  <a:tcPr>
                    <a:solidFill>
                      <a:schemeClr val="bg1">
                        <a:lumMod val="75000"/>
                        <a:alpha val="20000"/>
                      </a:schemeClr>
                    </a:solidFill>
                  </a:tcPr>
                </a:tc>
                <a:extLst>
                  <a:ext uri="{0D108BD9-81ED-4DB2-BD59-A6C34878D82A}">
                    <a16:rowId xmlns:a16="http://schemas.microsoft.com/office/drawing/2014/main" val="3030540745"/>
                  </a:ext>
                </a:extLst>
              </a:tr>
              <a:tr h="4094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dirty="0"/>
                    </a:p>
                  </a:txBody>
                  <a:tcPr>
                    <a:noFill/>
                  </a:tcPr>
                </a:tc>
                <a:tc>
                  <a:txBody>
                    <a:bodyPr/>
                    <a:lstStyle/>
                    <a:p>
                      <a:endParaRPr lang="fr-CA" sz="1600" u="sng" dirty="0"/>
                    </a:p>
                  </a:txBody>
                  <a:tcPr>
                    <a:noFill/>
                  </a:tcPr>
                </a:tc>
                <a:extLst>
                  <a:ext uri="{0D108BD9-81ED-4DB2-BD59-A6C34878D82A}">
                    <a16:rowId xmlns:a16="http://schemas.microsoft.com/office/drawing/2014/main" val="2801821692"/>
                  </a:ext>
                </a:extLst>
              </a:tr>
              <a:tr h="4094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sz="1800" u="sng" dirty="0"/>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sz="1800" u="none" kern="1200" dirty="0">
                        <a:solidFill>
                          <a:schemeClr val="tx1"/>
                        </a:solidFill>
                        <a:latin typeface="+mn-lt"/>
                        <a:ea typeface="+mn-ea"/>
                        <a:cs typeface="+mn-cs"/>
                      </a:endParaRPr>
                    </a:p>
                  </a:txBody>
                  <a:tcPr>
                    <a:noFill/>
                  </a:tcPr>
                </a:tc>
                <a:extLst>
                  <a:ext uri="{0D108BD9-81ED-4DB2-BD59-A6C34878D82A}">
                    <a16:rowId xmlns:a16="http://schemas.microsoft.com/office/drawing/2014/main" val="3563043164"/>
                  </a:ext>
                </a:extLst>
              </a:tr>
              <a:tr h="10095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FGF fixes spécifiques</a:t>
                      </a:r>
                    </a:p>
                    <a:p>
                      <a:pPr algn="l"/>
                      <a:endParaRPr lang="fr-CA" dirty="0"/>
                    </a:p>
                    <a:p>
                      <a:pPr algn="l"/>
                      <a:r>
                        <a:rPr lang="fr-CA" dirty="0"/>
                        <a:t>FGF fixes communs</a:t>
                      </a:r>
                    </a:p>
                  </a:txBody>
                  <a:tcPr>
                    <a:solidFill>
                      <a:schemeClr val="bg1">
                        <a:lumMod val="95000"/>
                      </a:schemeClr>
                    </a:solidFill>
                  </a:tcPr>
                </a:tc>
                <a:tc>
                  <a:txBody>
                    <a:bodyPr/>
                    <a:lstStyle/>
                    <a:p>
                      <a:endParaRPr lang="fr-CA" sz="1800" u="none" kern="1200" dirty="0">
                        <a:solidFill>
                          <a:schemeClr val="tx1"/>
                        </a:solidFill>
                        <a:latin typeface="+mn-lt"/>
                        <a:ea typeface="+mn-ea"/>
                        <a:cs typeface="+mn-cs"/>
                      </a:endParaRPr>
                    </a:p>
                  </a:txBody>
                  <a:tcPr>
                    <a:solidFill>
                      <a:schemeClr val="bg1">
                        <a:lumMod val="95000"/>
                      </a:schemeClr>
                    </a:solidFill>
                  </a:tcPr>
                </a:tc>
                <a:extLst>
                  <a:ext uri="{0D108BD9-81ED-4DB2-BD59-A6C34878D82A}">
                    <a16:rowId xmlns:a16="http://schemas.microsoft.com/office/drawing/2014/main" val="97909308"/>
                  </a:ext>
                </a:extLst>
              </a:tr>
              <a:tr h="468425">
                <a:tc>
                  <a:txBody>
                    <a:bodyPr/>
                    <a:lstStyle/>
                    <a:p>
                      <a:r>
                        <a:rPr lang="fr-CA" b="1" dirty="0"/>
                        <a:t>Coût total</a:t>
                      </a:r>
                    </a:p>
                  </a:txBody>
                  <a:tcPr anchor="ctr">
                    <a:noFill/>
                  </a:tcPr>
                </a:tc>
                <a:tc>
                  <a:txBody>
                    <a:bodyPr/>
                    <a:lstStyle/>
                    <a:p>
                      <a:endParaRPr lang="fr-CA" b="1" dirty="0"/>
                    </a:p>
                  </a:txBody>
                  <a:tcPr anchor="ctr">
                    <a:noFill/>
                  </a:tcPr>
                </a:tc>
                <a:extLst>
                  <a:ext uri="{0D108BD9-81ED-4DB2-BD59-A6C34878D82A}">
                    <a16:rowId xmlns:a16="http://schemas.microsoft.com/office/drawing/2014/main" val="3413345020"/>
                  </a:ext>
                </a:extLst>
              </a:tr>
            </a:tbl>
          </a:graphicData>
        </a:graphic>
      </p:graphicFrame>
      <p:sp>
        <p:nvSpPr>
          <p:cNvPr id="4" name="Espace réservé du pied de page 3">
            <a:extLst>
              <a:ext uri="{FF2B5EF4-FFF2-40B4-BE49-F238E27FC236}">
                <a16:creationId xmlns:a16="http://schemas.microsoft.com/office/drawing/2014/main" id="{78FBD058-62FA-4F9E-4F20-470BA2B44A18}"/>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4D1A8350-720F-903E-0507-1781472419AD}"/>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29</a:t>
            </a:fld>
            <a:endParaRPr lang="fr-CA">
              <a:solidFill>
                <a:prstClr val="black">
                  <a:tint val="75000"/>
                </a:prstClr>
              </a:solidFill>
            </a:endParaRPr>
          </a:p>
        </p:txBody>
      </p:sp>
      <p:graphicFrame>
        <p:nvGraphicFramePr>
          <p:cNvPr id="7" name="Tableau 6">
            <a:extLst>
              <a:ext uri="{FF2B5EF4-FFF2-40B4-BE49-F238E27FC236}">
                <a16:creationId xmlns:a16="http://schemas.microsoft.com/office/drawing/2014/main" id="{C197F518-D750-F89B-8838-1F023BB97BC2}"/>
              </a:ext>
            </a:extLst>
          </p:cNvPr>
          <p:cNvGraphicFramePr>
            <a:graphicFrameLocks noGrp="1"/>
          </p:cNvGraphicFramePr>
          <p:nvPr>
            <p:custDataLst>
              <p:tags r:id="rId5"/>
            </p:custDataLst>
            <p:extLst>
              <p:ext uri="{D42A27DB-BD31-4B8C-83A1-F6EECF244321}">
                <p14:modId xmlns:p14="http://schemas.microsoft.com/office/powerpoint/2010/main" val="2566769749"/>
              </p:ext>
            </p:extLst>
          </p:nvPr>
        </p:nvGraphicFramePr>
        <p:xfrm>
          <a:off x="9252933" y="1626273"/>
          <a:ext cx="2297383" cy="4306517"/>
        </p:xfrm>
        <a:graphic>
          <a:graphicData uri="http://schemas.openxmlformats.org/drawingml/2006/table">
            <a:tbl>
              <a:tblPr firstRow="1" bandRow="1">
                <a:tableStyleId>{9D7B26C5-4107-4FEC-AEDC-1716B250A1EF}</a:tableStyleId>
              </a:tblPr>
              <a:tblGrid>
                <a:gridCol w="2297383">
                  <a:extLst>
                    <a:ext uri="{9D8B030D-6E8A-4147-A177-3AD203B41FA5}">
                      <a16:colId xmlns:a16="http://schemas.microsoft.com/office/drawing/2014/main" val="3612815205"/>
                    </a:ext>
                  </a:extLst>
                </a:gridCol>
              </a:tblGrid>
              <a:tr h="776125">
                <a:tc>
                  <a:txBody>
                    <a:bodyPr/>
                    <a:lstStyle/>
                    <a:p>
                      <a:pPr algn="ctr"/>
                      <a:r>
                        <a:rPr lang="fr-CA" dirty="0"/>
                        <a:t>Résultat différentiel</a:t>
                      </a:r>
                    </a:p>
                  </a:txBody>
                  <a:tcPr/>
                </a:tc>
                <a:extLst>
                  <a:ext uri="{0D108BD9-81ED-4DB2-BD59-A6C34878D82A}">
                    <a16:rowId xmlns:a16="http://schemas.microsoft.com/office/drawing/2014/main" val="4155510371"/>
                  </a:ext>
                </a:extLst>
              </a:tr>
              <a:tr h="508009">
                <a:tc>
                  <a:txBody>
                    <a:bodyPr/>
                    <a:lstStyle/>
                    <a:p>
                      <a:endParaRPr lang="fr-CA">
                        <a:solidFill>
                          <a:schemeClr val="tx1"/>
                        </a:solidFill>
                      </a:endParaRPr>
                    </a:p>
                  </a:txBody>
                  <a:tcPr>
                    <a:solidFill>
                      <a:schemeClr val="bg1">
                        <a:lumMod val="75000"/>
                        <a:alpha val="20000"/>
                      </a:schemeClr>
                    </a:solidFill>
                  </a:tcPr>
                </a:tc>
                <a:extLst>
                  <a:ext uri="{0D108BD9-81ED-4DB2-BD59-A6C34878D82A}">
                    <a16:rowId xmlns:a16="http://schemas.microsoft.com/office/drawing/2014/main" val="1303404451"/>
                  </a:ext>
                </a:extLst>
              </a:tr>
              <a:tr h="439068">
                <a:tc>
                  <a:txBody>
                    <a:bodyPr/>
                    <a:lstStyle/>
                    <a:p>
                      <a:endParaRPr lang="fr-CA" dirty="0">
                        <a:solidFill>
                          <a:schemeClr val="tx1"/>
                        </a:solidFill>
                      </a:endParaRPr>
                    </a:p>
                  </a:txBody>
                  <a:tcPr/>
                </a:tc>
                <a:extLst>
                  <a:ext uri="{0D108BD9-81ED-4DB2-BD59-A6C34878D82A}">
                    <a16:rowId xmlns:a16="http://schemas.microsoft.com/office/drawing/2014/main" val="220123461"/>
                  </a:ext>
                </a:extLst>
              </a:tr>
              <a:tr h="517316">
                <a:tc>
                  <a:txBody>
                    <a:bodyPr/>
                    <a:lstStyle/>
                    <a:p>
                      <a:endParaRPr lang="fr-CA" u="none" dirty="0"/>
                    </a:p>
                  </a:txBody>
                  <a:tcPr>
                    <a:solidFill>
                      <a:schemeClr val="bg1">
                        <a:lumMod val="75000"/>
                        <a:alpha val="20000"/>
                      </a:schemeClr>
                    </a:solidFill>
                  </a:tcPr>
                </a:tc>
                <a:extLst>
                  <a:ext uri="{0D108BD9-81ED-4DB2-BD59-A6C34878D82A}">
                    <a16:rowId xmlns:a16="http://schemas.microsoft.com/office/drawing/2014/main" val="3030540745"/>
                  </a:ext>
                </a:extLst>
              </a:tr>
              <a:tr h="508009">
                <a:tc>
                  <a:txBody>
                    <a:bodyPr/>
                    <a:lstStyle/>
                    <a:p>
                      <a:endParaRPr lang="fr-CA" u="sng" dirty="0">
                        <a:solidFill>
                          <a:schemeClr val="tx1"/>
                        </a:solidFill>
                      </a:endParaRPr>
                    </a:p>
                  </a:txBody>
                  <a:tcPr>
                    <a:noFill/>
                  </a:tcPr>
                </a:tc>
                <a:extLst>
                  <a:ext uri="{0D108BD9-81ED-4DB2-BD59-A6C34878D82A}">
                    <a16:rowId xmlns:a16="http://schemas.microsoft.com/office/drawing/2014/main" val="2801821692"/>
                  </a:ext>
                </a:extLst>
              </a:tr>
              <a:tr h="395544">
                <a:tc>
                  <a:txBody>
                    <a:bodyPr/>
                    <a:lstStyle/>
                    <a:p>
                      <a:endParaRPr lang="fr-CA" u="none" dirty="0">
                        <a:solidFill>
                          <a:schemeClr val="tx1"/>
                        </a:solidFill>
                      </a:endParaRPr>
                    </a:p>
                  </a:txBody>
                  <a:tcPr>
                    <a:noFill/>
                  </a:tcPr>
                </a:tc>
                <a:extLst>
                  <a:ext uri="{0D108BD9-81ED-4DB2-BD59-A6C34878D82A}">
                    <a16:rowId xmlns:a16="http://schemas.microsoft.com/office/drawing/2014/main" val="3563043164"/>
                  </a:ext>
                </a:extLst>
              </a:tr>
              <a:tr h="581223">
                <a:tc>
                  <a:txBody>
                    <a:bodyPr/>
                    <a:lstStyle/>
                    <a:p>
                      <a:endParaRPr lang="fr-CA" u="none" dirty="0">
                        <a:solidFill>
                          <a:schemeClr val="tx1"/>
                        </a:solidFill>
                      </a:endParaRPr>
                    </a:p>
                  </a:txBody>
                  <a:tcPr>
                    <a:solidFill>
                      <a:schemeClr val="bg1">
                        <a:lumMod val="95000"/>
                      </a:schemeClr>
                    </a:solidFill>
                  </a:tcPr>
                </a:tc>
                <a:extLst>
                  <a:ext uri="{0D108BD9-81ED-4DB2-BD59-A6C34878D82A}">
                    <a16:rowId xmlns:a16="http://schemas.microsoft.com/office/drawing/2014/main" val="97909308"/>
                  </a:ext>
                </a:extLst>
              </a:tr>
              <a:tr h="581223">
                <a:tc>
                  <a:txBody>
                    <a:bodyPr/>
                    <a:lstStyle/>
                    <a:p>
                      <a:endParaRPr lang="fr-CA" b="1" dirty="0">
                        <a:solidFill>
                          <a:srgbClr val="C00000"/>
                        </a:solidFill>
                      </a:endParaRPr>
                    </a:p>
                  </a:txBody>
                  <a:tcPr anchor="ctr">
                    <a:noFill/>
                  </a:tcPr>
                </a:tc>
                <a:extLst>
                  <a:ext uri="{0D108BD9-81ED-4DB2-BD59-A6C34878D82A}">
                    <a16:rowId xmlns:a16="http://schemas.microsoft.com/office/drawing/2014/main" val="3413345020"/>
                  </a:ext>
                </a:extLst>
              </a:tr>
            </a:tbl>
          </a:graphicData>
        </a:graphic>
      </p:graphicFrame>
      <p:graphicFrame>
        <p:nvGraphicFramePr>
          <p:cNvPr id="8" name="Tableau 6">
            <a:extLst>
              <a:ext uri="{FF2B5EF4-FFF2-40B4-BE49-F238E27FC236}">
                <a16:creationId xmlns:a16="http://schemas.microsoft.com/office/drawing/2014/main" id="{99BD210E-0036-3E27-8D8F-4C19394157FD}"/>
              </a:ext>
            </a:extLst>
          </p:cNvPr>
          <p:cNvGraphicFramePr>
            <a:graphicFrameLocks noGrp="1"/>
          </p:cNvGraphicFramePr>
          <p:nvPr>
            <p:custDataLst>
              <p:tags r:id="rId6"/>
            </p:custDataLst>
            <p:extLst>
              <p:ext uri="{D42A27DB-BD31-4B8C-83A1-F6EECF244321}">
                <p14:modId xmlns:p14="http://schemas.microsoft.com/office/powerpoint/2010/main" val="966726697"/>
              </p:ext>
            </p:extLst>
          </p:nvPr>
        </p:nvGraphicFramePr>
        <p:xfrm>
          <a:off x="4841376" y="1626272"/>
          <a:ext cx="4109441" cy="4306516"/>
        </p:xfrm>
        <a:graphic>
          <a:graphicData uri="http://schemas.openxmlformats.org/drawingml/2006/table">
            <a:tbl>
              <a:tblPr firstRow="1" bandRow="1">
                <a:tableStyleId>{9D7B26C5-4107-4FEC-AEDC-1716B250A1EF}</a:tableStyleId>
              </a:tblPr>
              <a:tblGrid>
                <a:gridCol w="2146942">
                  <a:extLst>
                    <a:ext uri="{9D8B030D-6E8A-4147-A177-3AD203B41FA5}">
                      <a16:colId xmlns:a16="http://schemas.microsoft.com/office/drawing/2014/main" val="3526071591"/>
                    </a:ext>
                  </a:extLst>
                </a:gridCol>
                <a:gridCol w="1962499">
                  <a:extLst>
                    <a:ext uri="{9D8B030D-6E8A-4147-A177-3AD203B41FA5}">
                      <a16:colId xmlns:a16="http://schemas.microsoft.com/office/drawing/2014/main" val="2611129504"/>
                    </a:ext>
                  </a:extLst>
                </a:gridCol>
              </a:tblGrid>
              <a:tr h="773969">
                <a:tc>
                  <a:txBody>
                    <a:bodyPr/>
                    <a:lstStyle/>
                    <a:p>
                      <a:endParaRPr lang="fr-CA" u="sng">
                        <a:solidFill>
                          <a:srgbClr val="FF0000"/>
                        </a:solidFill>
                      </a:endParaRPr>
                    </a:p>
                  </a:txBody>
                  <a:tcPr anchor="ctr"/>
                </a:tc>
                <a:tc>
                  <a:txBody>
                    <a:bodyPr/>
                    <a:lstStyle/>
                    <a:p>
                      <a:r>
                        <a:rPr lang="fr-CA" sz="2000" b="1" dirty="0"/>
                        <a:t>Alternative B</a:t>
                      </a:r>
                    </a:p>
                    <a:p>
                      <a:r>
                        <a:rPr lang="fr-CA" sz="2000" b="0" dirty="0"/>
                        <a:t>Acheter</a:t>
                      </a:r>
                    </a:p>
                  </a:txBody>
                  <a:tcPr anchor="ctr"/>
                </a:tc>
                <a:extLst>
                  <a:ext uri="{0D108BD9-81ED-4DB2-BD59-A6C34878D82A}">
                    <a16:rowId xmlns:a16="http://schemas.microsoft.com/office/drawing/2014/main" val="4155510371"/>
                  </a:ext>
                </a:extLst>
              </a:tr>
              <a:tr h="4094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dirty="0"/>
                    </a:p>
                  </a:txBody>
                  <a:tcPr>
                    <a:solidFill>
                      <a:schemeClr val="bg1">
                        <a:lumMod val="75000"/>
                        <a:alpha val="20000"/>
                      </a:schemeClr>
                    </a:solidFill>
                  </a:tcPr>
                </a:tc>
                <a:tc>
                  <a:txBody>
                    <a:bodyPr/>
                    <a:lstStyle/>
                    <a:p>
                      <a:endParaRPr lang="fr-CA" sz="1600" dirty="0"/>
                    </a:p>
                  </a:txBody>
                  <a:tcPr>
                    <a:solidFill>
                      <a:schemeClr val="bg1">
                        <a:lumMod val="75000"/>
                        <a:alpha val="20000"/>
                      </a:schemeClr>
                    </a:solidFill>
                  </a:tcPr>
                </a:tc>
                <a:extLst>
                  <a:ext uri="{0D108BD9-81ED-4DB2-BD59-A6C34878D82A}">
                    <a16:rowId xmlns:a16="http://schemas.microsoft.com/office/drawing/2014/main" val="1303404451"/>
                  </a:ext>
                </a:extLst>
              </a:tr>
              <a:tr h="409419">
                <a:tc>
                  <a:txBody>
                    <a:bodyPr/>
                    <a:lstStyle/>
                    <a:p>
                      <a:endParaRPr lang="fr-CA" sz="1600" kern="1200" dirty="0">
                        <a:solidFill>
                          <a:schemeClr val="tx1"/>
                        </a:solidFill>
                        <a:latin typeface="+mn-lt"/>
                        <a:ea typeface="+mn-ea"/>
                        <a:cs typeface="+mn-cs"/>
                      </a:endParaRPr>
                    </a:p>
                  </a:txBody>
                  <a:tcPr/>
                </a:tc>
                <a:tc>
                  <a:txBody>
                    <a:bodyPr/>
                    <a:lstStyle/>
                    <a:p>
                      <a:endParaRPr lang="fr-CA" sz="1600" dirty="0"/>
                    </a:p>
                  </a:txBody>
                  <a:tcPr/>
                </a:tc>
                <a:extLst>
                  <a:ext uri="{0D108BD9-81ED-4DB2-BD59-A6C34878D82A}">
                    <a16:rowId xmlns:a16="http://schemas.microsoft.com/office/drawing/2014/main" val="220123461"/>
                  </a:ext>
                </a:extLst>
              </a:tr>
              <a:tr h="416921">
                <a:tc>
                  <a:txBody>
                    <a:bodyPr/>
                    <a:lstStyle/>
                    <a:p>
                      <a:endParaRPr lang="fr-CA" dirty="0"/>
                    </a:p>
                  </a:txBody>
                  <a:tcPr>
                    <a:solidFill>
                      <a:schemeClr val="bg1">
                        <a:lumMod val="75000"/>
                        <a:alpha val="2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sz="1600" kern="1200" dirty="0">
                        <a:solidFill>
                          <a:schemeClr val="tx1"/>
                        </a:solidFill>
                        <a:latin typeface="+mn-lt"/>
                        <a:ea typeface="+mn-ea"/>
                        <a:cs typeface="+mn-cs"/>
                      </a:endParaRPr>
                    </a:p>
                  </a:txBody>
                  <a:tcPr>
                    <a:solidFill>
                      <a:schemeClr val="bg1">
                        <a:lumMod val="75000"/>
                        <a:alpha val="20000"/>
                      </a:schemeClr>
                    </a:solidFill>
                  </a:tcPr>
                </a:tc>
                <a:extLst>
                  <a:ext uri="{0D108BD9-81ED-4DB2-BD59-A6C34878D82A}">
                    <a16:rowId xmlns:a16="http://schemas.microsoft.com/office/drawing/2014/main" val="3030540745"/>
                  </a:ext>
                </a:extLst>
              </a:tr>
              <a:tr h="4094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a:t>Achat du fournisseur</a:t>
                      </a:r>
                    </a:p>
                  </a:txBody>
                  <a:tcPr>
                    <a:noFill/>
                  </a:tcPr>
                </a:tc>
                <a:tc>
                  <a:txBody>
                    <a:bodyPr/>
                    <a:lstStyle/>
                    <a:p>
                      <a:endParaRPr lang="fr-CA" sz="1600" u="sng" dirty="0"/>
                    </a:p>
                  </a:txBody>
                  <a:tcPr>
                    <a:noFill/>
                  </a:tcPr>
                </a:tc>
                <a:extLst>
                  <a:ext uri="{0D108BD9-81ED-4DB2-BD59-A6C34878D82A}">
                    <a16:rowId xmlns:a16="http://schemas.microsoft.com/office/drawing/2014/main" val="2801821692"/>
                  </a:ext>
                </a:extLst>
              </a:tr>
              <a:tr h="4094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b="0" dirty="0"/>
                        <a:t>     </a:t>
                      </a:r>
                      <a:endParaRPr lang="fr-CA" sz="1800" u="sng" dirty="0"/>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sz="1800" u="none" kern="1200" dirty="0">
                        <a:solidFill>
                          <a:schemeClr val="tx1"/>
                        </a:solidFill>
                        <a:latin typeface="+mn-lt"/>
                        <a:ea typeface="+mn-ea"/>
                        <a:cs typeface="+mn-cs"/>
                      </a:endParaRPr>
                    </a:p>
                  </a:txBody>
                  <a:tcPr>
                    <a:noFill/>
                  </a:tcPr>
                </a:tc>
                <a:extLst>
                  <a:ext uri="{0D108BD9-81ED-4DB2-BD59-A6C34878D82A}">
                    <a16:rowId xmlns:a16="http://schemas.microsoft.com/office/drawing/2014/main" val="3563043164"/>
                  </a:ext>
                </a:extLst>
              </a:tr>
              <a:tr h="10095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FGF fixes spécifiques</a:t>
                      </a:r>
                    </a:p>
                    <a:p>
                      <a:pPr algn="l"/>
                      <a:endParaRPr lang="fr-CA" dirty="0"/>
                    </a:p>
                    <a:p>
                      <a:pPr algn="l"/>
                      <a:r>
                        <a:rPr lang="fr-CA" dirty="0"/>
                        <a:t>FGF fixes communs</a:t>
                      </a:r>
                    </a:p>
                  </a:txBody>
                  <a:tcPr>
                    <a:solidFill>
                      <a:schemeClr val="bg1">
                        <a:lumMod val="95000"/>
                      </a:schemeClr>
                    </a:solidFill>
                  </a:tcPr>
                </a:tc>
                <a:tc>
                  <a:txBody>
                    <a:bodyPr/>
                    <a:lstStyle/>
                    <a:p>
                      <a:endParaRPr lang="fr-CA" sz="1800" u="none" kern="1200" dirty="0">
                        <a:solidFill>
                          <a:schemeClr val="tx1"/>
                        </a:solidFill>
                        <a:latin typeface="+mn-lt"/>
                        <a:ea typeface="+mn-ea"/>
                        <a:cs typeface="+mn-cs"/>
                      </a:endParaRPr>
                    </a:p>
                  </a:txBody>
                  <a:tcPr>
                    <a:solidFill>
                      <a:schemeClr val="bg1">
                        <a:lumMod val="95000"/>
                      </a:schemeClr>
                    </a:solidFill>
                  </a:tcPr>
                </a:tc>
                <a:extLst>
                  <a:ext uri="{0D108BD9-81ED-4DB2-BD59-A6C34878D82A}">
                    <a16:rowId xmlns:a16="http://schemas.microsoft.com/office/drawing/2014/main" val="97909308"/>
                  </a:ext>
                </a:extLst>
              </a:tr>
              <a:tr h="468425">
                <a:tc>
                  <a:txBody>
                    <a:bodyPr/>
                    <a:lstStyle/>
                    <a:p>
                      <a:r>
                        <a:rPr lang="fr-CA" b="1" dirty="0"/>
                        <a:t>Coût total</a:t>
                      </a:r>
                    </a:p>
                  </a:txBody>
                  <a:tcPr anchor="ctr">
                    <a:noFill/>
                  </a:tcPr>
                </a:tc>
                <a:tc>
                  <a:txBody>
                    <a:bodyPr/>
                    <a:lstStyle/>
                    <a:p>
                      <a:endParaRPr lang="fr-CA" b="1" dirty="0"/>
                    </a:p>
                  </a:txBody>
                  <a:tcPr anchor="ctr">
                    <a:noFill/>
                  </a:tcPr>
                </a:tc>
                <a:extLst>
                  <a:ext uri="{0D108BD9-81ED-4DB2-BD59-A6C34878D82A}">
                    <a16:rowId xmlns:a16="http://schemas.microsoft.com/office/drawing/2014/main" val="3413345020"/>
                  </a:ext>
                </a:extLst>
              </a:tr>
            </a:tbl>
          </a:graphicData>
        </a:graphic>
      </p:graphicFrame>
    </p:spTree>
    <p:extLst>
      <p:ext uri="{BB962C8B-B14F-4D97-AF65-F5344CB8AC3E}">
        <p14:creationId xmlns:p14="http://schemas.microsoft.com/office/powerpoint/2010/main" val="30471228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CF82DD-CE65-4D62-A0C8-5B053DA83286}"/>
              </a:ext>
            </a:extLst>
          </p:cNvPr>
          <p:cNvSpPr>
            <a:spLocks noGrp="1"/>
          </p:cNvSpPr>
          <p:nvPr>
            <p:ph type="title"/>
            <p:custDataLst>
              <p:tags r:id="rId1"/>
            </p:custDataLst>
          </p:nvPr>
        </p:nvSpPr>
        <p:spPr/>
        <p:txBody>
          <a:bodyPr vert="horz" lIns="91440" tIns="45720" rIns="91440" bIns="45720" rtlCol="0" anchor="ctr">
            <a:noAutofit/>
          </a:bodyPr>
          <a:lstStyle/>
          <a:p>
            <a:r>
              <a:rPr lang="fr-CA" sz="3600" dirty="0"/>
              <a:t>Fabriquer ou acheter (sous-traiter) un produit</a:t>
            </a:r>
            <a:br>
              <a:rPr lang="fr-CA" sz="3600" dirty="0"/>
            </a:br>
            <a:r>
              <a:rPr lang="fr-CA" sz="3600" dirty="0"/>
              <a:t>Situation avec un </a:t>
            </a:r>
            <a:r>
              <a:rPr lang="fr-CA" sz="3600" b="1" dirty="0"/>
              <a:t>Coût de renonciation</a:t>
            </a:r>
            <a:endParaRPr lang="fr-CA" sz="4000" b="1" dirty="0">
              <a:highlight>
                <a:srgbClr val="FFFF00"/>
              </a:highlight>
              <a:cs typeface="Calibri Light" panose="020F0302020204030204"/>
            </a:endParaRPr>
          </a:p>
        </p:txBody>
      </p:sp>
      <p:sp>
        <p:nvSpPr>
          <p:cNvPr id="3" name="Espace réservé du contenu 2">
            <a:extLst>
              <a:ext uri="{FF2B5EF4-FFF2-40B4-BE49-F238E27FC236}">
                <a16:creationId xmlns:a16="http://schemas.microsoft.com/office/drawing/2014/main" id="{DD8A8FE6-C7ED-46D3-992B-1380607B4F82}"/>
              </a:ext>
            </a:extLst>
          </p:cNvPr>
          <p:cNvSpPr>
            <a:spLocks noGrp="1"/>
          </p:cNvSpPr>
          <p:nvPr>
            <p:ph idx="1"/>
            <p:custDataLst>
              <p:tags r:id="rId2"/>
            </p:custDataLst>
          </p:nvPr>
        </p:nvSpPr>
        <p:spPr>
          <a:xfrm>
            <a:off x="795435" y="1612901"/>
            <a:ext cx="10601130" cy="3242012"/>
          </a:xfrm>
        </p:spPr>
        <p:txBody>
          <a:bodyPr vert="horz" lIns="91440" tIns="45720" rIns="91440" bIns="45720" rtlCol="0" anchor="t">
            <a:normAutofit/>
          </a:bodyPr>
          <a:lstStyle/>
          <a:p>
            <a:pPr marL="0" indent="0">
              <a:buNone/>
            </a:pPr>
            <a:r>
              <a:rPr lang="fr-CA" sz="2400" dirty="0"/>
              <a:t>S'il existe une autre opportunité d'utiliser la capacité de production dégagée par le fait que nous avons sous-traité une partie de la production, alors il faut considérer un coût de renonciation dans notre prise de décision. </a:t>
            </a:r>
          </a:p>
          <a:p>
            <a:pPr marL="0" indent="0">
              <a:buNone/>
            </a:pPr>
            <a:r>
              <a:rPr lang="fr-CA" sz="2400" dirty="0">
                <a:ea typeface="+mn-lt"/>
                <a:cs typeface="+mn-lt"/>
              </a:rPr>
              <a:t>Dans le cas où ABC achète les pièces du fournisseur, l'entreprise pourrait utiliser la capacité de production libérée pour générer un résultat additionnel de 100 000 $ en produisant 50 000 unités du L900, un autre produit qu’elle fabrique déjà.</a:t>
            </a:r>
          </a:p>
          <a:p>
            <a:pPr marL="0" indent="0">
              <a:buNone/>
            </a:pPr>
            <a:r>
              <a:rPr lang="fr-CA" sz="2400" i="1" dirty="0">
                <a:ea typeface="+mn-lt"/>
                <a:cs typeface="+mn-lt"/>
              </a:rPr>
              <a:t>Rappel : un </a:t>
            </a:r>
            <a:r>
              <a:rPr lang="fr-CA" sz="2400" b="1" i="1" dirty="0">
                <a:ea typeface="+mn-lt"/>
                <a:cs typeface="+mn-lt"/>
              </a:rPr>
              <a:t>coût de renonciation </a:t>
            </a:r>
            <a:r>
              <a:rPr lang="fr-CA" sz="2400" i="1" dirty="0">
                <a:ea typeface="+mn-lt"/>
                <a:cs typeface="+mn-lt"/>
              </a:rPr>
              <a:t>est un manque à gagner causé par la renonciation à une option considérée comme la meilleure après celle qui a été choisie.</a:t>
            </a:r>
            <a:endParaRPr lang="fr-CA" sz="2400" dirty="0"/>
          </a:p>
          <a:p>
            <a:pPr marL="0" indent="0">
              <a:buNone/>
            </a:pPr>
            <a:endParaRPr lang="fr-CA" sz="2000" i="1" dirty="0"/>
          </a:p>
        </p:txBody>
      </p:sp>
      <p:sp>
        <p:nvSpPr>
          <p:cNvPr id="4" name="Espace réservé du pied de page 3">
            <a:extLst>
              <a:ext uri="{FF2B5EF4-FFF2-40B4-BE49-F238E27FC236}">
                <a16:creationId xmlns:a16="http://schemas.microsoft.com/office/drawing/2014/main" id="{8178F2FB-6289-3803-4180-B3F3AD110E23}"/>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CCA8627F-B03A-833F-2BC2-0EFCD89E9106}"/>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30</a:t>
            </a:fld>
            <a:endParaRPr lang="fr-CA">
              <a:solidFill>
                <a:prstClr val="black">
                  <a:tint val="75000"/>
                </a:prstClr>
              </a:solidFill>
            </a:endParaRPr>
          </a:p>
        </p:txBody>
      </p:sp>
    </p:spTree>
    <p:extLst>
      <p:ext uri="{BB962C8B-B14F-4D97-AF65-F5344CB8AC3E}">
        <p14:creationId xmlns:p14="http://schemas.microsoft.com/office/powerpoint/2010/main" val="4851836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265ABC-C344-42C7-B624-82031417585B}"/>
              </a:ext>
            </a:extLst>
          </p:cNvPr>
          <p:cNvSpPr>
            <a:spLocks noGrp="1"/>
          </p:cNvSpPr>
          <p:nvPr>
            <p:ph type="title"/>
            <p:custDataLst>
              <p:tags r:id="rId1"/>
            </p:custDataLst>
          </p:nvPr>
        </p:nvSpPr>
        <p:spPr>
          <a:xfrm>
            <a:off x="838200" y="160589"/>
            <a:ext cx="10958848" cy="1042570"/>
          </a:xfrm>
        </p:spPr>
        <p:txBody>
          <a:bodyPr vert="horz" lIns="91440" tIns="45720" rIns="91440" bIns="45720" rtlCol="0" anchor="ctr">
            <a:noAutofit/>
          </a:bodyPr>
          <a:lstStyle/>
          <a:p>
            <a:r>
              <a:rPr lang="fr-CA" sz="4000" b="1" dirty="0"/>
              <a:t>Analyse différentielle -</a:t>
            </a:r>
            <a:r>
              <a:rPr lang="fr-CA" sz="4000" dirty="0"/>
              <a:t> Fabriquer ou acheter </a:t>
            </a:r>
            <a:r>
              <a:rPr lang="fr-CA" sz="3200" dirty="0"/>
              <a:t>(étudiants)</a:t>
            </a:r>
            <a:br>
              <a:rPr lang="fr-CA" sz="3200" dirty="0"/>
            </a:br>
            <a:r>
              <a:rPr lang="fr-CA" sz="3200" dirty="0"/>
              <a:t>avec un coût de renonciation</a:t>
            </a:r>
            <a:endParaRPr lang="fr-CA" sz="3000" b="1" dirty="0">
              <a:highlight>
                <a:srgbClr val="FFFF00"/>
              </a:highlight>
            </a:endParaRPr>
          </a:p>
        </p:txBody>
      </p:sp>
      <p:graphicFrame>
        <p:nvGraphicFramePr>
          <p:cNvPr id="6" name="Tableau 6">
            <a:extLst>
              <a:ext uri="{FF2B5EF4-FFF2-40B4-BE49-F238E27FC236}">
                <a16:creationId xmlns:a16="http://schemas.microsoft.com/office/drawing/2014/main" id="{D73F9948-D4F1-4BB4-8391-FF8FD33CA06C}"/>
              </a:ext>
            </a:extLst>
          </p:cNvPr>
          <p:cNvGraphicFramePr>
            <a:graphicFrameLocks noGrp="1"/>
          </p:cNvGraphicFramePr>
          <p:nvPr>
            <p:custDataLst>
              <p:tags r:id="rId2"/>
            </p:custDataLst>
          </p:nvPr>
        </p:nvGraphicFramePr>
        <p:xfrm>
          <a:off x="838200" y="1880581"/>
          <a:ext cx="10003169" cy="4533287"/>
        </p:xfrm>
        <a:graphic>
          <a:graphicData uri="http://schemas.openxmlformats.org/drawingml/2006/table">
            <a:tbl>
              <a:tblPr firstRow="1" bandRow="1">
                <a:tableStyleId>{9D7B26C5-4107-4FEC-AEDC-1716B250A1EF}</a:tableStyleId>
              </a:tblPr>
              <a:tblGrid>
                <a:gridCol w="3106610">
                  <a:extLst>
                    <a:ext uri="{9D8B030D-6E8A-4147-A177-3AD203B41FA5}">
                      <a16:colId xmlns:a16="http://schemas.microsoft.com/office/drawing/2014/main" val="3526071591"/>
                    </a:ext>
                  </a:extLst>
                </a:gridCol>
                <a:gridCol w="1839817">
                  <a:extLst>
                    <a:ext uri="{9D8B030D-6E8A-4147-A177-3AD203B41FA5}">
                      <a16:colId xmlns:a16="http://schemas.microsoft.com/office/drawing/2014/main" val="3073064839"/>
                    </a:ext>
                  </a:extLst>
                </a:gridCol>
                <a:gridCol w="1746698">
                  <a:extLst>
                    <a:ext uri="{9D8B030D-6E8A-4147-A177-3AD203B41FA5}">
                      <a16:colId xmlns:a16="http://schemas.microsoft.com/office/drawing/2014/main" val="2611129504"/>
                    </a:ext>
                  </a:extLst>
                </a:gridCol>
                <a:gridCol w="3310044">
                  <a:extLst>
                    <a:ext uri="{9D8B030D-6E8A-4147-A177-3AD203B41FA5}">
                      <a16:colId xmlns:a16="http://schemas.microsoft.com/office/drawing/2014/main" val="3612815205"/>
                    </a:ext>
                  </a:extLst>
                </a:gridCol>
              </a:tblGrid>
              <a:tr h="491156">
                <a:tc>
                  <a:txBody>
                    <a:bodyPr/>
                    <a:lstStyle/>
                    <a:p>
                      <a:endParaRPr lang="fr-CA" u="sng" dirty="0">
                        <a:solidFill>
                          <a:srgbClr val="FF0000"/>
                        </a:solidFill>
                      </a:endParaRPr>
                    </a:p>
                  </a:txBody>
                  <a:tcPr anchor="ctr"/>
                </a:tc>
                <a:tc>
                  <a:txBody>
                    <a:bodyPr/>
                    <a:lstStyle/>
                    <a:p>
                      <a:r>
                        <a:rPr lang="fr-CA" sz="2000"/>
                        <a:t>Alternative A</a:t>
                      </a:r>
                    </a:p>
                    <a:p>
                      <a:r>
                        <a:rPr lang="fr-CA" sz="2000" b="0"/>
                        <a:t>Fabriquer</a:t>
                      </a:r>
                    </a:p>
                  </a:txBody>
                  <a:tcPr anchor="ctr"/>
                </a:tc>
                <a:tc>
                  <a:txBody>
                    <a:bodyPr/>
                    <a:lstStyle/>
                    <a:p>
                      <a:r>
                        <a:rPr lang="fr-CA" sz="2000" b="1"/>
                        <a:t>Alternative B</a:t>
                      </a:r>
                    </a:p>
                    <a:p>
                      <a:r>
                        <a:rPr lang="fr-CA" sz="2000" b="0"/>
                        <a:t>Acheter</a:t>
                      </a:r>
                    </a:p>
                  </a:txBody>
                  <a:tcPr anchor="ctr"/>
                </a:tc>
                <a:tc>
                  <a:txBody>
                    <a:bodyPr/>
                    <a:lstStyle/>
                    <a:p>
                      <a:pPr algn="ctr"/>
                      <a:r>
                        <a:rPr lang="fr-CA"/>
                        <a:t>Analyse Différentielle</a:t>
                      </a:r>
                    </a:p>
                    <a:p>
                      <a:pPr algn="ctr"/>
                      <a:r>
                        <a:rPr lang="fr-CA"/>
                        <a:t>Impact sur le résultat si </a:t>
                      </a:r>
                      <a:r>
                        <a:rPr lang="fr-CA" u="sng"/>
                        <a:t>achat</a:t>
                      </a:r>
                      <a:r>
                        <a:rPr lang="fr-CA"/>
                        <a:t>: </a:t>
                      </a:r>
                    </a:p>
                    <a:p>
                      <a:pPr algn="ctr"/>
                      <a:r>
                        <a:rPr lang="fr-CA"/>
                        <a:t>Augmentation ou (diminution)</a:t>
                      </a:r>
                    </a:p>
                  </a:txBody>
                  <a:tcPr/>
                </a:tc>
                <a:extLst>
                  <a:ext uri="{0D108BD9-81ED-4DB2-BD59-A6C34878D82A}">
                    <a16:rowId xmlns:a16="http://schemas.microsoft.com/office/drawing/2014/main" val="415551037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a:t>Matières premières</a:t>
                      </a:r>
                    </a:p>
                  </a:txBody>
                  <a:tcPr>
                    <a:solidFill>
                      <a:schemeClr val="bg1">
                        <a:lumMod val="75000"/>
                        <a:alpha val="20000"/>
                      </a:schemeClr>
                    </a:solidFill>
                  </a:tcPr>
                </a:tc>
                <a:tc>
                  <a:txBody>
                    <a:bodyPr/>
                    <a:lstStyle/>
                    <a:p>
                      <a:r>
                        <a:rPr lang="fr-CA"/>
                        <a:t>125 000 $</a:t>
                      </a:r>
                      <a:endParaRPr lang="fr-CA">
                        <a:solidFill>
                          <a:schemeClr val="tx1"/>
                        </a:solidFill>
                      </a:endParaRPr>
                    </a:p>
                  </a:txBody>
                  <a:tcPr>
                    <a:solidFill>
                      <a:schemeClr val="bg1">
                        <a:lumMod val="75000"/>
                        <a:alpha val="20000"/>
                      </a:schemeClr>
                    </a:solidFill>
                  </a:tcPr>
                </a:tc>
                <a:tc>
                  <a:txBody>
                    <a:bodyPr/>
                    <a:lstStyle/>
                    <a:p>
                      <a:endParaRPr lang="fr-CA" sz="1600"/>
                    </a:p>
                  </a:txBody>
                  <a:tcPr>
                    <a:solidFill>
                      <a:schemeClr val="bg1">
                        <a:lumMod val="75000"/>
                        <a:alpha val="20000"/>
                      </a:schemeClr>
                    </a:solidFill>
                  </a:tcPr>
                </a:tc>
                <a:tc>
                  <a:txBody>
                    <a:bodyPr/>
                    <a:lstStyle/>
                    <a:p>
                      <a:r>
                        <a:rPr lang="fr-CA"/>
                        <a:t>125 000 $</a:t>
                      </a:r>
                      <a:endParaRPr lang="fr-CA">
                        <a:solidFill>
                          <a:schemeClr val="tx1"/>
                        </a:solidFill>
                      </a:endParaRPr>
                    </a:p>
                  </a:txBody>
                  <a:tcPr>
                    <a:solidFill>
                      <a:schemeClr val="bg1">
                        <a:lumMod val="75000"/>
                        <a:alpha val="20000"/>
                      </a:schemeClr>
                    </a:solidFill>
                  </a:tcPr>
                </a:tc>
                <a:extLst>
                  <a:ext uri="{0D108BD9-81ED-4DB2-BD59-A6C34878D82A}">
                    <a16:rowId xmlns:a16="http://schemas.microsoft.com/office/drawing/2014/main" val="1303404451"/>
                  </a:ext>
                </a:extLst>
              </a:tr>
              <a:tr h="370840">
                <a:tc>
                  <a:txBody>
                    <a:bodyPr/>
                    <a:lstStyle/>
                    <a:p>
                      <a:r>
                        <a:rPr lang="fr-CA"/>
                        <a:t>Salaires des employés de production</a:t>
                      </a:r>
                      <a:endParaRPr lang="fr-CA" sz="1600" kern="1200">
                        <a:solidFill>
                          <a:schemeClr val="tx1"/>
                        </a:solidFill>
                        <a:latin typeface="+mn-lt"/>
                        <a:ea typeface="+mn-ea"/>
                        <a:cs typeface="+mn-cs"/>
                      </a:endParaRPr>
                    </a:p>
                  </a:txBody>
                  <a:tcPr/>
                </a:tc>
                <a:tc>
                  <a:txBody>
                    <a:bodyPr/>
                    <a:lstStyle/>
                    <a:p>
                      <a:r>
                        <a:rPr lang="fr-CA"/>
                        <a:t>  62 500 $</a:t>
                      </a:r>
                      <a:endParaRPr lang="fr-CA">
                        <a:solidFill>
                          <a:schemeClr val="tx1"/>
                        </a:solidFill>
                      </a:endParaRPr>
                    </a:p>
                  </a:txBody>
                  <a:tcPr/>
                </a:tc>
                <a:tc>
                  <a:txBody>
                    <a:bodyPr/>
                    <a:lstStyle/>
                    <a:p>
                      <a:endParaRPr lang="fr-CA" sz="1600"/>
                    </a:p>
                  </a:txBody>
                  <a:tcPr/>
                </a:tc>
                <a:tc>
                  <a:txBody>
                    <a:bodyPr/>
                    <a:lstStyle/>
                    <a:p>
                      <a:r>
                        <a:rPr lang="fr-CA"/>
                        <a:t>  62 500 $</a:t>
                      </a:r>
                      <a:endParaRPr lang="fr-CA">
                        <a:solidFill>
                          <a:schemeClr val="tx1"/>
                        </a:solidFill>
                      </a:endParaRPr>
                    </a:p>
                  </a:txBody>
                  <a:tcPr/>
                </a:tc>
                <a:extLst>
                  <a:ext uri="{0D108BD9-81ED-4DB2-BD59-A6C34878D82A}">
                    <a16:rowId xmlns:a16="http://schemas.microsoft.com/office/drawing/2014/main" val="220123461"/>
                  </a:ext>
                </a:extLst>
              </a:tr>
              <a:tr h="377635">
                <a:tc>
                  <a:txBody>
                    <a:bodyPr/>
                    <a:lstStyle/>
                    <a:p>
                      <a:r>
                        <a:rPr lang="fr-CA"/>
                        <a:t>FGF variables</a:t>
                      </a:r>
                    </a:p>
                  </a:txBody>
                  <a:tcPr>
                    <a:solidFill>
                      <a:schemeClr val="bg1">
                        <a:lumMod val="75000"/>
                        <a:alpha val="20000"/>
                      </a:schemeClr>
                    </a:solidFill>
                  </a:tcPr>
                </a:tc>
                <a:tc>
                  <a:txBody>
                    <a:bodyPr/>
                    <a:lstStyle/>
                    <a:p>
                      <a:r>
                        <a:rPr lang="fr-CA" u="none"/>
                        <a:t>  87 500 $</a:t>
                      </a:r>
                    </a:p>
                  </a:txBody>
                  <a:tcPr>
                    <a:solidFill>
                      <a:schemeClr val="bg1">
                        <a:lumMod val="75000"/>
                        <a:alpha val="2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sz="1600" kern="1200">
                        <a:solidFill>
                          <a:schemeClr val="tx1"/>
                        </a:solidFill>
                        <a:latin typeface="+mn-lt"/>
                        <a:ea typeface="+mn-ea"/>
                        <a:cs typeface="+mn-cs"/>
                      </a:endParaRPr>
                    </a:p>
                  </a:txBody>
                  <a:tcPr>
                    <a:solidFill>
                      <a:schemeClr val="bg1">
                        <a:lumMod val="75000"/>
                        <a:alpha val="20000"/>
                      </a:schemeClr>
                    </a:solidFill>
                  </a:tcPr>
                </a:tc>
                <a:tc>
                  <a:txBody>
                    <a:bodyPr/>
                    <a:lstStyle/>
                    <a:p>
                      <a:r>
                        <a:rPr lang="fr-CA" u="none"/>
                        <a:t>  87 500 $</a:t>
                      </a:r>
                    </a:p>
                  </a:txBody>
                  <a:tcPr>
                    <a:solidFill>
                      <a:schemeClr val="bg1">
                        <a:lumMod val="75000"/>
                        <a:alpha val="20000"/>
                      </a:schemeClr>
                    </a:solidFill>
                  </a:tcPr>
                </a:tc>
                <a:extLst>
                  <a:ext uri="{0D108BD9-81ED-4DB2-BD59-A6C34878D82A}">
                    <a16:rowId xmlns:a16="http://schemas.microsoft.com/office/drawing/2014/main" val="303054074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a:t>Achat du fournisseur</a:t>
                      </a:r>
                    </a:p>
                  </a:txBody>
                  <a:tcPr>
                    <a:noFill/>
                  </a:tcPr>
                </a:tc>
                <a:tc>
                  <a:txBody>
                    <a:bodyPr/>
                    <a:lstStyle/>
                    <a:p>
                      <a:endParaRPr lang="fr-CA" sz="1600" u="sng"/>
                    </a:p>
                  </a:txBody>
                  <a:tcPr>
                    <a:noFill/>
                  </a:tcPr>
                </a:tc>
                <a:tc>
                  <a:txBody>
                    <a:bodyPr/>
                    <a:lstStyle/>
                    <a:p>
                      <a:endParaRPr lang="fr-CA" sz="1600" u="sng"/>
                    </a:p>
                  </a:txBody>
                  <a:tcPr>
                    <a:noFill/>
                  </a:tcPr>
                </a:tc>
                <a:tc>
                  <a:txBody>
                    <a:bodyPr/>
                    <a:lstStyle/>
                    <a:p>
                      <a:endParaRPr lang="fr-CA" u="sng">
                        <a:solidFill>
                          <a:schemeClr val="tx1"/>
                        </a:solidFill>
                      </a:endParaRPr>
                    </a:p>
                  </a:txBody>
                  <a:tcPr>
                    <a:noFill/>
                  </a:tcPr>
                </a:tc>
                <a:extLst>
                  <a:ext uri="{0D108BD9-81ED-4DB2-BD59-A6C34878D82A}">
                    <a16:rowId xmlns:a16="http://schemas.microsoft.com/office/drawing/2014/main" val="280182169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b="0"/>
                        <a:t>     (</a:t>
                      </a:r>
                      <a:r>
                        <a:rPr lang="fr-CA" sz="1800" b="1"/>
                        <a:t>7,75 $</a:t>
                      </a:r>
                      <a:r>
                        <a:rPr lang="fr-CA" sz="1800"/>
                        <a:t> x 50 000 unités)</a:t>
                      </a:r>
                      <a:endParaRPr lang="fr-CA" sz="1800" u="sng"/>
                    </a:p>
                  </a:txBody>
                  <a:tcPr>
                    <a:noFill/>
                  </a:tcPr>
                </a:tc>
                <a:tc>
                  <a:txBody>
                    <a:bodyPr/>
                    <a:lstStyle/>
                    <a:p>
                      <a:endParaRPr lang="fr-CA" sz="1600" u="sng"/>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u="none" kern="1200">
                          <a:solidFill>
                            <a:schemeClr val="tx1"/>
                          </a:solidFill>
                          <a:latin typeface="+mn-lt"/>
                          <a:ea typeface="+mn-ea"/>
                          <a:cs typeface="+mn-cs"/>
                        </a:rPr>
                        <a:t>387 500 $</a:t>
                      </a:r>
                    </a:p>
                  </a:txBody>
                  <a:tcPr>
                    <a:noFill/>
                  </a:tcPr>
                </a:tc>
                <a:tc>
                  <a:txBody>
                    <a:bodyPr/>
                    <a:lstStyle/>
                    <a:p>
                      <a:r>
                        <a:rPr lang="fr-CA" u="none" dirty="0"/>
                        <a:t>(387 500) $</a:t>
                      </a:r>
                      <a:endParaRPr lang="fr-CA" u="none" dirty="0">
                        <a:solidFill>
                          <a:schemeClr val="tx1"/>
                        </a:solidFill>
                      </a:endParaRPr>
                    </a:p>
                  </a:txBody>
                  <a:tcPr>
                    <a:noFill/>
                  </a:tcPr>
                </a:tc>
                <a:extLst>
                  <a:ext uri="{0D108BD9-81ED-4DB2-BD59-A6C34878D82A}">
                    <a16:rowId xmlns:a16="http://schemas.microsoft.com/office/drawing/2014/main" val="3563043164"/>
                  </a:ext>
                </a:extLst>
              </a:tr>
              <a:tr h="424286">
                <a:tc>
                  <a:txBody>
                    <a:bodyPr/>
                    <a:lstStyle/>
                    <a:p>
                      <a:pPr algn="l"/>
                      <a:r>
                        <a:rPr lang="fr-CA" dirty="0"/>
                        <a:t>FGF fixes spécifiques</a:t>
                      </a:r>
                    </a:p>
                    <a:p>
                      <a:pPr algn="l"/>
                      <a:r>
                        <a:rPr lang="fr-CA" dirty="0"/>
                        <a:t>FGF fixes communs </a:t>
                      </a:r>
                    </a:p>
                  </a:txBody>
                  <a:tcPr>
                    <a:solidFill>
                      <a:schemeClr val="bg1">
                        <a:lumMod val="95000"/>
                      </a:schemeClr>
                    </a:solidFill>
                  </a:tcPr>
                </a:tc>
                <a:tc>
                  <a:txBody>
                    <a:bodyPr/>
                    <a:lstStyle/>
                    <a:p>
                      <a:r>
                        <a:rPr lang="fr-CA" sz="1800" u="none" kern="1200" dirty="0">
                          <a:solidFill>
                            <a:schemeClr val="tx1"/>
                          </a:solidFill>
                          <a:latin typeface="+mn-lt"/>
                          <a:ea typeface="+mn-ea"/>
                          <a:cs typeface="+mn-cs"/>
                        </a:rPr>
                        <a:t>25 000 $</a:t>
                      </a:r>
                    </a:p>
                    <a:p>
                      <a:r>
                        <a:rPr lang="fr-CA" sz="1800" u="none" kern="1200" dirty="0">
                          <a:solidFill>
                            <a:schemeClr val="tx1"/>
                          </a:solidFill>
                          <a:latin typeface="+mn-lt"/>
                          <a:ea typeface="+mn-ea"/>
                          <a:cs typeface="+mn-cs"/>
                        </a:rPr>
                        <a:t>150 000 $</a:t>
                      </a:r>
                    </a:p>
                  </a:txBody>
                  <a:tcPr>
                    <a:solidFill>
                      <a:schemeClr val="bg1">
                        <a:lumMod val="95000"/>
                      </a:schemeClr>
                    </a:solidFill>
                  </a:tcPr>
                </a:tc>
                <a:tc>
                  <a:txBody>
                    <a:bodyPr/>
                    <a:lstStyle/>
                    <a:p>
                      <a:r>
                        <a:rPr lang="fr-CA" sz="1800" u="none" kern="1200" dirty="0">
                          <a:solidFill>
                            <a:schemeClr val="tx1"/>
                          </a:solidFill>
                          <a:latin typeface="+mn-lt"/>
                          <a:ea typeface="+mn-ea"/>
                          <a:cs typeface="+mn-cs"/>
                        </a:rPr>
                        <a:t>0 $</a:t>
                      </a:r>
                    </a:p>
                    <a:p>
                      <a:r>
                        <a:rPr lang="fr-CA" sz="1800" u="none" kern="1200" dirty="0">
                          <a:solidFill>
                            <a:schemeClr val="tx1"/>
                          </a:solidFill>
                          <a:latin typeface="+mn-lt"/>
                          <a:ea typeface="+mn-ea"/>
                          <a:cs typeface="+mn-cs"/>
                        </a:rPr>
                        <a:t>150 000 $</a:t>
                      </a:r>
                    </a:p>
                  </a:txBody>
                  <a:tcPr>
                    <a:solidFill>
                      <a:schemeClr val="bg1">
                        <a:lumMod val="95000"/>
                      </a:schemeClr>
                    </a:solidFill>
                  </a:tcPr>
                </a:tc>
                <a:tc>
                  <a:txBody>
                    <a:bodyPr/>
                    <a:lstStyle/>
                    <a:p>
                      <a:r>
                        <a:rPr lang="fr-CA" u="none" dirty="0">
                          <a:solidFill>
                            <a:schemeClr val="tx1"/>
                          </a:solidFill>
                        </a:rPr>
                        <a:t>  25 000 $</a:t>
                      </a:r>
                    </a:p>
                    <a:p>
                      <a:r>
                        <a:rPr lang="fr-CA" u="none" dirty="0">
                          <a:solidFill>
                            <a:schemeClr val="tx1"/>
                          </a:solidFill>
                        </a:rPr>
                        <a:t>  0 $</a:t>
                      </a:r>
                    </a:p>
                  </a:txBody>
                  <a:tcPr>
                    <a:solidFill>
                      <a:schemeClr val="bg1">
                        <a:lumMod val="95000"/>
                      </a:schemeClr>
                    </a:solidFill>
                  </a:tcPr>
                </a:tc>
                <a:extLst>
                  <a:ext uri="{0D108BD9-81ED-4DB2-BD59-A6C34878D82A}">
                    <a16:rowId xmlns:a16="http://schemas.microsoft.com/office/drawing/2014/main" val="97909308"/>
                  </a:ext>
                </a:extLst>
              </a:tr>
              <a:tr h="424286">
                <a:tc>
                  <a:txBody>
                    <a:bodyPr/>
                    <a:lstStyle/>
                    <a:p>
                      <a:r>
                        <a:rPr lang="fr-CA" b="1"/>
                        <a:t>Coût de renonciation </a:t>
                      </a:r>
                    </a:p>
                  </a:txBody>
                  <a:tcPr anchor="ctr">
                    <a:noFill/>
                  </a:tcPr>
                </a:tc>
                <a:tc>
                  <a:txBody>
                    <a:bodyPr/>
                    <a:lstStyle/>
                    <a:p>
                      <a:r>
                        <a:rPr lang="fr-CA" b="1">
                          <a:solidFill>
                            <a:srgbClr val="C00000"/>
                          </a:solidFill>
                        </a:rPr>
                        <a:t>100 000 $</a:t>
                      </a:r>
                    </a:p>
                  </a:txBody>
                  <a:tcPr anchor="ctr">
                    <a:noFill/>
                  </a:tcPr>
                </a:tc>
                <a:tc>
                  <a:txBody>
                    <a:bodyPr/>
                    <a:lstStyle/>
                    <a:p>
                      <a:r>
                        <a:rPr lang="fr-CA" b="1"/>
                        <a:t>-</a:t>
                      </a:r>
                    </a:p>
                  </a:txBody>
                  <a:tcPr anchor="ctr">
                    <a:noFill/>
                  </a:tcPr>
                </a:tc>
                <a:tc>
                  <a:txBody>
                    <a:bodyPr/>
                    <a:lstStyle/>
                    <a:p>
                      <a:r>
                        <a:rPr lang="fr-CA" b="0">
                          <a:solidFill>
                            <a:schemeClr val="tx1"/>
                          </a:solidFill>
                        </a:rPr>
                        <a:t> 100 000 $</a:t>
                      </a:r>
                    </a:p>
                  </a:txBody>
                  <a:tcPr anchor="ctr">
                    <a:noFill/>
                  </a:tcPr>
                </a:tc>
                <a:extLst>
                  <a:ext uri="{0D108BD9-81ED-4DB2-BD59-A6C34878D82A}">
                    <a16:rowId xmlns:a16="http://schemas.microsoft.com/office/drawing/2014/main" val="1085066553"/>
                  </a:ext>
                </a:extLst>
              </a:tr>
              <a:tr h="424286">
                <a:tc>
                  <a:txBody>
                    <a:bodyPr/>
                    <a:lstStyle/>
                    <a:p>
                      <a:r>
                        <a:rPr lang="fr-CA" b="1"/>
                        <a:t>Coût total du BK200</a:t>
                      </a:r>
                    </a:p>
                  </a:txBody>
                  <a:tcPr anchor="ctr">
                    <a:noFill/>
                  </a:tcPr>
                </a:tc>
                <a:tc>
                  <a:txBody>
                    <a:bodyPr/>
                    <a:lstStyle/>
                    <a:p>
                      <a:r>
                        <a:rPr lang="fr-CA" b="1"/>
                        <a:t>550 000 $</a:t>
                      </a:r>
                    </a:p>
                  </a:txBody>
                  <a:tcPr anchor="ctr">
                    <a:noFill/>
                  </a:tcPr>
                </a:tc>
                <a:tc>
                  <a:txBody>
                    <a:bodyPr/>
                    <a:lstStyle/>
                    <a:p>
                      <a:r>
                        <a:rPr lang="fr-CA" b="1"/>
                        <a:t>537 500 $</a:t>
                      </a:r>
                    </a:p>
                  </a:txBody>
                  <a:tcPr anchor="ctr">
                    <a:noFill/>
                  </a:tcPr>
                </a:tc>
                <a:tc>
                  <a:txBody>
                    <a:bodyPr/>
                    <a:lstStyle/>
                    <a:p>
                      <a:r>
                        <a:rPr lang="fr-CA" b="1" dirty="0"/>
                        <a:t>12 500 $</a:t>
                      </a:r>
                      <a:endParaRPr lang="fr-CA" b="1" dirty="0">
                        <a:solidFill>
                          <a:srgbClr val="C00000"/>
                        </a:solidFill>
                      </a:endParaRPr>
                    </a:p>
                  </a:txBody>
                  <a:tcPr anchor="ctr">
                    <a:noFill/>
                  </a:tcPr>
                </a:tc>
                <a:extLst>
                  <a:ext uri="{0D108BD9-81ED-4DB2-BD59-A6C34878D82A}">
                    <a16:rowId xmlns:a16="http://schemas.microsoft.com/office/drawing/2014/main" val="3413345020"/>
                  </a:ext>
                </a:extLst>
              </a:tr>
            </a:tbl>
          </a:graphicData>
        </a:graphic>
      </p:graphicFrame>
      <p:sp>
        <p:nvSpPr>
          <p:cNvPr id="3" name="Espace réservé du pied de page 3">
            <a:extLst>
              <a:ext uri="{FF2B5EF4-FFF2-40B4-BE49-F238E27FC236}">
                <a16:creationId xmlns:a16="http://schemas.microsoft.com/office/drawing/2014/main" id="{FFEAFAA4-2589-A3B7-B16F-2A412F96BAC0}"/>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4" name="Espace réservé du numéro de diapositive 4">
            <a:extLst>
              <a:ext uri="{FF2B5EF4-FFF2-40B4-BE49-F238E27FC236}">
                <a16:creationId xmlns:a16="http://schemas.microsoft.com/office/drawing/2014/main" id="{A80A5E05-1DCF-013A-58F9-905E51331873}"/>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31</a:t>
            </a:fld>
            <a:endParaRPr lang="fr-CA">
              <a:solidFill>
                <a:prstClr val="black">
                  <a:tint val="75000"/>
                </a:prstClr>
              </a:solidFill>
            </a:endParaRPr>
          </a:p>
        </p:txBody>
      </p:sp>
    </p:spTree>
    <p:extLst>
      <p:ext uri="{BB962C8B-B14F-4D97-AF65-F5344CB8AC3E}">
        <p14:creationId xmlns:p14="http://schemas.microsoft.com/office/powerpoint/2010/main" val="9861000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p:cNvSpPr>
          <p:nvPr>
            <p:ph type="title"/>
            <p:custDataLst>
              <p:tags r:id="rId2"/>
            </p:custDataLst>
          </p:nvPr>
        </p:nvSpPr>
        <p:spPr>
          <a:xfrm>
            <a:off x="838200" y="160589"/>
            <a:ext cx="10684932" cy="1042570"/>
          </a:xfrm>
        </p:spPr>
        <p:txBody>
          <a:bodyPr>
            <a:noAutofit/>
          </a:bodyPr>
          <a:lstStyle/>
          <a:p>
            <a:br>
              <a:rPr lang="fr-CA" sz="3600" dirty="0"/>
            </a:br>
            <a:r>
              <a:rPr lang="fr-CA" sz="4000" dirty="0"/>
              <a:t>Fabriquer ou acheter (sous-traiter) un produit</a:t>
            </a:r>
            <a:br>
              <a:rPr lang="fr-CA" sz="3600" dirty="0"/>
            </a:br>
            <a:endParaRPr lang="fr-CA" sz="3200" dirty="0"/>
          </a:p>
        </p:txBody>
      </p:sp>
      <p:sp>
        <p:nvSpPr>
          <p:cNvPr id="6" name="Espace réservé du contenu 5"/>
          <p:cNvSpPr>
            <a:spLocks noGrp="1"/>
          </p:cNvSpPr>
          <p:nvPr>
            <p:ph idx="1"/>
            <p:custDataLst>
              <p:tags r:id="rId3"/>
            </p:custDataLst>
          </p:nvPr>
        </p:nvSpPr>
        <p:spPr/>
        <p:txBody>
          <a:bodyPr>
            <a:normAutofit/>
          </a:bodyPr>
          <a:lstStyle/>
          <a:p>
            <a:pPr marL="0" indent="0">
              <a:buNone/>
            </a:pPr>
            <a:r>
              <a:rPr lang="fr-CA" sz="3600"/>
              <a:t>À noter : </a:t>
            </a:r>
          </a:p>
          <a:p>
            <a:r>
              <a:rPr lang="fr-CA"/>
              <a:t>Évidemment, les facteurs</a:t>
            </a:r>
            <a:r>
              <a:rPr lang="fr-CA" b="1"/>
              <a:t> qualitatifs </a:t>
            </a:r>
            <a:r>
              <a:rPr lang="fr-CA"/>
              <a:t>doivent toujours être considérés pour prendre une décision éclairée</a:t>
            </a:r>
          </a:p>
          <a:p>
            <a:pPr lvl="1"/>
            <a:r>
              <a:rPr lang="fr-CA"/>
              <a:t>Par exemple: </a:t>
            </a:r>
          </a:p>
          <a:p>
            <a:pPr lvl="2"/>
            <a:r>
              <a:rPr lang="fr-CA"/>
              <a:t>Est-ce que le fournisseur sera en mesure de fabriquer avec le  même niveau de qualité</a:t>
            </a:r>
            <a:r>
              <a:rPr lang="fr-CA" u="sng"/>
              <a:t> </a:t>
            </a:r>
            <a:r>
              <a:rPr lang="fr-CA"/>
              <a:t>que si nous fabriquons nous-mêmes ?</a:t>
            </a:r>
          </a:p>
          <a:p>
            <a:pPr lvl="2"/>
            <a:r>
              <a:rPr lang="fr-CA"/>
              <a:t>Est-ce que le fournisseur sera en mesure de livrer dans les délais nécessaires à notre production?</a:t>
            </a:r>
          </a:p>
          <a:p>
            <a:pPr lvl="2"/>
            <a:r>
              <a:rPr lang="fr-CA"/>
              <a:t>(…)</a:t>
            </a:r>
          </a:p>
          <a:p>
            <a:pPr lvl="2"/>
            <a:endParaRPr lang="fr-CA"/>
          </a:p>
          <a:p>
            <a:pPr lvl="2"/>
            <a:endParaRPr lang="fr-CA"/>
          </a:p>
          <a:p>
            <a:endParaRPr lang="fr-CA"/>
          </a:p>
        </p:txBody>
      </p:sp>
      <p:sp>
        <p:nvSpPr>
          <p:cNvPr id="2" name="Espace réservé du pied de page 3">
            <a:extLst>
              <a:ext uri="{FF2B5EF4-FFF2-40B4-BE49-F238E27FC236}">
                <a16:creationId xmlns:a16="http://schemas.microsoft.com/office/drawing/2014/main" id="{24EACDB5-C7FB-2914-E747-59A4792B6F76}"/>
              </a:ext>
            </a:extLst>
          </p:cNvPr>
          <p:cNvSpPr>
            <a:spLocks noGrp="1"/>
          </p:cNvSpPr>
          <p:nvPr>
            <p:ph type="ftr" sz="quarter" idx="11"/>
            <p:custDataLst>
              <p:tags r:id="rId4"/>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3" name="Espace réservé du numéro de diapositive 4">
            <a:extLst>
              <a:ext uri="{FF2B5EF4-FFF2-40B4-BE49-F238E27FC236}">
                <a16:creationId xmlns:a16="http://schemas.microsoft.com/office/drawing/2014/main" id="{4C1F262E-1EEB-4C50-DEC9-E58DE29C4A78}"/>
              </a:ext>
            </a:extLst>
          </p:cNvPr>
          <p:cNvSpPr>
            <a:spLocks noGrp="1"/>
          </p:cNvSpPr>
          <p:nvPr>
            <p:ph type="sldNum" sz="quarter" idx="12"/>
            <p:custDataLst>
              <p:tags r:id="rId5"/>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32</a:t>
            </a:fld>
            <a:endParaRPr lang="fr-CA">
              <a:solidFill>
                <a:prstClr val="black">
                  <a:tint val="75000"/>
                </a:prstClr>
              </a:solidFill>
            </a:endParaRPr>
          </a:p>
        </p:txBody>
      </p:sp>
    </p:spTree>
    <p:custDataLst>
      <p:tags r:id="rId1"/>
    </p:custDataLst>
    <p:extLst>
      <p:ext uri="{BB962C8B-B14F-4D97-AF65-F5344CB8AC3E}">
        <p14:creationId xmlns:p14="http://schemas.microsoft.com/office/powerpoint/2010/main" val="12109157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18F704-F955-BCA3-B43E-E0F01D5676D2}"/>
              </a:ext>
            </a:extLst>
          </p:cNvPr>
          <p:cNvSpPr>
            <a:spLocks noGrp="1"/>
          </p:cNvSpPr>
          <p:nvPr>
            <p:ph type="ctrTitle"/>
            <p:custDataLst>
              <p:tags r:id="rId1"/>
            </p:custDataLst>
          </p:nvPr>
        </p:nvSpPr>
        <p:spPr/>
        <p:txBody>
          <a:bodyPr/>
          <a:lstStyle/>
          <a:p>
            <a:r>
              <a:rPr lang="fr-CA" dirty="0"/>
              <a:t>Décision d’exploitation </a:t>
            </a:r>
            <a:br>
              <a:rPr lang="fr-CA" dirty="0"/>
            </a:br>
            <a:r>
              <a:rPr lang="fr-CA" dirty="0"/>
              <a:t>Exemple 3 : </a:t>
            </a:r>
          </a:p>
        </p:txBody>
      </p:sp>
      <p:sp>
        <p:nvSpPr>
          <p:cNvPr id="3" name="Sous-titre 2">
            <a:extLst>
              <a:ext uri="{FF2B5EF4-FFF2-40B4-BE49-F238E27FC236}">
                <a16:creationId xmlns:a16="http://schemas.microsoft.com/office/drawing/2014/main" id="{F0796C61-E063-3163-9507-77401DF69F5E}"/>
              </a:ext>
            </a:extLst>
          </p:cNvPr>
          <p:cNvSpPr>
            <a:spLocks noGrp="1"/>
          </p:cNvSpPr>
          <p:nvPr>
            <p:ph type="subTitle" idx="1"/>
            <p:custDataLst>
              <p:tags r:id="rId2"/>
            </p:custDataLst>
          </p:nvPr>
        </p:nvSpPr>
        <p:spPr/>
        <p:txBody>
          <a:bodyPr>
            <a:normAutofit/>
          </a:bodyPr>
          <a:lstStyle/>
          <a:p>
            <a:r>
              <a:rPr lang="fr-CA" sz="3200"/>
              <a:t>Continuer (ajouter) ou abandonner un produit</a:t>
            </a:r>
          </a:p>
        </p:txBody>
      </p:sp>
      <p:sp>
        <p:nvSpPr>
          <p:cNvPr id="4" name="Espace réservé du pied de page 3">
            <a:extLst>
              <a:ext uri="{FF2B5EF4-FFF2-40B4-BE49-F238E27FC236}">
                <a16:creationId xmlns:a16="http://schemas.microsoft.com/office/drawing/2014/main" id="{64EA56E3-B2B7-00B6-4D3E-E1EFA5E26C3B}"/>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A1CF3A73-8E9D-241B-AB1C-FD90ECEB6814}"/>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33</a:t>
            </a:fld>
            <a:endParaRPr lang="fr-CA">
              <a:solidFill>
                <a:prstClr val="black">
                  <a:tint val="75000"/>
                </a:prstClr>
              </a:solidFill>
            </a:endParaRPr>
          </a:p>
        </p:txBody>
      </p:sp>
    </p:spTree>
    <p:extLst>
      <p:ext uri="{BB962C8B-B14F-4D97-AF65-F5344CB8AC3E}">
        <p14:creationId xmlns:p14="http://schemas.microsoft.com/office/powerpoint/2010/main" val="41100405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a:xfrm>
            <a:off x="838200" y="180301"/>
            <a:ext cx="10780183" cy="1031881"/>
          </a:xfrm>
        </p:spPr>
        <p:txBody>
          <a:bodyPr>
            <a:noAutofit/>
          </a:bodyPr>
          <a:lstStyle/>
          <a:p>
            <a:r>
              <a:rPr lang="fr-CA" sz="4000"/>
              <a:t>Continuer (ajouter) ou abandonner un produit</a:t>
            </a:r>
          </a:p>
        </p:txBody>
      </p:sp>
      <p:graphicFrame>
        <p:nvGraphicFramePr>
          <p:cNvPr id="7" name="Espace réservé du contenu 6"/>
          <p:cNvGraphicFramePr>
            <a:graphicFrameLocks noGrp="1"/>
          </p:cNvGraphicFramePr>
          <p:nvPr>
            <p:ph sz="half" idx="2"/>
            <p:custDataLst>
              <p:tags r:id="rId2"/>
            </p:custDataLst>
          </p:nvPr>
        </p:nvGraphicFramePr>
        <p:xfrm>
          <a:off x="1948070" y="3550534"/>
          <a:ext cx="8515565" cy="2626330"/>
        </p:xfrm>
        <a:graphic>
          <a:graphicData uri="http://schemas.openxmlformats.org/drawingml/2006/table">
            <a:tbl>
              <a:tblPr firstRow="1" bandRow="1">
                <a:tableStyleId>{9D7B26C5-4107-4FEC-AEDC-1716B250A1EF}</a:tableStyleId>
              </a:tblPr>
              <a:tblGrid>
                <a:gridCol w="3090360">
                  <a:extLst>
                    <a:ext uri="{9D8B030D-6E8A-4147-A177-3AD203B41FA5}">
                      <a16:colId xmlns:a16="http://schemas.microsoft.com/office/drawing/2014/main" val="20000"/>
                    </a:ext>
                  </a:extLst>
                </a:gridCol>
                <a:gridCol w="1410556">
                  <a:extLst>
                    <a:ext uri="{9D8B030D-6E8A-4147-A177-3AD203B41FA5}">
                      <a16:colId xmlns:a16="http://schemas.microsoft.com/office/drawing/2014/main" val="20001"/>
                    </a:ext>
                  </a:extLst>
                </a:gridCol>
                <a:gridCol w="1400885">
                  <a:extLst>
                    <a:ext uri="{9D8B030D-6E8A-4147-A177-3AD203B41FA5}">
                      <a16:colId xmlns:a16="http://schemas.microsoft.com/office/drawing/2014/main" val="20002"/>
                    </a:ext>
                  </a:extLst>
                </a:gridCol>
                <a:gridCol w="1387990">
                  <a:extLst>
                    <a:ext uri="{9D8B030D-6E8A-4147-A177-3AD203B41FA5}">
                      <a16:colId xmlns:a16="http://schemas.microsoft.com/office/drawing/2014/main" val="20003"/>
                    </a:ext>
                  </a:extLst>
                </a:gridCol>
                <a:gridCol w="1225774">
                  <a:extLst>
                    <a:ext uri="{9D8B030D-6E8A-4147-A177-3AD203B41FA5}">
                      <a16:colId xmlns:a16="http://schemas.microsoft.com/office/drawing/2014/main" val="20004"/>
                    </a:ext>
                  </a:extLst>
                </a:gridCol>
              </a:tblGrid>
              <a:tr h="525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En $</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Produit X</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Produit Y</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Produit Z</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Total</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tc>
                <a:extLst>
                  <a:ext uri="{0D108BD9-81ED-4DB2-BD59-A6C34878D82A}">
                    <a16:rowId xmlns:a16="http://schemas.microsoft.com/office/drawing/2014/main" val="10000"/>
                  </a:ext>
                </a:extLst>
              </a:tr>
              <a:tr h="525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Ventes</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solidFill>
                      <a:schemeClr val="bg1">
                        <a:lumMod val="85000"/>
                        <a:alpha val="2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32 000</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solidFill>
                      <a:schemeClr val="bg1">
                        <a:lumMod val="85000"/>
                        <a:alpha val="2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50 000</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solidFill>
                      <a:schemeClr val="bg1">
                        <a:lumMod val="85000"/>
                        <a:alpha val="2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45 000</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solidFill>
                      <a:schemeClr val="bg1">
                        <a:lumMod val="85000"/>
                        <a:alpha val="2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b="1" u="none" strike="noStrike" cap="none" normalizeH="0" baseline="0">
                          <a:ln>
                            <a:noFill/>
                          </a:ln>
                          <a:effectLst/>
                        </a:rPr>
                        <a:t>127 000</a:t>
                      </a:r>
                      <a:endParaRPr kumimoji="0" lang="fr-CA" sz="2400" b="1" i="0" u="none" strike="noStrike" cap="none" normalizeH="0" baseline="0">
                        <a:ln>
                          <a:noFill/>
                        </a:ln>
                        <a:solidFill>
                          <a:schemeClr val="tx1"/>
                        </a:solidFill>
                        <a:effectLst/>
                        <a:latin typeface="Tw Cen MT" pitchFamily="34" charset="0"/>
                      </a:endParaRPr>
                    </a:p>
                  </a:txBody>
                  <a:tcPr marL="65466" marR="65466" anchor="ctr" horzOverflow="overflow">
                    <a:solidFill>
                      <a:schemeClr val="bg1">
                        <a:lumMod val="85000"/>
                        <a:alpha val="20000"/>
                      </a:schemeClr>
                    </a:solidFill>
                  </a:tcPr>
                </a:tc>
                <a:extLst>
                  <a:ext uri="{0D108BD9-81ED-4DB2-BD59-A6C34878D82A}">
                    <a16:rowId xmlns:a16="http://schemas.microsoft.com/office/drawing/2014/main" val="10001"/>
                  </a:ext>
                </a:extLst>
              </a:tr>
              <a:tr h="525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Coûts variables</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(24 000)</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(25 000)</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(23 000)</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b="1" u="none" strike="noStrike" cap="none" normalizeH="0" baseline="0">
                          <a:ln>
                            <a:noFill/>
                          </a:ln>
                          <a:effectLst/>
                        </a:rPr>
                        <a:t>(72 000)</a:t>
                      </a:r>
                      <a:endParaRPr kumimoji="0" lang="fr-CA" sz="2400" b="1" i="0" u="none" strike="noStrike" cap="none" normalizeH="0" baseline="0">
                        <a:ln>
                          <a:noFill/>
                        </a:ln>
                        <a:solidFill>
                          <a:schemeClr val="tx1"/>
                        </a:solidFill>
                        <a:effectLst/>
                        <a:latin typeface="Tw Cen MT" pitchFamily="34" charset="0"/>
                      </a:endParaRPr>
                    </a:p>
                  </a:txBody>
                  <a:tcPr marL="65466" marR="65466" anchor="ctr" horzOverflow="overflow"/>
                </a:tc>
                <a:extLst>
                  <a:ext uri="{0D108BD9-81ED-4DB2-BD59-A6C34878D82A}">
                    <a16:rowId xmlns:a16="http://schemas.microsoft.com/office/drawing/2014/main" val="10002"/>
                  </a:ext>
                </a:extLst>
              </a:tr>
              <a:tr h="525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Coûts fixes</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solidFill>
                      <a:schemeClr val="bg1">
                        <a:lumMod val="85000"/>
                        <a:alpha val="2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sng" strike="noStrike" cap="none" normalizeH="0" baseline="0">
                          <a:ln>
                            <a:noFill/>
                          </a:ln>
                          <a:effectLst/>
                        </a:rPr>
                        <a:t>(12 000)</a:t>
                      </a:r>
                      <a:endParaRPr kumimoji="0" lang="fr-CA" sz="2400" b="0" i="0" u="sng" strike="noStrike" cap="none" normalizeH="0" baseline="0">
                        <a:ln>
                          <a:noFill/>
                        </a:ln>
                        <a:solidFill>
                          <a:schemeClr val="tx1"/>
                        </a:solidFill>
                        <a:effectLst/>
                        <a:latin typeface="Tw Cen MT" pitchFamily="34" charset="0"/>
                      </a:endParaRPr>
                    </a:p>
                  </a:txBody>
                  <a:tcPr marL="65466" marR="65466" anchor="ctr" horzOverflow="overflow">
                    <a:solidFill>
                      <a:schemeClr val="bg1">
                        <a:lumMod val="85000"/>
                        <a:alpha val="2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sng" strike="noStrike" cap="none" normalizeH="0" baseline="0">
                          <a:ln>
                            <a:noFill/>
                          </a:ln>
                          <a:effectLst/>
                        </a:rPr>
                        <a:t>(13 000)</a:t>
                      </a:r>
                      <a:endParaRPr kumimoji="0" lang="fr-CA" sz="2400" b="0" i="0" u="sng" strike="noStrike" cap="none" normalizeH="0" baseline="0">
                        <a:ln>
                          <a:noFill/>
                        </a:ln>
                        <a:solidFill>
                          <a:schemeClr val="tx1"/>
                        </a:solidFill>
                        <a:effectLst/>
                        <a:latin typeface="Tw Cen MT" pitchFamily="34" charset="0"/>
                      </a:endParaRPr>
                    </a:p>
                  </a:txBody>
                  <a:tcPr marL="65466" marR="65466" anchor="ctr" horzOverflow="overflow">
                    <a:solidFill>
                      <a:schemeClr val="bg1">
                        <a:lumMod val="85000"/>
                        <a:alpha val="2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sng" strike="noStrike" cap="none" normalizeH="0" baseline="0">
                          <a:ln>
                            <a:noFill/>
                          </a:ln>
                          <a:effectLst/>
                        </a:rPr>
                        <a:t>(11 000)</a:t>
                      </a:r>
                      <a:endParaRPr kumimoji="0" lang="fr-CA" sz="2400" b="0" i="0" u="sng" strike="noStrike" cap="none" normalizeH="0" baseline="0">
                        <a:ln>
                          <a:noFill/>
                        </a:ln>
                        <a:solidFill>
                          <a:schemeClr val="tx1"/>
                        </a:solidFill>
                        <a:effectLst/>
                        <a:latin typeface="Tw Cen MT" pitchFamily="34" charset="0"/>
                      </a:endParaRPr>
                    </a:p>
                  </a:txBody>
                  <a:tcPr marL="65466" marR="65466" anchor="ctr" horzOverflow="overflow">
                    <a:solidFill>
                      <a:schemeClr val="bg1">
                        <a:lumMod val="85000"/>
                        <a:alpha val="2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b="1" u="sng" strike="noStrike" cap="none" normalizeH="0" baseline="0">
                          <a:ln>
                            <a:noFill/>
                          </a:ln>
                          <a:effectLst/>
                        </a:rPr>
                        <a:t>(36 000)</a:t>
                      </a:r>
                      <a:endParaRPr kumimoji="0" lang="fr-CA" sz="2400" b="1" i="0" u="sng" strike="noStrike" cap="none" normalizeH="0" baseline="0">
                        <a:ln>
                          <a:noFill/>
                        </a:ln>
                        <a:solidFill>
                          <a:schemeClr val="tx1"/>
                        </a:solidFill>
                        <a:effectLst/>
                        <a:latin typeface="Tw Cen MT" pitchFamily="34" charset="0"/>
                      </a:endParaRPr>
                    </a:p>
                  </a:txBody>
                  <a:tcPr marL="65466" marR="65466" anchor="ctr" horzOverflow="overflow">
                    <a:solidFill>
                      <a:schemeClr val="bg1">
                        <a:lumMod val="85000"/>
                        <a:alpha val="20000"/>
                      </a:schemeClr>
                    </a:solidFill>
                  </a:tcPr>
                </a:tc>
                <a:extLst>
                  <a:ext uri="{0D108BD9-81ED-4DB2-BD59-A6C34878D82A}">
                    <a16:rowId xmlns:a16="http://schemas.microsoft.com/office/drawing/2014/main" val="10003"/>
                  </a:ext>
                </a:extLst>
              </a:tr>
              <a:tr h="525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Résultat d’exploitation </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(4 000)</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12 000</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u="none" strike="noStrike" cap="none" normalizeH="0" baseline="0">
                          <a:ln>
                            <a:noFill/>
                          </a:ln>
                          <a:effectLst/>
                        </a:rPr>
                        <a:t>11 000</a:t>
                      </a:r>
                      <a:endParaRPr kumimoji="0" lang="fr-CA" sz="2400" b="0" i="0" u="none" strike="noStrike" cap="none" normalizeH="0" baseline="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b="1" u="none" strike="noStrike" cap="none" normalizeH="0" baseline="0">
                          <a:ln>
                            <a:noFill/>
                          </a:ln>
                          <a:effectLst/>
                        </a:rPr>
                        <a:t>19 000</a:t>
                      </a:r>
                      <a:endParaRPr kumimoji="0" lang="fr-CA" sz="2400" b="1" i="0" u="none" strike="noStrike" cap="none" normalizeH="0" baseline="0">
                        <a:ln>
                          <a:noFill/>
                        </a:ln>
                        <a:solidFill>
                          <a:schemeClr val="tx1"/>
                        </a:solidFill>
                        <a:effectLst/>
                        <a:latin typeface="Tw Cen MT" pitchFamily="34" charset="0"/>
                      </a:endParaRPr>
                    </a:p>
                  </a:txBody>
                  <a:tcPr marL="65466" marR="65466" anchor="ctr" horzOverflow="overflow"/>
                </a:tc>
                <a:extLst>
                  <a:ext uri="{0D108BD9-81ED-4DB2-BD59-A6C34878D82A}">
                    <a16:rowId xmlns:a16="http://schemas.microsoft.com/office/drawing/2014/main" val="10004"/>
                  </a:ext>
                </a:extLst>
              </a:tr>
            </a:tbl>
          </a:graphicData>
        </a:graphic>
      </p:graphicFrame>
      <p:sp>
        <p:nvSpPr>
          <p:cNvPr id="3" name="Espace réservé du contenu 2"/>
          <p:cNvSpPr>
            <a:spLocks noGrp="1"/>
          </p:cNvSpPr>
          <p:nvPr>
            <p:ph sz="half" idx="1"/>
            <p:custDataLst>
              <p:tags r:id="rId3"/>
            </p:custDataLst>
          </p:nvPr>
        </p:nvSpPr>
        <p:spPr>
          <a:xfrm>
            <a:off x="838199" y="1598769"/>
            <a:ext cx="10106026" cy="1807776"/>
          </a:xfrm>
        </p:spPr>
        <p:txBody>
          <a:bodyPr/>
          <a:lstStyle/>
          <a:p>
            <a:pPr lvl="0"/>
            <a:r>
              <a:rPr lang="fr-CA" sz="2400" dirty="0"/>
              <a:t>Une entreprise fabrique trois produits dont les résultats sont présentés dans le tableau ci-contre.</a:t>
            </a:r>
          </a:p>
          <a:p>
            <a:pPr lvl="0"/>
            <a:r>
              <a:rPr lang="fr-CA" sz="2400" dirty="0"/>
              <a:t>Le directeur de production veut arrêter la production du produit X</a:t>
            </a:r>
          </a:p>
          <a:p>
            <a:pPr lvl="0"/>
            <a:r>
              <a:rPr lang="fr-CA" sz="2400" b="1" dirty="0"/>
              <a:t>Qu’en pensez-vous ? </a:t>
            </a:r>
          </a:p>
          <a:p>
            <a:pPr lvl="0" rtl="0"/>
            <a:endParaRPr lang="fr-CA" sz="2400" dirty="0"/>
          </a:p>
        </p:txBody>
      </p:sp>
      <p:sp>
        <p:nvSpPr>
          <p:cNvPr id="5" name="Espace réservé du pied de page 3">
            <a:extLst>
              <a:ext uri="{FF2B5EF4-FFF2-40B4-BE49-F238E27FC236}">
                <a16:creationId xmlns:a16="http://schemas.microsoft.com/office/drawing/2014/main" id="{4F9CB577-F01B-ACB1-55B6-C9B04F2DE08A}"/>
              </a:ext>
            </a:extLst>
          </p:cNvPr>
          <p:cNvSpPr>
            <a:spLocks noGrp="1"/>
          </p:cNvSpPr>
          <p:nvPr>
            <p:ph type="ftr" sz="quarter" idx="11"/>
            <p:custDataLst>
              <p:tags r:id="rId4"/>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8" name="Espace réservé du numéro de diapositive 4">
            <a:extLst>
              <a:ext uri="{FF2B5EF4-FFF2-40B4-BE49-F238E27FC236}">
                <a16:creationId xmlns:a16="http://schemas.microsoft.com/office/drawing/2014/main" id="{321417D8-3C1C-D1E0-71E0-F2DFC5A0821D}"/>
              </a:ext>
            </a:extLst>
          </p:cNvPr>
          <p:cNvSpPr>
            <a:spLocks noGrp="1"/>
          </p:cNvSpPr>
          <p:nvPr>
            <p:ph type="sldNum" sz="quarter" idx="12"/>
            <p:custDataLst>
              <p:tags r:id="rId5"/>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34</a:t>
            </a:fld>
            <a:endParaRPr lang="fr-CA">
              <a:solidFill>
                <a:prstClr val="black">
                  <a:tint val="75000"/>
                </a:prstClr>
              </a:solidFill>
            </a:endParaRPr>
          </a:p>
        </p:txBody>
      </p:sp>
    </p:spTree>
    <p:extLst>
      <p:ext uri="{BB962C8B-B14F-4D97-AF65-F5344CB8AC3E}">
        <p14:creationId xmlns:p14="http://schemas.microsoft.com/office/powerpoint/2010/main" val="5344189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6C1C1-5BD6-E5AF-89B3-5A539ECCA26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59AA31E-7B20-E559-90B3-782A3F8644FE}"/>
              </a:ext>
            </a:extLst>
          </p:cNvPr>
          <p:cNvSpPr>
            <a:spLocks noGrp="1"/>
          </p:cNvSpPr>
          <p:nvPr>
            <p:ph type="title"/>
            <p:custDataLst>
              <p:tags r:id="rId1"/>
            </p:custDataLst>
          </p:nvPr>
        </p:nvSpPr>
        <p:spPr>
          <a:xfrm>
            <a:off x="838200" y="180301"/>
            <a:ext cx="10780183" cy="1031881"/>
          </a:xfrm>
        </p:spPr>
        <p:txBody>
          <a:bodyPr>
            <a:noAutofit/>
          </a:bodyPr>
          <a:lstStyle/>
          <a:p>
            <a:r>
              <a:rPr lang="fr-CA" sz="4000" dirty="0"/>
              <a:t>Continuer (ajouter) ou abandonner un produit</a:t>
            </a:r>
            <a:endParaRPr lang="fr-CA" sz="4000" b="1" dirty="0"/>
          </a:p>
        </p:txBody>
      </p:sp>
      <p:sp>
        <p:nvSpPr>
          <p:cNvPr id="3" name="Espace réservé du contenu 2">
            <a:extLst>
              <a:ext uri="{FF2B5EF4-FFF2-40B4-BE49-F238E27FC236}">
                <a16:creationId xmlns:a16="http://schemas.microsoft.com/office/drawing/2014/main" id="{80E1E141-1536-5085-B765-E7CA28C1F5B7}"/>
              </a:ext>
            </a:extLst>
          </p:cNvPr>
          <p:cNvSpPr>
            <a:spLocks noGrp="1"/>
          </p:cNvSpPr>
          <p:nvPr>
            <p:ph sz="half" idx="1"/>
            <p:custDataLst>
              <p:tags r:id="rId2"/>
            </p:custDataLst>
          </p:nvPr>
        </p:nvSpPr>
        <p:spPr>
          <a:xfrm>
            <a:off x="838199" y="1598769"/>
            <a:ext cx="10106026" cy="705519"/>
          </a:xfrm>
        </p:spPr>
        <p:txBody>
          <a:bodyPr>
            <a:normAutofit lnSpcReduction="10000"/>
          </a:bodyPr>
          <a:lstStyle/>
          <a:p>
            <a:pPr lvl="0"/>
            <a:r>
              <a:rPr lang="fr-CA" sz="2400" dirty="0"/>
              <a:t>Effectuez une analyse différentielle sachant que les coûts fixes spécifiques du </a:t>
            </a:r>
            <a:r>
              <a:rPr lang="fr-CA" sz="2400" b="1" dirty="0"/>
              <a:t>produit X </a:t>
            </a:r>
            <a:r>
              <a:rPr lang="fr-CA" sz="2400" dirty="0"/>
              <a:t>sont de 3 900 $</a:t>
            </a:r>
          </a:p>
        </p:txBody>
      </p:sp>
      <p:sp>
        <p:nvSpPr>
          <p:cNvPr id="4" name="Espace réservé du pied de page 3">
            <a:extLst>
              <a:ext uri="{FF2B5EF4-FFF2-40B4-BE49-F238E27FC236}">
                <a16:creationId xmlns:a16="http://schemas.microsoft.com/office/drawing/2014/main" id="{855EFB37-1D74-576F-5005-C8513825F952}"/>
              </a:ext>
            </a:extLst>
          </p:cNvPr>
          <p:cNvSpPr>
            <a:spLocks noGrp="1"/>
          </p:cNvSpPr>
          <p:nvPr>
            <p:ph type="ftr" sz="quarter" idx="11"/>
            <p:custDataLst>
              <p:tags r:id="rId3"/>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12000BEF-CB65-9F9F-B3ED-C70D2E2DC480}"/>
              </a:ext>
            </a:extLst>
          </p:cNvPr>
          <p:cNvSpPr>
            <a:spLocks noGrp="1"/>
          </p:cNvSpPr>
          <p:nvPr>
            <p:ph type="sldNum" sz="quarter" idx="12"/>
            <p:custDataLst>
              <p:tags r:id="rId4"/>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35</a:t>
            </a:fld>
            <a:endParaRPr lang="fr-CA">
              <a:solidFill>
                <a:prstClr val="black">
                  <a:tint val="75000"/>
                </a:prstClr>
              </a:solidFill>
            </a:endParaRPr>
          </a:p>
        </p:txBody>
      </p:sp>
      <p:graphicFrame>
        <p:nvGraphicFramePr>
          <p:cNvPr id="6" name="Espace réservé du contenu 6">
            <a:extLst>
              <a:ext uri="{FF2B5EF4-FFF2-40B4-BE49-F238E27FC236}">
                <a16:creationId xmlns:a16="http://schemas.microsoft.com/office/drawing/2014/main" id="{D5013AB8-262E-AA07-7819-F039BD4A1089}"/>
              </a:ext>
            </a:extLst>
          </p:cNvPr>
          <p:cNvGraphicFramePr>
            <a:graphicFrameLocks/>
          </p:cNvGraphicFramePr>
          <p:nvPr>
            <p:custDataLst>
              <p:tags r:id="rId5"/>
            </p:custDataLst>
            <p:extLst>
              <p:ext uri="{D42A27DB-BD31-4B8C-83A1-F6EECF244321}">
                <p14:modId xmlns:p14="http://schemas.microsoft.com/office/powerpoint/2010/main" val="2365950502"/>
              </p:ext>
            </p:extLst>
          </p:nvPr>
        </p:nvGraphicFramePr>
        <p:xfrm>
          <a:off x="1040609" y="2416173"/>
          <a:ext cx="10106025" cy="3936970"/>
        </p:xfrm>
        <a:graphic>
          <a:graphicData uri="http://schemas.openxmlformats.org/drawingml/2006/table">
            <a:tbl>
              <a:tblPr firstRow="1" bandRow="1">
                <a:tableStyleId>{9D7B26C5-4107-4FEC-AEDC-1716B250A1EF}</a:tableStyleId>
              </a:tblPr>
              <a:tblGrid>
                <a:gridCol w="2892148">
                  <a:extLst>
                    <a:ext uri="{9D8B030D-6E8A-4147-A177-3AD203B41FA5}">
                      <a16:colId xmlns:a16="http://schemas.microsoft.com/office/drawing/2014/main" val="20000"/>
                    </a:ext>
                  </a:extLst>
                </a:gridCol>
                <a:gridCol w="1760033">
                  <a:extLst>
                    <a:ext uri="{9D8B030D-6E8A-4147-A177-3AD203B41FA5}">
                      <a16:colId xmlns:a16="http://schemas.microsoft.com/office/drawing/2014/main" val="20001"/>
                    </a:ext>
                  </a:extLst>
                </a:gridCol>
                <a:gridCol w="2278790">
                  <a:extLst>
                    <a:ext uri="{9D8B030D-6E8A-4147-A177-3AD203B41FA5}">
                      <a16:colId xmlns:a16="http://schemas.microsoft.com/office/drawing/2014/main" val="1225929688"/>
                    </a:ext>
                  </a:extLst>
                </a:gridCol>
                <a:gridCol w="3175054">
                  <a:extLst>
                    <a:ext uri="{9D8B030D-6E8A-4147-A177-3AD203B41FA5}">
                      <a16:colId xmlns:a16="http://schemas.microsoft.com/office/drawing/2014/main" val="2790434245"/>
                    </a:ext>
                  </a:extLst>
                </a:gridCol>
              </a:tblGrid>
              <a:tr h="20438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000" u="none" strike="noStrike" cap="none" normalizeH="0" baseline="0" dirty="0">
                          <a:ln>
                            <a:noFill/>
                          </a:ln>
                          <a:effectLst/>
                        </a:rPr>
                        <a:t>En $</a:t>
                      </a:r>
                      <a:endParaRPr kumimoji="0" lang="fr-CA" sz="2000" b="0" i="0" u="none" strike="noStrike" cap="none" normalizeH="0" baseline="0" dirty="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200" u="none" strike="noStrike" cap="none" normalizeH="0" baseline="0" dirty="0">
                          <a:ln>
                            <a:noFill/>
                          </a:ln>
                          <a:effectLst/>
                        </a:rPr>
                        <a:t>Continuer</a:t>
                      </a:r>
                      <a:endParaRPr kumimoji="0" lang="fr-CA" sz="2200" b="0" i="0" u="none" strike="noStrike" cap="none" normalizeH="0" baseline="0" dirty="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200" u="none" strike="noStrike" cap="none" normalizeH="0" baseline="0" dirty="0">
                          <a:ln>
                            <a:noFill/>
                          </a:ln>
                          <a:effectLst/>
                        </a:rPr>
                        <a:t>Abandonner</a:t>
                      </a:r>
                      <a:endParaRPr kumimoji="0" lang="fr-CA" sz="2200" b="0" i="0" u="none" strike="noStrike" cap="none" normalizeH="0" baseline="0" dirty="0">
                        <a:ln>
                          <a:noFill/>
                        </a:ln>
                        <a:solidFill>
                          <a:schemeClr val="tx1"/>
                        </a:solidFill>
                        <a:effectLst/>
                        <a:latin typeface="Tw Cen MT" pitchFamily="34" charset="0"/>
                      </a:endParaRPr>
                    </a:p>
                  </a:txBody>
                  <a:tcPr marL="65466" marR="65466"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fr-CA" sz="2000" b="0" dirty="0"/>
                        <a:t>Analyse différentielle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CA" sz="2000" b="0" i="0" u="none" strike="noStrike" cap="none" normalizeH="0" baseline="0" dirty="0">
                          <a:ln>
                            <a:noFill/>
                          </a:ln>
                          <a:solidFill>
                            <a:schemeClr val="tx1"/>
                          </a:solidFill>
                          <a:effectLst/>
                          <a:latin typeface="Tw Cen MT" pitchFamily="34" charset="0"/>
                        </a:rPr>
                        <a:t>Augmentation ou diminution du résultat d’exploitation si choisi Abandon</a:t>
                      </a:r>
                    </a:p>
                  </a:txBody>
                  <a:tcPr marL="65466" marR="65466" anchor="ctr" horzOverflow="overflow"/>
                </a:tc>
                <a:extLst>
                  <a:ext uri="{0D108BD9-81ED-4DB2-BD59-A6C34878D82A}">
                    <a16:rowId xmlns:a16="http://schemas.microsoft.com/office/drawing/2014/main" val="10000"/>
                  </a:ext>
                </a:extLst>
              </a:tr>
              <a:tr h="525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200" u="none" strike="noStrike" cap="none" normalizeH="0" baseline="0" dirty="0">
                          <a:ln>
                            <a:noFill/>
                          </a:ln>
                          <a:effectLst/>
                          <a:latin typeface="+mn-lt"/>
                        </a:rPr>
                        <a:t>Ventes</a:t>
                      </a:r>
                      <a:endParaRPr kumimoji="0" lang="fr-CA" sz="2200" b="0"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200" b="0" i="0" u="none" strike="noStrike" cap="none" normalizeH="0" baseline="0" dirty="0">
                          <a:ln>
                            <a:noFill/>
                          </a:ln>
                          <a:solidFill>
                            <a:schemeClr val="tx1"/>
                          </a:solidFill>
                          <a:effectLst/>
                          <a:latin typeface="+mn-lt"/>
                        </a:rPr>
                        <a:t>32 000 $ </a:t>
                      </a: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fr-CA" sz="2200" b="1"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fr-CA" sz="2200" b="1"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extLst>
                  <a:ext uri="{0D108BD9-81ED-4DB2-BD59-A6C34878D82A}">
                    <a16:rowId xmlns:a16="http://schemas.microsoft.com/office/drawing/2014/main" val="10001"/>
                  </a:ext>
                </a:extLst>
              </a:tr>
              <a:tr h="525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200" u="none" strike="noStrike" cap="none" normalizeH="0" baseline="0" dirty="0">
                          <a:ln>
                            <a:noFill/>
                          </a:ln>
                          <a:effectLst/>
                          <a:latin typeface="+mn-lt"/>
                        </a:rPr>
                        <a:t>- Coûts variables</a:t>
                      </a:r>
                      <a:endParaRPr kumimoji="0" lang="fr-CA" sz="2200" b="0" i="0" u="none" strike="noStrike" cap="none" normalizeH="0" baseline="0" dirty="0">
                        <a:ln>
                          <a:noFill/>
                        </a:ln>
                        <a:solidFill>
                          <a:schemeClr val="tx1"/>
                        </a:solidFill>
                        <a:effectLst/>
                        <a:latin typeface="+mn-lt"/>
                      </a:endParaRP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200" b="0" i="0" u="none" strike="noStrike" cap="none" normalizeH="0" baseline="0" dirty="0">
                          <a:ln>
                            <a:noFill/>
                          </a:ln>
                          <a:solidFill>
                            <a:schemeClr val="tx1"/>
                          </a:solidFill>
                          <a:effectLst/>
                          <a:latin typeface="+mn-lt"/>
                        </a:rPr>
                        <a:t>24 000 $</a:t>
                      </a: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fr-CA" sz="2200" b="1" i="0" u="none" strike="noStrike" cap="none" normalizeH="0" baseline="0" dirty="0">
                        <a:ln>
                          <a:noFill/>
                        </a:ln>
                        <a:solidFill>
                          <a:schemeClr val="tx1"/>
                        </a:solidFill>
                        <a:effectLst/>
                        <a:latin typeface="+mn-lt"/>
                      </a:endParaRP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fr-CA" sz="2200" b="1" i="0" u="none" strike="noStrike" cap="none" normalizeH="0" baseline="0" dirty="0">
                        <a:ln>
                          <a:noFill/>
                        </a:ln>
                        <a:solidFill>
                          <a:schemeClr val="tx1"/>
                        </a:solidFill>
                        <a:effectLst/>
                        <a:latin typeface="+mn-lt"/>
                      </a:endParaRPr>
                    </a:p>
                  </a:txBody>
                  <a:tcPr marL="65466" marR="65466" anchor="ctr" horzOverflow="overflow"/>
                </a:tc>
                <a:extLst>
                  <a:ext uri="{0D108BD9-81ED-4DB2-BD59-A6C34878D82A}">
                    <a16:rowId xmlns:a16="http://schemas.microsoft.com/office/drawing/2014/main" val="10002"/>
                  </a:ext>
                </a:extLst>
              </a:tr>
              <a:tr h="525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200" u="none" strike="noStrike" cap="none" normalizeH="0" baseline="0" dirty="0">
                          <a:ln>
                            <a:noFill/>
                          </a:ln>
                          <a:effectLst/>
                          <a:latin typeface="+mn-lt"/>
                        </a:rPr>
                        <a:t>- Coûts fixes spécifiques</a:t>
                      </a:r>
                      <a:endParaRPr kumimoji="0" lang="fr-CA" sz="2200" b="0"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fr-CA" sz="2200" b="0"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fr-CA" sz="2200" b="1"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fr-CA" sz="2200" b="1"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extLst>
                  <a:ext uri="{0D108BD9-81ED-4DB2-BD59-A6C34878D82A}">
                    <a16:rowId xmlns:a16="http://schemas.microsoft.com/office/drawing/2014/main" val="10003"/>
                  </a:ext>
                </a:extLst>
              </a:tr>
              <a:tr h="525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200" u="none" strike="noStrike" cap="none" normalizeH="0" baseline="0" dirty="0">
                          <a:ln>
                            <a:noFill/>
                          </a:ln>
                          <a:effectLst/>
                          <a:latin typeface="+mn-lt"/>
                        </a:rPr>
                        <a:t>- Coûts fixes communs</a:t>
                      </a:r>
                      <a:endParaRPr kumimoji="0" lang="fr-CA" sz="2200" b="0"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fr-CA" sz="2200" b="0" i="0" u="sng"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fr-CA" sz="2200" b="1" i="0" u="sng"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fr-CA" sz="2200" b="1" i="0" u="none" strike="noStrike" cap="none" normalizeH="0" baseline="0" dirty="0">
                        <a:ln>
                          <a:noFill/>
                        </a:ln>
                        <a:solidFill>
                          <a:schemeClr val="tx1"/>
                        </a:solidFill>
                        <a:effectLst/>
                        <a:latin typeface="+mn-lt"/>
                      </a:endParaRPr>
                    </a:p>
                  </a:txBody>
                  <a:tcPr marL="65466" marR="65466" anchor="ctr" horzOverflow="overflow">
                    <a:solidFill>
                      <a:schemeClr val="bg1">
                        <a:lumMod val="85000"/>
                        <a:alpha val="20000"/>
                      </a:schemeClr>
                    </a:solidFill>
                  </a:tcPr>
                </a:tc>
                <a:extLst>
                  <a:ext uri="{0D108BD9-81ED-4DB2-BD59-A6C34878D82A}">
                    <a16:rowId xmlns:a16="http://schemas.microsoft.com/office/drawing/2014/main" val="2289185362"/>
                  </a:ext>
                </a:extLst>
              </a:tr>
              <a:tr h="5252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2200" b="1" u="none" strike="noStrike" cap="none" normalizeH="0" baseline="0" dirty="0">
                          <a:ln>
                            <a:noFill/>
                          </a:ln>
                          <a:effectLst/>
                          <a:latin typeface="+mn-lt"/>
                        </a:rPr>
                        <a:t>Résultat d’exploitation </a:t>
                      </a:r>
                      <a:endParaRPr kumimoji="0" lang="fr-CA" sz="2200" b="1" i="0" u="none" strike="noStrike" cap="none" normalizeH="0" baseline="0" dirty="0">
                        <a:ln>
                          <a:noFill/>
                        </a:ln>
                        <a:solidFill>
                          <a:schemeClr val="tx1"/>
                        </a:solidFill>
                        <a:effectLst/>
                        <a:latin typeface="+mn-lt"/>
                      </a:endParaRP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fr-CA" sz="2200" b="0" i="0" u="none" strike="noStrike" cap="none" normalizeH="0" baseline="0" dirty="0">
                          <a:ln>
                            <a:noFill/>
                          </a:ln>
                          <a:solidFill>
                            <a:schemeClr val="tx1"/>
                          </a:solidFill>
                          <a:effectLst/>
                          <a:latin typeface="+mn-lt"/>
                        </a:rPr>
                        <a:t>(4 000) $</a:t>
                      </a: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fr-CA" sz="2200" b="1" i="0" u="none" strike="noStrike" cap="none" normalizeH="0" baseline="0" dirty="0">
                        <a:ln>
                          <a:noFill/>
                        </a:ln>
                        <a:solidFill>
                          <a:schemeClr val="tx1"/>
                        </a:solidFill>
                        <a:effectLst/>
                        <a:latin typeface="+mn-lt"/>
                      </a:endParaRPr>
                    </a:p>
                  </a:txBody>
                  <a:tcPr marL="65466" marR="65466"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fr-CA" sz="2200" b="1" i="0" u="none" strike="noStrike" cap="none" normalizeH="0" baseline="0" dirty="0">
                        <a:ln>
                          <a:noFill/>
                        </a:ln>
                        <a:solidFill>
                          <a:schemeClr val="tx1"/>
                        </a:solidFill>
                        <a:effectLst/>
                        <a:latin typeface="+mn-lt"/>
                      </a:endParaRPr>
                    </a:p>
                  </a:txBody>
                  <a:tcPr marL="65466" marR="65466" anchor="ctr" horzOverflow="overflow"/>
                </a:tc>
                <a:extLst>
                  <a:ext uri="{0D108BD9-81ED-4DB2-BD59-A6C34878D82A}">
                    <a16:rowId xmlns:a16="http://schemas.microsoft.com/office/drawing/2014/main" val="10004"/>
                  </a:ext>
                </a:extLst>
              </a:tr>
            </a:tbl>
          </a:graphicData>
        </a:graphic>
      </p:graphicFrame>
      <p:sp>
        <p:nvSpPr>
          <p:cNvPr id="7" name="ZoneTexte 6">
            <a:extLst>
              <a:ext uri="{FF2B5EF4-FFF2-40B4-BE49-F238E27FC236}">
                <a16:creationId xmlns:a16="http://schemas.microsoft.com/office/drawing/2014/main" id="{BD4449F6-A014-A248-5D58-2E7FE0B35429}"/>
              </a:ext>
            </a:extLst>
          </p:cNvPr>
          <p:cNvSpPr txBox="1"/>
          <p:nvPr/>
        </p:nvSpPr>
        <p:spPr>
          <a:xfrm rot="16200000">
            <a:off x="186047" y="5043788"/>
            <a:ext cx="1254624" cy="430887"/>
          </a:xfrm>
          <a:prstGeom prst="rect">
            <a:avLst/>
          </a:prstGeom>
          <a:noFill/>
        </p:spPr>
        <p:txBody>
          <a:bodyPr wrap="square" rtlCol="0">
            <a:spAutoFit/>
          </a:bodyPr>
          <a:lstStyle/>
          <a:p>
            <a:r>
              <a:rPr lang="fr-CA" sz="2200" dirty="0"/>
              <a:t>12 000 $</a:t>
            </a:r>
          </a:p>
        </p:txBody>
      </p:sp>
    </p:spTree>
    <p:extLst>
      <p:ext uri="{BB962C8B-B14F-4D97-AF65-F5344CB8AC3E}">
        <p14:creationId xmlns:p14="http://schemas.microsoft.com/office/powerpoint/2010/main" val="15925246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p:cNvSpPr>
          <p:nvPr>
            <p:ph type="title"/>
            <p:custDataLst>
              <p:tags r:id="rId2"/>
            </p:custDataLst>
          </p:nvPr>
        </p:nvSpPr>
        <p:spPr>
          <a:xfrm>
            <a:off x="723899" y="160589"/>
            <a:ext cx="10829925" cy="1042570"/>
          </a:xfrm>
        </p:spPr>
        <p:txBody>
          <a:bodyPr>
            <a:noAutofit/>
          </a:bodyPr>
          <a:lstStyle/>
          <a:p>
            <a:r>
              <a:rPr lang="fr-CA" sz="4000"/>
              <a:t>Continuer (ajouter) ou abandonner un produit</a:t>
            </a:r>
            <a:endParaRPr lang="fr-CA" sz="4000">
              <a:highlight>
                <a:srgbClr val="FFFF00"/>
              </a:highlight>
            </a:endParaRPr>
          </a:p>
        </p:txBody>
      </p:sp>
      <p:sp>
        <p:nvSpPr>
          <p:cNvPr id="6" name="Espace réservé du contenu 5"/>
          <p:cNvSpPr>
            <a:spLocks noGrp="1"/>
          </p:cNvSpPr>
          <p:nvPr>
            <p:ph idx="1"/>
            <p:custDataLst>
              <p:tags r:id="rId3"/>
            </p:custDataLst>
          </p:nvPr>
        </p:nvSpPr>
        <p:spPr/>
        <p:txBody>
          <a:bodyPr vert="horz" lIns="91440" tIns="45720" rIns="91440" bIns="45720" rtlCol="0" anchor="t">
            <a:normAutofit/>
          </a:bodyPr>
          <a:lstStyle/>
          <a:p>
            <a:pPr marL="0" indent="0">
              <a:buNone/>
            </a:pPr>
            <a:r>
              <a:rPr lang="fr-CA" sz="3600"/>
              <a:t>À noter :</a:t>
            </a:r>
          </a:p>
          <a:p>
            <a:r>
              <a:rPr lang="fr-CA"/>
              <a:t>Évidemment, les </a:t>
            </a:r>
            <a:r>
              <a:rPr lang="fr-CA" b="1"/>
              <a:t>facteurs qualitatifs </a:t>
            </a:r>
            <a:r>
              <a:rPr lang="fr-CA"/>
              <a:t>doivent toujours être considérés pour prendre une décision éclairée</a:t>
            </a:r>
            <a:endParaRPr lang="fr-CA">
              <a:cs typeface="Calibri"/>
            </a:endParaRPr>
          </a:p>
          <a:p>
            <a:pPr lvl="1"/>
            <a:r>
              <a:rPr lang="fr-CA"/>
              <a:t>Quel sera l’effet sur les employés qui resteront à leur poste ?</a:t>
            </a:r>
            <a:endParaRPr lang="fr-CA">
              <a:cs typeface="Calibri"/>
            </a:endParaRPr>
          </a:p>
          <a:p>
            <a:pPr lvl="1"/>
            <a:r>
              <a:rPr lang="fr-CA"/>
              <a:t>Est-ce que le produit est lié aux ventes d’un autre produit ? </a:t>
            </a:r>
          </a:p>
          <a:p>
            <a:pPr lvl="1"/>
            <a:r>
              <a:rPr lang="fr-CA"/>
              <a:t>Pourrons-nous récupérer les ventes perdues par les autres produits offerts ?</a:t>
            </a:r>
          </a:p>
          <a:p>
            <a:pPr lvl="1"/>
            <a:r>
              <a:rPr lang="fr-CA">
                <a:cs typeface="Calibri"/>
              </a:rPr>
              <a:t>(…)</a:t>
            </a:r>
          </a:p>
          <a:p>
            <a:endParaRPr lang="fr-CA"/>
          </a:p>
        </p:txBody>
      </p:sp>
      <p:sp>
        <p:nvSpPr>
          <p:cNvPr id="54307" name="Rectangle 35"/>
          <p:cNvSpPr>
            <a:spLocks noChangeArrowheads="1"/>
          </p:cNvSpPr>
          <p:nvPr>
            <p:custDataLst>
              <p:tags r:id="rId4"/>
            </p:custDataLst>
          </p:nvPr>
        </p:nvSpPr>
        <p:spPr bwMode="auto">
          <a:xfrm>
            <a:off x="2711624" y="4005264"/>
            <a:ext cx="7704856" cy="2592089"/>
          </a:xfrm>
          <a:prstGeom prst="rect">
            <a:avLst/>
          </a:prstGeom>
          <a:noFill/>
          <a:ln w="9525">
            <a:noFill/>
            <a:miter lim="800000"/>
            <a:headEnd/>
            <a:tailEnd/>
          </a:ln>
          <a:effectLst/>
        </p:spPr>
        <p:txBody>
          <a:bodyPr/>
          <a:lstStyle/>
          <a:p>
            <a:pPr marL="319088" indent="-319088">
              <a:spcBef>
                <a:spcPts val="700"/>
              </a:spcBef>
              <a:buClr>
                <a:schemeClr val="accent2"/>
              </a:buClr>
              <a:buSzPct val="60000"/>
            </a:pPr>
            <a:endParaRPr lang="fr-CA" sz="1900">
              <a:latin typeface="Tw Cen MT" pitchFamily="34" charset="0"/>
            </a:endParaRPr>
          </a:p>
        </p:txBody>
      </p:sp>
      <p:sp>
        <p:nvSpPr>
          <p:cNvPr id="2" name="Espace réservé du pied de page 3">
            <a:extLst>
              <a:ext uri="{FF2B5EF4-FFF2-40B4-BE49-F238E27FC236}">
                <a16:creationId xmlns:a16="http://schemas.microsoft.com/office/drawing/2014/main" id="{E2D538E9-9C0F-DA60-F96A-BB6EE73F8D51}"/>
              </a:ext>
            </a:extLst>
          </p:cNvPr>
          <p:cNvSpPr>
            <a:spLocks noGrp="1"/>
          </p:cNvSpPr>
          <p:nvPr>
            <p:ph type="ftr" sz="quarter" idx="11"/>
            <p:custDataLst>
              <p:tags r:id="rId5"/>
            </p:custDataLst>
          </p:nvPr>
        </p:nvSpPr>
        <p:spPr>
          <a:xfrm>
            <a:off x="4841376" y="6503436"/>
            <a:ext cx="2504492" cy="303343"/>
          </a:xfrm>
        </p:spPr>
        <p:txBody>
          <a:bodyPr/>
          <a:lstStyle/>
          <a:p>
            <a:pPr algn="ctr"/>
            <a:r>
              <a:rPr lang="pt-BR">
                <a:solidFill>
                  <a:prstClr val="black">
                    <a:tint val="75000"/>
                  </a:prstClr>
                </a:solidFill>
              </a:rPr>
              <a:t>(c) 10904 / S04 </a:t>
            </a:r>
            <a:endParaRPr lang="fr-CA">
              <a:solidFill>
                <a:prstClr val="black">
                  <a:tint val="75000"/>
                </a:prstClr>
              </a:solidFill>
            </a:endParaRPr>
          </a:p>
        </p:txBody>
      </p:sp>
      <p:sp>
        <p:nvSpPr>
          <p:cNvPr id="3" name="Espace réservé du numéro de diapositive 4">
            <a:extLst>
              <a:ext uri="{FF2B5EF4-FFF2-40B4-BE49-F238E27FC236}">
                <a16:creationId xmlns:a16="http://schemas.microsoft.com/office/drawing/2014/main" id="{D5BA1B45-2962-8CB6-3930-497643F3E4F3}"/>
              </a:ext>
            </a:extLst>
          </p:cNvPr>
          <p:cNvSpPr>
            <a:spLocks noGrp="1"/>
          </p:cNvSpPr>
          <p:nvPr>
            <p:ph type="sldNum" sz="quarter" idx="12"/>
            <p:custDataLst>
              <p:tags r:id="rId6"/>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36</a:t>
            </a:fld>
            <a:endParaRPr lang="fr-CA">
              <a:solidFill>
                <a:prstClr val="black">
                  <a:tint val="75000"/>
                </a:prstClr>
              </a:solidFill>
            </a:endParaRPr>
          </a:p>
        </p:txBody>
      </p:sp>
    </p:spTree>
    <p:custDataLst>
      <p:tags r:id="rId1"/>
    </p:custDataLst>
    <p:extLst>
      <p:ext uri="{BB962C8B-B14F-4D97-AF65-F5344CB8AC3E}">
        <p14:creationId xmlns:p14="http://schemas.microsoft.com/office/powerpoint/2010/main" val="35563046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29EE44-C2FE-0D9A-5556-1D81D4FF38F8}"/>
              </a:ext>
            </a:extLst>
          </p:cNvPr>
          <p:cNvSpPr>
            <a:spLocks noGrp="1"/>
          </p:cNvSpPr>
          <p:nvPr>
            <p:ph type="title"/>
            <p:custDataLst>
              <p:tags r:id="rId1"/>
            </p:custDataLst>
          </p:nvPr>
        </p:nvSpPr>
        <p:spPr>
          <a:xfrm>
            <a:off x="774915" y="160589"/>
            <a:ext cx="10578885" cy="1042570"/>
          </a:xfrm>
        </p:spPr>
        <p:txBody>
          <a:bodyPr>
            <a:normAutofit/>
          </a:bodyPr>
          <a:lstStyle/>
          <a:p>
            <a:r>
              <a:rPr lang="en-CA" dirty="0"/>
              <a:t>Question de </a:t>
            </a:r>
            <a:r>
              <a:rPr lang="en-CA" dirty="0" err="1"/>
              <a:t>révision</a:t>
            </a:r>
            <a:r>
              <a:rPr lang="en-CA" dirty="0"/>
              <a:t> </a:t>
            </a:r>
            <a:endParaRPr lang="en-CA" dirty="0">
              <a:cs typeface="Calibri Light"/>
            </a:endParaRPr>
          </a:p>
        </p:txBody>
      </p:sp>
      <p:sp>
        <p:nvSpPr>
          <p:cNvPr id="3" name="Espace réservé du contenu 2">
            <a:extLst>
              <a:ext uri="{FF2B5EF4-FFF2-40B4-BE49-F238E27FC236}">
                <a16:creationId xmlns:a16="http://schemas.microsoft.com/office/drawing/2014/main" id="{7FF28D5F-0DCB-9D7F-E8F2-D652A9BD5AE6}"/>
              </a:ext>
            </a:extLst>
          </p:cNvPr>
          <p:cNvSpPr>
            <a:spLocks noGrp="1"/>
          </p:cNvSpPr>
          <p:nvPr>
            <p:ph idx="1"/>
            <p:custDataLst>
              <p:tags r:id="rId2"/>
            </p:custDataLst>
          </p:nvPr>
        </p:nvSpPr>
        <p:spPr>
          <a:xfrm>
            <a:off x="350729" y="1452881"/>
            <a:ext cx="5225823" cy="4897506"/>
          </a:xfrm>
        </p:spPr>
        <p:txBody>
          <a:bodyPr vert="horz" lIns="91440" tIns="45720" rIns="91440" bIns="45720" rtlCol="0" anchor="t">
            <a:normAutofit/>
          </a:bodyPr>
          <a:lstStyle/>
          <a:p>
            <a:pPr marL="0" indent="0">
              <a:buNone/>
            </a:pPr>
            <a:r>
              <a:rPr lang="fr-CA" sz="2200" dirty="0"/>
              <a:t>La ferme Deschamps et Fils est une entreprise agricole qui cultive les champs l'été et fait du déneigement pour les cours des particuliers l'hiver. La ferme possède 4 tracteurs qui sont utilisés été comme hiver et entreposés dans les bâtiments de l'entreprise. De plus, l'entreprise possède des équipements utilisés uniquement pendant la saison d'hiver (souffleuse à neige) et d'autres qui servent uniquement lors des travaux d'été. </a:t>
            </a:r>
          </a:p>
          <a:p>
            <a:pPr marL="0" indent="0">
              <a:buNone/>
            </a:pPr>
            <a:r>
              <a:rPr lang="fr-CA" sz="2200" dirty="0"/>
              <a:t>Voici trouverez dans le tableau ci-contre, quelques informations sur les revenus et les coûts de la ferme.</a:t>
            </a:r>
            <a:endParaRPr lang="en-CA" sz="2200" dirty="0"/>
          </a:p>
          <a:p>
            <a:pPr marL="0" indent="0">
              <a:buNone/>
            </a:pPr>
            <a:endParaRPr lang="en-CA" sz="2400" dirty="0"/>
          </a:p>
        </p:txBody>
      </p:sp>
      <p:graphicFrame>
        <p:nvGraphicFramePr>
          <p:cNvPr id="6" name="Tableau 6">
            <a:extLst>
              <a:ext uri="{FF2B5EF4-FFF2-40B4-BE49-F238E27FC236}">
                <a16:creationId xmlns:a16="http://schemas.microsoft.com/office/drawing/2014/main" id="{B61DE2C0-B48A-A595-CA02-E0B260067F17}"/>
              </a:ext>
            </a:extLst>
          </p:cNvPr>
          <p:cNvGraphicFramePr>
            <a:graphicFrameLocks noGrp="1"/>
          </p:cNvGraphicFramePr>
          <p:nvPr>
            <p:custDataLst>
              <p:tags r:id="rId3"/>
            </p:custDataLst>
          </p:nvPr>
        </p:nvGraphicFramePr>
        <p:xfrm>
          <a:off x="5576552" y="1542641"/>
          <a:ext cx="6393067" cy="3864560"/>
        </p:xfrm>
        <a:graphic>
          <a:graphicData uri="http://schemas.openxmlformats.org/drawingml/2006/table">
            <a:tbl>
              <a:tblPr firstRow="1" bandRow="1">
                <a:tableStyleId>{5940675A-B579-460E-94D1-54222C63F5DA}</a:tableStyleId>
              </a:tblPr>
              <a:tblGrid>
                <a:gridCol w="2659026">
                  <a:extLst>
                    <a:ext uri="{9D8B030D-6E8A-4147-A177-3AD203B41FA5}">
                      <a16:colId xmlns:a16="http://schemas.microsoft.com/office/drawing/2014/main" val="605514192"/>
                    </a:ext>
                  </a:extLst>
                </a:gridCol>
                <a:gridCol w="1210517">
                  <a:extLst>
                    <a:ext uri="{9D8B030D-6E8A-4147-A177-3AD203B41FA5}">
                      <a16:colId xmlns:a16="http://schemas.microsoft.com/office/drawing/2014/main" val="1680050039"/>
                    </a:ext>
                  </a:extLst>
                </a:gridCol>
                <a:gridCol w="1261762">
                  <a:extLst>
                    <a:ext uri="{9D8B030D-6E8A-4147-A177-3AD203B41FA5}">
                      <a16:colId xmlns:a16="http://schemas.microsoft.com/office/drawing/2014/main" val="3301273123"/>
                    </a:ext>
                  </a:extLst>
                </a:gridCol>
                <a:gridCol w="1261762">
                  <a:extLst>
                    <a:ext uri="{9D8B030D-6E8A-4147-A177-3AD203B41FA5}">
                      <a16:colId xmlns:a16="http://schemas.microsoft.com/office/drawing/2014/main" val="572534412"/>
                    </a:ext>
                  </a:extLst>
                </a:gridCol>
              </a:tblGrid>
              <a:tr h="347435">
                <a:tc>
                  <a:txBody>
                    <a:bodyPr/>
                    <a:lstStyle/>
                    <a:p>
                      <a:endParaRPr lang="en-CA" noProof="0"/>
                    </a:p>
                  </a:txBody>
                  <a:tcPr/>
                </a:tc>
                <a:tc>
                  <a:txBody>
                    <a:bodyPr/>
                    <a:lstStyle/>
                    <a:p>
                      <a:r>
                        <a:rPr lang="en-CA" b="1" noProof="0" err="1"/>
                        <a:t>Été</a:t>
                      </a:r>
                      <a:endParaRPr lang="en-CA" b="1" noProof="0"/>
                    </a:p>
                  </a:txBody>
                  <a:tcPr/>
                </a:tc>
                <a:tc>
                  <a:txBody>
                    <a:bodyPr/>
                    <a:lstStyle/>
                    <a:p>
                      <a:r>
                        <a:rPr lang="en-CA" b="1" noProof="0" dirty="0"/>
                        <a:t>Hiver</a:t>
                      </a:r>
                    </a:p>
                  </a:txBody>
                  <a:tcPr/>
                </a:tc>
                <a:tc>
                  <a:txBody>
                    <a:bodyPr/>
                    <a:lstStyle/>
                    <a:p>
                      <a:r>
                        <a:rPr lang="en-CA" b="1" noProof="0" dirty="0"/>
                        <a:t>Total </a:t>
                      </a:r>
                    </a:p>
                  </a:txBody>
                  <a:tcPr/>
                </a:tc>
                <a:extLst>
                  <a:ext uri="{0D108BD9-81ED-4DB2-BD59-A6C34878D82A}">
                    <a16:rowId xmlns:a16="http://schemas.microsoft.com/office/drawing/2014/main" val="2506990494"/>
                  </a:ext>
                </a:extLst>
              </a:tr>
              <a:tr h="345138">
                <a:tc>
                  <a:txBody>
                    <a:bodyPr/>
                    <a:lstStyle/>
                    <a:p>
                      <a:r>
                        <a:rPr lang="en-CA" b="1" noProof="0"/>
                        <a:t>Ventes</a:t>
                      </a:r>
                    </a:p>
                  </a:txBody>
                  <a:tcPr/>
                </a:tc>
                <a:tc>
                  <a:txBody>
                    <a:bodyPr/>
                    <a:lstStyle/>
                    <a:p>
                      <a:r>
                        <a:rPr lang="en-CA" noProof="0"/>
                        <a:t>415 000 $</a:t>
                      </a:r>
                    </a:p>
                  </a:txBody>
                  <a:tcPr/>
                </a:tc>
                <a:tc>
                  <a:txBody>
                    <a:bodyPr/>
                    <a:lstStyle/>
                    <a:p>
                      <a:r>
                        <a:rPr lang="en-CA" noProof="0"/>
                        <a:t>130 000 $</a:t>
                      </a:r>
                    </a:p>
                  </a:txBody>
                  <a:tcPr/>
                </a:tc>
                <a:tc>
                  <a:txBody>
                    <a:bodyPr/>
                    <a:lstStyle/>
                    <a:p>
                      <a:r>
                        <a:rPr lang="en-CA" noProof="0" dirty="0"/>
                        <a:t>545 000 $</a:t>
                      </a:r>
                    </a:p>
                  </a:txBody>
                  <a:tcPr/>
                </a:tc>
                <a:extLst>
                  <a:ext uri="{0D108BD9-81ED-4DB2-BD59-A6C34878D82A}">
                    <a16:rowId xmlns:a16="http://schemas.microsoft.com/office/drawing/2014/main" val="3390228602"/>
                  </a:ext>
                </a:extLst>
              </a:tr>
              <a:tr h="963831">
                <a:tc>
                  <a:txBody>
                    <a:bodyPr/>
                    <a:lstStyle/>
                    <a:p>
                      <a:r>
                        <a:rPr lang="en-CA" b="1" noProof="0"/>
                        <a:t>Coûts variables</a:t>
                      </a:r>
                    </a:p>
                    <a:p>
                      <a:pPr marL="179705"/>
                      <a:r>
                        <a:rPr lang="en-CA" noProof="0"/>
                        <a:t>Pesticides, engrais, etc.</a:t>
                      </a:r>
                    </a:p>
                    <a:p>
                      <a:pPr marL="179705"/>
                      <a:r>
                        <a:rPr lang="en-CA" noProof="0"/>
                        <a:t>MOD</a:t>
                      </a:r>
                    </a:p>
                    <a:p>
                      <a:pPr marL="180000"/>
                      <a:r>
                        <a:rPr lang="en-CA" noProof="0"/>
                        <a:t>Essence</a:t>
                      </a:r>
                    </a:p>
                  </a:txBody>
                  <a:tcPr/>
                </a:tc>
                <a:tc>
                  <a:txBody>
                    <a:bodyPr/>
                    <a:lstStyle/>
                    <a:p>
                      <a:endParaRPr lang="en-CA" noProof="0"/>
                    </a:p>
                    <a:p>
                      <a:r>
                        <a:rPr lang="en-CA" noProof="0"/>
                        <a:t>  50 000 $</a:t>
                      </a:r>
                    </a:p>
                    <a:p>
                      <a:r>
                        <a:rPr lang="en-CA" noProof="0"/>
                        <a:t>  75 000 $</a:t>
                      </a:r>
                    </a:p>
                    <a:p>
                      <a:r>
                        <a:rPr lang="en-CA" noProof="0"/>
                        <a:t>100 000 $</a:t>
                      </a:r>
                    </a:p>
                  </a:txBody>
                  <a:tcPr/>
                </a:tc>
                <a:tc>
                  <a:txBody>
                    <a:bodyPr/>
                    <a:lstStyle/>
                    <a:p>
                      <a:endParaRPr lang="en-CA" noProof="0"/>
                    </a:p>
                    <a:p>
                      <a:endParaRPr lang="en-CA" noProof="0"/>
                    </a:p>
                    <a:p>
                      <a:r>
                        <a:rPr lang="en-CA" noProof="0"/>
                        <a:t>  75 000 $</a:t>
                      </a:r>
                    </a:p>
                    <a:p>
                      <a:r>
                        <a:rPr lang="en-CA" noProof="0"/>
                        <a:t>  30 000 $</a:t>
                      </a:r>
                    </a:p>
                  </a:txBody>
                  <a:tcPr/>
                </a:tc>
                <a:tc>
                  <a:txBody>
                    <a:bodyPr/>
                    <a:lstStyle/>
                    <a:p>
                      <a:endParaRPr lang="en-CA" noProof="0" dirty="0"/>
                    </a:p>
                    <a:p>
                      <a:endParaRPr lang="en-CA" noProof="0" dirty="0"/>
                    </a:p>
                    <a:p>
                      <a:r>
                        <a:rPr lang="en-CA" noProof="0" dirty="0"/>
                        <a:t>330 000 $</a:t>
                      </a:r>
                    </a:p>
                  </a:txBody>
                  <a:tcPr/>
                </a:tc>
                <a:extLst>
                  <a:ext uri="{0D108BD9-81ED-4DB2-BD59-A6C34878D82A}">
                    <a16:rowId xmlns:a16="http://schemas.microsoft.com/office/drawing/2014/main" val="2268729115"/>
                  </a:ext>
                </a:extLst>
              </a:tr>
              <a:tr h="1186253">
                <a:tc>
                  <a:txBody>
                    <a:bodyPr/>
                    <a:lstStyle/>
                    <a:p>
                      <a:r>
                        <a:rPr lang="en-CA" b="1" noProof="0" err="1"/>
                        <a:t>Coûts</a:t>
                      </a:r>
                      <a:r>
                        <a:rPr lang="en-CA" b="1" noProof="0"/>
                        <a:t> fixes</a:t>
                      </a:r>
                    </a:p>
                    <a:p>
                      <a:pPr marL="180000" lvl="1"/>
                      <a:r>
                        <a:rPr lang="en-CA" noProof="0" err="1"/>
                        <a:t>Bâtiment</a:t>
                      </a:r>
                      <a:endParaRPr lang="en-CA" noProof="0"/>
                    </a:p>
                    <a:p>
                      <a:pPr marL="179705" lvl="1"/>
                      <a:r>
                        <a:rPr lang="en-CA" noProof="0" err="1"/>
                        <a:t>Tracteurs</a:t>
                      </a:r>
                      <a:endParaRPr lang="en-CA" noProof="0"/>
                    </a:p>
                    <a:p>
                      <a:pPr marL="179705" lvl="1"/>
                      <a:r>
                        <a:rPr lang="en-CA" noProof="0" err="1"/>
                        <a:t>Équipement</a:t>
                      </a:r>
                      <a:r>
                        <a:rPr lang="en-CA" noProof="0"/>
                        <a:t> - </a:t>
                      </a:r>
                      <a:r>
                        <a:rPr lang="en-CA" noProof="0" err="1"/>
                        <a:t>été</a:t>
                      </a:r>
                      <a:endParaRPr lang="en-CA" noProof="0"/>
                    </a:p>
                    <a:p>
                      <a:pPr marL="179705" lvl="1"/>
                      <a:r>
                        <a:rPr lang="en-CA" noProof="0" err="1"/>
                        <a:t>Équipement</a:t>
                      </a:r>
                      <a:r>
                        <a:rPr lang="en-CA" noProof="0"/>
                        <a:t> - hiver</a:t>
                      </a:r>
                    </a:p>
                  </a:txBody>
                  <a:tcPr/>
                </a:tc>
                <a:tc>
                  <a:txBody>
                    <a:bodyPr/>
                    <a:lstStyle/>
                    <a:p>
                      <a:endParaRPr lang="en-CA" noProof="0"/>
                    </a:p>
                    <a:p>
                      <a:r>
                        <a:rPr lang="en-CA" noProof="0"/>
                        <a:t>  20 000 $</a:t>
                      </a:r>
                    </a:p>
                    <a:p>
                      <a:r>
                        <a:rPr lang="en-CA" noProof="0"/>
                        <a:t>  24 000 $</a:t>
                      </a:r>
                    </a:p>
                    <a:p>
                      <a:r>
                        <a:rPr lang="en-CA" noProof="0"/>
                        <a:t>  10 000 $</a:t>
                      </a:r>
                    </a:p>
                    <a:p>
                      <a:r>
                        <a:rPr lang="en-CA" noProof="0"/>
                        <a:t>          -</a:t>
                      </a:r>
                    </a:p>
                  </a:txBody>
                  <a:tcPr/>
                </a:tc>
                <a:tc>
                  <a:txBody>
                    <a:bodyPr/>
                    <a:lstStyle/>
                    <a:p>
                      <a:endParaRPr lang="en-CA" noProof="0"/>
                    </a:p>
                    <a:p>
                      <a:r>
                        <a:rPr lang="en-CA" noProof="0"/>
                        <a:t>  20 000 $</a:t>
                      </a:r>
                    </a:p>
                    <a:p>
                      <a:r>
                        <a:rPr lang="en-CA" noProof="0"/>
                        <a:t>  24 000 $</a:t>
                      </a:r>
                    </a:p>
                    <a:p>
                      <a:r>
                        <a:rPr lang="en-CA" noProof="0"/>
                        <a:t>         -</a:t>
                      </a:r>
                    </a:p>
                    <a:p>
                      <a:r>
                        <a:rPr lang="en-CA" noProof="0"/>
                        <a:t>  12 000 $</a:t>
                      </a:r>
                    </a:p>
                  </a:txBody>
                  <a:tcPr/>
                </a:tc>
                <a:tc>
                  <a:txBody>
                    <a:bodyPr/>
                    <a:lstStyle/>
                    <a:p>
                      <a:endParaRPr lang="en-CA" noProof="0" dirty="0"/>
                    </a:p>
                    <a:p>
                      <a:r>
                        <a:rPr lang="en-CA" noProof="0" dirty="0"/>
                        <a:t>110 000 $</a:t>
                      </a:r>
                    </a:p>
                  </a:txBody>
                  <a:tcPr/>
                </a:tc>
                <a:extLst>
                  <a:ext uri="{0D108BD9-81ED-4DB2-BD59-A6C34878D82A}">
                    <a16:rowId xmlns:a16="http://schemas.microsoft.com/office/drawing/2014/main" val="2512256763"/>
                  </a:ext>
                </a:extLst>
              </a:tr>
              <a:tr h="481280">
                <a:tc>
                  <a:txBody>
                    <a:bodyPr/>
                    <a:lstStyle/>
                    <a:p>
                      <a:pPr marL="0" lvl="0" indent="-277495"/>
                      <a:r>
                        <a:rPr lang="en-CA" b="1" noProof="0" err="1"/>
                        <a:t>Résultat</a:t>
                      </a:r>
                      <a:r>
                        <a:rPr lang="en-CA" b="1" noProof="0"/>
                        <a:t> </a:t>
                      </a:r>
                      <a:r>
                        <a:rPr lang="en-CA" b="1" noProof="0" err="1"/>
                        <a:t>d’exploitation</a:t>
                      </a:r>
                      <a:endParaRPr lang="en-CA" b="1" noProof="0"/>
                    </a:p>
                  </a:txBody>
                  <a:tcPr/>
                </a:tc>
                <a:tc>
                  <a:txBody>
                    <a:bodyPr/>
                    <a:lstStyle/>
                    <a:p>
                      <a:r>
                        <a:rPr lang="en-CA" noProof="0"/>
                        <a:t>136 000 $</a:t>
                      </a:r>
                    </a:p>
                  </a:txBody>
                  <a:tcPr/>
                </a:tc>
                <a:tc>
                  <a:txBody>
                    <a:bodyPr/>
                    <a:lstStyle/>
                    <a:p>
                      <a:r>
                        <a:rPr lang="en-CA" noProof="0" dirty="0"/>
                        <a:t>(31 000)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b="1" noProof="0" dirty="0"/>
                        <a:t>105 000 $</a:t>
                      </a:r>
                    </a:p>
                  </a:txBody>
                  <a:tcPr/>
                </a:tc>
                <a:extLst>
                  <a:ext uri="{0D108BD9-81ED-4DB2-BD59-A6C34878D82A}">
                    <a16:rowId xmlns:a16="http://schemas.microsoft.com/office/drawing/2014/main" val="3137109018"/>
                  </a:ext>
                </a:extLst>
              </a:tr>
            </a:tbl>
          </a:graphicData>
        </a:graphic>
      </p:graphicFrame>
      <p:sp>
        <p:nvSpPr>
          <p:cNvPr id="4" name="Espace réservé du contenu 2">
            <a:extLst>
              <a:ext uri="{FF2B5EF4-FFF2-40B4-BE49-F238E27FC236}">
                <a16:creationId xmlns:a16="http://schemas.microsoft.com/office/drawing/2014/main" id="{72CFA9E3-1925-192A-05FE-E16DFABE88EB}"/>
              </a:ext>
            </a:extLst>
          </p:cNvPr>
          <p:cNvSpPr txBox="1">
            <a:spLocks/>
          </p:cNvSpPr>
          <p:nvPr>
            <p:custDataLst>
              <p:tags r:id="rId4"/>
            </p:custDataLst>
          </p:nvPr>
        </p:nvSpPr>
        <p:spPr>
          <a:xfrm>
            <a:off x="1940284" y="5895134"/>
            <a:ext cx="9183796" cy="867193"/>
          </a:xfrm>
          <a:prstGeom prst="rect">
            <a:avLst/>
          </a:prstGeom>
          <a:no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CA" sz="2400" b="1" dirty="0">
                <a:effectLst/>
              </a:rPr>
              <a:t>Monsieur Deschamps se demande s’il devrait continuer d’offrir le service de déneigement l’hiver. </a:t>
            </a:r>
            <a:r>
              <a:rPr lang="fr-CA" sz="2400" b="1" dirty="0"/>
              <a:t>Qu’en pensez-vous?</a:t>
            </a:r>
            <a:endParaRPr lang="fr-CA" sz="2400" b="1" dirty="0">
              <a:effectLst/>
            </a:endParaRPr>
          </a:p>
        </p:txBody>
      </p:sp>
      <p:sp>
        <p:nvSpPr>
          <p:cNvPr id="5" name="Espace réservé du pied de page 3">
            <a:extLst>
              <a:ext uri="{FF2B5EF4-FFF2-40B4-BE49-F238E27FC236}">
                <a16:creationId xmlns:a16="http://schemas.microsoft.com/office/drawing/2014/main" id="{11DF1728-234C-1679-4C06-406F687AFBAC}"/>
              </a:ext>
            </a:extLst>
          </p:cNvPr>
          <p:cNvSpPr>
            <a:spLocks noGrp="1"/>
          </p:cNvSpPr>
          <p:nvPr>
            <p:ph type="ftr" sz="quarter" idx="11"/>
            <p:custDataLst>
              <p:tags r:id="rId5"/>
            </p:custDataLst>
          </p:nvPr>
        </p:nvSpPr>
        <p:spPr>
          <a:xfrm>
            <a:off x="8773085" y="6351764"/>
            <a:ext cx="2504492" cy="303343"/>
          </a:xfrm>
        </p:spPr>
        <p:txBody>
          <a:bodyPr/>
          <a:lstStyle/>
          <a:p>
            <a:pPr algn="ctr"/>
            <a:r>
              <a:rPr lang="pt-BR" dirty="0">
                <a:solidFill>
                  <a:prstClr val="black">
                    <a:tint val="75000"/>
                  </a:prstClr>
                </a:solidFill>
              </a:rPr>
              <a:t>(c) 10904 / S04 </a:t>
            </a:r>
            <a:endParaRPr lang="fr-CA" dirty="0">
              <a:solidFill>
                <a:prstClr val="black">
                  <a:tint val="75000"/>
                </a:prstClr>
              </a:solidFill>
            </a:endParaRPr>
          </a:p>
        </p:txBody>
      </p:sp>
      <p:sp>
        <p:nvSpPr>
          <p:cNvPr id="7" name="Espace réservé du numéro de diapositive 4">
            <a:extLst>
              <a:ext uri="{FF2B5EF4-FFF2-40B4-BE49-F238E27FC236}">
                <a16:creationId xmlns:a16="http://schemas.microsoft.com/office/drawing/2014/main" id="{68FF31DA-7881-2646-91AC-5653E7B49816}"/>
              </a:ext>
            </a:extLst>
          </p:cNvPr>
          <p:cNvSpPr>
            <a:spLocks noGrp="1"/>
          </p:cNvSpPr>
          <p:nvPr>
            <p:ph type="sldNum" sz="quarter" idx="12"/>
            <p:custDataLst>
              <p:tags r:id="rId6"/>
            </p:custDataLst>
          </p:nvPr>
        </p:nvSpPr>
        <p:spPr>
          <a:xfrm>
            <a:off x="11439330" y="6353143"/>
            <a:ext cx="530290" cy="300587"/>
          </a:xfrm>
        </p:spPr>
        <p:txBody>
          <a:bodyPr/>
          <a:lstStyle/>
          <a:p>
            <a:fld id="{1F20FBA3-27E4-4E13-841E-B59ED0E8E620}" type="slidenum">
              <a:rPr lang="fr-CA" smtClean="0">
                <a:solidFill>
                  <a:prstClr val="black">
                    <a:tint val="75000"/>
                  </a:prstClr>
                </a:solidFill>
              </a:rPr>
              <a:pPr/>
              <a:t>37</a:t>
            </a:fld>
            <a:endParaRPr lang="fr-CA">
              <a:solidFill>
                <a:prstClr val="black">
                  <a:tint val="75000"/>
                </a:prstClr>
              </a:solidFill>
            </a:endParaRPr>
          </a:p>
        </p:txBody>
      </p:sp>
    </p:spTree>
    <p:extLst>
      <p:ext uri="{BB962C8B-B14F-4D97-AF65-F5344CB8AC3E}">
        <p14:creationId xmlns:p14="http://schemas.microsoft.com/office/powerpoint/2010/main" val="8062759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1F631-5660-B6FC-70BE-2E46D1340521}"/>
              </a:ext>
            </a:extLst>
          </p:cNvPr>
          <p:cNvSpPr>
            <a:spLocks noGrp="1"/>
          </p:cNvSpPr>
          <p:nvPr>
            <p:ph type="title"/>
            <p:custDataLst>
              <p:tags r:id="rId1"/>
            </p:custDataLst>
          </p:nvPr>
        </p:nvSpPr>
        <p:spPr/>
        <p:txBody>
          <a:bodyPr/>
          <a:lstStyle/>
          <a:p>
            <a:r>
              <a:rPr lang="en-US" err="1">
                <a:cs typeface="Calibri Light"/>
              </a:rPr>
              <a:t>Piste</a:t>
            </a:r>
            <a:r>
              <a:rPr lang="en-US">
                <a:cs typeface="Calibri Light"/>
              </a:rPr>
              <a:t> de solution (étudiant)</a:t>
            </a:r>
            <a:endParaRPr lang="en-US" dirty="0"/>
          </a:p>
        </p:txBody>
      </p:sp>
      <p:graphicFrame>
        <p:nvGraphicFramePr>
          <p:cNvPr id="5" name="Tableau 6">
            <a:extLst>
              <a:ext uri="{FF2B5EF4-FFF2-40B4-BE49-F238E27FC236}">
                <a16:creationId xmlns:a16="http://schemas.microsoft.com/office/drawing/2014/main" id="{70A68E0E-229B-9541-5689-322D13CED70B}"/>
              </a:ext>
            </a:extLst>
          </p:cNvPr>
          <p:cNvGraphicFramePr>
            <a:graphicFrameLocks noGrp="1"/>
          </p:cNvGraphicFramePr>
          <p:nvPr>
            <p:custDataLst>
              <p:tags r:id="rId2"/>
            </p:custDataLst>
            <p:extLst>
              <p:ext uri="{D42A27DB-BD31-4B8C-83A1-F6EECF244321}">
                <p14:modId xmlns:p14="http://schemas.microsoft.com/office/powerpoint/2010/main" val="452566869"/>
              </p:ext>
            </p:extLst>
          </p:nvPr>
        </p:nvGraphicFramePr>
        <p:xfrm>
          <a:off x="528302" y="1571216"/>
          <a:ext cx="10825498" cy="4016960"/>
        </p:xfrm>
        <a:graphic>
          <a:graphicData uri="http://schemas.openxmlformats.org/drawingml/2006/table">
            <a:tbl>
              <a:tblPr firstRow="1" bandRow="1">
                <a:tableStyleId>{5940675A-B579-460E-94D1-54222C63F5DA}</a:tableStyleId>
              </a:tblPr>
              <a:tblGrid>
                <a:gridCol w="3112147">
                  <a:extLst>
                    <a:ext uri="{9D8B030D-6E8A-4147-A177-3AD203B41FA5}">
                      <a16:colId xmlns:a16="http://schemas.microsoft.com/office/drawing/2014/main" val="605514192"/>
                    </a:ext>
                  </a:extLst>
                </a:gridCol>
                <a:gridCol w="1606948">
                  <a:extLst>
                    <a:ext uri="{9D8B030D-6E8A-4147-A177-3AD203B41FA5}">
                      <a16:colId xmlns:a16="http://schemas.microsoft.com/office/drawing/2014/main" val="3301273123"/>
                    </a:ext>
                  </a:extLst>
                </a:gridCol>
                <a:gridCol w="6106403">
                  <a:extLst>
                    <a:ext uri="{9D8B030D-6E8A-4147-A177-3AD203B41FA5}">
                      <a16:colId xmlns:a16="http://schemas.microsoft.com/office/drawing/2014/main" val="1828467240"/>
                    </a:ext>
                  </a:extLst>
                </a:gridCol>
              </a:tblGrid>
              <a:tr h="347435">
                <a:tc>
                  <a:txBody>
                    <a:bodyPr/>
                    <a:lstStyle/>
                    <a:p>
                      <a:endParaRPr lang="en-CA" noProof="0" dirty="0"/>
                    </a:p>
                  </a:txBody>
                  <a:tcPr/>
                </a:tc>
                <a:tc>
                  <a:txBody>
                    <a:bodyPr/>
                    <a:lstStyle/>
                    <a:p>
                      <a:r>
                        <a:rPr lang="en-CA" b="1" noProof="0" dirty="0"/>
                        <a:t>Hiver</a:t>
                      </a:r>
                    </a:p>
                  </a:txBody>
                  <a:tcPr/>
                </a:tc>
                <a:tc>
                  <a:txBody>
                    <a:bodyPr/>
                    <a:lstStyle/>
                    <a:p>
                      <a:pPr lvl="0">
                        <a:buNone/>
                      </a:pPr>
                      <a:r>
                        <a:rPr lang="en-CA" noProof="0" dirty="0"/>
                        <a:t>Continue          Abandon                                  </a:t>
                      </a:r>
                      <a:r>
                        <a:rPr lang="en-CA" noProof="0" dirty="0" err="1"/>
                        <a:t>Résultat</a:t>
                      </a:r>
                      <a:r>
                        <a:rPr lang="en-CA" noProof="0" dirty="0"/>
                        <a:t> </a:t>
                      </a:r>
                      <a:r>
                        <a:rPr lang="en-CA" noProof="0" dirty="0" err="1"/>
                        <a:t>différentiel</a:t>
                      </a:r>
                      <a:endParaRPr lang="en-CA" noProof="0" dirty="0"/>
                    </a:p>
                  </a:txBody>
                  <a:tcPr/>
                </a:tc>
                <a:extLst>
                  <a:ext uri="{0D108BD9-81ED-4DB2-BD59-A6C34878D82A}">
                    <a16:rowId xmlns:a16="http://schemas.microsoft.com/office/drawing/2014/main" val="2506990494"/>
                  </a:ext>
                </a:extLst>
              </a:tr>
              <a:tr h="345138">
                <a:tc>
                  <a:txBody>
                    <a:bodyPr/>
                    <a:lstStyle/>
                    <a:p>
                      <a:r>
                        <a:rPr lang="en-CA" b="1" noProof="0" dirty="0"/>
                        <a:t>Ventes</a:t>
                      </a:r>
                    </a:p>
                  </a:txBody>
                  <a:tcPr/>
                </a:tc>
                <a:tc>
                  <a:txBody>
                    <a:bodyPr/>
                    <a:lstStyle/>
                    <a:p>
                      <a:r>
                        <a:rPr lang="en-CA" noProof="0" dirty="0"/>
                        <a:t>130 000 $</a:t>
                      </a:r>
                    </a:p>
                  </a:txBody>
                  <a:tcPr/>
                </a:tc>
                <a:tc rowSpan="4">
                  <a:txBody>
                    <a:bodyPr/>
                    <a:lstStyle/>
                    <a:p>
                      <a:pPr lvl="0">
                        <a:buNone/>
                      </a:pPr>
                      <a:endParaRPr lang="en-CA" noProof="0" dirty="0"/>
                    </a:p>
                  </a:txBody>
                  <a:tcPr/>
                </a:tc>
                <a:extLst>
                  <a:ext uri="{0D108BD9-81ED-4DB2-BD59-A6C34878D82A}">
                    <a16:rowId xmlns:a16="http://schemas.microsoft.com/office/drawing/2014/main" val="3390228602"/>
                  </a:ext>
                </a:extLst>
              </a:tr>
              <a:tr h="963831">
                <a:tc>
                  <a:txBody>
                    <a:bodyPr/>
                    <a:lstStyle/>
                    <a:p>
                      <a:r>
                        <a:rPr lang="en-CA" b="1" noProof="0" dirty="0" err="1"/>
                        <a:t>Coûts</a:t>
                      </a:r>
                      <a:r>
                        <a:rPr lang="en-CA" b="1" noProof="0" dirty="0"/>
                        <a:t> variables</a:t>
                      </a:r>
                    </a:p>
                    <a:p>
                      <a:pPr marL="179705"/>
                      <a:r>
                        <a:rPr lang="en-CA" sz="1600" noProof="0" dirty="0"/>
                        <a:t>Pesticides, </a:t>
                      </a:r>
                      <a:r>
                        <a:rPr lang="en-CA" sz="1600" noProof="0" dirty="0" err="1"/>
                        <a:t>engrais</a:t>
                      </a:r>
                      <a:r>
                        <a:rPr lang="en-CA" sz="1600" noProof="0" dirty="0"/>
                        <a:t>, ...</a:t>
                      </a:r>
                    </a:p>
                    <a:p>
                      <a:pPr marL="179705"/>
                      <a:r>
                        <a:rPr lang="en-CA" sz="1600" noProof="0" dirty="0"/>
                        <a:t>MOD</a:t>
                      </a:r>
                    </a:p>
                    <a:p>
                      <a:pPr marL="179705"/>
                      <a:r>
                        <a:rPr lang="en-CA" sz="1600" noProof="0" dirty="0"/>
                        <a:t>Essence</a:t>
                      </a:r>
                    </a:p>
                  </a:txBody>
                  <a:tcPr/>
                </a:tc>
                <a:tc>
                  <a:txBody>
                    <a:bodyPr/>
                    <a:lstStyle/>
                    <a:p>
                      <a:endParaRPr lang="en-CA" noProof="0" dirty="0"/>
                    </a:p>
                    <a:p>
                      <a:endParaRPr lang="en-CA" noProof="0" dirty="0"/>
                    </a:p>
                    <a:p>
                      <a:r>
                        <a:rPr lang="en-CA" noProof="0" dirty="0"/>
                        <a:t>  75 000 $</a:t>
                      </a:r>
                    </a:p>
                    <a:p>
                      <a:r>
                        <a:rPr lang="en-CA" noProof="0" dirty="0"/>
                        <a:t>  30 000 $</a:t>
                      </a:r>
                    </a:p>
                  </a:txBody>
                  <a:tcPr/>
                </a:tc>
                <a:tc vMerge="1">
                  <a:txBody>
                    <a:bodyPr/>
                    <a:lstStyle/>
                    <a:p>
                      <a:endParaRPr lang="en-US"/>
                    </a:p>
                  </a:txBody>
                  <a:tcPr/>
                </a:tc>
                <a:extLst>
                  <a:ext uri="{0D108BD9-81ED-4DB2-BD59-A6C34878D82A}">
                    <a16:rowId xmlns:a16="http://schemas.microsoft.com/office/drawing/2014/main" val="2268729115"/>
                  </a:ext>
                </a:extLst>
              </a:tr>
              <a:tr h="1186253">
                <a:tc>
                  <a:txBody>
                    <a:bodyPr/>
                    <a:lstStyle/>
                    <a:p>
                      <a:r>
                        <a:rPr lang="en-CA" b="1" noProof="0" dirty="0" err="1"/>
                        <a:t>Coûts</a:t>
                      </a:r>
                      <a:r>
                        <a:rPr lang="en-CA" b="1" noProof="0" dirty="0"/>
                        <a:t> fixes</a:t>
                      </a:r>
                    </a:p>
                    <a:p>
                      <a:pPr marL="179705" lvl="1">
                        <a:buNone/>
                      </a:pPr>
                      <a:r>
                        <a:rPr lang="en-CA" sz="1600" b="0" i="0" u="none" strike="noStrike" noProof="0" dirty="0">
                          <a:solidFill>
                            <a:srgbClr val="000000"/>
                          </a:solidFill>
                          <a:latin typeface="Calibri"/>
                        </a:rPr>
                        <a:t>Équipement - </a:t>
                      </a:r>
                      <a:r>
                        <a:rPr lang="en-CA" sz="1600" b="0" i="0" u="none" strike="noStrike" noProof="0" dirty="0" err="1">
                          <a:solidFill>
                            <a:srgbClr val="000000"/>
                          </a:solidFill>
                          <a:latin typeface="Calibri"/>
                        </a:rPr>
                        <a:t>été</a:t>
                      </a:r>
                      <a:endParaRPr lang="en-CA" sz="1600" b="0" i="0" u="none" strike="noStrike" noProof="0" dirty="0">
                        <a:solidFill>
                          <a:srgbClr val="000000"/>
                        </a:solidFill>
                        <a:latin typeface="Calibri"/>
                      </a:endParaRPr>
                    </a:p>
                    <a:p>
                      <a:pPr marL="179705" lvl="1">
                        <a:buNone/>
                      </a:pPr>
                      <a:r>
                        <a:rPr lang="en-CA" sz="1600" b="0" i="0" u="none" strike="noStrike" noProof="0" dirty="0">
                          <a:solidFill>
                            <a:srgbClr val="000000"/>
                          </a:solidFill>
                          <a:latin typeface="Calibri"/>
                        </a:rPr>
                        <a:t>Équipement - hiver</a:t>
                      </a:r>
                      <a:endParaRPr lang="en-US" sz="1600" b="0" i="0" u="none" strike="noStrike" noProof="0" dirty="0">
                        <a:solidFill>
                          <a:srgbClr val="000000"/>
                        </a:solidFill>
                        <a:latin typeface="Calibri"/>
                      </a:endParaRPr>
                    </a:p>
                    <a:p>
                      <a:pPr marL="179705" lvl="1">
                        <a:buNone/>
                      </a:pPr>
                      <a:r>
                        <a:rPr lang="en-CA" sz="1600" noProof="0" dirty="0" err="1"/>
                        <a:t>Bâtiment</a:t>
                      </a:r>
                      <a:endParaRPr lang="en-CA" sz="1600" noProof="0" dirty="0"/>
                    </a:p>
                    <a:p>
                      <a:pPr marL="179705" lvl="1"/>
                      <a:r>
                        <a:rPr lang="en-CA" sz="1600" noProof="0" dirty="0" err="1"/>
                        <a:t>Tracteurs</a:t>
                      </a:r>
                      <a:endParaRPr lang="en-CA" sz="1600" noProof="0" dirty="0"/>
                    </a:p>
                    <a:p>
                      <a:pPr marL="179705" lvl="1"/>
                      <a:endParaRPr lang="en-CA" noProof="0" dirty="0"/>
                    </a:p>
                  </a:txBody>
                  <a:tcPr/>
                </a:tc>
                <a:tc>
                  <a:txBody>
                    <a:bodyPr/>
                    <a:lstStyle/>
                    <a:p>
                      <a:endParaRPr lang="en-CA" noProof="0" dirty="0"/>
                    </a:p>
                    <a:p>
                      <a:r>
                        <a:rPr lang="en-CA" noProof="0" dirty="0"/>
                        <a:t>         -</a:t>
                      </a:r>
                    </a:p>
                    <a:p>
                      <a:r>
                        <a:rPr lang="en-CA" noProof="0" dirty="0"/>
                        <a:t>12 000 $</a:t>
                      </a:r>
                    </a:p>
                    <a:p>
                      <a:pPr lvl="0">
                        <a:buNone/>
                      </a:pPr>
                      <a:r>
                        <a:rPr lang="en-CA" sz="1800" b="0" i="0" u="none" strike="noStrike" noProof="0" dirty="0">
                          <a:solidFill>
                            <a:srgbClr val="000000"/>
                          </a:solidFill>
                          <a:latin typeface="Calibri"/>
                        </a:rPr>
                        <a:t>20 000 $</a:t>
                      </a:r>
                      <a:endParaRPr lang="en-US" sz="1800" b="0" i="0" u="none" strike="noStrike" noProof="0" dirty="0">
                        <a:solidFill>
                          <a:srgbClr val="000000"/>
                        </a:solidFill>
                        <a:latin typeface="Calibri"/>
                      </a:endParaRPr>
                    </a:p>
                    <a:p>
                      <a:pPr lvl="0">
                        <a:buNone/>
                      </a:pPr>
                      <a:r>
                        <a:rPr lang="en-CA" sz="1800" b="0" i="0" u="none" strike="noStrike" noProof="0" dirty="0">
                          <a:solidFill>
                            <a:srgbClr val="000000"/>
                          </a:solidFill>
                          <a:latin typeface="Calibri"/>
                        </a:rPr>
                        <a:t>24 000 $</a:t>
                      </a:r>
                      <a:endParaRPr lang="en-CA" dirty="0"/>
                    </a:p>
                  </a:txBody>
                  <a:tcPr/>
                </a:tc>
                <a:tc vMerge="1">
                  <a:txBody>
                    <a:bodyPr/>
                    <a:lstStyle/>
                    <a:p>
                      <a:endParaRPr lang="en-US"/>
                    </a:p>
                  </a:txBody>
                  <a:tcPr/>
                </a:tc>
                <a:extLst>
                  <a:ext uri="{0D108BD9-81ED-4DB2-BD59-A6C34878D82A}">
                    <a16:rowId xmlns:a16="http://schemas.microsoft.com/office/drawing/2014/main" val="2512256763"/>
                  </a:ext>
                </a:extLst>
              </a:tr>
              <a:tr h="481280">
                <a:tc>
                  <a:txBody>
                    <a:bodyPr/>
                    <a:lstStyle/>
                    <a:p>
                      <a:pPr marL="0" lvl="0" indent="-277495"/>
                      <a:r>
                        <a:rPr lang="en-CA" b="1" noProof="0" err="1"/>
                        <a:t>Résultat</a:t>
                      </a:r>
                      <a:r>
                        <a:rPr lang="en-CA" b="1" noProof="0" dirty="0"/>
                        <a:t> </a:t>
                      </a:r>
                      <a:r>
                        <a:rPr lang="en-CA" b="1" noProof="0" err="1"/>
                        <a:t>d’exploitation</a:t>
                      </a:r>
                      <a:endParaRPr lang="en-CA" b="1" noProof="0"/>
                    </a:p>
                  </a:txBody>
                  <a:tcPr/>
                </a:tc>
                <a:tc>
                  <a:txBody>
                    <a:bodyPr/>
                    <a:lstStyle/>
                    <a:p>
                      <a:r>
                        <a:rPr lang="en-CA" noProof="0" dirty="0"/>
                        <a:t>(31 000) $</a:t>
                      </a:r>
                    </a:p>
                  </a:txBody>
                  <a:tcPr/>
                </a:tc>
                <a:tc vMerge="1">
                  <a:txBody>
                    <a:bodyPr/>
                    <a:lstStyle/>
                    <a:p>
                      <a:pPr lvl="0">
                        <a:buNone/>
                      </a:pPr>
                      <a:endParaRPr lang="en-CA" b="1" noProof="0" dirty="0"/>
                    </a:p>
                  </a:txBody>
                  <a:tcPr/>
                </a:tc>
                <a:extLst>
                  <a:ext uri="{0D108BD9-81ED-4DB2-BD59-A6C34878D82A}">
                    <a16:rowId xmlns:a16="http://schemas.microsoft.com/office/drawing/2014/main" val="3137109018"/>
                  </a:ext>
                </a:extLst>
              </a:tr>
            </a:tbl>
          </a:graphicData>
        </a:graphic>
      </p:graphicFrame>
    </p:spTree>
    <p:extLst>
      <p:ext uri="{BB962C8B-B14F-4D97-AF65-F5344CB8AC3E}">
        <p14:creationId xmlns:p14="http://schemas.microsoft.com/office/powerpoint/2010/main" val="6054765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2"/>
            </p:custDataLst>
          </p:nvPr>
        </p:nvSpPr>
        <p:spPr/>
        <p:txBody>
          <a:bodyPr>
            <a:normAutofit/>
          </a:bodyPr>
          <a:lstStyle/>
          <a:p>
            <a:r>
              <a:rPr lang="fr-CA" sz="4000" dirty="0"/>
              <a:t>Conclusion – Séance 3</a:t>
            </a:r>
          </a:p>
        </p:txBody>
      </p:sp>
      <p:sp>
        <p:nvSpPr>
          <p:cNvPr id="6" name="Rectangle à coins arrondis 5"/>
          <p:cNvSpPr/>
          <p:nvPr>
            <p:custDataLst>
              <p:tags r:id="rId3"/>
            </p:custDataLst>
          </p:nvPr>
        </p:nvSpPr>
        <p:spPr>
          <a:xfrm>
            <a:off x="1132857" y="2780270"/>
            <a:ext cx="3450975" cy="1953312"/>
          </a:xfrm>
          <a:prstGeom prst="round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fr-CA" sz="2400" b="1" dirty="0">
                <a:solidFill>
                  <a:schemeClr val="tx1"/>
                </a:solidFill>
              </a:rPr>
              <a:t>Prise de décision d’exploitation</a:t>
            </a:r>
          </a:p>
        </p:txBody>
      </p:sp>
      <p:cxnSp>
        <p:nvCxnSpPr>
          <p:cNvPr id="8" name="Connecteur droit avec flèche 7"/>
          <p:cNvCxnSpPr>
            <a:cxnSpLocks/>
            <a:stCxn id="6" idx="3"/>
            <a:endCxn id="13" idx="1"/>
          </p:cNvCxnSpPr>
          <p:nvPr>
            <p:custDataLst>
              <p:tags r:id="rId4"/>
            </p:custDataLst>
          </p:nvPr>
        </p:nvCxnSpPr>
        <p:spPr>
          <a:xfrm flipV="1">
            <a:off x="4583832" y="3691145"/>
            <a:ext cx="1919135" cy="6578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Connecteur droit avec flèche 9"/>
          <p:cNvCxnSpPr>
            <a:cxnSpLocks/>
            <a:stCxn id="6" idx="3"/>
            <a:endCxn id="15" idx="1"/>
          </p:cNvCxnSpPr>
          <p:nvPr>
            <p:custDataLst>
              <p:tags r:id="rId5"/>
            </p:custDataLst>
          </p:nvPr>
        </p:nvCxnSpPr>
        <p:spPr>
          <a:xfrm flipV="1">
            <a:off x="4583832" y="2344739"/>
            <a:ext cx="1930615" cy="14121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ZoneTexte 10"/>
          <p:cNvSpPr txBox="1"/>
          <p:nvPr>
            <p:custDataLst>
              <p:tags r:id="rId6"/>
            </p:custDataLst>
          </p:nvPr>
        </p:nvSpPr>
        <p:spPr>
          <a:xfrm>
            <a:off x="5154912" y="2519907"/>
            <a:ext cx="776975" cy="400110"/>
          </a:xfrm>
          <a:prstGeom prst="rect">
            <a:avLst/>
          </a:prstGeom>
          <a:noFill/>
        </p:spPr>
        <p:txBody>
          <a:bodyPr wrap="square" rtlCol="0">
            <a:spAutoFit/>
          </a:bodyPr>
          <a:lstStyle/>
          <a:p>
            <a:r>
              <a:rPr lang="fr-CA" sz="2000"/>
              <a:t>Idée  </a:t>
            </a:r>
          </a:p>
        </p:txBody>
      </p:sp>
      <p:sp>
        <p:nvSpPr>
          <p:cNvPr id="12" name="ZoneTexte 11"/>
          <p:cNvSpPr txBox="1"/>
          <p:nvPr>
            <p:custDataLst>
              <p:tags r:id="rId7"/>
            </p:custDataLst>
          </p:nvPr>
        </p:nvSpPr>
        <p:spPr>
          <a:xfrm>
            <a:off x="4908060" y="3354806"/>
            <a:ext cx="1606387" cy="707886"/>
          </a:xfrm>
          <a:prstGeom prst="rect">
            <a:avLst/>
          </a:prstGeom>
          <a:noFill/>
        </p:spPr>
        <p:txBody>
          <a:bodyPr wrap="square" rtlCol="0">
            <a:spAutoFit/>
          </a:bodyPr>
          <a:lstStyle/>
          <a:p>
            <a:pPr algn="ctr"/>
            <a:r>
              <a:rPr lang="fr-CA" sz="2000"/>
              <a:t>Informations pertinentes</a:t>
            </a:r>
          </a:p>
        </p:txBody>
      </p:sp>
      <p:sp>
        <p:nvSpPr>
          <p:cNvPr id="13" name="ZoneTexte 12"/>
          <p:cNvSpPr txBox="1"/>
          <p:nvPr>
            <p:custDataLst>
              <p:tags r:id="rId8"/>
            </p:custDataLst>
          </p:nvPr>
        </p:nvSpPr>
        <p:spPr>
          <a:xfrm>
            <a:off x="6502967" y="3183313"/>
            <a:ext cx="3766447" cy="1015663"/>
          </a:xfrm>
          <a:prstGeom prst="rect">
            <a:avLst/>
          </a:prstGeom>
          <a:noFill/>
          <a:ln>
            <a:solidFill>
              <a:schemeClr val="accent1"/>
            </a:solidFill>
          </a:ln>
        </p:spPr>
        <p:txBody>
          <a:bodyPr wrap="square" rtlCol="0">
            <a:spAutoFit/>
          </a:bodyPr>
          <a:lstStyle/>
          <a:p>
            <a:r>
              <a:rPr lang="fr-CA" sz="2000" dirty="0">
                <a:latin typeface="Gill Sans MT"/>
              </a:rPr>
              <a:t>∙ </a:t>
            </a:r>
            <a:r>
              <a:rPr lang="fr-CA" sz="2000" dirty="0"/>
              <a:t>Marge sur coûts variables, coûts fixes spécifiques, coût de renonciation</a:t>
            </a:r>
          </a:p>
        </p:txBody>
      </p:sp>
      <p:sp>
        <p:nvSpPr>
          <p:cNvPr id="15" name="ZoneTexte 14"/>
          <p:cNvSpPr txBox="1"/>
          <p:nvPr>
            <p:custDataLst>
              <p:tags r:id="rId9"/>
            </p:custDataLst>
          </p:nvPr>
        </p:nvSpPr>
        <p:spPr>
          <a:xfrm>
            <a:off x="6514447" y="2144684"/>
            <a:ext cx="3763724" cy="400110"/>
          </a:xfrm>
          <a:prstGeom prst="rect">
            <a:avLst/>
          </a:prstGeom>
          <a:noFill/>
          <a:ln>
            <a:solidFill>
              <a:schemeClr val="accent1"/>
            </a:solidFill>
          </a:ln>
        </p:spPr>
        <p:txBody>
          <a:bodyPr wrap="square" rtlCol="0">
            <a:spAutoFit/>
          </a:bodyPr>
          <a:lstStyle/>
          <a:p>
            <a:r>
              <a:rPr lang="fr-CA" sz="2000" dirty="0"/>
              <a:t>Identifiez les coûts pertinents.</a:t>
            </a:r>
          </a:p>
        </p:txBody>
      </p:sp>
      <p:sp>
        <p:nvSpPr>
          <p:cNvPr id="16" name="ZoneTexte 15"/>
          <p:cNvSpPr txBox="1"/>
          <p:nvPr>
            <p:custDataLst>
              <p:tags r:id="rId10"/>
            </p:custDataLst>
          </p:nvPr>
        </p:nvSpPr>
        <p:spPr>
          <a:xfrm>
            <a:off x="4734819" y="4773705"/>
            <a:ext cx="1361181" cy="400110"/>
          </a:xfrm>
          <a:prstGeom prst="rect">
            <a:avLst/>
          </a:prstGeom>
          <a:noFill/>
        </p:spPr>
        <p:txBody>
          <a:bodyPr wrap="square" rtlCol="0">
            <a:spAutoFit/>
          </a:bodyPr>
          <a:lstStyle/>
          <a:p>
            <a:pPr algn="r"/>
            <a:r>
              <a:rPr lang="fr-CA" sz="2000"/>
              <a:t>Comment</a:t>
            </a:r>
          </a:p>
        </p:txBody>
      </p:sp>
      <p:cxnSp>
        <p:nvCxnSpPr>
          <p:cNvPr id="17" name="Connecteur droit avec flèche 16"/>
          <p:cNvCxnSpPr>
            <a:cxnSpLocks/>
            <a:stCxn id="6" idx="3"/>
            <a:endCxn id="19" idx="1"/>
          </p:cNvCxnSpPr>
          <p:nvPr>
            <p:custDataLst>
              <p:tags r:id="rId11"/>
            </p:custDataLst>
          </p:nvPr>
        </p:nvCxnSpPr>
        <p:spPr>
          <a:xfrm>
            <a:off x="4583832" y="3756926"/>
            <a:ext cx="1919136" cy="11443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ZoneTexte 18"/>
          <p:cNvSpPr txBox="1"/>
          <p:nvPr>
            <p:custDataLst>
              <p:tags r:id="rId12"/>
            </p:custDataLst>
          </p:nvPr>
        </p:nvSpPr>
        <p:spPr>
          <a:xfrm>
            <a:off x="6502968" y="4393434"/>
            <a:ext cx="3766447" cy="1015663"/>
          </a:xfrm>
          <a:prstGeom prst="rect">
            <a:avLst/>
          </a:prstGeom>
          <a:noFill/>
          <a:ln>
            <a:solidFill>
              <a:schemeClr val="accent1"/>
            </a:solidFill>
          </a:ln>
        </p:spPr>
        <p:txBody>
          <a:bodyPr wrap="square" rtlCol="0">
            <a:spAutoFit/>
          </a:bodyPr>
          <a:lstStyle/>
          <a:p>
            <a:r>
              <a:rPr lang="fr-CA" sz="2000" dirty="0">
                <a:latin typeface="Gill Sans MT"/>
              </a:rPr>
              <a:t>∙ </a:t>
            </a:r>
            <a:r>
              <a:rPr lang="fr-CA" sz="2000" dirty="0"/>
              <a:t>En réalisant une analyse différentielle</a:t>
            </a:r>
            <a:r>
              <a:rPr lang="fr-CA" sz="2000" dirty="0">
                <a:latin typeface="Gill Sans MT"/>
              </a:rPr>
              <a:t> </a:t>
            </a:r>
          </a:p>
          <a:p>
            <a:endParaRPr lang="fr-CA" sz="2000" dirty="0"/>
          </a:p>
        </p:txBody>
      </p:sp>
      <p:sp>
        <p:nvSpPr>
          <p:cNvPr id="3" name="Espace réservé du numéro de diapositive 2">
            <a:extLst>
              <a:ext uri="{FF2B5EF4-FFF2-40B4-BE49-F238E27FC236}">
                <a16:creationId xmlns:a16="http://schemas.microsoft.com/office/drawing/2014/main" id="{94F4BF60-6132-2C07-C5C9-22595BB68AC8}"/>
              </a:ext>
            </a:extLst>
          </p:cNvPr>
          <p:cNvSpPr>
            <a:spLocks noGrp="1"/>
          </p:cNvSpPr>
          <p:nvPr>
            <p:ph type="sldNum" sz="quarter" idx="12"/>
            <p:custDataLst>
              <p:tags r:id="rId13"/>
            </p:custDataLst>
          </p:nvPr>
        </p:nvSpPr>
        <p:spPr/>
        <p:txBody>
          <a:bodyPr/>
          <a:lstStyle/>
          <a:p>
            <a:fld id="{1F20FBA3-27E4-4E13-841E-B59ED0E8E620}" type="slidenum">
              <a:rPr lang="fr-CA" smtClean="0">
                <a:solidFill>
                  <a:prstClr val="black">
                    <a:tint val="75000"/>
                  </a:prstClr>
                </a:solidFill>
              </a:rPr>
              <a:pPr/>
              <a:t>39</a:t>
            </a:fld>
            <a:endParaRPr lang="fr-CA" dirty="0">
              <a:solidFill>
                <a:prstClr val="black">
                  <a:tint val="75000"/>
                </a:prstClr>
              </a:solidFill>
            </a:endParaRPr>
          </a:p>
        </p:txBody>
      </p:sp>
      <p:sp>
        <p:nvSpPr>
          <p:cNvPr id="5" name="Espace réservé du pied de page 3">
            <a:extLst>
              <a:ext uri="{FF2B5EF4-FFF2-40B4-BE49-F238E27FC236}">
                <a16:creationId xmlns:a16="http://schemas.microsoft.com/office/drawing/2014/main" id="{36549B68-2CA1-0CFD-2DE9-2E65F5CD9673}"/>
              </a:ext>
            </a:extLst>
          </p:cNvPr>
          <p:cNvSpPr>
            <a:spLocks noGrp="1"/>
          </p:cNvSpPr>
          <p:nvPr>
            <p:ph type="ftr" sz="quarter" idx="11"/>
            <p:custDataLst>
              <p:tags r:id="rId14"/>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19544339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A3AE72-BED2-3AE5-07BC-EF476306249A}"/>
              </a:ext>
            </a:extLst>
          </p:cNvPr>
          <p:cNvSpPr>
            <a:spLocks noGrp="1"/>
          </p:cNvSpPr>
          <p:nvPr>
            <p:ph type="title"/>
            <p:custDataLst>
              <p:tags r:id="rId1"/>
            </p:custDataLst>
          </p:nvPr>
        </p:nvSpPr>
        <p:spPr/>
        <p:txBody>
          <a:bodyPr>
            <a:normAutofit/>
          </a:bodyPr>
          <a:lstStyle/>
          <a:p>
            <a:r>
              <a:rPr lang="en-US" sz="4400" dirty="0">
                <a:solidFill>
                  <a:schemeClr val="tx2"/>
                </a:solidFill>
                <a:cs typeface="Poppins" pitchFamily="2" charset="77"/>
              </a:rPr>
              <a:t>QUESTIONS…</a:t>
            </a:r>
            <a:endParaRPr lang="fr-CA" dirty="0"/>
          </a:p>
        </p:txBody>
      </p:sp>
      <p:grpSp>
        <p:nvGrpSpPr>
          <p:cNvPr id="6" name="Group 138">
            <a:extLst>
              <a:ext uri="{FF2B5EF4-FFF2-40B4-BE49-F238E27FC236}">
                <a16:creationId xmlns:a16="http://schemas.microsoft.com/office/drawing/2014/main" id="{65046B40-4C17-4CB6-AFE9-AB12062D9A63}"/>
              </a:ext>
            </a:extLst>
          </p:cNvPr>
          <p:cNvGrpSpPr/>
          <p:nvPr>
            <p:custDataLst>
              <p:tags r:id="rId2"/>
            </p:custDataLst>
          </p:nvPr>
        </p:nvGrpSpPr>
        <p:grpSpPr>
          <a:xfrm>
            <a:off x="9280493" y="2303889"/>
            <a:ext cx="2068927" cy="2939891"/>
            <a:chOff x="8704441" y="2571694"/>
            <a:chExt cx="7028256" cy="10385705"/>
          </a:xfrm>
        </p:grpSpPr>
        <p:sp>
          <p:nvSpPr>
            <p:cNvPr id="7" name="Shape 34173">
              <a:extLst>
                <a:ext uri="{FF2B5EF4-FFF2-40B4-BE49-F238E27FC236}">
                  <a16:creationId xmlns:a16="http://schemas.microsoft.com/office/drawing/2014/main" id="{976C004C-1D4C-6265-7CAA-36D0B3554743}"/>
                </a:ext>
              </a:extLst>
            </p:cNvPr>
            <p:cNvSpPr/>
            <p:nvPr/>
          </p:nvSpPr>
          <p:spPr>
            <a:xfrm>
              <a:off x="8704441" y="4977041"/>
              <a:ext cx="795138" cy="696056"/>
            </a:xfrm>
            <a:custGeom>
              <a:avLst/>
              <a:gdLst/>
              <a:ahLst/>
              <a:cxnLst>
                <a:cxn ang="0">
                  <a:pos x="wd2" y="hd2"/>
                </a:cxn>
                <a:cxn ang="5400000">
                  <a:pos x="wd2" y="hd2"/>
                </a:cxn>
                <a:cxn ang="10800000">
                  <a:pos x="wd2" y="hd2"/>
                </a:cxn>
                <a:cxn ang="16200000">
                  <a:pos x="wd2" y="hd2"/>
                </a:cxn>
              </a:cxnLst>
              <a:rect l="0" t="0" r="r" b="b"/>
              <a:pathLst>
                <a:path w="20856" h="21029" extrusionOk="0">
                  <a:moveTo>
                    <a:pt x="20115" y="12466"/>
                  </a:moveTo>
                  <a:cubicBezTo>
                    <a:pt x="19732" y="10390"/>
                    <a:pt x="17957" y="9059"/>
                    <a:pt x="16157" y="9500"/>
                  </a:cubicBezTo>
                  <a:cubicBezTo>
                    <a:pt x="15676" y="9618"/>
                    <a:pt x="15243" y="9853"/>
                    <a:pt x="14872" y="10171"/>
                  </a:cubicBezTo>
                  <a:lnTo>
                    <a:pt x="17218" y="12800"/>
                  </a:lnTo>
                  <a:cubicBezTo>
                    <a:pt x="17383" y="12986"/>
                    <a:pt x="17387" y="13290"/>
                    <a:pt x="17227" y="13481"/>
                  </a:cubicBezTo>
                  <a:cubicBezTo>
                    <a:pt x="17066" y="13671"/>
                    <a:pt x="16803" y="13676"/>
                    <a:pt x="16637" y="13490"/>
                  </a:cubicBezTo>
                  <a:lnTo>
                    <a:pt x="14268" y="10834"/>
                  </a:lnTo>
                  <a:cubicBezTo>
                    <a:pt x="13652" y="11707"/>
                    <a:pt x="13371" y="12880"/>
                    <a:pt x="13589" y="14063"/>
                  </a:cubicBezTo>
                  <a:cubicBezTo>
                    <a:pt x="13972" y="16139"/>
                    <a:pt x="15747" y="17470"/>
                    <a:pt x="17547" y="17029"/>
                  </a:cubicBezTo>
                  <a:cubicBezTo>
                    <a:pt x="19346" y="16589"/>
                    <a:pt x="20498" y="14541"/>
                    <a:pt x="20115" y="12466"/>
                  </a:cubicBezTo>
                  <a:close/>
                  <a:moveTo>
                    <a:pt x="12445" y="7390"/>
                  </a:moveTo>
                  <a:lnTo>
                    <a:pt x="10862" y="7777"/>
                  </a:lnTo>
                  <a:cubicBezTo>
                    <a:pt x="10683" y="7821"/>
                    <a:pt x="10443" y="7721"/>
                    <a:pt x="10330" y="7554"/>
                  </a:cubicBezTo>
                  <a:lnTo>
                    <a:pt x="9382" y="6156"/>
                  </a:lnTo>
                  <a:lnTo>
                    <a:pt x="7858" y="9354"/>
                  </a:lnTo>
                  <a:cubicBezTo>
                    <a:pt x="7858" y="9354"/>
                    <a:pt x="8237" y="9436"/>
                    <a:pt x="8700" y="9536"/>
                  </a:cubicBezTo>
                  <a:lnTo>
                    <a:pt x="12662" y="8566"/>
                  </a:lnTo>
                  <a:cubicBezTo>
                    <a:pt x="12662" y="8566"/>
                    <a:pt x="12445" y="7390"/>
                    <a:pt x="12445" y="7390"/>
                  </a:cubicBezTo>
                  <a:close/>
                  <a:moveTo>
                    <a:pt x="12276" y="9645"/>
                  </a:moveTo>
                  <a:lnTo>
                    <a:pt x="10649" y="10043"/>
                  </a:lnTo>
                  <a:cubicBezTo>
                    <a:pt x="10837" y="10188"/>
                    <a:pt x="10975" y="10413"/>
                    <a:pt x="11024" y="10676"/>
                  </a:cubicBezTo>
                  <a:lnTo>
                    <a:pt x="11025" y="10675"/>
                  </a:lnTo>
                  <a:cubicBezTo>
                    <a:pt x="11025" y="10675"/>
                    <a:pt x="11166" y="11451"/>
                    <a:pt x="11342" y="12416"/>
                  </a:cubicBezTo>
                  <a:cubicBezTo>
                    <a:pt x="11342" y="12416"/>
                    <a:pt x="12276" y="9645"/>
                    <a:pt x="12276" y="9645"/>
                  </a:cubicBezTo>
                  <a:close/>
                  <a:moveTo>
                    <a:pt x="9392" y="11587"/>
                  </a:moveTo>
                  <a:cubicBezTo>
                    <a:pt x="9392" y="11587"/>
                    <a:pt x="7390" y="11287"/>
                    <a:pt x="6435" y="11138"/>
                  </a:cubicBezTo>
                  <a:lnTo>
                    <a:pt x="5956" y="12381"/>
                  </a:lnTo>
                  <a:cubicBezTo>
                    <a:pt x="6790" y="12920"/>
                    <a:pt x="7454" y="13798"/>
                    <a:pt x="7783" y="14892"/>
                  </a:cubicBezTo>
                  <a:lnTo>
                    <a:pt x="9906" y="14373"/>
                  </a:lnTo>
                  <a:cubicBezTo>
                    <a:pt x="9906" y="14373"/>
                    <a:pt x="9392" y="11587"/>
                    <a:pt x="9392" y="11587"/>
                  </a:cubicBezTo>
                  <a:close/>
                  <a:moveTo>
                    <a:pt x="7320" y="15990"/>
                  </a:moveTo>
                  <a:lnTo>
                    <a:pt x="4073" y="16785"/>
                  </a:lnTo>
                  <a:cubicBezTo>
                    <a:pt x="3848" y="16840"/>
                    <a:pt x="3626" y="16674"/>
                    <a:pt x="3578" y="16414"/>
                  </a:cubicBezTo>
                  <a:cubicBezTo>
                    <a:pt x="3557" y="16296"/>
                    <a:pt x="3576" y="16181"/>
                    <a:pt x="3622" y="16083"/>
                  </a:cubicBezTo>
                  <a:lnTo>
                    <a:pt x="3621" y="16082"/>
                  </a:lnTo>
                  <a:lnTo>
                    <a:pt x="4917" y="12711"/>
                  </a:lnTo>
                  <a:cubicBezTo>
                    <a:pt x="4410" y="12543"/>
                    <a:pt x="3861" y="12510"/>
                    <a:pt x="3309" y="12645"/>
                  </a:cubicBezTo>
                  <a:cubicBezTo>
                    <a:pt x="1510" y="13086"/>
                    <a:pt x="358" y="15133"/>
                    <a:pt x="741" y="17209"/>
                  </a:cubicBezTo>
                  <a:cubicBezTo>
                    <a:pt x="1124" y="19285"/>
                    <a:pt x="2899" y="20615"/>
                    <a:pt x="4699" y="20175"/>
                  </a:cubicBezTo>
                  <a:cubicBezTo>
                    <a:pt x="6388" y="19761"/>
                    <a:pt x="7507" y="17930"/>
                    <a:pt x="7320" y="15990"/>
                  </a:cubicBezTo>
                  <a:close/>
                  <a:moveTo>
                    <a:pt x="4700" y="15647"/>
                  </a:moveTo>
                  <a:lnTo>
                    <a:pt x="7121" y="15055"/>
                  </a:lnTo>
                  <a:cubicBezTo>
                    <a:pt x="6845" y="14210"/>
                    <a:pt x="6329" y="13528"/>
                    <a:pt x="5683" y="13093"/>
                  </a:cubicBezTo>
                  <a:cubicBezTo>
                    <a:pt x="5683" y="13093"/>
                    <a:pt x="4700" y="15647"/>
                    <a:pt x="4700" y="15647"/>
                  </a:cubicBezTo>
                  <a:close/>
                  <a:moveTo>
                    <a:pt x="20768" y="12306"/>
                  </a:moveTo>
                  <a:cubicBezTo>
                    <a:pt x="21228" y="14801"/>
                    <a:pt x="19848" y="17253"/>
                    <a:pt x="17686" y="17782"/>
                  </a:cubicBezTo>
                  <a:cubicBezTo>
                    <a:pt x="15523" y="18311"/>
                    <a:pt x="13397" y="16718"/>
                    <a:pt x="12936" y="14223"/>
                  </a:cubicBezTo>
                  <a:cubicBezTo>
                    <a:pt x="12670" y="12777"/>
                    <a:pt x="13022" y="11346"/>
                    <a:pt x="13786" y="10295"/>
                  </a:cubicBezTo>
                  <a:lnTo>
                    <a:pt x="13180" y="9616"/>
                  </a:lnTo>
                  <a:lnTo>
                    <a:pt x="11655" y="14141"/>
                  </a:lnTo>
                  <a:cubicBezTo>
                    <a:pt x="11845" y="15192"/>
                    <a:pt x="12003" y="16082"/>
                    <a:pt x="12002" y="16116"/>
                  </a:cubicBezTo>
                  <a:cubicBezTo>
                    <a:pt x="11988" y="16676"/>
                    <a:pt x="11582" y="17117"/>
                    <a:pt x="11096" y="17100"/>
                  </a:cubicBezTo>
                  <a:cubicBezTo>
                    <a:pt x="10682" y="17085"/>
                    <a:pt x="10344" y="16743"/>
                    <a:pt x="10261" y="16295"/>
                  </a:cubicBezTo>
                  <a:lnTo>
                    <a:pt x="10260" y="16295"/>
                  </a:lnTo>
                  <a:lnTo>
                    <a:pt x="10079" y="15314"/>
                  </a:lnTo>
                  <a:lnTo>
                    <a:pt x="7974" y="15829"/>
                  </a:lnTo>
                  <a:cubicBezTo>
                    <a:pt x="8237" y="18189"/>
                    <a:pt x="6891" y="20425"/>
                    <a:pt x="4838" y="20928"/>
                  </a:cubicBezTo>
                  <a:cubicBezTo>
                    <a:pt x="2675" y="21457"/>
                    <a:pt x="549" y="19863"/>
                    <a:pt x="88" y="17369"/>
                  </a:cubicBezTo>
                  <a:cubicBezTo>
                    <a:pt x="-372" y="14874"/>
                    <a:pt x="1008" y="12422"/>
                    <a:pt x="3170" y="11892"/>
                  </a:cubicBezTo>
                  <a:cubicBezTo>
                    <a:pt x="3866" y="11722"/>
                    <a:pt x="4557" y="11772"/>
                    <a:pt x="5191" y="12001"/>
                  </a:cubicBezTo>
                  <a:lnTo>
                    <a:pt x="5611" y="10908"/>
                  </a:lnTo>
                  <a:cubicBezTo>
                    <a:pt x="5188" y="10637"/>
                    <a:pt x="4908" y="10111"/>
                    <a:pt x="4924" y="9516"/>
                  </a:cubicBezTo>
                  <a:cubicBezTo>
                    <a:pt x="4931" y="9235"/>
                    <a:pt x="5004" y="8976"/>
                    <a:pt x="5123" y="8753"/>
                  </a:cubicBezTo>
                  <a:lnTo>
                    <a:pt x="5122" y="8753"/>
                  </a:lnTo>
                  <a:lnTo>
                    <a:pt x="7375" y="4249"/>
                  </a:lnTo>
                  <a:lnTo>
                    <a:pt x="7375" y="4250"/>
                  </a:lnTo>
                  <a:cubicBezTo>
                    <a:pt x="7591" y="3700"/>
                    <a:pt x="8076" y="3326"/>
                    <a:pt x="8631" y="3346"/>
                  </a:cubicBezTo>
                  <a:cubicBezTo>
                    <a:pt x="9070" y="3361"/>
                    <a:pt x="9452" y="3620"/>
                    <a:pt x="9685" y="4006"/>
                  </a:cubicBezTo>
                  <a:lnTo>
                    <a:pt x="9686" y="4006"/>
                  </a:lnTo>
                  <a:lnTo>
                    <a:pt x="11018" y="6165"/>
                  </a:lnTo>
                  <a:lnTo>
                    <a:pt x="12915" y="5701"/>
                  </a:lnTo>
                  <a:cubicBezTo>
                    <a:pt x="13275" y="5613"/>
                    <a:pt x="13630" y="5878"/>
                    <a:pt x="13706" y="6294"/>
                  </a:cubicBezTo>
                  <a:cubicBezTo>
                    <a:pt x="13778" y="6683"/>
                    <a:pt x="13580" y="7062"/>
                    <a:pt x="13259" y="7182"/>
                  </a:cubicBezTo>
                  <a:lnTo>
                    <a:pt x="13534" y="8671"/>
                  </a:lnTo>
                  <a:lnTo>
                    <a:pt x="14385" y="9625"/>
                  </a:lnTo>
                  <a:cubicBezTo>
                    <a:pt x="14850" y="9205"/>
                    <a:pt x="15402" y="8898"/>
                    <a:pt x="16018" y="8747"/>
                  </a:cubicBezTo>
                  <a:cubicBezTo>
                    <a:pt x="18181" y="8217"/>
                    <a:pt x="20307" y="9811"/>
                    <a:pt x="20768" y="12306"/>
                  </a:cubicBezTo>
                  <a:close/>
                  <a:moveTo>
                    <a:pt x="8795" y="1859"/>
                  </a:moveTo>
                  <a:cubicBezTo>
                    <a:pt x="8642" y="1027"/>
                    <a:pt x="9102" y="210"/>
                    <a:pt x="9823" y="34"/>
                  </a:cubicBezTo>
                  <a:cubicBezTo>
                    <a:pt x="10543" y="-143"/>
                    <a:pt x="11252" y="388"/>
                    <a:pt x="11406" y="1220"/>
                  </a:cubicBezTo>
                  <a:cubicBezTo>
                    <a:pt x="11559" y="2051"/>
                    <a:pt x="11099" y="2869"/>
                    <a:pt x="10378" y="3045"/>
                  </a:cubicBezTo>
                  <a:cubicBezTo>
                    <a:pt x="9658" y="3222"/>
                    <a:pt x="8949" y="2690"/>
                    <a:pt x="8795" y="1859"/>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8" name="Shape 34174">
              <a:extLst>
                <a:ext uri="{FF2B5EF4-FFF2-40B4-BE49-F238E27FC236}">
                  <a16:creationId xmlns:a16="http://schemas.microsoft.com/office/drawing/2014/main" id="{C4BF05D4-B682-FD65-42DA-A04AFFE28DC3}"/>
                </a:ext>
              </a:extLst>
            </p:cNvPr>
            <p:cNvSpPr/>
            <p:nvPr/>
          </p:nvSpPr>
          <p:spPr>
            <a:xfrm>
              <a:off x="13207711" y="5129396"/>
              <a:ext cx="316260" cy="632520"/>
            </a:xfrm>
            <a:custGeom>
              <a:avLst/>
              <a:gdLst/>
              <a:ahLst/>
              <a:cxnLst>
                <a:cxn ang="0">
                  <a:pos x="wd2" y="hd2"/>
                </a:cxn>
                <a:cxn ang="5400000">
                  <a:pos x="wd2" y="hd2"/>
                </a:cxn>
                <a:cxn ang="10800000">
                  <a:pos x="wd2" y="hd2"/>
                </a:cxn>
                <a:cxn ang="16200000">
                  <a:pos x="wd2" y="hd2"/>
                </a:cxn>
              </a:cxnLst>
              <a:rect l="0" t="0" r="r" b="b"/>
              <a:pathLst>
                <a:path w="21600" h="21600" extrusionOk="0">
                  <a:moveTo>
                    <a:pt x="20250" y="4050"/>
                  </a:moveTo>
                  <a:lnTo>
                    <a:pt x="1618" y="4050"/>
                  </a:lnTo>
                  <a:lnTo>
                    <a:pt x="1618" y="17550"/>
                  </a:lnTo>
                  <a:lnTo>
                    <a:pt x="20250" y="17550"/>
                  </a:lnTo>
                  <a:lnTo>
                    <a:pt x="20250" y="4050"/>
                  </a:lnTo>
                  <a:close/>
                  <a:moveTo>
                    <a:pt x="14175" y="2025"/>
                  </a:moveTo>
                  <a:lnTo>
                    <a:pt x="7425" y="2025"/>
                  </a:lnTo>
                  <a:cubicBezTo>
                    <a:pt x="7052" y="2025"/>
                    <a:pt x="6750" y="2176"/>
                    <a:pt x="6750" y="2363"/>
                  </a:cubicBezTo>
                  <a:cubicBezTo>
                    <a:pt x="6750" y="2549"/>
                    <a:pt x="7052" y="2700"/>
                    <a:pt x="7425" y="2700"/>
                  </a:cubicBezTo>
                  <a:lnTo>
                    <a:pt x="14175" y="2700"/>
                  </a:lnTo>
                  <a:cubicBezTo>
                    <a:pt x="14548" y="2700"/>
                    <a:pt x="14850" y="2549"/>
                    <a:pt x="14850" y="2363"/>
                  </a:cubicBezTo>
                  <a:cubicBezTo>
                    <a:pt x="14850" y="2176"/>
                    <a:pt x="14548" y="2025"/>
                    <a:pt x="14175" y="2025"/>
                  </a:cubicBezTo>
                  <a:close/>
                  <a:moveTo>
                    <a:pt x="11475" y="20250"/>
                  </a:moveTo>
                  <a:cubicBezTo>
                    <a:pt x="12593" y="20250"/>
                    <a:pt x="13500" y="19797"/>
                    <a:pt x="13500" y="19238"/>
                  </a:cubicBezTo>
                  <a:cubicBezTo>
                    <a:pt x="13500" y="18678"/>
                    <a:pt x="12593" y="18225"/>
                    <a:pt x="11475" y="18225"/>
                  </a:cubicBezTo>
                  <a:cubicBezTo>
                    <a:pt x="10357" y="18225"/>
                    <a:pt x="9450" y="18678"/>
                    <a:pt x="9450" y="19238"/>
                  </a:cubicBezTo>
                  <a:cubicBezTo>
                    <a:pt x="9450" y="19797"/>
                    <a:pt x="10357" y="20250"/>
                    <a:pt x="11475" y="20250"/>
                  </a:cubicBezTo>
                  <a:close/>
                  <a:moveTo>
                    <a:pt x="18900" y="21600"/>
                  </a:moveTo>
                  <a:lnTo>
                    <a:pt x="2700" y="21600"/>
                  </a:lnTo>
                  <a:cubicBezTo>
                    <a:pt x="1954" y="21600"/>
                    <a:pt x="1279" y="21449"/>
                    <a:pt x="791" y="21205"/>
                  </a:cubicBezTo>
                  <a:cubicBezTo>
                    <a:pt x="302" y="20960"/>
                    <a:pt x="0" y="20623"/>
                    <a:pt x="0" y="20250"/>
                  </a:cubicBezTo>
                  <a:lnTo>
                    <a:pt x="0" y="1350"/>
                  </a:lnTo>
                  <a:cubicBezTo>
                    <a:pt x="0" y="977"/>
                    <a:pt x="302" y="640"/>
                    <a:pt x="791" y="395"/>
                  </a:cubicBezTo>
                  <a:cubicBezTo>
                    <a:pt x="1279" y="151"/>
                    <a:pt x="1954" y="0"/>
                    <a:pt x="2700" y="0"/>
                  </a:cubicBezTo>
                  <a:lnTo>
                    <a:pt x="18900" y="0"/>
                  </a:lnTo>
                  <a:cubicBezTo>
                    <a:pt x="19646" y="0"/>
                    <a:pt x="20321" y="151"/>
                    <a:pt x="20809" y="395"/>
                  </a:cubicBezTo>
                  <a:cubicBezTo>
                    <a:pt x="21298" y="640"/>
                    <a:pt x="21600" y="977"/>
                    <a:pt x="21600" y="1350"/>
                  </a:cubicBezTo>
                  <a:lnTo>
                    <a:pt x="21600" y="20250"/>
                  </a:lnTo>
                  <a:cubicBezTo>
                    <a:pt x="21600" y="20623"/>
                    <a:pt x="21298" y="20960"/>
                    <a:pt x="20809" y="21205"/>
                  </a:cubicBezTo>
                  <a:cubicBezTo>
                    <a:pt x="20321" y="21449"/>
                    <a:pt x="19646" y="21600"/>
                    <a:pt x="1890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 name="Shape 34175">
              <a:extLst>
                <a:ext uri="{FF2B5EF4-FFF2-40B4-BE49-F238E27FC236}">
                  <a16:creationId xmlns:a16="http://schemas.microsoft.com/office/drawing/2014/main" id="{C9712020-E217-2295-A8BA-E42FE748FCC5}"/>
                </a:ext>
              </a:extLst>
            </p:cNvPr>
            <p:cNvSpPr/>
            <p:nvPr/>
          </p:nvSpPr>
          <p:spPr>
            <a:xfrm>
              <a:off x="13346915" y="6245061"/>
              <a:ext cx="528722" cy="466192"/>
            </a:xfrm>
            <a:custGeom>
              <a:avLst/>
              <a:gdLst/>
              <a:ahLst/>
              <a:cxnLst>
                <a:cxn ang="0">
                  <a:pos x="wd2" y="hd2"/>
                </a:cxn>
                <a:cxn ang="5400000">
                  <a:pos x="wd2" y="hd2"/>
                </a:cxn>
                <a:cxn ang="10800000">
                  <a:pos x="wd2" y="hd2"/>
                </a:cxn>
                <a:cxn ang="16200000">
                  <a:pos x="wd2" y="hd2"/>
                </a:cxn>
              </a:cxnLst>
              <a:rect l="0" t="0" r="r" b="b"/>
              <a:pathLst>
                <a:path w="21465" h="21448" extrusionOk="0">
                  <a:moveTo>
                    <a:pt x="1162" y="1839"/>
                  </a:moveTo>
                  <a:cubicBezTo>
                    <a:pt x="454" y="1924"/>
                    <a:pt x="-67" y="2640"/>
                    <a:pt x="7" y="3442"/>
                  </a:cubicBezTo>
                  <a:lnTo>
                    <a:pt x="1557" y="20144"/>
                  </a:lnTo>
                  <a:cubicBezTo>
                    <a:pt x="1631" y="20947"/>
                    <a:pt x="2272" y="21524"/>
                    <a:pt x="2980" y="21440"/>
                  </a:cubicBezTo>
                  <a:lnTo>
                    <a:pt x="19632" y="19456"/>
                  </a:lnTo>
                  <a:cubicBezTo>
                    <a:pt x="20339" y="19372"/>
                    <a:pt x="20850" y="18657"/>
                    <a:pt x="20776" y="17855"/>
                  </a:cubicBezTo>
                  <a:lnTo>
                    <a:pt x="20372" y="13497"/>
                  </a:lnTo>
                  <a:lnTo>
                    <a:pt x="15892" y="14031"/>
                  </a:lnTo>
                  <a:cubicBezTo>
                    <a:pt x="15184" y="14115"/>
                    <a:pt x="14553" y="13536"/>
                    <a:pt x="14479" y="12734"/>
                  </a:cubicBezTo>
                  <a:lnTo>
                    <a:pt x="14209" y="9825"/>
                  </a:lnTo>
                  <a:cubicBezTo>
                    <a:pt x="14135" y="9023"/>
                    <a:pt x="14646" y="8308"/>
                    <a:pt x="15353" y="8224"/>
                  </a:cubicBezTo>
                  <a:lnTo>
                    <a:pt x="19833" y="7690"/>
                  </a:lnTo>
                  <a:lnTo>
                    <a:pt x="19497" y="4062"/>
                  </a:lnTo>
                  <a:cubicBezTo>
                    <a:pt x="19422" y="3260"/>
                    <a:pt x="18790" y="2669"/>
                    <a:pt x="18083" y="2754"/>
                  </a:cubicBezTo>
                  <a:lnTo>
                    <a:pt x="17948" y="1305"/>
                  </a:lnTo>
                  <a:cubicBezTo>
                    <a:pt x="17874" y="503"/>
                    <a:pt x="17243" y="-76"/>
                    <a:pt x="16535" y="8"/>
                  </a:cubicBezTo>
                  <a:lnTo>
                    <a:pt x="1162" y="1839"/>
                  </a:lnTo>
                  <a:close/>
                  <a:moveTo>
                    <a:pt x="1930" y="3213"/>
                  </a:moveTo>
                  <a:lnTo>
                    <a:pt x="15381" y="1611"/>
                  </a:lnTo>
                  <a:cubicBezTo>
                    <a:pt x="15381" y="1611"/>
                    <a:pt x="16670" y="1454"/>
                    <a:pt x="16804" y="2906"/>
                  </a:cubicBezTo>
                  <a:lnTo>
                    <a:pt x="2065" y="4661"/>
                  </a:lnTo>
                  <a:cubicBezTo>
                    <a:pt x="1711" y="4704"/>
                    <a:pt x="1401" y="4420"/>
                    <a:pt x="1364" y="4018"/>
                  </a:cubicBezTo>
                  <a:cubicBezTo>
                    <a:pt x="1327" y="3618"/>
                    <a:pt x="1577" y="3255"/>
                    <a:pt x="1930" y="3213"/>
                  </a:cubicBezTo>
                  <a:close/>
                  <a:moveTo>
                    <a:pt x="16055" y="8878"/>
                  </a:moveTo>
                  <a:cubicBezTo>
                    <a:pt x="15347" y="8963"/>
                    <a:pt x="14836" y="9677"/>
                    <a:pt x="14911" y="10479"/>
                  </a:cubicBezTo>
                  <a:lnTo>
                    <a:pt x="15045" y="11928"/>
                  </a:lnTo>
                  <a:cubicBezTo>
                    <a:pt x="15120" y="12730"/>
                    <a:pt x="15751" y="13309"/>
                    <a:pt x="16458" y="13225"/>
                  </a:cubicBezTo>
                  <a:lnTo>
                    <a:pt x="20304" y="12767"/>
                  </a:lnTo>
                  <a:cubicBezTo>
                    <a:pt x="21012" y="12682"/>
                    <a:pt x="21533" y="11966"/>
                    <a:pt x="21459" y="11164"/>
                  </a:cubicBezTo>
                  <a:lnTo>
                    <a:pt x="21324" y="9716"/>
                  </a:lnTo>
                  <a:cubicBezTo>
                    <a:pt x="21250" y="8913"/>
                    <a:pt x="20608" y="8336"/>
                    <a:pt x="19901" y="8420"/>
                  </a:cubicBezTo>
                  <a:lnTo>
                    <a:pt x="16055" y="8878"/>
                  </a:lnTo>
                  <a:close/>
                  <a:moveTo>
                    <a:pt x="16834" y="10250"/>
                  </a:moveTo>
                  <a:cubicBezTo>
                    <a:pt x="17188" y="10208"/>
                    <a:pt x="17508" y="10491"/>
                    <a:pt x="17545" y="10892"/>
                  </a:cubicBezTo>
                  <a:cubicBezTo>
                    <a:pt x="17582" y="11293"/>
                    <a:pt x="17322" y="11657"/>
                    <a:pt x="16968" y="11699"/>
                  </a:cubicBezTo>
                  <a:cubicBezTo>
                    <a:pt x="16614" y="11741"/>
                    <a:pt x="16293" y="11447"/>
                    <a:pt x="16256" y="11046"/>
                  </a:cubicBezTo>
                  <a:cubicBezTo>
                    <a:pt x="16219" y="10644"/>
                    <a:pt x="16480" y="10293"/>
                    <a:pt x="16834" y="102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0" name="Shape 34176">
              <a:extLst>
                <a:ext uri="{FF2B5EF4-FFF2-40B4-BE49-F238E27FC236}">
                  <a16:creationId xmlns:a16="http://schemas.microsoft.com/office/drawing/2014/main" id="{AAF18868-B068-9C4F-8960-CB0D5A467E25}"/>
                </a:ext>
              </a:extLst>
            </p:cNvPr>
            <p:cNvSpPr/>
            <p:nvPr/>
          </p:nvSpPr>
          <p:spPr>
            <a:xfrm>
              <a:off x="10903238" y="7779831"/>
              <a:ext cx="984814" cy="885198"/>
            </a:xfrm>
            <a:custGeom>
              <a:avLst/>
              <a:gdLst/>
              <a:ahLst/>
              <a:cxnLst>
                <a:cxn ang="0">
                  <a:pos x="wd2" y="hd2"/>
                </a:cxn>
                <a:cxn ang="5400000">
                  <a:pos x="wd2" y="hd2"/>
                </a:cxn>
                <a:cxn ang="10800000">
                  <a:pos x="wd2" y="hd2"/>
                </a:cxn>
                <a:cxn ang="16200000">
                  <a:pos x="wd2" y="hd2"/>
                </a:cxn>
              </a:cxnLst>
              <a:rect l="0" t="0" r="r" b="b"/>
              <a:pathLst>
                <a:path w="21255" h="21217" extrusionOk="0">
                  <a:moveTo>
                    <a:pt x="16218" y="16859"/>
                  </a:moveTo>
                  <a:lnTo>
                    <a:pt x="3455" y="9002"/>
                  </a:lnTo>
                  <a:lnTo>
                    <a:pt x="7275" y="1347"/>
                  </a:lnTo>
                  <a:lnTo>
                    <a:pt x="20039" y="9205"/>
                  </a:lnTo>
                  <a:cubicBezTo>
                    <a:pt x="20039" y="9205"/>
                    <a:pt x="16218" y="16859"/>
                    <a:pt x="16218" y="16859"/>
                  </a:cubicBezTo>
                  <a:close/>
                  <a:moveTo>
                    <a:pt x="20627" y="8027"/>
                  </a:moveTo>
                  <a:lnTo>
                    <a:pt x="7863" y="170"/>
                  </a:lnTo>
                  <a:cubicBezTo>
                    <a:pt x="7275" y="-192"/>
                    <a:pt x="6536" y="43"/>
                    <a:pt x="6211" y="693"/>
                  </a:cubicBezTo>
                  <a:cubicBezTo>
                    <a:pt x="6211" y="693"/>
                    <a:pt x="1803" y="9525"/>
                    <a:pt x="1814" y="9531"/>
                  </a:cubicBezTo>
                  <a:lnTo>
                    <a:pt x="16683" y="18684"/>
                  </a:lnTo>
                  <a:cubicBezTo>
                    <a:pt x="16694" y="18691"/>
                    <a:pt x="21103" y="9860"/>
                    <a:pt x="21103" y="9860"/>
                  </a:cubicBezTo>
                  <a:cubicBezTo>
                    <a:pt x="21427" y="9210"/>
                    <a:pt x="21214" y="8389"/>
                    <a:pt x="20627" y="8027"/>
                  </a:cubicBezTo>
                  <a:close/>
                  <a:moveTo>
                    <a:pt x="15519" y="21047"/>
                  </a:moveTo>
                  <a:lnTo>
                    <a:pt x="628" y="11880"/>
                  </a:lnTo>
                  <a:cubicBezTo>
                    <a:pt x="40" y="11518"/>
                    <a:pt x="-173" y="10698"/>
                    <a:pt x="152" y="10047"/>
                  </a:cubicBezTo>
                  <a:lnTo>
                    <a:pt x="446" y="9459"/>
                  </a:lnTo>
                  <a:lnTo>
                    <a:pt x="7359" y="13714"/>
                  </a:lnTo>
                  <a:lnTo>
                    <a:pt x="7065" y="14303"/>
                  </a:lnTo>
                  <a:lnTo>
                    <a:pt x="10256" y="16268"/>
                  </a:lnTo>
                  <a:lnTo>
                    <a:pt x="10550" y="15679"/>
                  </a:lnTo>
                  <a:lnTo>
                    <a:pt x="17464" y="19935"/>
                  </a:lnTo>
                  <a:lnTo>
                    <a:pt x="17170" y="20524"/>
                  </a:lnTo>
                  <a:cubicBezTo>
                    <a:pt x="16846" y="21174"/>
                    <a:pt x="16106" y="21408"/>
                    <a:pt x="15519" y="21047"/>
                  </a:cubicBezTo>
                  <a:cubicBezTo>
                    <a:pt x="15519" y="21047"/>
                    <a:pt x="15519" y="21047"/>
                    <a:pt x="15519" y="2104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1" name="Shape 34177">
              <a:extLst>
                <a:ext uri="{FF2B5EF4-FFF2-40B4-BE49-F238E27FC236}">
                  <a16:creationId xmlns:a16="http://schemas.microsoft.com/office/drawing/2014/main" id="{E801DEDF-A984-AAEF-46E7-EC60B0FDD754}"/>
                </a:ext>
              </a:extLst>
            </p:cNvPr>
            <p:cNvSpPr/>
            <p:nvPr/>
          </p:nvSpPr>
          <p:spPr>
            <a:xfrm>
              <a:off x="11708307" y="11472461"/>
              <a:ext cx="584792" cy="503796"/>
            </a:xfrm>
            <a:custGeom>
              <a:avLst/>
              <a:gdLst/>
              <a:ahLst/>
              <a:cxnLst>
                <a:cxn ang="0">
                  <a:pos x="wd2" y="hd2"/>
                </a:cxn>
                <a:cxn ang="5400000">
                  <a:pos x="wd2" y="hd2"/>
                </a:cxn>
                <a:cxn ang="10800000">
                  <a:pos x="wd2" y="hd2"/>
                </a:cxn>
                <a:cxn ang="16200000">
                  <a:pos x="wd2" y="hd2"/>
                </a:cxn>
              </a:cxnLst>
              <a:rect l="0" t="0" r="r" b="b"/>
              <a:pathLst>
                <a:path w="21600" h="21600" extrusionOk="0">
                  <a:moveTo>
                    <a:pt x="4937" y="21600"/>
                  </a:moveTo>
                  <a:cubicBezTo>
                    <a:pt x="7087" y="19915"/>
                    <a:pt x="7254" y="17403"/>
                    <a:pt x="7225" y="15022"/>
                  </a:cubicBezTo>
                  <a:cubicBezTo>
                    <a:pt x="9087" y="15916"/>
                    <a:pt x="11129" y="16612"/>
                    <a:pt x="13235" y="14961"/>
                  </a:cubicBezTo>
                  <a:cubicBezTo>
                    <a:pt x="15319" y="13326"/>
                    <a:pt x="15547" y="10891"/>
                    <a:pt x="15533" y="8574"/>
                  </a:cubicBezTo>
                  <a:cubicBezTo>
                    <a:pt x="17412" y="9482"/>
                    <a:pt x="19470" y="10214"/>
                    <a:pt x="21600" y="8543"/>
                  </a:cubicBezTo>
                  <a:lnTo>
                    <a:pt x="20969" y="7441"/>
                  </a:lnTo>
                  <a:cubicBezTo>
                    <a:pt x="19165" y="8855"/>
                    <a:pt x="17455" y="8115"/>
                    <a:pt x="15526" y="7147"/>
                  </a:cubicBezTo>
                  <a:cubicBezTo>
                    <a:pt x="15470" y="4670"/>
                    <a:pt x="15489" y="2522"/>
                    <a:pt x="17315" y="1092"/>
                  </a:cubicBezTo>
                  <a:lnTo>
                    <a:pt x="16670" y="0"/>
                  </a:lnTo>
                  <a:cubicBezTo>
                    <a:pt x="14521" y="1685"/>
                    <a:pt x="14346" y="4208"/>
                    <a:pt x="14375" y="6589"/>
                  </a:cubicBezTo>
                  <a:cubicBezTo>
                    <a:pt x="12514" y="5696"/>
                    <a:pt x="10476" y="5018"/>
                    <a:pt x="8371" y="6668"/>
                  </a:cubicBezTo>
                  <a:cubicBezTo>
                    <a:pt x="6282" y="8306"/>
                    <a:pt x="6070" y="10724"/>
                    <a:pt x="6085" y="13045"/>
                  </a:cubicBezTo>
                  <a:cubicBezTo>
                    <a:pt x="4204" y="12134"/>
                    <a:pt x="2134" y="11396"/>
                    <a:pt x="0" y="13068"/>
                  </a:cubicBezTo>
                  <a:cubicBezTo>
                    <a:pt x="0" y="13068"/>
                    <a:pt x="641" y="14162"/>
                    <a:pt x="641" y="14162"/>
                  </a:cubicBezTo>
                  <a:cubicBezTo>
                    <a:pt x="2449" y="12745"/>
                    <a:pt x="4156" y="13499"/>
                    <a:pt x="6093" y="14471"/>
                  </a:cubicBezTo>
                  <a:cubicBezTo>
                    <a:pt x="6148" y="16943"/>
                    <a:pt x="6117" y="19084"/>
                    <a:pt x="4295" y="20512"/>
                  </a:cubicBezTo>
                  <a:lnTo>
                    <a:pt x="4937" y="21600"/>
                  </a:lnTo>
                  <a:close/>
                  <a:moveTo>
                    <a:pt x="4054" y="19679"/>
                  </a:moveTo>
                  <a:cubicBezTo>
                    <a:pt x="4369" y="19426"/>
                    <a:pt x="4614" y="19148"/>
                    <a:pt x="4809" y="18844"/>
                  </a:cubicBezTo>
                  <a:cubicBezTo>
                    <a:pt x="4809" y="18844"/>
                    <a:pt x="2134" y="14221"/>
                    <a:pt x="2134" y="14221"/>
                  </a:cubicBezTo>
                  <a:cubicBezTo>
                    <a:pt x="1820" y="14319"/>
                    <a:pt x="1507" y="14483"/>
                    <a:pt x="1188" y="14730"/>
                  </a:cubicBezTo>
                  <a:lnTo>
                    <a:pt x="4054" y="19679"/>
                  </a:lnTo>
                  <a:close/>
                  <a:moveTo>
                    <a:pt x="5303" y="17641"/>
                  </a:moveTo>
                  <a:cubicBezTo>
                    <a:pt x="5447" y="17150"/>
                    <a:pt x="5511" y="16611"/>
                    <a:pt x="5534" y="16026"/>
                  </a:cubicBezTo>
                  <a:lnTo>
                    <a:pt x="4636" y="14466"/>
                  </a:lnTo>
                  <a:cubicBezTo>
                    <a:pt x="4164" y="14273"/>
                    <a:pt x="3712" y="14138"/>
                    <a:pt x="3269" y="14112"/>
                  </a:cubicBezTo>
                  <a:lnTo>
                    <a:pt x="5303" y="17641"/>
                  </a:lnTo>
                  <a:close/>
                  <a:moveTo>
                    <a:pt x="7218" y="13596"/>
                  </a:moveTo>
                  <a:cubicBezTo>
                    <a:pt x="7170" y="11212"/>
                    <a:pt x="7244" y="9148"/>
                    <a:pt x="9015" y="7760"/>
                  </a:cubicBezTo>
                  <a:cubicBezTo>
                    <a:pt x="10800" y="6360"/>
                    <a:pt x="12484" y="7073"/>
                    <a:pt x="14389" y="8027"/>
                  </a:cubicBezTo>
                  <a:cubicBezTo>
                    <a:pt x="14437" y="10403"/>
                    <a:pt x="14371" y="12473"/>
                    <a:pt x="12604" y="13859"/>
                  </a:cubicBezTo>
                  <a:cubicBezTo>
                    <a:pt x="10819" y="15258"/>
                    <a:pt x="9123" y="14549"/>
                    <a:pt x="7218" y="13596"/>
                  </a:cubicBezTo>
                  <a:close/>
                  <a:moveTo>
                    <a:pt x="9128" y="13531"/>
                  </a:moveTo>
                  <a:cubicBezTo>
                    <a:pt x="9683" y="13753"/>
                    <a:pt x="10215" y="13899"/>
                    <a:pt x="10736" y="13922"/>
                  </a:cubicBezTo>
                  <a:lnTo>
                    <a:pt x="8270" y="9693"/>
                  </a:lnTo>
                  <a:cubicBezTo>
                    <a:pt x="8094" y="10262"/>
                    <a:pt x="8018" y="10890"/>
                    <a:pt x="7988" y="11570"/>
                  </a:cubicBezTo>
                  <a:lnTo>
                    <a:pt x="9128" y="13531"/>
                  </a:lnTo>
                  <a:close/>
                  <a:moveTo>
                    <a:pt x="11711" y="13445"/>
                  </a:moveTo>
                  <a:cubicBezTo>
                    <a:pt x="11906" y="13348"/>
                    <a:pt x="12100" y="13226"/>
                    <a:pt x="12298" y="13067"/>
                  </a:cubicBezTo>
                  <a:cubicBezTo>
                    <a:pt x="12398" y="12988"/>
                    <a:pt x="12489" y="12904"/>
                    <a:pt x="12577" y="12819"/>
                  </a:cubicBezTo>
                  <a:lnTo>
                    <a:pt x="9787" y="7934"/>
                  </a:lnTo>
                  <a:cubicBezTo>
                    <a:pt x="9688" y="7998"/>
                    <a:pt x="9589" y="8069"/>
                    <a:pt x="9488" y="8149"/>
                  </a:cubicBezTo>
                  <a:cubicBezTo>
                    <a:pt x="9290" y="8307"/>
                    <a:pt x="9121" y="8474"/>
                    <a:pt x="8972" y="8652"/>
                  </a:cubicBezTo>
                  <a:lnTo>
                    <a:pt x="11711" y="13445"/>
                  </a:lnTo>
                  <a:close/>
                  <a:moveTo>
                    <a:pt x="13407" y="12000"/>
                  </a:moveTo>
                  <a:cubicBezTo>
                    <a:pt x="13611" y="11527"/>
                    <a:pt x="13723" y="11008"/>
                    <a:pt x="13784" y="10444"/>
                  </a:cubicBezTo>
                  <a:lnTo>
                    <a:pt x="12283" y="7830"/>
                  </a:lnTo>
                  <a:cubicBezTo>
                    <a:pt x="11815" y="7685"/>
                    <a:pt x="11363" y="7615"/>
                    <a:pt x="10913" y="7660"/>
                  </a:cubicBezTo>
                  <a:lnTo>
                    <a:pt x="13407" y="12000"/>
                  </a:lnTo>
                  <a:close/>
                  <a:moveTo>
                    <a:pt x="16965" y="7123"/>
                  </a:moveTo>
                  <a:cubicBezTo>
                    <a:pt x="17421" y="7289"/>
                    <a:pt x="17855" y="7394"/>
                    <a:pt x="18279" y="7398"/>
                  </a:cubicBezTo>
                  <a:lnTo>
                    <a:pt x="16261" y="4044"/>
                  </a:lnTo>
                  <a:cubicBezTo>
                    <a:pt x="16133" y="4533"/>
                    <a:pt x="16081" y="5067"/>
                    <a:pt x="16071" y="5642"/>
                  </a:cubicBezTo>
                  <a:lnTo>
                    <a:pt x="16965" y="7123"/>
                  </a:lnTo>
                  <a:close/>
                  <a:moveTo>
                    <a:pt x="19610" y="7085"/>
                  </a:moveTo>
                  <a:cubicBezTo>
                    <a:pt x="19909" y="6982"/>
                    <a:pt x="20208" y="6817"/>
                    <a:pt x="20510" y="6570"/>
                  </a:cubicBezTo>
                  <a:lnTo>
                    <a:pt x="17721" y="1845"/>
                  </a:lnTo>
                  <a:cubicBezTo>
                    <a:pt x="17423" y="2098"/>
                    <a:pt x="17191" y="2376"/>
                    <a:pt x="17007" y="2675"/>
                  </a:cubicBezTo>
                  <a:cubicBezTo>
                    <a:pt x="17007" y="2675"/>
                    <a:pt x="19610" y="7085"/>
                    <a:pt x="19610" y="7085"/>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2" name="Shape 34178">
              <a:extLst>
                <a:ext uri="{FF2B5EF4-FFF2-40B4-BE49-F238E27FC236}">
                  <a16:creationId xmlns:a16="http://schemas.microsoft.com/office/drawing/2014/main" id="{BD91ED27-C937-F3A7-A98F-9F30D5337FE1}"/>
                </a:ext>
              </a:extLst>
            </p:cNvPr>
            <p:cNvSpPr/>
            <p:nvPr/>
          </p:nvSpPr>
          <p:spPr>
            <a:xfrm>
              <a:off x="14474664" y="3452446"/>
              <a:ext cx="701272" cy="992744"/>
            </a:xfrm>
            <a:custGeom>
              <a:avLst/>
              <a:gdLst/>
              <a:ahLst/>
              <a:cxnLst>
                <a:cxn ang="0">
                  <a:pos x="wd2" y="hd2"/>
                </a:cxn>
                <a:cxn ang="5400000">
                  <a:pos x="wd2" y="hd2"/>
                </a:cxn>
                <a:cxn ang="10800000">
                  <a:pos x="wd2" y="hd2"/>
                </a:cxn>
                <a:cxn ang="16200000">
                  <a:pos x="wd2" y="hd2"/>
                </a:cxn>
              </a:cxnLst>
              <a:rect l="0" t="0" r="r" b="b"/>
              <a:pathLst>
                <a:path w="21183" h="21600" extrusionOk="0">
                  <a:moveTo>
                    <a:pt x="6837" y="0"/>
                  </a:moveTo>
                  <a:lnTo>
                    <a:pt x="6304" y="11896"/>
                  </a:lnTo>
                  <a:lnTo>
                    <a:pt x="10115" y="11984"/>
                  </a:lnTo>
                  <a:lnTo>
                    <a:pt x="10387" y="5819"/>
                  </a:lnTo>
                  <a:cubicBezTo>
                    <a:pt x="10807" y="5990"/>
                    <a:pt x="11286" y="6091"/>
                    <a:pt x="11799" y="6080"/>
                  </a:cubicBezTo>
                  <a:cubicBezTo>
                    <a:pt x="12816" y="6059"/>
                    <a:pt x="13721" y="5638"/>
                    <a:pt x="14293" y="5029"/>
                  </a:cubicBezTo>
                  <a:cubicBezTo>
                    <a:pt x="14344" y="4975"/>
                    <a:pt x="14392" y="4920"/>
                    <a:pt x="14437" y="4864"/>
                  </a:cubicBezTo>
                  <a:cubicBezTo>
                    <a:pt x="15870" y="5413"/>
                    <a:pt x="17048" y="6141"/>
                    <a:pt x="17879" y="7040"/>
                  </a:cubicBezTo>
                  <a:cubicBezTo>
                    <a:pt x="19250" y="8523"/>
                    <a:pt x="19623" y="10355"/>
                    <a:pt x="18956" y="12341"/>
                  </a:cubicBezTo>
                  <a:cubicBezTo>
                    <a:pt x="17917" y="15436"/>
                    <a:pt x="14349" y="17736"/>
                    <a:pt x="10109" y="18168"/>
                  </a:cubicBezTo>
                  <a:lnTo>
                    <a:pt x="10109" y="16337"/>
                  </a:lnTo>
                  <a:lnTo>
                    <a:pt x="12811" y="16337"/>
                  </a:lnTo>
                  <a:lnTo>
                    <a:pt x="12811" y="15424"/>
                  </a:lnTo>
                  <a:lnTo>
                    <a:pt x="2958" y="15424"/>
                  </a:lnTo>
                  <a:lnTo>
                    <a:pt x="2958" y="16337"/>
                  </a:lnTo>
                  <a:lnTo>
                    <a:pt x="5665" y="16337"/>
                  </a:lnTo>
                  <a:lnTo>
                    <a:pt x="5665" y="19312"/>
                  </a:lnTo>
                  <a:lnTo>
                    <a:pt x="0" y="19312"/>
                  </a:lnTo>
                  <a:lnTo>
                    <a:pt x="0" y="21600"/>
                  </a:lnTo>
                  <a:lnTo>
                    <a:pt x="15769" y="21600"/>
                  </a:lnTo>
                  <a:lnTo>
                    <a:pt x="15769" y="19312"/>
                  </a:lnTo>
                  <a:lnTo>
                    <a:pt x="11820" y="19312"/>
                  </a:lnTo>
                  <a:cubicBezTo>
                    <a:pt x="16159" y="18468"/>
                    <a:pt x="19703" y="15947"/>
                    <a:pt x="20805" y="12664"/>
                  </a:cubicBezTo>
                  <a:cubicBezTo>
                    <a:pt x="21600" y="10296"/>
                    <a:pt x="21135" y="8089"/>
                    <a:pt x="19462" y="6280"/>
                  </a:cubicBezTo>
                  <a:cubicBezTo>
                    <a:pt x="18352" y="5079"/>
                    <a:pt x="16769" y="4131"/>
                    <a:pt x="14820" y="3462"/>
                  </a:cubicBezTo>
                  <a:cubicBezTo>
                    <a:pt x="14558" y="2431"/>
                    <a:pt x="13305" y="1647"/>
                    <a:pt x="11799" y="1647"/>
                  </a:cubicBezTo>
                  <a:cubicBezTo>
                    <a:pt x="11359" y="1647"/>
                    <a:pt x="10947" y="1715"/>
                    <a:pt x="10568" y="1835"/>
                  </a:cubicBezTo>
                  <a:lnTo>
                    <a:pt x="10642" y="88"/>
                  </a:lnTo>
                  <a:lnTo>
                    <a:pt x="6837" y="0"/>
                  </a:lnTo>
                  <a:close/>
                  <a:moveTo>
                    <a:pt x="11799" y="3017"/>
                  </a:moveTo>
                  <a:cubicBezTo>
                    <a:pt x="12376" y="3012"/>
                    <a:pt x="12879" y="3300"/>
                    <a:pt x="12982" y="3708"/>
                  </a:cubicBezTo>
                  <a:cubicBezTo>
                    <a:pt x="13088" y="4130"/>
                    <a:pt x="12736" y="4539"/>
                    <a:pt x="12167" y="4660"/>
                  </a:cubicBezTo>
                  <a:cubicBezTo>
                    <a:pt x="12051" y="4688"/>
                    <a:pt x="11928" y="4706"/>
                    <a:pt x="11799" y="4706"/>
                  </a:cubicBezTo>
                  <a:cubicBezTo>
                    <a:pt x="11152" y="4706"/>
                    <a:pt x="10625" y="4326"/>
                    <a:pt x="10626" y="3862"/>
                  </a:cubicBezTo>
                  <a:cubicBezTo>
                    <a:pt x="10628" y="3397"/>
                    <a:pt x="11153" y="3023"/>
                    <a:pt x="11799" y="3017"/>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13" name="Shape 34179">
              <a:extLst>
                <a:ext uri="{FF2B5EF4-FFF2-40B4-BE49-F238E27FC236}">
                  <a16:creationId xmlns:a16="http://schemas.microsoft.com/office/drawing/2014/main" id="{CE42E4FB-FD68-9A56-DB60-45D4D1F6DEE8}"/>
                </a:ext>
              </a:extLst>
            </p:cNvPr>
            <p:cNvSpPr/>
            <p:nvPr/>
          </p:nvSpPr>
          <p:spPr>
            <a:xfrm>
              <a:off x="13573878" y="4409128"/>
              <a:ext cx="1096094" cy="1213368"/>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4" name="Shape 34180">
              <a:extLst>
                <a:ext uri="{FF2B5EF4-FFF2-40B4-BE49-F238E27FC236}">
                  <a16:creationId xmlns:a16="http://schemas.microsoft.com/office/drawing/2014/main" id="{0FD9EA42-B916-E428-7847-39A0ED7419E1}"/>
                </a:ext>
              </a:extLst>
            </p:cNvPr>
            <p:cNvSpPr/>
            <p:nvPr/>
          </p:nvSpPr>
          <p:spPr>
            <a:xfrm>
              <a:off x="12366664" y="11330119"/>
              <a:ext cx="843804" cy="992744"/>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15" name="Shape 34181">
              <a:extLst>
                <a:ext uri="{FF2B5EF4-FFF2-40B4-BE49-F238E27FC236}">
                  <a16:creationId xmlns:a16="http://schemas.microsoft.com/office/drawing/2014/main" id="{E8D68D33-D5CF-E622-C836-662EFC5E2A57}"/>
                </a:ext>
              </a:extLst>
            </p:cNvPr>
            <p:cNvSpPr/>
            <p:nvPr/>
          </p:nvSpPr>
          <p:spPr>
            <a:xfrm>
              <a:off x="14244181" y="7303221"/>
              <a:ext cx="622050" cy="54107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097" y="15438"/>
                  </a:lnTo>
                  <a:lnTo>
                    <a:pt x="5592" y="20234"/>
                  </a:lnTo>
                  <a:cubicBezTo>
                    <a:pt x="5592" y="20234"/>
                    <a:pt x="0" y="21600"/>
                    <a:pt x="0" y="21600"/>
                  </a:cubicBezTo>
                  <a:close/>
                  <a:moveTo>
                    <a:pt x="6275" y="19576"/>
                  </a:moveTo>
                  <a:lnTo>
                    <a:pt x="2779" y="14780"/>
                  </a:lnTo>
                  <a:lnTo>
                    <a:pt x="14944" y="3046"/>
                  </a:lnTo>
                  <a:lnTo>
                    <a:pt x="18443" y="7840"/>
                  </a:lnTo>
                  <a:cubicBezTo>
                    <a:pt x="18443" y="7840"/>
                    <a:pt x="6275" y="19576"/>
                    <a:pt x="6275" y="19576"/>
                  </a:cubicBezTo>
                  <a:close/>
                  <a:moveTo>
                    <a:pt x="19138" y="7167"/>
                  </a:moveTo>
                  <a:lnTo>
                    <a:pt x="15640" y="2373"/>
                  </a:lnTo>
                  <a:lnTo>
                    <a:pt x="18101" y="0"/>
                  </a:lnTo>
                  <a:lnTo>
                    <a:pt x="21600" y="4794"/>
                  </a:lnTo>
                  <a:cubicBezTo>
                    <a:pt x="21600" y="4794"/>
                    <a:pt x="19138" y="7167"/>
                    <a:pt x="19138" y="716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6" name="Shape 34182">
              <a:extLst>
                <a:ext uri="{FF2B5EF4-FFF2-40B4-BE49-F238E27FC236}">
                  <a16:creationId xmlns:a16="http://schemas.microsoft.com/office/drawing/2014/main" id="{8CFECFFB-6EA8-A430-AED5-7E65407DD4A5}"/>
                </a:ext>
              </a:extLst>
            </p:cNvPr>
            <p:cNvSpPr/>
            <p:nvPr/>
          </p:nvSpPr>
          <p:spPr>
            <a:xfrm>
              <a:off x="13576635" y="6759701"/>
              <a:ext cx="580114" cy="809692"/>
            </a:xfrm>
            <a:custGeom>
              <a:avLst/>
              <a:gdLst/>
              <a:ahLst/>
              <a:cxnLst>
                <a:cxn ang="0">
                  <a:pos x="wd2" y="hd2"/>
                </a:cxn>
                <a:cxn ang="5400000">
                  <a:pos x="wd2" y="hd2"/>
                </a:cxn>
                <a:cxn ang="10800000">
                  <a:pos x="wd2" y="hd2"/>
                </a:cxn>
                <a:cxn ang="16200000">
                  <a:pos x="wd2" y="hd2"/>
                </a:cxn>
              </a:cxnLst>
              <a:rect l="0" t="0" r="r" b="b"/>
              <a:pathLst>
                <a:path w="19206" h="21363" extrusionOk="0">
                  <a:moveTo>
                    <a:pt x="10609" y="43"/>
                  </a:moveTo>
                  <a:cubicBezTo>
                    <a:pt x="8165" y="-162"/>
                    <a:pt x="5621" y="372"/>
                    <a:pt x="3560" y="1702"/>
                  </a:cubicBezTo>
                  <a:cubicBezTo>
                    <a:pt x="-561" y="4362"/>
                    <a:pt x="-1197" y="9181"/>
                    <a:pt x="2140" y="12465"/>
                  </a:cubicBezTo>
                  <a:cubicBezTo>
                    <a:pt x="4853" y="15135"/>
                    <a:pt x="9359" y="15971"/>
                    <a:pt x="13163" y="14762"/>
                  </a:cubicBezTo>
                  <a:cubicBezTo>
                    <a:pt x="13165" y="14832"/>
                    <a:pt x="13187" y="14904"/>
                    <a:pt x="13225" y="14972"/>
                  </a:cubicBezTo>
                  <a:lnTo>
                    <a:pt x="16612" y="21039"/>
                  </a:lnTo>
                  <a:cubicBezTo>
                    <a:pt x="16765" y="21313"/>
                    <a:pt x="17169" y="21438"/>
                    <a:pt x="17513" y="21316"/>
                  </a:cubicBezTo>
                  <a:lnTo>
                    <a:pt x="17878" y="21186"/>
                  </a:lnTo>
                  <a:cubicBezTo>
                    <a:pt x="18222" y="21064"/>
                    <a:pt x="18373" y="20741"/>
                    <a:pt x="18220" y="20467"/>
                  </a:cubicBezTo>
                  <a:lnTo>
                    <a:pt x="14832" y="14405"/>
                  </a:lnTo>
                  <a:cubicBezTo>
                    <a:pt x="14778" y="14307"/>
                    <a:pt x="14685" y="14238"/>
                    <a:pt x="14581" y="14183"/>
                  </a:cubicBezTo>
                  <a:cubicBezTo>
                    <a:pt x="14946" y="14006"/>
                    <a:pt x="15305" y="13816"/>
                    <a:pt x="15646" y="13596"/>
                  </a:cubicBezTo>
                  <a:cubicBezTo>
                    <a:pt x="19767" y="10937"/>
                    <a:pt x="20403" y="6118"/>
                    <a:pt x="17066" y="2833"/>
                  </a:cubicBezTo>
                  <a:cubicBezTo>
                    <a:pt x="15397" y="1191"/>
                    <a:pt x="13053" y="247"/>
                    <a:pt x="10609" y="43"/>
                  </a:cubicBezTo>
                  <a:close/>
                  <a:moveTo>
                    <a:pt x="10451" y="1237"/>
                  </a:moveTo>
                  <a:cubicBezTo>
                    <a:pt x="12511" y="1410"/>
                    <a:pt x="14487" y="2210"/>
                    <a:pt x="15893" y="3594"/>
                  </a:cubicBezTo>
                  <a:cubicBezTo>
                    <a:pt x="18705" y="6361"/>
                    <a:pt x="18170" y="10422"/>
                    <a:pt x="14697" y="12663"/>
                  </a:cubicBezTo>
                  <a:cubicBezTo>
                    <a:pt x="11225" y="14903"/>
                    <a:pt x="6130" y="14477"/>
                    <a:pt x="3318" y="11709"/>
                  </a:cubicBezTo>
                  <a:cubicBezTo>
                    <a:pt x="506" y="8942"/>
                    <a:pt x="1041" y="4882"/>
                    <a:pt x="4514" y="2641"/>
                  </a:cubicBezTo>
                  <a:cubicBezTo>
                    <a:pt x="6250" y="1520"/>
                    <a:pt x="8392" y="1065"/>
                    <a:pt x="10451" y="123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7" name="Shape 34183">
              <a:extLst>
                <a:ext uri="{FF2B5EF4-FFF2-40B4-BE49-F238E27FC236}">
                  <a16:creationId xmlns:a16="http://schemas.microsoft.com/office/drawing/2014/main" id="{617F6296-7E21-A175-05EE-8707F53A6F39}"/>
                </a:ext>
              </a:extLst>
            </p:cNvPr>
            <p:cNvSpPr/>
            <p:nvPr/>
          </p:nvSpPr>
          <p:spPr>
            <a:xfrm>
              <a:off x="11615391" y="7089790"/>
              <a:ext cx="617918" cy="684030"/>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8" name="Shape 34184">
              <a:extLst>
                <a:ext uri="{FF2B5EF4-FFF2-40B4-BE49-F238E27FC236}">
                  <a16:creationId xmlns:a16="http://schemas.microsoft.com/office/drawing/2014/main" id="{4F91F915-B70C-3DFB-2DED-CD2D0C36EDD4}"/>
                </a:ext>
              </a:extLst>
            </p:cNvPr>
            <p:cNvSpPr/>
            <p:nvPr/>
          </p:nvSpPr>
          <p:spPr>
            <a:xfrm>
              <a:off x="13088735" y="3291417"/>
              <a:ext cx="651942" cy="595766"/>
            </a:xfrm>
            <a:custGeom>
              <a:avLst/>
              <a:gdLst/>
              <a:ahLst/>
              <a:cxnLst>
                <a:cxn ang="0">
                  <a:pos x="wd2" y="hd2"/>
                </a:cxn>
                <a:cxn ang="5400000">
                  <a:pos x="wd2" y="hd2"/>
                </a:cxn>
                <a:cxn ang="10800000">
                  <a:pos x="wd2" y="hd2"/>
                </a:cxn>
                <a:cxn ang="16200000">
                  <a:pos x="wd2" y="hd2"/>
                </a:cxn>
              </a:cxnLst>
              <a:rect l="0" t="0" r="r" b="b"/>
              <a:pathLst>
                <a:path w="20409" h="20716" extrusionOk="0">
                  <a:moveTo>
                    <a:pt x="19071" y="18146"/>
                  </a:moveTo>
                  <a:cubicBezTo>
                    <a:pt x="20183" y="16314"/>
                    <a:pt x="19749" y="13820"/>
                    <a:pt x="18102" y="12586"/>
                  </a:cubicBezTo>
                  <a:cubicBezTo>
                    <a:pt x="17662" y="12256"/>
                    <a:pt x="17178" y="12053"/>
                    <a:pt x="16685" y="11962"/>
                  </a:cubicBezTo>
                  <a:lnTo>
                    <a:pt x="16672" y="15889"/>
                  </a:lnTo>
                  <a:cubicBezTo>
                    <a:pt x="16671" y="16166"/>
                    <a:pt x="16469" y="16390"/>
                    <a:pt x="16220" y="16389"/>
                  </a:cubicBezTo>
                  <a:cubicBezTo>
                    <a:pt x="15971" y="16388"/>
                    <a:pt x="15770" y="16164"/>
                    <a:pt x="15771" y="15887"/>
                  </a:cubicBezTo>
                  <a:lnTo>
                    <a:pt x="15784" y="11921"/>
                  </a:lnTo>
                  <a:cubicBezTo>
                    <a:pt x="14735" y="12022"/>
                    <a:pt x="13732" y="12627"/>
                    <a:pt x="13098" y="13672"/>
                  </a:cubicBezTo>
                  <a:cubicBezTo>
                    <a:pt x="11985" y="15504"/>
                    <a:pt x="12420" y="17998"/>
                    <a:pt x="14067" y="19232"/>
                  </a:cubicBezTo>
                  <a:cubicBezTo>
                    <a:pt x="15713" y="20465"/>
                    <a:pt x="17958" y="19979"/>
                    <a:pt x="19071" y="18146"/>
                  </a:cubicBezTo>
                  <a:close/>
                  <a:moveTo>
                    <a:pt x="16740" y="7857"/>
                  </a:moveTo>
                  <a:lnTo>
                    <a:pt x="15291" y="6772"/>
                  </a:lnTo>
                  <a:cubicBezTo>
                    <a:pt x="15127" y="6649"/>
                    <a:pt x="15015" y="6369"/>
                    <a:pt x="15043" y="6151"/>
                  </a:cubicBezTo>
                  <a:lnTo>
                    <a:pt x="15275" y="4322"/>
                  </a:lnTo>
                  <a:lnTo>
                    <a:pt x="11975" y="5321"/>
                  </a:lnTo>
                  <a:cubicBezTo>
                    <a:pt x="11975" y="5321"/>
                    <a:pt x="12203" y="5706"/>
                    <a:pt x="12483" y="6179"/>
                  </a:cubicBezTo>
                  <a:lnTo>
                    <a:pt x="16109" y="8895"/>
                  </a:lnTo>
                  <a:cubicBezTo>
                    <a:pt x="16109" y="8895"/>
                    <a:pt x="16740" y="7857"/>
                    <a:pt x="16740" y="7857"/>
                  </a:cubicBezTo>
                  <a:close/>
                  <a:moveTo>
                    <a:pt x="15093" y="9342"/>
                  </a:moveTo>
                  <a:lnTo>
                    <a:pt x="13604" y="8227"/>
                  </a:lnTo>
                  <a:cubicBezTo>
                    <a:pt x="13647" y="8494"/>
                    <a:pt x="13599" y="8776"/>
                    <a:pt x="13458" y="9008"/>
                  </a:cubicBezTo>
                  <a:lnTo>
                    <a:pt x="13459" y="9008"/>
                  </a:lnTo>
                  <a:cubicBezTo>
                    <a:pt x="13459" y="9008"/>
                    <a:pt x="13042" y="9692"/>
                    <a:pt x="12523" y="10542"/>
                  </a:cubicBezTo>
                  <a:cubicBezTo>
                    <a:pt x="12523" y="10542"/>
                    <a:pt x="15093" y="9342"/>
                    <a:pt x="15093" y="9342"/>
                  </a:cubicBezTo>
                  <a:close/>
                  <a:moveTo>
                    <a:pt x="11619" y="8259"/>
                  </a:moveTo>
                  <a:cubicBezTo>
                    <a:pt x="11619" y="8259"/>
                    <a:pt x="10321" y="6315"/>
                    <a:pt x="9704" y="5383"/>
                  </a:cubicBezTo>
                  <a:lnTo>
                    <a:pt x="8507" y="5869"/>
                  </a:lnTo>
                  <a:cubicBezTo>
                    <a:pt x="8769" y="6978"/>
                    <a:pt x="8675" y="8186"/>
                    <a:pt x="8184" y="9262"/>
                  </a:cubicBezTo>
                  <a:lnTo>
                    <a:pt x="10126" y="10718"/>
                  </a:lnTo>
                  <a:cubicBezTo>
                    <a:pt x="10126" y="10718"/>
                    <a:pt x="11619" y="8259"/>
                    <a:pt x="11619" y="8259"/>
                  </a:cubicBezTo>
                  <a:close/>
                  <a:moveTo>
                    <a:pt x="7096" y="9656"/>
                  </a:moveTo>
                  <a:lnTo>
                    <a:pt x="4125" y="7430"/>
                  </a:lnTo>
                  <a:cubicBezTo>
                    <a:pt x="3919" y="7275"/>
                    <a:pt x="3865" y="6964"/>
                    <a:pt x="4004" y="6735"/>
                  </a:cubicBezTo>
                  <a:cubicBezTo>
                    <a:pt x="4067" y="6631"/>
                    <a:pt x="4159" y="6564"/>
                    <a:pt x="4260" y="6533"/>
                  </a:cubicBezTo>
                  <a:lnTo>
                    <a:pt x="4259" y="6531"/>
                  </a:lnTo>
                  <a:lnTo>
                    <a:pt x="7505" y="5212"/>
                  </a:lnTo>
                  <a:cubicBezTo>
                    <a:pt x="7238" y="4652"/>
                    <a:pt x="6848" y="4155"/>
                    <a:pt x="6343" y="3777"/>
                  </a:cubicBezTo>
                  <a:cubicBezTo>
                    <a:pt x="4697" y="2543"/>
                    <a:pt x="2452" y="3030"/>
                    <a:pt x="1339" y="4862"/>
                  </a:cubicBezTo>
                  <a:cubicBezTo>
                    <a:pt x="227" y="6694"/>
                    <a:pt x="661" y="9188"/>
                    <a:pt x="2308" y="10422"/>
                  </a:cubicBezTo>
                  <a:cubicBezTo>
                    <a:pt x="3854" y="11580"/>
                    <a:pt x="5928" y="11221"/>
                    <a:pt x="7096" y="9656"/>
                  </a:cubicBezTo>
                  <a:close/>
                  <a:moveTo>
                    <a:pt x="5362" y="7148"/>
                  </a:moveTo>
                  <a:lnTo>
                    <a:pt x="7578" y="8808"/>
                  </a:lnTo>
                  <a:cubicBezTo>
                    <a:pt x="7940" y="7960"/>
                    <a:pt x="8013" y="7021"/>
                    <a:pt x="7822" y="6148"/>
                  </a:cubicBezTo>
                  <a:cubicBezTo>
                    <a:pt x="7822" y="6148"/>
                    <a:pt x="5362" y="7148"/>
                    <a:pt x="5362" y="7148"/>
                  </a:cubicBezTo>
                  <a:close/>
                  <a:moveTo>
                    <a:pt x="19668" y="18594"/>
                  </a:moveTo>
                  <a:cubicBezTo>
                    <a:pt x="18331" y="20796"/>
                    <a:pt x="15642" y="21379"/>
                    <a:pt x="13663" y="19896"/>
                  </a:cubicBezTo>
                  <a:cubicBezTo>
                    <a:pt x="11684" y="18413"/>
                    <a:pt x="11164" y="15426"/>
                    <a:pt x="12501" y="13224"/>
                  </a:cubicBezTo>
                  <a:cubicBezTo>
                    <a:pt x="13276" y="11948"/>
                    <a:pt x="14505" y="11216"/>
                    <a:pt x="15787" y="11115"/>
                  </a:cubicBezTo>
                  <a:lnTo>
                    <a:pt x="15791" y="10101"/>
                  </a:lnTo>
                  <a:lnTo>
                    <a:pt x="11595" y="12059"/>
                  </a:lnTo>
                  <a:cubicBezTo>
                    <a:pt x="11028" y="12983"/>
                    <a:pt x="10547" y="13764"/>
                    <a:pt x="10524" y="13787"/>
                  </a:cubicBezTo>
                  <a:cubicBezTo>
                    <a:pt x="10135" y="14180"/>
                    <a:pt x="9533" y="14149"/>
                    <a:pt x="9180" y="13717"/>
                  </a:cubicBezTo>
                  <a:cubicBezTo>
                    <a:pt x="8879" y="13349"/>
                    <a:pt x="8857" y="12810"/>
                    <a:pt x="9097" y="12415"/>
                  </a:cubicBezTo>
                  <a:lnTo>
                    <a:pt x="9096" y="12414"/>
                  </a:lnTo>
                  <a:lnTo>
                    <a:pt x="9622" y="11548"/>
                  </a:lnTo>
                  <a:lnTo>
                    <a:pt x="7695" y="10105"/>
                  </a:lnTo>
                  <a:cubicBezTo>
                    <a:pt x="6301" y="12039"/>
                    <a:pt x="3783" y="12494"/>
                    <a:pt x="1904" y="11086"/>
                  </a:cubicBezTo>
                  <a:cubicBezTo>
                    <a:pt x="-75" y="9603"/>
                    <a:pt x="-595" y="6616"/>
                    <a:pt x="742" y="4414"/>
                  </a:cubicBezTo>
                  <a:cubicBezTo>
                    <a:pt x="2079" y="2212"/>
                    <a:pt x="4768" y="1629"/>
                    <a:pt x="6747" y="3112"/>
                  </a:cubicBezTo>
                  <a:cubicBezTo>
                    <a:pt x="7383" y="3589"/>
                    <a:pt x="7868" y="4222"/>
                    <a:pt x="8189" y="4933"/>
                  </a:cubicBezTo>
                  <a:lnTo>
                    <a:pt x="9242" y="4506"/>
                  </a:lnTo>
                  <a:cubicBezTo>
                    <a:pt x="9107" y="3945"/>
                    <a:pt x="9252" y="3323"/>
                    <a:pt x="9665" y="2905"/>
                  </a:cubicBezTo>
                  <a:cubicBezTo>
                    <a:pt x="9859" y="2709"/>
                    <a:pt x="10089" y="2584"/>
                    <a:pt x="10328" y="2526"/>
                  </a:cubicBezTo>
                  <a:lnTo>
                    <a:pt x="10328" y="2525"/>
                  </a:lnTo>
                  <a:lnTo>
                    <a:pt x="15055" y="1211"/>
                  </a:lnTo>
                  <a:lnTo>
                    <a:pt x="15055" y="1211"/>
                  </a:lnTo>
                  <a:cubicBezTo>
                    <a:pt x="15587" y="1000"/>
                    <a:pt x="16204" y="1148"/>
                    <a:pt x="16607" y="1641"/>
                  </a:cubicBezTo>
                  <a:cubicBezTo>
                    <a:pt x="16925" y="2031"/>
                    <a:pt x="17037" y="2548"/>
                    <a:pt x="16952" y="3028"/>
                  </a:cubicBezTo>
                  <a:lnTo>
                    <a:pt x="16953" y="3029"/>
                  </a:lnTo>
                  <a:lnTo>
                    <a:pt x="16496" y="5740"/>
                  </a:lnTo>
                  <a:lnTo>
                    <a:pt x="18231" y="7041"/>
                  </a:lnTo>
                  <a:cubicBezTo>
                    <a:pt x="18561" y="7288"/>
                    <a:pt x="18648" y="7786"/>
                    <a:pt x="18425" y="8153"/>
                  </a:cubicBezTo>
                  <a:cubicBezTo>
                    <a:pt x="18217" y="8496"/>
                    <a:pt x="17812" y="8599"/>
                    <a:pt x="17491" y="8409"/>
                  </a:cubicBezTo>
                  <a:lnTo>
                    <a:pt x="16693" y="9723"/>
                  </a:lnTo>
                  <a:lnTo>
                    <a:pt x="16688" y="11148"/>
                  </a:lnTo>
                  <a:cubicBezTo>
                    <a:pt x="17320" y="11245"/>
                    <a:pt x="17941" y="11499"/>
                    <a:pt x="18505" y="11922"/>
                  </a:cubicBezTo>
                  <a:cubicBezTo>
                    <a:pt x="20485" y="13405"/>
                    <a:pt x="21005" y="16392"/>
                    <a:pt x="19668" y="18594"/>
                  </a:cubicBezTo>
                  <a:close/>
                  <a:moveTo>
                    <a:pt x="17732" y="707"/>
                  </a:moveTo>
                  <a:cubicBezTo>
                    <a:pt x="18178" y="-27"/>
                    <a:pt x="19074" y="-221"/>
                    <a:pt x="19734" y="273"/>
                  </a:cubicBezTo>
                  <a:cubicBezTo>
                    <a:pt x="20394" y="767"/>
                    <a:pt x="20567" y="1763"/>
                    <a:pt x="20121" y="2497"/>
                  </a:cubicBezTo>
                  <a:cubicBezTo>
                    <a:pt x="19676" y="3231"/>
                    <a:pt x="18780" y="3426"/>
                    <a:pt x="18120" y="2931"/>
                  </a:cubicBezTo>
                  <a:cubicBezTo>
                    <a:pt x="17460" y="2437"/>
                    <a:pt x="17287" y="1441"/>
                    <a:pt x="17732" y="7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9" name="Shape 34185">
              <a:extLst>
                <a:ext uri="{FF2B5EF4-FFF2-40B4-BE49-F238E27FC236}">
                  <a16:creationId xmlns:a16="http://schemas.microsoft.com/office/drawing/2014/main" id="{F029D3C9-BD86-97DA-B294-D36F5FDE4428}"/>
                </a:ext>
              </a:extLst>
            </p:cNvPr>
            <p:cNvSpPr/>
            <p:nvPr/>
          </p:nvSpPr>
          <p:spPr>
            <a:xfrm>
              <a:off x="12303465" y="7118398"/>
              <a:ext cx="457434" cy="615446"/>
            </a:xfrm>
            <a:custGeom>
              <a:avLst/>
              <a:gdLst/>
              <a:ahLst/>
              <a:cxnLst>
                <a:cxn ang="0">
                  <a:pos x="wd2" y="hd2"/>
                </a:cxn>
                <a:cxn ang="5400000">
                  <a:pos x="wd2" y="hd2"/>
                </a:cxn>
                <a:cxn ang="10800000">
                  <a:pos x="wd2" y="hd2"/>
                </a:cxn>
                <a:cxn ang="16200000">
                  <a:pos x="wd2" y="hd2"/>
                </a:cxn>
              </a:cxnLst>
              <a:rect l="0" t="0" r="r" b="b"/>
              <a:pathLst>
                <a:path w="21600" h="21600" extrusionOk="0">
                  <a:moveTo>
                    <a:pt x="0" y="1289"/>
                  </a:moveTo>
                  <a:lnTo>
                    <a:pt x="7526" y="11318"/>
                  </a:lnTo>
                  <a:lnTo>
                    <a:pt x="10639" y="10027"/>
                  </a:lnTo>
                  <a:lnTo>
                    <a:pt x="6735" y="4831"/>
                  </a:lnTo>
                  <a:cubicBezTo>
                    <a:pt x="7186" y="4822"/>
                    <a:pt x="7638" y="4734"/>
                    <a:pt x="8042" y="4542"/>
                  </a:cubicBezTo>
                  <a:cubicBezTo>
                    <a:pt x="8843" y="4160"/>
                    <a:pt x="9286" y="3488"/>
                    <a:pt x="9338" y="2779"/>
                  </a:cubicBezTo>
                  <a:cubicBezTo>
                    <a:pt x="9343" y="2717"/>
                    <a:pt x="9344" y="2654"/>
                    <a:pt x="9343" y="2591"/>
                  </a:cubicBezTo>
                  <a:cubicBezTo>
                    <a:pt x="10859" y="2532"/>
                    <a:pt x="12290" y="2713"/>
                    <a:pt x="13557" y="3159"/>
                  </a:cubicBezTo>
                  <a:cubicBezTo>
                    <a:pt x="15647" y="3894"/>
                    <a:pt x="17171" y="5277"/>
                    <a:pt x="17964" y="7158"/>
                  </a:cubicBezTo>
                  <a:cubicBezTo>
                    <a:pt x="19200" y="10089"/>
                    <a:pt x="17878" y="13269"/>
                    <a:pt x="14770" y="15143"/>
                  </a:cubicBezTo>
                  <a:lnTo>
                    <a:pt x="13545" y="13629"/>
                  </a:lnTo>
                  <a:lnTo>
                    <a:pt x="15711" y="12662"/>
                  </a:lnTo>
                  <a:lnTo>
                    <a:pt x="15100" y="11906"/>
                  </a:lnTo>
                  <a:lnTo>
                    <a:pt x="7202" y="15433"/>
                  </a:lnTo>
                  <a:lnTo>
                    <a:pt x="7813" y="16189"/>
                  </a:lnTo>
                  <a:lnTo>
                    <a:pt x="9983" y="15220"/>
                  </a:lnTo>
                  <a:lnTo>
                    <a:pt x="11972" y="17680"/>
                  </a:lnTo>
                  <a:lnTo>
                    <a:pt x="7432" y="19708"/>
                  </a:lnTo>
                  <a:lnTo>
                    <a:pt x="8961" y="21600"/>
                  </a:lnTo>
                  <a:lnTo>
                    <a:pt x="21600" y="15956"/>
                  </a:lnTo>
                  <a:lnTo>
                    <a:pt x="20070" y="14064"/>
                  </a:lnTo>
                  <a:lnTo>
                    <a:pt x="16905" y="15477"/>
                  </a:lnTo>
                  <a:cubicBezTo>
                    <a:pt x="19819" y="13226"/>
                    <a:pt x="20973" y="9873"/>
                    <a:pt x="19662" y="6762"/>
                  </a:cubicBezTo>
                  <a:cubicBezTo>
                    <a:pt x="18716" y="4520"/>
                    <a:pt x="16868" y="2861"/>
                    <a:pt x="14317" y="1964"/>
                  </a:cubicBezTo>
                  <a:cubicBezTo>
                    <a:pt x="12625" y="1368"/>
                    <a:pt x="10722" y="1151"/>
                    <a:pt x="8713" y="1295"/>
                  </a:cubicBezTo>
                  <a:cubicBezTo>
                    <a:pt x="7813" y="536"/>
                    <a:pt x="6285" y="336"/>
                    <a:pt x="5078" y="875"/>
                  </a:cubicBezTo>
                  <a:cubicBezTo>
                    <a:pt x="4725" y="1032"/>
                    <a:pt x="4440" y="1236"/>
                    <a:pt x="4217" y="1471"/>
                  </a:cubicBezTo>
                  <a:lnTo>
                    <a:pt x="3109" y="0"/>
                  </a:lnTo>
                  <a:lnTo>
                    <a:pt x="0" y="1289"/>
                  </a:lnTo>
                  <a:close/>
                  <a:moveTo>
                    <a:pt x="5994" y="2008"/>
                  </a:moveTo>
                  <a:cubicBezTo>
                    <a:pt x="6453" y="1798"/>
                    <a:pt x="7049" y="1856"/>
                    <a:pt x="7404" y="2156"/>
                  </a:cubicBezTo>
                  <a:cubicBezTo>
                    <a:pt x="7771" y="2467"/>
                    <a:pt x="7762" y="2932"/>
                    <a:pt x="7387" y="3235"/>
                  </a:cubicBezTo>
                  <a:cubicBezTo>
                    <a:pt x="7313" y="3300"/>
                    <a:pt x="7226" y="3359"/>
                    <a:pt x="7123" y="3405"/>
                  </a:cubicBezTo>
                  <a:cubicBezTo>
                    <a:pt x="6605" y="3637"/>
                    <a:pt x="5928" y="3511"/>
                    <a:pt x="5619" y="3126"/>
                  </a:cubicBezTo>
                  <a:cubicBezTo>
                    <a:pt x="5309" y="2742"/>
                    <a:pt x="5480" y="2244"/>
                    <a:pt x="5994" y="20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0" name="Shape 34186">
              <a:extLst>
                <a:ext uri="{FF2B5EF4-FFF2-40B4-BE49-F238E27FC236}">
                  <a16:creationId xmlns:a16="http://schemas.microsoft.com/office/drawing/2014/main" id="{F5B7275A-6FAF-B24A-A685-47C4A6EE1FA8}"/>
                </a:ext>
              </a:extLst>
            </p:cNvPr>
            <p:cNvSpPr/>
            <p:nvPr/>
          </p:nvSpPr>
          <p:spPr>
            <a:xfrm>
              <a:off x="10902474" y="3745209"/>
              <a:ext cx="602468" cy="782846"/>
            </a:xfrm>
            <a:custGeom>
              <a:avLst/>
              <a:gdLst/>
              <a:ahLst/>
              <a:cxnLst>
                <a:cxn ang="0">
                  <a:pos x="wd2" y="hd2"/>
                </a:cxn>
                <a:cxn ang="5400000">
                  <a:pos x="wd2" y="hd2"/>
                </a:cxn>
                <a:cxn ang="10800000">
                  <a:pos x="wd2" y="hd2"/>
                </a:cxn>
                <a:cxn ang="16200000">
                  <a:pos x="wd2" y="hd2"/>
                </a:cxn>
              </a:cxnLst>
              <a:rect l="0" t="0" r="r" b="b"/>
              <a:pathLst>
                <a:path w="20438" h="21519" extrusionOk="0">
                  <a:moveTo>
                    <a:pt x="9842" y="0"/>
                  </a:moveTo>
                  <a:cubicBezTo>
                    <a:pt x="7324" y="0"/>
                    <a:pt x="4803" y="774"/>
                    <a:pt x="2881" y="2331"/>
                  </a:cubicBezTo>
                  <a:cubicBezTo>
                    <a:pt x="-961" y="5445"/>
                    <a:pt x="-961" y="10493"/>
                    <a:pt x="2881" y="13607"/>
                  </a:cubicBezTo>
                  <a:cubicBezTo>
                    <a:pt x="6005" y="16138"/>
                    <a:pt x="10709" y="16613"/>
                    <a:pt x="14423" y="15030"/>
                  </a:cubicBezTo>
                  <a:cubicBezTo>
                    <a:pt x="14434" y="15103"/>
                    <a:pt x="14466" y="15175"/>
                    <a:pt x="14515" y="15243"/>
                  </a:cubicBezTo>
                  <a:lnTo>
                    <a:pt x="18781" y="21235"/>
                  </a:lnTo>
                  <a:cubicBezTo>
                    <a:pt x="18974" y="21506"/>
                    <a:pt x="19402" y="21600"/>
                    <a:pt x="19736" y="21444"/>
                  </a:cubicBezTo>
                  <a:lnTo>
                    <a:pt x="20091" y="21277"/>
                  </a:lnTo>
                  <a:cubicBezTo>
                    <a:pt x="20425" y="21121"/>
                    <a:pt x="20535" y="20774"/>
                    <a:pt x="20343" y="20503"/>
                  </a:cubicBezTo>
                  <a:lnTo>
                    <a:pt x="16076" y="14515"/>
                  </a:lnTo>
                  <a:cubicBezTo>
                    <a:pt x="16007" y="14419"/>
                    <a:pt x="15903" y="14355"/>
                    <a:pt x="15790" y="14307"/>
                  </a:cubicBezTo>
                  <a:cubicBezTo>
                    <a:pt x="16138" y="14092"/>
                    <a:pt x="16479" y="13864"/>
                    <a:pt x="16797" y="13607"/>
                  </a:cubicBezTo>
                  <a:cubicBezTo>
                    <a:pt x="20639" y="10493"/>
                    <a:pt x="20639" y="5445"/>
                    <a:pt x="16797" y="2331"/>
                  </a:cubicBezTo>
                  <a:cubicBezTo>
                    <a:pt x="14875" y="774"/>
                    <a:pt x="12360" y="0"/>
                    <a:pt x="9842" y="0"/>
                  </a:cubicBezTo>
                  <a:close/>
                  <a:moveTo>
                    <a:pt x="9842" y="1251"/>
                  </a:moveTo>
                  <a:cubicBezTo>
                    <a:pt x="11963" y="1251"/>
                    <a:pt x="14085" y="1909"/>
                    <a:pt x="15704" y="3221"/>
                  </a:cubicBezTo>
                  <a:cubicBezTo>
                    <a:pt x="18942" y="5844"/>
                    <a:pt x="18942" y="10098"/>
                    <a:pt x="15704" y="12722"/>
                  </a:cubicBezTo>
                  <a:cubicBezTo>
                    <a:pt x="12467" y="15345"/>
                    <a:pt x="7217" y="15345"/>
                    <a:pt x="3980" y="12722"/>
                  </a:cubicBezTo>
                  <a:cubicBezTo>
                    <a:pt x="742" y="10098"/>
                    <a:pt x="742" y="5844"/>
                    <a:pt x="3980" y="3221"/>
                  </a:cubicBezTo>
                  <a:cubicBezTo>
                    <a:pt x="5598" y="1909"/>
                    <a:pt x="7720" y="1251"/>
                    <a:pt x="9842" y="125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1" name="Shape 34187">
              <a:extLst>
                <a:ext uri="{FF2B5EF4-FFF2-40B4-BE49-F238E27FC236}">
                  <a16:creationId xmlns:a16="http://schemas.microsoft.com/office/drawing/2014/main" id="{EAAF3EFF-FA3D-D6EE-8564-5186B15CA88F}"/>
                </a:ext>
              </a:extLst>
            </p:cNvPr>
            <p:cNvSpPr/>
            <p:nvPr/>
          </p:nvSpPr>
          <p:spPr>
            <a:xfrm>
              <a:off x="9646332" y="5299667"/>
              <a:ext cx="648460" cy="459644"/>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2" name="Shape 34188">
              <a:extLst>
                <a:ext uri="{FF2B5EF4-FFF2-40B4-BE49-F238E27FC236}">
                  <a16:creationId xmlns:a16="http://schemas.microsoft.com/office/drawing/2014/main" id="{749F9356-4688-F55D-7BA7-4D414600925A}"/>
                </a:ext>
              </a:extLst>
            </p:cNvPr>
            <p:cNvSpPr/>
            <p:nvPr/>
          </p:nvSpPr>
          <p:spPr>
            <a:xfrm>
              <a:off x="14782759" y="5213711"/>
              <a:ext cx="949938" cy="458576"/>
            </a:xfrm>
            <a:custGeom>
              <a:avLst/>
              <a:gdLst/>
              <a:ahLst/>
              <a:cxnLst>
                <a:cxn ang="0">
                  <a:pos x="wd2" y="hd2"/>
                </a:cxn>
                <a:cxn ang="5400000">
                  <a:pos x="wd2" y="hd2"/>
                </a:cxn>
                <a:cxn ang="10800000">
                  <a:pos x="wd2" y="hd2"/>
                </a:cxn>
                <a:cxn ang="16200000">
                  <a:pos x="wd2" y="hd2"/>
                </a:cxn>
              </a:cxnLst>
              <a:rect l="0" t="0" r="r" b="b"/>
              <a:pathLst>
                <a:path w="21600" h="21600" extrusionOk="0">
                  <a:moveTo>
                    <a:pt x="470" y="21600"/>
                  </a:moveTo>
                  <a:cubicBezTo>
                    <a:pt x="3196" y="21301"/>
                    <a:pt x="4520" y="17446"/>
                    <a:pt x="5606" y="13579"/>
                  </a:cubicBezTo>
                  <a:cubicBezTo>
                    <a:pt x="6868" y="17109"/>
                    <a:pt x="8385" y="20522"/>
                    <a:pt x="11056" y="20229"/>
                  </a:cubicBezTo>
                  <a:cubicBezTo>
                    <a:pt x="13700" y="19938"/>
                    <a:pt x="15043" y="16273"/>
                    <a:pt x="16113" y="12527"/>
                  </a:cubicBezTo>
                  <a:cubicBezTo>
                    <a:pt x="17383" y="16099"/>
                    <a:pt x="18898" y="19587"/>
                    <a:pt x="21600" y="19290"/>
                  </a:cubicBezTo>
                  <a:lnTo>
                    <a:pt x="21545" y="16807"/>
                  </a:lnTo>
                  <a:cubicBezTo>
                    <a:pt x="19258" y="17058"/>
                    <a:pt x="18061" y="13947"/>
                    <a:pt x="16772" y="10222"/>
                  </a:cubicBezTo>
                  <a:cubicBezTo>
                    <a:pt x="17878" y="6171"/>
                    <a:pt x="18899" y="2735"/>
                    <a:pt x="21214" y="2481"/>
                  </a:cubicBezTo>
                  <a:lnTo>
                    <a:pt x="21142" y="0"/>
                  </a:lnTo>
                  <a:cubicBezTo>
                    <a:pt x="18416" y="300"/>
                    <a:pt x="17080" y="4165"/>
                    <a:pt x="15994" y="8031"/>
                  </a:cubicBezTo>
                  <a:cubicBezTo>
                    <a:pt x="14732" y="4504"/>
                    <a:pt x="13210" y="1123"/>
                    <a:pt x="10541" y="1416"/>
                  </a:cubicBezTo>
                  <a:cubicBezTo>
                    <a:pt x="7892" y="1708"/>
                    <a:pt x="6571" y="5362"/>
                    <a:pt x="5501" y="9116"/>
                  </a:cubicBezTo>
                  <a:cubicBezTo>
                    <a:pt x="4229" y="5537"/>
                    <a:pt x="2706" y="2023"/>
                    <a:pt x="0" y="2320"/>
                  </a:cubicBezTo>
                  <a:cubicBezTo>
                    <a:pt x="0" y="2320"/>
                    <a:pt x="67" y="4802"/>
                    <a:pt x="67" y="4802"/>
                  </a:cubicBezTo>
                  <a:cubicBezTo>
                    <a:pt x="2361" y="4550"/>
                    <a:pt x="3548" y="7681"/>
                    <a:pt x="4841" y="11421"/>
                  </a:cubicBezTo>
                  <a:cubicBezTo>
                    <a:pt x="3737" y="15462"/>
                    <a:pt x="2709" y="18874"/>
                    <a:pt x="399" y="19128"/>
                  </a:cubicBezTo>
                  <a:lnTo>
                    <a:pt x="470" y="21600"/>
                  </a:lnTo>
                  <a:close/>
                  <a:moveTo>
                    <a:pt x="571" y="17516"/>
                  </a:moveTo>
                  <a:cubicBezTo>
                    <a:pt x="973" y="17463"/>
                    <a:pt x="1323" y="17289"/>
                    <a:pt x="1641" y="17020"/>
                  </a:cubicBezTo>
                  <a:cubicBezTo>
                    <a:pt x="1641" y="17020"/>
                    <a:pt x="1387" y="6572"/>
                    <a:pt x="1387" y="6572"/>
                  </a:cubicBezTo>
                  <a:cubicBezTo>
                    <a:pt x="1058" y="6378"/>
                    <a:pt x="699" y="6290"/>
                    <a:pt x="296" y="6330"/>
                  </a:cubicBezTo>
                  <a:lnTo>
                    <a:pt x="571" y="17516"/>
                  </a:lnTo>
                  <a:close/>
                  <a:moveTo>
                    <a:pt x="2649" y="15637"/>
                  </a:moveTo>
                  <a:cubicBezTo>
                    <a:pt x="3008" y="15009"/>
                    <a:pt x="3317" y="14212"/>
                    <a:pt x="3611" y="13297"/>
                  </a:cubicBezTo>
                  <a:lnTo>
                    <a:pt x="3530" y="9777"/>
                  </a:lnTo>
                  <a:cubicBezTo>
                    <a:pt x="3194" y="8935"/>
                    <a:pt x="2849" y="8211"/>
                    <a:pt x="2462" y="7671"/>
                  </a:cubicBezTo>
                  <a:lnTo>
                    <a:pt x="2649" y="15637"/>
                  </a:lnTo>
                  <a:close/>
                  <a:moveTo>
                    <a:pt x="6265" y="11274"/>
                  </a:moveTo>
                  <a:cubicBezTo>
                    <a:pt x="7335" y="7383"/>
                    <a:pt x="8366" y="4144"/>
                    <a:pt x="10612" y="3897"/>
                  </a:cubicBezTo>
                  <a:cubicBezTo>
                    <a:pt x="12876" y="3648"/>
                    <a:pt x="14062" y="6687"/>
                    <a:pt x="15336" y="10361"/>
                  </a:cubicBezTo>
                  <a:cubicBezTo>
                    <a:pt x="14269" y="14240"/>
                    <a:pt x="13242" y="17500"/>
                    <a:pt x="11001" y="17746"/>
                  </a:cubicBezTo>
                  <a:cubicBezTo>
                    <a:pt x="8738" y="17995"/>
                    <a:pt x="7539" y="14948"/>
                    <a:pt x="6265" y="11274"/>
                  </a:cubicBezTo>
                  <a:close/>
                  <a:moveTo>
                    <a:pt x="8019" y="13315"/>
                  </a:moveTo>
                  <a:cubicBezTo>
                    <a:pt x="8416" y="14295"/>
                    <a:pt x="8827" y="15128"/>
                    <a:pt x="9287" y="15750"/>
                  </a:cubicBezTo>
                  <a:lnTo>
                    <a:pt x="9038" y="6172"/>
                  </a:lnTo>
                  <a:cubicBezTo>
                    <a:pt x="8613" y="6892"/>
                    <a:pt x="8251" y="7817"/>
                    <a:pt x="7906" y="8878"/>
                  </a:cubicBezTo>
                  <a:lnTo>
                    <a:pt x="8019" y="13315"/>
                  </a:lnTo>
                  <a:close/>
                  <a:moveTo>
                    <a:pt x="10389" y="16077"/>
                  </a:moveTo>
                  <a:cubicBezTo>
                    <a:pt x="10611" y="16140"/>
                    <a:pt x="10842" y="16161"/>
                    <a:pt x="11095" y="16128"/>
                  </a:cubicBezTo>
                  <a:cubicBezTo>
                    <a:pt x="11223" y="16112"/>
                    <a:pt x="11344" y="16080"/>
                    <a:pt x="11463" y="16041"/>
                  </a:cubicBezTo>
                  <a:lnTo>
                    <a:pt x="11227" y="5045"/>
                  </a:lnTo>
                  <a:cubicBezTo>
                    <a:pt x="11108" y="5036"/>
                    <a:pt x="10985" y="5039"/>
                    <a:pt x="10857" y="5056"/>
                  </a:cubicBezTo>
                  <a:cubicBezTo>
                    <a:pt x="10605" y="5088"/>
                    <a:pt x="10374" y="5166"/>
                    <a:pt x="10157" y="5285"/>
                  </a:cubicBezTo>
                  <a:lnTo>
                    <a:pt x="10389" y="16077"/>
                  </a:lnTo>
                  <a:close/>
                  <a:moveTo>
                    <a:pt x="12594" y="15655"/>
                  </a:moveTo>
                  <a:cubicBezTo>
                    <a:pt x="12999" y="15123"/>
                    <a:pt x="13343" y="14414"/>
                    <a:pt x="13661" y="13573"/>
                  </a:cubicBezTo>
                  <a:lnTo>
                    <a:pt x="13528" y="7680"/>
                  </a:lnTo>
                  <a:cubicBezTo>
                    <a:pt x="13173" y="6920"/>
                    <a:pt x="12798" y="6300"/>
                    <a:pt x="12371" y="5869"/>
                  </a:cubicBezTo>
                  <a:lnTo>
                    <a:pt x="12594" y="15655"/>
                  </a:lnTo>
                  <a:close/>
                  <a:moveTo>
                    <a:pt x="18081" y="11798"/>
                  </a:moveTo>
                  <a:cubicBezTo>
                    <a:pt x="18416" y="12578"/>
                    <a:pt x="18758" y="13235"/>
                    <a:pt x="19139" y="13718"/>
                  </a:cubicBezTo>
                  <a:lnTo>
                    <a:pt x="18884" y="6051"/>
                  </a:lnTo>
                  <a:cubicBezTo>
                    <a:pt x="18541" y="6694"/>
                    <a:pt x="18245" y="7495"/>
                    <a:pt x="17967" y="8411"/>
                  </a:cubicBezTo>
                  <a:lnTo>
                    <a:pt x="18081" y="11798"/>
                  </a:lnTo>
                  <a:close/>
                  <a:moveTo>
                    <a:pt x="20486" y="14708"/>
                  </a:moveTo>
                  <a:cubicBezTo>
                    <a:pt x="20804" y="14878"/>
                    <a:pt x="21150" y="14947"/>
                    <a:pt x="21538" y="14889"/>
                  </a:cubicBezTo>
                  <a:lnTo>
                    <a:pt x="21229" y="4150"/>
                  </a:lnTo>
                  <a:cubicBezTo>
                    <a:pt x="20842" y="4223"/>
                    <a:pt x="20502" y="4409"/>
                    <a:pt x="20197" y="4684"/>
                  </a:cubicBezTo>
                  <a:cubicBezTo>
                    <a:pt x="20197" y="4684"/>
                    <a:pt x="20486" y="14708"/>
                    <a:pt x="20486" y="147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3" name="Shape 34189">
              <a:extLst>
                <a:ext uri="{FF2B5EF4-FFF2-40B4-BE49-F238E27FC236}">
                  <a16:creationId xmlns:a16="http://schemas.microsoft.com/office/drawing/2014/main" id="{ACF42464-8277-7FE7-BFF9-60BD9A71C304}"/>
                </a:ext>
              </a:extLst>
            </p:cNvPr>
            <p:cNvSpPr/>
            <p:nvPr/>
          </p:nvSpPr>
          <p:spPr>
            <a:xfrm>
              <a:off x="12966315" y="3935732"/>
              <a:ext cx="606684" cy="867474"/>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4" name="Shape 34190">
              <a:extLst>
                <a:ext uri="{FF2B5EF4-FFF2-40B4-BE49-F238E27FC236}">
                  <a16:creationId xmlns:a16="http://schemas.microsoft.com/office/drawing/2014/main" id="{1CB0601C-E813-F143-49E8-AF8089764FF4}"/>
                </a:ext>
              </a:extLst>
            </p:cNvPr>
            <p:cNvSpPr/>
            <p:nvPr/>
          </p:nvSpPr>
          <p:spPr>
            <a:xfrm>
              <a:off x="8736613" y="4207504"/>
              <a:ext cx="967678" cy="820704"/>
            </a:xfrm>
            <a:custGeom>
              <a:avLst/>
              <a:gdLst/>
              <a:ahLst/>
              <a:cxnLst>
                <a:cxn ang="0">
                  <a:pos x="wd2" y="hd2"/>
                </a:cxn>
                <a:cxn ang="5400000">
                  <a:pos x="wd2" y="hd2"/>
                </a:cxn>
                <a:cxn ang="10800000">
                  <a:pos x="wd2" y="hd2"/>
                </a:cxn>
                <a:cxn ang="16200000">
                  <a:pos x="wd2" y="hd2"/>
                </a:cxn>
              </a:cxnLst>
              <a:rect l="0" t="0" r="r" b="b"/>
              <a:pathLst>
                <a:path w="21275" h="21218" extrusionOk="0">
                  <a:moveTo>
                    <a:pt x="17160" y="16531"/>
                  </a:moveTo>
                  <a:lnTo>
                    <a:pt x="3281" y="10266"/>
                  </a:lnTo>
                  <a:lnTo>
                    <a:pt x="6158" y="1453"/>
                  </a:lnTo>
                  <a:lnTo>
                    <a:pt x="20037" y="7718"/>
                  </a:lnTo>
                  <a:cubicBezTo>
                    <a:pt x="20037" y="7718"/>
                    <a:pt x="17160" y="16531"/>
                    <a:pt x="17160" y="16531"/>
                  </a:cubicBezTo>
                  <a:close/>
                  <a:moveTo>
                    <a:pt x="20480" y="6363"/>
                  </a:moveTo>
                  <a:lnTo>
                    <a:pt x="6600" y="98"/>
                  </a:lnTo>
                  <a:cubicBezTo>
                    <a:pt x="5961" y="-191"/>
                    <a:pt x="5246" y="183"/>
                    <a:pt x="5001" y="931"/>
                  </a:cubicBezTo>
                  <a:cubicBezTo>
                    <a:pt x="5001" y="931"/>
                    <a:pt x="1682" y="11100"/>
                    <a:pt x="1694" y="11105"/>
                  </a:cubicBezTo>
                  <a:lnTo>
                    <a:pt x="17862" y="18403"/>
                  </a:lnTo>
                  <a:cubicBezTo>
                    <a:pt x="17874" y="18409"/>
                    <a:pt x="21194" y="8240"/>
                    <a:pt x="21194" y="8240"/>
                  </a:cubicBezTo>
                  <a:cubicBezTo>
                    <a:pt x="21438" y="7492"/>
                    <a:pt x="21118" y="6651"/>
                    <a:pt x="20480" y="6363"/>
                  </a:cubicBezTo>
                  <a:close/>
                  <a:moveTo>
                    <a:pt x="16989" y="21121"/>
                  </a:moveTo>
                  <a:lnTo>
                    <a:pt x="797" y="13812"/>
                  </a:lnTo>
                  <a:cubicBezTo>
                    <a:pt x="157" y="13523"/>
                    <a:pt x="-162" y="12683"/>
                    <a:pt x="83" y="11934"/>
                  </a:cubicBezTo>
                  <a:lnTo>
                    <a:pt x="304" y="11256"/>
                  </a:lnTo>
                  <a:lnTo>
                    <a:pt x="7822" y="14649"/>
                  </a:lnTo>
                  <a:lnTo>
                    <a:pt x="7600" y="15327"/>
                  </a:lnTo>
                  <a:lnTo>
                    <a:pt x="11070" y="16893"/>
                  </a:lnTo>
                  <a:lnTo>
                    <a:pt x="11291" y="16216"/>
                  </a:lnTo>
                  <a:lnTo>
                    <a:pt x="18810" y="19609"/>
                  </a:lnTo>
                  <a:lnTo>
                    <a:pt x="18588" y="20287"/>
                  </a:lnTo>
                  <a:cubicBezTo>
                    <a:pt x="18344" y="21036"/>
                    <a:pt x="17627" y="21409"/>
                    <a:pt x="16989" y="21121"/>
                  </a:cubicBezTo>
                  <a:cubicBezTo>
                    <a:pt x="16989" y="21121"/>
                    <a:pt x="16989" y="21121"/>
                    <a:pt x="16989" y="2112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5" name="Shape 34191">
              <a:extLst>
                <a:ext uri="{FF2B5EF4-FFF2-40B4-BE49-F238E27FC236}">
                  <a16:creationId xmlns:a16="http://schemas.microsoft.com/office/drawing/2014/main" id="{AC9455CF-AF30-DE16-2774-5F4D082B38B0}"/>
                </a:ext>
              </a:extLst>
            </p:cNvPr>
            <p:cNvSpPr/>
            <p:nvPr/>
          </p:nvSpPr>
          <p:spPr>
            <a:xfrm>
              <a:off x="12884222" y="7775447"/>
              <a:ext cx="606686" cy="867474"/>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6" name="Shape 34192">
              <a:extLst>
                <a:ext uri="{FF2B5EF4-FFF2-40B4-BE49-F238E27FC236}">
                  <a16:creationId xmlns:a16="http://schemas.microsoft.com/office/drawing/2014/main" id="{7C569921-7480-9A44-8C2E-A5B0ED448F0E}"/>
                </a:ext>
              </a:extLst>
            </p:cNvPr>
            <p:cNvSpPr/>
            <p:nvPr/>
          </p:nvSpPr>
          <p:spPr>
            <a:xfrm>
              <a:off x="9950402" y="3061775"/>
              <a:ext cx="885232" cy="1041484"/>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7" name="Shape 34193">
              <a:extLst>
                <a:ext uri="{FF2B5EF4-FFF2-40B4-BE49-F238E27FC236}">
                  <a16:creationId xmlns:a16="http://schemas.microsoft.com/office/drawing/2014/main" id="{A5E3F977-180A-3643-419D-57AED242F69C}"/>
                </a:ext>
              </a:extLst>
            </p:cNvPr>
            <p:cNvSpPr/>
            <p:nvPr/>
          </p:nvSpPr>
          <p:spPr>
            <a:xfrm>
              <a:off x="11615551" y="3334957"/>
              <a:ext cx="818520" cy="818520"/>
            </a:xfrm>
            <a:custGeom>
              <a:avLst/>
              <a:gdLst/>
              <a:ahLst/>
              <a:cxnLst>
                <a:cxn ang="0">
                  <a:pos x="wd2" y="hd2"/>
                </a:cxn>
                <a:cxn ang="5400000">
                  <a:pos x="wd2" y="hd2"/>
                </a:cxn>
                <a:cxn ang="10800000">
                  <a:pos x="wd2" y="hd2"/>
                </a:cxn>
                <a:cxn ang="16200000">
                  <a:pos x="wd2" y="hd2"/>
                </a:cxn>
              </a:cxnLst>
              <a:rect l="0" t="0" r="r" b="b"/>
              <a:pathLst>
                <a:path w="20113" h="20113" extrusionOk="0">
                  <a:moveTo>
                    <a:pt x="8483" y="125"/>
                  </a:moveTo>
                  <a:cubicBezTo>
                    <a:pt x="2996" y="994"/>
                    <a:pt x="-744" y="6142"/>
                    <a:pt x="125" y="11629"/>
                  </a:cubicBezTo>
                  <a:cubicBezTo>
                    <a:pt x="994" y="17116"/>
                    <a:pt x="6142" y="20856"/>
                    <a:pt x="11629" y="19987"/>
                  </a:cubicBezTo>
                  <a:cubicBezTo>
                    <a:pt x="17116" y="19118"/>
                    <a:pt x="20856" y="13970"/>
                    <a:pt x="19987" y="8483"/>
                  </a:cubicBezTo>
                  <a:cubicBezTo>
                    <a:pt x="19118" y="2996"/>
                    <a:pt x="13970" y="-744"/>
                    <a:pt x="8483" y="125"/>
                  </a:cubicBezTo>
                  <a:close/>
                  <a:moveTo>
                    <a:pt x="8760" y="1873"/>
                  </a:moveTo>
                  <a:cubicBezTo>
                    <a:pt x="8956" y="1842"/>
                    <a:pt x="9163" y="1878"/>
                    <a:pt x="9336" y="2004"/>
                  </a:cubicBezTo>
                  <a:cubicBezTo>
                    <a:pt x="9681" y="2255"/>
                    <a:pt x="9758" y="2741"/>
                    <a:pt x="9507" y="3087"/>
                  </a:cubicBezTo>
                  <a:cubicBezTo>
                    <a:pt x="9256" y="3432"/>
                    <a:pt x="8770" y="3509"/>
                    <a:pt x="8424" y="3258"/>
                  </a:cubicBezTo>
                  <a:cubicBezTo>
                    <a:pt x="8079" y="3007"/>
                    <a:pt x="8002" y="2521"/>
                    <a:pt x="8253" y="2175"/>
                  </a:cubicBezTo>
                  <a:cubicBezTo>
                    <a:pt x="8378" y="2002"/>
                    <a:pt x="8564" y="1904"/>
                    <a:pt x="8760" y="1873"/>
                  </a:cubicBezTo>
                  <a:close/>
                  <a:moveTo>
                    <a:pt x="9098" y="4008"/>
                  </a:moveTo>
                  <a:cubicBezTo>
                    <a:pt x="9327" y="3971"/>
                    <a:pt x="9546" y="4130"/>
                    <a:pt x="9582" y="4359"/>
                  </a:cubicBezTo>
                  <a:lnTo>
                    <a:pt x="10314" y="8984"/>
                  </a:lnTo>
                  <a:cubicBezTo>
                    <a:pt x="10465" y="9019"/>
                    <a:pt x="10626" y="8992"/>
                    <a:pt x="10759" y="9088"/>
                  </a:cubicBezTo>
                  <a:cubicBezTo>
                    <a:pt x="10893" y="9186"/>
                    <a:pt x="10931" y="9343"/>
                    <a:pt x="11011" y="9477"/>
                  </a:cubicBezTo>
                  <a:lnTo>
                    <a:pt x="14460" y="8930"/>
                  </a:lnTo>
                  <a:cubicBezTo>
                    <a:pt x="14689" y="8894"/>
                    <a:pt x="14908" y="9053"/>
                    <a:pt x="14944" y="9282"/>
                  </a:cubicBezTo>
                  <a:cubicBezTo>
                    <a:pt x="14980" y="9511"/>
                    <a:pt x="14822" y="9729"/>
                    <a:pt x="14593" y="9766"/>
                  </a:cubicBezTo>
                  <a:lnTo>
                    <a:pt x="11143" y="10312"/>
                  </a:lnTo>
                  <a:cubicBezTo>
                    <a:pt x="11108" y="10464"/>
                    <a:pt x="11121" y="10625"/>
                    <a:pt x="11024" y="10759"/>
                  </a:cubicBezTo>
                  <a:cubicBezTo>
                    <a:pt x="10636" y="11292"/>
                    <a:pt x="9886" y="11411"/>
                    <a:pt x="9353" y="11024"/>
                  </a:cubicBezTo>
                  <a:cubicBezTo>
                    <a:pt x="8820" y="10636"/>
                    <a:pt x="8701" y="9886"/>
                    <a:pt x="9088" y="9353"/>
                  </a:cubicBezTo>
                  <a:cubicBezTo>
                    <a:pt x="9188" y="9215"/>
                    <a:pt x="9357" y="9195"/>
                    <a:pt x="9495" y="9114"/>
                  </a:cubicBezTo>
                  <a:lnTo>
                    <a:pt x="8762" y="4489"/>
                  </a:lnTo>
                  <a:cubicBezTo>
                    <a:pt x="8726" y="4260"/>
                    <a:pt x="8869" y="4044"/>
                    <a:pt x="9098" y="4008"/>
                  </a:cubicBezTo>
                  <a:close/>
                  <a:moveTo>
                    <a:pt x="2495" y="10476"/>
                  </a:moveTo>
                  <a:cubicBezTo>
                    <a:pt x="2691" y="10446"/>
                    <a:pt x="2898" y="10482"/>
                    <a:pt x="3071" y="10607"/>
                  </a:cubicBezTo>
                  <a:cubicBezTo>
                    <a:pt x="3417" y="10859"/>
                    <a:pt x="3494" y="11345"/>
                    <a:pt x="3243" y="11690"/>
                  </a:cubicBezTo>
                  <a:cubicBezTo>
                    <a:pt x="2992" y="12035"/>
                    <a:pt x="2505" y="12113"/>
                    <a:pt x="2160" y="11862"/>
                  </a:cubicBezTo>
                  <a:cubicBezTo>
                    <a:pt x="1814" y="11610"/>
                    <a:pt x="1737" y="11124"/>
                    <a:pt x="1988" y="10779"/>
                  </a:cubicBezTo>
                  <a:cubicBezTo>
                    <a:pt x="2114" y="10606"/>
                    <a:pt x="2300" y="10507"/>
                    <a:pt x="2495" y="10476"/>
                  </a:cubicBezTo>
                  <a:close/>
                  <a:moveTo>
                    <a:pt x="17392" y="8117"/>
                  </a:moveTo>
                  <a:cubicBezTo>
                    <a:pt x="17587" y="8086"/>
                    <a:pt x="17779" y="8125"/>
                    <a:pt x="17952" y="8250"/>
                  </a:cubicBezTo>
                  <a:cubicBezTo>
                    <a:pt x="18298" y="8502"/>
                    <a:pt x="18375" y="8988"/>
                    <a:pt x="18124" y="9333"/>
                  </a:cubicBezTo>
                  <a:cubicBezTo>
                    <a:pt x="17872" y="9678"/>
                    <a:pt x="17402" y="9753"/>
                    <a:pt x="17056" y="9502"/>
                  </a:cubicBezTo>
                  <a:cubicBezTo>
                    <a:pt x="16711" y="9251"/>
                    <a:pt x="16634" y="8765"/>
                    <a:pt x="16885" y="8419"/>
                  </a:cubicBezTo>
                  <a:cubicBezTo>
                    <a:pt x="17010" y="8247"/>
                    <a:pt x="17196" y="8148"/>
                    <a:pt x="17392" y="8117"/>
                  </a:cubicBezTo>
                  <a:close/>
                  <a:moveTo>
                    <a:pt x="11112" y="16723"/>
                  </a:moveTo>
                  <a:cubicBezTo>
                    <a:pt x="11308" y="16692"/>
                    <a:pt x="11515" y="16728"/>
                    <a:pt x="11688" y="16854"/>
                  </a:cubicBezTo>
                  <a:cubicBezTo>
                    <a:pt x="12033" y="17105"/>
                    <a:pt x="12110" y="17591"/>
                    <a:pt x="11859" y="17937"/>
                  </a:cubicBezTo>
                  <a:cubicBezTo>
                    <a:pt x="11608" y="18282"/>
                    <a:pt x="11122" y="18359"/>
                    <a:pt x="10776" y="18108"/>
                  </a:cubicBezTo>
                  <a:cubicBezTo>
                    <a:pt x="10431" y="17857"/>
                    <a:pt x="10354" y="17371"/>
                    <a:pt x="10605" y="17025"/>
                  </a:cubicBezTo>
                  <a:cubicBezTo>
                    <a:pt x="10730" y="16853"/>
                    <a:pt x="10916" y="16754"/>
                    <a:pt x="11112" y="1672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28" name="Shape 34194">
              <a:extLst>
                <a:ext uri="{FF2B5EF4-FFF2-40B4-BE49-F238E27FC236}">
                  <a16:creationId xmlns:a16="http://schemas.microsoft.com/office/drawing/2014/main" id="{8654F068-3931-E6FE-A770-5E45CA727A66}"/>
                </a:ext>
              </a:extLst>
            </p:cNvPr>
            <p:cNvSpPr/>
            <p:nvPr/>
          </p:nvSpPr>
          <p:spPr>
            <a:xfrm>
              <a:off x="14592598" y="6234099"/>
              <a:ext cx="850388" cy="976334"/>
            </a:xfrm>
            <a:custGeom>
              <a:avLst/>
              <a:gdLst/>
              <a:ahLst/>
              <a:cxnLst>
                <a:cxn ang="0">
                  <a:pos x="wd2" y="hd2"/>
                </a:cxn>
                <a:cxn ang="5400000">
                  <a:pos x="wd2" y="hd2"/>
                </a:cxn>
                <a:cxn ang="10800000">
                  <a:pos x="wd2" y="hd2"/>
                </a:cxn>
                <a:cxn ang="16200000">
                  <a:pos x="wd2" y="hd2"/>
                </a:cxn>
              </a:cxnLst>
              <a:rect l="0" t="0" r="r" b="b"/>
              <a:pathLst>
                <a:path w="21600" h="21600" extrusionOk="0">
                  <a:moveTo>
                    <a:pt x="11390" y="0"/>
                  </a:moveTo>
                  <a:lnTo>
                    <a:pt x="0" y="14168"/>
                  </a:lnTo>
                  <a:lnTo>
                    <a:pt x="12187" y="21600"/>
                  </a:lnTo>
                  <a:lnTo>
                    <a:pt x="21600" y="9890"/>
                  </a:lnTo>
                  <a:lnTo>
                    <a:pt x="20767" y="5719"/>
                  </a:lnTo>
                  <a:lnTo>
                    <a:pt x="11390" y="0"/>
                  </a:lnTo>
                  <a:close/>
                  <a:moveTo>
                    <a:pt x="12641" y="5625"/>
                  </a:moveTo>
                  <a:lnTo>
                    <a:pt x="17079" y="8332"/>
                  </a:lnTo>
                  <a:lnTo>
                    <a:pt x="16765" y="8723"/>
                  </a:lnTo>
                  <a:lnTo>
                    <a:pt x="12326" y="6016"/>
                  </a:lnTo>
                  <a:lnTo>
                    <a:pt x="12641" y="5625"/>
                  </a:lnTo>
                  <a:close/>
                  <a:moveTo>
                    <a:pt x="7323" y="8127"/>
                  </a:moveTo>
                  <a:lnTo>
                    <a:pt x="16200" y="13540"/>
                  </a:lnTo>
                  <a:lnTo>
                    <a:pt x="15894" y="13920"/>
                  </a:lnTo>
                  <a:lnTo>
                    <a:pt x="7017" y="8506"/>
                  </a:lnTo>
                  <a:lnTo>
                    <a:pt x="7323" y="8127"/>
                  </a:lnTo>
                  <a:close/>
                  <a:moveTo>
                    <a:pt x="5778" y="10048"/>
                  </a:moveTo>
                  <a:lnTo>
                    <a:pt x="14655" y="15462"/>
                  </a:lnTo>
                  <a:lnTo>
                    <a:pt x="14340" y="15853"/>
                  </a:lnTo>
                  <a:lnTo>
                    <a:pt x="5463" y="10439"/>
                  </a:lnTo>
                  <a:lnTo>
                    <a:pt x="5778" y="10048"/>
                  </a:lnTo>
                  <a:close/>
                  <a:moveTo>
                    <a:pt x="4233" y="11970"/>
                  </a:moveTo>
                  <a:lnTo>
                    <a:pt x="8671" y="14677"/>
                  </a:lnTo>
                  <a:lnTo>
                    <a:pt x="8357" y="15068"/>
                  </a:lnTo>
                  <a:lnTo>
                    <a:pt x="3918" y="12361"/>
                  </a:lnTo>
                  <a:lnTo>
                    <a:pt x="4233" y="1197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9" name="Shape 34195">
              <a:extLst>
                <a:ext uri="{FF2B5EF4-FFF2-40B4-BE49-F238E27FC236}">
                  <a16:creationId xmlns:a16="http://schemas.microsoft.com/office/drawing/2014/main" id="{F32529DE-7723-A9F9-7F05-07E940417709}"/>
                </a:ext>
              </a:extLst>
            </p:cNvPr>
            <p:cNvSpPr/>
            <p:nvPr/>
          </p:nvSpPr>
          <p:spPr>
            <a:xfrm>
              <a:off x="13429434" y="7344882"/>
              <a:ext cx="433382" cy="479750"/>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0" name="Shape 34196">
              <a:extLst>
                <a:ext uri="{FF2B5EF4-FFF2-40B4-BE49-F238E27FC236}">
                  <a16:creationId xmlns:a16="http://schemas.microsoft.com/office/drawing/2014/main" id="{99B49F4A-C995-B73F-E19A-B307302678CD}"/>
                </a:ext>
              </a:extLst>
            </p:cNvPr>
            <p:cNvSpPr/>
            <p:nvPr/>
          </p:nvSpPr>
          <p:spPr>
            <a:xfrm>
              <a:off x="12395982" y="2571694"/>
              <a:ext cx="1203272" cy="672004"/>
            </a:xfrm>
            <a:custGeom>
              <a:avLst/>
              <a:gdLst/>
              <a:ahLst/>
              <a:cxnLst>
                <a:cxn ang="0">
                  <a:pos x="wd2" y="hd2"/>
                </a:cxn>
                <a:cxn ang="5400000">
                  <a:pos x="wd2" y="hd2"/>
                </a:cxn>
                <a:cxn ang="10800000">
                  <a:pos x="wd2" y="hd2"/>
                </a:cxn>
                <a:cxn ang="16200000">
                  <a:pos x="wd2" y="hd2"/>
                </a:cxn>
              </a:cxnLst>
              <a:rect l="0" t="0" r="r" b="b"/>
              <a:pathLst>
                <a:path w="21600" h="21600" extrusionOk="0">
                  <a:moveTo>
                    <a:pt x="0" y="15895"/>
                  </a:moveTo>
                  <a:cubicBezTo>
                    <a:pt x="2602" y="16630"/>
                    <a:pt x="4225" y="13961"/>
                    <a:pt x="5624" y="11197"/>
                  </a:cubicBezTo>
                  <a:cubicBezTo>
                    <a:pt x="6473" y="14530"/>
                    <a:pt x="7574" y="17859"/>
                    <a:pt x="10123" y="18579"/>
                  </a:cubicBezTo>
                  <a:cubicBezTo>
                    <a:pt x="12646" y="19291"/>
                    <a:pt x="14269" y="16784"/>
                    <a:pt x="15641" y="14112"/>
                  </a:cubicBezTo>
                  <a:cubicBezTo>
                    <a:pt x="16494" y="17483"/>
                    <a:pt x="17585" y="20872"/>
                    <a:pt x="20164" y="21600"/>
                  </a:cubicBezTo>
                  <a:lnTo>
                    <a:pt x="20353" y="19555"/>
                  </a:lnTo>
                  <a:cubicBezTo>
                    <a:pt x="18170" y="18939"/>
                    <a:pt x="17341" y="15971"/>
                    <a:pt x="16486" y="12469"/>
                  </a:cubicBezTo>
                  <a:cubicBezTo>
                    <a:pt x="17922" y="9562"/>
                    <a:pt x="19218" y="7126"/>
                    <a:pt x="21427" y="7750"/>
                  </a:cubicBezTo>
                  <a:lnTo>
                    <a:pt x="21600" y="5701"/>
                  </a:lnTo>
                  <a:cubicBezTo>
                    <a:pt x="18998" y="4966"/>
                    <a:pt x="17363" y="7639"/>
                    <a:pt x="15964" y="10403"/>
                  </a:cubicBezTo>
                  <a:cubicBezTo>
                    <a:pt x="15115" y="7072"/>
                    <a:pt x="14006" y="3768"/>
                    <a:pt x="11458" y="3048"/>
                  </a:cubicBezTo>
                  <a:cubicBezTo>
                    <a:pt x="8930" y="2335"/>
                    <a:pt x="7330" y="4841"/>
                    <a:pt x="5956" y="7519"/>
                  </a:cubicBezTo>
                  <a:cubicBezTo>
                    <a:pt x="5103" y="4143"/>
                    <a:pt x="4006" y="730"/>
                    <a:pt x="1424" y="0"/>
                  </a:cubicBezTo>
                  <a:cubicBezTo>
                    <a:pt x="1424" y="0"/>
                    <a:pt x="1247" y="2048"/>
                    <a:pt x="1247" y="2048"/>
                  </a:cubicBezTo>
                  <a:cubicBezTo>
                    <a:pt x="3436" y="2666"/>
                    <a:pt x="4253" y="5647"/>
                    <a:pt x="5111" y="9162"/>
                  </a:cubicBezTo>
                  <a:cubicBezTo>
                    <a:pt x="3678" y="12062"/>
                    <a:pt x="2378" y="14476"/>
                    <a:pt x="172" y="13853"/>
                  </a:cubicBezTo>
                  <a:lnTo>
                    <a:pt x="0" y="15895"/>
                  </a:lnTo>
                  <a:close/>
                  <a:moveTo>
                    <a:pt x="491" y="12600"/>
                  </a:moveTo>
                  <a:cubicBezTo>
                    <a:pt x="875" y="12701"/>
                    <a:pt x="1223" y="12685"/>
                    <a:pt x="1549" y="12580"/>
                  </a:cubicBezTo>
                  <a:cubicBezTo>
                    <a:pt x="1549" y="12580"/>
                    <a:pt x="2321" y="3967"/>
                    <a:pt x="2321" y="3967"/>
                  </a:cubicBezTo>
                  <a:cubicBezTo>
                    <a:pt x="2030" y="3690"/>
                    <a:pt x="1699" y="3489"/>
                    <a:pt x="1315" y="3377"/>
                  </a:cubicBezTo>
                  <a:lnTo>
                    <a:pt x="491" y="12600"/>
                  </a:lnTo>
                  <a:close/>
                  <a:moveTo>
                    <a:pt x="2634" y="11814"/>
                  </a:moveTo>
                  <a:cubicBezTo>
                    <a:pt x="3034" y="11431"/>
                    <a:pt x="3403" y="10892"/>
                    <a:pt x="3769" y="10250"/>
                  </a:cubicBezTo>
                  <a:lnTo>
                    <a:pt x="4033" y="7350"/>
                  </a:lnTo>
                  <a:cubicBezTo>
                    <a:pt x="3797" y="6543"/>
                    <a:pt x="3542" y="5828"/>
                    <a:pt x="3229" y="5249"/>
                  </a:cubicBezTo>
                  <a:lnTo>
                    <a:pt x="2634" y="11814"/>
                  </a:lnTo>
                  <a:close/>
                  <a:moveTo>
                    <a:pt x="6469" y="9554"/>
                  </a:moveTo>
                  <a:cubicBezTo>
                    <a:pt x="7855" y="6764"/>
                    <a:pt x="9142" y="4492"/>
                    <a:pt x="11285" y="5097"/>
                  </a:cubicBezTo>
                  <a:cubicBezTo>
                    <a:pt x="13446" y="5708"/>
                    <a:pt x="14271" y="8612"/>
                    <a:pt x="15117" y="12067"/>
                  </a:cubicBezTo>
                  <a:cubicBezTo>
                    <a:pt x="13735" y="14848"/>
                    <a:pt x="12450" y="17138"/>
                    <a:pt x="10312" y="16534"/>
                  </a:cubicBezTo>
                  <a:cubicBezTo>
                    <a:pt x="8151" y="15924"/>
                    <a:pt x="7315" y="13008"/>
                    <a:pt x="6469" y="9554"/>
                  </a:cubicBezTo>
                  <a:close/>
                  <a:moveTo>
                    <a:pt x="7926" y="11848"/>
                  </a:moveTo>
                  <a:cubicBezTo>
                    <a:pt x="8206" y="12791"/>
                    <a:pt x="8514" y="13618"/>
                    <a:pt x="8887" y="14290"/>
                  </a:cubicBezTo>
                  <a:lnTo>
                    <a:pt x="9579" y="6388"/>
                  </a:lnTo>
                  <a:cubicBezTo>
                    <a:pt x="9109" y="6822"/>
                    <a:pt x="8677" y="7447"/>
                    <a:pt x="8249" y="8189"/>
                  </a:cubicBezTo>
                  <a:lnTo>
                    <a:pt x="7926" y="11848"/>
                  </a:lnTo>
                  <a:close/>
                  <a:moveTo>
                    <a:pt x="9896" y="14953"/>
                  </a:moveTo>
                  <a:cubicBezTo>
                    <a:pt x="10099" y="15084"/>
                    <a:pt x="10315" y="15184"/>
                    <a:pt x="10557" y="15248"/>
                  </a:cubicBezTo>
                  <a:cubicBezTo>
                    <a:pt x="10679" y="15281"/>
                    <a:pt x="10797" y="15298"/>
                    <a:pt x="10912" y="15309"/>
                  </a:cubicBezTo>
                  <a:lnTo>
                    <a:pt x="11755" y="6255"/>
                  </a:lnTo>
                  <a:cubicBezTo>
                    <a:pt x="11643" y="6205"/>
                    <a:pt x="11527" y="6163"/>
                    <a:pt x="11404" y="6131"/>
                  </a:cubicBezTo>
                  <a:cubicBezTo>
                    <a:pt x="11163" y="6066"/>
                    <a:pt x="10938" y="6048"/>
                    <a:pt x="10721" y="6066"/>
                  </a:cubicBezTo>
                  <a:lnTo>
                    <a:pt x="9896" y="14953"/>
                  </a:lnTo>
                  <a:close/>
                  <a:moveTo>
                    <a:pt x="12018" y="15401"/>
                  </a:moveTo>
                  <a:cubicBezTo>
                    <a:pt x="12451" y="15112"/>
                    <a:pt x="12844" y="14657"/>
                    <a:pt x="13226" y="14085"/>
                  </a:cubicBezTo>
                  <a:lnTo>
                    <a:pt x="13671" y="9231"/>
                  </a:lnTo>
                  <a:cubicBezTo>
                    <a:pt x="13409" y="8483"/>
                    <a:pt x="13115" y="7842"/>
                    <a:pt x="12755" y="7338"/>
                  </a:cubicBezTo>
                  <a:lnTo>
                    <a:pt x="12018" y="15401"/>
                  </a:lnTo>
                  <a:close/>
                  <a:moveTo>
                    <a:pt x="17569" y="14225"/>
                  </a:moveTo>
                  <a:cubicBezTo>
                    <a:pt x="17809" y="14981"/>
                    <a:pt x="18068" y="15640"/>
                    <a:pt x="18381" y="16171"/>
                  </a:cubicBezTo>
                  <a:lnTo>
                    <a:pt x="18883" y="9826"/>
                  </a:lnTo>
                  <a:cubicBezTo>
                    <a:pt x="18496" y="10227"/>
                    <a:pt x="18140" y="10774"/>
                    <a:pt x="17789" y="11421"/>
                  </a:cubicBezTo>
                  <a:lnTo>
                    <a:pt x="17569" y="14225"/>
                  </a:lnTo>
                  <a:close/>
                  <a:moveTo>
                    <a:pt x="19556" y="17463"/>
                  </a:moveTo>
                  <a:cubicBezTo>
                    <a:pt x="19840" y="17716"/>
                    <a:pt x="20160" y="17896"/>
                    <a:pt x="20532" y="17987"/>
                  </a:cubicBezTo>
                  <a:lnTo>
                    <a:pt x="21280" y="9117"/>
                  </a:lnTo>
                  <a:cubicBezTo>
                    <a:pt x="20907" y="9037"/>
                    <a:pt x="20569" y="9067"/>
                    <a:pt x="20254" y="9182"/>
                  </a:cubicBezTo>
                  <a:cubicBezTo>
                    <a:pt x="20254" y="9182"/>
                    <a:pt x="19556" y="17463"/>
                    <a:pt x="19556" y="1746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31" name="Shape 34197">
              <a:extLst>
                <a:ext uri="{FF2B5EF4-FFF2-40B4-BE49-F238E27FC236}">
                  <a16:creationId xmlns:a16="http://schemas.microsoft.com/office/drawing/2014/main" id="{E619B2D8-F6BD-8A7E-5EDA-D68C2CA0C3AC}"/>
                </a:ext>
              </a:extLst>
            </p:cNvPr>
            <p:cNvSpPr/>
            <p:nvPr/>
          </p:nvSpPr>
          <p:spPr>
            <a:xfrm>
              <a:off x="13886540" y="2993820"/>
              <a:ext cx="578410" cy="610580"/>
            </a:xfrm>
            <a:custGeom>
              <a:avLst/>
              <a:gdLst/>
              <a:ahLst/>
              <a:cxnLst>
                <a:cxn ang="0">
                  <a:pos x="wd2" y="hd2"/>
                </a:cxn>
                <a:cxn ang="5400000">
                  <a:pos x="wd2" y="hd2"/>
                </a:cxn>
                <a:cxn ang="10800000">
                  <a:pos x="wd2" y="hd2"/>
                </a:cxn>
                <a:cxn ang="16200000">
                  <a:pos x="wd2" y="hd2"/>
                </a:cxn>
              </a:cxnLst>
              <a:rect l="0" t="0" r="r" b="b"/>
              <a:pathLst>
                <a:path w="21272" h="21285" extrusionOk="0">
                  <a:moveTo>
                    <a:pt x="7646" y="529"/>
                  </a:moveTo>
                  <a:cubicBezTo>
                    <a:pt x="7990" y="7"/>
                    <a:pt x="8716" y="-158"/>
                    <a:pt x="9266" y="168"/>
                  </a:cubicBezTo>
                  <a:lnTo>
                    <a:pt x="20724" y="6954"/>
                  </a:lnTo>
                  <a:cubicBezTo>
                    <a:pt x="21274" y="7280"/>
                    <a:pt x="21435" y="7971"/>
                    <a:pt x="21091" y="8493"/>
                  </a:cubicBezTo>
                  <a:lnTo>
                    <a:pt x="13003" y="20763"/>
                  </a:lnTo>
                  <a:cubicBezTo>
                    <a:pt x="12659" y="21284"/>
                    <a:pt x="11938" y="21442"/>
                    <a:pt x="11388" y="21116"/>
                  </a:cubicBezTo>
                  <a:lnTo>
                    <a:pt x="8398" y="19345"/>
                  </a:lnTo>
                  <a:lnTo>
                    <a:pt x="10574" y="16044"/>
                  </a:lnTo>
                  <a:cubicBezTo>
                    <a:pt x="10918" y="15523"/>
                    <a:pt x="10752" y="14839"/>
                    <a:pt x="10202" y="14513"/>
                  </a:cubicBezTo>
                  <a:lnTo>
                    <a:pt x="8206" y="13331"/>
                  </a:lnTo>
                  <a:cubicBezTo>
                    <a:pt x="7656" y="13006"/>
                    <a:pt x="6935" y="13163"/>
                    <a:pt x="6591" y="13685"/>
                  </a:cubicBezTo>
                  <a:lnTo>
                    <a:pt x="4415" y="16986"/>
                  </a:lnTo>
                  <a:lnTo>
                    <a:pt x="1926" y="15512"/>
                  </a:lnTo>
                  <a:cubicBezTo>
                    <a:pt x="1376" y="15186"/>
                    <a:pt x="1202" y="14498"/>
                    <a:pt x="1545" y="13976"/>
                  </a:cubicBezTo>
                  <a:lnTo>
                    <a:pt x="552" y="13387"/>
                  </a:lnTo>
                  <a:cubicBezTo>
                    <a:pt x="2" y="13062"/>
                    <a:pt x="-165" y="12378"/>
                    <a:pt x="179" y="11857"/>
                  </a:cubicBezTo>
                  <a:lnTo>
                    <a:pt x="7646" y="529"/>
                  </a:lnTo>
                  <a:close/>
                  <a:moveTo>
                    <a:pt x="8332" y="1585"/>
                  </a:moveTo>
                  <a:lnTo>
                    <a:pt x="1799" y="11496"/>
                  </a:lnTo>
                  <a:cubicBezTo>
                    <a:pt x="1799" y="11496"/>
                    <a:pt x="1170" y="12444"/>
                    <a:pt x="2166" y="13034"/>
                  </a:cubicBezTo>
                  <a:lnTo>
                    <a:pt x="9326" y="2173"/>
                  </a:lnTo>
                  <a:cubicBezTo>
                    <a:pt x="9498" y="1913"/>
                    <a:pt x="9416" y="1577"/>
                    <a:pt x="9141" y="1414"/>
                  </a:cubicBezTo>
                  <a:cubicBezTo>
                    <a:pt x="8866" y="1251"/>
                    <a:pt x="8504" y="1324"/>
                    <a:pt x="8332" y="1585"/>
                  </a:cubicBezTo>
                  <a:close/>
                  <a:moveTo>
                    <a:pt x="6784" y="14449"/>
                  </a:moveTo>
                  <a:cubicBezTo>
                    <a:pt x="7128" y="13927"/>
                    <a:pt x="7849" y="13769"/>
                    <a:pt x="8399" y="14095"/>
                  </a:cubicBezTo>
                  <a:lnTo>
                    <a:pt x="9393" y="14684"/>
                  </a:lnTo>
                  <a:cubicBezTo>
                    <a:pt x="9943" y="15010"/>
                    <a:pt x="10109" y="15693"/>
                    <a:pt x="9766" y="16215"/>
                  </a:cubicBezTo>
                  <a:lnTo>
                    <a:pt x="7897" y="19049"/>
                  </a:lnTo>
                  <a:cubicBezTo>
                    <a:pt x="7554" y="19570"/>
                    <a:pt x="6827" y="19735"/>
                    <a:pt x="6277" y="19410"/>
                  </a:cubicBezTo>
                  <a:lnTo>
                    <a:pt x="5284" y="18821"/>
                  </a:lnTo>
                  <a:cubicBezTo>
                    <a:pt x="4733" y="18495"/>
                    <a:pt x="4572" y="17804"/>
                    <a:pt x="4916" y="17283"/>
                  </a:cubicBezTo>
                  <a:lnTo>
                    <a:pt x="6784" y="14449"/>
                  </a:lnTo>
                  <a:close/>
                  <a:moveTo>
                    <a:pt x="7465" y="15512"/>
                  </a:moveTo>
                  <a:cubicBezTo>
                    <a:pt x="7293" y="15773"/>
                    <a:pt x="7369" y="16116"/>
                    <a:pt x="7645" y="16279"/>
                  </a:cubicBezTo>
                  <a:cubicBezTo>
                    <a:pt x="7920" y="16442"/>
                    <a:pt x="8287" y="16362"/>
                    <a:pt x="8459" y="16101"/>
                  </a:cubicBezTo>
                  <a:cubicBezTo>
                    <a:pt x="8630" y="15840"/>
                    <a:pt x="8546" y="15492"/>
                    <a:pt x="8271" y="15329"/>
                  </a:cubicBezTo>
                  <a:cubicBezTo>
                    <a:pt x="7995" y="15166"/>
                    <a:pt x="7637" y="15251"/>
                    <a:pt x="7465" y="1551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2" name="Shape 34198">
              <a:extLst>
                <a:ext uri="{FF2B5EF4-FFF2-40B4-BE49-F238E27FC236}">
                  <a16:creationId xmlns:a16="http://schemas.microsoft.com/office/drawing/2014/main" id="{288C06A0-5E60-7FBA-5163-8D0A4E6E9A85}"/>
                </a:ext>
              </a:extLst>
            </p:cNvPr>
            <p:cNvSpPr/>
            <p:nvPr/>
          </p:nvSpPr>
          <p:spPr>
            <a:xfrm>
              <a:off x="10894630" y="2650276"/>
              <a:ext cx="621486" cy="960340"/>
            </a:xfrm>
            <a:custGeom>
              <a:avLst/>
              <a:gdLst/>
              <a:ahLst/>
              <a:cxnLst>
                <a:cxn ang="0">
                  <a:pos x="wd2" y="hd2"/>
                </a:cxn>
                <a:cxn ang="5400000">
                  <a:pos x="wd2" y="hd2"/>
                </a:cxn>
                <a:cxn ang="10800000">
                  <a:pos x="wd2" y="hd2"/>
                </a:cxn>
                <a:cxn ang="16200000">
                  <a:pos x="wd2" y="hd2"/>
                </a:cxn>
              </a:cxnLst>
              <a:rect l="0" t="0" r="r" b="b"/>
              <a:pathLst>
                <a:path w="21220" h="21353" extrusionOk="0">
                  <a:moveTo>
                    <a:pt x="15021" y="3564"/>
                  </a:moveTo>
                  <a:lnTo>
                    <a:pt x="1858" y="5543"/>
                  </a:lnTo>
                  <a:lnTo>
                    <a:pt x="6199" y="17788"/>
                  </a:lnTo>
                  <a:lnTo>
                    <a:pt x="19362" y="15809"/>
                  </a:lnTo>
                  <a:cubicBezTo>
                    <a:pt x="19362" y="15809"/>
                    <a:pt x="15021" y="3564"/>
                    <a:pt x="15021" y="3564"/>
                  </a:cubicBezTo>
                  <a:close/>
                  <a:moveTo>
                    <a:pt x="10139" y="2364"/>
                  </a:moveTo>
                  <a:lnTo>
                    <a:pt x="5438" y="3070"/>
                  </a:lnTo>
                  <a:cubicBezTo>
                    <a:pt x="5178" y="3109"/>
                    <a:pt x="5016" y="3278"/>
                    <a:pt x="5076" y="3447"/>
                  </a:cubicBezTo>
                  <a:cubicBezTo>
                    <a:pt x="5136" y="3616"/>
                    <a:pt x="5395" y="3722"/>
                    <a:pt x="5655" y="3683"/>
                  </a:cubicBezTo>
                  <a:lnTo>
                    <a:pt x="10356" y="2976"/>
                  </a:lnTo>
                  <a:cubicBezTo>
                    <a:pt x="10615" y="2937"/>
                    <a:pt x="10777" y="2768"/>
                    <a:pt x="10717" y="2599"/>
                  </a:cubicBezTo>
                  <a:cubicBezTo>
                    <a:pt x="10657" y="2430"/>
                    <a:pt x="10398" y="2325"/>
                    <a:pt x="10139" y="2364"/>
                  </a:cubicBezTo>
                  <a:close/>
                  <a:moveTo>
                    <a:pt x="14119" y="19177"/>
                  </a:moveTo>
                  <a:cubicBezTo>
                    <a:pt x="14897" y="19060"/>
                    <a:pt x="15383" y="18554"/>
                    <a:pt x="15204" y="18046"/>
                  </a:cubicBezTo>
                  <a:cubicBezTo>
                    <a:pt x="15024" y="17539"/>
                    <a:pt x="14246" y="17223"/>
                    <a:pt x="13468" y="17340"/>
                  </a:cubicBezTo>
                  <a:cubicBezTo>
                    <a:pt x="12689" y="17457"/>
                    <a:pt x="12203" y="17963"/>
                    <a:pt x="12383" y="18470"/>
                  </a:cubicBezTo>
                  <a:cubicBezTo>
                    <a:pt x="12563" y="18978"/>
                    <a:pt x="13340" y="19294"/>
                    <a:pt x="14119" y="19177"/>
                  </a:cubicBezTo>
                  <a:close/>
                  <a:moveTo>
                    <a:pt x="19724" y="19624"/>
                  </a:moveTo>
                  <a:lnTo>
                    <a:pt x="8442" y="21320"/>
                  </a:lnTo>
                  <a:cubicBezTo>
                    <a:pt x="7403" y="21476"/>
                    <a:pt x="6367" y="21054"/>
                    <a:pt x="6127" y="20378"/>
                  </a:cubicBezTo>
                  <a:lnTo>
                    <a:pt x="50" y="3235"/>
                  </a:lnTo>
                  <a:cubicBezTo>
                    <a:pt x="-190" y="2559"/>
                    <a:pt x="458" y="1884"/>
                    <a:pt x="1496" y="1728"/>
                  </a:cubicBezTo>
                  <a:lnTo>
                    <a:pt x="12778" y="32"/>
                  </a:lnTo>
                  <a:cubicBezTo>
                    <a:pt x="13817" y="-124"/>
                    <a:pt x="14853" y="298"/>
                    <a:pt x="15093" y="974"/>
                  </a:cubicBezTo>
                  <a:lnTo>
                    <a:pt x="21170" y="18117"/>
                  </a:lnTo>
                  <a:cubicBezTo>
                    <a:pt x="21410" y="18793"/>
                    <a:pt x="20762" y="19468"/>
                    <a:pt x="19724" y="1962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3" name="Shape 34199">
              <a:extLst>
                <a:ext uri="{FF2B5EF4-FFF2-40B4-BE49-F238E27FC236}">
                  <a16:creationId xmlns:a16="http://schemas.microsoft.com/office/drawing/2014/main" id="{49A32E76-801E-A843-8779-81977240544F}"/>
                </a:ext>
              </a:extLst>
            </p:cNvPr>
            <p:cNvSpPr/>
            <p:nvPr/>
          </p:nvSpPr>
          <p:spPr>
            <a:xfrm>
              <a:off x="11662409" y="2578131"/>
              <a:ext cx="539930" cy="685716"/>
            </a:xfrm>
            <a:custGeom>
              <a:avLst/>
              <a:gdLst/>
              <a:ahLst/>
              <a:cxnLst>
                <a:cxn ang="0">
                  <a:pos x="wd2" y="hd2"/>
                </a:cxn>
                <a:cxn ang="5400000">
                  <a:pos x="wd2" y="hd2"/>
                </a:cxn>
                <a:cxn ang="10800000">
                  <a:pos x="wd2" y="hd2"/>
                </a:cxn>
                <a:cxn ang="16200000">
                  <a:pos x="wd2" y="hd2"/>
                </a:cxn>
              </a:cxnLst>
              <a:rect l="0" t="0" r="r" b="b"/>
              <a:pathLst>
                <a:path w="21600" h="21600" extrusionOk="0">
                  <a:moveTo>
                    <a:pt x="0" y="837"/>
                  </a:moveTo>
                  <a:lnTo>
                    <a:pt x="1844" y="21600"/>
                  </a:lnTo>
                  <a:lnTo>
                    <a:pt x="21600" y="20512"/>
                  </a:lnTo>
                  <a:lnTo>
                    <a:pt x="20076" y="3352"/>
                  </a:lnTo>
                  <a:lnTo>
                    <a:pt x="15202" y="0"/>
                  </a:lnTo>
                  <a:lnTo>
                    <a:pt x="0" y="837"/>
                  </a:lnTo>
                  <a:close/>
                  <a:moveTo>
                    <a:pt x="6705" y="5273"/>
                  </a:moveTo>
                  <a:lnTo>
                    <a:pt x="13900" y="4876"/>
                  </a:lnTo>
                  <a:lnTo>
                    <a:pt x="13951" y="5450"/>
                  </a:lnTo>
                  <a:lnTo>
                    <a:pt x="6756" y="5846"/>
                  </a:lnTo>
                  <a:lnTo>
                    <a:pt x="6705" y="5273"/>
                  </a:lnTo>
                  <a:close/>
                  <a:moveTo>
                    <a:pt x="3609" y="11120"/>
                  </a:moveTo>
                  <a:lnTo>
                    <a:pt x="18000" y="10328"/>
                  </a:lnTo>
                  <a:lnTo>
                    <a:pt x="18049" y="10884"/>
                  </a:lnTo>
                  <a:lnTo>
                    <a:pt x="3658" y="11677"/>
                  </a:lnTo>
                  <a:lnTo>
                    <a:pt x="3609" y="11120"/>
                  </a:lnTo>
                  <a:close/>
                  <a:moveTo>
                    <a:pt x="3859" y="13936"/>
                  </a:moveTo>
                  <a:lnTo>
                    <a:pt x="18250" y="13144"/>
                  </a:lnTo>
                  <a:lnTo>
                    <a:pt x="18301" y="13717"/>
                  </a:lnTo>
                  <a:lnTo>
                    <a:pt x="3910" y="14509"/>
                  </a:lnTo>
                  <a:lnTo>
                    <a:pt x="3859" y="13936"/>
                  </a:lnTo>
                  <a:close/>
                  <a:moveTo>
                    <a:pt x="4109" y="16753"/>
                  </a:moveTo>
                  <a:lnTo>
                    <a:pt x="11305" y="16357"/>
                  </a:lnTo>
                  <a:lnTo>
                    <a:pt x="11356" y="16930"/>
                  </a:lnTo>
                  <a:lnTo>
                    <a:pt x="4160" y="17326"/>
                  </a:lnTo>
                  <a:lnTo>
                    <a:pt x="4109" y="16753"/>
                  </a:ln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4" name="Shape 34200">
              <a:extLst>
                <a:ext uri="{FF2B5EF4-FFF2-40B4-BE49-F238E27FC236}">
                  <a16:creationId xmlns:a16="http://schemas.microsoft.com/office/drawing/2014/main" id="{3E5F91B2-B048-5BFE-5A85-82F92FA7CB84}"/>
                </a:ext>
              </a:extLst>
            </p:cNvPr>
            <p:cNvSpPr/>
            <p:nvPr/>
          </p:nvSpPr>
          <p:spPr>
            <a:xfrm>
              <a:off x="12531620" y="6289836"/>
              <a:ext cx="641868" cy="650244"/>
            </a:xfrm>
            <a:custGeom>
              <a:avLst/>
              <a:gdLst/>
              <a:ahLst/>
              <a:cxnLst>
                <a:cxn ang="0">
                  <a:pos x="wd2" y="hd2"/>
                </a:cxn>
                <a:cxn ang="5400000">
                  <a:pos x="wd2" y="hd2"/>
                </a:cxn>
                <a:cxn ang="10800000">
                  <a:pos x="wd2" y="hd2"/>
                </a:cxn>
                <a:cxn ang="16200000">
                  <a:pos x="wd2" y="hd2"/>
                </a:cxn>
              </a:cxnLst>
              <a:rect l="0" t="0" r="r" b="b"/>
              <a:pathLst>
                <a:path w="21273" h="21600" extrusionOk="0">
                  <a:moveTo>
                    <a:pt x="0" y="8656"/>
                  </a:moveTo>
                  <a:lnTo>
                    <a:pt x="3891" y="13472"/>
                  </a:lnTo>
                  <a:cubicBezTo>
                    <a:pt x="3891" y="13472"/>
                    <a:pt x="5113" y="13644"/>
                    <a:pt x="5432" y="12623"/>
                  </a:cubicBezTo>
                  <a:cubicBezTo>
                    <a:pt x="5784" y="11492"/>
                    <a:pt x="7687" y="9934"/>
                    <a:pt x="9148" y="11824"/>
                  </a:cubicBezTo>
                  <a:cubicBezTo>
                    <a:pt x="10609" y="13713"/>
                    <a:pt x="9118" y="15051"/>
                    <a:pt x="7911" y="15308"/>
                  </a:cubicBezTo>
                  <a:cubicBezTo>
                    <a:pt x="6818" y="15541"/>
                    <a:pt x="6446" y="16635"/>
                    <a:pt x="6446" y="16635"/>
                  </a:cubicBezTo>
                  <a:lnTo>
                    <a:pt x="10458" y="21600"/>
                  </a:lnTo>
                  <a:lnTo>
                    <a:pt x="14739" y="18125"/>
                  </a:lnTo>
                  <a:cubicBezTo>
                    <a:pt x="14739" y="18125"/>
                    <a:pt x="14656" y="17235"/>
                    <a:pt x="13766" y="16921"/>
                  </a:cubicBezTo>
                  <a:cubicBezTo>
                    <a:pt x="12685" y="16541"/>
                    <a:pt x="11239" y="14858"/>
                    <a:pt x="13261" y="13217"/>
                  </a:cubicBezTo>
                  <a:cubicBezTo>
                    <a:pt x="15282" y="11577"/>
                    <a:pt x="16620" y="13268"/>
                    <a:pt x="16756" y="14619"/>
                  </a:cubicBezTo>
                  <a:cubicBezTo>
                    <a:pt x="16858" y="15631"/>
                    <a:pt x="17668" y="15748"/>
                    <a:pt x="17668" y="15748"/>
                  </a:cubicBezTo>
                  <a:lnTo>
                    <a:pt x="21273" y="12822"/>
                  </a:lnTo>
                  <a:cubicBezTo>
                    <a:pt x="21273" y="12822"/>
                    <a:pt x="18291" y="9357"/>
                    <a:pt x="17693" y="8295"/>
                  </a:cubicBezTo>
                  <a:cubicBezTo>
                    <a:pt x="17052" y="7158"/>
                    <a:pt x="18759" y="6911"/>
                    <a:pt x="19060" y="6845"/>
                  </a:cubicBezTo>
                  <a:cubicBezTo>
                    <a:pt x="20796" y="6467"/>
                    <a:pt x="21600" y="4760"/>
                    <a:pt x="20175" y="2996"/>
                  </a:cubicBezTo>
                  <a:cubicBezTo>
                    <a:pt x="18749" y="1232"/>
                    <a:pt x="16519" y="2306"/>
                    <a:pt x="16165" y="3733"/>
                  </a:cubicBezTo>
                  <a:cubicBezTo>
                    <a:pt x="15902" y="4793"/>
                    <a:pt x="15415" y="5326"/>
                    <a:pt x="14915" y="4919"/>
                  </a:cubicBezTo>
                  <a:cubicBezTo>
                    <a:pt x="13746" y="3966"/>
                    <a:pt x="10665" y="0"/>
                    <a:pt x="10665" y="0"/>
                  </a:cubicBezTo>
                  <a:lnTo>
                    <a:pt x="7285" y="2743"/>
                  </a:lnTo>
                  <a:cubicBezTo>
                    <a:pt x="7285" y="2743"/>
                    <a:pt x="7256" y="4048"/>
                    <a:pt x="8291" y="4295"/>
                  </a:cubicBezTo>
                  <a:cubicBezTo>
                    <a:pt x="9849" y="4668"/>
                    <a:pt x="10626" y="6514"/>
                    <a:pt x="9021" y="7816"/>
                  </a:cubicBezTo>
                  <a:cubicBezTo>
                    <a:pt x="7417" y="9118"/>
                    <a:pt x="5847" y="8156"/>
                    <a:pt x="5733" y="6515"/>
                  </a:cubicBezTo>
                  <a:cubicBezTo>
                    <a:pt x="5669" y="5595"/>
                    <a:pt x="4421" y="5079"/>
                    <a:pt x="4421" y="5079"/>
                  </a:cubicBezTo>
                  <a:cubicBezTo>
                    <a:pt x="4421" y="5079"/>
                    <a:pt x="0" y="8656"/>
                    <a:pt x="0" y="865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5" name="Shape 34201">
              <a:extLst>
                <a:ext uri="{FF2B5EF4-FFF2-40B4-BE49-F238E27FC236}">
                  <a16:creationId xmlns:a16="http://schemas.microsoft.com/office/drawing/2014/main" id="{84AE006D-A898-C300-EAA5-3A5274B9B64F}"/>
                </a:ext>
              </a:extLst>
            </p:cNvPr>
            <p:cNvSpPr/>
            <p:nvPr/>
          </p:nvSpPr>
          <p:spPr>
            <a:xfrm>
              <a:off x="11981887" y="4201963"/>
              <a:ext cx="441404" cy="383974"/>
            </a:xfrm>
            <a:custGeom>
              <a:avLst/>
              <a:gdLst/>
              <a:ahLst/>
              <a:cxnLst>
                <a:cxn ang="0">
                  <a:pos x="wd2" y="hd2"/>
                </a:cxn>
                <a:cxn ang="5400000">
                  <a:pos x="wd2" y="hd2"/>
                </a:cxn>
                <a:cxn ang="10800000">
                  <a:pos x="wd2" y="hd2"/>
                </a:cxn>
                <a:cxn ang="16200000">
                  <a:pos x="wd2" y="hd2"/>
                </a:cxn>
              </a:cxnLst>
              <a:rect l="0" t="0" r="r" b="b"/>
              <a:pathLst>
                <a:path w="21557" h="21600" extrusionOk="0">
                  <a:moveTo>
                    <a:pt x="0" y="307"/>
                  </a:moveTo>
                  <a:lnTo>
                    <a:pt x="120" y="8229"/>
                  </a:lnTo>
                  <a:cubicBezTo>
                    <a:pt x="120" y="8229"/>
                    <a:pt x="1074" y="9367"/>
                    <a:pt x="2052" y="8590"/>
                  </a:cubicBezTo>
                  <a:cubicBezTo>
                    <a:pt x="3133" y="7728"/>
                    <a:pt x="5865" y="7659"/>
                    <a:pt x="5855" y="10716"/>
                  </a:cubicBezTo>
                  <a:cubicBezTo>
                    <a:pt x="5845" y="13772"/>
                    <a:pt x="3624" y="13944"/>
                    <a:pt x="2389" y="13251"/>
                  </a:cubicBezTo>
                  <a:cubicBezTo>
                    <a:pt x="1272" y="12623"/>
                    <a:pt x="199" y="13432"/>
                    <a:pt x="199" y="13432"/>
                  </a:cubicBezTo>
                  <a:lnTo>
                    <a:pt x="323" y="21600"/>
                  </a:lnTo>
                  <a:lnTo>
                    <a:pt x="6451" y="21477"/>
                  </a:lnTo>
                  <a:cubicBezTo>
                    <a:pt x="6451" y="21477"/>
                    <a:pt x="6986" y="20514"/>
                    <a:pt x="6421" y="19495"/>
                  </a:cubicBezTo>
                  <a:cubicBezTo>
                    <a:pt x="5733" y="18260"/>
                    <a:pt x="5615" y="15424"/>
                    <a:pt x="8509" y="15365"/>
                  </a:cubicBezTo>
                  <a:cubicBezTo>
                    <a:pt x="11403" y="15307"/>
                    <a:pt x="11419" y="18067"/>
                    <a:pt x="10615" y="19535"/>
                  </a:cubicBezTo>
                  <a:cubicBezTo>
                    <a:pt x="10013" y="20636"/>
                    <a:pt x="10643" y="21392"/>
                    <a:pt x="10643" y="21392"/>
                  </a:cubicBezTo>
                  <a:lnTo>
                    <a:pt x="15804" y="21289"/>
                  </a:lnTo>
                  <a:cubicBezTo>
                    <a:pt x="15804" y="21289"/>
                    <a:pt x="15557" y="15444"/>
                    <a:pt x="15758" y="13903"/>
                  </a:cubicBezTo>
                  <a:cubicBezTo>
                    <a:pt x="15974" y="12251"/>
                    <a:pt x="17639" y="13349"/>
                    <a:pt x="17948" y="13520"/>
                  </a:cubicBezTo>
                  <a:cubicBezTo>
                    <a:pt x="19729" y="14509"/>
                    <a:pt x="21600" y="13423"/>
                    <a:pt x="21556" y="10521"/>
                  </a:cubicBezTo>
                  <a:cubicBezTo>
                    <a:pt x="21512" y="7619"/>
                    <a:pt x="18822" y="6942"/>
                    <a:pt x="17537" y="8101"/>
                  </a:cubicBezTo>
                  <a:cubicBezTo>
                    <a:pt x="16582" y="8962"/>
                    <a:pt x="15790" y="9114"/>
                    <a:pt x="15630" y="8309"/>
                  </a:cubicBezTo>
                  <a:cubicBezTo>
                    <a:pt x="15257" y="6427"/>
                    <a:pt x="15266" y="0"/>
                    <a:pt x="15266" y="0"/>
                  </a:cubicBezTo>
                  <a:lnTo>
                    <a:pt x="10428" y="97"/>
                  </a:lnTo>
                  <a:cubicBezTo>
                    <a:pt x="10428" y="97"/>
                    <a:pt x="9511" y="1388"/>
                    <a:pt x="10249" y="2454"/>
                  </a:cubicBezTo>
                  <a:cubicBezTo>
                    <a:pt x="11360" y="4059"/>
                    <a:pt x="10780" y="6532"/>
                    <a:pt x="8483" y="6578"/>
                  </a:cubicBezTo>
                  <a:cubicBezTo>
                    <a:pt x="6187" y="6624"/>
                    <a:pt x="5468" y="4417"/>
                    <a:pt x="6490" y="2673"/>
                  </a:cubicBezTo>
                  <a:cubicBezTo>
                    <a:pt x="7062" y="1695"/>
                    <a:pt x="6320" y="191"/>
                    <a:pt x="6320" y="191"/>
                  </a:cubicBezTo>
                  <a:cubicBezTo>
                    <a:pt x="6320" y="191"/>
                    <a:pt x="0" y="307"/>
                    <a:pt x="0" y="3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6" name="Shape 34202">
              <a:extLst>
                <a:ext uri="{FF2B5EF4-FFF2-40B4-BE49-F238E27FC236}">
                  <a16:creationId xmlns:a16="http://schemas.microsoft.com/office/drawing/2014/main" id="{3627F16C-6922-1C8F-7FFA-A69F5B9480C3}"/>
                </a:ext>
              </a:extLst>
            </p:cNvPr>
            <p:cNvSpPr/>
            <p:nvPr/>
          </p:nvSpPr>
          <p:spPr>
            <a:xfrm>
              <a:off x="11678186" y="10413681"/>
              <a:ext cx="681752" cy="446008"/>
            </a:xfrm>
            <a:custGeom>
              <a:avLst/>
              <a:gdLst/>
              <a:ahLst/>
              <a:cxnLst>
                <a:cxn ang="0">
                  <a:pos x="wd2" y="hd2"/>
                </a:cxn>
                <a:cxn ang="5400000">
                  <a:pos x="wd2" y="hd2"/>
                </a:cxn>
                <a:cxn ang="10800000">
                  <a:pos x="wd2" y="hd2"/>
                </a:cxn>
                <a:cxn ang="16200000">
                  <a:pos x="wd2" y="hd2"/>
                </a:cxn>
              </a:cxnLst>
              <a:rect l="0" t="0" r="r" b="b"/>
              <a:pathLst>
                <a:path w="21600" h="21600" extrusionOk="0">
                  <a:moveTo>
                    <a:pt x="18900" y="15429"/>
                  </a:moveTo>
                  <a:lnTo>
                    <a:pt x="2700" y="15429"/>
                  </a:lnTo>
                  <a:lnTo>
                    <a:pt x="2700" y="2057"/>
                  </a:lnTo>
                  <a:lnTo>
                    <a:pt x="18900" y="2057"/>
                  </a:lnTo>
                  <a:cubicBezTo>
                    <a:pt x="18900" y="2057"/>
                    <a:pt x="18900" y="15429"/>
                    <a:pt x="18900" y="15429"/>
                  </a:cubicBezTo>
                  <a:close/>
                  <a:moveTo>
                    <a:pt x="18900" y="0"/>
                  </a:moveTo>
                  <a:lnTo>
                    <a:pt x="2700" y="0"/>
                  </a:lnTo>
                  <a:cubicBezTo>
                    <a:pt x="1954" y="0"/>
                    <a:pt x="1350" y="922"/>
                    <a:pt x="1350" y="2057"/>
                  </a:cubicBezTo>
                  <a:cubicBezTo>
                    <a:pt x="1350" y="2057"/>
                    <a:pt x="1350" y="17486"/>
                    <a:pt x="1364" y="17486"/>
                  </a:cubicBezTo>
                  <a:lnTo>
                    <a:pt x="20235" y="17486"/>
                  </a:lnTo>
                  <a:cubicBezTo>
                    <a:pt x="20250" y="17486"/>
                    <a:pt x="20250" y="2057"/>
                    <a:pt x="20250" y="2057"/>
                  </a:cubicBezTo>
                  <a:cubicBezTo>
                    <a:pt x="20250" y="922"/>
                    <a:pt x="19646" y="0"/>
                    <a:pt x="18900" y="0"/>
                  </a:cubicBezTo>
                  <a:close/>
                  <a:moveTo>
                    <a:pt x="20250" y="21600"/>
                  </a:moveTo>
                  <a:lnTo>
                    <a:pt x="1350" y="21600"/>
                  </a:lnTo>
                  <a:cubicBezTo>
                    <a:pt x="604" y="21600"/>
                    <a:pt x="0" y="20679"/>
                    <a:pt x="0" y="19543"/>
                  </a:cubicBezTo>
                  <a:lnTo>
                    <a:pt x="0" y="18514"/>
                  </a:lnTo>
                  <a:lnTo>
                    <a:pt x="8775" y="18514"/>
                  </a:lnTo>
                  <a:lnTo>
                    <a:pt x="8775" y="19543"/>
                  </a:lnTo>
                  <a:lnTo>
                    <a:pt x="12825" y="19543"/>
                  </a:lnTo>
                  <a:lnTo>
                    <a:pt x="12825" y="18514"/>
                  </a:lnTo>
                  <a:lnTo>
                    <a:pt x="21600" y="18514"/>
                  </a:lnTo>
                  <a:lnTo>
                    <a:pt x="21600" y="19543"/>
                  </a:lnTo>
                  <a:cubicBezTo>
                    <a:pt x="21600" y="20679"/>
                    <a:pt x="20995" y="21600"/>
                    <a:pt x="20250" y="21600"/>
                  </a:cubicBezTo>
                  <a:cubicBezTo>
                    <a:pt x="20250" y="21600"/>
                    <a:pt x="20250" y="21600"/>
                    <a:pt x="2025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7" name="Shape 34203">
              <a:extLst>
                <a:ext uri="{FF2B5EF4-FFF2-40B4-BE49-F238E27FC236}">
                  <a16:creationId xmlns:a16="http://schemas.microsoft.com/office/drawing/2014/main" id="{C0A6D04B-B571-CC97-4DA2-9B277FA71F2B}"/>
                </a:ext>
              </a:extLst>
            </p:cNvPr>
            <p:cNvSpPr/>
            <p:nvPr/>
          </p:nvSpPr>
          <p:spPr>
            <a:xfrm>
              <a:off x="13517964" y="3878275"/>
              <a:ext cx="745620" cy="528512"/>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8" name="Shape 34204">
              <a:extLst>
                <a:ext uri="{FF2B5EF4-FFF2-40B4-BE49-F238E27FC236}">
                  <a16:creationId xmlns:a16="http://schemas.microsoft.com/office/drawing/2014/main" id="{B63486CF-8FD4-F19D-BEE7-B03A257609F9}"/>
                </a:ext>
              </a:extLst>
            </p:cNvPr>
            <p:cNvSpPr/>
            <p:nvPr/>
          </p:nvSpPr>
          <p:spPr>
            <a:xfrm>
              <a:off x="10622816" y="11265327"/>
              <a:ext cx="446006" cy="446008"/>
            </a:xfrm>
            <a:custGeom>
              <a:avLst/>
              <a:gdLst/>
              <a:ahLst/>
              <a:cxnLst>
                <a:cxn ang="0">
                  <a:pos x="wd2" y="hd2"/>
                </a:cxn>
                <a:cxn ang="5400000">
                  <a:pos x="wd2" y="hd2"/>
                </a:cxn>
                <a:cxn ang="10800000">
                  <a:pos x="wd2" y="hd2"/>
                </a:cxn>
                <a:cxn ang="16200000">
                  <a:pos x="wd2" y="hd2"/>
                </a:cxn>
              </a:cxnLst>
              <a:rect l="0" t="0" r="r" b="b"/>
              <a:pathLst>
                <a:path w="18957" h="18957" extrusionOk="0">
                  <a:moveTo>
                    <a:pt x="5474" y="890"/>
                  </a:moveTo>
                  <a:cubicBezTo>
                    <a:pt x="729" y="3103"/>
                    <a:pt x="-1322" y="8738"/>
                    <a:pt x="890" y="13482"/>
                  </a:cubicBezTo>
                  <a:cubicBezTo>
                    <a:pt x="3103" y="18227"/>
                    <a:pt x="8738" y="20278"/>
                    <a:pt x="13482" y="18066"/>
                  </a:cubicBezTo>
                  <a:cubicBezTo>
                    <a:pt x="18227" y="15853"/>
                    <a:pt x="20278" y="10218"/>
                    <a:pt x="18066" y="5474"/>
                  </a:cubicBezTo>
                  <a:cubicBezTo>
                    <a:pt x="15853" y="729"/>
                    <a:pt x="10218" y="-1322"/>
                    <a:pt x="5474" y="890"/>
                  </a:cubicBezTo>
                  <a:close/>
                  <a:moveTo>
                    <a:pt x="6178" y="2402"/>
                  </a:moveTo>
                  <a:cubicBezTo>
                    <a:pt x="6348" y="2323"/>
                    <a:pt x="6545" y="2302"/>
                    <a:pt x="6734" y="2371"/>
                  </a:cubicBezTo>
                  <a:cubicBezTo>
                    <a:pt x="7112" y="2509"/>
                    <a:pt x="7308" y="2929"/>
                    <a:pt x="7170" y="3307"/>
                  </a:cubicBezTo>
                  <a:cubicBezTo>
                    <a:pt x="7033" y="3685"/>
                    <a:pt x="6612" y="3882"/>
                    <a:pt x="6234" y="3744"/>
                  </a:cubicBezTo>
                  <a:cubicBezTo>
                    <a:pt x="5856" y="3606"/>
                    <a:pt x="5660" y="3186"/>
                    <a:pt x="5798" y="2808"/>
                  </a:cubicBezTo>
                  <a:cubicBezTo>
                    <a:pt x="5866" y="2618"/>
                    <a:pt x="6009" y="2481"/>
                    <a:pt x="6178" y="2402"/>
                  </a:cubicBezTo>
                  <a:close/>
                  <a:moveTo>
                    <a:pt x="7039" y="4248"/>
                  </a:moveTo>
                  <a:cubicBezTo>
                    <a:pt x="7237" y="4156"/>
                    <a:pt x="7476" y="4242"/>
                    <a:pt x="7569" y="4441"/>
                  </a:cubicBezTo>
                  <a:lnTo>
                    <a:pt x="9434" y="8440"/>
                  </a:lnTo>
                  <a:cubicBezTo>
                    <a:pt x="9580" y="8433"/>
                    <a:pt x="9718" y="8366"/>
                    <a:pt x="9863" y="8419"/>
                  </a:cubicBezTo>
                  <a:cubicBezTo>
                    <a:pt x="10010" y="8472"/>
                    <a:pt x="10085" y="8605"/>
                    <a:pt x="10192" y="8705"/>
                  </a:cubicBezTo>
                  <a:lnTo>
                    <a:pt x="13175" y="7314"/>
                  </a:lnTo>
                  <a:cubicBezTo>
                    <a:pt x="13373" y="7222"/>
                    <a:pt x="13612" y="7309"/>
                    <a:pt x="13705" y="7507"/>
                  </a:cubicBezTo>
                  <a:cubicBezTo>
                    <a:pt x="13797" y="7705"/>
                    <a:pt x="13710" y="7944"/>
                    <a:pt x="13512" y="8037"/>
                  </a:cubicBezTo>
                  <a:lnTo>
                    <a:pt x="10529" y="9427"/>
                  </a:lnTo>
                  <a:cubicBezTo>
                    <a:pt x="10537" y="9574"/>
                    <a:pt x="10591" y="9717"/>
                    <a:pt x="10537" y="9863"/>
                  </a:cubicBezTo>
                  <a:cubicBezTo>
                    <a:pt x="10325" y="10447"/>
                    <a:pt x="9676" y="10750"/>
                    <a:pt x="9092" y="10537"/>
                  </a:cubicBezTo>
                  <a:cubicBezTo>
                    <a:pt x="8509" y="10325"/>
                    <a:pt x="8206" y="9676"/>
                    <a:pt x="8419" y="9092"/>
                  </a:cubicBezTo>
                  <a:cubicBezTo>
                    <a:pt x="8474" y="8942"/>
                    <a:pt x="8621" y="8880"/>
                    <a:pt x="8725" y="8771"/>
                  </a:cubicBezTo>
                  <a:lnTo>
                    <a:pt x="6860" y="4771"/>
                  </a:lnTo>
                  <a:cubicBezTo>
                    <a:pt x="6767" y="4573"/>
                    <a:pt x="6841" y="4340"/>
                    <a:pt x="7039" y="4248"/>
                  </a:cubicBezTo>
                  <a:close/>
                  <a:moveTo>
                    <a:pt x="2738" y="11823"/>
                  </a:moveTo>
                  <a:cubicBezTo>
                    <a:pt x="2908" y="11744"/>
                    <a:pt x="3105" y="11723"/>
                    <a:pt x="3294" y="11792"/>
                  </a:cubicBezTo>
                  <a:cubicBezTo>
                    <a:pt x="3672" y="11930"/>
                    <a:pt x="3868" y="12350"/>
                    <a:pt x="3730" y="12728"/>
                  </a:cubicBezTo>
                  <a:cubicBezTo>
                    <a:pt x="3593" y="13106"/>
                    <a:pt x="3172" y="13302"/>
                    <a:pt x="2794" y="13165"/>
                  </a:cubicBezTo>
                  <a:cubicBezTo>
                    <a:pt x="2416" y="13027"/>
                    <a:pt x="2220" y="12607"/>
                    <a:pt x="2358" y="12228"/>
                  </a:cubicBezTo>
                  <a:cubicBezTo>
                    <a:pt x="2426" y="12039"/>
                    <a:pt x="2569" y="11902"/>
                    <a:pt x="2738" y="11823"/>
                  </a:cubicBezTo>
                  <a:close/>
                  <a:moveTo>
                    <a:pt x="15620" y="5816"/>
                  </a:moveTo>
                  <a:cubicBezTo>
                    <a:pt x="15789" y="5737"/>
                    <a:pt x="15973" y="5722"/>
                    <a:pt x="16162" y="5791"/>
                  </a:cubicBezTo>
                  <a:cubicBezTo>
                    <a:pt x="16540" y="5929"/>
                    <a:pt x="16736" y="6349"/>
                    <a:pt x="16598" y="6728"/>
                  </a:cubicBezTo>
                  <a:cubicBezTo>
                    <a:pt x="16461" y="7106"/>
                    <a:pt x="16054" y="7296"/>
                    <a:pt x="15675" y="7158"/>
                  </a:cubicBezTo>
                  <a:cubicBezTo>
                    <a:pt x="15297" y="7020"/>
                    <a:pt x="15101" y="6600"/>
                    <a:pt x="15239" y="6222"/>
                  </a:cubicBezTo>
                  <a:cubicBezTo>
                    <a:pt x="15308" y="6033"/>
                    <a:pt x="15451" y="5895"/>
                    <a:pt x="15620" y="5816"/>
                  </a:cubicBezTo>
                  <a:close/>
                  <a:moveTo>
                    <a:pt x="12166" y="15243"/>
                  </a:moveTo>
                  <a:cubicBezTo>
                    <a:pt x="12335" y="15164"/>
                    <a:pt x="12533" y="15143"/>
                    <a:pt x="12722" y="15212"/>
                  </a:cubicBezTo>
                  <a:cubicBezTo>
                    <a:pt x="13100" y="15350"/>
                    <a:pt x="13296" y="15770"/>
                    <a:pt x="13158" y="16148"/>
                  </a:cubicBezTo>
                  <a:cubicBezTo>
                    <a:pt x="13021" y="16526"/>
                    <a:pt x="12600" y="16723"/>
                    <a:pt x="12222" y="16585"/>
                  </a:cubicBezTo>
                  <a:cubicBezTo>
                    <a:pt x="11844" y="16447"/>
                    <a:pt x="11648" y="16027"/>
                    <a:pt x="11785" y="15649"/>
                  </a:cubicBezTo>
                  <a:cubicBezTo>
                    <a:pt x="11854" y="15460"/>
                    <a:pt x="11997" y="15322"/>
                    <a:pt x="12166" y="1524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9" name="Shape 34205">
              <a:extLst>
                <a:ext uri="{FF2B5EF4-FFF2-40B4-BE49-F238E27FC236}">
                  <a16:creationId xmlns:a16="http://schemas.microsoft.com/office/drawing/2014/main" id="{9B6154D4-4161-7162-8EA2-5A7C854A42F3}"/>
                </a:ext>
              </a:extLst>
            </p:cNvPr>
            <p:cNvSpPr/>
            <p:nvPr/>
          </p:nvSpPr>
          <p:spPr>
            <a:xfrm>
              <a:off x="11074336" y="12293991"/>
              <a:ext cx="529370" cy="550146"/>
            </a:xfrm>
            <a:custGeom>
              <a:avLst/>
              <a:gdLst/>
              <a:ahLst/>
              <a:cxnLst>
                <a:cxn ang="0">
                  <a:pos x="wd2" y="hd2"/>
                </a:cxn>
                <a:cxn ang="5400000">
                  <a:pos x="wd2" y="hd2"/>
                </a:cxn>
                <a:cxn ang="10800000">
                  <a:pos x="wd2" y="hd2"/>
                </a:cxn>
                <a:cxn ang="16200000">
                  <a:pos x="wd2" y="hd2"/>
                </a:cxn>
              </a:cxnLst>
              <a:rect l="0" t="0" r="r" b="b"/>
              <a:pathLst>
                <a:path w="21367" h="21369" extrusionOk="0">
                  <a:moveTo>
                    <a:pt x="9892" y="341"/>
                  </a:moveTo>
                  <a:cubicBezTo>
                    <a:pt x="10333" y="-98"/>
                    <a:pt x="11063" y="-117"/>
                    <a:pt x="11519" y="307"/>
                  </a:cubicBezTo>
                  <a:lnTo>
                    <a:pt x="21020" y="9136"/>
                  </a:lnTo>
                  <a:cubicBezTo>
                    <a:pt x="21476" y="9561"/>
                    <a:pt x="21482" y="10263"/>
                    <a:pt x="21042" y="10702"/>
                  </a:cubicBezTo>
                  <a:lnTo>
                    <a:pt x="10676" y="21032"/>
                  </a:lnTo>
                  <a:cubicBezTo>
                    <a:pt x="10236" y="21471"/>
                    <a:pt x="9512" y="21483"/>
                    <a:pt x="9056" y="21059"/>
                  </a:cubicBezTo>
                  <a:lnTo>
                    <a:pt x="6577" y="18755"/>
                  </a:lnTo>
                  <a:lnTo>
                    <a:pt x="9366" y="15976"/>
                  </a:lnTo>
                  <a:cubicBezTo>
                    <a:pt x="9806" y="15537"/>
                    <a:pt x="9793" y="14841"/>
                    <a:pt x="9337" y="14417"/>
                  </a:cubicBezTo>
                  <a:lnTo>
                    <a:pt x="7682" y="12879"/>
                  </a:lnTo>
                  <a:cubicBezTo>
                    <a:pt x="7226" y="12455"/>
                    <a:pt x="6503" y="12467"/>
                    <a:pt x="6062" y="12906"/>
                  </a:cubicBezTo>
                  <a:lnTo>
                    <a:pt x="3274" y="15685"/>
                  </a:lnTo>
                  <a:lnTo>
                    <a:pt x="1210" y="13767"/>
                  </a:lnTo>
                  <a:cubicBezTo>
                    <a:pt x="754" y="13343"/>
                    <a:pt x="734" y="12641"/>
                    <a:pt x="1175" y="12202"/>
                  </a:cubicBezTo>
                  <a:lnTo>
                    <a:pt x="351" y="11436"/>
                  </a:lnTo>
                  <a:cubicBezTo>
                    <a:pt x="-105" y="11012"/>
                    <a:pt x="-118" y="10316"/>
                    <a:pt x="322" y="9877"/>
                  </a:cubicBezTo>
                  <a:lnTo>
                    <a:pt x="9892" y="341"/>
                  </a:lnTo>
                  <a:close/>
                  <a:moveTo>
                    <a:pt x="10322" y="1500"/>
                  </a:moveTo>
                  <a:lnTo>
                    <a:pt x="1949" y="9844"/>
                  </a:lnTo>
                  <a:cubicBezTo>
                    <a:pt x="1949" y="9844"/>
                    <a:pt x="1145" y="10641"/>
                    <a:pt x="1971" y="11409"/>
                  </a:cubicBezTo>
                  <a:lnTo>
                    <a:pt x="11146" y="2266"/>
                  </a:lnTo>
                  <a:cubicBezTo>
                    <a:pt x="11366" y="2046"/>
                    <a:pt x="11360" y="1705"/>
                    <a:pt x="11132" y="1492"/>
                  </a:cubicBezTo>
                  <a:cubicBezTo>
                    <a:pt x="10904" y="1281"/>
                    <a:pt x="10542" y="1280"/>
                    <a:pt x="10322" y="1500"/>
                  </a:cubicBezTo>
                  <a:close/>
                  <a:moveTo>
                    <a:pt x="6083" y="13685"/>
                  </a:moveTo>
                  <a:cubicBezTo>
                    <a:pt x="6523" y="13247"/>
                    <a:pt x="7247" y="13234"/>
                    <a:pt x="7703" y="13658"/>
                  </a:cubicBezTo>
                  <a:lnTo>
                    <a:pt x="8527" y="14424"/>
                  </a:lnTo>
                  <a:cubicBezTo>
                    <a:pt x="8983" y="14848"/>
                    <a:pt x="8996" y="15544"/>
                    <a:pt x="8555" y="15983"/>
                  </a:cubicBezTo>
                  <a:lnTo>
                    <a:pt x="6161" y="18369"/>
                  </a:lnTo>
                  <a:cubicBezTo>
                    <a:pt x="5721" y="18808"/>
                    <a:pt x="4991" y="18826"/>
                    <a:pt x="4535" y="18403"/>
                  </a:cubicBezTo>
                  <a:lnTo>
                    <a:pt x="3711" y="17637"/>
                  </a:lnTo>
                  <a:cubicBezTo>
                    <a:pt x="3254" y="17213"/>
                    <a:pt x="3249" y="16510"/>
                    <a:pt x="3689" y="16071"/>
                  </a:cubicBezTo>
                  <a:lnTo>
                    <a:pt x="6083" y="13685"/>
                  </a:lnTo>
                  <a:close/>
                  <a:moveTo>
                    <a:pt x="6506" y="14851"/>
                  </a:moveTo>
                  <a:cubicBezTo>
                    <a:pt x="6286" y="15071"/>
                    <a:pt x="6285" y="15419"/>
                    <a:pt x="6514" y="15631"/>
                  </a:cubicBezTo>
                  <a:cubicBezTo>
                    <a:pt x="6742" y="15843"/>
                    <a:pt x="7110" y="15837"/>
                    <a:pt x="7330" y="15617"/>
                  </a:cubicBezTo>
                  <a:cubicBezTo>
                    <a:pt x="7550" y="15398"/>
                    <a:pt x="7544" y="15043"/>
                    <a:pt x="7316" y="14831"/>
                  </a:cubicBezTo>
                  <a:cubicBezTo>
                    <a:pt x="7088" y="14619"/>
                    <a:pt x="6726" y="14632"/>
                    <a:pt x="6506" y="1485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0" name="Shape 34206">
              <a:extLst>
                <a:ext uri="{FF2B5EF4-FFF2-40B4-BE49-F238E27FC236}">
                  <a16:creationId xmlns:a16="http://schemas.microsoft.com/office/drawing/2014/main" id="{4817CE05-AE16-2CD7-A719-FF48D57D7109}"/>
                </a:ext>
              </a:extLst>
            </p:cNvPr>
            <p:cNvSpPr/>
            <p:nvPr/>
          </p:nvSpPr>
          <p:spPr>
            <a:xfrm>
              <a:off x="10836598" y="8678073"/>
              <a:ext cx="776072" cy="459642"/>
            </a:xfrm>
            <a:custGeom>
              <a:avLst/>
              <a:gdLst/>
              <a:ahLst/>
              <a:cxnLst>
                <a:cxn ang="0">
                  <a:pos x="wd2" y="hd2"/>
                </a:cxn>
                <a:cxn ang="5400000">
                  <a:pos x="wd2" y="hd2"/>
                </a:cxn>
                <a:cxn ang="10800000">
                  <a:pos x="wd2" y="hd2"/>
                </a:cxn>
                <a:cxn ang="16200000">
                  <a:pos x="wd2" y="hd2"/>
                </a:cxn>
              </a:cxnLst>
              <a:rect l="0" t="0" r="r" b="b"/>
              <a:pathLst>
                <a:path w="21428" h="21311" extrusionOk="0">
                  <a:moveTo>
                    <a:pt x="3736" y="4687"/>
                  </a:moveTo>
                  <a:lnTo>
                    <a:pt x="4986" y="19624"/>
                  </a:lnTo>
                  <a:lnTo>
                    <a:pt x="17693" y="16625"/>
                  </a:lnTo>
                  <a:lnTo>
                    <a:pt x="16443" y="1688"/>
                  </a:lnTo>
                  <a:cubicBezTo>
                    <a:pt x="16443" y="1688"/>
                    <a:pt x="3736" y="4687"/>
                    <a:pt x="3736" y="4687"/>
                  </a:cubicBezTo>
                  <a:close/>
                  <a:moveTo>
                    <a:pt x="2231" y="9938"/>
                  </a:moveTo>
                  <a:lnTo>
                    <a:pt x="2678" y="15273"/>
                  </a:lnTo>
                  <a:cubicBezTo>
                    <a:pt x="2702" y="15567"/>
                    <a:pt x="2864" y="15772"/>
                    <a:pt x="3040" y="15731"/>
                  </a:cubicBezTo>
                  <a:cubicBezTo>
                    <a:pt x="3215" y="15690"/>
                    <a:pt x="3338" y="15417"/>
                    <a:pt x="3313" y="15123"/>
                  </a:cubicBezTo>
                  <a:lnTo>
                    <a:pt x="2867" y="9788"/>
                  </a:lnTo>
                  <a:cubicBezTo>
                    <a:pt x="2842" y="9494"/>
                    <a:pt x="2680" y="9288"/>
                    <a:pt x="2504" y="9330"/>
                  </a:cubicBezTo>
                  <a:cubicBezTo>
                    <a:pt x="2329" y="9371"/>
                    <a:pt x="2207" y="9644"/>
                    <a:pt x="2231" y="9938"/>
                  </a:cubicBezTo>
                  <a:close/>
                  <a:moveTo>
                    <a:pt x="19564" y="8023"/>
                  </a:moveTo>
                  <a:cubicBezTo>
                    <a:pt x="19490" y="7140"/>
                    <a:pt x="19004" y="6524"/>
                    <a:pt x="18477" y="6648"/>
                  </a:cubicBezTo>
                  <a:cubicBezTo>
                    <a:pt x="17951" y="6772"/>
                    <a:pt x="17584" y="7590"/>
                    <a:pt x="17658" y="8473"/>
                  </a:cubicBezTo>
                  <a:cubicBezTo>
                    <a:pt x="17732" y="9357"/>
                    <a:pt x="18219" y="9973"/>
                    <a:pt x="18745" y="9849"/>
                  </a:cubicBezTo>
                  <a:cubicBezTo>
                    <a:pt x="19272" y="9724"/>
                    <a:pt x="19638" y="8907"/>
                    <a:pt x="19564" y="8023"/>
                  </a:cubicBezTo>
                  <a:close/>
                  <a:moveTo>
                    <a:pt x="20344" y="1856"/>
                  </a:moveTo>
                  <a:lnTo>
                    <a:pt x="21415" y="14658"/>
                  </a:lnTo>
                  <a:cubicBezTo>
                    <a:pt x="21514" y="15837"/>
                    <a:pt x="21025" y="16926"/>
                    <a:pt x="20323" y="17092"/>
                  </a:cubicBezTo>
                  <a:lnTo>
                    <a:pt x="2533" y="21290"/>
                  </a:lnTo>
                  <a:cubicBezTo>
                    <a:pt x="1832" y="21456"/>
                    <a:pt x="1183" y="20635"/>
                    <a:pt x="1084" y="19456"/>
                  </a:cubicBezTo>
                  <a:lnTo>
                    <a:pt x="13" y="6654"/>
                  </a:lnTo>
                  <a:cubicBezTo>
                    <a:pt x="-86" y="5475"/>
                    <a:pt x="403" y="4386"/>
                    <a:pt x="1105" y="4220"/>
                  </a:cubicBezTo>
                  <a:lnTo>
                    <a:pt x="18895" y="22"/>
                  </a:lnTo>
                  <a:cubicBezTo>
                    <a:pt x="19596" y="-144"/>
                    <a:pt x="20245" y="677"/>
                    <a:pt x="20344" y="1856"/>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41" name="Shape 34207">
              <a:extLst>
                <a:ext uri="{FF2B5EF4-FFF2-40B4-BE49-F238E27FC236}">
                  <a16:creationId xmlns:a16="http://schemas.microsoft.com/office/drawing/2014/main" id="{9C0589CC-1AA8-EC0E-98E1-6EEF8B13A41E}"/>
                </a:ext>
              </a:extLst>
            </p:cNvPr>
            <p:cNvSpPr/>
            <p:nvPr/>
          </p:nvSpPr>
          <p:spPr>
            <a:xfrm>
              <a:off x="12300451" y="8958670"/>
              <a:ext cx="694132" cy="637746"/>
            </a:xfrm>
            <a:custGeom>
              <a:avLst/>
              <a:gdLst/>
              <a:ahLst/>
              <a:cxnLst>
                <a:cxn ang="0">
                  <a:pos x="wd2" y="hd2"/>
                </a:cxn>
                <a:cxn ang="5400000">
                  <a:pos x="wd2" y="hd2"/>
                </a:cxn>
                <a:cxn ang="10800000">
                  <a:pos x="wd2" y="hd2"/>
                </a:cxn>
                <a:cxn ang="16200000">
                  <a:pos x="wd2" y="hd2"/>
                </a:cxn>
              </a:cxnLst>
              <a:rect l="0" t="0" r="r" b="b"/>
              <a:pathLst>
                <a:path w="20391" h="21254" extrusionOk="0">
                  <a:moveTo>
                    <a:pt x="14806" y="20802"/>
                  </a:moveTo>
                  <a:cubicBezTo>
                    <a:pt x="16771" y="20078"/>
                    <a:pt x="18497" y="18506"/>
                    <a:pt x="19509" y="16252"/>
                  </a:cubicBezTo>
                  <a:cubicBezTo>
                    <a:pt x="21534" y="11744"/>
                    <a:pt x="19954" y="6226"/>
                    <a:pt x="15980" y="3929"/>
                  </a:cubicBezTo>
                  <a:cubicBezTo>
                    <a:pt x="12750" y="2062"/>
                    <a:pt x="8929" y="2896"/>
                    <a:pt x="6525" y="5695"/>
                  </a:cubicBezTo>
                  <a:cubicBezTo>
                    <a:pt x="6494" y="5619"/>
                    <a:pt x="6446" y="5549"/>
                    <a:pt x="6387" y="5489"/>
                  </a:cubicBezTo>
                  <a:lnTo>
                    <a:pt x="1181" y="167"/>
                  </a:lnTo>
                  <a:cubicBezTo>
                    <a:pt x="946" y="-73"/>
                    <a:pt x="582" y="-53"/>
                    <a:pt x="370" y="214"/>
                  </a:cubicBezTo>
                  <a:lnTo>
                    <a:pt x="146" y="499"/>
                  </a:lnTo>
                  <a:cubicBezTo>
                    <a:pt x="-66" y="765"/>
                    <a:pt x="-44" y="1177"/>
                    <a:pt x="192" y="1417"/>
                  </a:cubicBezTo>
                  <a:lnTo>
                    <a:pt x="5396" y="6733"/>
                  </a:lnTo>
                  <a:cubicBezTo>
                    <a:pt x="5480" y="6818"/>
                    <a:pt x="5581" y="6859"/>
                    <a:pt x="5685" y="6879"/>
                  </a:cubicBezTo>
                  <a:cubicBezTo>
                    <a:pt x="5480" y="7214"/>
                    <a:pt x="5286" y="7560"/>
                    <a:pt x="5118" y="7933"/>
                  </a:cubicBezTo>
                  <a:cubicBezTo>
                    <a:pt x="3093" y="12441"/>
                    <a:pt x="4673" y="17959"/>
                    <a:pt x="8647" y="20256"/>
                  </a:cubicBezTo>
                  <a:cubicBezTo>
                    <a:pt x="10634" y="21405"/>
                    <a:pt x="12840" y="21527"/>
                    <a:pt x="14806" y="20802"/>
                  </a:cubicBezTo>
                  <a:close/>
                  <a:moveTo>
                    <a:pt x="14414" y="19435"/>
                  </a:moveTo>
                  <a:cubicBezTo>
                    <a:pt x="12758" y="20045"/>
                    <a:pt x="10896" y="19937"/>
                    <a:pt x="9221" y="18969"/>
                  </a:cubicBezTo>
                  <a:cubicBezTo>
                    <a:pt x="5873" y="17034"/>
                    <a:pt x="4542" y="12385"/>
                    <a:pt x="6248" y="8586"/>
                  </a:cubicBezTo>
                  <a:cubicBezTo>
                    <a:pt x="7954" y="4788"/>
                    <a:pt x="12052" y="3277"/>
                    <a:pt x="15400" y="5212"/>
                  </a:cubicBezTo>
                  <a:cubicBezTo>
                    <a:pt x="18748" y="7148"/>
                    <a:pt x="20080" y="11797"/>
                    <a:pt x="18374" y="15596"/>
                  </a:cubicBezTo>
                  <a:cubicBezTo>
                    <a:pt x="17521" y="17495"/>
                    <a:pt x="16070" y="18824"/>
                    <a:pt x="14414" y="19435"/>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2" name="Shape 34208">
              <a:extLst>
                <a:ext uri="{FF2B5EF4-FFF2-40B4-BE49-F238E27FC236}">
                  <a16:creationId xmlns:a16="http://schemas.microsoft.com/office/drawing/2014/main" id="{2B002F80-8F42-1F8C-9D53-E0E308DF3F05}"/>
                </a:ext>
              </a:extLst>
            </p:cNvPr>
            <p:cNvSpPr/>
            <p:nvPr/>
          </p:nvSpPr>
          <p:spPr>
            <a:xfrm>
              <a:off x="11569660" y="9038623"/>
              <a:ext cx="297614" cy="329456"/>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3" name="Shape 34209">
              <a:extLst>
                <a:ext uri="{FF2B5EF4-FFF2-40B4-BE49-F238E27FC236}">
                  <a16:creationId xmlns:a16="http://schemas.microsoft.com/office/drawing/2014/main" id="{E04824C3-FDEF-BB7D-0D7D-4B2DEBD11EDA}"/>
                </a:ext>
              </a:extLst>
            </p:cNvPr>
            <p:cNvSpPr/>
            <p:nvPr/>
          </p:nvSpPr>
          <p:spPr>
            <a:xfrm>
              <a:off x="13028438" y="8411802"/>
              <a:ext cx="415194" cy="47975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07" y="15970"/>
                  </a:lnTo>
                  <a:lnTo>
                    <a:pt x="6112" y="19464"/>
                  </a:lnTo>
                  <a:cubicBezTo>
                    <a:pt x="6112" y="19464"/>
                    <a:pt x="0" y="21600"/>
                    <a:pt x="0" y="21600"/>
                  </a:cubicBezTo>
                  <a:close/>
                  <a:moveTo>
                    <a:pt x="6773" y="18782"/>
                  </a:moveTo>
                  <a:lnTo>
                    <a:pt x="1968" y="15288"/>
                  </a:lnTo>
                  <a:lnTo>
                    <a:pt x="13737" y="3150"/>
                  </a:lnTo>
                  <a:lnTo>
                    <a:pt x="18545" y="6642"/>
                  </a:lnTo>
                  <a:cubicBezTo>
                    <a:pt x="18545" y="6642"/>
                    <a:pt x="6773" y="18782"/>
                    <a:pt x="6773" y="18782"/>
                  </a:cubicBezTo>
                  <a:close/>
                  <a:moveTo>
                    <a:pt x="19218" y="5946"/>
                  </a:moveTo>
                  <a:lnTo>
                    <a:pt x="14411" y="2455"/>
                  </a:lnTo>
                  <a:lnTo>
                    <a:pt x="16792" y="0"/>
                  </a:lnTo>
                  <a:lnTo>
                    <a:pt x="21600" y="3492"/>
                  </a:lnTo>
                  <a:cubicBezTo>
                    <a:pt x="21600" y="3492"/>
                    <a:pt x="19218" y="5946"/>
                    <a:pt x="19218" y="594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4" name="Shape 34210">
              <a:extLst>
                <a:ext uri="{FF2B5EF4-FFF2-40B4-BE49-F238E27FC236}">
                  <a16:creationId xmlns:a16="http://schemas.microsoft.com/office/drawing/2014/main" id="{60A3E3D8-357B-9865-5ED6-C9C8DD99A5EB}"/>
                </a:ext>
              </a:extLst>
            </p:cNvPr>
            <p:cNvSpPr/>
            <p:nvPr/>
          </p:nvSpPr>
          <p:spPr>
            <a:xfrm>
              <a:off x="9694005" y="5957329"/>
              <a:ext cx="377264" cy="351174"/>
            </a:xfrm>
            <a:custGeom>
              <a:avLst/>
              <a:gdLst/>
              <a:ahLst/>
              <a:cxnLst>
                <a:cxn ang="0">
                  <a:pos x="wd2" y="hd2"/>
                </a:cxn>
                <a:cxn ang="5400000">
                  <a:pos x="wd2" y="hd2"/>
                </a:cxn>
                <a:cxn ang="10800000">
                  <a:pos x="wd2" y="hd2"/>
                </a:cxn>
                <a:cxn ang="16200000">
                  <a:pos x="wd2" y="hd2"/>
                </a:cxn>
              </a:cxnLst>
              <a:rect l="0" t="0" r="r" b="b"/>
              <a:pathLst>
                <a:path w="21184" h="21600" extrusionOk="0">
                  <a:moveTo>
                    <a:pt x="0" y="3459"/>
                  </a:moveTo>
                  <a:lnTo>
                    <a:pt x="1422" y="10208"/>
                  </a:lnTo>
                  <a:cubicBezTo>
                    <a:pt x="1422" y="10208"/>
                    <a:pt x="2469" y="10982"/>
                    <a:pt x="3219" y="10113"/>
                  </a:cubicBezTo>
                  <a:cubicBezTo>
                    <a:pt x="4049" y="9149"/>
                    <a:pt x="6494" y="8518"/>
                    <a:pt x="6992" y="11134"/>
                  </a:cubicBezTo>
                  <a:cubicBezTo>
                    <a:pt x="7491" y="13750"/>
                    <a:pt x="5522" y="14362"/>
                    <a:pt x="4296" y="14027"/>
                  </a:cubicBezTo>
                  <a:cubicBezTo>
                    <a:pt x="3187" y="13725"/>
                    <a:pt x="2357" y="14641"/>
                    <a:pt x="2357" y="14641"/>
                  </a:cubicBezTo>
                  <a:lnTo>
                    <a:pt x="3823" y="21600"/>
                  </a:lnTo>
                  <a:lnTo>
                    <a:pt x="9313" y="20212"/>
                  </a:lnTo>
                  <a:cubicBezTo>
                    <a:pt x="9313" y="20212"/>
                    <a:pt x="9635" y="19276"/>
                    <a:pt x="8958" y="18523"/>
                  </a:cubicBezTo>
                  <a:cubicBezTo>
                    <a:pt x="8134" y="17611"/>
                    <a:pt x="7558" y="15210"/>
                    <a:pt x="10150" y="14555"/>
                  </a:cubicBezTo>
                  <a:cubicBezTo>
                    <a:pt x="12743" y="13899"/>
                    <a:pt x="13216" y="16255"/>
                    <a:pt x="12736" y="17679"/>
                  </a:cubicBezTo>
                  <a:cubicBezTo>
                    <a:pt x="12378" y="18747"/>
                    <a:pt x="13070" y="19262"/>
                    <a:pt x="13070" y="19262"/>
                  </a:cubicBezTo>
                  <a:lnTo>
                    <a:pt x="17693" y="18092"/>
                  </a:lnTo>
                  <a:cubicBezTo>
                    <a:pt x="17693" y="18092"/>
                    <a:pt x="16501" y="13146"/>
                    <a:pt x="16426" y="11786"/>
                  </a:cubicBezTo>
                  <a:cubicBezTo>
                    <a:pt x="16346" y="10328"/>
                    <a:pt x="18026" y="10919"/>
                    <a:pt x="18332" y="11000"/>
                  </a:cubicBezTo>
                  <a:cubicBezTo>
                    <a:pt x="20097" y="11473"/>
                    <a:pt x="21600" y="10153"/>
                    <a:pt x="21079" y="7680"/>
                  </a:cubicBezTo>
                  <a:cubicBezTo>
                    <a:pt x="20558" y="5208"/>
                    <a:pt x="18027" y="5192"/>
                    <a:pt x="17063" y="6452"/>
                  </a:cubicBezTo>
                  <a:cubicBezTo>
                    <a:pt x="16347" y="7388"/>
                    <a:pt x="15661" y="7684"/>
                    <a:pt x="15383" y="7029"/>
                  </a:cubicBezTo>
                  <a:cubicBezTo>
                    <a:pt x="14735" y="5498"/>
                    <a:pt x="13677" y="0"/>
                    <a:pt x="13677" y="0"/>
                  </a:cubicBezTo>
                  <a:lnTo>
                    <a:pt x="9343" y="1096"/>
                  </a:lnTo>
                  <a:cubicBezTo>
                    <a:pt x="9343" y="1096"/>
                    <a:pt x="8732" y="2392"/>
                    <a:pt x="9572" y="3149"/>
                  </a:cubicBezTo>
                  <a:cubicBezTo>
                    <a:pt x="10838" y="4289"/>
                    <a:pt x="10727" y="6525"/>
                    <a:pt x="8669" y="7045"/>
                  </a:cubicBezTo>
                  <a:cubicBezTo>
                    <a:pt x="6612" y="7566"/>
                    <a:pt x="5599" y="5828"/>
                    <a:pt x="6228" y="4123"/>
                  </a:cubicBezTo>
                  <a:cubicBezTo>
                    <a:pt x="6581" y="3168"/>
                    <a:pt x="5664" y="2036"/>
                    <a:pt x="5664" y="2036"/>
                  </a:cubicBezTo>
                  <a:cubicBezTo>
                    <a:pt x="5664" y="2036"/>
                    <a:pt x="0" y="3459"/>
                    <a:pt x="0" y="34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5" name="Shape 34211">
              <a:extLst>
                <a:ext uri="{FF2B5EF4-FFF2-40B4-BE49-F238E27FC236}">
                  <a16:creationId xmlns:a16="http://schemas.microsoft.com/office/drawing/2014/main" id="{76DFA2CB-312D-1730-47C1-A020896FA28B}"/>
                </a:ext>
              </a:extLst>
            </p:cNvPr>
            <p:cNvSpPr/>
            <p:nvPr/>
          </p:nvSpPr>
          <p:spPr>
            <a:xfrm>
              <a:off x="10312910" y="3971892"/>
              <a:ext cx="478390" cy="684028"/>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6" name="Shape 34212">
              <a:extLst>
                <a:ext uri="{FF2B5EF4-FFF2-40B4-BE49-F238E27FC236}">
                  <a16:creationId xmlns:a16="http://schemas.microsoft.com/office/drawing/2014/main" id="{36B98C3B-D0DC-9180-4848-8BA8BF1F5BD6}"/>
                </a:ext>
              </a:extLst>
            </p:cNvPr>
            <p:cNvSpPr/>
            <p:nvPr/>
          </p:nvSpPr>
          <p:spPr>
            <a:xfrm>
              <a:off x="9175496" y="3615262"/>
              <a:ext cx="674788" cy="478306"/>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47" name="Shape 34213">
              <a:extLst>
                <a:ext uri="{FF2B5EF4-FFF2-40B4-BE49-F238E27FC236}">
                  <a16:creationId xmlns:a16="http://schemas.microsoft.com/office/drawing/2014/main" id="{B2A1DF19-68C4-B39F-A4E7-2413452CD571}"/>
                </a:ext>
              </a:extLst>
            </p:cNvPr>
            <p:cNvSpPr/>
            <p:nvPr/>
          </p:nvSpPr>
          <p:spPr>
            <a:xfrm>
              <a:off x="14822081" y="4439957"/>
              <a:ext cx="756136" cy="659706"/>
            </a:xfrm>
            <a:custGeom>
              <a:avLst/>
              <a:gdLst/>
              <a:ahLst/>
              <a:cxnLst>
                <a:cxn ang="0">
                  <a:pos x="wd2" y="hd2"/>
                </a:cxn>
                <a:cxn ang="5400000">
                  <a:pos x="wd2" y="hd2"/>
                </a:cxn>
                <a:cxn ang="10800000">
                  <a:pos x="wd2" y="hd2"/>
                </a:cxn>
                <a:cxn ang="16200000">
                  <a:pos x="wd2" y="hd2"/>
                </a:cxn>
              </a:cxnLst>
              <a:rect l="0" t="0" r="r" b="b"/>
              <a:pathLst>
                <a:path w="21600" h="21600" extrusionOk="0">
                  <a:moveTo>
                    <a:pt x="6294" y="3457"/>
                  </a:moveTo>
                  <a:lnTo>
                    <a:pt x="148" y="16086"/>
                  </a:lnTo>
                  <a:lnTo>
                    <a:pt x="0" y="16165"/>
                  </a:lnTo>
                  <a:lnTo>
                    <a:pt x="1008" y="21600"/>
                  </a:lnTo>
                  <a:lnTo>
                    <a:pt x="10415" y="19280"/>
                  </a:lnTo>
                  <a:lnTo>
                    <a:pt x="10816" y="21443"/>
                  </a:lnTo>
                  <a:lnTo>
                    <a:pt x="12402" y="20369"/>
                  </a:lnTo>
                  <a:lnTo>
                    <a:pt x="14220" y="20613"/>
                  </a:lnTo>
                  <a:lnTo>
                    <a:pt x="13819" y="18450"/>
                  </a:lnTo>
                  <a:lnTo>
                    <a:pt x="17113" y="17634"/>
                  </a:lnTo>
                  <a:lnTo>
                    <a:pt x="17471" y="17546"/>
                  </a:lnTo>
                  <a:lnTo>
                    <a:pt x="21600" y="5952"/>
                  </a:lnTo>
                  <a:lnTo>
                    <a:pt x="20486" y="14"/>
                  </a:lnTo>
                  <a:cubicBezTo>
                    <a:pt x="20486" y="14"/>
                    <a:pt x="20484" y="0"/>
                    <a:pt x="20484" y="0"/>
                  </a:cubicBezTo>
                  <a:lnTo>
                    <a:pt x="6294" y="3457"/>
                  </a:lnTo>
                  <a:close/>
                  <a:moveTo>
                    <a:pt x="19860" y="1754"/>
                  </a:moveTo>
                  <a:cubicBezTo>
                    <a:pt x="19941" y="2188"/>
                    <a:pt x="20020" y="2621"/>
                    <a:pt x="20101" y="3055"/>
                  </a:cubicBezTo>
                  <a:cubicBezTo>
                    <a:pt x="20278" y="3996"/>
                    <a:pt x="20448" y="4934"/>
                    <a:pt x="20624" y="5875"/>
                  </a:cubicBezTo>
                  <a:lnTo>
                    <a:pt x="16762" y="16617"/>
                  </a:lnTo>
                  <a:lnTo>
                    <a:pt x="13623" y="17396"/>
                  </a:lnTo>
                  <a:lnTo>
                    <a:pt x="13219" y="15220"/>
                  </a:lnTo>
                  <a:cubicBezTo>
                    <a:pt x="13219" y="15220"/>
                    <a:pt x="9815" y="16049"/>
                    <a:pt x="9815" y="16049"/>
                  </a:cubicBezTo>
                  <a:lnTo>
                    <a:pt x="10222" y="18239"/>
                  </a:lnTo>
                  <a:lnTo>
                    <a:pt x="1723" y="20338"/>
                  </a:lnTo>
                  <a:lnTo>
                    <a:pt x="908" y="15944"/>
                  </a:lnTo>
                  <a:lnTo>
                    <a:pt x="16076" y="12248"/>
                  </a:lnTo>
                  <a:cubicBezTo>
                    <a:pt x="16076" y="12249"/>
                    <a:pt x="18931" y="4332"/>
                    <a:pt x="19860" y="1754"/>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8" name="Shape 34214">
              <a:extLst>
                <a:ext uri="{FF2B5EF4-FFF2-40B4-BE49-F238E27FC236}">
                  <a16:creationId xmlns:a16="http://schemas.microsoft.com/office/drawing/2014/main" id="{C07477F5-13C2-0059-175D-4F8386F20BBA}"/>
                </a:ext>
              </a:extLst>
            </p:cNvPr>
            <p:cNvSpPr/>
            <p:nvPr/>
          </p:nvSpPr>
          <p:spPr>
            <a:xfrm>
              <a:off x="12406836" y="10620127"/>
              <a:ext cx="516758" cy="572046"/>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49" name="Shape 34215">
              <a:extLst>
                <a:ext uri="{FF2B5EF4-FFF2-40B4-BE49-F238E27FC236}">
                  <a16:creationId xmlns:a16="http://schemas.microsoft.com/office/drawing/2014/main" id="{BF6C8EC1-4101-C1F3-59E6-2E204FC0CA32}"/>
                </a:ext>
              </a:extLst>
            </p:cNvPr>
            <p:cNvSpPr/>
            <p:nvPr/>
          </p:nvSpPr>
          <p:spPr>
            <a:xfrm>
              <a:off x="15192453" y="5780593"/>
              <a:ext cx="475406" cy="475406"/>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4116" tIns="24116" rIns="24116" bIns="24116" numCol="1" anchor="ctr">
              <a:noAutofit/>
            </a:bodyPr>
            <a:lstStyle/>
            <a:p>
              <a:endParaRPr sz="2279">
                <a:latin typeface="Lato Light" panose="020F0502020204030203" pitchFamily="34" charset="0"/>
              </a:endParaRPr>
            </a:p>
          </p:txBody>
        </p:sp>
        <p:sp>
          <p:nvSpPr>
            <p:cNvPr id="50" name="Shape 34216">
              <a:extLst>
                <a:ext uri="{FF2B5EF4-FFF2-40B4-BE49-F238E27FC236}">
                  <a16:creationId xmlns:a16="http://schemas.microsoft.com/office/drawing/2014/main" id="{22BE5295-7E6B-EBE3-6379-0FE69A700146}"/>
                </a:ext>
              </a:extLst>
            </p:cNvPr>
            <p:cNvSpPr/>
            <p:nvPr/>
          </p:nvSpPr>
          <p:spPr>
            <a:xfrm>
              <a:off x="11916931" y="8191128"/>
              <a:ext cx="792292" cy="544702"/>
            </a:xfrm>
            <a:custGeom>
              <a:avLst/>
              <a:gdLst/>
              <a:ahLst/>
              <a:cxnLst>
                <a:cxn ang="0">
                  <a:pos x="wd2" y="hd2"/>
                </a:cxn>
                <a:cxn ang="5400000">
                  <a:pos x="wd2" y="hd2"/>
                </a:cxn>
                <a:cxn ang="10800000">
                  <a:pos x="wd2" y="hd2"/>
                </a:cxn>
                <a:cxn ang="16200000">
                  <a:pos x="wd2" y="hd2"/>
                </a:cxn>
              </a:cxnLst>
              <a:rect l="0" t="0" r="r" b="b"/>
              <a:pathLst>
                <a:path w="21600" h="21600" extrusionOk="0">
                  <a:moveTo>
                    <a:pt x="14829" y="10800"/>
                  </a:moveTo>
                  <a:lnTo>
                    <a:pt x="14850" y="5891"/>
                  </a:lnTo>
                  <a:lnTo>
                    <a:pt x="18865" y="5891"/>
                  </a:lnTo>
                  <a:lnTo>
                    <a:pt x="20250" y="10800"/>
                  </a:lnTo>
                  <a:lnTo>
                    <a:pt x="14829" y="10800"/>
                  </a:lnTo>
                  <a:close/>
                  <a:moveTo>
                    <a:pt x="20250" y="5564"/>
                  </a:moveTo>
                  <a:cubicBezTo>
                    <a:pt x="19879" y="3856"/>
                    <a:pt x="18900" y="3919"/>
                    <a:pt x="18900" y="3919"/>
                  </a:cubicBezTo>
                  <a:lnTo>
                    <a:pt x="13495" y="3919"/>
                  </a:lnTo>
                  <a:lnTo>
                    <a:pt x="13495" y="18655"/>
                  </a:lnTo>
                  <a:lnTo>
                    <a:pt x="15525" y="18655"/>
                  </a:lnTo>
                  <a:cubicBezTo>
                    <a:pt x="15527" y="14736"/>
                    <a:pt x="16734" y="14727"/>
                    <a:pt x="18225" y="14728"/>
                  </a:cubicBezTo>
                  <a:cubicBezTo>
                    <a:pt x="19716" y="14728"/>
                    <a:pt x="20918" y="14757"/>
                    <a:pt x="20924" y="18655"/>
                  </a:cubicBezTo>
                  <a:lnTo>
                    <a:pt x="21600" y="18655"/>
                  </a:lnTo>
                  <a:lnTo>
                    <a:pt x="21600" y="10817"/>
                  </a:lnTo>
                  <a:cubicBezTo>
                    <a:pt x="21600" y="10817"/>
                    <a:pt x="20621" y="7272"/>
                    <a:pt x="20250" y="5564"/>
                  </a:cubicBezTo>
                  <a:close/>
                  <a:moveTo>
                    <a:pt x="12690" y="1964"/>
                  </a:moveTo>
                  <a:lnTo>
                    <a:pt x="12690" y="18655"/>
                  </a:lnTo>
                  <a:lnTo>
                    <a:pt x="6750" y="18655"/>
                  </a:lnTo>
                  <a:cubicBezTo>
                    <a:pt x="6750" y="14728"/>
                    <a:pt x="5541" y="14728"/>
                    <a:pt x="4050" y="14728"/>
                  </a:cubicBezTo>
                  <a:cubicBezTo>
                    <a:pt x="2559" y="14728"/>
                    <a:pt x="1350" y="14728"/>
                    <a:pt x="1350" y="18655"/>
                  </a:cubicBezTo>
                  <a:lnTo>
                    <a:pt x="0" y="18655"/>
                  </a:lnTo>
                  <a:lnTo>
                    <a:pt x="0" y="1964"/>
                  </a:lnTo>
                  <a:cubicBezTo>
                    <a:pt x="0" y="1421"/>
                    <a:pt x="151" y="931"/>
                    <a:pt x="395" y="575"/>
                  </a:cubicBezTo>
                  <a:cubicBezTo>
                    <a:pt x="640" y="220"/>
                    <a:pt x="977" y="0"/>
                    <a:pt x="1350" y="0"/>
                  </a:cubicBezTo>
                  <a:lnTo>
                    <a:pt x="11340" y="0"/>
                  </a:lnTo>
                  <a:cubicBezTo>
                    <a:pt x="11713" y="0"/>
                    <a:pt x="12050" y="220"/>
                    <a:pt x="12295" y="575"/>
                  </a:cubicBezTo>
                  <a:cubicBezTo>
                    <a:pt x="12539" y="931"/>
                    <a:pt x="12690" y="1421"/>
                    <a:pt x="12690" y="1964"/>
                  </a:cubicBezTo>
                  <a:close/>
                  <a:moveTo>
                    <a:pt x="4050" y="19636"/>
                  </a:moveTo>
                  <a:cubicBezTo>
                    <a:pt x="3677" y="19636"/>
                    <a:pt x="3375" y="19197"/>
                    <a:pt x="3375" y="18655"/>
                  </a:cubicBezTo>
                  <a:cubicBezTo>
                    <a:pt x="3375" y="18112"/>
                    <a:pt x="3677" y="17673"/>
                    <a:pt x="4050" y="17673"/>
                  </a:cubicBezTo>
                  <a:cubicBezTo>
                    <a:pt x="4423" y="17673"/>
                    <a:pt x="4725" y="18112"/>
                    <a:pt x="4725" y="18655"/>
                  </a:cubicBezTo>
                  <a:cubicBezTo>
                    <a:pt x="4725" y="19197"/>
                    <a:pt x="4423" y="19636"/>
                    <a:pt x="4050" y="19636"/>
                  </a:cubicBezTo>
                  <a:close/>
                  <a:moveTo>
                    <a:pt x="4050" y="15709"/>
                  </a:moveTo>
                  <a:cubicBezTo>
                    <a:pt x="2932" y="15709"/>
                    <a:pt x="2025" y="17028"/>
                    <a:pt x="2025" y="18655"/>
                  </a:cubicBezTo>
                  <a:cubicBezTo>
                    <a:pt x="2025" y="20281"/>
                    <a:pt x="2932" y="21600"/>
                    <a:pt x="4050" y="21600"/>
                  </a:cubicBezTo>
                  <a:cubicBezTo>
                    <a:pt x="5168" y="21600"/>
                    <a:pt x="6075" y="20281"/>
                    <a:pt x="6075" y="18655"/>
                  </a:cubicBezTo>
                  <a:cubicBezTo>
                    <a:pt x="6075" y="17028"/>
                    <a:pt x="5168" y="15709"/>
                    <a:pt x="4050" y="15709"/>
                  </a:cubicBezTo>
                  <a:close/>
                  <a:moveTo>
                    <a:pt x="18225" y="19636"/>
                  </a:moveTo>
                  <a:cubicBezTo>
                    <a:pt x="17852" y="19636"/>
                    <a:pt x="17550" y="19197"/>
                    <a:pt x="17550" y="18655"/>
                  </a:cubicBezTo>
                  <a:cubicBezTo>
                    <a:pt x="17550" y="18112"/>
                    <a:pt x="17852" y="17673"/>
                    <a:pt x="18225" y="17673"/>
                  </a:cubicBezTo>
                  <a:cubicBezTo>
                    <a:pt x="18598" y="17673"/>
                    <a:pt x="18900" y="18112"/>
                    <a:pt x="18900" y="18655"/>
                  </a:cubicBezTo>
                  <a:cubicBezTo>
                    <a:pt x="18900" y="19197"/>
                    <a:pt x="18598" y="19636"/>
                    <a:pt x="18225" y="19636"/>
                  </a:cubicBezTo>
                  <a:close/>
                  <a:moveTo>
                    <a:pt x="18225" y="15709"/>
                  </a:moveTo>
                  <a:cubicBezTo>
                    <a:pt x="17107" y="15709"/>
                    <a:pt x="16200" y="17028"/>
                    <a:pt x="16200" y="18655"/>
                  </a:cubicBezTo>
                  <a:cubicBezTo>
                    <a:pt x="16200" y="20281"/>
                    <a:pt x="17107" y="21600"/>
                    <a:pt x="18225" y="21600"/>
                  </a:cubicBezTo>
                  <a:cubicBezTo>
                    <a:pt x="19343" y="21600"/>
                    <a:pt x="20250" y="20281"/>
                    <a:pt x="20250" y="18655"/>
                  </a:cubicBezTo>
                  <a:cubicBezTo>
                    <a:pt x="20250" y="17028"/>
                    <a:pt x="19343" y="15709"/>
                    <a:pt x="18225" y="15709"/>
                  </a:cubicBezTo>
                  <a:close/>
                </a:path>
              </a:pathLst>
            </a:custGeom>
            <a:solidFill>
              <a:schemeClr val="bg1">
                <a:lumMod val="85000"/>
              </a:schemeClr>
            </a:solidFill>
            <a:ln w="12700" cap="flat">
              <a:noFill/>
              <a:miter lim="400000"/>
            </a:ln>
            <a:effectLst/>
          </p:spPr>
          <p:txBody>
            <a:bodyPr wrap="square" lIns="24116" tIns="24116" rIns="24116" bIns="24116" numCol="1" anchor="b">
              <a:noAutofit/>
            </a:bodyPr>
            <a:lstStyle/>
            <a:p>
              <a:endParaRPr sz="2279">
                <a:latin typeface="Lato Light" panose="020F0502020204030203" pitchFamily="34" charset="0"/>
              </a:endParaRPr>
            </a:p>
          </p:txBody>
        </p:sp>
        <p:sp>
          <p:nvSpPr>
            <p:cNvPr id="51" name="Shape 34217">
              <a:extLst>
                <a:ext uri="{FF2B5EF4-FFF2-40B4-BE49-F238E27FC236}">
                  <a16:creationId xmlns:a16="http://schemas.microsoft.com/office/drawing/2014/main" id="{7669BB95-B65F-80FF-F5E3-D558A71D1868}"/>
                </a:ext>
              </a:extLst>
            </p:cNvPr>
            <p:cNvSpPr/>
            <p:nvPr/>
          </p:nvSpPr>
          <p:spPr>
            <a:xfrm>
              <a:off x="12395335" y="3740451"/>
              <a:ext cx="693544" cy="915782"/>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accent1"/>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2" name="Shape 34218">
              <a:extLst>
                <a:ext uri="{FF2B5EF4-FFF2-40B4-BE49-F238E27FC236}">
                  <a16:creationId xmlns:a16="http://schemas.microsoft.com/office/drawing/2014/main" id="{ECD0EFAE-D165-C2EA-4152-E736B90B1620}"/>
                </a:ext>
              </a:extLst>
            </p:cNvPr>
            <p:cNvSpPr/>
            <p:nvPr/>
          </p:nvSpPr>
          <p:spPr>
            <a:xfrm>
              <a:off x="11932702" y="12638103"/>
              <a:ext cx="408708" cy="303434"/>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837" y="8637"/>
                  </a:lnTo>
                  <a:lnTo>
                    <a:pt x="17837" y="12781"/>
                  </a:lnTo>
                  <a:cubicBezTo>
                    <a:pt x="17837" y="13798"/>
                    <a:pt x="17539" y="14723"/>
                    <a:pt x="17049" y="15392"/>
                  </a:cubicBezTo>
                  <a:cubicBezTo>
                    <a:pt x="16550" y="16075"/>
                    <a:pt x="15855" y="16492"/>
                    <a:pt x="15079" y="16478"/>
                  </a:cubicBezTo>
                  <a:lnTo>
                    <a:pt x="9158" y="16478"/>
                  </a:lnTo>
                  <a:lnTo>
                    <a:pt x="9158" y="17810"/>
                  </a:lnTo>
                  <a:cubicBezTo>
                    <a:pt x="9158" y="18368"/>
                    <a:pt x="9328" y="18874"/>
                    <a:pt x="9602" y="19240"/>
                  </a:cubicBezTo>
                  <a:cubicBezTo>
                    <a:pt x="9876" y="19606"/>
                    <a:pt x="10255" y="19832"/>
                    <a:pt x="10673" y="19832"/>
                  </a:cubicBezTo>
                  <a:lnTo>
                    <a:pt x="16728" y="19832"/>
                  </a:lnTo>
                  <a:lnTo>
                    <a:pt x="19181" y="21600"/>
                  </a:lnTo>
                  <a:lnTo>
                    <a:pt x="19181" y="19832"/>
                  </a:lnTo>
                  <a:lnTo>
                    <a:pt x="20085" y="19832"/>
                  </a:lnTo>
                  <a:cubicBezTo>
                    <a:pt x="20503" y="19832"/>
                    <a:pt x="20882" y="19606"/>
                    <a:pt x="21156" y="19240"/>
                  </a:cubicBezTo>
                  <a:cubicBezTo>
                    <a:pt x="21430" y="18874"/>
                    <a:pt x="21600" y="18368"/>
                    <a:pt x="21600" y="17810"/>
                  </a:cubicBezTo>
                  <a:lnTo>
                    <a:pt x="21600" y="10554"/>
                  </a:lnTo>
                  <a:cubicBezTo>
                    <a:pt x="21600" y="9996"/>
                    <a:pt x="21430" y="9490"/>
                    <a:pt x="21156" y="9125"/>
                  </a:cubicBezTo>
                  <a:cubicBezTo>
                    <a:pt x="20882" y="8759"/>
                    <a:pt x="20503" y="8532"/>
                    <a:pt x="20085" y="8532"/>
                  </a:cubicBezTo>
                  <a:close/>
                  <a:moveTo>
                    <a:pt x="6912" y="15450"/>
                  </a:moveTo>
                  <a:lnTo>
                    <a:pt x="6689" y="15450"/>
                  </a:lnTo>
                  <a:lnTo>
                    <a:pt x="2592" y="18372"/>
                  </a:lnTo>
                  <a:lnTo>
                    <a:pt x="2592" y="15450"/>
                  </a:lnTo>
                  <a:lnTo>
                    <a:pt x="2074" y="15450"/>
                  </a:lnTo>
                  <a:cubicBezTo>
                    <a:pt x="1501" y="15450"/>
                    <a:pt x="983" y="15141"/>
                    <a:pt x="607" y="14640"/>
                  </a:cubicBezTo>
                  <a:cubicBezTo>
                    <a:pt x="232" y="14139"/>
                    <a:pt x="0" y="13447"/>
                    <a:pt x="0" y="12683"/>
                  </a:cubicBezTo>
                  <a:lnTo>
                    <a:pt x="0" y="2767"/>
                  </a:lnTo>
                  <a:cubicBezTo>
                    <a:pt x="0" y="2003"/>
                    <a:pt x="232" y="1311"/>
                    <a:pt x="607" y="811"/>
                  </a:cubicBezTo>
                  <a:cubicBezTo>
                    <a:pt x="983" y="310"/>
                    <a:pt x="1501" y="0"/>
                    <a:pt x="2074" y="0"/>
                  </a:cubicBezTo>
                  <a:lnTo>
                    <a:pt x="15034" y="0"/>
                  </a:lnTo>
                  <a:cubicBezTo>
                    <a:pt x="15606" y="0"/>
                    <a:pt x="16125" y="310"/>
                    <a:pt x="16500" y="811"/>
                  </a:cubicBezTo>
                  <a:cubicBezTo>
                    <a:pt x="16875" y="1311"/>
                    <a:pt x="17107" y="2003"/>
                    <a:pt x="17107" y="2767"/>
                  </a:cubicBezTo>
                  <a:lnTo>
                    <a:pt x="17107" y="4381"/>
                  </a:lnTo>
                  <a:lnTo>
                    <a:pt x="17107" y="8532"/>
                  </a:lnTo>
                  <a:lnTo>
                    <a:pt x="17107" y="12676"/>
                  </a:lnTo>
                  <a:cubicBezTo>
                    <a:pt x="17107" y="13441"/>
                    <a:pt x="16886" y="14134"/>
                    <a:pt x="16522" y="14637"/>
                  </a:cubicBezTo>
                  <a:cubicBezTo>
                    <a:pt x="16159" y="15139"/>
                    <a:pt x="15651" y="15450"/>
                    <a:pt x="15079" y="15450"/>
                  </a:cubicBezTo>
                  <a:lnTo>
                    <a:pt x="9158" y="15450"/>
                  </a:lnTo>
                  <a:lnTo>
                    <a:pt x="6912" y="15450"/>
                  </a:ln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3" name="Shape 34219">
              <a:extLst>
                <a:ext uri="{FF2B5EF4-FFF2-40B4-BE49-F238E27FC236}">
                  <a16:creationId xmlns:a16="http://schemas.microsoft.com/office/drawing/2014/main" id="{0C66A6C3-63D2-F0BA-F015-61AAA11211DC}"/>
                </a:ext>
              </a:extLst>
            </p:cNvPr>
            <p:cNvSpPr/>
            <p:nvPr/>
          </p:nvSpPr>
          <p:spPr>
            <a:xfrm>
              <a:off x="11196245" y="10659511"/>
              <a:ext cx="389798" cy="479750"/>
            </a:xfrm>
            <a:custGeom>
              <a:avLst/>
              <a:gdLst/>
              <a:ahLst/>
              <a:cxnLst>
                <a:cxn ang="0">
                  <a:pos x="wd2" y="hd2"/>
                </a:cxn>
                <a:cxn ang="5400000">
                  <a:pos x="wd2" y="hd2"/>
                </a:cxn>
                <a:cxn ang="10800000">
                  <a:pos x="wd2" y="hd2"/>
                </a:cxn>
                <a:cxn ang="16200000">
                  <a:pos x="wd2" y="hd2"/>
                </a:cxn>
              </a:cxnLst>
              <a:rect l="0" t="0" r="r" b="b"/>
              <a:pathLst>
                <a:path w="21600" h="21600" extrusionOk="0">
                  <a:moveTo>
                    <a:pt x="831" y="0"/>
                  </a:moveTo>
                  <a:cubicBezTo>
                    <a:pt x="372" y="0"/>
                    <a:pt x="0" y="302"/>
                    <a:pt x="0" y="675"/>
                  </a:cubicBezTo>
                  <a:cubicBezTo>
                    <a:pt x="0" y="1048"/>
                    <a:pt x="372" y="1350"/>
                    <a:pt x="831" y="1350"/>
                  </a:cubicBezTo>
                  <a:lnTo>
                    <a:pt x="20769" y="1350"/>
                  </a:lnTo>
                  <a:cubicBezTo>
                    <a:pt x="21228" y="1350"/>
                    <a:pt x="21600" y="1048"/>
                    <a:pt x="21600" y="675"/>
                  </a:cubicBezTo>
                  <a:cubicBezTo>
                    <a:pt x="21600" y="302"/>
                    <a:pt x="21228" y="0"/>
                    <a:pt x="20769" y="0"/>
                  </a:cubicBezTo>
                  <a:lnTo>
                    <a:pt x="831" y="0"/>
                  </a:lnTo>
                  <a:close/>
                  <a:moveTo>
                    <a:pt x="831" y="2025"/>
                  </a:moveTo>
                  <a:lnTo>
                    <a:pt x="831" y="15525"/>
                  </a:lnTo>
                  <a:cubicBezTo>
                    <a:pt x="831" y="15525"/>
                    <a:pt x="20769" y="15525"/>
                    <a:pt x="20769" y="15525"/>
                  </a:cubicBezTo>
                  <a:lnTo>
                    <a:pt x="20769" y="2025"/>
                  </a:lnTo>
                  <a:lnTo>
                    <a:pt x="831" y="2025"/>
                  </a:lnTo>
                  <a:close/>
                  <a:moveTo>
                    <a:pt x="15785" y="4050"/>
                  </a:moveTo>
                  <a:lnTo>
                    <a:pt x="18277" y="4050"/>
                  </a:lnTo>
                  <a:cubicBezTo>
                    <a:pt x="18277" y="4050"/>
                    <a:pt x="18277" y="13500"/>
                    <a:pt x="18277" y="13500"/>
                  </a:cubicBezTo>
                  <a:lnTo>
                    <a:pt x="15785" y="13500"/>
                  </a:lnTo>
                  <a:lnTo>
                    <a:pt x="15785" y="4050"/>
                  </a:lnTo>
                  <a:close/>
                  <a:moveTo>
                    <a:pt x="7477" y="6750"/>
                  </a:moveTo>
                  <a:lnTo>
                    <a:pt x="9969" y="6750"/>
                  </a:lnTo>
                  <a:cubicBezTo>
                    <a:pt x="9969" y="6750"/>
                    <a:pt x="9969" y="13500"/>
                    <a:pt x="9969" y="13500"/>
                  </a:cubicBezTo>
                  <a:lnTo>
                    <a:pt x="7477" y="13500"/>
                  </a:lnTo>
                  <a:lnTo>
                    <a:pt x="7477" y="6750"/>
                  </a:lnTo>
                  <a:close/>
                  <a:moveTo>
                    <a:pt x="11631" y="8775"/>
                  </a:moveTo>
                  <a:lnTo>
                    <a:pt x="14123" y="8775"/>
                  </a:lnTo>
                  <a:cubicBezTo>
                    <a:pt x="14123" y="8775"/>
                    <a:pt x="14123" y="13500"/>
                    <a:pt x="14123" y="13500"/>
                  </a:cubicBezTo>
                  <a:lnTo>
                    <a:pt x="11631" y="13500"/>
                  </a:lnTo>
                  <a:lnTo>
                    <a:pt x="11631" y="8775"/>
                  </a:lnTo>
                  <a:close/>
                  <a:moveTo>
                    <a:pt x="3323" y="10800"/>
                  </a:moveTo>
                  <a:lnTo>
                    <a:pt x="5815" y="10800"/>
                  </a:lnTo>
                  <a:cubicBezTo>
                    <a:pt x="5815" y="10800"/>
                    <a:pt x="5815" y="13500"/>
                    <a:pt x="5815" y="13500"/>
                  </a:cubicBezTo>
                  <a:lnTo>
                    <a:pt x="3323" y="13500"/>
                  </a:lnTo>
                  <a:lnTo>
                    <a:pt x="3323" y="10800"/>
                  </a:lnTo>
                  <a:close/>
                  <a:moveTo>
                    <a:pt x="3323" y="16200"/>
                  </a:moveTo>
                  <a:lnTo>
                    <a:pt x="1662" y="21600"/>
                  </a:lnTo>
                  <a:lnTo>
                    <a:pt x="3323" y="21600"/>
                  </a:lnTo>
                  <a:lnTo>
                    <a:pt x="4985" y="16200"/>
                  </a:lnTo>
                  <a:cubicBezTo>
                    <a:pt x="4985" y="16200"/>
                    <a:pt x="3323" y="16200"/>
                    <a:pt x="3323" y="16200"/>
                  </a:cubicBezTo>
                  <a:close/>
                  <a:moveTo>
                    <a:pt x="9969" y="16200"/>
                  </a:moveTo>
                  <a:lnTo>
                    <a:pt x="9969" y="21600"/>
                  </a:lnTo>
                  <a:lnTo>
                    <a:pt x="11615" y="21600"/>
                  </a:lnTo>
                  <a:cubicBezTo>
                    <a:pt x="11615" y="21600"/>
                    <a:pt x="11631" y="16200"/>
                    <a:pt x="11631" y="16200"/>
                  </a:cubicBezTo>
                  <a:lnTo>
                    <a:pt x="9969" y="16200"/>
                  </a:lnTo>
                  <a:close/>
                  <a:moveTo>
                    <a:pt x="16615" y="16200"/>
                  </a:moveTo>
                  <a:lnTo>
                    <a:pt x="18277" y="21600"/>
                  </a:lnTo>
                  <a:lnTo>
                    <a:pt x="19938" y="21600"/>
                  </a:lnTo>
                  <a:cubicBezTo>
                    <a:pt x="19938" y="21600"/>
                    <a:pt x="18277" y="16200"/>
                    <a:pt x="18277" y="16200"/>
                  </a:cubicBezTo>
                  <a:lnTo>
                    <a:pt x="16615" y="1620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54" name="Shape 34220">
              <a:extLst>
                <a:ext uri="{FF2B5EF4-FFF2-40B4-BE49-F238E27FC236}">
                  <a16:creationId xmlns:a16="http://schemas.microsoft.com/office/drawing/2014/main" id="{23AEB80C-7CCE-CCB6-29CA-778624C78CFC}"/>
                </a:ext>
              </a:extLst>
            </p:cNvPr>
            <p:cNvSpPr/>
            <p:nvPr/>
          </p:nvSpPr>
          <p:spPr>
            <a:xfrm>
              <a:off x="12966575" y="6806559"/>
              <a:ext cx="589416" cy="778290"/>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5" name="Shape 34221">
              <a:extLst>
                <a:ext uri="{FF2B5EF4-FFF2-40B4-BE49-F238E27FC236}">
                  <a16:creationId xmlns:a16="http://schemas.microsoft.com/office/drawing/2014/main" id="{81701DFC-595E-9A3F-2738-AAA1A24AA083}"/>
                </a:ext>
              </a:extLst>
            </p:cNvPr>
            <p:cNvSpPr/>
            <p:nvPr/>
          </p:nvSpPr>
          <p:spPr>
            <a:xfrm>
              <a:off x="11922329" y="9268053"/>
              <a:ext cx="476450" cy="629124"/>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6" name="Shape 34222">
              <a:extLst>
                <a:ext uri="{FF2B5EF4-FFF2-40B4-BE49-F238E27FC236}">
                  <a16:creationId xmlns:a16="http://schemas.microsoft.com/office/drawing/2014/main" id="{513F8701-84F3-14BA-ACF0-EF60A80D05EA}"/>
                </a:ext>
              </a:extLst>
            </p:cNvPr>
            <p:cNvSpPr/>
            <p:nvPr/>
          </p:nvSpPr>
          <p:spPr>
            <a:xfrm>
              <a:off x="11993787" y="10946019"/>
              <a:ext cx="447534" cy="447468"/>
            </a:xfrm>
            <a:custGeom>
              <a:avLst/>
              <a:gdLst/>
              <a:ahLst/>
              <a:cxnLst>
                <a:cxn ang="0">
                  <a:pos x="wd2" y="hd2"/>
                </a:cxn>
                <a:cxn ang="5400000">
                  <a:pos x="wd2" y="hd2"/>
                </a:cxn>
                <a:cxn ang="10800000">
                  <a:pos x="wd2" y="hd2"/>
                </a:cxn>
                <a:cxn ang="16200000">
                  <a:pos x="wd2" y="hd2"/>
                </a:cxn>
              </a:cxnLst>
              <a:rect l="0" t="0" r="r" b="b"/>
              <a:pathLst>
                <a:path w="21317" h="21317" extrusionOk="0">
                  <a:moveTo>
                    <a:pt x="7792" y="27"/>
                  </a:moveTo>
                  <a:cubicBezTo>
                    <a:pt x="7372" y="141"/>
                    <a:pt x="7122" y="573"/>
                    <a:pt x="7234" y="993"/>
                  </a:cubicBezTo>
                  <a:lnTo>
                    <a:pt x="7836" y="3244"/>
                  </a:lnTo>
                  <a:cubicBezTo>
                    <a:pt x="8357" y="3022"/>
                    <a:pt x="8864" y="2878"/>
                    <a:pt x="9346" y="2789"/>
                  </a:cubicBezTo>
                  <a:lnTo>
                    <a:pt x="8758" y="585"/>
                  </a:lnTo>
                  <a:cubicBezTo>
                    <a:pt x="8645" y="164"/>
                    <a:pt x="8213" y="-85"/>
                    <a:pt x="7792" y="27"/>
                  </a:cubicBezTo>
                  <a:close/>
                  <a:moveTo>
                    <a:pt x="13442" y="41"/>
                  </a:moveTo>
                  <a:cubicBezTo>
                    <a:pt x="13020" y="-71"/>
                    <a:pt x="12588" y="179"/>
                    <a:pt x="12475" y="600"/>
                  </a:cubicBezTo>
                  <a:lnTo>
                    <a:pt x="11888" y="2784"/>
                  </a:lnTo>
                  <a:cubicBezTo>
                    <a:pt x="12441" y="2878"/>
                    <a:pt x="12949" y="3027"/>
                    <a:pt x="13408" y="3203"/>
                  </a:cubicBezTo>
                  <a:lnTo>
                    <a:pt x="13998" y="1007"/>
                  </a:lnTo>
                  <a:cubicBezTo>
                    <a:pt x="14110" y="585"/>
                    <a:pt x="13862" y="154"/>
                    <a:pt x="13442" y="41"/>
                  </a:cubicBezTo>
                  <a:close/>
                  <a:moveTo>
                    <a:pt x="585" y="12411"/>
                  </a:moveTo>
                  <a:cubicBezTo>
                    <a:pt x="164" y="12524"/>
                    <a:pt x="-86" y="12956"/>
                    <a:pt x="27" y="13377"/>
                  </a:cubicBezTo>
                  <a:cubicBezTo>
                    <a:pt x="139" y="13798"/>
                    <a:pt x="571" y="14047"/>
                    <a:pt x="992" y="13934"/>
                  </a:cubicBezTo>
                  <a:lnTo>
                    <a:pt x="3181" y="13347"/>
                  </a:lnTo>
                  <a:cubicBezTo>
                    <a:pt x="3009" y="12885"/>
                    <a:pt x="2865" y="12376"/>
                    <a:pt x="2775" y="11823"/>
                  </a:cubicBezTo>
                  <a:cubicBezTo>
                    <a:pt x="2775" y="11823"/>
                    <a:pt x="585" y="12411"/>
                    <a:pt x="585" y="12411"/>
                  </a:cubicBezTo>
                  <a:close/>
                  <a:moveTo>
                    <a:pt x="1013" y="7169"/>
                  </a:moveTo>
                  <a:cubicBezTo>
                    <a:pt x="592" y="7056"/>
                    <a:pt x="160" y="7306"/>
                    <a:pt x="47" y="7727"/>
                  </a:cubicBezTo>
                  <a:cubicBezTo>
                    <a:pt x="-66" y="8148"/>
                    <a:pt x="184" y="8580"/>
                    <a:pt x="604" y="8692"/>
                  </a:cubicBezTo>
                  <a:lnTo>
                    <a:pt x="2805" y="9281"/>
                  </a:lnTo>
                  <a:cubicBezTo>
                    <a:pt x="2896" y="8799"/>
                    <a:pt x="3046" y="8293"/>
                    <a:pt x="3273" y="7773"/>
                  </a:cubicBezTo>
                  <a:cubicBezTo>
                    <a:pt x="3273" y="7773"/>
                    <a:pt x="1013" y="7169"/>
                    <a:pt x="1013" y="7169"/>
                  </a:cubicBezTo>
                  <a:close/>
                  <a:moveTo>
                    <a:pt x="2889" y="2841"/>
                  </a:moveTo>
                  <a:cubicBezTo>
                    <a:pt x="2581" y="3148"/>
                    <a:pt x="2580" y="3648"/>
                    <a:pt x="2888" y="3956"/>
                  </a:cubicBezTo>
                  <a:lnTo>
                    <a:pt x="4607" y="5675"/>
                  </a:lnTo>
                  <a:cubicBezTo>
                    <a:pt x="4732" y="5529"/>
                    <a:pt x="5572" y="4695"/>
                    <a:pt x="5727" y="4563"/>
                  </a:cubicBezTo>
                  <a:lnTo>
                    <a:pt x="4004" y="2840"/>
                  </a:lnTo>
                  <a:cubicBezTo>
                    <a:pt x="3696" y="2532"/>
                    <a:pt x="3197" y="2533"/>
                    <a:pt x="2889" y="2841"/>
                  </a:cubicBezTo>
                  <a:close/>
                  <a:moveTo>
                    <a:pt x="15285" y="5439"/>
                  </a:moveTo>
                  <a:cubicBezTo>
                    <a:pt x="13524" y="3930"/>
                    <a:pt x="9472" y="2164"/>
                    <a:pt x="5822" y="5814"/>
                  </a:cubicBezTo>
                  <a:cubicBezTo>
                    <a:pt x="5821" y="5815"/>
                    <a:pt x="5821" y="5815"/>
                    <a:pt x="5821" y="5816"/>
                  </a:cubicBezTo>
                  <a:cubicBezTo>
                    <a:pt x="5820" y="5816"/>
                    <a:pt x="5819" y="5817"/>
                    <a:pt x="5819" y="5817"/>
                  </a:cubicBezTo>
                  <a:cubicBezTo>
                    <a:pt x="5819" y="5818"/>
                    <a:pt x="5818" y="5818"/>
                    <a:pt x="5818" y="5819"/>
                  </a:cubicBezTo>
                  <a:cubicBezTo>
                    <a:pt x="5817" y="5819"/>
                    <a:pt x="5817" y="5820"/>
                    <a:pt x="5816" y="5820"/>
                  </a:cubicBezTo>
                  <a:cubicBezTo>
                    <a:pt x="2166" y="9471"/>
                    <a:pt x="3932" y="13524"/>
                    <a:pt x="5440" y="15285"/>
                  </a:cubicBezTo>
                  <a:cubicBezTo>
                    <a:pt x="6807" y="16868"/>
                    <a:pt x="9202" y="17222"/>
                    <a:pt x="9535" y="17322"/>
                  </a:cubicBezTo>
                  <a:cubicBezTo>
                    <a:pt x="10076" y="17484"/>
                    <a:pt x="12612" y="17632"/>
                    <a:pt x="13467" y="18402"/>
                  </a:cubicBezTo>
                  <a:cubicBezTo>
                    <a:pt x="14644" y="19461"/>
                    <a:pt x="14810" y="19354"/>
                    <a:pt x="15487" y="18942"/>
                  </a:cubicBezTo>
                  <a:cubicBezTo>
                    <a:pt x="16178" y="18522"/>
                    <a:pt x="18522" y="16178"/>
                    <a:pt x="18942" y="15487"/>
                  </a:cubicBezTo>
                  <a:cubicBezTo>
                    <a:pt x="19354" y="14810"/>
                    <a:pt x="19461" y="14644"/>
                    <a:pt x="18401" y="13467"/>
                  </a:cubicBezTo>
                  <a:cubicBezTo>
                    <a:pt x="17632" y="12612"/>
                    <a:pt x="17484" y="10075"/>
                    <a:pt x="17321" y="9534"/>
                  </a:cubicBezTo>
                  <a:cubicBezTo>
                    <a:pt x="17222" y="9201"/>
                    <a:pt x="16868" y="6805"/>
                    <a:pt x="15285" y="5439"/>
                  </a:cubicBezTo>
                  <a:close/>
                  <a:moveTo>
                    <a:pt x="20706" y="16780"/>
                  </a:moveTo>
                  <a:cubicBezTo>
                    <a:pt x="20530" y="16603"/>
                    <a:pt x="20243" y="16603"/>
                    <a:pt x="20066" y="16780"/>
                  </a:cubicBezTo>
                  <a:lnTo>
                    <a:pt x="16780" y="20067"/>
                  </a:lnTo>
                  <a:cubicBezTo>
                    <a:pt x="16603" y="20244"/>
                    <a:pt x="16603" y="20531"/>
                    <a:pt x="16780" y="20707"/>
                  </a:cubicBezTo>
                  <a:lnTo>
                    <a:pt x="16780" y="20707"/>
                  </a:lnTo>
                  <a:cubicBezTo>
                    <a:pt x="16956" y="20884"/>
                    <a:pt x="17243" y="20884"/>
                    <a:pt x="17419" y="20707"/>
                  </a:cubicBezTo>
                  <a:lnTo>
                    <a:pt x="20706" y="17420"/>
                  </a:lnTo>
                  <a:cubicBezTo>
                    <a:pt x="20883" y="17243"/>
                    <a:pt x="20883" y="16956"/>
                    <a:pt x="20706" y="16780"/>
                  </a:cubicBezTo>
                  <a:cubicBezTo>
                    <a:pt x="20706" y="16780"/>
                    <a:pt x="20706" y="16780"/>
                    <a:pt x="20706" y="16780"/>
                  </a:cubicBezTo>
                  <a:close/>
                  <a:moveTo>
                    <a:pt x="19833" y="15906"/>
                  </a:moveTo>
                  <a:cubicBezTo>
                    <a:pt x="19656" y="15729"/>
                    <a:pt x="19370" y="15730"/>
                    <a:pt x="19193" y="15906"/>
                  </a:cubicBezTo>
                  <a:lnTo>
                    <a:pt x="15906" y="19194"/>
                  </a:lnTo>
                  <a:cubicBezTo>
                    <a:pt x="15729" y="19370"/>
                    <a:pt x="15729" y="19657"/>
                    <a:pt x="15906" y="19833"/>
                  </a:cubicBezTo>
                  <a:lnTo>
                    <a:pt x="15906" y="19833"/>
                  </a:lnTo>
                  <a:cubicBezTo>
                    <a:pt x="16082" y="20010"/>
                    <a:pt x="16369" y="20010"/>
                    <a:pt x="16546" y="19833"/>
                  </a:cubicBezTo>
                  <a:lnTo>
                    <a:pt x="19833" y="16546"/>
                  </a:lnTo>
                  <a:cubicBezTo>
                    <a:pt x="20009" y="16369"/>
                    <a:pt x="20009" y="16083"/>
                    <a:pt x="19833" y="15906"/>
                  </a:cubicBezTo>
                  <a:cubicBezTo>
                    <a:pt x="19833" y="15906"/>
                    <a:pt x="19833" y="15906"/>
                    <a:pt x="19833" y="15906"/>
                  </a:cubicBezTo>
                  <a:close/>
                  <a:moveTo>
                    <a:pt x="17867" y="20727"/>
                  </a:moveTo>
                  <a:lnTo>
                    <a:pt x="20726" y="17867"/>
                  </a:lnTo>
                  <a:cubicBezTo>
                    <a:pt x="21514" y="18656"/>
                    <a:pt x="21513" y="19935"/>
                    <a:pt x="20724" y="20724"/>
                  </a:cubicBezTo>
                  <a:cubicBezTo>
                    <a:pt x="19934" y="21514"/>
                    <a:pt x="18655" y="21515"/>
                    <a:pt x="17867" y="20727"/>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7" name="Shape 34223">
              <a:extLst>
                <a:ext uri="{FF2B5EF4-FFF2-40B4-BE49-F238E27FC236}">
                  <a16:creationId xmlns:a16="http://schemas.microsoft.com/office/drawing/2014/main" id="{669F5F77-ADD6-B162-0166-D72EC8E7733A}"/>
                </a:ext>
              </a:extLst>
            </p:cNvPr>
            <p:cNvSpPr/>
            <p:nvPr/>
          </p:nvSpPr>
          <p:spPr>
            <a:xfrm>
              <a:off x="11828592" y="12064076"/>
              <a:ext cx="446404" cy="410140"/>
            </a:xfrm>
            <a:custGeom>
              <a:avLst/>
              <a:gdLst/>
              <a:ahLst/>
              <a:cxnLst>
                <a:cxn ang="0">
                  <a:pos x="wd2" y="hd2"/>
                </a:cxn>
                <a:cxn ang="5400000">
                  <a:pos x="wd2" y="hd2"/>
                </a:cxn>
                <a:cxn ang="10800000">
                  <a:pos x="wd2" y="hd2"/>
                </a:cxn>
                <a:cxn ang="16200000">
                  <a:pos x="wd2" y="hd2"/>
                </a:cxn>
              </a:cxnLst>
              <a:rect l="0" t="0" r="r" b="b"/>
              <a:pathLst>
                <a:path w="20391" h="21254" extrusionOk="0">
                  <a:moveTo>
                    <a:pt x="14806" y="20802"/>
                  </a:moveTo>
                  <a:cubicBezTo>
                    <a:pt x="16771" y="20078"/>
                    <a:pt x="18497" y="18506"/>
                    <a:pt x="19509" y="16252"/>
                  </a:cubicBezTo>
                  <a:cubicBezTo>
                    <a:pt x="21534" y="11744"/>
                    <a:pt x="19954" y="6226"/>
                    <a:pt x="15980" y="3929"/>
                  </a:cubicBezTo>
                  <a:cubicBezTo>
                    <a:pt x="12750" y="2062"/>
                    <a:pt x="8929" y="2896"/>
                    <a:pt x="6525" y="5695"/>
                  </a:cubicBezTo>
                  <a:cubicBezTo>
                    <a:pt x="6494" y="5619"/>
                    <a:pt x="6446" y="5549"/>
                    <a:pt x="6387" y="5489"/>
                  </a:cubicBezTo>
                  <a:lnTo>
                    <a:pt x="1181" y="167"/>
                  </a:lnTo>
                  <a:cubicBezTo>
                    <a:pt x="946" y="-73"/>
                    <a:pt x="582" y="-53"/>
                    <a:pt x="370" y="214"/>
                  </a:cubicBezTo>
                  <a:lnTo>
                    <a:pt x="146" y="499"/>
                  </a:lnTo>
                  <a:cubicBezTo>
                    <a:pt x="-66" y="765"/>
                    <a:pt x="-44" y="1177"/>
                    <a:pt x="192" y="1417"/>
                  </a:cubicBezTo>
                  <a:lnTo>
                    <a:pt x="5396" y="6733"/>
                  </a:lnTo>
                  <a:cubicBezTo>
                    <a:pt x="5480" y="6818"/>
                    <a:pt x="5581" y="6859"/>
                    <a:pt x="5685" y="6879"/>
                  </a:cubicBezTo>
                  <a:cubicBezTo>
                    <a:pt x="5480" y="7214"/>
                    <a:pt x="5286" y="7560"/>
                    <a:pt x="5118" y="7933"/>
                  </a:cubicBezTo>
                  <a:cubicBezTo>
                    <a:pt x="3093" y="12441"/>
                    <a:pt x="4673" y="17959"/>
                    <a:pt x="8647" y="20256"/>
                  </a:cubicBezTo>
                  <a:cubicBezTo>
                    <a:pt x="10634" y="21405"/>
                    <a:pt x="12840" y="21527"/>
                    <a:pt x="14806" y="20802"/>
                  </a:cubicBezTo>
                  <a:close/>
                  <a:moveTo>
                    <a:pt x="14414" y="19435"/>
                  </a:moveTo>
                  <a:cubicBezTo>
                    <a:pt x="12758" y="20045"/>
                    <a:pt x="10896" y="19937"/>
                    <a:pt x="9221" y="18969"/>
                  </a:cubicBezTo>
                  <a:cubicBezTo>
                    <a:pt x="5873" y="17034"/>
                    <a:pt x="4542" y="12385"/>
                    <a:pt x="6248" y="8586"/>
                  </a:cubicBezTo>
                  <a:cubicBezTo>
                    <a:pt x="7954" y="4788"/>
                    <a:pt x="12052" y="3277"/>
                    <a:pt x="15400" y="5212"/>
                  </a:cubicBezTo>
                  <a:cubicBezTo>
                    <a:pt x="18748" y="7148"/>
                    <a:pt x="20080" y="11797"/>
                    <a:pt x="18374" y="15596"/>
                  </a:cubicBezTo>
                  <a:cubicBezTo>
                    <a:pt x="17521" y="17495"/>
                    <a:pt x="16070" y="18824"/>
                    <a:pt x="14414" y="19435"/>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58" name="Shape 34224">
              <a:extLst>
                <a:ext uri="{FF2B5EF4-FFF2-40B4-BE49-F238E27FC236}">
                  <a16:creationId xmlns:a16="http://schemas.microsoft.com/office/drawing/2014/main" id="{2A34FEB1-6A68-6F25-3685-1694CE12D101}"/>
                </a:ext>
              </a:extLst>
            </p:cNvPr>
            <p:cNvSpPr/>
            <p:nvPr/>
          </p:nvSpPr>
          <p:spPr>
            <a:xfrm>
              <a:off x="11467012" y="10972393"/>
              <a:ext cx="358632" cy="692850"/>
            </a:xfrm>
            <a:custGeom>
              <a:avLst/>
              <a:gdLst/>
              <a:ahLst/>
              <a:cxnLst>
                <a:cxn ang="0">
                  <a:pos x="wd2" y="hd2"/>
                </a:cxn>
                <a:cxn ang="5400000">
                  <a:pos x="wd2" y="hd2"/>
                </a:cxn>
                <a:cxn ang="10800000">
                  <a:pos x="wd2" y="hd2"/>
                </a:cxn>
                <a:cxn ang="16200000">
                  <a:pos x="wd2" y="hd2"/>
                </a:cxn>
              </a:cxnLst>
              <a:rect l="0" t="0" r="r" b="b"/>
              <a:pathLst>
                <a:path w="21436" h="21532" extrusionOk="0">
                  <a:moveTo>
                    <a:pt x="17698" y="0"/>
                  </a:moveTo>
                  <a:lnTo>
                    <a:pt x="16138" y="1685"/>
                  </a:lnTo>
                  <a:cubicBezTo>
                    <a:pt x="16052" y="1663"/>
                    <a:pt x="15626" y="1553"/>
                    <a:pt x="15626" y="1553"/>
                  </a:cubicBezTo>
                  <a:lnTo>
                    <a:pt x="14403" y="2878"/>
                  </a:lnTo>
                  <a:lnTo>
                    <a:pt x="14914" y="3010"/>
                  </a:lnTo>
                  <a:lnTo>
                    <a:pt x="14546" y="3408"/>
                  </a:lnTo>
                  <a:lnTo>
                    <a:pt x="2184" y="16751"/>
                  </a:lnTo>
                  <a:cubicBezTo>
                    <a:pt x="1744" y="17225"/>
                    <a:pt x="202" y="19746"/>
                    <a:pt x="516" y="20547"/>
                  </a:cubicBezTo>
                  <a:cubicBezTo>
                    <a:pt x="560" y="20662"/>
                    <a:pt x="644" y="20742"/>
                    <a:pt x="773" y="20775"/>
                  </a:cubicBezTo>
                  <a:cubicBezTo>
                    <a:pt x="1807" y="21040"/>
                    <a:pt x="5426" y="18252"/>
                    <a:pt x="5928" y="17710"/>
                  </a:cubicBezTo>
                  <a:lnTo>
                    <a:pt x="18283" y="4367"/>
                  </a:lnTo>
                  <a:lnTo>
                    <a:pt x="18652" y="3969"/>
                  </a:lnTo>
                  <a:lnTo>
                    <a:pt x="19186" y="4106"/>
                  </a:lnTo>
                  <a:lnTo>
                    <a:pt x="14380" y="9291"/>
                  </a:lnTo>
                  <a:lnTo>
                    <a:pt x="15147" y="9488"/>
                  </a:lnTo>
                  <a:lnTo>
                    <a:pt x="21176" y="2979"/>
                  </a:lnTo>
                  <a:cubicBezTo>
                    <a:pt x="21176" y="2979"/>
                    <a:pt x="20341" y="2767"/>
                    <a:pt x="19876" y="2647"/>
                  </a:cubicBezTo>
                  <a:lnTo>
                    <a:pt x="21436" y="963"/>
                  </a:lnTo>
                  <a:cubicBezTo>
                    <a:pt x="21436" y="963"/>
                    <a:pt x="17698" y="0"/>
                    <a:pt x="17698" y="0"/>
                  </a:cubicBezTo>
                  <a:close/>
                  <a:moveTo>
                    <a:pt x="516" y="20547"/>
                  </a:moveTo>
                  <a:cubicBezTo>
                    <a:pt x="504" y="20509"/>
                    <a:pt x="483" y="20481"/>
                    <a:pt x="479" y="20436"/>
                  </a:cubicBezTo>
                  <a:lnTo>
                    <a:pt x="223" y="20708"/>
                  </a:lnTo>
                  <a:cubicBezTo>
                    <a:pt x="120" y="20820"/>
                    <a:pt x="-164" y="21449"/>
                    <a:pt x="129" y="21525"/>
                  </a:cubicBezTo>
                  <a:cubicBezTo>
                    <a:pt x="423" y="21600"/>
                    <a:pt x="1188" y="21095"/>
                    <a:pt x="1291" y="20984"/>
                  </a:cubicBezTo>
                  <a:lnTo>
                    <a:pt x="1546" y="20707"/>
                  </a:lnTo>
                  <a:cubicBezTo>
                    <a:pt x="1228" y="20825"/>
                    <a:pt x="959" y="20878"/>
                    <a:pt x="774" y="20830"/>
                  </a:cubicBezTo>
                  <a:cubicBezTo>
                    <a:pt x="630" y="20793"/>
                    <a:pt x="555" y="20685"/>
                    <a:pt x="516" y="20547"/>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59" name="Shape 34225">
              <a:extLst>
                <a:ext uri="{FF2B5EF4-FFF2-40B4-BE49-F238E27FC236}">
                  <a16:creationId xmlns:a16="http://schemas.microsoft.com/office/drawing/2014/main" id="{3490BBCE-C5D5-7B6E-7A00-797D8846355F}"/>
                </a:ext>
              </a:extLst>
            </p:cNvPr>
            <p:cNvSpPr/>
            <p:nvPr/>
          </p:nvSpPr>
          <p:spPr>
            <a:xfrm>
              <a:off x="12788908" y="11202698"/>
              <a:ext cx="425116" cy="118066"/>
            </a:xfrm>
            <a:custGeom>
              <a:avLst/>
              <a:gdLst/>
              <a:ahLst/>
              <a:cxnLst>
                <a:cxn ang="0">
                  <a:pos x="wd2" y="hd2"/>
                </a:cxn>
                <a:cxn ang="5400000">
                  <a:pos x="wd2" y="hd2"/>
                </a:cxn>
                <a:cxn ang="10800000">
                  <a:pos x="wd2" y="hd2"/>
                </a:cxn>
                <a:cxn ang="16200000">
                  <a:pos x="wd2" y="hd2"/>
                </a:cxn>
              </a:cxnLst>
              <a:rect l="0" t="0" r="r" b="b"/>
              <a:pathLst>
                <a:path w="21600" h="21600" extrusionOk="0">
                  <a:moveTo>
                    <a:pt x="21600" y="14936"/>
                  </a:moveTo>
                  <a:lnTo>
                    <a:pt x="17631" y="5428"/>
                  </a:lnTo>
                  <a:lnTo>
                    <a:pt x="17241" y="21600"/>
                  </a:lnTo>
                  <a:cubicBezTo>
                    <a:pt x="17241" y="21600"/>
                    <a:pt x="21600" y="14936"/>
                    <a:pt x="21600" y="14936"/>
                  </a:cubicBezTo>
                  <a:close/>
                  <a:moveTo>
                    <a:pt x="16506" y="21368"/>
                  </a:moveTo>
                  <a:lnTo>
                    <a:pt x="16896" y="5196"/>
                  </a:lnTo>
                  <a:lnTo>
                    <a:pt x="3794" y="1071"/>
                  </a:lnTo>
                  <a:lnTo>
                    <a:pt x="3401" y="17243"/>
                  </a:lnTo>
                  <a:cubicBezTo>
                    <a:pt x="3401" y="17243"/>
                    <a:pt x="16506" y="21368"/>
                    <a:pt x="16506" y="21368"/>
                  </a:cubicBezTo>
                  <a:close/>
                  <a:moveTo>
                    <a:pt x="2651" y="17004"/>
                  </a:moveTo>
                  <a:lnTo>
                    <a:pt x="3043" y="832"/>
                  </a:lnTo>
                  <a:lnTo>
                    <a:pt x="393" y="0"/>
                  </a:lnTo>
                  <a:lnTo>
                    <a:pt x="0" y="16172"/>
                  </a:lnTo>
                  <a:cubicBezTo>
                    <a:pt x="0" y="16172"/>
                    <a:pt x="2651" y="17004"/>
                    <a:pt x="2651" y="1700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0" name="Shape 34226">
              <a:extLst>
                <a:ext uri="{FF2B5EF4-FFF2-40B4-BE49-F238E27FC236}">
                  <a16:creationId xmlns:a16="http://schemas.microsoft.com/office/drawing/2014/main" id="{040F01A4-33AF-01A6-4535-A8F83A4719EC}"/>
                </a:ext>
              </a:extLst>
            </p:cNvPr>
            <p:cNvSpPr/>
            <p:nvPr/>
          </p:nvSpPr>
          <p:spPr>
            <a:xfrm>
              <a:off x="12691600" y="7661988"/>
              <a:ext cx="463732" cy="545588"/>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1" name="Shape 34227">
              <a:extLst>
                <a:ext uri="{FF2B5EF4-FFF2-40B4-BE49-F238E27FC236}">
                  <a16:creationId xmlns:a16="http://schemas.microsoft.com/office/drawing/2014/main" id="{593658B6-C5DC-4C6D-EC98-B91FDF4F85E8}"/>
                </a:ext>
              </a:extLst>
            </p:cNvPr>
            <p:cNvSpPr/>
            <p:nvPr/>
          </p:nvSpPr>
          <p:spPr>
            <a:xfrm>
              <a:off x="11861838" y="8796062"/>
              <a:ext cx="359648" cy="359648"/>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4116" tIns="24116" rIns="24116" bIns="24116" numCol="1" anchor="ctr">
              <a:noAutofit/>
            </a:bodyPr>
            <a:lstStyle/>
            <a:p>
              <a:endParaRPr sz="2279">
                <a:latin typeface="Lato Light" panose="020F0502020204030203" pitchFamily="34" charset="0"/>
              </a:endParaRPr>
            </a:p>
          </p:txBody>
        </p:sp>
        <p:sp>
          <p:nvSpPr>
            <p:cNvPr id="62" name="Shape 34228">
              <a:extLst>
                <a:ext uri="{FF2B5EF4-FFF2-40B4-BE49-F238E27FC236}">
                  <a16:creationId xmlns:a16="http://schemas.microsoft.com/office/drawing/2014/main" id="{F6804CB1-81F7-5B73-8ADE-F08C0DD65D63}"/>
                </a:ext>
              </a:extLst>
            </p:cNvPr>
            <p:cNvSpPr/>
            <p:nvPr/>
          </p:nvSpPr>
          <p:spPr>
            <a:xfrm>
              <a:off x="9057539" y="5652197"/>
              <a:ext cx="565072" cy="648758"/>
            </a:xfrm>
            <a:custGeom>
              <a:avLst/>
              <a:gdLst/>
              <a:ahLst/>
              <a:cxnLst>
                <a:cxn ang="0">
                  <a:pos x="wd2" y="hd2"/>
                </a:cxn>
                <a:cxn ang="5400000">
                  <a:pos x="wd2" y="hd2"/>
                </a:cxn>
                <a:cxn ang="10800000">
                  <a:pos x="wd2" y="hd2"/>
                </a:cxn>
                <a:cxn ang="16200000">
                  <a:pos x="wd2" y="hd2"/>
                </a:cxn>
              </a:cxnLst>
              <a:rect l="0" t="0" r="r" b="b"/>
              <a:pathLst>
                <a:path w="21600" h="21600" extrusionOk="0">
                  <a:moveTo>
                    <a:pt x="11390" y="0"/>
                  </a:moveTo>
                  <a:lnTo>
                    <a:pt x="0" y="14168"/>
                  </a:lnTo>
                  <a:lnTo>
                    <a:pt x="12187" y="21600"/>
                  </a:lnTo>
                  <a:lnTo>
                    <a:pt x="21600" y="9890"/>
                  </a:lnTo>
                  <a:lnTo>
                    <a:pt x="20767" y="5719"/>
                  </a:lnTo>
                  <a:lnTo>
                    <a:pt x="11390" y="0"/>
                  </a:lnTo>
                  <a:close/>
                  <a:moveTo>
                    <a:pt x="12641" y="5625"/>
                  </a:moveTo>
                  <a:lnTo>
                    <a:pt x="17079" y="8332"/>
                  </a:lnTo>
                  <a:lnTo>
                    <a:pt x="16765" y="8723"/>
                  </a:lnTo>
                  <a:lnTo>
                    <a:pt x="12326" y="6016"/>
                  </a:lnTo>
                  <a:lnTo>
                    <a:pt x="12641" y="5625"/>
                  </a:lnTo>
                  <a:close/>
                  <a:moveTo>
                    <a:pt x="7323" y="8127"/>
                  </a:moveTo>
                  <a:lnTo>
                    <a:pt x="16200" y="13540"/>
                  </a:lnTo>
                  <a:lnTo>
                    <a:pt x="15894" y="13920"/>
                  </a:lnTo>
                  <a:lnTo>
                    <a:pt x="7017" y="8506"/>
                  </a:lnTo>
                  <a:lnTo>
                    <a:pt x="7323" y="8127"/>
                  </a:lnTo>
                  <a:close/>
                  <a:moveTo>
                    <a:pt x="5778" y="10048"/>
                  </a:moveTo>
                  <a:lnTo>
                    <a:pt x="14655" y="15462"/>
                  </a:lnTo>
                  <a:lnTo>
                    <a:pt x="14340" y="15853"/>
                  </a:lnTo>
                  <a:lnTo>
                    <a:pt x="5463" y="10439"/>
                  </a:lnTo>
                  <a:lnTo>
                    <a:pt x="5778" y="10048"/>
                  </a:lnTo>
                  <a:close/>
                  <a:moveTo>
                    <a:pt x="4233" y="11970"/>
                  </a:moveTo>
                  <a:lnTo>
                    <a:pt x="8671" y="14677"/>
                  </a:lnTo>
                  <a:lnTo>
                    <a:pt x="8357" y="15068"/>
                  </a:lnTo>
                  <a:lnTo>
                    <a:pt x="3918" y="12361"/>
                  </a:lnTo>
                  <a:lnTo>
                    <a:pt x="4233" y="1197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3" name="Shape 34229">
              <a:extLst>
                <a:ext uri="{FF2B5EF4-FFF2-40B4-BE49-F238E27FC236}">
                  <a16:creationId xmlns:a16="http://schemas.microsoft.com/office/drawing/2014/main" id="{31B00120-41F5-991C-5B45-38DCF9E6593E}"/>
                </a:ext>
              </a:extLst>
            </p:cNvPr>
            <p:cNvSpPr/>
            <p:nvPr/>
          </p:nvSpPr>
          <p:spPr>
            <a:xfrm>
              <a:off x="14430703" y="5653180"/>
              <a:ext cx="678286" cy="609678"/>
            </a:xfrm>
            <a:custGeom>
              <a:avLst/>
              <a:gdLst/>
              <a:ahLst/>
              <a:cxnLst>
                <a:cxn ang="0">
                  <a:pos x="wd2" y="hd2"/>
                </a:cxn>
                <a:cxn ang="5400000">
                  <a:pos x="wd2" y="hd2"/>
                </a:cxn>
                <a:cxn ang="10800000">
                  <a:pos x="wd2" y="hd2"/>
                </a:cxn>
                <a:cxn ang="16200000">
                  <a:pos x="wd2" y="hd2"/>
                </a:cxn>
              </a:cxnLst>
              <a:rect l="0" t="0" r="r" b="b"/>
              <a:pathLst>
                <a:path w="21255" h="21217" extrusionOk="0">
                  <a:moveTo>
                    <a:pt x="16218" y="16859"/>
                  </a:moveTo>
                  <a:lnTo>
                    <a:pt x="3455" y="9002"/>
                  </a:lnTo>
                  <a:lnTo>
                    <a:pt x="7275" y="1347"/>
                  </a:lnTo>
                  <a:lnTo>
                    <a:pt x="20039" y="9205"/>
                  </a:lnTo>
                  <a:cubicBezTo>
                    <a:pt x="20039" y="9205"/>
                    <a:pt x="16218" y="16859"/>
                    <a:pt x="16218" y="16859"/>
                  </a:cubicBezTo>
                  <a:close/>
                  <a:moveTo>
                    <a:pt x="20627" y="8027"/>
                  </a:moveTo>
                  <a:lnTo>
                    <a:pt x="7863" y="170"/>
                  </a:lnTo>
                  <a:cubicBezTo>
                    <a:pt x="7275" y="-192"/>
                    <a:pt x="6536" y="43"/>
                    <a:pt x="6211" y="693"/>
                  </a:cubicBezTo>
                  <a:cubicBezTo>
                    <a:pt x="6211" y="693"/>
                    <a:pt x="1803" y="9525"/>
                    <a:pt x="1814" y="9531"/>
                  </a:cubicBezTo>
                  <a:lnTo>
                    <a:pt x="16683" y="18684"/>
                  </a:lnTo>
                  <a:cubicBezTo>
                    <a:pt x="16694" y="18691"/>
                    <a:pt x="21103" y="9860"/>
                    <a:pt x="21103" y="9860"/>
                  </a:cubicBezTo>
                  <a:cubicBezTo>
                    <a:pt x="21427" y="9210"/>
                    <a:pt x="21214" y="8389"/>
                    <a:pt x="20627" y="8027"/>
                  </a:cubicBezTo>
                  <a:close/>
                  <a:moveTo>
                    <a:pt x="15519" y="21047"/>
                  </a:moveTo>
                  <a:lnTo>
                    <a:pt x="628" y="11880"/>
                  </a:lnTo>
                  <a:cubicBezTo>
                    <a:pt x="40" y="11518"/>
                    <a:pt x="-173" y="10698"/>
                    <a:pt x="152" y="10047"/>
                  </a:cubicBezTo>
                  <a:lnTo>
                    <a:pt x="446" y="9459"/>
                  </a:lnTo>
                  <a:lnTo>
                    <a:pt x="7359" y="13714"/>
                  </a:lnTo>
                  <a:lnTo>
                    <a:pt x="7065" y="14303"/>
                  </a:lnTo>
                  <a:lnTo>
                    <a:pt x="10256" y="16268"/>
                  </a:lnTo>
                  <a:lnTo>
                    <a:pt x="10550" y="15679"/>
                  </a:lnTo>
                  <a:lnTo>
                    <a:pt x="17464" y="19935"/>
                  </a:lnTo>
                  <a:lnTo>
                    <a:pt x="17170" y="20524"/>
                  </a:lnTo>
                  <a:cubicBezTo>
                    <a:pt x="16846" y="21174"/>
                    <a:pt x="16106" y="21408"/>
                    <a:pt x="15519" y="21047"/>
                  </a:cubicBezTo>
                  <a:cubicBezTo>
                    <a:pt x="15519" y="21047"/>
                    <a:pt x="15519" y="21047"/>
                    <a:pt x="15519" y="2104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4" name="Shape 34230">
              <a:extLst>
                <a:ext uri="{FF2B5EF4-FFF2-40B4-BE49-F238E27FC236}">
                  <a16:creationId xmlns:a16="http://schemas.microsoft.com/office/drawing/2014/main" id="{F21EEEC0-ED3C-D255-F30B-AFF4394368E9}"/>
                </a:ext>
              </a:extLst>
            </p:cNvPr>
            <p:cNvSpPr/>
            <p:nvPr/>
          </p:nvSpPr>
          <p:spPr>
            <a:xfrm>
              <a:off x="14217720" y="6775957"/>
              <a:ext cx="333440" cy="666878"/>
            </a:xfrm>
            <a:custGeom>
              <a:avLst/>
              <a:gdLst/>
              <a:ahLst/>
              <a:cxnLst>
                <a:cxn ang="0">
                  <a:pos x="wd2" y="hd2"/>
                </a:cxn>
                <a:cxn ang="5400000">
                  <a:pos x="wd2" y="hd2"/>
                </a:cxn>
                <a:cxn ang="10800000">
                  <a:pos x="wd2" y="hd2"/>
                </a:cxn>
                <a:cxn ang="16200000">
                  <a:pos x="wd2" y="hd2"/>
                </a:cxn>
              </a:cxnLst>
              <a:rect l="0" t="0" r="r" b="b"/>
              <a:pathLst>
                <a:path w="21600" h="21600" extrusionOk="0">
                  <a:moveTo>
                    <a:pt x="20250" y="4050"/>
                  </a:moveTo>
                  <a:lnTo>
                    <a:pt x="1618" y="4050"/>
                  </a:lnTo>
                  <a:lnTo>
                    <a:pt x="1618" y="17550"/>
                  </a:lnTo>
                  <a:lnTo>
                    <a:pt x="20250" y="17550"/>
                  </a:lnTo>
                  <a:lnTo>
                    <a:pt x="20250" y="4050"/>
                  </a:lnTo>
                  <a:close/>
                  <a:moveTo>
                    <a:pt x="14175" y="2025"/>
                  </a:moveTo>
                  <a:lnTo>
                    <a:pt x="7425" y="2025"/>
                  </a:lnTo>
                  <a:cubicBezTo>
                    <a:pt x="7052" y="2025"/>
                    <a:pt x="6750" y="2176"/>
                    <a:pt x="6750" y="2363"/>
                  </a:cubicBezTo>
                  <a:cubicBezTo>
                    <a:pt x="6750" y="2549"/>
                    <a:pt x="7052" y="2700"/>
                    <a:pt x="7425" y="2700"/>
                  </a:cubicBezTo>
                  <a:lnTo>
                    <a:pt x="14175" y="2700"/>
                  </a:lnTo>
                  <a:cubicBezTo>
                    <a:pt x="14548" y="2700"/>
                    <a:pt x="14850" y="2549"/>
                    <a:pt x="14850" y="2363"/>
                  </a:cubicBezTo>
                  <a:cubicBezTo>
                    <a:pt x="14850" y="2176"/>
                    <a:pt x="14548" y="2025"/>
                    <a:pt x="14175" y="2025"/>
                  </a:cubicBezTo>
                  <a:close/>
                  <a:moveTo>
                    <a:pt x="11475" y="20250"/>
                  </a:moveTo>
                  <a:cubicBezTo>
                    <a:pt x="12593" y="20250"/>
                    <a:pt x="13500" y="19797"/>
                    <a:pt x="13500" y="19238"/>
                  </a:cubicBezTo>
                  <a:cubicBezTo>
                    <a:pt x="13500" y="18678"/>
                    <a:pt x="12593" y="18225"/>
                    <a:pt x="11475" y="18225"/>
                  </a:cubicBezTo>
                  <a:cubicBezTo>
                    <a:pt x="10357" y="18225"/>
                    <a:pt x="9450" y="18678"/>
                    <a:pt x="9450" y="19238"/>
                  </a:cubicBezTo>
                  <a:cubicBezTo>
                    <a:pt x="9450" y="19797"/>
                    <a:pt x="10357" y="20250"/>
                    <a:pt x="11475" y="20250"/>
                  </a:cubicBezTo>
                  <a:close/>
                  <a:moveTo>
                    <a:pt x="18900" y="21600"/>
                  </a:moveTo>
                  <a:lnTo>
                    <a:pt x="2700" y="21600"/>
                  </a:lnTo>
                  <a:cubicBezTo>
                    <a:pt x="1954" y="21600"/>
                    <a:pt x="1279" y="21449"/>
                    <a:pt x="791" y="21205"/>
                  </a:cubicBezTo>
                  <a:cubicBezTo>
                    <a:pt x="302" y="20960"/>
                    <a:pt x="0" y="20623"/>
                    <a:pt x="0" y="20250"/>
                  </a:cubicBezTo>
                  <a:lnTo>
                    <a:pt x="0" y="1350"/>
                  </a:lnTo>
                  <a:cubicBezTo>
                    <a:pt x="0" y="977"/>
                    <a:pt x="302" y="640"/>
                    <a:pt x="791" y="395"/>
                  </a:cubicBezTo>
                  <a:cubicBezTo>
                    <a:pt x="1279" y="151"/>
                    <a:pt x="1954" y="0"/>
                    <a:pt x="2700" y="0"/>
                  </a:cubicBezTo>
                  <a:lnTo>
                    <a:pt x="18900" y="0"/>
                  </a:lnTo>
                  <a:cubicBezTo>
                    <a:pt x="19646" y="0"/>
                    <a:pt x="20321" y="151"/>
                    <a:pt x="20809" y="395"/>
                  </a:cubicBezTo>
                  <a:cubicBezTo>
                    <a:pt x="21298" y="640"/>
                    <a:pt x="21600" y="977"/>
                    <a:pt x="21600" y="1350"/>
                  </a:cubicBezTo>
                  <a:lnTo>
                    <a:pt x="21600" y="20250"/>
                  </a:lnTo>
                  <a:cubicBezTo>
                    <a:pt x="21600" y="20623"/>
                    <a:pt x="21298" y="20960"/>
                    <a:pt x="20809" y="21205"/>
                  </a:cubicBezTo>
                  <a:cubicBezTo>
                    <a:pt x="20321" y="21449"/>
                    <a:pt x="19646" y="21600"/>
                    <a:pt x="1890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5" name="Shape 34231">
              <a:extLst>
                <a:ext uri="{FF2B5EF4-FFF2-40B4-BE49-F238E27FC236}">
                  <a16:creationId xmlns:a16="http://schemas.microsoft.com/office/drawing/2014/main" id="{35403DDE-DDDF-A4A3-8574-550FC2348FA0}"/>
                </a:ext>
              </a:extLst>
            </p:cNvPr>
            <p:cNvSpPr/>
            <p:nvPr/>
          </p:nvSpPr>
          <p:spPr>
            <a:xfrm>
              <a:off x="12484545" y="3228311"/>
              <a:ext cx="428100" cy="347868"/>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6" name="Shape 34232">
              <a:extLst>
                <a:ext uri="{FF2B5EF4-FFF2-40B4-BE49-F238E27FC236}">
                  <a16:creationId xmlns:a16="http://schemas.microsoft.com/office/drawing/2014/main" id="{8F61DD08-9B59-C4E5-5769-A748751A1BA9}"/>
                </a:ext>
              </a:extLst>
            </p:cNvPr>
            <p:cNvSpPr/>
            <p:nvPr/>
          </p:nvSpPr>
          <p:spPr>
            <a:xfrm>
              <a:off x="11791096" y="11232556"/>
              <a:ext cx="130464" cy="279620"/>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7" name="Shape 34233">
              <a:extLst>
                <a:ext uri="{FF2B5EF4-FFF2-40B4-BE49-F238E27FC236}">
                  <a16:creationId xmlns:a16="http://schemas.microsoft.com/office/drawing/2014/main" id="{F426EA7D-907F-BA9B-E5E7-313BEA0B053D}"/>
                </a:ext>
              </a:extLst>
            </p:cNvPr>
            <p:cNvSpPr/>
            <p:nvPr/>
          </p:nvSpPr>
          <p:spPr>
            <a:xfrm>
              <a:off x="11084739" y="4570184"/>
              <a:ext cx="304442" cy="392838"/>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8" name="Shape 34234">
              <a:extLst>
                <a:ext uri="{FF2B5EF4-FFF2-40B4-BE49-F238E27FC236}">
                  <a16:creationId xmlns:a16="http://schemas.microsoft.com/office/drawing/2014/main" id="{5C22217F-FD1E-F18B-FF4B-82567CE5DCA1}"/>
                </a:ext>
              </a:extLst>
            </p:cNvPr>
            <p:cNvSpPr/>
            <p:nvPr/>
          </p:nvSpPr>
          <p:spPr>
            <a:xfrm>
              <a:off x="10710090" y="4258444"/>
              <a:ext cx="419088" cy="392838"/>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9" name="Shape 34235">
              <a:extLst>
                <a:ext uri="{FF2B5EF4-FFF2-40B4-BE49-F238E27FC236}">
                  <a16:creationId xmlns:a16="http://schemas.microsoft.com/office/drawing/2014/main" id="{BCDA1780-5369-5563-0622-D61A54BEC2DF}"/>
                </a:ext>
              </a:extLst>
            </p:cNvPr>
            <p:cNvSpPr/>
            <p:nvPr/>
          </p:nvSpPr>
          <p:spPr>
            <a:xfrm>
              <a:off x="9790862" y="4363012"/>
              <a:ext cx="428100" cy="347868"/>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0" name="Shape 34236">
              <a:extLst>
                <a:ext uri="{FF2B5EF4-FFF2-40B4-BE49-F238E27FC236}">
                  <a16:creationId xmlns:a16="http://schemas.microsoft.com/office/drawing/2014/main" id="{E9CF551E-55FB-2B85-2131-C5F843088F7F}"/>
                </a:ext>
              </a:extLst>
            </p:cNvPr>
            <p:cNvSpPr/>
            <p:nvPr/>
          </p:nvSpPr>
          <p:spPr>
            <a:xfrm>
              <a:off x="12210021" y="7840631"/>
              <a:ext cx="346528" cy="281582"/>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1" name="Shape 34237">
              <a:extLst>
                <a:ext uri="{FF2B5EF4-FFF2-40B4-BE49-F238E27FC236}">
                  <a16:creationId xmlns:a16="http://schemas.microsoft.com/office/drawing/2014/main" id="{FFACF437-3B44-946E-27E7-90C32C4D78CF}"/>
                </a:ext>
              </a:extLst>
            </p:cNvPr>
            <p:cNvSpPr/>
            <p:nvPr/>
          </p:nvSpPr>
          <p:spPr>
            <a:xfrm>
              <a:off x="11135547" y="9214788"/>
              <a:ext cx="163854" cy="351174"/>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2" name="Shape 34238">
              <a:extLst>
                <a:ext uri="{FF2B5EF4-FFF2-40B4-BE49-F238E27FC236}">
                  <a16:creationId xmlns:a16="http://schemas.microsoft.com/office/drawing/2014/main" id="{46C4E1FE-4F6F-924C-4B5B-0696E855EB77}"/>
                </a:ext>
              </a:extLst>
            </p:cNvPr>
            <p:cNvSpPr/>
            <p:nvPr/>
          </p:nvSpPr>
          <p:spPr>
            <a:xfrm>
              <a:off x="13971261" y="7721068"/>
              <a:ext cx="163854" cy="351174"/>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3" name="Shape 34239">
              <a:extLst>
                <a:ext uri="{FF2B5EF4-FFF2-40B4-BE49-F238E27FC236}">
                  <a16:creationId xmlns:a16="http://schemas.microsoft.com/office/drawing/2014/main" id="{D185878E-FF18-4A20-B9EE-176068B979C5}"/>
                </a:ext>
              </a:extLst>
            </p:cNvPr>
            <p:cNvSpPr/>
            <p:nvPr/>
          </p:nvSpPr>
          <p:spPr>
            <a:xfrm>
              <a:off x="13086555" y="5888971"/>
              <a:ext cx="304442" cy="392840"/>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4" name="Shape 34240">
              <a:extLst>
                <a:ext uri="{FF2B5EF4-FFF2-40B4-BE49-F238E27FC236}">
                  <a16:creationId xmlns:a16="http://schemas.microsoft.com/office/drawing/2014/main" id="{D93BD9D1-EEA1-0D4F-8600-3F3153A93B6C}"/>
                </a:ext>
              </a:extLst>
            </p:cNvPr>
            <p:cNvSpPr/>
            <p:nvPr/>
          </p:nvSpPr>
          <p:spPr>
            <a:xfrm>
              <a:off x="12718729" y="8725244"/>
              <a:ext cx="218222" cy="281582"/>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5" name="Shape 34241">
              <a:extLst>
                <a:ext uri="{FF2B5EF4-FFF2-40B4-BE49-F238E27FC236}">
                  <a16:creationId xmlns:a16="http://schemas.microsoft.com/office/drawing/2014/main" id="{D7E296EA-B791-A4EA-1153-80795F3A152B}"/>
                </a:ext>
              </a:extLst>
            </p:cNvPr>
            <p:cNvSpPr/>
            <p:nvPr/>
          </p:nvSpPr>
          <p:spPr>
            <a:xfrm>
              <a:off x="11342014" y="7513407"/>
              <a:ext cx="272208" cy="366146"/>
            </a:xfrm>
            <a:custGeom>
              <a:avLst/>
              <a:gdLst/>
              <a:ahLst/>
              <a:cxnLst>
                <a:cxn ang="0">
                  <a:pos x="wd2" y="hd2"/>
                </a:cxn>
                <a:cxn ang="5400000">
                  <a:pos x="wd2" y="hd2"/>
                </a:cxn>
                <a:cxn ang="10800000">
                  <a:pos x="wd2" y="hd2"/>
                </a:cxn>
                <a:cxn ang="16200000">
                  <a:pos x="wd2" y="hd2"/>
                </a:cxn>
              </a:cxnLst>
              <a:rect l="0" t="0" r="r" b="b"/>
              <a:pathLst>
                <a:path w="19711" h="20821" extrusionOk="0">
                  <a:moveTo>
                    <a:pt x="12499" y="13303"/>
                  </a:moveTo>
                  <a:cubicBezTo>
                    <a:pt x="13474" y="15282"/>
                    <a:pt x="14406" y="17194"/>
                    <a:pt x="14461" y="19063"/>
                  </a:cubicBezTo>
                  <a:cubicBezTo>
                    <a:pt x="14479" y="19633"/>
                    <a:pt x="14582" y="20311"/>
                    <a:pt x="14210" y="20821"/>
                  </a:cubicBezTo>
                  <a:cubicBezTo>
                    <a:pt x="10525" y="17927"/>
                    <a:pt x="9838" y="14212"/>
                    <a:pt x="8115" y="11051"/>
                  </a:cubicBezTo>
                  <a:cubicBezTo>
                    <a:pt x="6053" y="10122"/>
                    <a:pt x="4570" y="7480"/>
                    <a:pt x="6196" y="6231"/>
                  </a:cubicBezTo>
                  <a:cubicBezTo>
                    <a:pt x="8553" y="4419"/>
                    <a:pt x="10035" y="7345"/>
                    <a:pt x="10598" y="8773"/>
                  </a:cubicBezTo>
                  <a:cubicBezTo>
                    <a:pt x="10906" y="9555"/>
                    <a:pt x="10989" y="10416"/>
                    <a:pt x="11671" y="11094"/>
                  </a:cubicBezTo>
                  <a:cubicBezTo>
                    <a:pt x="13112" y="12518"/>
                    <a:pt x="15601" y="11340"/>
                    <a:pt x="16169" y="9915"/>
                  </a:cubicBezTo>
                  <a:cubicBezTo>
                    <a:pt x="16983" y="7871"/>
                    <a:pt x="15656" y="5461"/>
                    <a:pt x="13976" y="3794"/>
                  </a:cubicBezTo>
                  <a:cubicBezTo>
                    <a:pt x="11415" y="1258"/>
                    <a:pt x="6416" y="1969"/>
                    <a:pt x="3932" y="4842"/>
                  </a:cubicBezTo>
                  <a:cubicBezTo>
                    <a:pt x="2652" y="6323"/>
                    <a:pt x="2147" y="8434"/>
                    <a:pt x="3515" y="10418"/>
                  </a:cubicBezTo>
                  <a:cubicBezTo>
                    <a:pt x="4236" y="11464"/>
                    <a:pt x="5170" y="12108"/>
                    <a:pt x="6136" y="12400"/>
                  </a:cubicBezTo>
                  <a:cubicBezTo>
                    <a:pt x="6282" y="12445"/>
                    <a:pt x="6666" y="12458"/>
                    <a:pt x="6895" y="12661"/>
                  </a:cubicBezTo>
                  <a:cubicBezTo>
                    <a:pt x="7361" y="13074"/>
                    <a:pt x="7439" y="13745"/>
                    <a:pt x="7417" y="14249"/>
                  </a:cubicBezTo>
                  <a:cubicBezTo>
                    <a:pt x="5334" y="14777"/>
                    <a:pt x="3377" y="14023"/>
                    <a:pt x="1894" y="12542"/>
                  </a:cubicBezTo>
                  <a:cubicBezTo>
                    <a:pt x="-1478" y="9170"/>
                    <a:pt x="-94" y="4513"/>
                    <a:pt x="4049" y="1953"/>
                  </a:cubicBezTo>
                  <a:cubicBezTo>
                    <a:pt x="8469" y="-779"/>
                    <a:pt x="13971" y="-622"/>
                    <a:pt x="16956" y="2276"/>
                  </a:cubicBezTo>
                  <a:cubicBezTo>
                    <a:pt x="19176" y="4430"/>
                    <a:pt x="20122" y="7281"/>
                    <a:pt x="19546" y="9389"/>
                  </a:cubicBezTo>
                  <a:cubicBezTo>
                    <a:pt x="19112" y="10973"/>
                    <a:pt x="17273" y="13272"/>
                    <a:pt x="14367" y="13517"/>
                  </a:cubicBezTo>
                  <a:cubicBezTo>
                    <a:pt x="13720" y="13571"/>
                    <a:pt x="13303" y="13441"/>
                    <a:pt x="12499" y="1330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6" name="Shape 34242">
              <a:extLst>
                <a:ext uri="{FF2B5EF4-FFF2-40B4-BE49-F238E27FC236}">
                  <a16:creationId xmlns:a16="http://schemas.microsoft.com/office/drawing/2014/main" id="{7BD1DB59-0745-31CF-1150-1C2BA96B3818}"/>
                </a:ext>
              </a:extLst>
            </p:cNvPr>
            <p:cNvSpPr/>
            <p:nvPr/>
          </p:nvSpPr>
          <p:spPr>
            <a:xfrm>
              <a:off x="14349166" y="3565132"/>
              <a:ext cx="272152" cy="351174"/>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7" name="Shape 34243">
              <a:extLst>
                <a:ext uri="{FF2B5EF4-FFF2-40B4-BE49-F238E27FC236}">
                  <a16:creationId xmlns:a16="http://schemas.microsoft.com/office/drawing/2014/main" id="{859A2A30-578E-E0CF-9B88-4D0BBC19E5F0}"/>
                </a:ext>
              </a:extLst>
            </p:cNvPr>
            <p:cNvSpPr/>
            <p:nvPr/>
          </p:nvSpPr>
          <p:spPr>
            <a:xfrm>
              <a:off x="10163109" y="5879849"/>
              <a:ext cx="373972" cy="350548"/>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8" name="Shape 34244">
              <a:extLst>
                <a:ext uri="{FF2B5EF4-FFF2-40B4-BE49-F238E27FC236}">
                  <a16:creationId xmlns:a16="http://schemas.microsoft.com/office/drawing/2014/main" id="{829F2089-03A8-EB09-9794-C58301A25377}"/>
                </a:ext>
              </a:extLst>
            </p:cNvPr>
            <p:cNvSpPr/>
            <p:nvPr/>
          </p:nvSpPr>
          <p:spPr>
            <a:xfrm>
              <a:off x="14467934" y="6264695"/>
              <a:ext cx="347528" cy="3257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9" name="Shape 34245">
              <a:extLst>
                <a:ext uri="{FF2B5EF4-FFF2-40B4-BE49-F238E27FC236}">
                  <a16:creationId xmlns:a16="http://schemas.microsoft.com/office/drawing/2014/main" id="{5EF4459E-AC23-C524-D870-8EAA6CA4506F}"/>
                </a:ext>
              </a:extLst>
            </p:cNvPr>
            <p:cNvSpPr/>
            <p:nvPr/>
          </p:nvSpPr>
          <p:spPr>
            <a:xfrm>
              <a:off x="12353445" y="9604415"/>
              <a:ext cx="266020"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0" name="Shape 34246">
              <a:extLst>
                <a:ext uri="{FF2B5EF4-FFF2-40B4-BE49-F238E27FC236}">
                  <a16:creationId xmlns:a16="http://schemas.microsoft.com/office/drawing/2014/main" id="{A49966BE-49C2-2E0B-DF00-BE6046DA1688}"/>
                </a:ext>
              </a:extLst>
            </p:cNvPr>
            <p:cNvSpPr/>
            <p:nvPr/>
          </p:nvSpPr>
          <p:spPr>
            <a:xfrm>
              <a:off x="11817349" y="7826120"/>
              <a:ext cx="266022"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1" name="Shape 34247">
              <a:extLst>
                <a:ext uri="{FF2B5EF4-FFF2-40B4-BE49-F238E27FC236}">
                  <a16:creationId xmlns:a16="http://schemas.microsoft.com/office/drawing/2014/main" id="{55D230AC-EDAC-D177-985F-928BDF840C57}"/>
                </a:ext>
              </a:extLst>
            </p:cNvPr>
            <p:cNvSpPr/>
            <p:nvPr/>
          </p:nvSpPr>
          <p:spPr>
            <a:xfrm>
              <a:off x="10728159" y="11858687"/>
              <a:ext cx="359648" cy="359648"/>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4116" tIns="24116" rIns="24116" bIns="24116" numCol="1" anchor="ctr">
              <a:noAutofit/>
            </a:bodyPr>
            <a:lstStyle/>
            <a:p>
              <a:endParaRPr sz="2279">
                <a:latin typeface="Lato Light" panose="020F0502020204030203" pitchFamily="34" charset="0"/>
              </a:endParaRPr>
            </a:p>
          </p:txBody>
        </p:sp>
        <p:sp>
          <p:nvSpPr>
            <p:cNvPr id="82" name="Shape 34248">
              <a:extLst>
                <a:ext uri="{FF2B5EF4-FFF2-40B4-BE49-F238E27FC236}">
                  <a16:creationId xmlns:a16="http://schemas.microsoft.com/office/drawing/2014/main" id="{1F148CBC-8AA1-BE4E-E118-503C7C297140}"/>
                </a:ext>
              </a:extLst>
            </p:cNvPr>
            <p:cNvSpPr/>
            <p:nvPr/>
          </p:nvSpPr>
          <p:spPr>
            <a:xfrm>
              <a:off x="11187068" y="11262359"/>
              <a:ext cx="266020"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3" name="Shape 34249">
              <a:extLst>
                <a:ext uri="{FF2B5EF4-FFF2-40B4-BE49-F238E27FC236}">
                  <a16:creationId xmlns:a16="http://schemas.microsoft.com/office/drawing/2014/main" id="{A6803C7B-FD14-9001-B985-748E17C421AA}"/>
                </a:ext>
              </a:extLst>
            </p:cNvPr>
            <p:cNvSpPr/>
            <p:nvPr/>
          </p:nvSpPr>
          <p:spPr>
            <a:xfrm>
              <a:off x="11097651" y="11556529"/>
              <a:ext cx="363722" cy="489364"/>
            </a:xfrm>
            <a:custGeom>
              <a:avLst/>
              <a:gdLst/>
              <a:ahLst/>
              <a:cxnLst>
                <a:cxn ang="0">
                  <a:pos x="wd2" y="hd2"/>
                </a:cxn>
                <a:cxn ang="5400000">
                  <a:pos x="wd2" y="hd2"/>
                </a:cxn>
                <a:cxn ang="10800000">
                  <a:pos x="wd2" y="hd2"/>
                </a:cxn>
                <a:cxn ang="16200000">
                  <a:pos x="wd2" y="hd2"/>
                </a:cxn>
              </a:cxnLst>
              <a:rect l="0" t="0" r="r" b="b"/>
              <a:pathLst>
                <a:path w="21600" h="21600" extrusionOk="0">
                  <a:moveTo>
                    <a:pt x="0" y="1289"/>
                  </a:moveTo>
                  <a:lnTo>
                    <a:pt x="7526" y="11318"/>
                  </a:lnTo>
                  <a:lnTo>
                    <a:pt x="10639" y="10027"/>
                  </a:lnTo>
                  <a:lnTo>
                    <a:pt x="6735" y="4831"/>
                  </a:lnTo>
                  <a:cubicBezTo>
                    <a:pt x="7186" y="4822"/>
                    <a:pt x="7638" y="4734"/>
                    <a:pt x="8042" y="4542"/>
                  </a:cubicBezTo>
                  <a:cubicBezTo>
                    <a:pt x="8843" y="4160"/>
                    <a:pt x="9286" y="3488"/>
                    <a:pt x="9338" y="2779"/>
                  </a:cubicBezTo>
                  <a:cubicBezTo>
                    <a:pt x="9343" y="2717"/>
                    <a:pt x="9344" y="2654"/>
                    <a:pt x="9343" y="2591"/>
                  </a:cubicBezTo>
                  <a:cubicBezTo>
                    <a:pt x="10859" y="2532"/>
                    <a:pt x="12290" y="2713"/>
                    <a:pt x="13557" y="3159"/>
                  </a:cubicBezTo>
                  <a:cubicBezTo>
                    <a:pt x="15647" y="3894"/>
                    <a:pt x="17171" y="5277"/>
                    <a:pt x="17964" y="7158"/>
                  </a:cubicBezTo>
                  <a:cubicBezTo>
                    <a:pt x="19200" y="10089"/>
                    <a:pt x="17878" y="13269"/>
                    <a:pt x="14770" y="15143"/>
                  </a:cubicBezTo>
                  <a:lnTo>
                    <a:pt x="13545" y="13629"/>
                  </a:lnTo>
                  <a:lnTo>
                    <a:pt x="15711" y="12662"/>
                  </a:lnTo>
                  <a:lnTo>
                    <a:pt x="15100" y="11906"/>
                  </a:lnTo>
                  <a:lnTo>
                    <a:pt x="7202" y="15433"/>
                  </a:lnTo>
                  <a:lnTo>
                    <a:pt x="7813" y="16189"/>
                  </a:lnTo>
                  <a:lnTo>
                    <a:pt x="9983" y="15220"/>
                  </a:lnTo>
                  <a:lnTo>
                    <a:pt x="11972" y="17680"/>
                  </a:lnTo>
                  <a:lnTo>
                    <a:pt x="7432" y="19708"/>
                  </a:lnTo>
                  <a:lnTo>
                    <a:pt x="8961" y="21600"/>
                  </a:lnTo>
                  <a:lnTo>
                    <a:pt x="21600" y="15956"/>
                  </a:lnTo>
                  <a:lnTo>
                    <a:pt x="20070" y="14064"/>
                  </a:lnTo>
                  <a:lnTo>
                    <a:pt x="16905" y="15477"/>
                  </a:lnTo>
                  <a:cubicBezTo>
                    <a:pt x="19819" y="13226"/>
                    <a:pt x="20973" y="9873"/>
                    <a:pt x="19662" y="6762"/>
                  </a:cubicBezTo>
                  <a:cubicBezTo>
                    <a:pt x="18716" y="4520"/>
                    <a:pt x="16868" y="2861"/>
                    <a:pt x="14317" y="1964"/>
                  </a:cubicBezTo>
                  <a:cubicBezTo>
                    <a:pt x="12625" y="1368"/>
                    <a:pt x="10722" y="1151"/>
                    <a:pt x="8713" y="1295"/>
                  </a:cubicBezTo>
                  <a:cubicBezTo>
                    <a:pt x="7813" y="536"/>
                    <a:pt x="6285" y="336"/>
                    <a:pt x="5078" y="875"/>
                  </a:cubicBezTo>
                  <a:cubicBezTo>
                    <a:pt x="4725" y="1032"/>
                    <a:pt x="4440" y="1236"/>
                    <a:pt x="4217" y="1471"/>
                  </a:cubicBezTo>
                  <a:lnTo>
                    <a:pt x="3109" y="0"/>
                  </a:lnTo>
                  <a:lnTo>
                    <a:pt x="0" y="1289"/>
                  </a:lnTo>
                  <a:close/>
                  <a:moveTo>
                    <a:pt x="5994" y="2008"/>
                  </a:moveTo>
                  <a:cubicBezTo>
                    <a:pt x="6453" y="1798"/>
                    <a:pt x="7049" y="1856"/>
                    <a:pt x="7404" y="2156"/>
                  </a:cubicBezTo>
                  <a:cubicBezTo>
                    <a:pt x="7771" y="2467"/>
                    <a:pt x="7762" y="2932"/>
                    <a:pt x="7387" y="3235"/>
                  </a:cubicBezTo>
                  <a:cubicBezTo>
                    <a:pt x="7313" y="3300"/>
                    <a:pt x="7226" y="3359"/>
                    <a:pt x="7123" y="3405"/>
                  </a:cubicBezTo>
                  <a:cubicBezTo>
                    <a:pt x="6605" y="3637"/>
                    <a:pt x="5928" y="3511"/>
                    <a:pt x="5619" y="3126"/>
                  </a:cubicBezTo>
                  <a:cubicBezTo>
                    <a:pt x="5309" y="2742"/>
                    <a:pt x="5480" y="2244"/>
                    <a:pt x="5994" y="20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4" name="Shape 34250">
              <a:extLst>
                <a:ext uri="{FF2B5EF4-FFF2-40B4-BE49-F238E27FC236}">
                  <a16:creationId xmlns:a16="http://schemas.microsoft.com/office/drawing/2014/main" id="{F54ECFE8-A0DD-BE50-2B8A-AEC375164636}"/>
                </a:ext>
              </a:extLst>
            </p:cNvPr>
            <p:cNvSpPr/>
            <p:nvPr/>
          </p:nvSpPr>
          <p:spPr>
            <a:xfrm>
              <a:off x="11475026" y="12061751"/>
              <a:ext cx="218222" cy="281582"/>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5" name="Shape 34251">
              <a:extLst>
                <a:ext uri="{FF2B5EF4-FFF2-40B4-BE49-F238E27FC236}">
                  <a16:creationId xmlns:a16="http://schemas.microsoft.com/office/drawing/2014/main" id="{F5DA6B52-A364-0343-A021-D1AD7A5B7867}"/>
                </a:ext>
              </a:extLst>
            </p:cNvPr>
            <p:cNvSpPr/>
            <p:nvPr/>
          </p:nvSpPr>
          <p:spPr>
            <a:xfrm>
              <a:off x="11001064" y="12147982"/>
              <a:ext cx="241994" cy="27962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07" y="15970"/>
                  </a:lnTo>
                  <a:lnTo>
                    <a:pt x="6112" y="19464"/>
                  </a:lnTo>
                  <a:cubicBezTo>
                    <a:pt x="6112" y="19464"/>
                    <a:pt x="0" y="21600"/>
                    <a:pt x="0" y="21600"/>
                  </a:cubicBezTo>
                  <a:close/>
                  <a:moveTo>
                    <a:pt x="6773" y="18782"/>
                  </a:moveTo>
                  <a:lnTo>
                    <a:pt x="1968" y="15288"/>
                  </a:lnTo>
                  <a:lnTo>
                    <a:pt x="13737" y="3150"/>
                  </a:lnTo>
                  <a:lnTo>
                    <a:pt x="18545" y="6642"/>
                  </a:lnTo>
                  <a:cubicBezTo>
                    <a:pt x="18545" y="6642"/>
                    <a:pt x="6773" y="18782"/>
                    <a:pt x="6773" y="18782"/>
                  </a:cubicBezTo>
                  <a:close/>
                  <a:moveTo>
                    <a:pt x="19218" y="5946"/>
                  </a:moveTo>
                  <a:lnTo>
                    <a:pt x="14411" y="2455"/>
                  </a:lnTo>
                  <a:lnTo>
                    <a:pt x="16792" y="0"/>
                  </a:lnTo>
                  <a:lnTo>
                    <a:pt x="21600" y="3492"/>
                  </a:lnTo>
                  <a:cubicBezTo>
                    <a:pt x="21600" y="3492"/>
                    <a:pt x="19218" y="5946"/>
                    <a:pt x="19218" y="594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6" name="Shape 34252">
              <a:extLst>
                <a:ext uri="{FF2B5EF4-FFF2-40B4-BE49-F238E27FC236}">
                  <a16:creationId xmlns:a16="http://schemas.microsoft.com/office/drawing/2014/main" id="{E909B32D-5C04-1B0F-7C40-8D0410B8717A}"/>
                </a:ext>
              </a:extLst>
            </p:cNvPr>
            <p:cNvSpPr/>
            <p:nvPr/>
          </p:nvSpPr>
          <p:spPr>
            <a:xfrm>
              <a:off x="11499317" y="12714275"/>
              <a:ext cx="353634" cy="243124"/>
            </a:xfrm>
            <a:custGeom>
              <a:avLst/>
              <a:gdLst/>
              <a:ahLst/>
              <a:cxnLst>
                <a:cxn ang="0">
                  <a:pos x="wd2" y="hd2"/>
                </a:cxn>
                <a:cxn ang="5400000">
                  <a:pos x="wd2" y="hd2"/>
                </a:cxn>
                <a:cxn ang="10800000">
                  <a:pos x="wd2" y="hd2"/>
                </a:cxn>
                <a:cxn ang="16200000">
                  <a:pos x="wd2" y="hd2"/>
                </a:cxn>
              </a:cxnLst>
              <a:rect l="0" t="0" r="r" b="b"/>
              <a:pathLst>
                <a:path w="21600" h="21600" extrusionOk="0">
                  <a:moveTo>
                    <a:pt x="14829" y="10800"/>
                  </a:moveTo>
                  <a:lnTo>
                    <a:pt x="14850" y="5891"/>
                  </a:lnTo>
                  <a:lnTo>
                    <a:pt x="18865" y="5891"/>
                  </a:lnTo>
                  <a:lnTo>
                    <a:pt x="20250" y="10800"/>
                  </a:lnTo>
                  <a:lnTo>
                    <a:pt x="14829" y="10800"/>
                  </a:lnTo>
                  <a:close/>
                  <a:moveTo>
                    <a:pt x="20250" y="5564"/>
                  </a:moveTo>
                  <a:cubicBezTo>
                    <a:pt x="19879" y="3856"/>
                    <a:pt x="18900" y="3919"/>
                    <a:pt x="18900" y="3919"/>
                  </a:cubicBezTo>
                  <a:lnTo>
                    <a:pt x="13495" y="3919"/>
                  </a:lnTo>
                  <a:lnTo>
                    <a:pt x="13495" y="18655"/>
                  </a:lnTo>
                  <a:lnTo>
                    <a:pt x="15525" y="18655"/>
                  </a:lnTo>
                  <a:cubicBezTo>
                    <a:pt x="15527" y="14736"/>
                    <a:pt x="16734" y="14727"/>
                    <a:pt x="18225" y="14728"/>
                  </a:cubicBezTo>
                  <a:cubicBezTo>
                    <a:pt x="19716" y="14728"/>
                    <a:pt x="20918" y="14757"/>
                    <a:pt x="20924" y="18655"/>
                  </a:cubicBezTo>
                  <a:lnTo>
                    <a:pt x="21600" y="18655"/>
                  </a:lnTo>
                  <a:lnTo>
                    <a:pt x="21600" y="10817"/>
                  </a:lnTo>
                  <a:cubicBezTo>
                    <a:pt x="21600" y="10817"/>
                    <a:pt x="20621" y="7272"/>
                    <a:pt x="20250" y="5564"/>
                  </a:cubicBezTo>
                  <a:close/>
                  <a:moveTo>
                    <a:pt x="12690" y="1964"/>
                  </a:moveTo>
                  <a:lnTo>
                    <a:pt x="12690" y="18655"/>
                  </a:lnTo>
                  <a:lnTo>
                    <a:pt x="6750" y="18655"/>
                  </a:lnTo>
                  <a:cubicBezTo>
                    <a:pt x="6750" y="14728"/>
                    <a:pt x="5541" y="14728"/>
                    <a:pt x="4050" y="14728"/>
                  </a:cubicBezTo>
                  <a:cubicBezTo>
                    <a:pt x="2559" y="14728"/>
                    <a:pt x="1350" y="14728"/>
                    <a:pt x="1350" y="18655"/>
                  </a:cubicBezTo>
                  <a:lnTo>
                    <a:pt x="0" y="18655"/>
                  </a:lnTo>
                  <a:lnTo>
                    <a:pt x="0" y="1964"/>
                  </a:lnTo>
                  <a:cubicBezTo>
                    <a:pt x="0" y="1421"/>
                    <a:pt x="151" y="931"/>
                    <a:pt x="395" y="575"/>
                  </a:cubicBezTo>
                  <a:cubicBezTo>
                    <a:pt x="640" y="220"/>
                    <a:pt x="977" y="0"/>
                    <a:pt x="1350" y="0"/>
                  </a:cubicBezTo>
                  <a:lnTo>
                    <a:pt x="11340" y="0"/>
                  </a:lnTo>
                  <a:cubicBezTo>
                    <a:pt x="11713" y="0"/>
                    <a:pt x="12050" y="220"/>
                    <a:pt x="12295" y="575"/>
                  </a:cubicBezTo>
                  <a:cubicBezTo>
                    <a:pt x="12539" y="931"/>
                    <a:pt x="12690" y="1421"/>
                    <a:pt x="12690" y="1964"/>
                  </a:cubicBezTo>
                  <a:close/>
                  <a:moveTo>
                    <a:pt x="4050" y="19636"/>
                  </a:moveTo>
                  <a:cubicBezTo>
                    <a:pt x="3677" y="19636"/>
                    <a:pt x="3375" y="19197"/>
                    <a:pt x="3375" y="18655"/>
                  </a:cubicBezTo>
                  <a:cubicBezTo>
                    <a:pt x="3375" y="18112"/>
                    <a:pt x="3677" y="17673"/>
                    <a:pt x="4050" y="17673"/>
                  </a:cubicBezTo>
                  <a:cubicBezTo>
                    <a:pt x="4423" y="17673"/>
                    <a:pt x="4725" y="18112"/>
                    <a:pt x="4725" y="18655"/>
                  </a:cubicBezTo>
                  <a:cubicBezTo>
                    <a:pt x="4725" y="19197"/>
                    <a:pt x="4423" y="19636"/>
                    <a:pt x="4050" y="19636"/>
                  </a:cubicBezTo>
                  <a:close/>
                  <a:moveTo>
                    <a:pt x="4050" y="15709"/>
                  </a:moveTo>
                  <a:cubicBezTo>
                    <a:pt x="2932" y="15709"/>
                    <a:pt x="2025" y="17028"/>
                    <a:pt x="2025" y="18655"/>
                  </a:cubicBezTo>
                  <a:cubicBezTo>
                    <a:pt x="2025" y="20281"/>
                    <a:pt x="2932" y="21600"/>
                    <a:pt x="4050" y="21600"/>
                  </a:cubicBezTo>
                  <a:cubicBezTo>
                    <a:pt x="5168" y="21600"/>
                    <a:pt x="6075" y="20281"/>
                    <a:pt x="6075" y="18655"/>
                  </a:cubicBezTo>
                  <a:cubicBezTo>
                    <a:pt x="6075" y="17028"/>
                    <a:pt x="5168" y="15709"/>
                    <a:pt x="4050" y="15709"/>
                  </a:cubicBezTo>
                  <a:close/>
                  <a:moveTo>
                    <a:pt x="18225" y="19636"/>
                  </a:moveTo>
                  <a:cubicBezTo>
                    <a:pt x="17852" y="19636"/>
                    <a:pt x="17550" y="19197"/>
                    <a:pt x="17550" y="18655"/>
                  </a:cubicBezTo>
                  <a:cubicBezTo>
                    <a:pt x="17550" y="18112"/>
                    <a:pt x="17852" y="17673"/>
                    <a:pt x="18225" y="17673"/>
                  </a:cubicBezTo>
                  <a:cubicBezTo>
                    <a:pt x="18598" y="17673"/>
                    <a:pt x="18900" y="18112"/>
                    <a:pt x="18900" y="18655"/>
                  </a:cubicBezTo>
                  <a:cubicBezTo>
                    <a:pt x="18900" y="19197"/>
                    <a:pt x="18598" y="19636"/>
                    <a:pt x="18225" y="19636"/>
                  </a:cubicBezTo>
                  <a:close/>
                  <a:moveTo>
                    <a:pt x="18225" y="15709"/>
                  </a:moveTo>
                  <a:cubicBezTo>
                    <a:pt x="17107" y="15709"/>
                    <a:pt x="16200" y="17028"/>
                    <a:pt x="16200" y="18655"/>
                  </a:cubicBezTo>
                  <a:cubicBezTo>
                    <a:pt x="16200" y="20281"/>
                    <a:pt x="17107" y="21600"/>
                    <a:pt x="18225" y="21600"/>
                  </a:cubicBezTo>
                  <a:cubicBezTo>
                    <a:pt x="19343" y="21600"/>
                    <a:pt x="20250" y="20281"/>
                    <a:pt x="20250" y="18655"/>
                  </a:cubicBezTo>
                  <a:cubicBezTo>
                    <a:pt x="20250" y="17028"/>
                    <a:pt x="19343" y="15709"/>
                    <a:pt x="18225" y="15709"/>
                  </a:cubicBezTo>
                  <a:close/>
                </a:path>
              </a:pathLst>
            </a:custGeom>
            <a:solidFill>
              <a:schemeClr val="bg1">
                <a:lumMod val="85000"/>
              </a:schemeClr>
            </a:solidFill>
            <a:ln w="12700" cap="flat">
              <a:noFill/>
              <a:miter lim="400000"/>
            </a:ln>
            <a:effectLst/>
          </p:spPr>
          <p:txBody>
            <a:bodyPr wrap="square" lIns="24116" tIns="24116" rIns="24116" bIns="24116" numCol="1" anchor="b">
              <a:noAutofit/>
            </a:bodyPr>
            <a:lstStyle/>
            <a:p>
              <a:endParaRPr sz="2279">
                <a:latin typeface="Lato Light" panose="020F0502020204030203" pitchFamily="34" charset="0"/>
              </a:endParaRPr>
            </a:p>
          </p:txBody>
        </p:sp>
        <p:sp>
          <p:nvSpPr>
            <p:cNvPr id="87" name="Shape 34253">
              <a:extLst>
                <a:ext uri="{FF2B5EF4-FFF2-40B4-BE49-F238E27FC236}">
                  <a16:creationId xmlns:a16="http://schemas.microsoft.com/office/drawing/2014/main" id="{904C6508-E6C5-9FAB-06BA-F3F504B95C0E}"/>
                </a:ext>
              </a:extLst>
            </p:cNvPr>
            <p:cNvSpPr/>
            <p:nvPr/>
          </p:nvSpPr>
          <p:spPr>
            <a:xfrm rot="1920000">
              <a:off x="12259440" y="12552699"/>
              <a:ext cx="459460" cy="127604"/>
            </a:xfrm>
            <a:custGeom>
              <a:avLst/>
              <a:gdLst/>
              <a:ahLst/>
              <a:cxnLst>
                <a:cxn ang="0">
                  <a:pos x="wd2" y="hd2"/>
                </a:cxn>
                <a:cxn ang="5400000">
                  <a:pos x="wd2" y="hd2"/>
                </a:cxn>
                <a:cxn ang="10800000">
                  <a:pos x="wd2" y="hd2"/>
                </a:cxn>
                <a:cxn ang="16200000">
                  <a:pos x="wd2" y="hd2"/>
                </a:cxn>
              </a:cxnLst>
              <a:rect l="0" t="0" r="r" b="b"/>
              <a:pathLst>
                <a:path w="21600" h="21600" extrusionOk="0">
                  <a:moveTo>
                    <a:pt x="21600" y="14936"/>
                  </a:moveTo>
                  <a:lnTo>
                    <a:pt x="17631" y="5428"/>
                  </a:lnTo>
                  <a:lnTo>
                    <a:pt x="17241" y="21600"/>
                  </a:lnTo>
                  <a:cubicBezTo>
                    <a:pt x="17241" y="21600"/>
                    <a:pt x="21600" y="14936"/>
                    <a:pt x="21600" y="14936"/>
                  </a:cubicBezTo>
                  <a:close/>
                  <a:moveTo>
                    <a:pt x="16506" y="21368"/>
                  </a:moveTo>
                  <a:lnTo>
                    <a:pt x="16896" y="5196"/>
                  </a:lnTo>
                  <a:lnTo>
                    <a:pt x="3794" y="1071"/>
                  </a:lnTo>
                  <a:lnTo>
                    <a:pt x="3401" y="17243"/>
                  </a:lnTo>
                  <a:cubicBezTo>
                    <a:pt x="3401" y="17243"/>
                    <a:pt x="16506" y="21368"/>
                    <a:pt x="16506" y="21368"/>
                  </a:cubicBezTo>
                  <a:close/>
                  <a:moveTo>
                    <a:pt x="2651" y="17004"/>
                  </a:moveTo>
                  <a:lnTo>
                    <a:pt x="3043" y="832"/>
                  </a:lnTo>
                  <a:lnTo>
                    <a:pt x="393" y="0"/>
                  </a:lnTo>
                  <a:lnTo>
                    <a:pt x="0" y="16172"/>
                  </a:lnTo>
                  <a:cubicBezTo>
                    <a:pt x="0" y="16172"/>
                    <a:pt x="2651" y="17004"/>
                    <a:pt x="2651" y="1700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8" name="Shape 34254">
              <a:extLst>
                <a:ext uri="{FF2B5EF4-FFF2-40B4-BE49-F238E27FC236}">
                  <a16:creationId xmlns:a16="http://schemas.microsoft.com/office/drawing/2014/main" id="{7C11C3C3-50EF-CD38-713D-3B82765597CF}"/>
                </a:ext>
              </a:extLst>
            </p:cNvPr>
            <p:cNvSpPr/>
            <p:nvPr/>
          </p:nvSpPr>
          <p:spPr>
            <a:xfrm>
              <a:off x="10340903" y="5125500"/>
              <a:ext cx="609452" cy="544702"/>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9" name="Shape 34255">
              <a:extLst>
                <a:ext uri="{FF2B5EF4-FFF2-40B4-BE49-F238E27FC236}">
                  <a16:creationId xmlns:a16="http://schemas.microsoft.com/office/drawing/2014/main" id="{DD0B73BB-9B23-85D1-08F0-A1083002F1EE}"/>
                </a:ext>
              </a:extLst>
            </p:cNvPr>
            <p:cNvSpPr/>
            <p:nvPr/>
          </p:nvSpPr>
          <p:spPr>
            <a:xfrm>
              <a:off x="9854702" y="4803941"/>
              <a:ext cx="502982" cy="459644"/>
            </a:xfrm>
            <a:custGeom>
              <a:avLst/>
              <a:gdLst/>
              <a:ahLst/>
              <a:cxnLst>
                <a:cxn ang="0">
                  <a:pos x="wd2" y="hd2"/>
                </a:cxn>
                <a:cxn ang="5400000">
                  <a:pos x="wd2" y="hd2"/>
                </a:cxn>
                <a:cxn ang="10800000">
                  <a:pos x="wd2" y="hd2"/>
                </a:cxn>
                <a:cxn ang="16200000">
                  <a:pos x="wd2" y="hd2"/>
                </a:cxn>
              </a:cxnLst>
              <a:rect l="0" t="0" r="r" b="b"/>
              <a:pathLst>
                <a:path w="20409" h="20716" extrusionOk="0">
                  <a:moveTo>
                    <a:pt x="19071" y="18146"/>
                  </a:moveTo>
                  <a:cubicBezTo>
                    <a:pt x="20183" y="16314"/>
                    <a:pt x="19749" y="13820"/>
                    <a:pt x="18102" y="12586"/>
                  </a:cubicBezTo>
                  <a:cubicBezTo>
                    <a:pt x="17662" y="12256"/>
                    <a:pt x="17178" y="12053"/>
                    <a:pt x="16685" y="11962"/>
                  </a:cubicBezTo>
                  <a:lnTo>
                    <a:pt x="16672" y="15889"/>
                  </a:lnTo>
                  <a:cubicBezTo>
                    <a:pt x="16671" y="16166"/>
                    <a:pt x="16469" y="16390"/>
                    <a:pt x="16220" y="16389"/>
                  </a:cubicBezTo>
                  <a:cubicBezTo>
                    <a:pt x="15971" y="16388"/>
                    <a:pt x="15770" y="16164"/>
                    <a:pt x="15771" y="15887"/>
                  </a:cubicBezTo>
                  <a:lnTo>
                    <a:pt x="15784" y="11921"/>
                  </a:lnTo>
                  <a:cubicBezTo>
                    <a:pt x="14735" y="12022"/>
                    <a:pt x="13732" y="12627"/>
                    <a:pt x="13098" y="13672"/>
                  </a:cubicBezTo>
                  <a:cubicBezTo>
                    <a:pt x="11985" y="15504"/>
                    <a:pt x="12420" y="17998"/>
                    <a:pt x="14067" y="19232"/>
                  </a:cubicBezTo>
                  <a:cubicBezTo>
                    <a:pt x="15713" y="20465"/>
                    <a:pt x="17958" y="19979"/>
                    <a:pt x="19071" y="18146"/>
                  </a:cubicBezTo>
                  <a:close/>
                  <a:moveTo>
                    <a:pt x="16740" y="7857"/>
                  </a:moveTo>
                  <a:lnTo>
                    <a:pt x="15291" y="6772"/>
                  </a:lnTo>
                  <a:cubicBezTo>
                    <a:pt x="15127" y="6649"/>
                    <a:pt x="15015" y="6369"/>
                    <a:pt x="15043" y="6151"/>
                  </a:cubicBezTo>
                  <a:lnTo>
                    <a:pt x="15275" y="4322"/>
                  </a:lnTo>
                  <a:lnTo>
                    <a:pt x="11975" y="5321"/>
                  </a:lnTo>
                  <a:cubicBezTo>
                    <a:pt x="11975" y="5321"/>
                    <a:pt x="12203" y="5706"/>
                    <a:pt x="12483" y="6179"/>
                  </a:cubicBezTo>
                  <a:lnTo>
                    <a:pt x="16109" y="8895"/>
                  </a:lnTo>
                  <a:cubicBezTo>
                    <a:pt x="16109" y="8895"/>
                    <a:pt x="16740" y="7857"/>
                    <a:pt x="16740" y="7857"/>
                  </a:cubicBezTo>
                  <a:close/>
                  <a:moveTo>
                    <a:pt x="15093" y="9342"/>
                  </a:moveTo>
                  <a:lnTo>
                    <a:pt x="13604" y="8227"/>
                  </a:lnTo>
                  <a:cubicBezTo>
                    <a:pt x="13647" y="8494"/>
                    <a:pt x="13599" y="8776"/>
                    <a:pt x="13458" y="9008"/>
                  </a:cubicBezTo>
                  <a:lnTo>
                    <a:pt x="13459" y="9008"/>
                  </a:lnTo>
                  <a:cubicBezTo>
                    <a:pt x="13459" y="9008"/>
                    <a:pt x="13042" y="9692"/>
                    <a:pt x="12523" y="10542"/>
                  </a:cubicBezTo>
                  <a:cubicBezTo>
                    <a:pt x="12523" y="10542"/>
                    <a:pt x="15093" y="9342"/>
                    <a:pt x="15093" y="9342"/>
                  </a:cubicBezTo>
                  <a:close/>
                  <a:moveTo>
                    <a:pt x="11619" y="8259"/>
                  </a:moveTo>
                  <a:cubicBezTo>
                    <a:pt x="11619" y="8259"/>
                    <a:pt x="10321" y="6315"/>
                    <a:pt x="9704" y="5383"/>
                  </a:cubicBezTo>
                  <a:lnTo>
                    <a:pt x="8507" y="5869"/>
                  </a:lnTo>
                  <a:cubicBezTo>
                    <a:pt x="8769" y="6978"/>
                    <a:pt x="8675" y="8186"/>
                    <a:pt x="8184" y="9262"/>
                  </a:cubicBezTo>
                  <a:lnTo>
                    <a:pt x="10126" y="10718"/>
                  </a:lnTo>
                  <a:cubicBezTo>
                    <a:pt x="10126" y="10718"/>
                    <a:pt x="11619" y="8259"/>
                    <a:pt x="11619" y="8259"/>
                  </a:cubicBezTo>
                  <a:close/>
                  <a:moveTo>
                    <a:pt x="7096" y="9656"/>
                  </a:moveTo>
                  <a:lnTo>
                    <a:pt x="4125" y="7430"/>
                  </a:lnTo>
                  <a:cubicBezTo>
                    <a:pt x="3919" y="7275"/>
                    <a:pt x="3865" y="6964"/>
                    <a:pt x="4004" y="6735"/>
                  </a:cubicBezTo>
                  <a:cubicBezTo>
                    <a:pt x="4067" y="6631"/>
                    <a:pt x="4159" y="6564"/>
                    <a:pt x="4260" y="6533"/>
                  </a:cubicBezTo>
                  <a:lnTo>
                    <a:pt x="4259" y="6531"/>
                  </a:lnTo>
                  <a:lnTo>
                    <a:pt x="7505" y="5212"/>
                  </a:lnTo>
                  <a:cubicBezTo>
                    <a:pt x="7238" y="4652"/>
                    <a:pt x="6848" y="4155"/>
                    <a:pt x="6343" y="3777"/>
                  </a:cubicBezTo>
                  <a:cubicBezTo>
                    <a:pt x="4697" y="2543"/>
                    <a:pt x="2452" y="3030"/>
                    <a:pt x="1339" y="4862"/>
                  </a:cubicBezTo>
                  <a:cubicBezTo>
                    <a:pt x="227" y="6694"/>
                    <a:pt x="661" y="9188"/>
                    <a:pt x="2308" y="10422"/>
                  </a:cubicBezTo>
                  <a:cubicBezTo>
                    <a:pt x="3854" y="11580"/>
                    <a:pt x="5928" y="11221"/>
                    <a:pt x="7096" y="9656"/>
                  </a:cubicBezTo>
                  <a:close/>
                  <a:moveTo>
                    <a:pt x="5362" y="7148"/>
                  </a:moveTo>
                  <a:lnTo>
                    <a:pt x="7578" y="8808"/>
                  </a:lnTo>
                  <a:cubicBezTo>
                    <a:pt x="7940" y="7960"/>
                    <a:pt x="8013" y="7021"/>
                    <a:pt x="7822" y="6148"/>
                  </a:cubicBezTo>
                  <a:cubicBezTo>
                    <a:pt x="7822" y="6148"/>
                    <a:pt x="5362" y="7148"/>
                    <a:pt x="5362" y="7148"/>
                  </a:cubicBezTo>
                  <a:close/>
                  <a:moveTo>
                    <a:pt x="19668" y="18594"/>
                  </a:moveTo>
                  <a:cubicBezTo>
                    <a:pt x="18331" y="20796"/>
                    <a:pt x="15642" y="21379"/>
                    <a:pt x="13663" y="19896"/>
                  </a:cubicBezTo>
                  <a:cubicBezTo>
                    <a:pt x="11684" y="18413"/>
                    <a:pt x="11164" y="15426"/>
                    <a:pt x="12501" y="13224"/>
                  </a:cubicBezTo>
                  <a:cubicBezTo>
                    <a:pt x="13276" y="11948"/>
                    <a:pt x="14505" y="11216"/>
                    <a:pt x="15787" y="11115"/>
                  </a:cubicBezTo>
                  <a:lnTo>
                    <a:pt x="15791" y="10101"/>
                  </a:lnTo>
                  <a:lnTo>
                    <a:pt x="11595" y="12059"/>
                  </a:lnTo>
                  <a:cubicBezTo>
                    <a:pt x="11028" y="12983"/>
                    <a:pt x="10547" y="13764"/>
                    <a:pt x="10524" y="13787"/>
                  </a:cubicBezTo>
                  <a:cubicBezTo>
                    <a:pt x="10135" y="14180"/>
                    <a:pt x="9533" y="14149"/>
                    <a:pt x="9180" y="13717"/>
                  </a:cubicBezTo>
                  <a:cubicBezTo>
                    <a:pt x="8879" y="13349"/>
                    <a:pt x="8857" y="12810"/>
                    <a:pt x="9097" y="12415"/>
                  </a:cubicBezTo>
                  <a:lnTo>
                    <a:pt x="9096" y="12414"/>
                  </a:lnTo>
                  <a:lnTo>
                    <a:pt x="9622" y="11548"/>
                  </a:lnTo>
                  <a:lnTo>
                    <a:pt x="7695" y="10105"/>
                  </a:lnTo>
                  <a:cubicBezTo>
                    <a:pt x="6301" y="12039"/>
                    <a:pt x="3783" y="12494"/>
                    <a:pt x="1904" y="11086"/>
                  </a:cubicBezTo>
                  <a:cubicBezTo>
                    <a:pt x="-75" y="9603"/>
                    <a:pt x="-595" y="6616"/>
                    <a:pt x="742" y="4414"/>
                  </a:cubicBezTo>
                  <a:cubicBezTo>
                    <a:pt x="2079" y="2212"/>
                    <a:pt x="4768" y="1629"/>
                    <a:pt x="6747" y="3112"/>
                  </a:cubicBezTo>
                  <a:cubicBezTo>
                    <a:pt x="7383" y="3589"/>
                    <a:pt x="7868" y="4222"/>
                    <a:pt x="8189" y="4933"/>
                  </a:cubicBezTo>
                  <a:lnTo>
                    <a:pt x="9242" y="4506"/>
                  </a:lnTo>
                  <a:cubicBezTo>
                    <a:pt x="9107" y="3945"/>
                    <a:pt x="9252" y="3323"/>
                    <a:pt x="9665" y="2905"/>
                  </a:cubicBezTo>
                  <a:cubicBezTo>
                    <a:pt x="9859" y="2709"/>
                    <a:pt x="10089" y="2584"/>
                    <a:pt x="10328" y="2526"/>
                  </a:cubicBezTo>
                  <a:lnTo>
                    <a:pt x="10328" y="2525"/>
                  </a:lnTo>
                  <a:lnTo>
                    <a:pt x="15055" y="1211"/>
                  </a:lnTo>
                  <a:lnTo>
                    <a:pt x="15055" y="1211"/>
                  </a:lnTo>
                  <a:cubicBezTo>
                    <a:pt x="15587" y="1000"/>
                    <a:pt x="16204" y="1148"/>
                    <a:pt x="16607" y="1641"/>
                  </a:cubicBezTo>
                  <a:cubicBezTo>
                    <a:pt x="16925" y="2031"/>
                    <a:pt x="17037" y="2548"/>
                    <a:pt x="16952" y="3028"/>
                  </a:cubicBezTo>
                  <a:lnTo>
                    <a:pt x="16953" y="3029"/>
                  </a:lnTo>
                  <a:lnTo>
                    <a:pt x="16496" y="5740"/>
                  </a:lnTo>
                  <a:lnTo>
                    <a:pt x="18231" y="7041"/>
                  </a:lnTo>
                  <a:cubicBezTo>
                    <a:pt x="18561" y="7288"/>
                    <a:pt x="18648" y="7786"/>
                    <a:pt x="18425" y="8153"/>
                  </a:cubicBezTo>
                  <a:cubicBezTo>
                    <a:pt x="18217" y="8496"/>
                    <a:pt x="17812" y="8599"/>
                    <a:pt x="17491" y="8409"/>
                  </a:cubicBezTo>
                  <a:lnTo>
                    <a:pt x="16693" y="9723"/>
                  </a:lnTo>
                  <a:lnTo>
                    <a:pt x="16688" y="11148"/>
                  </a:lnTo>
                  <a:cubicBezTo>
                    <a:pt x="17320" y="11245"/>
                    <a:pt x="17941" y="11499"/>
                    <a:pt x="18505" y="11922"/>
                  </a:cubicBezTo>
                  <a:cubicBezTo>
                    <a:pt x="20485" y="13405"/>
                    <a:pt x="21005" y="16392"/>
                    <a:pt x="19668" y="18594"/>
                  </a:cubicBezTo>
                  <a:close/>
                  <a:moveTo>
                    <a:pt x="17732" y="707"/>
                  </a:moveTo>
                  <a:cubicBezTo>
                    <a:pt x="18178" y="-27"/>
                    <a:pt x="19074" y="-221"/>
                    <a:pt x="19734" y="273"/>
                  </a:cubicBezTo>
                  <a:cubicBezTo>
                    <a:pt x="20394" y="767"/>
                    <a:pt x="20567" y="1763"/>
                    <a:pt x="20121" y="2497"/>
                  </a:cubicBezTo>
                  <a:cubicBezTo>
                    <a:pt x="19676" y="3231"/>
                    <a:pt x="18780" y="3426"/>
                    <a:pt x="18120" y="2931"/>
                  </a:cubicBezTo>
                  <a:cubicBezTo>
                    <a:pt x="17460" y="2437"/>
                    <a:pt x="17287" y="1441"/>
                    <a:pt x="17732" y="7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0" name="Shape 34256">
              <a:extLst>
                <a:ext uri="{FF2B5EF4-FFF2-40B4-BE49-F238E27FC236}">
                  <a16:creationId xmlns:a16="http://schemas.microsoft.com/office/drawing/2014/main" id="{DB198D26-C5BC-0B60-61A6-114E53BEA476}"/>
                </a:ext>
              </a:extLst>
            </p:cNvPr>
            <p:cNvSpPr/>
            <p:nvPr/>
          </p:nvSpPr>
          <p:spPr>
            <a:xfrm>
              <a:off x="10882778" y="5040627"/>
              <a:ext cx="347554" cy="302336"/>
            </a:xfrm>
            <a:custGeom>
              <a:avLst/>
              <a:gdLst/>
              <a:ahLst/>
              <a:cxnLst>
                <a:cxn ang="0">
                  <a:pos x="wd2" y="hd2"/>
                </a:cxn>
                <a:cxn ang="5400000">
                  <a:pos x="wd2" y="hd2"/>
                </a:cxn>
                <a:cxn ang="10800000">
                  <a:pos x="wd2" y="hd2"/>
                </a:cxn>
                <a:cxn ang="16200000">
                  <a:pos x="wd2" y="hd2"/>
                </a:cxn>
              </a:cxnLst>
              <a:rect l="0" t="0" r="r" b="b"/>
              <a:pathLst>
                <a:path w="21557" h="21600" extrusionOk="0">
                  <a:moveTo>
                    <a:pt x="0" y="307"/>
                  </a:moveTo>
                  <a:lnTo>
                    <a:pt x="120" y="8229"/>
                  </a:lnTo>
                  <a:cubicBezTo>
                    <a:pt x="120" y="8229"/>
                    <a:pt x="1074" y="9367"/>
                    <a:pt x="2052" y="8590"/>
                  </a:cubicBezTo>
                  <a:cubicBezTo>
                    <a:pt x="3133" y="7728"/>
                    <a:pt x="5865" y="7659"/>
                    <a:pt x="5855" y="10716"/>
                  </a:cubicBezTo>
                  <a:cubicBezTo>
                    <a:pt x="5845" y="13772"/>
                    <a:pt x="3624" y="13944"/>
                    <a:pt x="2389" y="13251"/>
                  </a:cubicBezTo>
                  <a:cubicBezTo>
                    <a:pt x="1272" y="12623"/>
                    <a:pt x="199" y="13432"/>
                    <a:pt x="199" y="13432"/>
                  </a:cubicBezTo>
                  <a:lnTo>
                    <a:pt x="323" y="21600"/>
                  </a:lnTo>
                  <a:lnTo>
                    <a:pt x="6451" y="21477"/>
                  </a:lnTo>
                  <a:cubicBezTo>
                    <a:pt x="6451" y="21477"/>
                    <a:pt x="6986" y="20514"/>
                    <a:pt x="6421" y="19495"/>
                  </a:cubicBezTo>
                  <a:cubicBezTo>
                    <a:pt x="5733" y="18260"/>
                    <a:pt x="5615" y="15424"/>
                    <a:pt x="8509" y="15365"/>
                  </a:cubicBezTo>
                  <a:cubicBezTo>
                    <a:pt x="11403" y="15307"/>
                    <a:pt x="11419" y="18067"/>
                    <a:pt x="10615" y="19535"/>
                  </a:cubicBezTo>
                  <a:cubicBezTo>
                    <a:pt x="10013" y="20636"/>
                    <a:pt x="10643" y="21392"/>
                    <a:pt x="10643" y="21392"/>
                  </a:cubicBezTo>
                  <a:lnTo>
                    <a:pt x="15804" y="21289"/>
                  </a:lnTo>
                  <a:cubicBezTo>
                    <a:pt x="15804" y="21289"/>
                    <a:pt x="15557" y="15444"/>
                    <a:pt x="15758" y="13903"/>
                  </a:cubicBezTo>
                  <a:cubicBezTo>
                    <a:pt x="15974" y="12251"/>
                    <a:pt x="17639" y="13349"/>
                    <a:pt x="17948" y="13520"/>
                  </a:cubicBezTo>
                  <a:cubicBezTo>
                    <a:pt x="19729" y="14509"/>
                    <a:pt x="21600" y="13423"/>
                    <a:pt x="21556" y="10521"/>
                  </a:cubicBezTo>
                  <a:cubicBezTo>
                    <a:pt x="21512" y="7619"/>
                    <a:pt x="18822" y="6942"/>
                    <a:pt x="17537" y="8101"/>
                  </a:cubicBezTo>
                  <a:cubicBezTo>
                    <a:pt x="16582" y="8962"/>
                    <a:pt x="15790" y="9114"/>
                    <a:pt x="15630" y="8309"/>
                  </a:cubicBezTo>
                  <a:cubicBezTo>
                    <a:pt x="15257" y="6427"/>
                    <a:pt x="15266" y="0"/>
                    <a:pt x="15266" y="0"/>
                  </a:cubicBezTo>
                  <a:lnTo>
                    <a:pt x="10428" y="97"/>
                  </a:lnTo>
                  <a:cubicBezTo>
                    <a:pt x="10428" y="97"/>
                    <a:pt x="9511" y="1388"/>
                    <a:pt x="10249" y="2454"/>
                  </a:cubicBezTo>
                  <a:cubicBezTo>
                    <a:pt x="11360" y="4059"/>
                    <a:pt x="10780" y="6532"/>
                    <a:pt x="8483" y="6578"/>
                  </a:cubicBezTo>
                  <a:cubicBezTo>
                    <a:pt x="6187" y="6624"/>
                    <a:pt x="5468" y="4417"/>
                    <a:pt x="6490" y="2673"/>
                  </a:cubicBezTo>
                  <a:cubicBezTo>
                    <a:pt x="7062" y="1695"/>
                    <a:pt x="6320" y="191"/>
                    <a:pt x="6320" y="191"/>
                  </a:cubicBezTo>
                  <a:cubicBezTo>
                    <a:pt x="6320" y="191"/>
                    <a:pt x="0" y="307"/>
                    <a:pt x="0" y="3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1" name="Shape 34257">
              <a:extLst>
                <a:ext uri="{FF2B5EF4-FFF2-40B4-BE49-F238E27FC236}">
                  <a16:creationId xmlns:a16="http://schemas.microsoft.com/office/drawing/2014/main" id="{C495D662-E4AD-8FDF-FC9F-7D24BA960269}"/>
                </a:ext>
              </a:extLst>
            </p:cNvPr>
            <p:cNvSpPr/>
            <p:nvPr/>
          </p:nvSpPr>
          <p:spPr>
            <a:xfrm>
              <a:off x="10466323" y="4715507"/>
              <a:ext cx="342888" cy="302336"/>
            </a:xfrm>
            <a:custGeom>
              <a:avLst/>
              <a:gdLst/>
              <a:ahLst/>
              <a:cxnLst>
                <a:cxn ang="0">
                  <a:pos x="wd2" y="hd2"/>
                </a:cxn>
                <a:cxn ang="5400000">
                  <a:pos x="wd2" y="hd2"/>
                </a:cxn>
                <a:cxn ang="10800000">
                  <a:pos x="wd2" y="hd2"/>
                </a:cxn>
                <a:cxn ang="16200000">
                  <a:pos x="wd2" y="hd2"/>
                </a:cxn>
              </a:cxnLst>
              <a:rect l="0" t="0" r="r" b="b"/>
              <a:pathLst>
                <a:path w="21465" h="21448" extrusionOk="0">
                  <a:moveTo>
                    <a:pt x="1162" y="1839"/>
                  </a:moveTo>
                  <a:cubicBezTo>
                    <a:pt x="454" y="1924"/>
                    <a:pt x="-67" y="2640"/>
                    <a:pt x="7" y="3442"/>
                  </a:cubicBezTo>
                  <a:lnTo>
                    <a:pt x="1557" y="20144"/>
                  </a:lnTo>
                  <a:cubicBezTo>
                    <a:pt x="1631" y="20947"/>
                    <a:pt x="2272" y="21524"/>
                    <a:pt x="2980" y="21440"/>
                  </a:cubicBezTo>
                  <a:lnTo>
                    <a:pt x="19632" y="19456"/>
                  </a:lnTo>
                  <a:cubicBezTo>
                    <a:pt x="20339" y="19372"/>
                    <a:pt x="20850" y="18657"/>
                    <a:pt x="20776" y="17855"/>
                  </a:cubicBezTo>
                  <a:lnTo>
                    <a:pt x="20372" y="13497"/>
                  </a:lnTo>
                  <a:lnTo>
                    <a:pt x="15892" y="14031"/>
                  </a:lnTo>
                  <a:cubicBezTo>
                    <a:pt x="15184" y="14115"/>
                    <a:pt x="14553" y="13536"/>
                    <a:pt x="14479" y="12734"/>
                  </a:cubicBezTo>
                  <a:lnTo>
                    <a:pt x="14209" y="9825"/>
                  </a:lnTo>
                  <a:cubicBezTo>
                    <a:pt x="14135" y="9023"/>
                    <a:pt x="14646" y="8308"/>
                    <a:pt x="15353" y="8224"/>
                  </a:cubicBezTo>
                  <a:lnTo>
                    <a:pt x="19833" y="7690"/>
                  </a:lnTo>
                  <a:lnTo>
                    <a:pt x="19497" y="4062"/>
                  </a:lnTo>
                  <a:cubicBezTo>
                    <a:pt x="19422" y="3260"/>
                    <a:pt x="18790" y="2669"/>
                    <a:pt x="18083" y="2754"/>
                  </a:cubicBezTo>
                  <a:lnTo>
                    <a:pt x="17948" y="1305"/>
                  </a:lnTo>
                  <a:cubicBezTo>
                    <a:pt x="17874" y="503"/>
                    <a:pt x="17243" y="-76"/>
                    <a:pt x="16535" y="8"/>
                  </a:cubicBezTo>
                  <a:lnTo>
                    <a:pt x="1162" y="1839"/>
                  </a:lnTo>
                  <a:close/>
                  <a:moveTo>
                    <a:pt x="1930" y="3213"/>
                  </a:moveTo>
                  <a:lnTo>
                    <a:pt x="15381" y="1611"/>
                  </a:lnTo>
                  <a:cubicBezTo>
                    <a:pt x="15381" y="1611"/>
                    <a:pt x="16670" y="1454"/>
                    <a:pt x="16804" y="2906"/>
                  </a:cubicBezTo>
                  <a:lnTo>
                    <a:pt x="2065" y="4661"/>
                  </a:lnTo>
                  <a:cubicBezTo>
                    <a:pt x="1711" y="4704"/>
                    <a:pt x="1401" y="4420"/>
                    <a:pt x="1364" y="4018"/>
                  </a:cubicBezTo>
                  <a:cubicBezTo>
                    <a:pt x="1327" y="3618"/>
                    <a:pt x="1577" y="3255"/>
                    <a:pt x="1930" y="3213"/>
                  </a:cubicBezTo>
                  <a:close/>
                  <a:moveTo>
                    <a:pt x="16055" y="8878"/>
                  </a:moveTo>
                  <a:cubicBezTo>
                    <a:pt x="15347" y="8963"/>
                    <a:pt x="14836" y="9677"/>
                    <a:pt x="14911" y="10479"/>
                  </a:cubicBezTo>
                  <a:lnTo>
                    <a:pt x="15045" y="11928"/>
                  </a:lnTo>
                  <a:cubicBezTo>
                    <a:pt x="15120" y="12730"/>
                    <a:pt x="15751" y="13309"/>
                    <a:pt x="16458" y="13225"/>
                  </a:cubicBezTo>
                  <a:lnTo>
                    <a:pt x="20304" y="12767"/>
                  </a:lnTo>
                  <a:cubicBezTo>
                    <a:pt x="21012" y="12682"/>
                    <a:pt x="21533" y="11966"/>
                    <a:pt x="21459" y="11164"/>
                  </a:cubicBezTo>
                  <a:lnTo>
                    <a:pt x="21324" y="9716"/>
                  </a:lnTo>
                  <a:cubicBezTo>
                    <a:pt x="21250" y="8913"/>
                    <a:pt x="20608" y="8336"/>
                    <a:pt x="19901" y="8420"/>
                  </a:cubicBezTo>
                  <a:lnTo>
                    <a:pt x="16055" y="8878"/>
                  </a:lnTo>
                  <a:close/>
                  <a:moveTo>
                    <a:pt x="16834" y="10250"/>
                  </a:moveTo>
                  <a:cubicBezTo>
                    <a:pt x="17188" y="10208"/>
                    <a:pt x="17508" y="10491"/>
                    <a:pt x="17545" y="10892"/>
                  </a:cubicBezTo>
                  <a:cubicBezTo>
                    <a:pt x="17582" y="11293"/>
                    <a:pt x="17322" y="11657"/>
                    <a:pt x="16968" y="11699"/>
                  </a:cubicBezTo>
                  <a:cubicBezTo>
                    <a:pt x="16614" y="11741"/>
                    <a:pt x="16293" y="11447"/>
                    <a:pt x="16256" y="11046"/>
                  </a:cubicBezTo>
                  <a:cubicBezTo>
                    <a:pt x="16219" y="10644"/>
                    <a:pt x="16480" y="10293"/>
                    <a:pt x="16834" y="102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2" name="Shape 34258">
              <a:extLst>
                <a:ext uri="{FF2B5EF4-FFF2-40B4-BE49-F238E27FC236}">
                  <a16:creationId xmlns:a16="http://schemas.microsoft.com/office/drawing/2014/main" id="{782B38B6-7885-E0FB-6B35-5977C84E5125}"/>
                </a:ext>
              </a:extLst>
            </p:cNvPr>
            <p:cNvSpPr/>
            <p:nvPr/>
          </p:nvSpPr>
          <p:spPr>
            <a:xfrm>
              <a:off x="13456598" y="7929263"/>
              <a:ext cx="368866" cy="329674"/>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3" name="Shape 34259">
              <a:extLst>
                <a:ext uri="{FF2B5EF4-FFF2-40B4-BE49-F238E27FC236}">
                  <a16:creationId xmlns:a16="http://schemas.microsoft.com/office/drawing/2014/main" id="{ACEA1985-C96B-D18C-1DB4-3239D01C5DBD}"/>
                </a:ext>
              </a:extLst>
            </p:cNvPr>
            <p:cNvSpPr/>
            <p:nvPr/>
          </p:nvSpPr>
          <p:spPr>
            <a:xfrm>
              <a:off x="12160172" y="6699066"/>
              <a:ext cx="392924" cy="351174"/>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4" name="Shape 34260">
              <a:extLst>
                <a:ext uri="{FF2B5EF4-FFF2-40B4-BE49-F238E27FC236}">
                  <a16:creationId xmlns:a16="http://schemas.microsoft.com/office/drawing/2014/main" id="{E2E15F41-8745-DF54-7A98-5CCD82B4B0A9}"/>
                </a:ext>
              </a:extLst>
            </p:cNvPr>
            <p:cNvSpPr/>
            <p:nvPr/>
          </p:nvSpPr>
          <p:spPr>
            <a:xfrm>
              <a:off x="10867845" y="10886425"/>
              <a:ext cx="279004" cy="249360"/>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5" name="Shape 34261">
              <a:extLst>
                <a:ext uri="{FF2B5EF4-FFF2-40B4-BE49-F238E27FC236}">
                  <a16:creationId xmlns:a16="http://schemas.microsoft.com/office/drawing/2014/main" id="{2854AF16-1899-28BD-ECE5-3F50BF094ACE}"/>
                </a:ext>
              </a:extLst>
            </p:cNvPr>
            <p:cNvSpPr/>
            <p:nvPr/>
          </p:nvSpPr>
          <p:spPr>
            <a:xfrm>
              <a:off x="12725585" y="12289966"/>
              <a:ext cx="373054" cy="303140"/>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6" name="Shape 34262">
              <a:extLst>
                <a:ext uri="{FF2B5EF4-FFF2-40B4-BE49-F238E27FC236}">
                  <a16:creationId xmlns:a16="http://schemas.microsoft.com/office/drawing/2014/main" id="{CBDEFF28-A355-BD1E-9EC9-71CA5C467CE0}"/>
                </a:ext>
              </a:extLst>
            </p:cNvPr>
            <p:cNvSpPr/>
            <p:nvPr/>
          </p:nvSpPr>
          <p:spPr>
            <a:xfrm>
              <a:off x="13639147" y="5652275"/>
              <a:ext cx="728794" cy="541076"/>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7" name="Shape 34263">
              <a:extLst>
                <a:ext uri="{FF2B5EF4-FFF2-40B4-BE49-F238E27FC236}">
                  <a16:creationId xmlns:a16="http://schemas.microsoft.com/office/drawing/2014/main" id="{F604FEFF-8D13-1B9F-D241-E7D2AFA9209B}"/>
                </a:ext>
              </a:extLst>
            </p:cNvPr>
            <p:cNvSpPr/>
            <p:nvPr/>
          </p:nvSpPr>
          <p:spPr>
            <a:xfrm>
              <a:off x="14075163" y="6302567"/>
              <a:ext cx="163854" cy="351178"/>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8" name="Shape 34264">
              <a:extLst>
                <a:ext uri="{FF2B5EF4-FFF2-40B4-BE49-F238E27FC236}">
                  <a16:creationId xmlns:a16="http://schemas.microsoft.com/office/drawing/2014/main" id="{29642944-FCFB-9027-DBEB-A3DE374E30A7}"/>
                </a:ext>
              </a:extLst>
            </p:cNvPr>
            <p:cNvSpPr/>
            <p:nvPr/>
          </p:nvSpPr>
          <p:spPr>
            <a:xfrm>
              <a:off x="11378351" y="9431234"/>
              <a:ext cx="527920" cy="391942"/>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9" name="Shape 34265">
              <a:extLst>
                <a:ext uri="{FF2B5EF4-FFF2-40B4-BE49-F238E27FC236}">
                  <a16:creationId xmlns:a16="http://schemas.microsoft.com/office/drawing/2014/main" id="{B4AE4AFC-DE57-6193-7D6C-068A638F5DC0}"/>
                </a:ext>
              </a:extLst>
            </p:cNvPr>
            <p:cNvSpPr/>
            <p:nvPr/>
          </p:nvSpPr>
          <p:spPr>
            <a:xfrm>
              <a:off x="13182794" y="4769147"/>
              <a:ext cx="316260" cy="234800"/>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grpSp>
      <p:sp>
        <p:nvSpPr>
          <p:cNvPr id="4" name="Espace réservé du numéro de diapositive 3">
            <a:extLst>
              <a:ext uri="{FF2B5EF4-FFF2-40B4-BE49-F238E27FC236}">
                <a16:creationId xmlns:a16="http://schemas.microsoft.com/office/drawing/2014/main" id="{724B4FFE-0890-D152-B5D4-39565FC14FE5}"/>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40</a:t>
            </a:fld>
            <a:endParaRPr lang="fr-CA" dirty="0">
              <a:solidFill>
                <a:prstClr val="black">
                  <a:tint val="75000"/>
                </a:prstClr>
              </a:solidFill>
            </a:endParaRPr>
          </a:p>
        </p:txBody>
      </p:sp>
      <p:sp>
        <p:nvSpPr>
          <p:cNvPr id="3" name="Espace réservé du pied de page 3">
            <a:extLst>
              <a:ext uri="{FF2B5EF4-FFF2-40B4-BE49-F238E27FC236}">
                <a16:creationId xmlns:a16="http://schemas.microsoft.com/office/drawing/2014/main" id="{7AE405CC-0624-DD0F-A1D3-D5727E1503A4}"/>
              </a:ext>
            </a:extLst>
          </p:cNvPr>
          <p:cNvSpPr>
            <a:spLocks noGrp="1"/>
          </p:cNvSpPr>
          <p:nvPr>
            <p:ph type="ftr" sz="quarter" idx="11"/>
            <p:custDataLst>
              <p:tags r:id="rId4"/>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Tree>
    <p:extLst>
      <p:ext uri="{BB962C8B-B14F-4D97-AF65-F5344CB8AC3E}">
        <p14:creationId xmlns:p14="http://schemas.microsoft.com/office/powerpoint/2010/main" val="3099429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840E23-7F2C-8E11-DA71-7DA666CA5434}"/>
              </a:ext>
            </a:extLst>
          </p:cNvPr>
          <p:cNvSpPr>
            <a:spLocks noGrp="1"/>
          </p:cNvSpPr>
          <p:nvPr>
            <p:ph type="title"/>
            <p:custDataLst>
              <p:tags r:id="rId1"/>
            </p:custDataLst>
          </p:nvPr>
        </p:nvSpPr>
        <p:spPr/>
        <p:txBody>
          <a:bodyPr/>
          <a:lstStyle/>
          <a:p>
            <a:r>
              <a:rPr lang="fr-CA" dirty="0"/>
              <a:t>Fiches de révision</a:t>
            </a:r>
          </a:p>
        </p:txBody>
      </p:sp>
      <p:sp>
        <p:nvSpPr>
          <p:cNvPr id="3" name="Espace réservé du texte 2">
            <a:extLst>
              <a:ext uri="{FF2B5EF4-FFF2-40B4-BE49-F238E27FC236}">
                <a16:creationId xmlns:a16="http://schemas.microsoft.com/office/drawing/2014/main" id="{2FAF2C2F-37C8-F41D-41FC-AA666B02AFA9}"/>
              </a:ext>
            </a:extLst>
          </p:cNvPr>
          <p:cNvSpPr>
            <a:spLocks noGrp="1"/>
          </p:cNvSpPr>
          <p:nvPr>
            <p:ph type="body" idx="1"/>
            <p:custDataLst>
              <p:tags r:id="rId2"/>
            </p:custDataLst>
          </p:nvPr>
        </p:nvSpPr>
        <p:spPr/>
        <p:txBody>
          <a:bodyPr/>
          <a:lstStyle/>
          <a:p>
            <a:r>
              <a:rPr lang="fr-CA" dirty="0"/>
              <a:t>Étapes pour analyser une commande spéciale</a:t>
            </a:r>
          </a:p>
        </p:txBody>
      </p:sp>
      <p:sp>
        <p:nvSpPr>
          <p:cNvPr id="5" name="Espace réservé du numéro de diapositive 4">
            <a:extLst>
              <a:ext uri="{FF2B5EF4-FFF2-40B4-BE49-F238E27FC236}">
                <a16:creationId xmlns:a16="http://schemas.microsoft.com/office/drawing/2014/main" id="{1611891C-A322-F4EE-1010-F6A1C20A9F14}"/>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41</a:t>
            </a:fld>
            <a:endParaRPr lang="fr-CA">
              <a:solidFill>
                <a:prstClr val="black">
                  <a:tint val="75000"/>
                </a:prstClr>
              </a:solidFill>
            </a:endParaRPr>
          </a:p>
        </p:txBody>
      </p:sp>
      <p:sp>
        <p:nvSpPr>
          <p:cNvPr id="6" name="Espace réservé du pied de page 3">
            <a:extLst>
              <a:ext uri="{FF2B5EF4-FFF2-40B4-BE49-F238E27FC236}">
                <a16:creationId xmlns:a16="http://schemas.microsoft.com/office/drawing/2014/main" id="{54F9BAB9-CA01-0BF8-7CFA-ED193503E958}"/>
              </a:ext>
            </a:extLst>
          </p:cNvPr>
          <p:cNvSpPr>
            <a:spLocks noGrp="1"/>
          </p:cNvSpPr>
          <p:nvPr>
            <p:ph type="ftr" sz="quarter" idx="11"/>
            <p:custDataLst>
              <p:tags r:id="rId4"/>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Tree>
    <p:extLst>
      <p:ext uri="{BB962C8B-B14F-4D97-AF65-F5344CB8AC3E}">
        <p14:creationId xmlns:p14="http://schemas.microsoft.com/office/powerpoint/2010/main" val="28646800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2946" name="Rectangle 2"/>
          <p:cNvSpPr>
            <a:spLocks noGrp="1" noChangeArrowheads="1"/>
          </p:cNvSpPr>
          <p:nvPr>
            <p:ph type="title"/>
            <p:custDataLst>
              <p:tags r:id="rId2"/>
            </p:custDataLst>
          </p:nvPr>
        </p:nvSpPr>
        <p:spPr>
          <a:xfrm>
            <a:off x="590550" y="180301"/>
            <a:ext cx="10991850" cy="1031881"/>
          </a:xfrm>
        </p:spPr>
        <p:txBody>
          <a:bodyPr>
            <a:noAutofit/>
          </a:bodyPr>
          <a:lstStyle/>
          <a:p>
            <a:pPr algn="ctr"/>
            <a:r>
              <a:rPr lang="fr-FR" sz="4000" dirty="0"/>
              <a:t>Éléments à considérer lors </a:t>
            </a:r>
            <a:br>
              <a:rPr lang="fr-FR" sz="4000" dirty="0"/>
            </a:br>
            <a:r>
              <a:rPr lang="fr-FR" sz="4000" dirty="0"/>
              <a:t>d’une commande spéciale (1/4)</a:t>
            </a:r>
            <a:endParaRPr lang="fr-CA" sz="4000" dirty="0"/>
          </a:p>
        </p:txBody>
      </p:sp>
      <p:sp>
        <p:nvSpPr>
          <p:cNvPr id="5" name="Espace réservé du contenu 4"/>
          <p:cNvSpPr>
            <a:spLocks noGrp="1"/>
          </p:cNvSpPr>
          <p:nvPr>
            <p:ph sz="half" idx="1"/>
            <p:custDataLst>
              <p:tags r:id="rId3"/>
            </p:custDataLst>
          </p:nvPr>
        </p:nvSpPr>
        <p:spPr>
          <a:xfrm>
            <a:off x="942975" y="1774949"/>
            <a:ext cx="10287000" cy="4578194"/>
          </a:xfrm>
        </p:spPr>
        <p:txBody>
          <a:bodyPr>
            <a:noAutofit/>
          </a:bodyPr>
          <a:lstStyle/>
          <a:p>
            <a:pPr marL="0" indent="0">
              <a:buNone/>
            </a:pPr>
            <a:r>
              <a:rPr lang="fr-CA" sz="2400" b="1" dirty="0"/>
              <a:t>Analyse préalable : analyse de capacité </a:t>
            </a:r>
          </a:p>
          <a:p>
            <a:pPr marL="0" indent="0">
              <a:buNone/>
            </a:pPr>
            <a:endParaRPr lang="fr-CA" sz="1200" b="1" dirty="0"/>
          </a:p>
          <a:p>
            <a:pPr lvl="1"/>
            <a:r>
              <a:rPr lang="fr-CA" dirty="0"/>
              <a:t>Quelle est la capacité totale ?</a:t>
            </a:r>
          </a:p>
          <a:p>
            <a:pPr lvl="1"/>
            <a:r>
              <a:rPr lang="fr-CA" dirty="0"/>
              <a:t>Quelle est la capacité nécessaire prévue pour les commandes régulières ?</a:t>
            </a:r>
          </a:p>
          <a:p>
            <a:pPr lvl="1"/>
            <a:r>
              <a:rPr lang="fr-CA" dirty="0"/>
              <a:t>Quelle est la capacité qui sera utilisée par la commande spéciale ?</a:t>
            </a:r>
          </a:p>
          <a:p>
            <a:pPr lvl="1"/>
            <a:r>
              <a:rPr lang="fr-CA" dirty="0"/>
              <a:t>À t-on la capacité excédentaire requise pour accepter la commande spéciale?</a:t>
            </a:r>
            <a:endParaRPr lang="fr-CA" sz="2400" dirty="0"/>
          </a:p>
          <a:p>
            <a:pPr lvl="2"/>
            <a:r>
              <a:rPr lang="fr-CA" sz="1600" dirty="0"/>
              <a:t>Si excédent de capacité 	</a:t>
            </a:r>
            <a:r>
              <a:rPr lang="fr-CA" sz="1600" dirty="0">
                <a:sym typeface="Wingdings" panose="05000000000000000000" pitchFamily="2" charset="2"/>
              </a:rPr>
              <a:t> Absence de coût de renonciation</a:t>
            </a:r>
          </a:p>
          <a:p>
            <a:pPr marL="914400" lvl="2" indent="0">
              <a:buNone/>
            </a:pPr>
            <a:endParaRPr lang="fr-CA" sz="1600" dirty="0"/>
          </a:p>
          <a:p>
            <a:pPr lvl="2"/>
            <a:r>
              <a:rPr lang="fr-CA" sz="1600" dirty="0">
                <a:sym typeface="Wingdings" panose="05000000000000000000" pitchFamily="2" charset="2"/>
              </a:rPr>
              <a:t>Si manque de capacité 	</a:t>
            </a:r>
            <a:r>
              <a:rPr lang="fr-CA" sz="1600" dirty="0"/>
              <a:t> Augmentation de la capacité (coûts fixes spécifiques)</a:t>
            </a:r>
          </a:p>
          <a:p>
            <a:pPr marL="457200" lvl="1" indent="0">
              <a:buNone/>
            </a:pPr>
            <a:r>
              <a:rPr lang="fr-CA" sz="2000" dirty="0"/>
              <a:t>				</a:t>
            </a:r>
            <a:r>
              <a:rPr lang="fr-CA" sz="1600" dirty="0">
                <a:sym typeface="Wingdings" panose="05000000000000000000" pitchFamily="2" charset="2"/>
              </a:rPr>
              <a:t> Diminution des commandes régulières (</a:t>
            </a:r>
            <a:r>
              <a:rPr lang="fr-CA" sz="1600" b="1" dirty="0">
                <a:sym typeface="Wingdings" panose="05000000000000000000" pitchFamily="2" charset="2"/>
              </a:rPr>
              <a:t>coût de renonciation</a:t>
            </a:r>
            <a:r>
              <a:rPr lang="fr-CA" sz="1600" dirty="0">
                <a:sym typeface="Wingdings" panose="05000000000000000000" pitchFamily="2" charset="2"/>
              </a:rPr>
              <a:t>)</a:t>
            </a:r>
            <a:endParaRPr lang="fr-CA" sz="1600" dirty="0"/>
          </a:p>
          <a:p>
            <a:pPr marL="457200" lvl="1" indent="0">
              <a:buNone/>
            </a:pPr>
            <a:endParaRPr lang="fr-CA" sz="1200" dirty="0"/>
          </a:p>
        </p:txBody>
      </p:sp>
      <p:sp>
        <p:nvSpPr>
          <p:cNvPr id="2" name="Espace réservé du numéro de diapositive 1">
            <a:extLst>
              <a:ext uri="{FF2B5EF4-FFF2-40B4-BE49-F238E27FC236}">
                <a16:creationId xmlns:a16="http://schemas.microsoft.com/office/drawing/2014/main" id="{A21B7379-9025-1023-1156-71B132774B21}"/>
              </a:ext>
            </a:extLst>
          </p:cNvPr>
          <p:cNvSpPr>
            <a:spLocks noGrp="1"/>
          </p:cNvSpPr>
          <p:nvPr>
            <p:ph type="sldNum" sz="quarter" idx="12"/>
            <p:custDataLst>
              <p:tags r:id="rId4"/>
            </p:custDataLst>
          </p:nvPr>
        </p:nvSpPr>
        <p:spPr/>
        <p:txBody>
          <a:bodyPr/>
          <a:lstStyle/>
          <a:p>
            <a:fld id="{1F20FBA3-27E4-4E13-841E-B59ED0E8E620}" type="slidenum">
              <a:rPr lang="fr-CA" smtClean="0">
                <a:solidFill>
                  <a:prstClr val="black">
                    <a:tint val="75000"/>
                  </a:prstClr>
                </a:solidFill>
              </a:rPr>
              <a:pPr/>
              <a:t>42</a:t>
            </a:fld>
            <a:endParaRPr lang="fr-CA">
              <a:solidFill>
                <a:prstClr val="black">
                  <a:tint val="75000"/>
                </a:prstClr>
              </a:solidFill>
            </a:endParaRPr>
          </a:p>
        </p:txBody>
      </p:sp>
      <p:sp>
        <p:nvSpPr>
          <p:cNvPr id="4" name="Espace réservé du pied de page 3">
            <a:extLst>
              <a:ext uri="{FF2B5EF4-FFF2-40B4-BE49-F238E27FC236}">
                <a16:creationId xmlns:a16="http://schemas.microsoft.com/office/drawing/2014/main" id="{B2DBDA84-CABF-4FBE-D8A1-DC977E8DA290}"/>
              </a:ext>
            </a:extLst>
          </p:cNvPr>
          <p:cNvSpPr>
            <a:spLocks noGrp="1"/>
          </p:cNvSpPr>
          <p:nvPr>
            <p:ph type="ftr" sz="quarter" idx="11"/>
            <p:custDataLst>
              <p:tags r:id="rId5"/>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2833963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2946" name="Rectangle 2"/>
          <p:cNvSpPr>
            <a:spLocks noGrp="1" noChangeArrowheads="1"/>
          </p:cNvSpPr>
          <p:nvPr>
            <p:ph type="title"/>
            <p:custDataLst>
              <p:tags r:id="rId2"/>
            </p:custDataLst>
          </p:nvPr>
        </p:nvSpPr>
        <p:spPr>
          <a:xfrm>
            <a:off x="628650" y="180301"/>
            <a:ext cx="11087100" cy="1031881"/>
          </a:xfrm>
        </p:spPr>
        <p:txBody>
          <a:bodyPr>
            <a:noAutofit/>
          </a:bodyPr>
          <a:lstStyle/>
          <a:p>
            <a:pPr algn="ctr"/>
            <a:r>
              <a:rPr lang="fr-FR" sz="4000"/>
              <a:t>Éléments à considérer lors </a:t>
            </a:r>
            <a:br>
              <a:rPr lang="fr-FR" sz="4000"/>
            </a:br>
            <a:r>
              <a:rPr lang="fr-FR" sz="4000"/>
              <a:t>d’une commande spéciale (2/4)</a:t>
            </a:r>
            <a:endParaRPr lang="fr-CA" sz="4000"/>
          </a:p>
        </p:txBody>
      </p:sp>
      <p:sp>
        <p:nvSpPr>
          <p:cNvPr id="7" name="Espace réservé du contenu 6"/>
          <p:cNvSpPr>
            <a:spLocks noGrp="1"/>
          </p:cNvSpPr>
          <p:nvPr>
            <p:ph sz="half" idx="2"/>
            <p:custDataLst>
              <p:tags r:id="rId3"/>
            </p:custDataLst>
          </p:nvPr>
        </p:nvSpPr>
        <p:spPr>
          <a:xfrm>
            <a:off x="904875" y="1598769"/>
            <a:ext cx="10448925" cy="4578194"/>
          </a:xfrm>
        </p:spPr>
        <p:txBody>
          <a:bodyPr>
            <a:normAutofit/>
          </a:bodyPr>
          <a:lstStyle/>
          <a:p>
            <a:pPr marL="0" indent="0">
              <a:buNone/>
            </a:pPr>
            <a:r>
              <a:rPr lang="fr-CA" sz="2400" b="1" dirty="0"/>
              <a:t>Calcul de la marge sur coûts spécifiques de la commande spéciale</a:t>
            </a:r>
          </a:p>
          <a:p>
            <a:pPr marL="0" indent="0">
              <a:buNone/>
            </a:pPr>
            <a:endParaRPr lang="fr-CA" sz="2400" b="1" dirty="0"/>
          </a:p>
          <a:p>
            <a:pPr lvl="1"/>
            <a:r>
              <a:rPr lang="fr-CA" dirty="0"/>
              <a:t>Examiner </a:t>
            </a:r>
            <a:r>
              <a:rPr lang="fr-CA" u="sng" dirty="0"/>
              <a:t>le prix de vente, </a:t>
            </a:r>
            <a:r>
              <a:rPr lang="fr-CA" dirty="0"/>
              <a:t>la structure des </a:t>
            </a:r>
            <a:r>
              <a:rPr lang="fr-CA" u="sng" dirty="0"/>
              <a:t>coûts variables </a:t>
            </a:r>
            <a:r>
              <a:rPr lang="fr-CA" dirty="0"/>
              <a:t>et le </a:t>
            </a:r>
            <a:r>
              <a:rPr lang="fr-CA" u="sng" dirty="0"/>
              <a:t>volume d’activité</a:t>
            </a:r>
            <a:r>
              <a:rPr lang="fr-CA" dirty="0"/>
              <a:t>.  </a:t>
            </a:r>
          </a:p>
          <a:p>
            <a:pPr lvl="2"/>
            <a:r>
              <a:rPr lang="fr-CA" sz="2400" dirty="0">
                <a:sym typeface="Wingdings" panose="05000000000000000000" pitchFamily="2" charset="2"/>
              </a:rPr>
              <a:t></a:t>
            </a:r>
            <a:r>
              <a:rPr lang="fr-CA" sz="2400" dirty="0"/>
              <a:t> </a:t>
            </a:r>
            <a:r>
              <a:rPr lang="fr-CA" sz="2400" dirty="0">
                <a:sym typeface="Wingdings" panose="05000000000000000000" pitchFamily="2" charset="2"/>
              </a:rPr>
              <a:t></a:t>
            </a:r>
            <a:r>
              <a:rPr lang="fr-CA" sz="2400" dirty="0"/>
              <a:t> du prix de vente</a:t>
            </a:r>
          </a:p>
          <a:p>
            <a:pPr lvl="2"/>
            <a:r>
              <a:rPr lang="fr-CA" sz="2400" dirty="0">
                <a:sym typeface="Wingdings" panose="05000000000000000000" pitchFamily="2" charset="2"/>
              </a:rPr>
              <a:t></a:t>
            </a:r>
            <a:r>
              <a:rPr lang="fr-CA" sz="2400" dirty="0"/>
              <a:t> </a:t>
            </a:r>
            <a:r>
              <a:rPr lang="fr-CA" sz="2400" dirty="0">
                <a:sym typeface="Wingdings" panose="05000000000000000000" pitchFamily="2" charset="2"/>
              </a:rPr>
              <a:t></a:t>
            </a:r>
            <a:r>
              <a:rPr lang="fr-CA" sz="2400" dirty="0"/>
              <a:t> des coûts variables</a:t>
            </a:r>
          </a:p>
          <a:p>
            <a:pPr lvl="2"/>
            <a:r>
              <a:rPr lang="fr-CA" sz="2400" b="1" i="1" dirty="0"/>
              <a:t>La MCV totale additionnelle des produits de la commande est-elle positive?</a:t>
            </a:r>
          </a:p>
          <a:p>
            <a:pPr marL="457200" lvl="1" indent="0">
              <a:buNone/>
            </a:pPr>
            <a:endParaRPr lang="fr-CA" u="sng" dirty="0"/>
          </a:p>
          <a:p>
            <a:pPr lvl="1"/>
            <a:r>
              <a:rPr lang="fr-CA" sz="2400" dirty="0"/>
              <a:t>Examiner les </a:t>
            </a:r>
            <a:r>
              <a:rPr lang="fr-CA" sz="2400" u="sng" dirty="0"/>
              <a:t>coûts fixes spécifiques</a:t>
            </a:r>
            <a:endParaRPr lang="fr-CA" sz="2400" u="sng" dirty="0">
              <a:highlight>
                <a:srgbClr val="FFFF00"/>
              </a:highlight>
            </a:endParaRPr>
          </a:p>
          <a:p>
            <a:pPr lvl="2"/>
            <a:r>
              <a:rPr lang="fr-CA" sz="2000" b="1" i="1" dirty="0"/>
              <a:t>La MCV totale additionnelle des produits de la commande est-elle positive et couvre-t-elle les coûts fixes spécifiques?</a:t>
            </a:r>
          </a:p>
          <a:p>
            <a:pPr lvl="2"/>
            <a:endParaRPr lang="fr-CA" u="sng" dirty="0"/>
          </a:p>
          <a:p>
            <a:pPr marL="0" indent="0">
              <a:buNone/>
            </a:pPr>
            <a:endParaRPr lang="fr-CA" dirty="0"/>
          </a:p>
        </p:txBody>
      </p:sp>
      <p:sp>
        <p:nvSpPr>
          <p:cNvPr id="2" name="Espace réservé du numéro de diapositive 1">
            <a:extLst>
              <a:ext uri="{FF2B5EF4-FFF2-40B4-BE49-F238E27FC236}">
                <a16:creationId xmlns:a16="http://schemas.microsoft.com/office/drawing/2014/main" id="{741ADA7F-0D14-FFD0-92F7-24AC1E0EE169}"/>
              </a:ext>
            </a:extLst>
          </p:cNvPr>
          <p:cNvSpPr>
            <a:spLocks noGrp="1"/>
          </p:cNvSpPr>
          <p:nvPr>
            <p:ph type="sldNum" sz="quarter" idx="12"/>
            <p:custDataLst>
              <p:tags r:id="rId4"/>
            </p:custDataLst>
          </p:nvPr>
        </p:nvSpPr>
        <p:spPr/>
        <p:txBody>
          <a:bodyPr/>
          <a:lstStyle/>
          <a:p>
            <a:fld id="{1F20FBA3-27E4-4E13-841E-B59ED0E8E620}" type="slidenum">
              <a:rPr lang="fr-CA" smtClean="0">
                <a:solidFill>
                  <a:prstClr val="black">
                    <a:tint val="75000"/>
                  </a:prstClr>
                </a:solidFill>
              </a:rPr>
              <a:pPr/>
              <a:t>43</a:t>
            </a:fld>
            <a:endParaRPr lang="fr-CA">
              <a:solidFill>
                <a:prstClr val="black">
                  <a:tint val="75000"/>
                </a:prstClr>
              </a:solidFill>
            </a:endParaRPr>
          </a:p>
        </p:txBody>
      </p:sp>
      <p:sp>
        <p:nvSpPr>
          <p:cNvPr id="4" name="Espace réservé du pied de page 3">
            <a:extLst>
              <a:ext uri="{FF2B5EF4-FFF2-40B4-BE49-F238E27FC236}">
                <a16:creationId xmlns:a16="http://schemas.microsoft.com/office/drawing/2014/main" id="{864F87ED-1B16-B020-B4F6-E09D2AA46EB8}"/>
              </a:ext>
            </a:extLst>
          </p:cNvPr>
          <p:cNvSpPr>
            <a:spLocks noGrp="1"/>
          </p:cNvSpPr>
          <p:nvPr>
            <p:ph type="ftr" sz="quarter" idx="11"/>
            <p:custDataLst>
              <p:tags r:id="rId5"/>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29255556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2946" name="Rectangle 2"/>
          <p:cNvSpPr>
            <a:spLocks noGrp="1" noChangeArrowheads="1"/>
          </p:cNvSpPr>
          <p:nvPr>
            <p:ph type="title"/>
            <p:custDataLst>
              <p:tags r:id="rId2"/>
            </p:custDataLst>
          </p:nvPr>
        </p:nvSpPr>
        <p:spPr>
          <a:xfrm>
            <a:off x="704849" y="180301"/>
            <a:ext cx="10944225" cy="1031881"/>
          </a:xfrm>
        </p:spPr>
        <p:txBody>
          <a:bodyPr>
            <a:noAutofit/>
          </a:bodyPr>
          <a:lstStyle/>
          <a:p>
            <a:pPr algn="ctr"/>
            <a:r>
              <a:rPr lang="fr-FR" sz="4000" dirty="0"/>
              <a:t>Éléments à considérer lors </a:t>
            </a:r>
            <a:br>
              <a:rPr lang="fr-FR" sz="4000" dirty="0"/>
            </a:br>
            <a:r>
              <a:rPr lang="fr-FR" sz="4000" dirty="0"/>
              <a:t>d’une commande spéciale (3/4)</a:t>
            </a:r>
            <a:endParaRPr lang="fr-CA" sz="4000" dirty="0"/>
          </a:p>
        </p:txBody>
      </p:sp>
      <p:sp>
        <p:nvSpPr>
          <p:cNvPr id="5" name="Espace réservé du contenu 4"/>
          <p:cNvSpPr>
            <a:spLocks noGrp="1"/>
          </p:cNvSpPr>
          <p:nvPr>
            <p:ph sz="half" idx="1"/>
            <p:custDataLst>
              <p:tags r:id="rId3"/>
            </p:custDataLst>
          </p:nvPr>
        </p:nvSpPr>
        <p:spPr>
          <a:xfrm>
            <a:off x="852487" y="1529333"/>
            <a:ext cx="10487025" cy="4823810"/>
          </a:xfrm>
        </p:spPr>
        <p:txBody>
          <a:bodyPr>
            <a:noAutofit/>
          </a:bodyPr>
          <a:lstStyle/>
          <a:p>
            <a:pPr marL="0" indent="0">
              <a:buNone/>
            </a:pPr>
            <a:r>
              <a:rPr lang="fr-CA" sz="2400" b="1" dirty="0">
                <a:sym typeface="Wingdings" panose="05000000000000000000" pitchFamily="2" charset="2"/>
              </a:rPr>
              <a:t>[Déterminer le coût de renonciation]</a:t>
            </a:r>
          </a:p>
          <a:p>
            <a:pPr marL="0" indent="0">
              <a:buNone/>
            </a:pPr>
            <a:r>
              <a:rPr lang="fr-CA" sz="2400" dirty="0">
                <a:sym typeface="Wingdings" panose="05000000000000000000" pitchFamily="2" charset="2"/>
              </a:rPr>
              <a:t>ATTENTION : Si nous acceptons la commande spéciale, toutes les unités de cette commande doivent être produites. </a:t>
            </a:r>
          </a:p>
          <a:p>
            <a:pPr marL="0" indent="0">
              <a:buNone/>
            </a:pPr>
            <a:endParaRPr lang="fr-CA" sz="2400" dirty="0">
              <a:sym typeface="Wingdings" panose="05000000000000000000" pitchFamily="2" charset="2"/>
            </a:endParaRPr>
          </a:p>
          <a:p>
            <a:pPr marL="0" indent="0">
              <a:buNone/>
            </a:pPr>
            <a:r>
              <a:rPr lang="fr-CA" sz="2400" dirty="0">
                <a:sym typeface="Wingdings" panose="05000000000000000000" pitchFamily="2" charset="2"/>
              </a:rPr>
              <a:t>S’il y a un manque de capacité = </a:t>
            </a:r>
            <a:r>
              <a:rPr lang="fr-CA" sz="2400" dirty="0"/>
              <a:t> du volume d’activité des unités régulières.</a:t>
            </a:r>
          </a:p>
          <a:p>
            <a:pPr lvl="1"/>
            <a:r>
              <a:rPr lang="fr-CA" sz="2000" dirty="0"/>
              <a:t>S’il y a </a:t>
            </a:r>
            <a:r>
              <a:rPr lang="fr-CA" sz="2000" u="sng" dirty="0"/>
              <a:t>un produit unique </a:t>
            </a:r>
            <a:r>
              <a:rPr lang="fr-CA" sz="2000" dirty="0"/>
              <a:t>: </a:t>
            </a:r>
          </a:p>
          <a:p>
            <a:pPr marL="457200" lvl="1" indent="0">
              <a:buNone/>
            </a:pPr>
            <a:r>
              <a:rPr lang="fr-CA" sz="2000" dirty="0"/>
              <a:t>   Coût de renonciation = unités auxquelles on renonce x MCV unitaire associée à ces unités</a:t>
            </a:r>
          </a:p>
          <a:p>
            <a:pPr lvl="1">
              <a:spcBef>
                <a:spcPts val="1000"/>
              </a:spcBef>
            </a:pPr>
            <a:r>
              <a:rPr lang="fr-CA" sz="2000" dirty="0">
                <a:sym typeface="Wingdings" panose="05000000000000000000" pitchFamily="2" charset="2"/>
              </a:rPr>
              <a:t>S’il y a </a:t>
            </a:r>
            <a:r>
              <a:rPr lang="fr-CA" sz="2000" u="sng" dirty="0">
                <a:sym typeface="Wingdings" panose="05000000000000000000" pitchFamily="2" charset="2"/>
              </a:rPr>
              <a:t>plusieurs produits :</a:t>
            </a:r>
            <a:endParaRPr lang="fr-CA" u="sng" dirty="0">
              <a:sym typeface="Wingdings" panose="05000000000000000000" pitchFamily="2" charset="2"/>
            </a:endParaRPr>
          </a:p>
          <a:p>
            <a:pPr lvl="2">
              <a:spcBef>
                <a:spcPts val="1000"/>
              </a:spcBef>
            </a:pPr>
            <a:r>
              <a:rPr lang="fr-CA" dirty="0"/>
              <a:t>on va renoncer en priorité aux produits qui ont la </a:t>
            </a:r>
            <a:r>
              <a:rPr lang="fr-CA" b="1" dirty="0"/>
              <a:t>MCV/facteur contraignant </a:t>
            </a:r>
            <a:r>
              <a:rPr lang="fr-CA" dirty="0"/>
              <a:t>la plus petite ou la </a:t>
            </a:r>
            <a:r>
              <a:rPr lang="fr-CA" b="1" dirty="0"/>
              <a:t>Marge sur coûts spécifiques </a:t>
            </a:r>
            <a:r>
              <a:rPr lang="fr-CA" dirty="0"/>
              <a:t>la plus faible.</a:t>
            </a:r>
            <a:endParaRPr lang="fr-CA" sz="2000" dirty="0">
              <a:sym typeface="Wingdings" panose="05000000000000000000" pitchFamily="2" charset="2"/>
            </a:endParaRPr>
          </a:p>
          <a:p>
            <a:pPr marL="0" indent="0">
              <a:buNone/>
            </a:pPr>
            <a:endParaRPr lang="fr-CA" sz="1600" b="1" dirty="0"/>
          </a:p>
        </p:txBody>
      </p:sp>
      <p:sp>
        <p:nvSpPr>
          <p:cNvPr id="2" name="Espace réservé du numéro de diapositive 1">
            <a:extLst>
              <a:ext uri="{FF2B5EF4-FFF2-40B4-BE49-F238E27FC236}">
                <a16:creationId xmlns:a16="http://schemas.microsoft.com/office/drawing/2014/main" id="{9ADDB04B-8C87-0C58-BAD9-3249DB7330AF}"/>
              </a:ext>
            </a:extLst>
          </p:cNvPr>
          <p:cNvSpPr>
            <a:spLocks noGrp="1"/>
          </p:cNvSpPr>
          <p:nvPr>
            <p:ph type="sldNum" sz="quarter" idx="12"/>
            <p:custDataLst>
              <p:tags r:id="rId4"/>
            </p:custDataLst>
          </p:nvPr>
        </p:nvSpPr>
        <p:spPr/>
        <p:txBody>
          <a:bodyPr/>
          <a:lstStyle/>
          <a:p>
            <a:fld id="{1F20FBA3-27E4-4E13-841E-B59ED0E8E620}" type="slidenum">
              <a:rPr lang="fr-CA" smtClean="0">
                <a:solidFill>
                  <a:prstClr val="black">
                    <a:tint val="75000"/>
                  </a:prstClr>
                </a:solidFill>
              </a:rPr>
              <a:pPr/>
              <a:t>44</a:t>
            </a:fld>
            <a:endParaRPr lang="fr-CA">
              <a:solidFill>
                <a:prstClr val="black">
                  <a:tint val="75000"/>
                </a:prstClr>
              </a:solidFill>
            </a:endParaRPr>
          </a:p>
        </p:txBody>
      </p:sp>
      <p:sp>
        <p:nvSpPr>
          <p:cNvPr id="4" name="Espace réservé du pied de page 3">
            <a:extLst>
              <a:ext uri="{FF2B5EF4-FFF2-40B4-BE49-F238E27FC236}">
                <a16:creationId xmlns:a16="http://schemas.microsoft.com/office/drawing/2014/main" id="{86F99F78-25DC-FFB1-05A0-33465D2FD834}"/>
              </a:ext>
            </a:extLst>
          </p:cNvPr>
          <p:cNvSpPr>
            <a:spLocks noGrp="1"/>
          </p:cNvSpPr>
          <p:nvPr>
            <p:ph type="ftr" sz="quarter" idx="11"/>
            <p:custDataLst>
              <p:tags r:id="rId5"/>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34670789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2946" name="Rectangle 2"/>
          <p:cNvSpPr>
            <a:spLocks noGrp="1" noChangeArrowheads="1"/>
          </p:cNvSpPr>
          <p:nvPr>
            <p:ph type="title"/>
            <p:custDataLst>
              <p:tags r:id="rId2"/>
            </p:custDataLst>
          </p:nvPr>
        </p:nvSpPr>
        <p:spPr>
          <a:xfrm>
            <a:off x="704849" y="180301"/>
            <a:ext cx="10944225" cy="1031881"/>
          </a:xfrm>
        </p:spPr>
        <p:txBody>
          <a:bodyPr>
            <a:noAutofit/>
          </a:bodyPr>
          <a:lstStyle/>
          <a:p>
            <a:pPr algn="ctr"/>
            <a:r>
              <a:rPr lang="fr-FR" sz="4000" dirty="0"/>
              <a:t>Éléments à considérer lors </a:t>
            </a:r>
            <a:br>
              <a:rPr lang="fr-FR" sz="4000" dirty="0"/>
            </a:br>
            <a:r>
              <a:rPr lang="fr-FR" sz="4000" dirty="0"/>
              <a:t>d’une commande spéciale (4/4)</a:t>
            </a:r>
            <a:endParaRPr lang="fr-CA" sz="4000" dirty="0"/>
          </a:p>
        </p:txBody>
      </p:sp>
      <p:sp>
        <p:nvSpPr>
          <p:cNvPr id="5" name="Espace réservé du contenu 4"/>
          <p:cNvSpPr>
            <a:spLocks noGrp="1"/>
          </p:cNvSpPr>
          <p:nvPr>
            <p:ph sz="half" idx="1"/>
            <p:custDataLst>
              <p:tags r:id="rId3"/>
            </p:custDataLst>
          </p:nvPr>
        </p:nvSpPr>
        <p:spPr>
          <a:xfrm>
            <a:off x="852615" y="1529333"/>
            <a:ext cx="10486897" cy="4823810"/>
          </a:xfrm>
        </p:spPr>
        <p:txBody>
          <a:bodyPr vert="horz" lIns="91440" tIns="45720" rIns="91440" bIns="45720" rtlCol="0" anchor="t">
            <a:noAutofit/>
          </a:bodyPr>
          <a:lstStyle/>
          <a:p>
            <a:pPr marL="0" indent="0">
              <a:buNone/>
            </a:pPr>
            <a:r>
              <a:rPr lang="fr-CA" sz="2200" b="1" dirty="0"/>
              <a:t>[Calculer les économies d’échelle]  </a:t>
            </a:r>
          </a:p>
          <a:p>
            <a:pPr lvl="1"/>
            <a:r>
              <a:rPr lang="fr-CA" sz="2000" dirty="0"/>
              <a:t>Calculer les économies d’échelle liées aux achats de matières premières (elles viennent augmenter le résultat différentiel)</a:t>
            </a:r>
          </a:p>
          <a:p>
            <a:pPr>
              <a:buFont typeface="Wingdings" pitchFamily="2" charset="2"/>
              <a:buChar char="§"/>
            </a:pPr>
            <a:r>
              <a:rPr lang="fr-CA" sz="1400" dirty="0">
                <a:solidFill>
                  <a:srgbClr val="C00000"/>
                </a:solidFill>
              </a:rPr>
              <a:t>Note: P</a:t>
            </a:r>
            <a:r>
              <a:rPr lang="fr-FR" sz="1400" dirty="0" err="1">
                <a:solidFill>
                  <a:srgbClr val="C00000"/>
                </a:solidFill>
                <a:latin typeface="+mj-lt"/>
              </a:rPr>
              <a:t>our</a:t>
            </a:r>
            <a:r>
              <a:rPr lang="fr-FR" sz="1400" dirty="0">
                <a:solidFill>
                  <a:srgbClr val="C00000"/>
                </a:solidFill>
                <a:latin typeface="+mj-lt"/>
              </a:rPr>
              <a:t> fin de simplification pour le cours 10904, nous poserons comme hypothèse qu’il n’y a pas d’économies d’échelle lors de la décision d’accepter ou non une commande spéciale. Cette notion sera abordée dans vos autres cours de comptabilité.</a:t>
            </a:r>
          </a:p>
          <a:p>
            <a:pPr marL="0" indent="0" algn="ctr">
              <a:buNone/>
            </a:pPr>
            <a:endParaRPr lang="fr-CA" sz="2000" b="1" dirty="0">
              <a:latin typeface="Arial" panose="020B0604020202020204" pitchFamily="34" charset="0"/>
              <a:cs typeface="Arial" panose="020B0604020202020204" pitchFamily="34" charset="0"/>
            </a:endParaRPr>
          </a:p>
          <a:p>
            <a:pPr marL="0" indent="0" algn="ctr">
              <a:buNone/>
            </a:pPr>
            <a:r>
              <a:rPr lang="fr-CA" sz="2000" b="1" dirty="0">
                <a:latin typeface="Arial" panose="020B0604020202020204" pitchFamily="34" charset="0"/>
                <a:cs typeface="Arial" panose="020B0604020202020204" pitchFamily="34" charset="0"/>
              </a:rPr>
              <a:t>À partir de tous les éléments précédents, déterminer le </a:t>
            </a:r>
          </a:p>
          <a:p>
            <a:pPr marL="0" indent="0" algn="ctr">
              <a:buNone/>
            </a:pPr>
            <a:r>
              <a:rPr lang="fr-CA" sz="2000" b="1" dirty="0">
                <a:latin typeface="Arial" panose="020B0604020202020204" pitchFamily="34" charset="0"/>
                <a:cs typeface="Arial" panose="020B0604020202020204" pitchFamily="34" charset="0"/>
              </a:rPr>
              <a:t>résultat différentiel</a:t>
            </a:r>
          </a:p>
          <a:p>
            <a:pPr marL="0" indent="0" algn="ctr">
              <a:spcAft>
                <a:spcPts val="600"/>
              </a:spcAft>
              <a:buNone/>
            </a:pPr>
            <a:r>
              <a:rPr lang="fr-CA" sz="2000" b="1" dirty="0">
                <a:latin typeface="Arial" panose="020B0604020202020204" pitchFamily="34" charset="0"/>
                <a:cs typeface="Arial" panose="020B0604020202020204" pitchFamily="34" charset="0"/>
              </a:rPr>
              <a:t>(calculez l’impact sur le résultat </a:t>
            </a:r>
            <a:r>
              <a:rPr lang="fr-CA" sz="2000" b="1" dirty="0">
                <a:latin typeface="Calibri" panose="020F0502020204030204" pitchFamily="34" charset="0"/>
                <a:cs typeface="Calibri" panose="020F0502020204030204" pitchFamily="34" charset="0"/>
              </a:rPr>
              <a:t>↑↓)</a:t>
            </a:r>
          </a:p>
          <a:p>
            <a:pPr marL="0" indent="0">
              <a:buNone/>
            </a:pPr>
            <a:r>
              <a:rPr lang="fr-CA" sz="2000" b="1" dirty="0">
                <a:latin typeface="Arial"/>
                <a:cs typeface="Arial"/>
              </a:rPr>
              <a:t>Prendre une décision en intégrant les éléments </a:t>
            </a:r>
            <a:r>
              <a:rPr lang="fr-CA" sz="2000" b="1" u="sng" dirty="0">
                <a:latin typeface="Arial"/>
                <a:cs typeface="Arial"/>
              </a:rPr>
              <a:t>non financiers</a:t>
            </a:r>
            <a:r>
              <a:rPr lang="fr-CA" sz="2000" b="1" dirty="0">
                <a:latin typeface="Arial"/>
                <a:cs typeface="Arial"/>
              </a:rPr>
              <a:t> pertinents pour la prise de décision :</a:t>
            </a:r>
          </a:p>
          <a:p>
            <a:r>
              <a:rPr lang="fr-CA" sz="2400" dirty="0"/>
              <a:t>Intégrer par exemple les impacts sur les clients actuels, les employés</a:t>
            </a:r>
            <a:r>
              <a:rPr lang="en-US" sz="2400" dirty="0"/>
              <a:t>, </a:t>
            </a:r>
            <a:r>
              <a:rPr lang="fr-CA" sz="2400" dirty="0"/>
              <a:t>les liquidités, la rentabilité</a:t>
            </a:r>
            <a:r>
              <a:rPr lang="en-US" sz="2400" dirty="0"/>
              <a:t>, les </a:t>
            </a:r>
            <a:r>
              <a:rPr lang="en-US" sz="2400" dirty="0" err="1"/>
              <a:t>fournisseurs</a:t>
            </a:r>
            <a:r>
              <a:rPr lang="en-US" sz="2400" dirty="0"/>
              <a:t>, e</a:t>
            </a:r>
            <a:r>
              <a:rPr lang="fr-CA" sz="2400" dirty="0" err="1"/>
              <a:t>tc</a:t>
            </a:r>
            <a:r>
              <a:rPr lang="fr-CA" sz="2400" dirty="0"/>
              <a:t>.</a:t>
            </a:r>
            <a:endParaRPr lang="en-US" sz="2400" dirty="0"/>
          </a:p>
          <a:p>
            <a:pPr marL="0" indent="0" algn="ctr">
              <a:buNone/>
            </a:pPr>
            <a:endParaRPr lang="fr-CA" sz="2400" b="1"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5F71502B-02CC-2366-0A12-EEA5FB4C89ED}"/>
              </a:ext>
            </a:extLst>
          </p:cNvPr>
          <p:cNvSpPr/>
          <p:nvPr>
            <p:custDataLst>
              <p:tags r:id="rId4"/>
            </p:custDataLst>
          </p:nvPr>
        </p:nvSpPr>
        <p:spPr>
          <a:xfrm>
            <a:off x="852615" y="1529333"/>
            <a:ext cx="10586715" cy="1598331"/>
          </a:xfrm>
          <a:prstGeom prst="rect">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fr-CA"/>
          </a:p>
        </p:txBody>
      </p:sp>
      <p:sp>
        <p:nvSpPr>
          <p:cNvPr id="3" name="Espace réservé du numéro de diapositive 2">
            <a:extLst>
              <a:ext uri="{FF2B5EF4-FFF2-40B4-BE49-F238E27FC236}">
                <a16:creationId xmlns:a16="http://schemas.microsoft.com/office/drawing/2014/main" id="{3B86F5AC-6CC3-5B85-C5B8-3650B762D58B}"/>
              </a:ext>
            </a:extLst>
          </p:cNvPr>
          <p:cNvSpPr>
            <a:spLocks noGrp="1"/>
          </p:cNvSpPr>
          <p:nvPr>
            <p:ph type="sldNum" sz="quarter" idx="12"/>
            <p:custDataLst>
              <p:tags r:id="rId5"/>
            </p:custDataLst>
          </p:nvPr>
        </p:nvSpPr>
        <p:spPr/>
        <p:txBody>
          <a:bodyPr/>
          <a:lstStyle/>
          <a:p>
            <a:fld id="{1F20FBA3-27E4-4E13-841E-B59ED0E8E620}" type="slidenum">
              <a:rPr lang="fr-CA" smtClean="0">
                <a:solidFill>
                  <a:prstClr val="black">
                    <a:tint val="75000"/>
                  </a:prstClr>
                </a:solidFill>
              </a:rPr>
              <a:pPr/>
              <a:t>45</a:t>
            </a:fld>
            <a:endParaRPr lang="fr-CA">
              <a:solidFill>
                <a:prstClr val="black">
                  <a:tint val="75000"/>
                </a:prstClr>
              </a:solidFill>
            </a:endParaRPr>
          </a:p>
        </p:txBody>
      </p:sp>
      <p:sp>
        <p:nvSpPr>
          <p:cNvPr id="6" name="Espace réservé du pied de page 3">
            <a:extLst>
              <a:ext uri="{FF2B5EF4-FFF2-40B4-BE49-F238E27FC236}">
                <a16:creationId xmlns:a16="http://schemas.microsoft.com/office/drawing/2014/main" id="{7D5D0937-62DF-0A10-5B89-C36034314267}"/>
              </a:ext>
            </a:extLst>
          </p:cNvPr>
          <p:cNvSpPr>
            <a:spLocks noGrp="1"/>
          </p:cNvSpPr>
          <p:nvPr>
            <p:ph type="ftr" sz="quarter" idx="11"/>
            <p:custDataLst>
              <p:tags r:id="rId6"/>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25748443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B929F8-4776-47EB-9934-DB559A04E97B}"/>
              </a:ext>
            </a:extLst>
          </p:cNvPr>
          <p:cNvSpPr>
            <a:spLocks noGrp="1"/>
          </p:cNvSpPr>
          <p:nvPr>
            <p:ph type="title"/>
            <p:custDataLst>
              <p:tags r:id="rId2"/>
            </p:custDataLst>
          </p:nvPr>
        </p:nvSpPr>
        <p:spPr>
          <a:xfrm>
            <a:off x="838199" y="160589"/>
            <a:ext cx="11156013" cy="1042570"/>
          </a:xfrm>
        </p:spPr>
        <p:txBody>
          <a:bodyPr>
            <a:normAutofit fontScale="90000"/>
          </a:bodyPr>
          <a:lstStyle/>
          <a:p>
            <a:pPr algn="ctr"/>
            <a:r>
              <a:rPr lang="fr-CA" dirty="0"/>
              <a:t>Analyse d’une commande spéciale -</a:t>
            </a:r>
            <a:br>
              <a:rPr lang="fr-CA" dirty="0"/>
            </a:br>
            <a:r>
              <a:rPr lang="fr-CA" dirty="0"/>
              <a:t>Calcul du résultat différentiel </a:t>
            </a:r>
            <a:r>
              <a:rPr lang="fr-CA" sz="3600" dirty="0"/>
              <a:t>(impact sur le résultat)</a:t>
            </a:r>
            <a:endParaRPr lang="fr-CA" dirty="0"/>
          </a:p>
        </p:txBody>
      </p:sp>
      <p:sp>
        <p:nvSpPr>
          <p:cNvPr id="4" name="Espace réservé du pied de page 3">
            <a:extLst>
              <a:ext uri="{FF2B5EF4-FFF2-40B4-BE49-F238E27FC236}">
                <a16:creationId xmlns:a16="http://schemas.microsoft.com/office/drawing/2014/main" id="{B9C7904C-18D3-833A-3F2E-67C0632BAE5A}"/>
              </a:ext>
            </a:extLst>
          </p:cNvPr>
          <p:cNvSpPr>
            <a:spLocks noGrp="1"/>
          </p:cNvSpPr>
          <p:nvPr>
            <p:ph type="ftr" sz="quarter" idx="11"/>
            <p:custDataLst>
              <p:tags r:id="rId3"/>
            </p:custDataLst>
          </p:nvPr>
        </p:nvSpPr>
        <p:spPr>
          <a:xfrm>
            <a:off x="4843754" y="6503436"/>
            <a:ext cx="2504492" cy="303343"/>
          </a:xfrm>
        </p:spPr>
        <p:txBody>
          <a:bodyPr/>
          <a:lstStyle/>
          <a:p>
            <a:pPr algn="ctr"/>
            <a:r>
              <a:rPr lang="pt-BR" dirty="0">
                <a:solidFill>
                  <a:prstClr val="black">
                    <a:tint val="75000"/>
                  </a:prstClr>
                </a:solidFill>
              </a:rPr>
              <a:t>(c) 10904 / S03</a:t>
            </a:r>
            <a:endParaRPr lang="fr-CA" dirty="0">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0D195ED2-12C5-3667-2839-FFB2AF2B4842}"/>
              </a:ext>
            </a:extLst>
          </p:cNvPr>
          <p:cNvSpPr>
            <a:spLocks noGrp="1"/>
          </p:cNvSpPr>
          <p:nvPr>
            <p:ph type="sldNum" sz="quarter" idx="12"/>
            <p:custDataLst>
              <p:tags r:id="rId4"/>
            </p:custDataLst>
          </p:nvPr>
        </p:nvSpPr>
        <p:spPr/>
        <p:txBody>
          <a:bodyPr/>
          <a:lstStyle/>
          <a:p>
            <a:fld id="{1F20FBA3-27E4-4E13-841E-B59ED0E8E620}" type="slidenum">
              <a:rPr lang="fr-CA" smtClean="0">
                <a:solidFill>
                  <a:prstClr val="black">
                    <a:tint val="75000"/>
                  </a:prstClr>
                </a:solidFill>
              </a:rPr>
              <a:pPr/>
              <a:t>46</a:t>
            </a:fld>
            <a:endParaRPr lang="fr-CA">
              <a:solidFill>
                <a:prstClr val="black">
                  <a:tint val="75000"/>
                </a:prstClr>
              </a:solidFill>
            </a:endParaRPr>
          </a:p>
        </p:txBody>
      </p:sp>
      <p:sp>
        <p:nvSpPr>
          <p:cNvPr id="14" name="Rectangle 13">
            <a:extLst>
              <a:ext uri="{FF2B5EF4-FFF2-40B4-BE49-F238E27FC236}">
                <a16:creationId xmlns:a16="http://schemas.microsoft.com/office/drawing/2014/main" id="{476902AD-0D87-4AD4-9141-DFC163EE54CE}"/>
              </a:ext>
            </a:extLst>
          </p:cNvPr>
          <p:cNvSpPr/>
          <p:nvPr>
            <p:custDataLst>
              <p:tags r:id="rId5"/>
            </p:custDataLst>
          </p:nvPr>
        </p:nvSpPr>
        <p:spPr>
          <a:xfrm>
            <a:off x="437258" y="2929812"/>
            <a:ext cx="4222748" cy="56454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CA" dirty="0"/>
              <a:t>UNITÉS (de la commande) X MCV unitaire</a:t>
            </a:r>
          </a:p>
        </p:txBody>
      </p:sp>
      <p:sp>
        <p:nvSpPr>
          <p:cNvPr id="15" name="Bulle narrative : rectangle 14">
            <a:extLst>
              <a:ext uri="{FF2B5EF4-FFF2-40B4-BE49-F238E27FC236}">
                <a16:creationId xmlns:a16="http://schemas.microsoft.com/office/drawing/2014/main" id="{E8F5A0B5-5A52-4F64-9BC9-5C6E61282898}"/>
              </a:ext>
            </a:extLst>
          </p:cNvPr>
          <p:cNvSpPr/>
          <p:nvPr>
            <p:custDataLst>
              <p:tags r:id="rId6"/>
            </p:custDataLst>
          </p:nvPr>
        </p:nvSpPr>
        <p:spPr>
          <a:xfrm>
            <a:off x="4970889" y="2745417"/>
            <a:ext cx="1266637" cy="981995"/>
          </a:xfrm>
          <a:prstGeom prst="wedgeRectCallout">
            <a:avLst>
              <a:gd name="adj1" fmla="val -77157"/>
              <a:gd name="adj2" fmla="val -1842"/>
            </a:avLst>
          </a:prstGeom>
          <a:ln/>
        </p:spPr>
        <p:style>
          <a:lnRef idx="2">
            <a:schemeClr val="accent6"/>
          </a:lnRef>
          <a:fillRef idx="1">
            <a:schemeClr val="lt1"/>
          </a:fillRef>
          <a:effectRef idx="0">
            <a:schemeClr val="accent6"/>
          </a:effectRef>
          <a:fontRef idx="minor">
            <a:schemeClr val="dk1"/>
          </a:fontRef>
        </p:style>
        <p:txBody>
          <a:bodyPr rtlCol="0" anchor="ctr"/>
          <a:lstStyle/>
          <a:p>
            <a:pPr algn="ctr"/>
            <a:r>
              <a:rPr lang="fr-CA" sz="1400" dirty="0"/>
              <a:t>Pour les unités de la commande spéciale</a:t>
            </a:r>
          </a:p>
        </p:txBody>
      </p:sp>
      <p:sp>
        <p:nvSpPr>
          <p:cNvPr id="21" name="Rectangle 20">
            <a:extLst>
              <a:ext uri="{FF2B5EF4-FFF2-40B4-BE49-F238E27FC236}">
                <a16:creationId xmlns:a16="http://schemas.microsoft.com/office/drawing/2014/main" id="{9159544B-A855-45F6-9A59-F52B569070CE}"/>
              </a:ext>
            </a:extLst>
          </p:cNvPr>
          <p:cNvSpPr/>
          <p:nvPr>
            <p:custDataLst>
              <p:tags r:id="rId7"/>
            </p:custDataLst>
          </p:nvPr>
        </p:nvSpPr>
        <p:spPr>
          <a:xfrm>
            <a:off x="2917165" y="4023999"/>
            <a:ext cx="2549980" cy="73522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CA" dirty="0"/>
              <a:t>Prix de vente ( - ) Coûts VARIABLES unitaires</a:t>
            </a:r>
          </a:p>
        </p:txBody>
      </p:sp>
      <p:pic>
        <p:nvPicPr>
          <p:cNvPr id="23" name="Graphique 22" descr="Ligne fléchée : incurvée sens des aiguilles d’une montre contour">
            <a:extLst>
              <a:ext uri="{FF2B5EF4-FFF2-40B4-BE49-F238E27FC236}">
                <a16:creationId xmlns:a16="http://schemas.microsoft.com/office/drawing/2014/main" id="{62F07E43-7312-4CE1-AE0C-257B6E9738EB}"/>
              </a:ext>
            </a:extLst>
          </p:cNvPr>
          <p:cNvPicPr>
            <a:picLocks noChangeAspect="1"/>
          </p:cNvPicPr>
          <p:nvPr>
            <p:custDataLst>
              <p:tags r:id="rId8"/>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9561088">
            <a:off x="3924635" y="3160629"/>
            <a:ext cx="914400" cy="914400"/>
          </a:xfrm>
          <a:prstGeom prst="rect">
            <a:avLst/>
          </a:prstGeom>
        </p:spPr>
      </p:pic>
      <p:graphicFrame>
        <p:nvGraphicFramePr>
          <p:cNvPr id="25" name="Tableau 25">
            <a:extLst>
              <a:ext uri="{FF2B5EF4-FFF2-40B4-BE49-F238E27FC236}">
                <a16:creationId xmlns:a16="http://schemas.microsoft.com/office/drawing/2014/main" id="{BBDC6F4B-5FAC-4BAF-AAC1-4FDE9A55BD06}"/>
              </a:ext>
            </a:extLst>
          </p:cNvPr>
          <p:cNvGraphicFramePr>
            <a:graphicFrameLocks noGrp="1"/>
          </p:cNvGraphicFramePr>
          <p:nvPr>
            <p:custDataLst>
              <p:tags r:id="rId9"/>
            </p:custDataLst>
          </p:nvPr>
        </p:nvGraphicFramePr>
        <p:xfrm>
          <a:off x="7150620" y="3087522"/>
          <a:ext cx="4550753" cy="914400"/>
        </p:xfrm>
        <a:graphic>
          <a:graphicData uri="http://schemas.openxmlformats.org/drawingml/2006/table">
            <a:tbl>
              <a:tblPr firstRow="1" bandRow="1">
                <a:tableStyleId>{2D5ABB26-0587-4C30-8999-92F81FD0307C}</a:tableStyleId>
              </a:tblPr>
              <a:tblGrid>
                <a:gridCol w="1996639">
                  <a:extLst>
                    <a:ext uri="{9D8B030D-6E8A-4147-A177-3AD203B41FA5}">
                      <a16:colId xmlns:a16="http://schemas.microsoft.com/office/drawing/2014/main" val="1640153163"/>
                    </a:ext>
                  </a:extLst>
                </a:gridCol>
                <a:gridCol w="464515">
                  <a:extLst>
                    <a:ext uri="{9D8B030D-6E8A-4147-A177-3AD203B41FA5}">
                      <a16:colId xmlns:a16="http://schemas.microsoft.com/office/drawing/2014/main" val="4224387248"/>
                    </a:ext>
                  </a:extLst>
                </a:gridCol>
                <a:gridCol w="2089599">
                  <a:extLst>
                    <a:ext uri="{9D8B030D-6E8A-4147-A177-3AD203B41FA5}">
                      <a16:colId xmlns:a16="http://schemas.microsoft.com/office/drawing/2014/main" val="617455810"/>
                    </a:ext>
                  </a:extLst>
                </a:gridCol>
              </a:tblGrid>
              <a:tr h="735227">
                <a:tc>
                  <a:txBody>
                    <a:bodyPr/>
                    <a:lstStyle/>
                    <a:p>
                      <a:pPr algn="ctr"/>
                      <a:r>
                        <a:rPr lang="fr-CA" dirty="0"/>
                        <a:t>UNITÉS AUXQUELLES </a:t>
                      </a:r>
                    </a:p>
                    <a:p>
                      <a:pPr algn="ctr"/>
                      <a:r>
                        <a:rPr lang="fr-CA" dirty="0"/>
                        <a:t>ON RENONCE </a:t>
                      </a:r>
                    </a:p>
                  </a:txBody>
                  <a:tcPr>
                    <a:lnL w="12700" cap="flat" cmpd="sng" algn="ctr">
                      <a:solidFill>
                        <a:schemeClr val="accent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fr-CA" dirty="0"/>
                        <a:t>X</a:t>
                      </a:r>
                    </a:p>
                  </a:txBody>
                  <a:tcPr anchor="ctr">
                    <a:lnL w="12700" cap="flat" cmpd="sng" algn="ctr">
                      <a:noFill/>
                      <a:prstDash val="solid"/>
                      <a:round/>
                      <a:headEnd type="none" w="med" len="med"/>
                      <a:tailEnd type="none" w="med" len="med"/>
                    </a:lnL>
                    <a:lnR>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fr-CA" b="1" dirty="0" err="1"/>
                        <a:t>MCVun</a:t>
                      </a:r>
                      <a:r>
                        <a:rPr lang="fr-CA" dirty="0"/>
                        <a:t> DES UNITÉS AUXQUELLES ON RENONCE</a:t>
                      </a:r>
                    </a:p>
                  </a:txBody>
                  <a:tcPr>
                    <a:lnL>
                      <a:noFill/>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77490979"/>
                  </a:ext>
                </a:extLst>
              </a:tr>
            </a:tbl>
          </a:graphicData>
        </a:graphic>
      </p:graphicFrame>
      <p:sp>
        <p:nvSpPr>
          <p:cNvPr id="28" name="Bulle narrative : rectangle 27">
            <a:extLst>
              <a:ext uri="{FF2B5EF4-FFF2-40B4-BE49-F238E27FC236}">
                <a16:creationId xmlns:a16="http://schemas.microsoft.com/office/drawing/2014/main" id="{F826CABE-3BE9-4842-8920-0FCCB8D36F76}"/>
              </a:ext>
            </a:extLst>
          </p:cNvPr>
          <p:cNvSpPr/>
          <p:nvPr>
            <p:custDataLst>
              <p:tags r:id="rId10"/>
            </p:custDataLst>
          </p:nvPr>
        </p:nvSpPr>
        <p:spPr>
          <a:xfrm>
            <a:off x="7297798" y="4206884"/>
            <a:ext cx="4456944" cy="1351865"/>
          </a:xfrm>
          <a:prstGeom prst="wedgeRectCallout">
            <a:avLst>
              <a:gd name="adj1" fmla="val -24828"/>
              <a:gd name="adj2" fmla="val -68316"/>
            </a:avLst>
          </a:prstGeom>
          <a:ln/>
        </p:spPr>
        <p:style>
          <a:lnRef idx="2">
            <a:schemeClr val="accent6"/>
          </a:lnRef>
          <a:fillRef idx="1">
            <a:schemeClr val="lt1"/>
          </a:fillRef>
          <a:effectRef idx="0">
            <a:schemeClr val="accent6"/>
          </a:effectRef>
          <a:fontRef idx="minor">
            <a:schemeClr val="dk1"/>
          </a:fontRef>
        </p:style>
        <p:txBody>
          <a:bodyPr rtlCol="0" anchor="ctr"/>
          <a:lstStyle/>
          <a:p>
            <a:pPr algn="ctr"/>
            <a:r>
              <a:rPr lang="fr-CA" sz="1600" u="sng" dirty="0"/>
              <a:t>Si plusieurs produits</a:t>
            </a:r>
            <a:r>
              <a:rPr lang="fr-CA" sz="1600" dirty="0"/>
              <a:t>, on doit choisir l’ordre de priorité (renoncer aux unités </a:t>
            </a:r>
            <a:r>
              <a:rPr lang="fr-CA" sz="1600" dirty="0">
                <a:sym typeface="Wingdings" panose="05000000000000000000" pitchFamily="2" charset="2"/>
              </a:rPr>
              <a:t> des moins rentables au plus rentables).</a:t>
            </a:r>
          </a:p>
          <a:p>
            <a:pPr algn="ctr"/>
            <a:r>
              <a:rPr lang="fr-CA" sz="1600" dirty="0"/>
              <a:t>On doit utiliser la </a:t>
            </a:r>
            <a:r>
              <a:rPr lang="fr-CA" sz="1600" b="1" dirty="0"/>
              <a:t>MCV par facteur de production </a:t>
            </a:r>
            <a:r>
              <a:rPr lang="fr-CA" sz="1600" dirty="0"/>
              <a:t>pour déterminer l’ordre de priorité de production.</a:t>
            </a:r>
          </a:p>
        </p:txBody>
      </p:sp>
      <p:graphicFrame>
        <p:nvGraphicFramePr>
          <p:cNvPr id="31" name="Tableau 31">
            <a:extLst>
              <a:ext uri="{FF2B5EF4-FFF2-40B4-BE49-F238E27FC236}">
                <a16:creationId xmlns:a16="http://schemas.microsoft.com/office/drawing/2014/main" id="{EC98EFB6-29FF-49B6-AFCD-99848C80C80E}"/>
              </a:ext>
            </a:extLst>
          </p:cNvPr>
          <p:cNvGraphicFramePr>
            <a:graphicFrameLocks noGrp="1"/>
          </p:cNvGraphicFramePr>
          <p:nvPr>
            <p:custDataLst>
              <p:tags r:id="rId11"/>
            </p:custDataLst>
          </p:nvPr>
        </p:nvGraphicFramePr>
        <p:xfrm>
          <a:off x="523576" y="1649047"/>
          <a:ext cx="10830222" cy="739923"/>
        </p:xfrm>
        <a:graphic>
          <a:graphicData uri="http://schemas.openxmlformats.org/drawingml/2006/table">
            <a:tbl>
              <a:tblPr firstRow="1" bandRow="1">
                <a:tableStyleId>{BC89EF96-8CEA-46FF-86C4-4CE0E7609802}</a:tableStyleId>
              </a:tblPr>
              <a:tblGrid>
                <a:gridCol w="3708200">
                  <a:extLst>
                    <a:ext uri="{9D8B030D-6E8A-4147-A177-3AD203B41FA5}">
                      <a16:colId xmlns:a16="http://schemas.microsoft.com/office/drawing/2014/main" val="623203347"/>
                    </a:ext>
                  </a:extLst>
                </a:gridCol>
                <a:gridCol w="2776779">
                  <a:extLst>
                    <a:ext uri="{9D8B030D-6E8A-4147-A177-3AD203B41FA5}">
                      <a16:colId xmlns:a16="http://schemas.microsoft.com/office/drawing/2014/main" val="1073311354"/>
                    </a:ext>
                  </a:extLst>
                </a:gridCol>
                <a:gridCol w="1263054">
                  <a:extLst>
                    <a:ext uri="{9D8B030D-6E8A-4147-A177-3AD203B41FA5}">
                      <a16:colId xmlns:a16="http://schemas.microsoft.com/office/drawing/2014/main" val="3863113049"/>
                    </a:ext>
                  </a:extLst>
                </a:gridCol>
                <a:gridCol w="3082189">
                  <a:extLst>
                    <a:ext uri="{9D8B030D-6E8A-4147-A177-3AD203B41FA5}">
                      <a16:colId xmlns:a16="http://schemas.microsoft.com/office/drawing/2014/main" val="3217671937"/>
                    </a:ext>
                  </a:extLst>
                </a:gridCol>
              </a:tblGrid>
              <a:tr h="739923">
                <a:tc>
                  <a:txBody>
                    <a:bodyPr/>
                    <a:lstStyle/>
                    <a:p>
                      <a:pPr algn="ctr"/>
                      <a:r>
                        <a:rPr lang="fr-CA" sz="2000" dirty="0"/>
                        <a:t>MCV TOTALE (de la commande)  </a:t>
                      </a:r>
                    </a:p>
                  </a:txBody>
                  <a:tcPr anchor="ctr">
                    <a:lnL w="12700" cap="flat" cmpd="sng" algn="ctr">
                      <a:solidFill>
                        <a:schemeClr val="accent1">
                          <a:lumMod val="75000"/>
                        </a:schemeClr>
                      </a:solidFill>
                      <a:prstDash val="solid"/>
                      <a:round/>
                      <a:headEnd type="none" w="med" len="med"/>
                      <a:tailEnd type="none" w="med" len="med"/>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tcPr>
                </a:tc>
                <a:tc>
                  <a:txBody>
                    <a:bodyPr/>
                    <a:lstStyle/>
                    <a:p>
                      <a:pPr algn="ctr"/>
                      <a:r>
                        <a:rPr lang="fr-CA" sz="2000" dirty="0"/>
                        <a:t>(-)    </a:t>
                      </a:r>
                      <a:r>
                        <a:rPr lang="fr-CA" sz="2000" dirty="0" err="1"/>
                        <a:t>CFixes</a:t>
                      </a:r>
                      <a:r>
                        <a:rPr lang="fr-CA" sz="2000" dirty="0"/>
                        <a:t> SPÉCIFIQUES</a:t>
                      </a:r>
                    </a:p>
                  </a:txBody>
                  <a:tcPr anchor="ctr">
                    <a:lnL w="12700" cap="flat" cmpd="sng" algn="ctr">
                      <a:noFill/>
                      <a:prstDash val="solid"/>
                      <a:round/>
                      <a:headEnd type="none" w="med" len="med"/>
                      <a:tailEnd type="none" w="med" len="med"/>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tcPr>
                </a:tc>
                <a:tc>
                  <a:txBody>
                    <a:bodyPr/>
                    <a:lstStyle/>
                    <a:p>
                      <a:pPr algn="ctr"/>
                      <a:r>
                        <a:rPr lang="fr-CA" sz="2000" b="1" kern="1200" dirty="0">
                          <a:solidFill>
                            <a:schemeClr val="tx1"/>
                          </a:solidFill>
                          <a:latin typeface="+mn-lt"/>
                          <a:ea typeface="+mn-ea"/>
                          <a:cs typeface="+mn-cs"/>
                        </a:rPr>
                        <a:t>(-)</a:t>
                      </a: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fr-CA" sz="2000" dirty="0"/>
                        <a:t>COÛT DE RENONCIATION</a:t>
                      </a:r>
                    </a:p>
                  </a:txBody>
                  <a:tcPr anchor="ctr">
                    <a:lnL w="12700" cmpd="sng">
                      <a:noFill/>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tcPr>
                </a:tc>
                <a:extLst>
                  <a:ext uri="{0D108BD9-81ED-4DB2-BD59-A6C34878D82A}">
                    <a16:rowId xmlns:a16="http://schemas.microsoft.com/office/drawing/2014/main" val="1337832448"/>
                  </a:ext>
                </a:extLst>
              </a:tr>
            </a:tbl>
          </a:graphicData>
        </a:graphic>
      </p:graphicFrame>
      <p:pic>
        <p:nvPicPr>
          <p:cNvPr id="35" name="Graphique 34" descr="Ligne fléchée : incurvée dans le sens des aiguilles d’une montre contour">
            <a:extLst>
              <a:ext uri="{FF2B5EF4-FFF2-40B4-BE49-F238E27FC236}">
                <a16:creationId xmlns:a16="http://schemas.microsoft.com/office/drawing/2014/main" id="{DEC253D6-4870-4EDE-9728-009064FFF081}"/>
              </a:ext>
            </a:extLst>
          </p:cNvPr>
          <p:cNvPicPr>
            <a:picLocks noChangeAspect="1"/>
          </p:cNvPicPr>
          <p:nvPr>
            <p:custDataLst>
              <p:tags r:id="rId1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4669438">
            <a:off x="1291465" y="2080917"/>
            <a:ext cx="945451" cy="945451"/>
          </a:xfrm>
          <a:prstGeom prst="rect">
            <a:avLst/>
          </a:prstGeom>
        </p:spPr>
      </p:pic>
      <p:sp>
        <p:nvSpPr>
          <p:cNvPr id="3" name="Cloud 2">
            <a:extLst>
              <a:ext uri="{FF2B5EF4-FFF2-40B4-BE49-F238E27FC236}">
                <a16:creationId xmlns:a16="http://schemas.microsoft.com/office/drawing/2014/main" id="{4402385C-C06C-7DB5-6EA5-BFAE638F0F5A}"/>
              </a:ext>
            </a:extLst>
          </p:cNvPr>
          <p:cNvSpPr/>
          <p:nvPr>
            <p:custDataLst>
              <p:tags r:id="rId13"/>
            </p:custDataLst>
          </p:nvPr>
        </p:nvSpPr>
        <p:spPr>
          <a:xfrm>
            <a:off x="488535" y="4759226"/>
            <a:ext cx="2350576" cy="1420677"/>
          </a:xfrm>
          <a:prstGeom prst="cloud">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err="1">
                <a:cs typeface="Calibri"/>
              </a:rPr>
              <a:t>Économies</a:t>
            </a:r>
            <a:r>
              <a:rPr lang="en-US" dirty="0">
                <a:cs typeface="Calibri"/>
              </a:rPr>
              <a:t> </a:t>
            </a:r>
            <a:r>
              <a:rPr lang="en-US" dirty="0" err="1">
                <a:cs typeface="Calibri"/>
              </a:rPr>
              <a:t>d'échelle</a:t>
            </a:r>
            <a:r>
              <a:rPr lang="en-US" dirty="0">
                <a:cs typeface="Calibri"/>
              </a:rPr>
              <a:t> </a:t>
            </a:r>
          </a:p>
          <a:p>
            <a:pPr algn="ctr"/>
            <a:r>
              <a:rPr lang="en-US" dirty="0">
                <a:cs typeface="Calibri"/>
              </a:rPr>
              <a:t>(</a:t>
            </a:r>
            <a:r>
              <a:rPr lang="en-US" dirty="0" err="1">
                <a:cs typeface="Calibri"/>
              </a:rPr>
              <a:t>si</a:t>
            </a:r>
            <a:r>
              <a:rPr lang="en-US" dirty="0">
                <a:cs typeface="Calibri"/>
              </a:rPr>
              <a:t> applicable)</a:t>
            </a:r>
          </a:p>
        </p:txBody>
      </p:sp>
      <p:sp>
        <p:nvSpPr>
          <p:cNvPr id="6" name="Bulle narrative : rectangle 5">
            <a:extLst>
              <a:ext uri="{FF2B5EF4-FFF2-40B4-BE49-F238E27FC236}">
                <a16:creationId xmlns:a16="http://schemas.microsoft.com/office/drawing/2014/main" id="{A447413C-8354-42D7-981B-B1D3F02C2916}"/>
              </a:ext>
            </a:extLst>
          </p:cNvPr>
          <p:cNvSpPr/>
          <p:nvPr>
            <p:custDataLst>
              <p:tags r:id="rId14"/>
            </p:custDataLst>
          </p:nvPr>
        </p:nvSpPr>
        <p:spPr>
          <a:xfrm>
            <a:off x="7565415" y="2505546"/>
            <a:ext cx="3611491" cy="479741"/>
          </a:xfrm>
          <a:prstGeom prst="wedgeRectCallout">
            <a:avLst>
              <a:gd name="adj1" fmla="val 30230"/>
              <a:gd name="adj2" fmla="val -110350"/>
            </a:avLst>
          </a:prstGeom>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CA" sz="1600" dirty="0"/>
              <a:t>Si manque de capacité </a:t>
            </a:r>
          </a:p>
          <a:p>
            <a:pPr algn="ctr"/>
            <a:r>
              <a:rPr lang="fr-CA" sz="1600" dirty="0"/>
              <a:t>(facteur contraignant de production</a:t>
            </a:r>
            <a:r>
              <a:rPr lang="fr-CA" sz="1400" dirty="0"/>
              <a:t>)</a:t>
            </a:r>
          </a:p>
        </p:txBody>
      </p:sp>
      <p:sp>
        <p:nvSpPr>
          <p:cNvPr id="9" name="Bulle narrative : rectangle à coins arrondis 8">
            <a:extLst>
              <a:ext uri="{FF2B5EF4-FFF2-40B4-BE49-F238E27FC236}">
                <a16:creationId xmlns:a16="http://schemas.microsoft.com/office/drawing/2014/main" id="{313129EB-A880-3408-C382-C3C6CED5BC02}"/>
              </a:ext>
            </a:extLst>
          </p:cNvPr>
          <p:cNvSpPr/>
          <p:nvPr>
            <p:custDataLst>
              <p:tags r:id="rId15"/>
            </p:custDataLst>
          </p:nvPr>
        </p:nvSpPr>
        <p:spPr>
          <a:xfrm>
            <a:off x="4046220" y="4846688"/>
            <a:ext cx="2901950" cy="712061"/>
          </a:xfrm>
          <a:prstGeom prst="wedgeRoundRectCallout">
            <a:avLst>
              <a:gd name="adj1" fmla="val 62026"/>
              <a:gd name="adj2" fmla="val -44011"/>
              <a:gd name="adj3" fmla="val 16667"/>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fr-CA" dirty="0"/>
              <a:t>Sujet de la S04 </a:t>
            </a:r>
            <a:r>
              <a:rPr lang="fr-CA" b="1" i="1" dirty="0"/>
              <a:t>(assister au TP pour un exemple)</a:t>
            </a:r>
          </a:p>
        </p:txBody>
      </p:sp>
      <p:sp>
        <p:nvSpPr>
          <p:cNvPr id="7" name="Rectangle 6">
            <a:extLst>
              <a:ext uri="{FF2B5EF4-FFF2-40B4-BE49-F238E27FC236}">
                <a16:creationId xmlns:a16="http://schemas.microsoft.com/office/drawing/2014/main" id="{842727FC-378D-064B-CF60-C5FA4D18396B}"/>
              </a:ext>
            </a:extLst>
          </p:cNvPr>
          <p:cNvSpPr/>
          <p:nvPr>
            <p:custDataLst>
              <p:tags r:id="rId16"/>
            </p:custDataLst>
          </p:nvPr>
        </p:nvSpPr>
        <p:spPr>
          <a:xfrm>
            <a:off x="4381835" y="5738548"/>
            <a:ext cx="7399018" cy="58475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CA" dirty="0"/>
              <a:t>Note: Dans certaines situations, il sera aussi nécessaire d’utiliser la </a:t>
            </a:r>
            <a:r>
              <a:rPr lang="fr-CA" sz="1800" b="1" dirty="0"/>
              <a:t>Marge sur coûts spécifiques </a:t>
            </a:r>
            <a:r>
              <a:rPr lang="fr-CA" sz="1800" dirty="0"/>
              <a:t>pour déterminer l’ordre de priorité de production.</a:t>
            </a:r>
            <a:endParaRPr lang="fr-CA" dirty="0"/>
          </a:p>
        </p:txBody>
      </p:sp>
    </p:spTree>
    <p:extLst>
      <p:ext uri="{BB962C8B-B14F-4D97-AF65-F5344CB8AC3E}">
        <p14:creationId xmlns:p14="http://schemas.microsoft.com/office/powerpoint/2010/main" val="3931901644"/>
      </p:ext>
    </p:extLst>
  </p:cSld>
  <p:clrMapOvr>
    <a:overrideClrMapping bg1="lt1" tx1="dk1" bg2="lt2" tx2="dk2" accent1="accent1" accent2="accent2" accent3="accent3" accent4="accent4" accent5="accent5" accent6="accent6" hlink="hlink" folHlink="folHlink"/>
  </p:clrMapOvr>
</p:sld>
</file>

<file path=ppt/tags/tag1.xml><?xml version="1.0" encoding="utf-8"?>
<p:tagLst xmlns:a="http://schemas.openxmlformats.org/drawingml/2006/main" xmlns:r="http://schemas.openxmlformats.org/officeDocument/2006/relationships" xmlns:p="http://schemas.openxmlformats.org/presentationml/2006/main">
  <p:tag name="NUM" val="2"/>
</p:tagLst>
</file>

<file path=ppt/tags/tag2.xml><?xml version="1.0" encoding="utf-8"?>
<p:tagLst xmlns:a="http://schemas.openxmlformats.org/drawingml/2006/main" xmlns:r="http://schemas.openxmlformats.org/officeDocument/2006/relationships" xmlns:p="http://schemas.openxmlformats.org/presentationml/2006/main">
  <p:tag name="NUM" val="3"/>
</p:tagLst>
</file>

<file path=ppt/tags/tag3.xml><?xml version="1.0" encoding="utf-8"?>
<p:tagLst xmlns:a="http://schemas.openxmlformats.org/drawingml/2006/main" xmlns:r="http://schemas.openxmlformats.org/officeDocument/2006/relationships" xmlns:p="http://schemas.openxmlformats.org/presentationml/2006/main">
  <p:tag name="NUM" val="4"/>
</p:tagLst>
</file>

<file path=ppt/tags/tag4.xml><?xml version="1.0" encoding="utf-8"?>
<p:tagLst xmlns:a="http://schemas.openxmlformats.org/drawingml/2006/main" xmlns:r="http://schemas.openxmlformats.org/officeDocument/2006/relationships" xmlns:p="http://schemas.openxmlformats.org/presentationml/2006/main">
  <p:tag name="NUM" val="5"/>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2"/>
</p:tagLst>
</file>

<file path=ppt/tags/tag7.xml><?xml version="1.0" encoding="utf-8"?>
<p:tagLst xmlns:a="http://schemas.openxmlformats.org/drawingml/2006/main" xmlns:r="http://schemas.openxmlformats.org/officeDocument/2006/relationships" xmlns:p="http://schemas.openxmlformats.org/presentationml/2006/main">
  <p:tag name="NUM" val="3"/>
</p:tagLst>
</file>

<file path=ppt/tags/tag8.xml><?xml version="1.0" encoding="utf-8"?>
<p:tagLst xmlns:a="http://schemas.openxmlformats.org/drawingml/2006/main" xmlns:r="http://schemas.openxmlformats.org/officeDocument/2006/relationships" xmlns:p="http://schemas.openxmlformats.org/presentationml/2006/main">
  <p:tag name="NUM" val="4"/>
</p:tagLst>
</file>

<file path=ppt/tags/tag9.xml><?xml version="1.0" encoding="utf-8"?>
<p:tagLst xmlns:a="http://schemas.openxmlformats.org/drawingml/2006/main" xmlns:r="http://schemas.openxmlformats.org/officeDocument/2006/relationships" xmlns:p="http://schemas.openxmlformats.org/presentationml/2006/main">
  <p:tag name="NUM" val="5"/>
</p:tagLst>
</file>

<file path=ppt/tags/tag10.xml><?xml version="1.0" encoding="utf-8"?>
<p:tagLst xmlns:a="http://schemas.openxmlformats.org/drawingml/2006/main" xmlns:r="http://schemas.openxmlformats.org/officeDocument/2006/relationships" xmlns:p="http://schemas.openxmlformats.org/presentationml/2006/main">
  <p:tag name="NUM" val="6"/>
</p:tagLst>
</file>

<file path=ppt/tags/tag11.xml><?xml version="1.0" encoding="utf-8"?>
<p:tagLst xmlns:a="http://schemas.openxmlformats.org/drawingml/2006/main" xmlns:r="http://schemas.openxmlformats.org/officeDocument/2006/relationships" xmlns:p="http://schemas.openxmlformats.org/presentationml/2006/main">
  <p:tag name="NUM" val="1"/>
</p:tagLst>
</file>

<file path=ppt/tags/tag12.xml><?xml version="1.0" encoding="utf-8"?>
<p:tagLst xmlns:a="http://schemas.openxmlformats.org/drawingml/2006/main" xmlns:r="http://schemas.openxmlformats.org/officeDocument/2006/relationships" xmlns:p="http://schemas.openxmlformats.org/presentationml/2006/main">
  <p:tag name="NUM" val="2"/>
</p:tagLst>
</file>

<file path=ppt/tags/tag13.xml><?xml version="1.0" encoding="utf-8"?>
<p:tagLst xmlns:a="http://schemas.openxmlformats.org/drawingml/2006/main" xmlns:r="http://schemas.openxmlformats.org/officeDocument/2006/relationships" xmlns:p="http://schemas.openxmlformats.org/presentationml/2006/main">
  <p:tag name="NUM" val="3"/>
</p:tagLst>
</file>

<file path=ppt/tags/tag14.xml><?xml version="1.0" encoding="utf-8"?>
<p:tagLst xmlns:a="http://schemas.openxmlformats.org/drawingml/2006/main" xmlns:r="http://schemas.openxmlformats.org/officeDocument/2006/relationships" xmlns:p="http://schemas.openxmlformats.org/presentationml/2006/main">
  <p:tag name="NUM" val="4"/>
</p:tagLst>
</file>

<file path=ppt/tags/tag15.xml><?xml version="1.0" encoding="utf-8"?>
<p:tagLst xmlns:a="http://schemas.openxmlformats.org/drawingml/2006/main" xmlns:r="http://schemas.openxmlformats.org/officeDocument/2006/relationships" xmlns:p="http://schemas.openxmlformats.org/presentationml/2006/main">
  <p:tag name="NUM" val="5"/>
</p:tagLst>
</file>

<file path=ppt/tags/tag16.xml><?xml version="1.0" encoding="utf-8"?>
<p:tagLst xmlns:a="http://schemas.openxmlformats.org/drawingml/2006/main" xmlns:r="http://schemas.openxmlformats.org/officeDocument/2006/relationships" xmlns:p="http://schemas.openxmlformats.org/presentationml/2006/main">
  <p:tag name="NUM" val="6"/>
</p:tagLst>
</file>

<file path=ppt/tags/tag17.xml><?xml version="1.0" encoding="utf-8"?>
<p:tagLst xmlns:a="http://schemas.openxmlformats.org/drawingml/2006/main" xmlns:r="http://schemas.openxmlformats.org/officeDocument/2006/relationships" xmlns:p="http://schemas.openxmlformats.org/presentationml/2006/main">
  <p:tag name="NUM" val="7"/>
</p:tagLst>
</file>

<file path=ppt/tags/tag18.xml><?xml version="1.0" encoding="utf-8"?>
<p:tagLst xmlns:a="http://schemas.openxmlformats.org/drawingml/2006/main" xmlns:r="http://schemas.openxmlformats.org/officeDocument/2006/relationships" xmlns:p="http://schemas.openxmlformats.org/presentationml/2006/main">
  <p:tag name="NUM" val="8"/>
</p:tagLst>
</file>

<file path=ppt/tags/tag19.xml><?xml version="1.0" encoding="utf-8"?>
<p:tagLst xmlns:a="http://schemas.openxmlformats.org/drawingml/2006/main" xmlns:r="http://schemas.openxmlformats.org/officeDocument/2006/relationships" xmlns:p="http://schemas.openxmlformats.org/presentationml/2006/main">
  <p:tag name="NUM" val="3"/>
</p:tagLst>
</file>

<file path=ppt/tags/tag20.xml><?xml version="1.0" encoding="utf-8"?>
<p:tagLst xmlns:a="http://schemas.openxmlformats.org/drawingml/2006/main" xmlns:r="http://schemas.openxmlformats.org/officeDocument/2006/relationships" xmlns:p="http://schemas.openxmlformats.org/presentationml/2006/main">
  <p:tag name="NUM" val="3"/>
</p:tagLst>
</file>

<file path=ppt/tags/tag21.xml><?xml version="1.0" encoding="utf-8"?>
<p:tagLst xmlns:a="http://schemas.openxmlformats.org/drawingml/2006/main" xmlns:r="http://schemas.openxmlformats.org/officeDocument/2006/relationships" xmlns:p="http://schemas.openxmlformats.org/presentationml/2006/main">
  <p:tag name="NUM" val="1"/>
</p:tagLst>
</file>

<file path=ppt/tags/tag22.xml><?xml version="1.0" encoding="utf-8"?>
<p:tagLst xmlns:a="http://schemas.openxmlformats.org/drawingml/2006/main" xmlns:r="http://schemas.openxmlformats.org/officeDocument/2006/relationships" xmlns:p="http://schemas.openxmlformats.org/presentationml/2006/main">
  <p:tag name="NUM" val="2"/>
</p:tagLst>
</file>

<file path=ppt/tags/tag23.xml><?xml version="1.0" encoding="utf-8"?>
<p:tagLst xmlns:a="http://schemas.openxmlformats.org/drawingml/2006/main" xmlns:r="http://schemas.openxmlformats.org/officeDocument/2006/relationships" xmlns:p="http://schemas.openxmlformats.org/presentationml/2006/main">
  <p:tag name="NUM" val="3"/>
</p:tagLst>
</file>

<file path=ppt/tags/tag24.xml><?xml version="1.0" encoding="utf-8"?>
<p:tagLst xmlns:a="http://schemas.openxmlformats.org/drawingml/2006/main" xmlns:r="http://schemas.openxmlformats.org/officeDocument/2006/relationships" xmlns:p="http://schemas.openxmlformats.org/presentationml/2006/main">
  <p:tag name="NUM" val="4"/>
</p:tagLst>
</file>

<file path=ppt/tags/tag25.xml><?xml version="1.0" encoding="utf-8"?>
<p:tagLst xmlns:a="http://schemas.openxmlformats.org/drawingml/2006/main" xmlns:r="http://schemas.openxmlformats.org/officeDocument/2006/relationships" xmlns:p="http://schemas.openxmlformats.org/presentationml/2006/main">
  <p:tag name="NUM" val="6"/>
</p:tagLst>
</file>

<file path=ppt/tags/tag26.xml><?xml version="1.0" encoding="utf-8"?>
<p:tagLst xmlns:a="http://schemas.openxmlformats.org/drawingml/2006/main" xmlns:r="http://schemas.openxmlformats.org/officeDocument/2006/relationships" xmlns:p="http://schemas.openxmlformats.org/presentationml/2006/main">
  <p:tag name="NUM" val="7"/>
</p:tagLst>
</file>

<file path=ppt/tags/tag27.xml><?xml version="1.0" encoding="utf-8"?>
<p:tagLst xmlns:a="http://schemas.openxmlformats.org/drawingml/2006/main" xmlns:r="http://schemas.openxmlformats.org/officeDocument/2006/relationships" xmlns:p="http://schemas.openxmlformats.org/presentationml/2006/main">
  <p:tag name="NUM" val="1"/>
</p:tagLst>
</file>

<file path=ppt/tags/tag28.xml><?xml version="1.0" encoding="utf-8"?>
<p:tagLst xmlns:a="http://schemas.openxmlformats.org/drawingml/2006/main" xmlns:r="http://schemas.openxmlformats.org/officeDocument/2006/relationships" xmlns:p="http://schemas.openxmlformats.org/presentationml/2006/main">
  <p:tag name="NUM" val="2"/>
</p:tagLst>
</file>

<file path=ppt/tags/tag29.xml><?xml version="1.0" encoding="utf-8"?>
<p:tagLst xmlns:a="http://schemas.openxmlformats.org/drawingml/2006/main" xmlns:r="http://schemas.openxmlformats.org/officeDocument/2006/relationships" xmlns:p="http://schemas.openxmlformats.org/presentationml/2006/main">
  <p:tag name="NUM" val="3"/>
</p:tagLst>
</file>

<file path=ppt/tags/tag30.xml><?xml version="1.0" encoding="utf-8"?>
<p:tagLst xmlns:a="http://schemas.openxmlformats.org/drawingml/2006/main" xmlns:r="http://schemas.openxmlformats.org/officeDocument/2006/relationships" xmlns:p="http://schemas.openxmlformats.org/presentationml/2006/main">
  <p:tag name="NUM" val="4"/>
</p:tagLst>
</file>

<file path=ppt/tags/tag31.xml><?xml version="1.0" encoding="utf-8"?>
<p:tagLst xmlns:a="http://schemas.openxmlformats.org/drawingml/2006/main" xmlns:r="http://schemas.openxmlformats.org/officeDocument/2006/relationships" xmlns:p="http://schemas.openxmlformats.org/presentationml/2006/main">
  <p:tag name="NUM" val="1"/>
</p:tagLst>
</file>

<file path=ppt/tags/tag32.xml><?xml version="1.0" encoding="utf-8"?>
<p:tagLst xmlns:a="http://schemas.openxmlformats.org/drawingml/2006/main" xmlns:r="http://schemas.openxmlformats.org/officeDocument/2006/relationships" xmlns:p="http://schemas.openxmlformats.org/presentationml/2006/main">
  <p:tag name="NUM" val="2"/>
</p:tagLst>
</file>

<file path=ppt/tags/tag33.xml><?xml version="1.0" encoding="utf-8"?>
<p:tagLst xmlns:a="http://schemas.openxmlformats.org/drawingml/2006/main" xmlns:r="http://schemas.openxmlformats.org/officeDocument/2006/relationships" xmlns:p="http://schemas.openxmlformats.org/presentationml/2006/main">
  <p:tag name="NUM" val="3"/>
</p:tagLst>
</file>

<file path=ppt/tags/tag34.xml><?xml version="1.0" encoding="utf-8"?>
<p:tagLst xmlns:a="http://schemas.openxmlformats.org/drawingml/2006/main" xmlns:r="http://schemas.openxmlformats.org/officeDocument/2006/relationships" xmlns:p="http://schemas.openxmlformats.org/presentationml/2006/main">
  <p:tag name="NUM" val="4"/>
</p:tagLst>
</file>

<file path=ppt/tags/tag35.xml><?xml version="1.0" encoding="utf-8"?>
<p:tagLst xmlns:a="http://schemas.openxmlformats.org/drawingml/2006/main" xmlns:r="http://schemas.openxmlformats.org/officeDocument/2006/relationships" xmlns:p="http://schemas.openxmlformats.org/presentationml/2006/main">
  <p:tag name="NUM" val="1"/>
</p:tagLst>
</file>

<file path=ppt/tags/tag36.xml><?xml version="1.0" encoding="utf-8"?>
<p:tagLst xmlns:a="http://schemas.openxmlformats.org/drawingml/2006/main" xmlns:r="http://schemas.openxmlformats.org/officeDocument/2006/relationships" xmlns:p="http://schemas.openxmlformats.org/presentationml/2006/main">
  <p:tag name="NUM" val="2"/>
</p:tagLst>
</file>

<file path=ppt/tags/tag37.xml><?xml version="1.0" encoding="utf-8"?>
<p:tagLst xmlns:a="http://schemas.openxmlformats.org/drawingml/2006/main" xmlns:r="http://schemas.openxmlformats.org/officeDocument/2006/relationships" xmlns:p="http://schemas.openxmlformats.org/presentationml/2006/main">
  <p:tag name="NUM" val="3"/>
</p:tagLst>
</file>

<file path=ppt/tags/tag38.xml><?xml version="1.0" encoding="utf-8"?>
<p:tagLst xmlns:a="http://schemas.openxmlformats.org/drawingml/2006/main" xmlns:r="http://schemas.openxmlformats.org/officeDocument/2006/relationships" xmlns:p="http://schemas.openxmlformats.org/presentationml/2006/main">
  <p:tag name="NUM" val="4"/>
</p:tagLst>
</file>

<file path=ppt/tags/tag39.xml><?xml version="1.0" encoding="utf-8"?>
<p:tagLst xmlns:a="http://schemas.openxmlformats.org/drawingml/2006/main" xmlns:r="http://schemas.openxmlformats.org/officeDocument/2006/relationships" xmlns:p="http://schemas.openxmlformats.org/presentationml/2006/main">
  <p:tag name="NOPREFERENCE" val="False"/>
</p:tagLst>
</file>

<file path=ppt/tags/tag40.xml><?xml version="1.0" encoding="utf-8"?>
<p:tagLst xmlns:a="http://schemas.openxmlformats.org/drawingml/2006/main" xmlns:r="http://schemas.openxmlformats.org/officeDocument/2006/relationships" xmlns:p="http://schemas.openxmlformats.org/presentationml/2006/main">
  <p:tag name="NUM" val="1"/>
</p:tagLst>
</file>

<file path=ppt/tags/tag41.xml><?xml version="1.0" encoding="utf-8"?>
<p:tagLst xmlns:a="http://schemas.openxmlformats.org/drawingml/2006/main" xmlns:r="http://schemas.openxmlformats.org/officeDocument/2006/relationships" xmlns:p="http://schemas.openxmlformats.org/presentationml/2006/main">
  <p:tag name="NUM" val="2"/>
</p:tagLst>
</file>

<file path=ppt/tags/tag42.xml><?xml version="1.0" encoding="utf-8"?>
<p:tagLst xmlns:a="http://schemas.openxmlformats.org/drawingml/2006/main" xmlns:r="http://schemas.openxmlformats.org/officeDocument/2006/relationships" xmlns:p="http://schemas.openxmlformats.org/presentationml/2006/main">
  <p:tag name="NUM" val="3"/>
</p:tagLst>
</file>

<file path=ppt/tags/tag43.xml><?xml version="1.0" encoding="utf-8"?>
<p:tagLst xmlns:a="http://schemas.openxmlformats.org/drawingml/2006/main" xmlns:r="http://schemas.openxmlformats.org/officeDocument/2006/relationships" xmlns:p="http://schemas.openxmlformats.org/presentationml/2006/main">
  <p:tag name="NUM" val="4"/>
</p:tagLst>
</file>

<file path=ppt/tags/tag44.xml><?xml version="1.0" encoding="utf-8"?>
<p:tagLst xmlns:a="http://schemas.openxmlformats.org/drawingml/2006/main" xmlns:r="http://schemas.openxmlformats.org/officeDocument/2006/relationships" xmlns:p="http://schemas.openxmlformats.org/presentationml/2006/main">
  <p:tag name="NOPREFERENCE" val="False"/>
</p:tagLst>
</file>

<file path=ppt/tags/tag45.xml><?xml version="1.0" encoding="utf-8"?>
<p:tagLst xmlns:a="http://schemas.openxmlformats.org/drawingml/2006/main" xmlns:r="http://schemas.openxmlformats.org/officeDocument/2006/relationships" xmlns:p="http://schemas.openxmlformats.org/presentationml/2006/main">
  <p:tag name="NUM" val="1"/>
</p:tagLst>
</file>

<file path=ppt/tags/tag46.xml><?xml version="1.0" encoding="utf-8"?>
<p:tagLst xmlns:a="http://schemas.openxmlformats.org/drawingml/2006/main" xmlns:r="http://schemas.openxmlformats.org/officeDocument/2006/relationships" xmlns:p="http://schemas.openxmlformats.org/presentationml/2006/main">
  <p:tag name="NUM" val="2"/>
</p:tagLst>
</file>

<file path=ppt/tags/tag47.xml><?xml version="1.0" encoding="utf-8"?>
<p:tagLst xmlns:a="http://schemas.openxmlformats.org/drawingml/2006/main" xmlns:r="http://schemas.openxmlformats.org/officeDocument/2006/relationships" xmlns:p="http://schemas.openxmlformats.org/presentationml/2006/main">
  <p:tag name="NUM" val="3"/>
</p:tagLst>
</file>

<file path=ppt/tags/tag48.xml><?xml version="1.0" encoding="utf-8"?>
<p:tagLst xmlns:a="http://schemas.openxmlformats.org/drawingml/2006/main" xmlns:r="http://schemas.openxmlformats.org/officeDocument/2006/relationships" xmlns:p="http://schemas.openxmlformats.org/presentationml/2006/main">
  <p:tag name="NUM" val="4"/>
</p:tagLst>
</file>

<file path=ppt/tags/tag49.xml><?xml version="1.0" encoding="utf-8"?>
<p:tagLst xmlns:a="http://schemas.openxmlformats.org/drawingml/2006/main" xmlns:r="http://schemas.openxmlformats.org/officeDocument/2006/relationships" xmlns:p="http://schemas.openxmlformats.org/presentationml/2006/main">
  <p:tag name="NOPREFERENCE" val="False"/>
</p:tagLst>
</file>

<file path=ppt/tags/tag50.xml><?xml version="1.0" encoding="utf-8"?>
<p:tagLst xmlns:a="http://schemas.openxmlformats.org/drawingml/2006/main" xmlns:r="http://schemas.openxmlformats.org/officeDocument/2006/relationships" xmlns:p="http://schemas.openxmlformats.org/presentationml/2006/main">
  <p:tag name="NUM" val="1"/>
</p:tagLst>
</file>

<file path=ppt/tags/tag51.xml><?xml version="1.0" encoding="utf-8"?>
<p:tagLst xmlns:a="http://schemas.openxmlformats.org/drawingml/2006/main" xmlns:r="http://schemas.openxmlformats.org/officeDocument/2006/relationships" xmlns:p="http://schemas.openxmlformats.org/presentationml/2006/main">
  <p:tag name="NUM" val="2"/>
</p:tagLst>
</file>

<file path=ppt/tags/tag52.xml><?xml version="1.0" encoding="utf-8"?>
<p:tagLst xmlns:a="http://schemas.openxmlformats.org/drawingml/2006/main" xmlns:r="http://schemas.openxmlformats.org/officeDocument/2006/relationships" xmlns:p="http://schemas.openxmlformats.org/presentationml/2006/main">
  <p:tag name="NUM" val="3"/>
</p:tagLst>
</file>

<file path=ppt/tags/tag53.xml><?xml version="1.0" encoding="utf-8"?>
<p:tagLst xmlns:a="http://schemas.openxmlformats.org/drawingml/2006/main" xmlns:r="http://schemas.openxmlformats.org/officeDocument/2006/relationships" xmlns:p="http://schemas.openxmlformats.org/presentationml/2006/main">
  <p:tag name="NUM" val="4"/>
</p:tagLst>
</file>

<file path=ppt/tags/tag54.xml><?xml version="1.0" encoding="utf-8"?>
<p:tagLst xmlns:a="http://schemas.openxmlformats.org/drawingml/2006/main" xmlns:r="http://schemas.openxmlformats.org/officeDocument/2006/relationships" xmlns:p="http://schemas.openxmlformats.org/presentationml/2006/main">
  <p:tag name="NUM" val="5"/>
</p:tagLst>
</file>

<file path=ppt/tags/tag55.xml><?xml version="1.0" encoding="utf-8"?>
<p:tagLst xmlns:a="http://schemas.openxmlformats.org/drawingml/2006/main" xmlns:r="http://schemas.openxmlformats.org/officeDocument/2006/relationships" xmlns:p="http://schemas.openxmlformats.org/presentationml/2006/main">
  <p:tag name="NUM" val="6"/>
</p:tagLst>
</file>

<file path=ppt/tags/tag56.xml><?xml version="1.0" encoding="utf-8"?>
<p:tagLst xmlns:a="http://schemas.openxmlformats.org/drawingml/2006/main" xmlns:r="http://schemas.openxmlformats.org/officeDocument/2006/relationships" xmlns:p="http://schemas.openxmlformats.org/presentationml/2006/main">
  <p:tag name="NOPREFERENCE" val="False"/>
</p:tagLst>
</file>

<file path=ppt/tags/tag57.xml><?xml version="1.0" encoding="utf-8"?>
<p:tagLst xmlns:a="http://schemas.openxmlformats.org/drawingml/2006/main" xmlns:r="http://schemas.openxmlformats.org/officeDocument/2006/relationships" xmlns:p="http://schemas.openxmlformats.org/presentationml/2006/main">
  <p:tag name="NUM" val="1"/>
</p:tagLst>
</file>

<file path=ppt/tags/tag58.xml><?xml version="1.0" encoding="utf-8"?>
<p:tagLst xmlns:a="http://schemas.openxmlformats.org/drawingml/2006/main" xmlns:r="http://schemas.openxmlformats.org/officeDocument/2006/relationships" xmlns:p="http://schemas.openxmlformats.org/presentationml/2006/main">
  <p:tag name="NUM" val="2"/>
</p:tagLst>
</file>

<file path=ppt/tags/tag59.xml><?xml version="1.0" encoding="utf-8"?>
<p:tagLst xmlns:a="http://schemas.openxmlformats.org/drawingml/2006/main" xmlns:r="http://schemas.openxmlformats.org/officeDocument/2006/relationships" xmlns:p="http://schemas.openxmlformats.org/presentationml/2006/main">
  <p:tag name="NUM" val="3"/>
</p:tagLst>
</file>

<file path=ppt/tags/tag60.xml><?xml version="1.0" encoding="utf-8"?>
<p:tagLst xmlns:a="http://schemas.openxmlformats.org/drawingml/2006/main" xmlns:r="http://schemas.openxmlformats.org/officeDocument/2006/relationships" xmlns:p="http://schemas.openxmlformats.org/presentationml/2006/main">
  <p:tag name="NUM" val="4"/>
</p:tagLst>
</file>

<file path=ppt/tags/tag61.xml><?xml version="1.0" encoding="utf-8"?>
<p:tagLst xmlns:a="http://schemas.openxmlformats.org/drawingml/2006/main" xmlns:r="http://schemas.openxmlformats.org/officeDocument/2006/relationships" xmlns:p="http://schemas.openxmlformats.org/presentationml/2006/main">
  <p:tag name="SLIDEGUID" val="7A72E970E0E74CC0BE223CEB55CC8502"/>
  <p:tag name="SLIDEID" val="7A72E970E0E74CC0BE223CEB55CC8502"/>
  <p:tag name="SLIDEORDER" val="1"/>
  <p:tag name="SLIDETYPE" val="Q"/>
  <p:tag name="DEMOGRAPHIC" val="False"/>
  <p:tag name="TEAMASSIGN" val="False"/>
  <p:tag name="SPEEDSCORING" val="False"/>
  <p:tag name="CORRECTPOINTVALUE" val="100"/>
  <p:tag name="INCORRECTPOINTVALUE" val="0"/>
  <p:tag name="ZEROBASED" val="False"/>
  <p:tag name="NUMRESPONSES" val="1"/>
  <p:tag name="AUTOADVANCE" val="False"/>
  <p:tag name="DELIMITERS" val="3.1"/>
  <p:tag name="VALUEFORMAT" val="0%"/>
  <p:tag name="ANSWERSALIAS" val="Le raisonnement du directeur est juste|smicln|Le raisonnement du directeur est erroné|smicln|Le directeur ne dispose pas de toute l’information nécessaire pour répondre à cette question."/>
  <p:tag name="QUESTIONALIAS" val="Accepter ou rejeter une offre spéciale (1/2) Une entreprise fabrique un produit vendu à 20 $. Les ventes actuelles se chiffrent à 4 000 unités par mois, ce qui représente 80 % de la capacité. On pourrait vendre la capacité excédentaire à 11 $ l’unité. Les coûts totaux actuels s’élèvent à 56 000 $, ce qui inclut 16 000 $ de coûts fixes. Le directeur de production assure que cette vente n’est pas profitable, qu’en pensez-vous ?  Justification du directeur de production :  56 000$ / 5 000 = 11,2$ &gt; 11$ "/>
  <p:tag name="VALUES" val="No Value|smicln|No Value|smicln|No Value"/>
  <p:tag name="TOTALRESPONSES" val="0"/>
  <p:tag name="ANONYMOUSTEMP" val="False"/>
  <p:tag name="TYPE" val="MultiChoiceSlide"/>
  <p:tag name="TPQUESTIONXML" val="﻿&lt;?xml version=&quot;1.0&quot; encoding=&quot;utf-8&quot;?&gt;&#10;&lt;questionlist&gt;&#10;    &lt;properties&gt;&#10;        &lt;guid&gt;240AADE0BC6E4E6CA15FD2C39A8BB114&lt;/guid&gt;&#10;        &lt;description /&gt;&#10;        &lt;date&gt;5/9/2014 10:34:37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385E7288F25A4B8CAA467048A8E7F04D&lt;/guid&gt;&#10;            &lt;repollguid&gt;00D82165C2F1451796BC359023BB0995&lt;/repollguid&gt;&#10;            &lt;sourceid&gt;6F941C932AF044BE9140521B301B56F7&lt;/sourceid&gt;&#10;            &lt;questiontext&gt;Accepter ou rejeter une offre spéciale (1/2)&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305D22FAAE8D481F87ECEF1ED6B6945A&lt;/guid&gt;&#10;                    &lt;answertext&gt;Le raisonnement du directeur est juste&lt;/answertext&gt;&#10;                    &lt;valuetype&gt;0&lt;/valuetype&gt;&#10;                &lt;/answer&gt;&#10;                &lt;answer&gt;&#10;                    &lt;guid&gt;8C13A50C352644DAB8374EEF837124D4&lt;/guid&gt;&#10;                    &lt;answertext&gt;Le raisonnement du directeur est erroné&lt;/answertext&gt;&#10;                    &lt;valuetype&gt;0&lt;/valuetype&gt;&#10;                &lt;/answer&gt;&#10;            &lt;/answers&gt;&#10;        &lt;/multichoice&gt;&#10;    &lt;/questions&gt;&#10;&lt;/questionlist&gt;"/>
  <p:tag name="LIVECHARTING" val="False"/>
  <p:tag name="AUTOOPENPOLL" val="True"/>
  <p:tag name="AUTOFORMATCHART" val="True"/>
</p:tagLst>
</file>

<file path=ppt/tags/tag62.xml><?xml version="1.0" encoding="utf-8"?>
<p:tagLst xmlns:a="http://schemas.openxmlformats.org/drawingml/2006/main" xmlns:r="http://schemas.openxmlformats.org/officeDocument/2006/relationships" xmlns:p="http://schemas.openxmlformats.org/presentationml/2006/main">
  <p:tag name="NUM" val="1"/>
</p:tagLst>
</file>

<file path=ppt/tags/tag63.xml><?xml version="1.0" encoding="utf-8"?>
<p:tagLst xmlns:a="http://schemas.openxmlformats.org/drawingml/2006/main" xmlns:r="http://schemas.openxmlformats.org/officeDocument/2006/relationships" xmlns:p="http://schemas.openxmlformats.org/presentationml/2006/main">
  <p:tag name="NUM" val="2"/>
</p:tagLst>
</file>

<file path=ppt/tags/tag64.xml><?xml version="1.0" encoding="utf-8"?>
<p:tagLst xmlns:a="http://schemas.openxmlformats.org/drawingml/2006/main" xmlns:r="http://schemas.openxmlformats.org/officeDocument/2006/relationships" xmlns:p="http://schemas.openxmlformats.org/presentationml/2006/main">
  <p:tag name="NUM" val="3"/>
</p:tagLst>
</file>

<file path=ppt/tags/tag65.xml><?xml version="1.0" encoding="utf-8"?>
<p:tagLst xmlns:a="http://schemas.openxmlformats.org/drawingml/2006/main" xmlns:r="http://schemas.openxmlformats.org/officeDocument/2006/relationships" xmlns:p="http://schemas.openxmlformats.org/presentationml/2006/main">
  <p:tag name="NUM" val="4"/>
</p:tagLst>
</file>

<file path=ppt/tags/tag66.xml><?xml version="1.0" encoding="utf-8"?>
<p:tagLst xmlns:a="http://schemas.openxmlformats.org/drawingml/2006/main" xmlns:r="http://schemas.openxmlformats.org/officeDocument/2006/relationships" xmlns:p="http://schemas.openxmlformats.org/presentationml/2006/main">
  <p:tag name="NUM" val="5"/>
</p:tagLst>
</file>

<file path=ppt/tags/tag67.xml><?xml version="1.0" encoding="utf-8"?>
<p:tagLst xmlns:a="http://schemas.openxmlformats.org/drawingml/2006/main" xmlns:r="http://schemas.openxmlformats.org/officeDocument/2006/relationships" xmlns:p="http://schemas.openxmlformats.org/presentationml/2006/main">
  <p:tag name="NUM" val="6"/>
</p:tagLst>
</file>

<file path=ppt/tags/tag68.xml><?xml version="1.0" encoding="utf-8"?>
<p:tagLst xmlns:a="http://schemas.openxmlformats.org/drawingml/2006/main" xmlns:r="http://schemas.openxmlformats.org/officeDocument/2006/relationships" xmlns:p="http://schemas.openxmlformats.org/presentationml/2006/main">
  <p:tag name="NUM" val="1"/>
</p:tagLst>
</file>

<file path=ppt/tags/tag69.xml><?xml version="1.0" encoding="utf-8"?>
<p:tagLst xmlns:a="http://schemas.openxmlformats.org/drawingml/2006/main" xmlns:r="http://schemas.openxmlformats.org/officeDocument/2006/relationships" xmlns:p="http://schemas.openxmlformats.org/presentationml/2006/main">
  <p:tag name="NUM" val="2"/>
</p:tagLst>
</file>

<file path=ppt/tags/tag70.xml><?xml version="1.0" encoding="utf-8"?>
<p:tagLst xmlns:a="http://schemas.openxmlformats.org/drawingml/2006/main" xmlns:r="http://schemas.openxmlformats.org/officeDocument/2006/relationships" xmlns:p="http://schemas.openxmlformats.org/presentationml/2006/main">
  <p:tag name="NUM" val="3"/>
</p:tagLst>
</file>

<file path=ppt/tags/tag71.xml><?xml version="1.0" encoding="utf-8"?>
<p:tagLst xmlns:a="http://schemas.openxmlformats.org/drawingml/2006/main" xmlns:r="http://schemas.openxmlformats.org/officeDocument/2006/relationships" xmlns:p="http://schemas.openxmlformats.org/presentationml/2006/main">
  <p:tag name="NUM" val="4"/>
</p:tagLst>
</file>

<file path=ppt/tags/tag72.xml><?xml version="1.0" encoding="utf-8"?>
<p:tagLst xmlns:a="http://schemas.openxmlformats.org/drawingml/2006/main" xmlns:r="http://schemas.openxmlformats.org/officeDocument/2006/relationships" xmlns:p="http://schemas.openxmlformats.org/presentationml/2006/main">
  <p:tag name="NUM" val="5"/>
</p:tagLst>
</file>

<file path=ppt/tags/tag73.xml><?xml version="1.0" encoding="utf-8"?>
<p:tagLst xmlns:a="http://schemas.openxmlformats.org/drawingml/2006/main" xmlns:r="http://schemas.openxmlformats.org/officeDocument/2006/relationships" xmlns:p="http://schemas.openxmlformats.org/presentationml/2006/main">
  <p:tag name="NUM" val="6"/>
</p:tagLst>
</file>

<file path=ppt/tags/tag74.xml><?xml version="1.0" encoding="utf-8"?>
<p:tagLst xmlns:a="http://schemas.openxmlformats.org/drawingml/2006/main" xmlns:r="http://schemas.openxmlformats.org/officeDocument/2006/relationships" xmlns:p="http://schemas.openxmlformats.org/presentationml/2006/main">
  <p:tag name="NUM" val="7"/>
</p:tagLst>
</file>

<file path=ppt/tags/tag75.xml><?xml version="1.0" encoding="utf-8"?>
<p:tagLst xmlns:a="http://schemas.openxmlformats.org/drawingml/2006/main" xmlns:r="http://schemas.openxmlformats.org/officeDocument/2006/relationships" xmlns:p="http://schemas.openxmlformats.org/presentationml/2006/main">
  <p:tag name="NUM" val="8"/>
</p:tagLst>
</file>

<file path=ppt/tags/tag76.xml><?xml version="1.0" encoding="utf-8"?>
<p:tagLst xmlns:a="http://schemas.openxmlformats.org/drawingml/2006/main" xmlns:r="http://schemas.openxmlformats.org/officeDocument/2006/relationships" xmlns:p="http://schemas.openxmlformats.org/presentationml/2006/main">
  <p:tag name="NUM" val="9"/>
</p:tagLst>
</file>

<file path=ppt/tags/tag77.xml><?xml version="1.0" encoding="utf-8"?>
<p:tagLst xmlns:a="http://schemas.openxmlformats.org/drawingml/2006/main" xmlns:r="http://schemas.openxmlformats.org/officeDocument/2006/relationships" xmlns:p="http://schemas.openxmlformats.org/presentationml/2006/main">
  <p:tag name="NUM" val="10"/>
</p:tagLst>
</file>

<file path=ppt/tags/tag78.xml><?xml version="1.0" encoding="utf-8"?>
<p:tagLst xmlns:a="http://schemas.openxmlformats.org/drawingml/2006/main" xmlns:r="http://schemas.openxmlformats.org/officeDocument/2006/relationships" xmlns:p="http://schemas.openxmlformats.org/presentationml/2006/main">
  <p:tag name="NUM" val="11"/>
</p:tagLst>
</file>

<file path=ppt/tags/tag79.xml><?xml version="1.0" encoding="utf-8"?>
<p:tagLst xmlns:a="http://schemas.openxmlformats.org/drawingml/2006/main" xmlns:r="http://schemas.openxmlformats.org/officeDocument/2006/relationships" xmlns:p="http://schemas.openxmlformats.org/presentationml/2006/main">
  <p:tag name="NUM" val="6"/>
</p:tagLst>
</file>

<file path=ppt/tags/tag80.xml><?xml version="1.0" encoding="utf-8"?>
<p:tagLst xmlns:a="http://schemas.openxmlformats.org/drawingml/2006/main" xmlns:r="http://schemas.openxmlformats.org/officeDocument/2006/relationships" xmlns:p="http://schemas.openxmlformats.org/presentationml/2006/main">
  <p:tag name="NUM" val="5"/>
</p:tagLst>
</file>

<file path=ppt/tags/tag81.xml><?xml version="1.0" encoding="utf-8"?>
<p:tagLst xmlns:a="http://schemas.openxmlformats.org/drawingml/2006/main" xmlns:r="http://schemas.openxmlformats.org/officeDocument/2006/relationships" xmlns:p="http://schemas.openxmlformats.org/presentationml/2006/main">
  <p:tag name="NUM" val="1"/>
</p:tagLst>
</file>

<file path=ppt/tags/tag82.xml><?xml version="1.0" encoding="utf-8"?>
<p:tagLst xmlns:a="http://schemas.openxmlformats.org/drawingml/2006/main" xmlns:r="http://schemas.openxmlformats.org/officeDocument/2006/relationships" xmlns:p="http://schemas.openxmlformats.org/presentationml/2006/main">
  <p:tag name="NUM" val="2"/>
</p:tagLst>
</file>

<file path=ppt/tags/tag83.xml><?xml version="1.0" encoding="utf-8"?>
<p:tagLst xmlns:a="http://schemas.openxmlformats.org/drawingml/2006/main" xmlns:r="http://schemas.openxmlformats.org/officeDocument/2006/relationships" xmlns:p="http://schemas.openxmlformats.org/presentationml/2006/main">
  <p:tag name="NUM" val="3"/>
</p:tagLst>
</file>

<file path=ppt/tags/tag84.xml><?xml version="1.0" encoding="utf-8"?>
<p:tagLst xmlns:a="http://schemas.openxmlformats.org/drawingml/2006/main" xmlns:r="http://schemas.openxmlformats.org/officeDocument/2006/relationships" xmlns:p="http://schemas.openxmlformats.org/presentationml/2006/main">
  <p:tag name="NUM" val="4"/>
</p:tagLst>
</file>

<file path=ppt/tags/tag85.xml><?xml version="1.0" encoding="utf-8"?>
<p:tagLst xmlns:a="http://schemas.openxmlformats.org/drawingml/2006/main" xmlns:r="http://schemas.openxmlformats.org/officeDocument/2006/relationships" xmlns:p="http://schemas.openxmlformats.org/presentationml/2006/main">
  <p:tag name="NUM" val="1"/>
</p:tagLst>
</file>

<file path=ppt/tags/tag86.xml><?xml version="1.0" encoding="utf-8"?>
<p:tagLst xmlns:a="http://schemas.openxmlformats.org/drawingml/2006/main" xmlns:r="http://schemas.openxmlformats.org/officeDocument/2006/relationships" xmlns:p="http://schemas.openxmlformats.org/presentationml/2006/main">
  <p:tag name="NUM" val="2"/>
</p:tagLst>
</file>

<file path=ppt/tags/tag87.xml><?xml version="1.0" encoding="utf-8"?>
<p:tagLst xmlns:a="http://schemas.openxmlformats.org/drawingml/2006/main" xmlns:r="http://schemas.openxmlformats.org/officeDocument/2006/relationships" xmlns:p="http://schemas.openxmlformats.org/presentationml/2006/main">
  <p:tag name="NUM" val="3"/>
</p:tagLst>
</file>

<file path=ppt/tags/tag88.xml><?xml version="1.0" encoding="utf-8"?>
<p:tagLst xmlns:a="http://schemas.openxmlformats.org/drawingml/2006/main" xmlns:r="http://schemas.openxmlformats.org/officeDocument/2006/relationships" xmlns:p="http://schemas.openxmlformats.org/presentationml/2006/main">
  <p:tag name="NUM" val="4"/>
</p:tagLst>
</file>

<file path=ppt/tags/tag89.xml><?xml version="1.0" encoding="utf-8"?>
<p:tagLst xmlns:a="http://schemas.openxmlformats.org/drawingml/2006/main" xmlns:r="http://schemas.openxmlformats.org/officeDocument/2006/relationships" xmlns:p="http://schemas.openxmlformats.org/presentationml/2006/main">
  <p:tag name="NUM" val="1"/>
</p:tagLst>
</file>

<file path=ppt/tags/tag90.xml><?xml version="1.0" encoding="utf-8"?>
<p:tagLst xmlns:a="http://schemas.openxmlformats.org/drawingml/2006/main" xmlns:r="http://schemas.openxmlformats.org/officeDocument/2006/relationships" xmlns:p="http://schemas.openxmlformats.org/presentationml/2006/main">
  <p:tag name="NUM" val="2"/>
</p:tagLst>
</file>

<file path=ppt/tags/tag91.xml><?xml version="1.0" encoding="utf-8"?>
<p:tagLst xmlns:a="http://schemas.openxmlformats.org/drawingml/2006/main" xmlns:r="http://schemas.openxmlformats.org/officeDocument/2006/relationships" xmlns:p="http://schemas.openxmlformats.org/presentationml/2006/main">
  <p:tag name="NUM" val="3"/>
</p:tagLst>
</file>

<file path=ppt/tags/tag92.xml><?xml version="1.0" encoding="utf-8"?>
<p:tagLst xmlns:a="http://schemas.openxmlformats.org/drawingml/2006/main" xmlns:r="http://schemas.openxmlformats.org/officeDocument/2006/relationships" xmlns:p="http://schemas.openxmlformats.org/presentationml/2006/main">
  <p:tag name="NUM" val="4"/>
</p:tagLst>
</file>

<file path=ppt/tags/tag93.xml><?xml version="1.0" encoding="utf-8"?>
<p:tagLst xmlns:a="http://schemas.openxmlformats.org/drawingml/2006/main" xmlns:r="http://schemas.openxmlformats.org/officeDocument/2006/relationships" xmlns:p="http://schemas.openxmlformats.org/presentationml/2006/main">
  <p:tag name="NOPREFERENCE" val="False"/>
</p:tagLst>
</file>

<file path=ppt/tags/tag94.xml><?xml version="1.0" encoding="utf-8"?>
<p:tagLst xmlns:a="http://schemas.openxmlformats.org/drawingml/2006/main" xmlns:r="http://schemas.openxmlformats.org/officeDocument/2006/relationships" xmlns:p="http://schemas.openxmlformats.org/presentationml/2006/main">
  <p:tag name="NUM" val="1"/>
</p:tagLst>
</file>

<file path=ppt/tags/tag95.xml><?xml version="1.0" encoding="utf-8"?>
<p:tagLst xmlns:a="http://schemas.openxmlformats.org/drawingml/2006/main" xmlns:r="http://schemas.openxmlformats.org/officeDocument/2006/relationships" xmlns:p="http://schemas.openxmlformats.org/presentationml/2006/main">
  <p:tag name="NUM" val="2"/>
</p:tagLst>
</file>

<file path=ppt/tags/tag96.xml><?xml version="1.0" encoding="utf-8"?>
<p:tagLst xmlns:a="http://schemas.openxmlformats.org/drawingml/2006/main" xmlns:r="http://schemas.openxmlformats.org/officeDocument/2006/relationships" xmlns:p="http://schemas.openxmlformats.org/presentationml/2006/main">
  <p:tag name="NUM" val="3"/>
</p:tagLst>
</file>

<file path=ppt/tags/tag97.xml><?xml version="1.0" encoding="utf-8"?>
<p:tagLst xmlns:a="http://schemas.openxmlformats.org/drawingml/2006/main" xmlns:r="http://schemas.openxmlformats.org/officeDocument/2006/relationships" xmlns:p="http://schemas.openxmlformats.org/presentationml/2006/main">
  <p:tag name="NUM" val="4"/>
</p:tagLst>
</file>

<file path=ppt/tags/tag98.xml><?xml version="1.0" encoding="utf-8"?>
<p:tagLst xmlns:a="http://schemas.openxmlformats.org/drawingml/2006/main" xmlns:r="http://schemas.openxmlformats.org/officeDocument/2006/relationships" xmlns:p="http://schemas.openxmlformats.org/presentationml/2006/main">
  <p:tag name="NUM" val="5"/>
</p:tagLst>
</file>

<file path=ppt/tags/tag99.xml><?xml version="1.0" encoding="utf-8"?>
<p:tagLst xmlns:a="http://schemas.openxmlformats.org/drawingml/2006/main" xmlns:r="http://schemas.openxmlformats.org/officeDocument/2006/relationships" xmlns:p="http://schemas.openxmlformats.org/presentationml/2006/main">
  <p:tag name="NUM" val="6"/>
</p:tagLst>
</file>

<file path=ppt/tags/tag100.xml><?xml version="1.0" encoding="utf-8"?>
<p:tagLst xmlns:a="http://schemas.openxmlformats.org/drawingml/2006/main" xmlns:r="http://schemas.openxmlformats.org/officeDocument/2006/relationships" xmlns:p="http://schemas.openxmlformats.org/presentationml/2006/main">
  <p:tag name="NUM" val="7"/>
</p:tagLst>
</file>

<file path=ppt/tags/tag101.xml><?xml version="1.0" encoding="utf-8"?>
<p:tagLst xmlns:a="http://schemas.openxmlformats.org/drawingml/2006/main" xmlns:r="http://schemas.openxmlformats.org/officeDocument/2006/relationships" xmlns:p="http://schemas.openxmlformats.org/presentationml/2006/main">
  <p:tag name="NOPREFERENCE" val="False"/>
</p:tagLst>
</file>

<file path=ppt/tags/tag102.xml><?xml version="1.0" encoding="utf-8"?>
<p:tagLst xmlns:a="http://schemas.openxmlformats.org/drawingml/2006/main" xmlns:r="http://schemas.openxmlformats.org/officeDocument/2006/relationships" xmlns:p="http://schemas.openxmlformats.org/presentationml/2006/main">
  <p:tag name="NUM" val="1"/>
</p:tagLst>
</file>

<file path=ppt/tags/tag103.xml><?xml version="1.0" encoding="utf-8"?>
<p:tagLst xmlns:a="http://schemas.openxmlformats.org/drawingml/2006/main" xmlns:r="http://schemas.openxmlformats.org/officeDocument/2006/relationships" xmlns:p="http://schemas.openxmlformats.org/presentationml/2006/main">
  <p:tag name="NUM" val="2"/>
</p:tagLst>
</file>

<file path=ppt/tags/tag104.xml><?xml version="1.0" encoding="utf-8"?>
<p:tagLst xmlns:a="http://schemas.openxmlformats.org/drawingml/2006/main" xmlns:r="http://schemas.openxmlformats.org/officeDocument/2006/relationships" xmlns:p="http://schemas.openxmlformats.org/presentationml/2006/main">
  <p:tag name="NUM" val="3"/>
</p:tagLst>
</file>

<file path=ppt/tags/tag105.xml><?xml version="1.0" encoding="utf-8"?>
<p:tagLst xmlns:a="http://schemas.openxmlformats.org/drawingml/2006/main" xmlns:r="http://schemas.openxmlformats.org/officeDocument/2006/relationships" xmlns:p="http://schemas.openxmlformats.org/presentationml/2006/main">
  <p:tag name="NUM" val="5"/>
</p:tagLst>
</file>

<file path=ppt/tags/tag106.xml><?xml version="1.0" encoding="utf-8"?>
<p:tagLst xmlns:a="http://schemas.openxmlformats.org/drawingml/2006/main" xmlns:r="http://schemas.openxmlformats.org/officeDocument/2006/relationships" xmlns:p="http://schemas.openxmlformats.org/presentationml/2006/main">
  <p:tag name="NUM" val="6"/>
</p:tagLst>
</file>

<file path=ppt/tags/tag107.xml><?xml version="1.0" encoding="utf-8"?>
<p:tagLst xmlns:a="http://schemas.openxmlformats.org/drawingml/2006/main" xmlns:r="http://schemas.openxmlformats.org/officeDocument/2006/relationships" xmlns:p="http://schemas.openxmlformats.org/presentationml/2006/main">
  <p:tag name="NUM" val="7"/>
</p:tagLst>
</file>

<file path=ppt/tags/tag108.xml><?xml version="1.0" encoding="utf-8"?>
<p:tagLst xmlns:a="http://schemas.openxmlformats.org/drawingml/2006/main" xmlns:r="http://schemas.openxmlformats.org/officeDocument/2006/relationships" xmlns:p="http://schemas.openxmlformats.org/presentationml/2006/main">
  <p:tag name="NOPREFERENCE" val="False"/>
</p:tagLst>
</file>

<file path=ppt/tags/tag109.xml><?xml version="1.0" encoding="utf-8"?>
<p:tagLst xmlns:a="http://schemas.openxmlformats.org/drawingml/2006/main" xmlns:r="http://schemas.openxmlformats.org/officeDocument/2006/relationships" xmlns:p="http://schemas.openxmlformats.org/presentationml/2006/main">
  <p:tag name="NUM" val="1"/>
</p:tagLst>
</file>

<file path=ppt/tags/tag110.xml><?xml version="1.0" encoding="utf-8"?>
<p:tagLst xmlns:a="http://schemas.openxmlformats.org/drawingml/2006/main" xmlns:r="http://schemas.openxmlformats.org/officeDocument/2006/relationships" xmlns:p="http://schemas.openxmlformats.org/presentationml/2006/main">
  <p:tag name="NUM" val="2"/>
</p:tagLst>
</file>

<file path=ppt/tags/tag111.xml><?xml version="1.0" encoding="utf-8"?>
<p:tagLst xmlns:a="http://schemas.openxmlformats.org/drawingml/2006/main" xmlns:r="http://schemas.openxmlformats.org/officeDocument/2006/relationships" xmlns:p="http://schemas.openxmlformats.org/presentationml/2006/main">
  <p:tag name="NUM" val="3"/>
</p:tagLst>
</file>

<file path=ppt/tags/tag112.xml><?xml version="1.0" encoding="utf-8"?>
<p:tagLst xmlns:a="http://schemas.openxmlformats.org/drawingml/2006/main" xmlns:r="http://schemas.openxmlformats.org/officeDocument/2006/relationships" xmlns:p="http://schemas.openxmlformats.org/presentationml/2006/main">
  <p:tag name="NUM" val="4"/>
</p:tagLst>
</file>

<file path=ppt/tags/tag113.xml><?xml version="1.0" encoding="utf-8"?>
<p:tagLst xmlns:a="http://schemas.openxmlformats.org/drawingml/2006/main" xmlns:r="http://schemas.openxmlformats.org/officeDocument/2006/relationships" xmlns:p="http://schemas.openxmlformats.org/presentationml/2006/main">
  <p:tag name="NUM" val="5"/>
</p:tagLst>
</file>

<file path=ppt/tags/tag114.xml><?xml version="1.0" encoding="utf-8"?>
<p:tagLst xmlns:a="http://schemas.openxmlformats.org/drawingml/2006/main" xmlns:r="http://schemas.openxmlformats.org/officeDocument/2006/relationships" xmlns:p="http://schemas.openxmlformats.org/presentationml/2006/main">
  <p:tag name="NUM" val="6"/>
</p:tagLst>
</file>

<file path=ppt/tags/tag115.xml><?xml version="1.0" encoding="utf-8"?>
<p:tagLst xmlns:a="http://schemas.openxmlformats.org/drawingml/2006/main" xmlns:r="http://schemas.openxmlformats.org/officeDocument/2006/relationships" xmlns:p="http://schemas.openxmlformats.org/presentationml/2006/main">
  <p:tag name="NUM" val="1"/>
</p:tagLst>
</file>

<file path=ppt/tags/tag116.xml><?xml version="1.0" encoding="utf-8"?>
<p:tagLst xmlns:a="http://schemas.openxmlformats.org/drawingml/2006/main" xmlns:r="http://schemas.openxmlformats.org/officeDocument/2006/relationships" xmlns:p="http://schemas.openxmlformats.org/presentationml/2006/main">
  <p:tag name="NUM" val="2"/>
</p:tagLst>
</file>

<file path=ppt/tags/tag117.xml><?xml version="1.0" encoding="utf-8"?>
<p:tagLst xmlns:a="http://schemas.openxmlformats.org/drawingml/2006/main" xmlns:r="http://schemas.openxmlformats.org/officeDocument/2006/relationships" xmlns:p="http://schemas.openxmlformats.org/presentationml/2006/main">
  <p:tag name="NUM" val="3"/>
</p:tagLst>
</file>

<file path=ppt/tags/tag118.xml><?xml version="1.0" encoding="utf-8"?>
<p:tagLst xmlns:a="http://schemas.openxmlformats.org/drawingml/2006/main" xmlns:r="http://schemas.openxmlformats.org/officeDocument/2006/relationships" xmlns:p="http://schemas.openxmlformats.org/presentationml/2006/main">
  <p:tag name="NUM" val="4"/>
</p:tagLst>
</file>

<file path=ppt/tags/tag119.xml><?xml version="1.0" encoding="utf-8"?>
<p:tagLst xmlns:a="http://schemas.openxmlformats.org/drawingml/2006/main" xmlns:r="http://schemas.openxmlformats.org/officeDocument/2006/relationships" xmlns:p="http://schemas.openxmlformats.org/presentationml/2006/main">
  <p:tag name="SLIDEGUID" val="EA3710E50829472F9FBAD62887D547C4"/>
  <p:tag name="SLIDEID" val="EA3710E50829472F9FBAD62887D547C4"/>
  <p:tag name="SLIDEORDER" val="1"/>
  <p:tag name="SLIDETYPE" val="Q"/>
  <p:tag name="DEMOGRAPHIC" val="False"/>
  <p:tag name="TEAMASSIGN" val="False"/>
  <p:tag name="SPEEDSCORING" val="False"/>
  <p:tag name="CORRECTPOINTVALUE" val="100"/>
  <p:tag name="INCORRECTPOINTVALUE" val="0"/>
  <p:tag name="ZEROBASED" val="False"/>
  <p:tag name="NUMRESPONSES" val="1"/>
  <p:tag name="AUTOADVANCE" val="False"/>
  <p:tag name="DELIMITERS" val="3.1"/>
  <p:tag name="VALUEFORMAT" val="0%"/>
  <p:tag name="ANSWERSALIAS" val="Oui, on devrait arrêter la production du produit BK200|smicln|Non, on ne devrait pas arrêter la production du produit BK200|smicln|Nous ne disposons pas de  l’information nécessaire pour répondre à cette question."/>
  <p:tag name="VALUES" val="No Value|smicln|No Value|smicln|No Value"/>
  <p:tag name="QUESTIONALIAS" val=" Acheter ou fabriquer un produit (1/2) Le coût complet de production du BK 200, au niveau actuel de 50 000 unités, est calculé ainsi (en $) :  Matières   2,50  MOD   1,25  FGF variables   1,75  FGF fixes  3,50  Total   9,00 Un fournisseur offre de nous vendre ce produit à un prix de 7,75 $.  Le directeur de production veut arrêter la production du BK200 pour l’acheter à ce fournisseur, qu’en pensez-vous ?    "/>
  <p:tag name="TOTALRESPONSES" val="0"/>
  <p:tag name="ANONYMOUSTEMP" val="False"/>
  <p:tag name="TYPE" val="MultiChoiceSlide"/>
  <p:tag name="LIVECHARTING" val="False"/>
  <p:tag name="TPQUESTIONXML" val="﻿&lt;?xml version=&quot;1.0&quot; encoding=&quot;utf-8&quot;?&gt;&#10;&lt;questionlist&gt;&#10;    &lt;properties&gt;&#10;        &lt;guid&gt;45AA044C9F5641648F32C121306505AA&lt;/guid&gt;&#10;        &lt;description /&gt;&#10;        &lt;date&gt;5/9/2014 10:34:37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93E571A3C3A4C7DB38663EF2140A3B6&lt;/guid&gt;&#10;            &lt;repollguid&gt;5981C9791C7C4607BA8577B5F46968C8&lt;/repollguid&gt;&#10;            &lt;sourceid&gt;9301E53B3D2F492CACCA0FB89A2CFBB3&lt;/sourceid&gt;&#10;            &lt;questiontext&gt;Acheter ou fabriquer un produit (1/2)&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04463188F0DB48859750256B5BB8D092&lt;/guid&gt;&#10;                    &lt;answertext&gt;Oui, on devrait sous-traiter la production du produit BK200&lt;/answertext&gt;&#10;                    &lt;valuetype&gt;0&lt;/valuetype&gt;&#10;                &lt;/answer&gt;&#10;                &lt;answer&gt;&#10;                    &lt;guid&gt;E050FCCF3C5644D6B5CBF4B1567624F7&lt;/guid&gt;&#10;                    &lt;answertext&gt;Non, on ne devrait pas sous-traiter la production du produit BK200&lt;/answertext&gt;&#10;                    &lt;valuetype&gt;0&lt;/valuetype&gt;&#10;                &lt;/answer&gt;&#10;            &lt;/answers&gt;&#10;        &lt;/multichoice&gt;&#10;    &lt;/questions&gt;&#10;&lt;/questionlist&gt;"/>
  <p:tag name="AUTOOPENPOLL" val="True"/>
  <p:tag name="AUTOFORMATCHART" val="True"/>
</p:tagLst>
</file>

<file path=ppt/tags/tag120.xml><?xml version="1.0" encoding="utf-8"?>
<p:tagLst xmlns:a="http://schemas.openxmlformats.org/drawingml/2006/main" xmlns:r="http://schemas.openxmlformats.org/officeDocument/2006/relationships" xmlns:p="http://schemas.openxmlformats.org/presentationml/2006/main">
  <p:tag name="NUM" val="1"/>
</p:tagLst>
</file>

<file path=ppt/tags/tag121.xml><?xml version="1.0" encoding="utf-8"?>
<p:tagLst xmlns:a="http://schemas.openxmlformats.org/drawingml/2006/main" xmlns:r="http://schemas.openxmlformats.org/officeDocument/2006/relationships" xmlns:p="http://schemas.openxmlformats.org/presentationml/2006/main">
  <p:tag name="NUM" val="2"/>
</p:tagLst>
</file>

<file path=ppt/tags/tag122.xml><?xml version="1.0" encoding="utf-8"?>
<p:tagLst xmlns:a="http://schemas.openxmlformats.org/drawingml/2006/main" xmlns:r="http://schemas.openxmlformats.org/officeDocument/2006/relationships" xmlns:p="http://schemas.openxmlformats.org/presentationml/2006/main">
  <p:tag name="NUM" val="3"/>
</p:tagLst>
</file>

<file path=ppt/tags/tag123.xml><?xml version="1.0" encoding="utf-8"?>
<p:tagLst xmlns:a="http://schemas.openxmlformats.org/drawingml/2006/main" xmlns:r="http://schemas.openxmlformats.org/officeDocument/2006/relationships" xmlns:p="http://schemas.openxmlformats.org/presentationml/2006/main">
  <p:tag name="NUM" val="4"/>
</p:tagLst>
</file>

<file path=ppt/tags/tag124.xml><?xml version="1.0" encoding="utf-8"?>
<p:tagLst xmlns:a="http://schemas.openxmlformats.org/drawingml/2006/main" xmlns:r="http://schemas.openxmlformats.org/officeDocument/2006/relationships" xmlns:p="http://schemas.openxmlformats.org/presentationml/2006/main">
  <p:tag name="NUM" val="5"/>
</p:tagLst>
</file>

<file path=ppt/tags/tag125.xml><?xml version="1.0" encoding="utf-8"?>
<p:tagLst xmlns:a="http://schemas.openxmlformats.org/drawingml/2006/main" xmlns:r="http://schemas.openxmlformats.org/officeDocument/2006/relationships" xmlns:p="http://schemas.openxmlformats.org/presentationml/2006/main">
  <p:tag name="NUM" val="4"/>
</p:tagLst>
</file>

<file path=ppt/tags/tag126.xml><?xml version="1.0" encoding="utf-8"?>
<p:tagLst xmlns:a="http://schemas.openxmlformats.org/drawingml/2006/main" xmlns:r="http://schemas.openxmlformats.org/officeDocument/2006/relationships" xmlns:p="http://schemas.openxmlformats.org/presentationml/2006/main">
  <p:tag name="NUM" val="1"/>
</p:tagLst>
</file>

<file path=ppt/tags/tag127.xml><?xml version="1.0" encoding="utf-8"?>
<p:tagLst xmlns:a="http://schemas.openxmlformats.org/drawingml/2006/main" xmlns:r="http://schemas.openxmlformats.org/officeDocument/2006/relationships" xmlns:p="http://schemas.openxmlformats.org/presentationml/2006/main">
  <p:tag name="NUM" val="2"/>
</p:tagLst>
</file>

<file path=ppt/tags/tag128.xml><?xml version="1.0" encoding="utf-8"?>
<p:tagLst xmlns:a="http://schemas.openxmlformats.org/drawingml/2006/main" xmlns:r="http://schemas.openxmlformats.org/officeDocument/2006/relationships" xmlns:p="http://schemas.openxmlformats.org/presentationml/2006/main">
  <p:tag name="NUM" val="3"/>
</p:tagLst>
</file>

<file path=ppt/tags/tag129.xml><?xml version="1.0" encoding="utf-8"?>
<p:tagLst xmlns:a="http://schemas.openxmlformats.org/drawingml/2006/main" xmlns:r="http://schemas.openxmlformats.org/officeDocument/2006/relationships" xmlns:p="http://schemas.openxmlformats.org/presentationml/2006/main">
  <p:tag name="NUM" val="4"/>
</p:tagLst>
</file>

<file path=ppt/tags/tag130.xml><?xml version="1.0" encoding="utf-8"?>
<p:tagLst xmlns:a="http://schemas.openxmlformats.org/drawingml/2006/main" xmlns:r="http://schemas.openxmlformats.org/officeDocument/2006/relationships" xmlns:p="http://schemas.openxmlformats.org/presentationml/2006/main">
  <p:tag name="NUM" val="5"/>
</p:tagLst>
</file>

<file path=ppt/tags/tag131.xml><?xml version="1.0" encoding="utf-8"?>
<p:tagLst xmlns:a="http://schemas.openxmlformats.org/drawingml/2006/main" xmlns:r="http://schemas.openxmlformats.org/officeDocument/2006/relationships" xmlns:p="http://schemas.openxmlformats.org/presentationml/2006/main">
  <p:tag name="NUM" val="6"/>
</p:tagLst>
</file>

<file path=ppt/tags/tag132.xml><?xml version="1.0" encoding="utf-8"?>
<p:tagLst xmlns:a="http://schemas.openxmlformats.org/drawingml/2006/main" xmlns:r="http://schemas.openxmlformats.org/officeDocument/2006/relationships" xmlns:p="http://schemas.openxmlformats.org/presentationml/2006/main">
  <p:tag name="NUM" val="1"/>
</p:tagLst>
</file>

<file path=ppt/tags/tag133.xml><?xml version="1.0" encoding="utf-8"?>
<p:tagLst xmlns:a="http://schemas.openxmlformats.org/drawingml/2006/main" xmlns:r="http://schemas.openxmlformats.org/officeDocument/2006/relationships" xmlns:p="http://schemas.openxmlformats.org/presentationml/2006/main">
  <p:tag name="NUM" val="2"/>
</p:tagLst>
</file>

<file path=ppt/tags/tag134.xml><?xml version="1.0" encoding="utf-8"?>
<p:tagLst xmlns:a="http://schemas.openxmlformats.org/drawingml/2006/main" xmlns:r="http://schemas.openxmlformats.org/officeDocument/2006/relationships" xmlns:p="http://schemas.openxmlformats.org/presentationml/2006/main">
  <p:tag name="NUM" val="3"/>
</p:tagLst>
</file>

<file path=ppt/tags/tag135.xml><?xml version="1.0" encoding="utf-8"?>
<p:tagLst xmlns:a="http://schemas.openxmlformats.org/drawingml/2006/main" xmlns:r="http://schemas.openxmlformats.org/officeDocument/2006/relationships" xmlns:p="http://schemas.openxmlformats.org/presentationml/2006/main">
  <p:tag name="NUM" val="4"/>
</p:tagLst>
</file>

<file path=ppt/tags/tag136.xml><?xml version="1.0" encoding="utf-8"?>
<p:tagLst xmlns:a="http://schemas.openxmlformats.org/drawingml/2006/main" xmlns:r="http://schemas.openxmlformats.org/officeDocument/2006/relationships" xmlns:p="http://schemas.openxmlformats.org/presentationml/2006/main">
  <p:tag name="NUM" val="5"/>
</p:tagLst>
</file>

<file path=ppt/tags/tag137.xml><?xml version="1.0" encoding="utf-8"?>
<p:tagLst xmlns:a="http://schemas.openxmlformats.org/drawingml/2006/main" xmlns:r="http://schemas.openxmlformats.org/officeDocument/2006/relationships" xmlns:p="http://schemas.openxmlformats.org/presentationml/2006/main">
  <p:tag name="NUM" val="1"/>
</p:tagLst>
</file>

<file path=ppt/tags/tag138.xml><?xml version="1.0" encoding="utf-8"?>
<p:tagLst xmlns:a="http://schemas.openxmlformats.org/drawingml/2006/main" xmlns:r="http://schemas.openxmlformats.org/officeDocument/2006/relationships" xmlns:p="http://schemas.openxmlformats.org/presentationml/2006/main">
  <p:tag name="NUM" val="2"/>
</p:tagLst>
</file>

<file path=ppt/tags/tag139.xml><?xml version="1.0" encoding="utf-8"?>
<p:tagLst xmlns:a="http://schemas.openxmlformats.org/drawingml/2006/main" xmlns:r="http://schemas.openxmlformats.org/officeDocument/2006/relationships" xmlns:p="http://schemas.openxmlformats.org/presentationml/2006/main">
  <p:tag name="NUM" val="3"/>
</p:tagLst>
</file>

<file path=ppt/tags/tag140.xml><?xml version="1.0" encoding="utf-8"?>
<p:tagLst xmlns:a="http://schemas.openxmlformats.org/drawingml/2006/main" xmlns:r="http://schemas.openxmlformats.org/officeDocument/2006/relationships" xmlns:p="http://schemas.openxmlformats.org/presentationml/2006/main">
  <p:tag name="NUM" val="4"/>
</p:tagLst>
</file>

<file path=ppt/tags/tag141.xml><?xml version="1.0" encoding="utf-8"?>
<p:tagLst xmlns:a="http://schemas.openxmlformats.org/drawingml/2006/main" xmlns:r="http://schemas.openxmlformats.org/officeDocument/2006/relationships" xmlns:p="http://schemas.openxmlformats.org/presentationml/2006/main">
  <p:tag name="NUM" val="5"/>
</p:tagLst>
</file>

<file path=ppt/tags/tag142.xml><?xml version="1.0" encoding="utf-8"?>
<p:tagLst xmlns:a="http://schemas.openxmlformats.org/drawingml/2006/main" xmlns:r="http://schemas.openxmlformats.org/officeDocument/2006/relationships" xmlns:p="http://schemas.openxmlformats.org/presentationml/2006/main">
  <p:tag name="NUM" val="6"/>
</p:tagLst>
</file>

<file path=ppt/tags/tag143.xml><?xml version="1.0" encoding="utf-8"?>
<p:tagLst xmlns:a="http://schemas.openxmlformats.org/drawingml/2006/main" xmlns:r="http://schemas.openxmlformats.org/officeDocument/2006/relationships" xmlns:p="http://schemas.openxmlformats.org/presentationml/2006/main">
  <p:tag name="NUM" val="1"/>
</p:tagLst>
</file>

<file path=ppt/tags/tag144.xml><?xml version="1.0" encoding="utf-8"?>
<p:tagLst xmlns:a="http://schemas.openxmlformats.org/drawingml/2006/main" xmlns:r="http://schemas.openxmlformats.org/officeDocument/2006/relationships" xmlns:p="http://schemas.openxmlformats.org/presentationml/2006/main">
  <p:tag name="NUM" val="2"/>
</p:tagLst>
</file>

<file path=ppt/tags/tag145.xml><?xml version="1.0" encoding="utf-8"?>
<p:tagLst xmlns:a="http://schemas.openxmlformats.org/drawingml/2006/main" xmlns:r="http://schemas.openxmlformats.org/officeDocument/2006/relationships" xmlns:p="http://schemas.openxmlformats.org/presentationml/2006/main">
  <p:tag name="NUM" val="3"/>
</p:tagLst>
</file>

<file path=ppt/tags/tag146.xml><?xml version="1.0" encoding="utf-8"?>
<p:tagLst xmlns:a="http://schemas.openxmlformats.org/drawingml/2006/main" xmlns:r="http://schemas.openxmlformats.org/officeDocument/2006/relationships" xmlns:p="http://schemas.openxmlformats.org/presentationml/2006/main">
  <p:tag name="NUM" val="4"/>
</p:tagLst>
</file>

<file path=ppt/tags/tag147.xml><?xml version="1.0" encoding="utf-8"?>
<p:tagLst xmlns:a="http://schemas.openxmlformats.org/drawingml/2006/main" xmlns:r="http://schemas.openxmlformats.org/officeDocument/2006/relationships" xmlns:p="http://schemas.openxmlformats.org/presentationml/2006/main">
  <p:tag name="NUM" val="5"/>
</p:tagLst>
</file>

<file path=ppt/tags/tag148.xml><?xml version="1.0" encoding="utf-8"?>
<p:tagLst xmlns:a="http://schemas.openxmlformats.org/drawingml/2006/main" xmlns:r="http://schemas.openxmlformats.org/officeDocument/2006/relationships" xmlns:p="http://schemas.openxmlformats.org/presentationml/2006/main">
  <p:tag name="NUM" val="6"/>
</p:tagLst>
</file>

<file path=ppt/tags/tag149.xml><?xml version="1.0" encoding="utf-8"?>
<p:tagLst xmlns:a="http://schemas.openxmlformats.org/drawingml/2006/main" xmlns:r="http://schemas.openxmlformats.org/officeDocument/2006/relationships" xmlns:p="http://schemas.openxmlformats.org/presentationml/2006/main">
  <p:tag name="NUM" val="1"/>
</p:tagLst>
</file>

<file path=ppt/tags/tag150.xml><?xml version="1.0" encoding="utf-8"?>
<p:tagLst xmlns:a="http://schemas.openxmlformats.org/drawingml/2006/main" xmlns:r="http://schemas.openxmlformats.org/officeDocument/2006/relationships" xmlns:p="http://schemas.openxmlformats.org/presentationml/2006/main">
  <p:tag name="NUM" val="2"/>
</p:tagLst>
</file>

<file path=ppt/tags/tag151.xml><?xml version="1.0" encoding="utf-8"?>
<p:tagLst xmlns:a="http://schemas.openxmlformats.org/drawingml/2006/main" xmlns:r="http://schemas.openxmlformats.org/officeDocument/2006/relationships" xmlns:p="http://schemas.openxmlformats.org/presentationml/2006/main">
  <p:tag name="NUM" val="3"/>
</p:tagLst>
</file>

<file path=ppt/tags/tag152.xml><?xml version="1.0" encoding="utf-8"?>
<p:tagLst xmlns:a="http://schemas.openxmlformats.org/drawingml/2006/main" xmlns:r="http://schemas.openxmlformats.org/officeDocument/2006/relationships" xmlns:p="http://schemas.openxmlformats.org/presentationml/2006/main">
  <p:tag name="NUM" val="4"/>
</p:tagLst>
</file>

<file path=ppt/tags/tag153.xml><?xml version="1.0" encoding="utf-8"?>
<p:tagLst xmlns:a="http://schemas.openxmlformats.org/drawingml/2006/main" xmlns:r="http://schemas.openxmlformats.org/officeDocument/2006/relationships" xmlns:p="http://schemas.openxmlformats.org/presentationml/2006/main">
  <p:tag name="SLIDEGUID" val="EA3710E50829472F9FBAD62887D547C4"/>
  <p:tag name="SLIDEID" val="EA3710E50829472F9FBAD62887D547C4"/>
  <p:tag name="SLIDEORDER" val="1"/>
  <p:tag name="SLIDETYPE" val="Q"/>
  <p:tag name="DEMOGRAPHIC" val="False"/>
  <p:tag name="TEAMASSIGN" val="False"/>
  <p:tag name="SPEEDSCORING" val="False"/>
  <p:tag name="CORRECTPOINTVALUE" val="100"/>
  <p:tag name="INCORRECTPOINTVALUE" val="0"/>
  <p:tag name="ZEROBASED" val="False"/>
  <p:tag name="NUMRESPONSES" val="1"/>
  <p:tag name="AUTOADVANCE" val="False"/>
  <p:tag name="DELIMITERS" val="3.1"/>
  <p:tag name="VALUEFORMAT" val="0%"/>
  <p:tag name="ANSWERSALIAS" val="Oui, on devrait arrêter la production du produit BK200|smicln|Non, on ne devrait pas arrêter la production du produit BK200|smicln|Nous ne disposons pas de  l’information nécessaire pour répondre à cette question."/>
  <p:tag name="VALUES" val="No Value|smicln|No Value|smicln|No Value"/>
  <p:tag name="QUESTIONALIAS" val=" Acheter ou fabriquer un produit (1/2) Le coût complet de production du BK 200, au niveau actuel de 50 000 unités, est calculé ainsi (en $) :  Matières   2,50  MOD   1,25  FGF variables   1,75  FGF fixes  3,50  Total   9,00 Un fournisseur offre de nous vendre ce produit à un prix de 7,75 $.  Le directeur de production veut arrêter la production du BK200 pour l’acheter à ce fournisseur, qu’en pensez-vous ?    "/>
  <p:tag name="TOTALRESPONSES" val="0"/>
  <p:tag name="ANONYMOUSTEMP" val="False"/>
  <p:tag name="TYPE" val="MultiChoiceSlide"/>
  <p:tag name="LIVECHARTING" val="False"/>
  <p:tag name="TPQUESTIONXML" val="﻿&lt;?xml version=&quot;1.0&quot; encoding=&quot;utf-8&quot;?&gt;&#10;&lt;questionlist&gt;&#10;    &lt;properties&gt;&#10;        &lt;guid&gt;45AA044C9F5641648F32C121306505AA&lt;/guid&gt;&#10;        &lt;description /&gt;&#10;        &lt;date&gt;5/9/2014 10:34:37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93E571A3C3A4C7DB38663EF2140A3B6&lt;/guid&gt;&#10;            &lt;repollguid&gt;5981C9791C7C4607BA8577B5F46968C8&lt;/repollguid&gt;&#10;            &lt;sourceid&gt;9301E53B3D2F492CACCA0FB89A2CFBB3&lt;/sourceid&gt;&#10;            &lt;questiontext&gt;Acheter ou fabriquer un produit (1/2)&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04463188F0DB48859750256B5BB8D092&lt;/guid&gt;&#10;                    &lt;answertext&gt;Oui, on devrait sous-traiter la production du produit BK200&lt;/answertext&gt;&#10;                    &lt;valuetype&gt;0&lt;/valuetype&gt;&#10;                &lt;/answer&gt;&#10;                &lt;answer&gt;&#10;                    &lt;guid&gt;E050FCCF3C5644D6B5CBF4B1567624F7&lt;/guid&gt;&#10;                    &lt;answertext&gt;Non, on ne devrait pas sous-traiter la production du produit BK200&lt;/answertext&gt;&#10;                    &lt;valuetype&gt;0&lt;/valuetype&gt;&#10;                &lt;/answer&gt;&#10;            &lt;/answers&gt;&#10;        &lt;/multichoice&gt;&#10;    &lt;/questions&gt;&#10;&lt;/questionlist&gt;"/>
  <p:tag name="AUTOOPENPOLL" val="True"/>
  <p:tag name="AUTOFORMATCHART" val="True"/>
</p:tagLst>
</file>

<file path=ppt/tags/tag154.xml><?xml version="1.0" encoding="utf-8"?>
<p:tagLst xmlns:a="http://schemas.openxmlformats.org/drawingml/2006/main" xmlns:r="http://schemas.openxmlformats.org/officeDocument/2006/relationships" xmlns:p="http://schemas.openxmlformats.org/presentationml/2006/main">
  <p:tag name="NUM" val="1"/>
</p:tagLst>
</file>

<file path=ppt/tags/tag155.xml><?xml version="1.0" encoding="utf-8"?>
<p:tagLst xmlns:a="http://schemas.openxmlformats.org/drawingml/2006/main" xmlns:r="http://schemas.openxmlformats.org/officeDocument/2006/relationships" xmlns:p="http://schemas.openxmlformats.org/presentationml/2006/main">
  <p:tag name="NUM" val="2"/>
</p:tagLst>
</file>

<file path=ppt/tags/tag156.xml><?xml version="1.0" encoding="utf-8"?>
<p:tagLst xmlns:a="http://schemas.openxmlformats.org/drawingml/2006/main" xmlns:r="http://schemas.openxmlformats.org/officeDocument/2006/relationships" xmlns:p="http://schemas.openxmlformats.org/presentationml/2006/main">
  <p:tag name="NUM" val="3"/>
</p:tagLst>
</file>

<file path=ppt/tags/tag157.xml><?xml version="1.0" encoding="utf-8"?>
<p:tagLst xmlns:a="http://schemas.openxmlformats.org/drawingml/2006/main" xmlns:r="http://schemas.openxmlformats.org/officeDocument/2006/relationships" xmlns:p="http://schemas.openxmlformats.org/presentationml/2006/main">
  <p:tag name="NUM" val="4"/>
</p:tagLst>
</file>

<file path=ppt/tags/tag158.xml><?xml version="1.0" encoding="utf-8"?>
<p:tagLst xmlns:a="http://schemas.openxmlformats.org/drawingml/2006/main" xmlns:r="http://schemas.openxmlformats.org/officeDocument/2006/relationships" xmlns:p="http://schemas.openxmlformats.org/presentationml/2006/main">
  <p:tag name="NUM" val="5"/>
</p:tagLst>
</file>

<file path=ppt/tags/tag159.xml><?xml version="1.0" encoding="utf-8"?>
<p:tagLst xmlns:a="http://schemas.openxmlformats.org/drawingml/2006/main" xmlns:r="http://schemas.openxmlformats.org/officeDocument/2006/relationships" xmlns:p="http://schemas.openxmlformats.org/presentationml/2006/main">
  <p:tag name="NUM" val="6"/>
</p:tagLst>
</file>

<file path=ppt/tags/tag160.xml><?xml version="1.0" encoding="utf-8"?>
<p:tagLst xmlns:a="http://schemas.openxmlformats.org/drawingml/2006/main" xmlns:r="http://schemas.openxmlformats.org/officeDocument/2006/relationships" xmlns:p="http://schemas.openxmlformats.org/presentationml/2006/main">
  <p:tag name="NUM" val="1"/>
</p:tagLst>
</file>

<file path=ppt/tags/tag161.xml><?xml version="1.0" encoding="utf-8"?>
<p:tagLst xmlns:a="http://schemas.openxmlformats.org/drawingml/2006/main" xmlns:r="http://schemas.openxmlformats.org/officeDocument/2006/relationships" xmlns:p="http://schemas.openxmlformats.org/presentationml/2006/main">
  <p:tag name="NUM" val="2"/>
</p:tagLst>
</file>

<file path=ppt/tags/tag162.xml><?xml version="1.0" encoding="utf-8"?>
<p:tagLst xmlns:a="http://schemas.openxmlformats.org/drawingml/2006/main" xmlns:r="http://schemas.openxmlformats.org/officeDocument/2006/relationships" xmlns:p="http://schemas.openxmlformats.org/presentationml/2006/main">
  <p:tag name="NUM" val="5"/>
</p:tagLst>
</file>

<file path=ppt/tags/tag163.xml><?xml version="1.0" encoding="utf-8"?>
<p:tagLst xmlns:a="http://schemas.openxmlformats.org/drawingml/2006/main" xmlns:r="http://schemas.openxmlformats.org/officeDocument/2006/relationships" xmlns:p="http://schemas.openxmlformats.org/presentationml/2006/main">
  <p:tag name="NUM" val="6"/>
</p:tagLst>
</file>

<file path=ppt/tags/tag164.xml><?xml version="1.0" encoding="utf-8"?>
<p:tagLst xmlns:a="http://schemas.openxmlformats.org/drawingml/2006/main" xmlns:r="http://schemas.openxmlformats.org/officeDocument/2006/relationships" xmlns:p="http://schemas.openxmlformats.org/presentationml/2006/main">
  <p:tag name="NUM" val="2"/>
</p:tagLst>
</file>

<file path=ppt/tags/tag165.xml><?xml version="1.0" encoding="utf-8"?>
<p:tagLst xmlns:a="http://schemas.openxmlformats.org/drawingml/2006/main" xmlns:r="http://schemas.openxmlformats.org/officeDocument/2006/relationships" xmlns:p="http://schemas.openxmlformats.org/presentationml/2006/main">
  <p:tag name="NUM" val="2"/>
</p:tagLst>
</file>

<file path=ppt/tags/tag166.xml><?xml version="1.0" encoding="utf-8"?>
<p:tagLst xmlns:a="http://schemas.openxmlformats.org/drawingml/2006/main" xmlns:r="http://schemas.openxmlformats.org/officeDocument/2006/relationships" xmlns:p="http://schemas.openxmlformats.org/presentationml/2006/main">
  <p:tag name="NUM" val="1"/>
</p:tagLst>
</file>

<file path=ppt/tags/tag167.xml><?xml version="1.0" encoding="utf-8"?>
<p:tagLst xmlns:a="http://schemas.openxmlformats.org/drawingml/2006/main" xmlns:r="http://schemas.openxmlformats.org/officeDocument/2006/relationships" xmlns:p="http://schemas.openxmlformats.org/presentationml/2006/main">
  <p:tag name="NUM" val="2"/>
</p:tagLst>
</file>

<file path=ppt/tags/tag168.xml><?xml version="1.0" encoding="utf-8"?>
<p:tagLst xmlns:a="http://schemas.openxmlformats.org/drawingml/2006/main" xmlns:r="http://schemas.openxmlformats.org/officeDocument/2006/relationships" xmlns:p="http://schemas.openxmlformats.org/presentationml/2006/main">
  <p:tag name="NUM" val="3"/>
</p:tagLst>
</file>

<file path=ppt/tags/tag169.xml><?xml version="1.0" encoding="utf-8"?>
<p:tagLst xmlns:a="http://schemas.openxmlformats.org/drawingml/2006/main" xmlns:r="http://schemas.openxmlformats.org/officeDocument/2006/relationships" xmlns:p="http://schemas.openxmlformats.org/presentationml/2006/main">
  <p:tag name="NUM" val="4"/>
</p:tagLst>
</file>

<file path=ppt/tags/tag170.xml><?xml version="1.0" encoding="utf-8"?>
<p:tagLst xmlns:a="http://schemas.openxmlformats.org/drawingml/2006/main" xmlns:r="http://schemas.openxmlformats.org/officeDocument/2006/relationships" xmlns:p="http://schemas.openxmlformats.org/presentationml/2006/main">
  <p:tag name="NUM" val="1"/>
</p:tagLst>
</file>

<file path=ppt/tags/tag171.xml><?xml version="1.0" encoding="utf-8"?>
<p:tagLst xmlns:a="http://schemas.openxmlformats.org/drawingml/2006/main" xmlns:r="http://schemas.openxmlformats.org/officeDocument/2006/relationships" xmlns:p="http://schemas.openxmlformats.org/presentationml/2006/main">
  <p:tag name="NUM" val="2"/>
</p:tagLst>
</file>

<file path=ppt/tags/tag172.xml><?xml version="1.0" encoding="utf-8"?>
<p:tagLst xmlns:a="http://schemas.openxmlformats.org/drawingml/2006/main" xmlns:r="http://schemas.openxmlformats.org/officeDocument/2006/relationships" xmlns:p="http://schemas.openxmlformats.org/presentationml/2006/main">
  <p:tag name="NUM" val="4"/>
</p:tagLst>
</file>

<file path=ppt/tags/tag173.xml><?xml version="1.0" encoding="utf-8"?>
<p:tagLst xmlns:a="http://schemas.openxmlformats.org/drawingml/2006/main" xmlns:r="http://schemas.openxmlformats.org/officeDocument/2006/relationships" xmlns:p="http://schemas.openxmlformats.org/presentationml/2006/main">
  <p:tag name="NUM" val="5"/>
</p:tagLst>
</file>

<file path=ppt/tags/tag174.xml><?xml version="1.0" encoding="utf-8"?>
<p:tagLst xmlns:a="http://schemas.openxmlformats.org/drawingml/2006/main" xmlns:r="http://schemas.openxmlformats.org/officeDocument/2006/relationships" xmlns:p="http://schemas.openxmlformats.org/presentationml/2006/main">
  <p:tag name="NOPREFERENCE" val="False"/>
</p:tagLst>
</file>

<file path=ppt/tags/tag175.xml><?xml version="1.0" encoding="utf-8"?>
<p:tagLst xmlns:a="http://schemas.openxmlformats.org/drawingml/2006/main" xmlns:r="http://schemas.openxmlformats.org/officeDocument/2006/relationships" xmlns:p="http://schemas.openxmlformats.org/presentationml/2006/main">
  <p:tag name="NUM" val="1"/>
</p:tagLst>
</file>

<file path=ppt/tags/tag176.xml><?xml version="1.0" encoding="utf-8"?>
<p:tagLst xmlns:a="http://schemas.openxmlformats.org/drawingml/2006/main" xmlns:r="http://schemas.openxmlformats.org/officeDocument/2006/relationships" xmlns:p="http://schemas.openxmlformats.org/presentationml/2006/main">
  <p:tag name="NUM" val="2"/>
</p:tagLst>
</file>

<file path=ppt/tags/tag177.xml><?xml version="1.0" encoding="utf-8"?>
<p:tagLst xmlns:a="http://schemas.openxmlformats.org/drawingml/2006/main" xmlns:r="http://schemas.openxmlformats.org/officeDocument/2006/relationships" xmlns:p="http://schemas.openxmlformats.org/presentationml/2006/main">
  <p:tag name="NUM" val="3"/>
</p:tagLst>
</file>

<file path=ppt/tags/tag178.xml><?xml version="1.0" encoding="utf-8"?>
<p:tagLst xmlns:a="http://schemas.openxmlformats.org/drawingml/2006/main" xmlns:r="http://schemas.openxmlformats.org/officeDocument/2006/relationships" xmlns:p="http://schemas.openxmlformats.org/presentationml/2006/main">
  <p:tag name="NUM" val="4"/>
</p:tagLst>
</file>

<file path=ppt/tags/tag179.xml><?xml version="1.0" encoding="utf-8"?>
<p:tagLst xmlns:a="http://schemas.openxmlformats.org/drawingml/2006/main" xmlns:r="http://schemas.openxmlformats.org/officeDocument/2006/relationships" xmlns:p="http://schemas.openxmlformats.org/presentationml/2006/main">
  <p:tag name="NUM" val="1"/>
</p:tagLst>
</file>

<file path=ppt/tags/tag180.xml><?xml version="1.0" encoding="utf-8"?>
<p:tagLst xmlns:a="http://schemas.openxmlformats.org/drawingml/2006/main" xmlns:r="http://schemas.openxmlformats.org/officeDocument/2006/relationships" xmlns:p="http://schemas.openxmlformats.org/presentationml/2006/main">
  <p:tag name="NUM" val="2"/>
</p:tagLst>
</file>

<file path=ppt/tags/tag181.xml><?xml version="1.0" encoding="utf-8"?>
<p:tagLst xmlns:a="http://schemas.openxmlformats.org/drawingml/2006/main" xmlns:r="http://schemas.openxmlformats.org/officeDocument/2006/relationships" xmlns:p="http://schemas.openxmlformats.org/presentationml/2006/main">
  <p:tag name="NUM" val="3"/>
</p:tagLst>
</file>

<file path=ppt/tags/tag182.xml><?xml version="1.0" encoding="utf-8"?>
<p:tagLst xmlns:a="http://schemas.openxmlformats.org/drawingml/2006/main" xmlns:r="http://schemas.openxmlformats.org/officeDocument/2006/relationships" xmlns:p="http://schemas.openxmlformats.org/presentationml/2006/main">
  <p:tag name="NUM" val="4"/>
</p:tagLst>
</file>

<file path=ppt/tags/tag183.xml><?xml version="1.0" encoding="utf-8"?>
<p:tagLst xmlns:a="http://schemas.openxmlformats.org/drawingml/2006/main" xmlns:r="http://schemas.openxmlformats.org/officeDocument/2006/relationships" xmlns:p="http://schemas.openxmlformats.org/presentationml/2006/main">
  <p:tag name="NUM" val="1"/>
</p:tagLst>
</file>

<file path=ppt/tags/tag184.xml><?xml version="1.0" encoding="utf-8"?>
<p:tagLst xmlns:a="http://schemas.openxmlformats.org/drawingml/2006/main" xmlns:r="http://schemas.openxmlformats.org/officeDocument/2006/relationships" xmlns:p="http://schemas.openxmlformats.org/presentationml/2006/main">
  <p:tag name="NUM" val="2"/>
</p:tagLst>
</file>

<file path=ppt/tags/tag185.xml><?xml version="1.0" encoding="utf-8"?>
<p:tagLst xmlns:a="http://schemas.openxmlformats.org/drawingml/2006/main" xmlns:r="http://schemas.openxmlformats.org/officeDocument/2006/relationships" xmlns:p="http://schemas.openxmlformats.org/presentationml/2006/main">
  <p:tag name="NUM" val="3"/>
</p:tagLst>
</file>

<file path=ppt/tags/tag186.xml><?xml version="1.0" encoding="utf-8"?>
<p:tagLst xmlns:a="http://schemas.openxmlformats.org/drawingml/2006/main" xmlns:r="http://schemas.openxmlformats.org/officeDocument/2006/relationships" xmlns:p="http://schemas.openxmlformats.org/presentationml/2006/main">
  <p:tag name="NUM" val="4"/>
</p:tagLst>
</file>

<file path=ppt/tags/tag187.xml><?xml version="1.0" encoding="utf-8"?>
<p:tagLst xmlns:a="http://schemas.openxmlformats.org/drawingml/2006/main" xmlns:r="http://schemas.openxmlformats.org/officeDocument/2006/relationships" xmlns:p="http://schemas.openxmlformats.org/presentationml/2006/main">
  <p:tag name="NUM" val="5"/>
</p:tagLst>
</file>

<file path=ppt/tags/tag188.xml><?xml version="1.0" encoding="utf-8"?>
<p:tagLst xmlns:a="http://schemas.openxmlformats.org/drawingml/2006/main" xmlns:r="http://schemas.openxmlformats.org/officeDocument/2006/relationships" xmlns:p="http://schemas.openxmlformats.org/presentationml/2006/main">
  <p:tag name="NUM" val="1"/>
</p:tagLst>
</file>

<file path=ppt/tags/tag189.xml><?xml version="1.0" encoding="utf-8"?>
<p:tagLst xmlns:a="http://schemas.openxmlformats.org/drawingml/2006/main" xmlns:r="http://schemas.openxmlformats.org/officeDocument/2006/relationships" xmlns:p="http://schemas.openxmlformats.org/presentationml/2006/main">
  <p:tag name="NUM" val="3"/>
</p:tagLst>
</file>

<file path=ppt/tags/tag190.xml><?xml version="1.0" encoding="utf-8"?>
<p:tagLst xmlns:a="http://schemas.openxmlformats.org/drawingml/2006/main" xmlns:r="http://schemas.openxmlformats.org/officeDocument/2006/relationships" xmlns:p="http://schemas.openxmlformats.org/presentationml/2006/main">
  <p:tag name="NUM" val="4"/>
</p:tagLst>
</file>

<file path=ppt/tags/tag191.xml><?xml version="1.0" encoding="utf-8"?>
<p:tagLst xmlns:a="http://schemas.openxmlformats.org/drawingml/2006/main" xmlns:r="http://schemas.openxmlformats.org/officeDocument/2006/relationships" xmlns:p="http://schemas.openxmlformats.org/presentationml/2006/main">
  <p:tag name="NUM" val="5"/>
</p:tagLst>
</file>

<file path=ppt/tags/tag192.xml><?xml version="1.0" encoding="utf-8"?>
<p:tagLst xmlns:a="http://schemas.openxmlformats.org/drawingml/2006/main" xmlns:r="http://schemas.openxmlformats.org/officeDocument/2006/relationships" xmlns:p="http://schemas.openxmlformats.org/presentationml/2006/main">
  <p:tag name="NUM" val="2"/>
</p:tagLst>
</file>

<file path=ppt/tags/tag193.xml><?xml version="1.0" encoding="utf-8"?>
<p:tagLst xmlns:a="http://schemas.openxmlformats.org/drawingml/2006/main" xmlns:r="http://schemas.openxmlformats.org/officeDocument/2006/relationships" xmlns:p="http://schemas.openxmlformats.org/presentationml/2006/main">
  <p:tag name="NOPREFERENCE" val="False"/>
</p:tagLst>
</file>

<file path=ppt/tags/tag194.xml><?xml version="1.0" encoding="utf-8"?>
<p:tagLst xmlns:a="http://schemas.openxmlformats.org/drawingml/2006/main" xmlns:r="http://schemas.openxmlformats.org/officeDocument/2006/relationships" xmlns:p="http://schemas.openxmlformats.org/presentationml/2006/main">
  <p:tag name="NUM" val="1"/>
</p:tagLst>
</file>

<file path=ppt/tags/tag195.xml><?xml version="1.0" encoding="utf-8"?>
<p:tagLst xmlns:a="http://schemas.openxmlformats.org/drawingml/2006/main" xmlns:r="http://schemas.openxmlformats.org/officeDocument/2006/relationships" xmlns:p="http://schemas.openxmlformats.org/presentationml/2006/main">
  <p:tag name="NUM" val="2"/>
</p:tagLst>
</file>

<file path=ppt/tags/tag196.xml><?xml version="1.0" encoding="utf-8"?>
<p:tagLst xmlns:a="http://schemas.openxmlformats.org/drawingml/2006/main" xmlns:r="http://schemas.openxmlformats.org/officeDocument/2006/relationships" xmlns:p="http://schemas.openxmlformats.org/presentationml/2006/main">
  <p:tag name="NUM" val="3"/>
</p:tagLst>
</file>

<file path=ppt/tags/tag197.xml><?xml version="1.0" encoding="utf-8"?>
<p:tagLst xmlns:a="http://schemas.openxmlformats.org/drawingml/2006/main" xmlns:r="http://schemas.openxmlformats.org/officeDocument/2006/relationships" xmlns:p="http://schemas.openxmlformats.org/presentationml/2006/main">
  <p:tag name="NUM" val="4"/>
</p:tagLst>
</file>

<file path=ppt/tags/tag198.xml><?xml version="1.0" encoding="utf-8"?>
<p:tagLst xmlns:a="http://schemas.openxmlformats.org/drawingml/2006/main" xmlns:r="http://schemas.openxmlformats.org/officeDocument/2006/relationships" xmlns:p="http://schemas.openxmlformats.org/presentationml/2006/main">
  <p:tag name="NUM" val="5"/>
</p:tagLst>
</file>

<file path=ppt/tags/tag199.xml><?xml version="1.0" encoding="utf-8"?>
<p:tagLst xmlns:a="http://schemas.openxmlformats.org/drawingml/2006/main" xmlns:r="http://schemas.openxmlformats.org/officeDocument/2006/relationships" xmlns:p="http://schemas.openxmlformats.org/presentationml/2006/main">
  <p:tag name="NUM" val="1"/>
</p:tagLst>
</file>

<file path=ppt/tags/tag200.xml><?xml version="1.0" encoding="utf-8"?>
<p:tagLst xmlns:a="http://schemas.openxmlformats.org/drawingml/2006/main" xmlns:r="http://schemas.openxmlformats.org/officeDocument/2006/relationships" xmlns:p="http://schemas.openxmlformats.org/presentationml/2006/main">
  <p:tag name="NUM" val="2"/>
</p:tagLst>
</file>

<file path=ppt/tags/tag201.xml><?xml version="1.0" encoding="utf-8"?>
<p:tagLst xmlns:a="http://schemas.openxmlformats.org/drawingml/2006/main" xmlns:r="http://schemas.openxmlformats.org/officeDocument/2006/relationships" xmlns:p="http://schemas.openxmlformats.org/presentationml/2006/main">
  <p:tag name="NUM" val="3"/>
</p:tagLst>
</file>

<file path=ppt/tags/tag202.xml><?xml version="1.0" encoding="utf-8"?>
<p:tagLst xmlns:a="http://schemas.openxmlformats.org/drawingml/2006/main" xmlns:r="http://schemas.openxmlformats.org/officeDocument/2006/relationships" xmlns:p="http://schemas.openxmlformats.org/presentationml/2006/main">
  <p:tag name="NUM" val="4"/>
</p:tagLst>
</file>

<file path=ppt/tags/tag203.xml><?xml version="1.0" encoding="utf-8"?>
<p:tagLst xmlns:a="http://schemas.openxmlformats.org/drawingml/2006/main" xmlns:r="http://schemas.openxmlformats.org/officeDocument/2006/relationships" xmlns:p="http://schemas.openxmlformats.org/presentationml/2006/main">
  <p:tag name="NUM" val="5"/>
</p:tagLst>
</file>

<file path=ppt/tags/tag204.xml><?xml version="1.0" encoding="utf-8"?>
<p:tagLst xmlns:a="http://schemas.openxmlformats.org/drawingml/2006/main" xmlns:r="http://schemas.openxmlformats.org/officeDocument/2006/relationships" xmlns:p="http://schemas.openxmlformats.org/presentationml/2006/main">
  <p:tag name="NUM" val="6"/>
</p:tagLst>
</file>

<file path=ppt/tags/tag205.xml><?xml version="1.0" encoding="utf-8"?>
<p:tagLst xmlns:a="http://schemas.openxmlformats.org/drawingml/2006/main" xmlns:r="http://schemas.openxmlformats.org/officeDocument/2006/relationships" xmlns:p="http://schemas.openxmlformats.org/presentationml/2006/main">
  <p:tag name="NUM" val="1"/>
</p:tagLst>
</file>

<file path=ppt/tags/tag206.xml><?xml version="1.0" encoding="utf-8"?>
<p:tagLst xmlns:a="http://schemas.openxmlformats.org/drawingml/2006/main" xmlns:r="http://schemas.openxmlformats.org/officeDocument/2006/relationships" xmlns:p="http://schemas.openxmlformats.org/presentationml/2006/main">
  <p:tag name="NUM" val="2"/>
</p:tagLst>
</file>

<file path=ppt/tags/tag207.xml><?xml version="1.0" encoding="utf-8"?>
<p:tagLst xmlns:a="http://schemas.openxmlformats.org/drawingml/2006/main" xmlns:r="http://schemas.openxmlformats.org/officeDocument/2006/relationships" xmlns:p="http://schemas.openxmlformats.org/presentationml/2006/main">
  <p:tag name="NOPREFERENCE" val="False"/>
</p:tagLst>
</file>

<file path=ppt/tags/tag208.xml><?xml version="1.0" encoding="utf-8"?>
<p:tagLst xmlns:a="http://schemas.openxmlformats.org/drawingml/2006/main" xmlns:r="http://schemas.openxmlformats.org/officeDocument/2006/relationships" xmlns:p="http://schemas.openxmlformats.org/presentationml/2006/main">
  <p:tag name="NUM" val="1"/>
</p:tagLst>
</file>

<file path=ppt/tags/tag209.xml><?xml version="1.0" encoding="utf-8"?>
<p:tagLst xmlns:a="http://schemas.openxmlformats.org/drawingml/2006/main" xmlns:r="http://schemas.openxmlformats.org/officeDocument/2006/relationships" xmlns:p="http://schemas.openxmlformats.org/presentationml/2006/main">
  <p:tag name="NUM" val="2"/>
</p:tagLst>
</file>

<file path=ppt/tags/tag210.xml><?xml version="1.0" encoding="utf-8"?>
<p:tagLst xmlns:a="http://schemas.openxmlformats.org/drawingml/2006/main" xmlns:r="http://schemas.openxmlformats.org/officeDocument/2006/relationships" xmlns:p="http://schemas.openxmlformats.org/presentationml/2006/main">
  <p:tag name="NUM" val="3"/>
</p:tagLst>
</file>

<file path=ppt/tags/tag211.xml><?xml version="1.0" encoding="utf-8"?>
<p:tagLst xmlns:a="http://schemas.openxmlformats.org/drawingml/2006/main" xmlns:r="http://schemas.openxmlformats.org/officeDocument/2006/relationships" xmlns:p="http://schemas.openxmlformats.org/presentationml/2006/main">
  <p:tag name="NUM" val="4"/>
</p:tagLst>
</file>

<file path=ppt/tags/tag212.xml><?xml version="1.0" encoding="utf-8"?>
<p:tagLst xmlns:a="http://schemas.openxmlformats.org/drawingml/2006/main" xmlns:r="http://schemas.openxmlformats.org/officeDocument/2006/relationships" xmlns:p="http://schemas.openxmlformats.org/presentationml/2006/main">
  <p:tag name="NUM" val="5"/>
</p:tagLst>
</file>

<file path=ppt/tags/tag213.xml><?xml version="1.0" encoding="utf-8"?>
<p:tagLst xmlns:a="http://schemas.openxmlformats.org/drawingml/2006/main" xmlns:r="http://schemas.openxmlformats.org/officeDocument/2006/relationships" xmlns:p="http://schemas.openxmlformats.org/presentationml/2006/main">
  <p:tag name="NUM" val="6"/>
</p:tagLst>
</file>

<file path=ppt/tags/tag214.xml><?xml version="1.0" encoding="utf-8"?>
<p:tagLst xmlns:a="http://schemas.openxmlformats.org/drawingml/2006/main" xmlns:r="http://schemas.openxmlformats.org/officeDocument/2006/relationships" xmlns:p="http://schemas.openxmlformats.org/presentationml/2006/main">
  <p:tag name="NUM" val="7"/>
</p:tagLst>
</file>

<file path=ppt/tags/tag215.xml><?xml version="1.0" encoding="utf-8"?>
<p:tagLst xmlns:a="http://schemas.openxmlformats.org/drawingml/2006/main" xmlns:r="http://schemas.openxmlformats.org/officeDocument/2006/relationships" xmlns:p="http://schemas.openxmlformats.org/presentationml/2006/main">
  <p:tag name="NUM" val="8"/>
</p:tagLst>
</file>

<file path=ppt/tags/tag216.xml><?xml version="1.0" encoding="utf-8"?>
<p:tagLst xmlns:a="http://schemas.openxmlformats.org/drawingml/2006/main" xmlns:r="http://schemas.openxmlformats.org/officeDocument/2006/relationships" xmlns:p="http://schemas.openxmlformats.org/presentationml/2006/main">
  <p:tag name="NUM" val="9"/>
</p:tagLst>
</file>

<file path=ppt/tags/tag217.xml><?xml version="1.0" encoding="utf-8"?>
<p:tagLst xmlns:a="http://schemas.openxmlformats.org/drawingml/2006/main" xmlns:r="http://schemas.openxmlformats.org/officeDocument/2006/relationships" xmlns:p="http://schemas.openxmlformats.org/presentationml/2006/main">
  <p:tag name="NUM" val="10"/>
</p:tagLst>
</file>

<file path=ppt/tags/tag218.xml><?xml version="1.0" encoding="utf-8"?>
<p:tagLst xmlns:a="http://schemas.openxmlformats.org/drawingml/2006/main" xmlns:r="http://schemas.openxmlformats.org/officeDocument/2006/relationships" xmlns:p="http://schemas.openxmlformats.org/presentationml/2006/main">
  <p:tag name="NUM" val="11"/>
</p:tagLst>
</file>

<file path=ppt/tags/tag219.xml><?xml version="1.0" encoding="utf-8"?>
<p:tagLst xmlns:a="http://schemas.openxmlformats.org/drawingml/2006/main" xmlns:r="http://schemas.openxmlformats.org/officeDocument/2006/relationships" xmlns:p="http://schemas.openxmlformats.org/presentationml/2006/main">
  <p:tag name="NUM" val="12"/>
</p:tagLst>
</file>

<file path=ppt/tags/tag220.xml><?xml version="1.0" encoding="utf-8"?>
<p:tagLst xmlns:a="http://schemas.openxmlformats.org/drawingml/2006/main" xmlns:r="http://schemas.openxmlformats.org/officeDocument/2006/relationships" xmlns:p="http://schemas.openxmlformats.org/presentationml/2006/main">
  <p:tag name="NUM" val="13"/>
</p:tagLst>
</file>

<file path=ppt/tags/tag221.xml><?xml version="1.0" encoding="utf-8"?>
<p:tagLst xmlns:a="http://schemas.openxmlformats.org/drawingml/2006/main" xmlns:r="http://schemas.openxmlformats.org/officeDocument/2006/relationships" xmlns:p="http://schemas.openxmlformats.org/presentationml/2006/main">
  <p:tag name="NUM" val="1"/>
</p:tagLst>
</file>

<file path=ppt/tags/tag222.xml><?xml version="1.0" encoding="utf-8"?>
<p:tagLst xmlns:a="http://schemas.openxmlformats.org/drawingml/2006/main" xmlns:r="http://schemas.openxmlformats.org/officeDocument/2006/relationships" xmlns:p="http://schemas.openxmlformats.org/presentationml/2006/main">
  <p:tag name="NUM" val="2"/>
</p:tagLst>
</file>

<file path=ppt/tags/tag223.xml><?xml version="1.0" encoding="utf-8"?>
<p:tagLst xmlns:a="http://schemas.openxmlformats.org/drawingml/2006/main" xmlns:r="http://schemas.openxmlformats.org/officeDocument/2006/relationships" xmlns:p="http://schemas.openxmlformats.org/presentationml/2006/main">
  <p:tag name="NUM" val="3"/>
</p:tagLst>
</file>

<file path=ppt/tags/tag224.xml><?xml version="1.0" encoding="utf-8"?>
<p:tagLst xmlns:a="http://schemas.openxmlformats.org/drawingml/2006/main" xmlns:r="http://schemas.openxmlformats.org/officeDocument/2006/relationships" xmlns:p="http://schemas.openxmlformats.org/presentationml/2006/main">
  <p:tag name="NUM" val="4"/>
</p:tagLst>
</file>

<file path=ppt/tags/tag225.xml><?xml version="1.0" encoding="utf-8"?>
<p:tagLst xmlns:a="http://schemas.openxmlformats.org/drawingml/2006/main" xmlns:r="http://schemas.openxmlformats.org/officeDocument/2006/relationships" xmlns:p="http://schemas.openxmlformats.org/presentationml/2006/main">
  <p:tag name="NUM" val="1"/>
</p:tagLst>
</file>

<file path=ppt/tags/tag226.xml><?xml version="1.0" encoding="utf-8"?>
<p:tagLst xmlns:a="http://schemas.openxmlformats.org/drawingml/2006/main" xmlns:r="http://schemas.openxmlformats.org/officeDocument/2006/relationships" xmlns:p="http://schemas.openxmlformats.org/presentationml/2006/main">
  <p:tag name="NUM" val="2"/>
</p:tagLst>
</file>

<file path=ppt/tags/tag227.xml><?xml version="1.0" encoding="utf-8"?>
<p:tagLst xmlns:a="http://schemas.openxmlformats.org/drawingml/2006/main" xmlns:r="http://schemas.openxmlformats.org/officeDocument/2006/relationships" xmlns:p="http://schemas.openxmlformats.org/presentationml/2006/main">
  <p:tag name="NUM" val="3"/>
</p:tagLst>
</file>

<file path=ppt/tags/tag228.xml><?xml version="1.0" encoding="utf-8"?>
<p:tagLst xmlns:a="http://schemas.openxmlformats.org/drawingml/2006/main" xmlns:r="http://schemas.openxmlformats.org/officeDocument/2006/relationships" xmlns:p="http://schemas.openxmlformats.org/presentationml/2006/main">
  <p:tag name="NUM" val="4"/>
</p:tagLst>
</file>

<file path=ppt/tags/tag229.xml><?xml version="1.0" encoding="utf-8"?>
<p:tagLst xmlns:a="http://schemas.openxmlformats.org/drawingml/2006/main" xmlns:r="http://schemas.openxmlformats.org/officeDocument/2006/relationships" xmlns:p="http://schemas.openxmlformats.org/presentationml/2006/main">
  <p:tag name="NOPREFERENCE" val="False"/>
</p:tagLst>
</file>

<file path=ppt/tags/tag230.xml><?xml version="1.0" encoding="utf-8"?>
<p:tagLst xmlns:a="http://schemas.openxmlformats.org/drawingml/2006/main" xmlns:r="http://schemas.openxmlformats.org/officeDocument/2006/relationships" xmlns:p="http://schemas.openxmlformats.org/presentationml/2006/main">
  <p:tag name="NUM" val="1"/>
</p:tagLst>
</file>

<file path=ppt/tags/tag231.xml><?xml version="1.0" encoding="utf-8"?>
<p:tagLst xmlns:a="http://schemas.openxmlformats.org/drawingml/2006/main" xmlns:r="http://schemas.openxmlformats.org/officeDocument/2006/relationships" xmlns:p="http://schemas.openxmlformats.org/presentationml/2006/main">
  <p:tag name="NUM" val="2"/>
</p:tagLst>
</file>

<file path=ppt/tags/tag232.xml><?xml version="1.0" encoding="utf-8"?>
<p:tagLst xmlns:a="http://schemas.openxmlformats.org/drawingml/2006/main" xmlns:r="http://schemas.openxmlformats.org/officeDocument/2006/relationships" xmlns:p="http://schemas.openxmlformats.org/presentationml/2006/main">
  <p:tag name="NUM" val="3"/>
</p:tagLst>
</file>

<file path=ppt/tags/tag233.xml><?xml version="1.0" encoding="utf-8"?>
<p:tagLst xmlns:a="http://schemas.openxmlformats.org/drawingml/2006/main" xmlns:r="http://schemas.openxmlformats.org/officeDocument/2006/relationships" xmlns:p="http://schemas.openxmlformats.org/presentationml/2006/main">
  <p:tag name="NUM" val="4"/>
</p:tagLst>
</file>

<file path=ppt/tags/tag234.xml><?xml version="1.0" encoding="utf-8"?>
<p:tagLst xmlns:a="http://schemas.openxmlformats.org/drawingml/2006/main" xmlns:r="http://schemas.openxmlformats.org/officeDocument/2006/relationships" xmlns:p="http://schemas.openxmlformats.org/presentationml/2006/main">
  <p:tag name="NOPREFERENCE" val="False"/>
</p:tagLst>
</file>

<file path=ppt/tags/tag235.xml><?xml version="1.0" encoding="utf-8"?>
<p:tagLst xmlns:a="http://schemas.openxmlformats.org/drawingml/2006/main" xmlns:r="http://schemas.openxmlformats.org/officeDocument/2006/relationships" xmlns:p="http://schemas.openxmlformats.org/presentationml/2006/main">
  <p:tag name="NUM" val="1"/>
</p:tagLst>
</file>

<file path=ppt/tags/tag236.xml><?xml version="1.0" encoding="utf-8"?>
<p:tagLst xmlns:a="http://schemas.openxmlformats.org/drawingml/2006/main" xmlns:r="http://schemas.openxmlformats.org/officeDocument/2006/relationships" xmlns:p="http://schemas.openxmlformats.org/presentationml/2006/main">
  <p:tag name="NUM" val="2"/>
</p:tagLst>
</file>

<file path=ppt/tags/tag237.xml><?xml version="1.0" encoding="utf-8"?>
<p:tagLst xmlns:a="http://schemas.openxmlformats.org/drawingml/2006/main" xmlns:r="http://schemas.openxmlformats.org/officeDocument/2006/relationships" xmlns:p="http://schemas.openxmlformats.org/presentationml/2006/main">
  <p:tag name="NUM" val="3"/>
</p:tagLst>
</file>

<file path=ppt/tags/tag238.xml><?xml version="1.0" encoding="utf-8"?>
<p:tagLst xmlns:a="http://schemas.openxmlformats.org/drawingml/2006/main" xmlns:r="http://schemas.openxmlformats.org/officeDocument/2006/relationships" xmlns:p="http://schemas.openxmlformats.org/presentationml/2006/main">
  <p:tag name="NUM" val="4"/>
</p:tagLst>
</file>

<file path=ppt/tags/tag239.xml><?xml version="1.0" encoding="utf-8"?>
<p:tagLst xmlns:a="http://schemas.openxmlformats.org/drawingml/2006/main" xmlns:r="http://schemas.openxmlformats.org/officeDocument/2006/relationships" xmlns:p="http://schemas.openxmlformats.org/presentationml/2006/main">
  <p:tag name="NOPREFERENCE" val="False"/>
</p:tagLst>
</file>

<file path=ppt/tags/tag240.xml><?xml version="1.0" encoding="utf-8"?>
<p:tagLst xmlns:a="http://schemas.openxmlformats.org/drawingml/2006/main" xmlns:r="http://schemas.openxmlformats.org/officeDocument/2006/relationships" xmlns:p="http://schemas.openxmlformats.org/presentationml/2006/main">
  <p:tag name="NUM" val="1"/>
</p:tagLst>
</file>

<file path=ppt/tags/tag241.xml><?xml version="1.0" encoding="utf-8"?>
<p:tagLst xmlns:a="http://schemas.openxmlformats.org/drawingml/2006/main" xmlns:r="http://schemas.openxmlformats.org/officeDocument/2006/relationships" xmlns:p="http://schemas.openxmlformats.org/presentationml/2006/main">
  <p:tag name="NUM" val="2"/>
</p:tagLst>
</file>

<file path=ppt/tags/tag242.xml><?xml version="1.0" encoding="utf-8"?>
<p:tagLst xmlns:a="http://schemas.openxmlformats.org/drawingml/2006/main" xmlns:r="http://schemas.openxmlformats.org/officeDocument/2006/relationships" xmlns:p="http://schemas.openxmlformats.org/presentationml/2006/main">
  <p:tag name="NUM" val="3"/>
</p:tagLst>
</file>

<file path=ppt/tags/tag243.xml><?xml version="1.0" encoding="utf-8"?>
<p:tagLst xmlns:a="http://schemas.openxmlformats.org/drawingml/2006/main" xmlns:r="http://schemas.openxmlformats.org/officeDocument/2006/relationships" xmlns:p="http://schemas.openxmlformats.org/presentationml/2006/main">
  <p:tag name="NUM" val="4"/>
</p:tagLst>
</file>

<file path=ppt/tags/tag244.xml><?xml version="1.0" encoding="utf-8"?>
<p:tagLst xmlns:a="http://schemas.openxmlformats.org/drawingml/2006/main" xmlns:r="http://schemas.openxmlformats.org/officeDocument/2006/relationships" xmlns:p="http://schemas.openxmlformats.org/presentationml/2006/main">
  <p:tag name="NOPREFERENCE" val="False"/>
</p:tagLst>
</file>

<file path=ppt/tags/tag245.xml><?xml version="1.0" encoding="utf-8"?>
<p:tagLst xmlns:a="http://schemas.openxmlformats.org/drawingml/2006/main" xmlns:r="http://schemas.openxmlformats.org/officeDocument/2006/relationships" xmlns:p="http://schemas.openxmlformats.org/presentationml/2006/main">
  <p:tag name="NUM" val="1"/>
</p:tagLst>
</file>

<file path=ppt/tags/tag246.xml><?xml version="1.0" encoding="utf-8"?>
<p:tagLst xmlns:a="http://schemas.openxmlformats.org/drawingml/2006/main" xmlns:r="http://schemas.openxmlformats.org/officeDocument/2006/relationships" xmlns:p="http://schemas.openxmlformats.org/presentationml/2006/main">
  <p:tag name="NUM" val="2"/>
</p:tagLst>
</file>

<file path=ppt/tags/tag247.xml><?xml version="1.0" encoding="utf-8"?>
<p:tagLst xmlns:a="http://schemas.openxmlformats.org/drawingml/2006/main" xmlns:r="http://schemas.openxmlformats.org/officeDocument/2006/relationships" xmlns:p="http://schemas.openxmlformats.org/presentationml/2006/main">
  <p:tag name="NUM" val="3"/>
</p:tagLst>
</file>

<file path=ppt/tags/tag248.xml><?xml version="1.0" encoding="utf-8"?>
<p:tagLst xmlns:a="http://schemas.openxmlformats.org/drawingml/2006/main" xmlns:r="http://schemas.openxmlformats.org/officeDocument/2006/relationships" xmlns:p="http://schemas.openxmlformats.org/presentationml/2006/main">
  <p:tag name="NUM" val="4"/>
</p:tagLst>
</file>

<file path=ppt/tags/tag249.xml><?xml version="1.0" encoding="utf-8"?>
<p:tagLst xmlns:a="http://schemas.openxmlformats.org/drawingml/2006/main" xmlns:r="http://schemas.openxmlformats.org/officeDocument/2006/relationships" xmlns:p="http://schemas.openxmlformats.org/presentationml/2006/main">
  <p:tag name="NUM" val="5"/>
</p:tagLst>
</file>

<file path=ppt/tags/tag250.xml><?xml version="1.0" encoding="utf-8"?>
<p:tagLst xmlns:a="http://schemas.openxmlformats.org/drawingml/2006/main" xmlns:r="http://schemas.openxmlformats.org/officeDocument/2006/relationships" xmlns:p="http://schemas.openxmlformats.org/presentationml/2006/main">
  <p:tag name="NUM" val="1"/>
</p:tagLst>
</file>

<file path=ppt/tags/tag251.xml><?xml version="1.0" encoding="utf-8"?>
<p:tagLst xmlns:a="http://schemas.openxmlformats.org/drawingml/2006/main" xmlns:r="http://schemas.openxmlformats.org/officeDocument/2006/relationships" xmlns:p="http://schemas.openxmlformats.org/presentationml/2006/main">
  <p:tag name="NUM" val="2"/>
</p:tagLst>
</file>

<file path=ppt/tags/tag252.xml><?xml version="1.0" encoding="utf-8"?>
<p:tagLst xmlns:a="http://schemas.openxmlformats.org/drawingml/2006/main" xmlns:r="http://schemas.openxmlformats.org/officeDocument/2006/relationships" xmlns:p="http://schemas.openxmlformats.org/presentationml/2006/main">
  <p:tag name="NUM" val="3"/>
</p:tagLst>
</file>

<file path=ppt/tags/tag253.xml><?xml version="1.0" encoding="utf-8"?>
<p:tagLst xmlns:a="http://schemas.openxmlformats.org/drawingml/2006/main" xmlns:r="http://schemas.openxmlformats.org/officeDocument/2006/relationships" xmlns:p="http://schemas.openxmlformats.org/presentationml/2006/main">
  <p:tag name="NUM" val="4"/>
</p:tagLst>
</file>

<file path=ppt/tags/tag254.xml><?xml version="1.0" encoding="utf-8"?>
<p:tagLst xmlns:a="http://schemas.openxmlformats.org/drawingml/2006/main" xmlns:r="http://schemas.openxmlformats.org/officeDocument/2006/relationships" xmlns:p="http://schemas.openxmlformats.org/presentationml/2006/main">
  <p:tag name="NUM" val="5"/>
</p:tagLst>
</file>

<file path=ppt/tags/tag255.xml><?xml version="1.0" encoding="utf-8"?>
<p:tagLst xmlns:a="http://schemas.openxmlformats.org/drawingml/2006/main" xmlns:r="http://schemas.openxmlformats.org/officeDocument/2006/relationships" xmlns:p="http://schemas.openxmlformats.org/presentationml/2006/main">
  <p:tag name="NUM" val="6"/>
</p:tagLst>
</file>

<file path=ppt/tags/tag256.xml><?xml version="1.0" encoding="utf-8"?>
<p:tagLst xmlns:a="http://schemas.openxmlformats.org/drawingml/2006/main" xmlns:r="http://schemas.openxmlformats.org/officeDocument/2006/relationships" xmlns:p="http://schemas.openxmlformats.org/presentationml/2006/main">
  <p:tag name="NUM" val="7"/>
</p:tagLst>
</file>

<file path=ppt/tags/tag257.xml><?xml version="1.0" encoding="utf-8"?>
<p:tagLst xmlns:a="http://schemas.openxmlformats.org/drawingml/2006/main" xmlns:r="http://schemas.openxmlformats.org/officeDocument/2006/relationships" xmlns:p="http://schemas.openxmlformats.org/presentationml/2006/main">
  <p:tag name="NUM" val="8"/>
</p:tagLst>
</file>

<file path=ppt/tags/tag258.xml><?xml version="1.0" encoding="utf-8"?>
<p:tagLst xmlns:a="http://schemas.openxmlformats.org/drawingml/2006/main" xmlns:r="http://schemas.openxmlformats.org/officeDocument/2006/relationships" xmlns:p="http://schemas.openxmlformats.org/presentationml/2006/main">
  <p:tag name="NUM" val="9"/>
</p:tagLst>
</file>

<file path=ppt/tags/tag259.xml><?xml version="1.0" encoding="utf-8"?>
<p:tagLst xmlns:a="http://schemas.openxmlformats.org/drawingml/2006/main" xmlns:r="http://schemas.openxmlformats.org/officeDocument/2006/relationships" xmlns:p="http://schemas.openxmlformats.org/presentationml/2006/main">
  <p:tag name="NUM" val="10"/>
</p:tagLst>
</file>

<file path=ppt/tags/tag260.xml><?xml version="1.0" encoding="utf-8"?>
<p:tagLst xmlns:a="http://schemas.openxmlformats.org/drawingml/2006/main" xmlns:r="http://schemas.openxmlformats.org/officeDocument/2006/relationships" xmlns:p="http://schemas.openxmlformats.org/presentationml/2006/main">
  <p:tag name="NUM" val="11"/>
</p:tagLst>
</file>

<file path=ppt/tags/tag261.xml><?xml version="1.0" encoding="utf-8"?>
<p:tagLst xmlns:a="http://schemas.openxmlformats.org/drawingml/2006/main" xmlns:r="http://schemas.openxmlformats.org/officeDocument/2006/relationships" xmlns:p="http://schemas.openxmlformats.org/presentationml/2006/main">
  <p:tag name="NUM" val="12"/>
</p:tagLst>
</file>

<file path=ppt/tags/tag262.xml><?xml version="1.0" encoding="utf-8"?>
<p:tagLst xmlns:a="http://schemas.openxmlformats.org/drawingml/2006/main" xmlns:r="http://schemas.openxmlformats.org/officeDocument/2006/relationships" xmlns:p="http://schemas.openxmlformats.org/presentationml/2006/main">
  <p:tag name="NUM" val="13"/>
</p:tagLst>
</file>

<file path=ppt/tags/tag263.xml><?xml version="1.0" encoding="utf-8"?>
<p:tagLst xmlns:a="http://schemas.openxmlformats.org/drawingml/2006/main" xmlns:r="http://schemas.openxmlformats.org/officeDocument/2006/relationships" xmlns:p="http://schemas.openxmlformats.org/presentationml/2006/main">
  <p:tag name="NUM" val="14"/>
</p:tagLst>
</file>

<file path=ppt/tags/tag264.xml><?xml version="1.0" encoding="utf-8"?>
<p:tagLst xmlns:a="http://schemas.openxmlformats.org/drawingml/2006/main" xmlns:r="http://schemas.openxmlformats.org/officeDocument/2006/relationships" xmlns:p="http://schemas.openxmlformats.org/presentationml/2006/main">
  <p:tag name="NUM" val="15"/>
</p:tagLst>
</file>

<file path=ppt/theme/theme1.xml><?xml version="1.0" encoding="utf-8"?>
<a:theme xmlns:a="http://schemas.openxmlformats.org/drawingml/2006/main" name="1_Thème Office">
  <a:themeElements>
    <a:clrScheme name="Personnalisé 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1F497D"/>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ersonnalisé 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1F497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F210C906DD6AF4AAA0745DA7F7D668C" ma:contentTypeVersion="16" ma:contentTypeDescription="Create a new document." ma:contentTypeScope="" ma:versionID="31d8dd37800a71d9fe15f22dc000f6c5">
  <xsd:schema xmlns:xsd="http://www.w3.org/2001/XMLSchema" xmlns:xs="http://www.w3.org/2001/XMLSchema" xmlns:p="http://schemas.microsoft.com/office/2006/metadata/properties" xmlns:ns3="9b797739-e8dc-4491-9318-4a619ee9b153" xmlns:ns4="08c3be05-7986-4e38-b56c-c7c4a964138c" targetNamespace="http://schemas.microsoft.com/office/2006/metadata/properties" ma:root="true" ma:fieldsID="bc972a2e58901271c97d4b95cef24859" ns3:_="" ns4:_="">
    <xsd:import namespace="9b797739-e8dc-4491-9318-4a619ee9b153"/>
    <xsd:import namespace="08c3be05-7986-4e38-b56c-c7c4a964138c"/>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LengthInSeconds" minOccurs="0"/>
                <xsd:element ref="ns3:MediaServiceAutoTags" minOccurs="0"/>
                <xsd:element ref="ns3:MediaServiceGenerationTime" minOccurs="0"/>
                <xsd:element ref="ns3:MediaServiceEventHashCode" minOccurs="0"/>
                <xsd:element ref="ns3:MediaServiceLocation" minOccurs="0"/>
                <xsd:element ref="ns3:MediaServiceOCR" minOccurs="0"/>
                <xsd:element ref="ns3:_activity"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797739-e8dc-4491-9318-4a619ee9b1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LengthInSeconds" ma:index="16" nillable="true" ma:displayName="Length (seconds)" ma:internalName="MediaLengthInSeconds" ma:readOnly="true">
      <xsd:simpleType>
        <xsd:restriction base="dms:Unknown"/>
      </xsd:simpleType>
    </xsd:element>
    <xsd:element name="MediaServiceAutoTags" ma:index="17" nillable="true" ma:displayName="Tags" ma:internalName="MediaServiceAutoTags"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8c3be05-7986-4e38-b56c-c7c4a96413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b797739-e8dc-4491-9318-4a619ee9b153" xsi:nil="true"/>
  </documentManagement>
</p:properties>
</file>

<file path=customXml/itemProps1.xml><?xml version="1.0" encoding="utf-8"?>
<ds:datastoreItem xmlns:ds="http://schemas.openxmlformats.org/officeDocument/2006/customXml" ds:itemID="{8857F625-067B-404A-B580-7FC197E97B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b797739-e8dc-4491-9318-4a619ee9b153"/>
    <ds:schemaRef ds:uri="08c3be05-7986-4e38-b56c-c7c4a964138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B75B319-8E94-42A0-B77B-2DDDCF8F72E9}">
  <ds:schemaRefs>
    <ds:schemaRef ds:uri="http://schemas.microsoft.com/sharepoint/v3/contenttype/forms"/>
  </ds:schemaRefs>
</ds:datastoreItem>
</file>

<file path=customXml/itemProps3.xml><?xml version="1.0" encoding="utf-8"?>
<ds:datastoreItem xmlns:ds="http://schemas.openxmlformats.org/officeDocument/2006/customXml" ds:itemID="{5EF7F717-8052-4651-AF66-43D626EB3C17}">
  <ds:schemaRefs>
    <ds:schemaRef ds:uri="http://www.w3.org/XML/1998/namespace"/>
    <ds:schemaRef ds:uri="08c3be05-7986-4e38-b56c-c7c4a964138c"/>
    <ds:schemaRef ds:uri="http://purl.org/dc/terms/"/>
    <ds:schemaRef ds:uri="http://purl.org/dc/dcmitype/"/>
    <ds:schemaRef ds:uri="9b797739-e8dc-4491-9318-4a619ee9b153"/>
    <ds:schemaRef ds:uri="http://schemas.microsoft.com/office/2006/metadata/properties"/>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6487</TotalTime>
  <Words>4741</Words>
  <Application>Microsoft Office PowerPoint</Application>
  <PresentationFormat>Grand écran</PresentationFormat>
  <Paragraphs>750</Paragraphs>
  <Slides>46</Slides>
  <Notes>45</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46</vt:i4>
      </vt:variant>
    </vt:vector>
  </HeadingPairs>
  <TitlesOfParts>
    <vt:vector size="55" baseType="lpstr">
      <vt:lpstr>Arial</vt:lpstr>
      <vt:lpstr>Calibri</vt:lpstr>
      <vt:lpstr>Calibri Light</vt:lpstr>
      <vt:lpstr>Gill Sans MT</vt:lpstr>
      <vt:lpstr>Lato Light</vt:lpstr>
      <vt:lpstr>Poppins</vt:lpstr>
      <vt:lpstr>Tw Cen MT</vt:lpstr>
      <vt:lpstr>Wingdings</vt:lpstr>
      <vt:lpstr>1_Thème Office</vt:lpstr>
      <vt:lpstr>Comptabilité de gestion (10904) – Séance 3 Séance en classe</vt:lpstr>
      <vt:lpstr>Révision S02 - Analyse Coût-Volume-Résultat</vt:lpstr>
      <vt:lpstr>Présentation PowerPoint</vt:lpstr>
      <vt:lpstr>Présentation PowerPoint</vt:lpstr>
      <vt:lpstr>Objectifs de la séance</vt:lpstr>
      <vt:lpstr>Les décisions d’exploitation</vt:lpstr>
      <vt:lpstr>L’analyse des décisions d’exploitation</vt:lpstr>
      <vt:lpstr>Les coûts afférents à une décision</vt:lpstr>
      <vt:lpstr>Les coûts irrécupérables (sunk costs)</vt:lpstr>
      <vt:lpstr>Coûts fixes spécifiques et Coûts communs</vt:lpstr>
      <vt:lpstr>Coût de renonciation (Opportunity cost)</vt:lpstr>
      <vt:lpstr>Exemple - coûts pertinents</vt:lpstr>
      <vt:lpstr>Piste de solution… </vt:lpstr>
      <vt:lpstr>Résultat différentiel - Définition</vt:lpstr>
      <vt:lpstr>Décision d’exploitation  Exemple 1 : </vt:lpstr>
      <vt:lpstr>La commande spéciale</vt:lpstr>
      <vt:lpstr> Illustration – Commande spéciale – Énoncé (1/2)</vt:lpstr>
      <vt:lpstr>Illustration – Commande spéciale – Énoncé (2/2)</vt:lpstr>
      <vt:lpstr>Illustration - Évaluation d’une commande spéciale avec manque de capacité de production – Solution </vt:lpstr>
      <vt:lpstr>Illustration - prix minimum (étudiants) Quels sont les coûts pertinents à cette prise de décision?</vt:lpstr>
      <vt:lpstr>Piste de solution analyse différentielle…(étudiants) </vt:lpstr>
      <vt:lpstr>Résumé des différentes étapes pour analyser une commande spéciale</vt:lpstr>
      <vt:lpstr>Identifier les coûts pertinents (à la lecture de l’énoncé)</vt:lpstr>
      <vt:lpstr>Analyse d’une commande spéciale</vt:lpstr>
      <vt:lpstr>Quel serait le prix de vente minimum pour accepter cette commande spéciale ?</vt:lpstr>
      <vt:lpstr>Analyse d’une commande spéciale - Calcul du résultat différentiel (impact sur le résultat) </vt:lpstr>
      <vt:lpstr>Décision d’exploitation  Exemple 2 : </vt:lpstr>
      <vt:lpstr>Fabriquer ou acheter (sous-traiter) un produit</vt:lpstr>
      <vt:lpstr>Analyse différentielle - Fabriquer ou acheter (étudiants)</vt:lpstr>
      <vt:lpstr>Fabriquer ou acheter (sous-traiter) un produit Situation avec un Coût de renonciation</vt:lpstr>
      <vt:lpstr>Analyse différentielle - Fabriquer ou acheter (étudiants) avec un coût de renonciation</vt:lpstr>
      <vt:lpstr> Fabriquer ou acheter (sous-traiter) un produit </vt:lpstr>
      <vt:lpstr>Décision d’exploitation  Exemple 3 : </vt:lpstr>
      <vt:lpstr>Continuer (ajouter) ou abandonner un produit</vt:lpstr>
      <vt:lpstr>Continuer (ajouter) ou abandonner un produit</vt:lpstr>
      <vt:lpstr>Continuer (ajouter) ou abandonner un produit</vt:lpstr>
      <vt:lpstr>Question de révision </vt:lpstr>
      <vt:lpstr>Piste de solution (étudiant)</vt:lpstr>
      <vt:lpstr>Conclusion – Séance 3</vt:lpstr>
      <vt:lpstr>QUESTIONS…</vt:lpstr>
      <vt:lpstr>Fiches de révision</vt:lpstr>
      <vt:lpstr>Éléments à considérer lors  d’une commande spéciale (1/4)</vt:lpstr>
      <vt:lpstr>Éléments à considérer lors  d’une commande spéciale (2/4)</vt:lpstr>
      <vt:lpstr>Éléments à considérer lors  d’une commande spéciale (3/4)</vt:lpstr>
      <vt:lpstr>Éléments à considérer lors  d’une commande spéciale (4/4)</vt:lpstr>
      <vt:lpstr>Analyse d’une commande spéciale - Calcul du résultat différentiel (impact sur le résultat)</vt:lpstr>
    </vt:vector>
  </TitlesOfParts>
  <Company>HEC Montréal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gestion des coûts (3-929-13)</dc:title>
  <dc:creator>denise landry</dc:creator>
  <cp:lastModifiedBy>Loecha Philion</cp:lastModifiedBy>
  <cp:revision>72</cp:revision>
  <cp:lastPrinted>2022-01-28T04:34:08Z</cp:lastPrinted>
  <dcterms:created xsi:type="dcterms:W3CDTF">2018-05-11T17:44:51Z</dcterms:created>
  <dcterms:modified xsi:type="dcterms:W3CDTF">2026-08-28T13:54:46Z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0x0101003F210C906DD6AF4AAA0745DA7F7D668C</vt:lpwstr>
  </property>
</Properties>
</file>