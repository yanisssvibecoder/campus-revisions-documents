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7" r:id="rId5"/>
    <p:sldId id="348" r:id="rId6"/>
    <p:sldId id="401" r:id="rId7"/>
    <p:sldId id="380" r:id="rId8"/>
    <p:sldId id="382" r:id="rId9"/>
    <p:sldId id="539" r:id="rId10"/>
    <p:sldId id="538" r:id="rId11"/>
    <p:sldId id="540" r:id="rId12"/>
    <p:sldId id="395" r:id="rId13"/>
  </p:sldIdLst>
  <p:sldSz cx="10160000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74" autoAdjust="0"/>
  </p:normalViewPr>
  <p:slideViewPr>
    <p:cSldViewPr snapToGrid="0" snapToObjects="1" showGuides="1">
      <p:cViewPr varScale="1">
        <p:scale>
          <a:sx n="126" d="100"/>
          <a:sy n="126" d="100"/>
        </p:scale>
        <p:origin x="774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ire Poitras" userId="e8718bf4-9404-4a5b-b757-f555a9335c73" providerId="ADAL" clId="{B6CB2935-1949-4799-A6BB-986CB0D5B140}"/>
    <pc:docChg chg="custSel modSld">
      <pc:chgData name="Claire Poitras" userId="e8718bf4-9404-4a5b-b757-f555a9335c73" providerId="ADAL" clId="{B6CB2935-1949-4799-A6BB-986CB0D5B140}" dt="2025-06-20T17:47:59.303" v="1" actId="20577"/>
      <pc:docMkLst>
        <pc:docMk/>
      </pc:docMkLst>
      <pc:sldChg chg="modSp mod">
        <pc:chgData name="Claire Poitras" userId="e8718bf4-9404-4a5b-b757-f555a9335c73" providerId="ADAL" clId="{B6CB2935-1949-4799-A6BB-986CB0D5B140}" dt="2025-06-20T17:47:59.303" v="1" actId="20577"/>
        <pc:sldMkLst>
          <pc:docMk/>
          <pc:sldMk cId="1857756970" sldId="257"/>
        </pc:sldMkLst>
        <pc:spChg chg="mod">
          <ac:chgData name="Claire Poitras" userId="e8718bf4-9404-4a5b-b757-f555a9335c73" providerId="ADAL" clId="{B6CB2935-1949-4799-A6BB-986CB0D5B140}" dt="2025-06-20T17:47:59.303" v="1" actId="20577"/>
          <ac:spMkLst>
            <pc:docMk/>
            <pc:sldMk cId="1857756970" sldId="25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4E640-7D2A-42EF-BA39-2B32D5A16C68}" type="datetimeFigureOut">
              <a:rPr lang="fr-CA" smtClean="0"/>
              <a:pPr/>
              <a:t>2025-06-20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BC42A-5C03-431D-B855-CCCF13E3B37E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0966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FD0A01-4B93-4790-B351-2373D2BD9204}" type="slidenum">
              <a:rPr lang="fr-CA"/>
              <a:pPr/>
              <a:t>4</a:t>
            </a:fld>
            <a:endParaRPr lang="fr-CA"/>
          </a:p>
        </p:txBody>
      </p:sp>
      <p:sp>
        <p:nvSpPr>
          <p:cNvPr id="20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4188" y="703263"/>
            <a:ext cx="6173787" cy="3473450"/>
          </a:xfrm>
          <a:ln/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136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9176E1-23B2-4894-85AC-072258F2E87E}" type="slidenum">
              <a:rPr lang="fr-CA"/>
              <a:pPr/>
              <a:t>5</a:t>
            </a:fld>
            <a:endParaRPr lang="fr-CA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4188" y="703263"/>
            <a:ext cx="6173787" cy="3473450"/>
          </a:xfrm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969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5" y="1432838"/>
            <a:ext cx="9096771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2000" y="1429200"/>
            <a:ext cx="5860000" cy="14580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2000" y="2962656"/>
            <a:ext cx="5852000" cy="402336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5600"/>
            <a:ext cx="516000" cy="13680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lang="fr-CA" sz="67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3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5"/>
            <a:ext cx="2387999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25/06/20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2000" y="1577687"/>
            <a:ext cx="9096000" cy="3187989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E98D-278E-4B48-81DC-1D1D6F61A9AE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3" y="3453140"/>
            <a:ext cx="7336817" cy="1444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6489959" y="1404500"/>
            <a:ext cx="3138424" cy="197318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1429199"/>
            <a:ext cx="5860000" cy="14580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2962656"/>
            <a:ext cx="5852000" cy="402336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7279209-565D-4FE5-A4C8-60294C4337D1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 noProof="0" dirty="0"/>
          </a:p>
        </p:txBody>
      </p:sp>
      <p:pic>
        <p:nvPicPr>
          <p:cNvPr id="13" name="Image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1" r="1"/>
          <a:stretch/>
        </p:blipFill>
        <p:spPr>
          <a:xfrm>
            <a:off x="6479592" y="1432838"/>
            <a:ext cx="3148793" cy="194484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453139"/>
            <a:ext cx="1686613" cy="1454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12" name="Imag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23361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8000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4667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A514-E663-440D-A703-C1929B51DE22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8701"/>
            <a:ext cx="9096000" cy="8204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1511301"/>
            <a:ext cx="4489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8000" y="2044436"/>
            <a:ext cx="4489098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61141" y="1511301"/>
            <a:ext cx="4490861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61141" y="2044436"/>
            <a:ext cx="4490861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16E7-490B-4714-8F6A-CB8983A282D6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B762-E697-4018-87D8-E18EB218C2D2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0E55-1E82-4F9D-9A31-87D72CF5D459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7193"/>
            <a:ext cx="9096000" cy="822008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6000" y="1504401"/>
            <a:ext cx="5664000" cy="3261275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04401"/>
            <a:ext cx="3320000" cy="3261275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D5D3E-5FA6-4B80-B8ED-591F9019CE46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9727"/>
            <a:ext cx="9096000" cy="822950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2000" y="2065077"/>
            <a:ext cx="9088000" cy="2700598"/>
          </a:xfrm>
        </p:spPr>
        <p:txBody>
          <a:bodyPr>
            <a:normAutofit/>
          </a:bodyPr>
          <a:lstStyle>
            <a:lvl1pPr marL="0" indent="0">
              <a:buNone/>
              <a:defRPr sz="167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17877"/>
            <a:ext cx="9088000" cy="522000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B85D-2B3C-4B71-8CBC-BB628A84F8F8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F50AF-7441-4134-B26A-ECC8A96B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99" y="485192"/>
            <a:ext cx="8058197" cy="827486"/>
          </a:xfrm>
          <a:solidFill>
            <a:schemeClr val="accent6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44377D-FC82-4902-BD97-53EC4039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3FF39F-B286-4C16-8269-F7A81DA1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187C17-F2E3-4902-9E3A-65B783B4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D1CDB22-3B0B-4322-9BBB-9F2293122B4E}"/>
              </a:ext>
            </a:extLst>
          </p:cNvPr>
          <p:cNvGrpSpPr/>
          <p:nvPr userDrawn="1"/>
        </p:nvGrpSpPr>
        <p:grpSpPr>
          <a:xfrm>
            <a:off x="8688000" y="495353"/>
            <a:ext cx="940000" cy="847331"/>
            <a:chOff x="9122160" y="387054"/>
            <a:chExt cx="846000" cy="847331"/>
          </a:xfrm>
        </p:grpSpPr>
        <p:pic>
          <p:nvPicPr>
            <p:cNvPr id="7" name="Graphique 6" descr="Crayon">
              <a:extLst>
                <a:ext uri="{FF2B5EF4-FFF2-40B4-BE49-F238E27FC236}">
                  <a16:creationId xmlns:a16="http://schemas.microsoft.com/office/drawing/2014/main" id="{DDBF18FB-FE66-423A-A7D4-B79FBBBC4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1578" y="527500"/>
              <a:ext cx="566438" cy="566438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57AEEEB-351B-4025-8578-96B183CF9D99}"/>
                </a:ext>
              </a:extLst>
            </p:cNvPr>
            <p:cNvSpPr/>
            <p:nvPr/>
          </p:nvSpPr>
          <p:spPr>
            <a:xfrm>
              <a:off x="9122160" y="387054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800"/>
            </a:p>
          </p:txBody>
        </p:sp>
      </p:grpSp>
    </p:spTree>
    <p:extLst>
      <p:ext uri="{BB962C8B-B14F-4D97-AF65-F5344CB8AC3E}">
        <p14:creationId xmlns:p14="http://schemas.microsoft.com/office/powerpoint/2010/main" val="35846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5027F-A0D3-4AB9-84F3-FB2D4169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3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9717D0-6BE4-4CEC-B56A-8B457758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524FFF-475C-4BFE-954F-C687108D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87481D-310A-4B06-B0A3-60770912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38B7538-B649-4420-B53D-0893556BF313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7339A3EF-4528-46A0-8103-1D4A72CB1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28460B3C-4E63-4A6E-B367-A95CD1A637BD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1740170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4F1F0-0C83-423A-9627-7F4F21B4D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4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605483-8545-43AB-9D82-BECBE68A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9B70E9-B1BE-4B33-BD97-A5864404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A96B83-5363-4969-8925-62B9E6BD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152BD61-BE8A-45EF-9990-8B54915CF287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EB97E7FB-98CD-4166-9B66-C5C7DFC94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04B6938-F664-404B-A6FB-3ED61F28D7B0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294457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2000" y="485192"/>
            <a:ext cx="9096000" cy="82748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517877"/>
            <a:ext cx="9096000" cy="324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4000" y="5384996"/>
            <a:ext cx="2370667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">
                <a:solidFill>
                  <a:schemeClr val="accent2"/>
                </a:solidFill>
              </a:defRPr>
            </a:lvl1pPr>
          </a:lstStyle>
          <a:p>
            <a:fld id="{98FD3BE9-B61A-496B-9E53-6BE29CAA7F7D}" type="datetime3">
              <a:rPr lang="fr-CA" noProof="0" smtClean="0"/>
              <a:pPr/>
              <a:t>25/06/20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71334" y="5384996"/>
            <a:ext cx="3217333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">
                <a:solidFill>
                  <a:schemeClr val="accent2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">
                <a:solidFill>
                  <a:schemeClr val="accent2"/>
                </a:solidFill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7" r:id="rId10"/>
    <p:sldLayoutId id="2147483668" r:id="rId11"/>
    <p:sldLayoutId id="2147483669" r:id="rId1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48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1pPr>
      <a:lvl2pPr marL="453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2pPr>
      <a:lvl3pPr marL="752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3pPr>
      <a:lvl4pPr marL="1047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4pPr>
      <a:lvl5pPr marL="1346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0.png"/><Relationship Id="rId5" Type="http://schemas.openxmlformats.org/officeDocument/2006/relationships/slide" Target="slide3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OPER10500</a:t>
            </a:r>
            <a:br>
              <a:rPr lang="fr-CA" dirty="0"/>
            </a:br>
            <a:r>
              <a:rPr lang="fr-CA" dirty="0"/>
              <a:t>Gestion des opérations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Plan directeur </a:t>
            </a:r>
            <a:r>
              <a:rPr lang="fr-CA"/>
              <a:t>de production - PDP</a:t>
            </a:r>
            <a:endParaRPr lang="fr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532000" y="5028295"/>
            <a:ext cx="5353729" cy="200055"/>
          </a:xfrm>
        </p:spPr>
        <p:txBody>
          <a:bodyPr/>
          <a:lstStyle/>
          <a:p>
            <a:r>
              <a:rPr lang="fr-CA" sz="1050" dirty="0"/>
              <a:t>© 2025 Département de gestion des opérations et de la logistique</a:t>
            </a:r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9" name="Image 8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8906C563-E5F2-4CC7-9AC3-305B64E40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187" y="1395839"/>
            <a:ext cx="6404372" cy="396122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Zoom de diapositive 3">
                <a:extLst>
                  <a:ext uri="{FF2B5EF4-FFF2-40B4-BE49-F238E27FC236}">
                    <a16:creationId xmlns:a16="http://schemas.microsoft.com/office/drawing/2014/main" id="{AFB5D32D-C102-4D0C-B4CE-D2B9FAA7159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56055492"/>
                  </p:ext>
                </p:extLst>
              </p:nvPr>
            </p:nvGraphicFramePr>
            <p:xfrm>
              <a:off x="7394585" y="3943313"/>
              <a:ext cx="1557228" cy="973268"/>
            </p:xfrm>
            <a:graphic>
              <a:graphicData uri="http://schemas.microsoft.com/office/powerpoint/2016/slidezoom">
                <pslz:sldZm>
                  <pslz:sldZmObj sldId="401" cId="898608486">
                    <pslz:zmPr id="{C1DB7969-22AE-4F81-A8E7-0E9762DE362C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7228" cy="97326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Zoom de diapositive 3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AFB5D32D-C102-4D0C-B4CE-D2B9FAA715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94585" y="3943313"/>
                <a:ext cx="1557228" cy="97326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21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4294967295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" t="30593" r="3803" b="29630"/>
          <a:stretch/>
        </p:blipFill>
        <p:spPr>
          <a:xfrm>
            <a:off x="978480" y="1676140"/>
            <a:ext cx="8203040" cy="2694662"/>
          </a:xfrm>
        </p:spPr>
      </p:pic>
    </p:spTree>
    <p:extLst>
      <p:ext uri="{BB962C8B-B14F-4D97-AF65-F5344CB8AC3E}">
        <p14:creationId xmlns:p14="http://schemas.microsoft.com/office/powerpoint/2010/main" val="898608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8" name="Rectangle 4"/>
          <p:cNvSpPr>
            <a:spLocks noChangeArrowheads="1"/>
          </p:cNvSpPr>
          <p:nvPr/>
        </p:nvSpPr>
        <p:spPr bwMode="auto">
          <a:xfrm>
            <a:off x="5545536" y="2097047"/>
            <a:ext cx="2934891" cy="256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9056" tIns="34529" rIns="69056" bIns="34529">
            <a:spAutoFit/>
          </a:bodyPr>
          <a:lstStyle/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Détermination des quantités et des dates relatives aux</a:t>
            </a:r>
          </a:p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produits à fabriquer</a:t>
            </a: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Unité réelle</a:t>
            </a: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Environ 3 mois</a:t>
            </a: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Intervalles de 1 semaine</a:t>
            </a:r>
          </a:p>
        </p:txBody>
      </p:sp>
      <p:sp>
        <p:nvSpPr>
          <p:cNvPr id="185349" name="Rectangle 5"/>
          <p:cNvSpPr>
            <a:spLocks noChangeArrowheads="1"/>
          </p:cNvSpPr>
          <p:nvPr/>
        </p:nvSpPr>
        <p:spPr bwMode="auto">
          <a:xfrm>
            <a:off x="3435747" y="2097046"/>
            <a:ext cx="2000250" cy="256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056" tIns="34529" rIns="69056" bIns="34529">
            <a:spAutoFit/>
          </a:bodyPr>
          <a:lstStyle/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Choix d’options dans l’utilisation des installations et des ressources</a:t>
            </a: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Unité équivalente</a:t>
            </a: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De 12 à 24 mois</a:t>
            </a: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Intervalles de 1 mois</a:t>
            </a:r>
          </a:p>
        </p:txBody>
      </p:sp>
      <p:sp>
        <p:nvSpPr>
          <p:cNvPr id="185350" name="Rectangle 6"/>
          <p:cNvSpPr>
            <a:spLocks noChangeArrowheads="1"/>
          </p:cNvSpPr>
          <p:nvPr/>
        </p:nvSpPr>
        <p:spPr bwMode="auto">
          <a:xfrm>
            <a:off x="3498851" y="1548168"/>
            <a:ext cx="1849041" cy="531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056" tIns="34529" rIns="69056" bIns="34529">
            <a:spAutoFit/>
          </a:bodyPr>
          <a:lstStyle/>
          <a:p>
            <a:pPr algn="ctr" eaLnBrk="0" hangingPunct="0"/>
            <a:r>
              <a:rPr lang="fr-CH" sz="1500" b="1" dirty="0"/>
              <a:t>Plan global de production</a:t>
            </a:r>
          </a:p>
        </p:txBody>
      </p:sp>
      <p:sp>
        <p:nvSpPr>
          <p:cNvPr id="185351" name="Rectangle 7"/>
          <p:cNvSpPr>
            <a:spLocks noChangeArrowheads="1"/>
          </p:cNvSpPr>
          <p:nvPr/>
        </p:nvSpPr>
        <p:spPr bwMode="auto">
          <a:xfrm>
            <a:off x="1272456" y="2103377"/>
            <a:ext cx="1655493" cy="28293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69056" tIns="34529" rIns="69056" bIns="34529">
            <a:spAutoFit/>
          </a:bodyPr>
          <a:lstStyle/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Objectif principal</a:t>
            </a: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endParaRPr lang="fr-CH" sz="788" b="1" dirty="0">
              <a:solidFill>
                <a:srgbClr val="0070C0"/>
              </a:solidFill>
            </a:endParaRP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Unité de produit</a:t>
            </a: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r>
              <a:rPr lang="fr-CH" sz="1350" b="1" dirty="0">
                <a:solidFill>
                  <a:srgbClr val="0070C0"/>
                </a:solidFill>
              </a:rPr>
              <a:t>Horizon</a:t>
            </a: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/>
            <a:endParaRPr lang="fr-CH" sz="1350" b="1" dirty="0">
              <a:solidFill>
                <a:srgbClr val="0070C0"/>
              </a:solidFill>
            </a:endParaRPr>
          </a:p>
          <a:p>
            <a:pPr eaLnBrk="0" hangingPunct="0">
              <a:lnSpc>
                <a:spcPct val="90000"/>
              </a:lnSpc>
            </a:pPr>
            <a:r>
              <a:rPr lang="fr-CH" sz="1350" b="1" dirty="0">
                <a:solidFill>
                  <a:srgbClr val="0070C0"/>
                </a:solidFill>
              </a:rPr>
              <a:t>Échelonnement des</a:t>
            </a:r>
          </a:p>
          <a:p>
            <a:pPr eaLnBrk="0" hangingPunct="0">
              <a:lnSpc>
                <a:spcPct val="90000"/>
              </a:lnSpc>
            </a:pPr>
            <a:r>
              <a:rPr lang="fr-CH" sz="1350" b="1" dirty="0">
                <a:solidFill>
                  <a:srgbClr val="0070C0"/>
                </a:solidFill>
              </a:rPr>
              <a:t>activités</a:t>
            </a:r>
          </a:p>
        </p:txBody>
      </p:sp>
      <p:sp>
        <p:nvSpPr>
          <p:cNvPr id="185352" name="Line 8"/>
          <p:cNvSpPr>
            <a:spLocks noChangeShapeType="1"/>
          </p:cNvSpPr>
          <p:nvPr/>
        </p:nvSpPr>
        <p:spPr bwMode="auto">
          <a:xfrm>
            <a:off x="3392887" y="1832728"/>
            <a:ext cx="10715" cy="317896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>
              <a:solidFill>
                <a:srgbClr val="0070C0"/>
              </a:solidFill>
            </a:endParaRPr>
          </a:p>
        </p:txBody>
      </p:sp>
      <p:sp>
        <p:nvSpPr>
          <p:cNvPr id="185355" name="Line 11"/>
          <p:cNvSpPr>
            <a:spLocks noChangeShapeType="1"/>
          </p:cNvSpPr>
          <p:nvPr/>
        </p:nvSpPr>
        <p:spPr bwMode="auto">
          <a:xfrm>
            <a:off x="2977359" y="3239523"/>
            <a:ext cx="31075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fr-CA" sz="1350">
              <a:solidFill>
                <a:srgbClr val="0070C0"/>
              </a:solidFill>
            </a:endParaRPr>
          </a:p>
        </p:txBody>
      </p:sp>
      <p:sp>
        <p:nvSpPr>
          <p:cNvPr id="185358" name="Rectangle 14"/>
          <p:cNvSpPr>
            <a:spLocks noChangeArrowheads="1"/>
          </p:cNvSpPr>
          <p:nvPr/>
        </p:nvSpPr>
        <p:spPr bwMode="auto">
          <a:xfrm>
            <a:off x="5545536" y="1571980"/>
            <a:ext cx="2462213" cy="531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056" tIns="34529" rIns="69056" bIns="34529">
            <a:spAutoFit/>
          </a:bodyPr>
          <a:lstStyle/>
          <a:p>
            <a:pPr algn="ctr" eaLnBrk="0" hangingPunct="0"/>
            <a:r>
              <a:rPr lang="fr-CH" sz="1500" b="1" dirty="0"/>
              <a:t>Plan directeur de production</a:t>
            </a:r>
          </a:p>
        </p:txBody>
      </p:sp>
      <p:sp>
        <p:nvSpPr>
          <p:cNvPr id="185359" name="Line 15"/>
          <p:cNvSpPr>
            <a:spLocks noChangeShapeType="1"/>
          </p:cNvSpPr>
          <p:nvPr/>
        </p:nvSpPr>
        <p:spPr bwMode="auto">
          <a:xfrm>
            <a:off x="5387181" y="1737478"/>
            <a:ext cx="0" cy="336113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>
              <a:solidFill>
                <a:srgbClr val="0070C0"/>
              </a:solidFill>
            </a:endParaRPr>
          </a:p>
        </p:txBody>
      </p:sp>
      <p:sp>
        <p:nvSpPr>
          <p:cNvPr id="185370" name="AutoShape 26"/>
          <p:cNvSpPr>
            <a:spLocks/>
          </p:cNvSpPr>
          <p:nvPr/>
        </p:nvSpPr>
        <p:spPr bwMode="auto">
          <a:xfrm rot="16200000">
            <a:off x="4306095" y="3913940"/>
            <a:ext cx="132160" cy="1832372"/>
          </a:xfrm>
          <a:prstGeom prst="leftBrace">
            <a:avLst>
              <a:gd name="adj1" fmla="val 115540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>
              <a:solidFill>
                <a:srgbClr val="0070C0"/>
              </a:solidFill>
            </a:endParaRPr>
          </a:p>
        </p:txBody>
      </p:sp>
      <p:sp>
        <p:nvSpPr>
          <p:cNvPr id="185371" name="AutoShape 27"/>
          <p:cNvSpPr>
            <a:spLocks/>
          </p:cNvSpPr>
          <p:nvPr/>
        </p:nvSpPr>
        <p:spPr bwMode="auto">
          <a:xfrm rot="16200000">
            <a:off x="6413502" y="3946086"/>
            <a:ext cx="132159" cy="1832372"/>
          </a:xfrm>
          <a:prstGeom prst="leftBrace">
            <a:avLst>
              <a:gd name="adj1" fmla="val 11554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 sz="1350">
              <a:solidFill>
                <a:srgbClr val="0070C0"/>
              </a:solidFill>
            </a:endParaRPr>
          </a:p>
        </p:txBody>
      </p:sp>
      <p:sp>
        <p:nvSpPr>
          <p:cNvPr id="185372" name="Text Box 28"/>
          <p:cNvSpPr txBox="1">
            <a:spLocks noChangeArrowheads="1"/>
          </p:cNvSpPr>
          <p:nvPr/>
        </p:nvSpPr>
        <p:spPr bwMode="auto">
          <a:xfrm>
            <a:off x="3386932" y="4921209"/>
            <a:ext cx="1999060" cy="5078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350" b="1"/>
              <a:t>1 plan qui englobe </a:t>
            </a:r>
            <a:br>
              <a:rPr lang="fr-CA" sz="1350" b="1"/>
            </a:br>
            <a:r>
              <a:rPr lang="fr-CA" sz="1350" b="1"/>
              <a:t>tous les produits</a:t>
            </a:r>
          </a:p>
        </p:txBody>
      </p:sp>
      <p:sp>
        <p:nvSpPr>
          <p:cNvPr id="185373" name="Text Box 29"/>
          <p:cNvSpPr txBox="1">
            <a:spLocks noChangeArrowheads="1"/>
          </p:cNvSpPr>
          <p:nvPr/>
        </p:nvSpPr>
        <p:spPr bwMode="auto">
          <a:xfrm>
            <a:off x="5530057" y="4931923"/>
            <a:ext cx="1999060" cy="3000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350" b="1" dirty="0"/>
              <a:t>1 plan par produit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Du plan global au plan directeur</a:t>
            </a:r>
            <a:endParaRPr lang="fr-CA" dirty="0"/>
          </a:p>
        </p:txBody>
      </p:sp>
      <p:sp>
        <p:nvSpPr>
          <p:cNvPr id="18" name="Line 11">
            <a:extLst>
              <a:ext uri="{FF2B5EF4-FFF2-40B4-BE49-F238E27FC236}">
                <a16:creationId xmlns:a16="http://schemas.microsoft.com/office/drawing/2014/main" id="{E00956E7-4F96-42C1-9BF0-DA3D494FA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7359" y="3870522"/>
            <a:ext cx="31075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fr-CA" sz="1350">
              <a:solidFill>
                <a:srgbClr val="0070C0"/>
              </a:solidFill>
            </a:endParaRPr>
          </a:p>
        </p:txBody>
      </p:sp>
      <p:sp>
        <p:nvSpPr>
          <p:cNvPr id="20" name="Line 11">
            <a:extLst>
              <a:ext uri="{FF2B5EF4-FFF2-40B4-BE49-F238E27FC236}">
                <a16:creationId xmlns:a16="http://schemas.microsoft.com/office/drawing/2014/main" id="{A9F2DB1D-F5DC-4FD0-B671-DFDB2BC0D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7358" y="4457484"/>
            <a:ext cx="31075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fr-CA" sz="1350">
              <a:solidFill>
                <a:srgbClr val="0070C0"/>
              </a:solidFill>
            </a:endParaRPr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508D6AB3-BDAD-45EC-9C41-AE90CB5B05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7359" y="2254664"/>
            <a:ext cx="31075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fr-CA" sz="135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402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 directeur de production : Intrants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2ACC13E-DDE8-4E9D-8DDE-98BCA529D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683" y="1429502"/>
            <a:ext cx="2976282" cy="197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4BFC4EDE-816F-411A-AB1D-836B3A82B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681" y="1429502"/>
            <a:ext cx="2976283" cy="197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67EEC572-F703-4AE6-B595-89F09FECF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683" y="3493472"/>
            <a:ext cx="2976282" cy="1974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92D92D69-85DB-40DC-B200-AB3BB75C0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680" y="3491004"/>
            <a:ext cx="2976283" cy="197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172F975-8AE3-4A60-8C5B-8B99EC704373}"/>
              </a:ext>
            </a:extLst>
          </p:cNvPr>
          <p:cNvSpPr txBox="1"/>
          <p:nvPr/>
        </p:nvSpPr>
        <p:spPr>
          <a:xfrm>
            <a:off x="986800" y="1703295"/>
            <a:ext cx="2802282" cy="132677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endParaRPr lang="fr-CA" sz="167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4CCF95A-A9DB-42E4-BD35-D4F057937CF2}"/>
              </a:ext>
            </a:extLst>
          </p:cNvPr>
          <p:cNvSpPr txBox="1"/>
          <p:nvPr/>
        </p:nvSpPr>
        <p:spPr>
          <a:xfrm>
            <a:off x="986800" y="1703294"/>
            <a:ext cx="2614024" cy="138953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CEBE46-7677-4A8E-8809-CB83B2853BE1}"/>
              </a:ext>
            </a:extLst>
          </p:cNvPr>
          <p:cNvSpPr/>
          <p:nvPr/>
        </p:nvSpPr>
        <p:spPr>
          <a:xfrm>
            <a:off x="532000" y="1738285"/>
            <a:ext cx="2425766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</p:spPr>
        <p:txBody>
          <a:bodyPr wrap="square" anchor="ctr">
            <a:spAutoFit/>
          </a:bodyPr>
          <a:lstStyle/>
          <a:p>
            <a:pPr marL="0" lvl="1" algn="ctr"/>
            <a:endParaRPr lang="fr-CA" dirty="0"/>
          </a:p>
          <a:p>
            <a:pPr marL="0" lvl="1" algn="ctr"/>
            <a:r>
              <a:rPr lang="fr-CA" dirty="0"/>
              <a:t>Les stocks de début ou initiaux</a:t>
            </a:r>
          </a:p>
          <a:p>
            <a:pPr marL="0" lvl="1" algn="ctr"/>
            <a:endParaRPr lang="fr-CA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245620-1076-41CF-A73E-EF9371DD2B0F}"/>
              </a:ext>
            </a:extLst>
          </p:cNvPr>
          <p:cNvSpPr/>
          <p:nvPr/>
        </p:nvSpPr>
        <p:spPr>
          <a:xfrm>
            <a:off x="7202234" y="1738285"/>
            <a:ext cx="2425766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</p:spPr>
        <p:txBody>
          <a:bodyPr wrap="square" anchor="ctr">
            <a:spAutoFit/>
          </a:bodyPr>
          <a:lstStyle/>
          <a:p>
            <a:pPr marL="0" lvl="1" algn="ctr"/>
            <a:endParaRPr lang="fr-CA" dirty="0"/>
          </a:p>
          <a:p>
            <a:pPr marL="0" lvl="1" algn="ctr"/>
            <a:r>
              <a:rPr lang="fr-CA" dirty="0"/>
              <a:t>Les commandes clients</a:t>
            </a:r>
          </a:p>
          <a:p>
            <a:pPr marL="0" lvl="1" algn="ctr"/>
            <a:endParaRPr lang="fr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1DD14D-7BA6-4E4D-B211-DA470E907FBD}"/>
              </a:ext>
            </a:extLst>
          </p:cNvPr>
          <p:cNvSpPr/>
          <p:nvPr/>
        </p:nvSpPr>
        <p:spPr>
          <a:xfrm>
            <a:off x="532000" y="4034984"/>
            <a:ext cx="2425766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</p:spPr>
        <p:txBody>
          <a:bodyPr wrap="square" anchor="ctr">
            <a:spAutoFit/>
          </a:bodyPr>
          <a:lstStyle/>
          <a:p>
            <a:pPr marL="0" lvl="1"/>
            <a:endParaRPr lang="fr-CA" dirty="0"/>
          </a:p>
          <a:p>
            <a:pPr marL="0" lvl="1" algn="ctr"/>
            <a:r>
              <a:rPr lang="fr-CA" dirty="0"/>
              <a:t>Les prévisions pour chaque période</a:t>
            </a:r>
          </a:p>
          <a:p>
            <a:pPr marL="0" lvl="1"/>
            <a:endParaRPr lang="fr-CA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D83B11-AC25-4777-97A9-2AD5A2D614DB}"/>
              </a:ext>
            </a:extLst>
          </p:cNvPr>
          <p:cNvSpPr/>
          <p:nvPr/>
        </p:nvSpPr>
        <p:spPr>
          <a:xfrm>
            <a:off x="7202234" y="4034985"/>
            <a:ext cx="2425766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</p:spPr>
        <p:txBody>
          <a:bodyPr wrap="square" anchor="ctr">
            <a:spAutoFit/>
          </a:bodyPr>
          <a:lstStyle/>
          <a:p>
            <a:pPr marL="0" lvl="1" algn="ctr"/>
            <a:r>
              <a:rPr lang="fr-CH" dirty="0"/>
              <a:t>La capacité globale disponible selon le </a:t>
            </a:r>
            <a:r>
              <a:rPr lang="fr-CA" dirty="0"/>
              <a:t>PGP</a:t>
            </a:r>
          </a:p>
          <a:p>
            <a:pPr marL="0" lvl="1"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4597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A8CABD3-191C-4124-BDCE-18E67FD5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864" y="0"/>
            <a:ext cx="7414271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8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People are Working Wearing Blue Shirt">
            <a:extLst>
              <a:ext uri="{FF2B5EF4-FFF2-40B4-BE49-F238E27FC236}">
                <a16:creationId xmlns:a16="http://schemas.microsoft.com/office/drawing/2014/main" id="{AAE30E69-3167-449F-A809-E319F00512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33" b="30027"/>
          <a:stretch/>
        </p:blipFill>
        <p:spPr bwMode="auto">
          <a:xfrm>
            <a:off x="1396120" y="1705669"/>
            <a:ext cx="7367760" cy="286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1CAD51-73F2-4BA1-9EAC-62D50AEC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45920" y="5132246"/>
            <a:ext cx="417960" cy="123120"/>
          </a:xfrm>
        </p:spPr>
        <p:txBody>
          <a:bodyPr anchor="ctr">
            <a:normAutofit fontScale="92500"/>
          </a:bodyPr>
          <a:lstStyle/>
          <a:p>
            <a:pPr>
              <a:lnSpc>
                <a:spcPct val="90000"/>
              </a:lnSpc>
              <a:spcAft>
                <a:spcPts val="540"/>
              </a:spcAft>
            </a:pPr>
            <a:fld id="{77B8E65F-5E3F-4E73-B056-4D0181456FB2}" type="slidenum">
              <a:rPr lang="fr-CA" sz="270"/>
              <a:pPr>
                <a:lnSpc>
                  <a:spcPct val="90000"/>
                </a:lnSpc>
                <a:spcAft>
                  <a:spcPts val="540"/>
                </a:spcAft>
              </a:pPr>
              <a:t>7</a:t>
            </a:fld>
            <a:endParaRPr lang="fr-CA" sz="27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6A76F-347A-4CCD-B031-DBC2742AF914}"/>
              </a:ext>
            </a:extLst>
          </p:cNvPr>
          <p:cNvSpPr txBox="1">
            <a:spLocks noChangeArrowheads="1"/>
          </p:cNvSpPr>
          <p:nvPr/>
        </p:nvSpPr>
        <p:spPr>
          <a:xfrm>
            <a:off x="532000" y="479686"/>
            <a:ext cx="9096000" cy="82296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b="0" dirty="0"/>
              <a:t>Pour compléter le </a:t>
            </a:r>
            <a:r>
              <a:rPr lang="fr-CA" u="sng" dirty="0"/>
              <a:t>PDP final</a:t>
            </a:r>
            <a:r>
              <a:rPr lang="fr-CA" b="0" dirty="0"/>
              <a:t>, il faut considérer la capacité de production en unités équivalentes.</a:t>
            </a:r>
            <a:endParaRPr lang="fr-CA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355F75F1-B40D-4359-A8D6-5BD6EE78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Pour compléter le </a:t>
            </a:r>
            <a:r>
              <a:rPr lang="fr-CA" u="sng" dirty="0"/>
              <a:t>PDP final</a:t>
            </a:r>
            <a:r>
              <a:rPr lang="fr-CA" dirty="0"/>
              <a:t>, il faut considérer la capacité de production en unités équivalentes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50C8832-CC0E-485C-9BBE-237FBAD16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951" y="4668886"/>
            <a:ext cx="755319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SzPct val="75000"/>
              <a:buFont typeface="Arial" charset="0"/>
              <a:buNone/>
            </a:pPr>
            <a:r>
              <a:rPr lang="fr-CA" u="sng" dirty="0">
                <a:solidFill>
                  <a:srgbClr val="185FAB"/>
                </a:solidFill>
              </a:rPr>
              <a:t>La capacité de production est de 450 unités équivalentes par période</a:t>
            </a:r>
            <a:r>
              <a:rPr lang="fr-CA" dirty="0">
                <a:solidFill>
                  <a:srgbClr val="185FA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123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DD80234-DCC6-4AA7-9D76-4ED76102B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36" y="0"/>
            <a:ext cx="7435127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42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71BBC-F5ED-4112-A171-F72B495A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Questions…</a:t>
            </a:r>
          </a:p>
        </p:txBody>
      </p:sp>
      <p:grpSp>
        <p:nvGrpSpPr>
          <p:cNvPr id="5" name="Group 138">
            <a:extLst>
              <a:ext uri="{FF2B5EF4-FFF2-40B4-BE49-F238E27FC236}">
                <a16:creationId xmlns:a16="http://schemas.microsoft.com/office/drawing/2014/main" id="{58B95182-4054-43D5-805D-EA019D19B037}"/>
              </a:ext>
            </a:extLst>
          </p:cNvPr>
          <p:cNvGrpSpPr/>
          <p:nvPr/>
        </p:nvGrpSpPr>
        <p:grpSpPr>
          <a:xfrm>
            <a:off x="4374561" y="1844623"/>
            <a:ext cx="1977212" cy="2921741"/>
            <a:chOff x="8704441" y="2571694"/>
            <a:chExt cx="7028256" cy="10385705"/>
          </a:xfrm>
        </p:grpSpPr>
        <p:sp>
          <p:nvSpPr>
            <p:cNvPr id="6" name="Shape 34173">
              <a:extLst>
                <a:ext uri="{FF2B5EF4-FFF2-40B4-BE49-F238E27FC236}">
                  <a16:creationId xmlns:a16="http://schemas.microsoft.com/office/drawing/2014/main" id="{54F8AFD0-226B-45AF-A0F9-4E5B60DD3D2D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" name="Shape 34174">
              <a:extLst>
                <a:ext uri="{FF2B5EF4-FFF2-40B4-BE49-F238E27FC236}">
                  <a16:creationId xmlns:a16="http://schemas.microsoft.com/office/drawing/2014/main" id="{68128151-2760-45B8-97EA-5230D64C08CC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" name="Shape 34175">
              <a:extLst>
                <a:ext uri="{FF2B5EF4-FFF2-40B4-BE49-F238E27FC236}">
                  <a16:creationId xmlns:a16="http://schemas.microsoft.com/office/drawing/2014/main" id="{1D7F4211-594B-47C9-8DCD-A4BCD12E586A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" name="Shape 34176">
              <a:extLst>
                <a:ext uri="{FF2B5EF4-FFF2-40B4-BE49-F238E27FC236}">
                  <a16:creationId xmlns:a16="http://schemas.microsoft.com/office/drawing/2014/main" id="{E160DC46-78C8-4C98-9610-BC7760A49598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0" name="Shape 34177">
              <a:extLst>
                <a:ext uri="{FF2B5EF4-FFF2-40B4-BE49-F238E27FC236}">
                  <a16:creationId xmlns:a16="http://schemas.microsoft.com/office/drawing/2014/main" id="{78E9A327-153C-4224-85C0-1ACC89739B8D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1" name="Shape 34178">
              <a:extLst>
                <a:ext uri="{FF2B5EF4-FFF2-40B4-BE49-F238E27FC236}">
                  <a16:creationId xmlns:a16="http://schemas.microsoft.com/office/drawing/2014/main" id="{4F678B15-F002-4E8B-9DFF-E999A7B29C8E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2" name="Shape 34179">
              <a:extLst>
                <a:ext uri="{FF2B5EF4-FFF2-40B4-BE49-F238E27FC236}">
                  <a16:creationId xmlns:a16="http://schemas.microsoft.com/office/drawing/2014/main" id="{B640C1FD-64C6-481E-8CA6-1F579DB7BF97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3" name="Shape 34180">
              <a:extLst>
                <a:ext uri="{FF2B5EF4-FFF2-40B4-BE49-F238E27FC236}">
                  <a16:creationId xmlns:a16="http://schemas.microsoft.com/office/drawing/2014/main" id="{FC0527D6-D884-408F-BA36-9B4D6D2454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4" name="Shape 34181">
              <a:extLst>
                <a:ext uri="{FF2B5EF4-FFF2-40B4-BE49-F238E27FC236}">
                  <a16:creationId xmlns:a16="http://schemas.microsoft.com/office/drawing/2014/main" id="{D20E22D0-E6B4-4E74-BCC9-D24F167314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5" name="Shape 34182">
              <a:extLst>
                <a:ext uri="{FF2B5EF4-FFF2-40B4-BE49-F238E27FC236}">
                  <a16:creationId xmlns:a16="http://schemas.microsoft.com/office/drawing/2014/main" id="{32FA501B-5962-4484-8A0B-34C400BFD48A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6" name="Shape 34183">
              <a:extLst>
                <a:ext uri="{FF2B5EF4-FFF2-40B4-BE49-F238E27FC236}">
                  <a16:creationId xmlns:a16="http://schemas.microsoft.com/office/drawing/2014/main" id="{742CAAEB-DCDA-49D9-BEDF-A0DEC236B988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7" name="Shape 34184">
              <a:extLst>
                <a:ext uri="{FF2B5EF4-FFF2-40B4-BE49-F238E27FC236}">
                  <a16:creationId xmlns:a16="http://schemas.microsoft.com/office/drawing/2014/main" id="{E69921C6-AB16-4677-B9C6-0FA4349CB779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8" name="Shape 34185">
              <a:extLst>
                <a:ext uri="{FF2B5EF4-FFF2-40B4-BE49-F238E27FC236}">
                  <a16:creationId xmlns:a16="http://schemas.microsoft.com/office/drawing/2014/main" id="{915AC7A9-5EEC-49B9-8FB0-0DE814528FC9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9" name="Shape 34186">
              <a:extLst>
                <a:ext uri="{FF2B5EF4-FFF2-40B4-BE49-F238E27FC236}">
                  <a16:creationId xmlns:a16="http://schemas.microsoft.com/office/drawing/2014/main" id="{01F8225B-CB5F-44AD-8D3C-936834D1EE0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0" name="Shape 34187">
              <a:extLst>
                <a:ext uri="{FF2B5EF4-FFF2-40B4-BE49-F238E27FC236}">
                  <a16:creationId xmlns:a16="http://schemas.microsoft.com/office/drawing/2014/main" id="{508E7D9F-4C55-4457-9A82-9323CFD93CC4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1" name="Shape 34188">
              <a:extLst>
                <a:ext uri="{FF2B5EF4-FFF2-40B4-BE49-F238E27FC236}">
                  <a16:creationId xmlns:a16="http://schemas.microsoft.com/office/drawing/2014/main" id="{AF834B20-31C8-4541-8AFF-BE903C61AFB9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2" name="Shape 34189">
              <a:extLst>
                <a:ext uri="{FF2B5EF4-FFF2-40B4-BE49-F238E27FC236}">
                  <a16:creationId xmlns:a16="http://schemas.microsoft.com/office/drawing/2014/main" id="{5949C4E4-0034-4793-B722-E118F56CE1EB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hape 34190">
              <a:extLst>
                <a:ext uri="{FF2B5EF4-FFF2-40B4-BE49-F238E27FC236}">
                  <a16:creationId xmlns:a16="http://schemas.microsoft.com/office/drawing/2014/main" id="{FD9E14DF-FF37-4D75-8894-9782E6DCA385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4" name="Shape 34191">
              <a:extLst>
                <a:ext uri="{FF2B5EF4-FFF2-40B4-BE49-F238E27FC236}">
                  <a16:creationId xmlns:a16="http://schemas.microsoft.com/office/drawing/2014/main" id="{F4942482-7233-443A-AAB6-CA040D8409AD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5" name="Shape 34192">
              <a:extLst>
                <a:ext uri="{FF2B5EF4-FFF2-40B4-BE49-F238E27FC236}">
                  <a16:creationId xmlns:a16="http://schemas.microsoft.com/office/drawing/2014/main" id="{07714D24-2224-4987-B8A2-EC92E8A8742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6" name="Shape 34193">
              <a:extLst>
                <a:ext uri="{FF2B5EF4-FFF2-40B4-BE49-F238E27FC236}">
                  <a16:creationId xmlns:a16="http://schemas.microsoft.com/office/drawing/2014/main" id="{DDF36766-BCCB-459F-B724-146EF781845E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7" name="Shape 34194">
              <a:extLst>
                <a:ext uri="{FF2B5EF4-FFF2-40B4-BE49-F238E27FC236}">
                  <a16:creationId xmlns:a16="http://schemas.microsoft.com/office/drawing/2014/main" id="{C5400AA8-A391-44FC-8823-49C108D41F3D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8" name="Shape 34195">
              <a:extLst>
                <a:ext uri="{FF2B5EF4-FFF2-40B4-BE49-F238E27FC236}">
                  <a16:creationId xmlns:a16="http://schemas.microsoft.com/office/drawing/2014/main" id="{89493208-37CF-4438-8A6C-1355E00BDC30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9" name="Shape 34196">
              <a:extLst>
                <a:ext uri="{FF2B5EF4-FFF2-40B4-BE49-F238E27FC236}">
                  <a16:creationId xmlns:a16="http://schemas.microsoft.com/office/drawing/2014/main" id="{ADE7D283-5173-4665-AF59-5196E59E95AE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0" name="Shape 34197">
              <a:extLst>
                <a:ext uri="{FF2B5EF4-FFF2-40B4-BE49-F238E27FC236}">
                  <a16:creationId xmlns:a16="http://schemas.microsoft.com/office/drawing/2014/main" id="{23CCC0A9-B271-4803-AC68-EABB90218338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1" name="Shape 34198">
              <a:extLst>
                <a:ext uri="{FF2B5EF4-FFF2-40B4-BE49-F238E27FC236}">
                  <a16:creationId xmlns:a16="http://schemas.microsoft.com/office/drawing/2014/main" id="{9C7DEE4C-4587-42CB-AB87-BB05A9F7F65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2" name="Shape 34199">
              <a:extLst>
                <a:ext uri="{FF2B5EF4-FFF2-40B4-BE49-F238E27FC236}">
                  <a16:creationId xmlns:a16="http://schemas.microsoft.com/office/drawing/2014/main" id="{9A6BA983-5334-41C3-8D36-D4793119FC43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3" name="Shape 34200">
              <a:extLst>
                <a:ext uri="{FF2B5EF4-FFF2-40B4-BE49-F238E27FC236}">
                  <a16:creationId xmlns:a16="http://schemas.microsoft.com/office/drawing/2014/main" id="{443ECE95-13D9-4034-8245-4A83768A0116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34201">
              <a:extLst>
                <a:ext uri="{FF2B5EF4-FFF2-40B4-BE49-F238E27FC236}">
                  <a16:creationId xmlns:a16="http://schemas.microsoft.com/office/drawing/2014/main" id="{FF4B6CEF-AE43-490A-BE31-6AF6D492B235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34202">
              <a:extLst>
                <a:ext uri="{FF2B5EF4-FFF2-40B4-BE49-F238E27FC236}">
                  <a16:creationId xmlns:a16="http://schemas.microsoft.com/office/drawing/2014/main" id="{0A6FDF2A-C25B-4F2A-B306-406E04B24058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6" name="Shape 34203">
              <a:extLst>
                <a:ext uri="{FF2B5EF4-FFF2-40B4-BE49-F238E27FC236}">
                  <a16:creationId xmlns:a16="http://schemas.microsoft.com/office/drawing/2014/main" id="{431603F6-8459-4931-A432-DD60F1AF30A1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7" name="Shape 34204">
              <a:extLst>
                <a:ext uri="{FF2B5EF4-FFF2-40B4-BE49-F238E27FC236}">
                  <a16:creationId xmlns:a16="http://schemas.microsoft.com/office/drawing/2014/main" id="{9665CD0A-DDE4-46A5-B551-E7F148138D88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hape 34205">
              <a:extLst>
                <a:ext uri="{FF2B5EF4-FFF2-40B4-BE49-F238E27FC236}">
                  <a16:creationId xmlns:a16="http://schemas.microsoft.com/office/drawing/2014/main" id="{CC09C2DA-6F17-41BE-9A24-0BF1A400F0D4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34206">
              <a:extLst>
                <a:ext uri="{FF2B5EF4-FFF2-40B4-BE49-F238E27FC236}">
                  <a16:creationId xmlns:a16="http://schemas.microsoft.com/office/drawing/2014/main" id="{D54A38B7-B7A3-4D26-B18D-D2F9E1DEF86E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0" name="Shape 34207">
              <a:extLst>
                <a:ext uri="{FF2B5EF4-FFF2-40B4-BE49-F238E27FC236}">
                  <a16:creationId xmlns:a16="http://schemas.microsoft.com/office/drawing/2014/main" id="{900B87C9-6CD9-41B0-A616-57EC0EC0FAB9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1" name="Shape 34208">
              <a:extLst>
                <a:ext uri="{FF2B5EF4-FFF2-40B4-BE49-F238E27FC236}">
                  <a16:creationId xmlns:a16="http://schemas.microsoft.com/office/drawing/2014/main" id="{FF9E974C-3C6B-48EE-9765-B1BD62EDEBBB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2" name="Shape 34209">
              <a:extLst>
                <a:ext uri="{FF2B5EF4-FFF2-40B4-BE49-F238E27FC236}">
                  <a16:creationId xmlns:a16="http://schemas.microsoft.com/office/drawing/2014/main" id="{195891F6-456F-487D-9A31-3205CFC000A0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3" name="Shape 34210">
              <a:extLst>
                <a:ext uri="{FF2B5EF4-FFF2-40B4-BE49-F238E27FC236}">
                  <a16:creationId xmlns:a16="http://schemas.microsoft.com/office/drawing/2014/main" id="{CFD870BB-6E85-41C6-B8B8-07CBF8452CDC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4" name="Shape 34211">
              <a:extLst>
                <a:ext uri="{FF2B5EF4-FFF2-40B4-BE49-F238E27FC236}">
                  <a16:creationId xmlns:a16="http://schemas.microsoft.com/office/drawing/2014/main" id="{2D449E41-EBF7-496F-9601-C0F4A60948A8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5" name="Shape 34212">
              <a:extLst>
                <a:ext uri="{FF2B5EF4-FFF2-40B4-BE49-F238E27FC236}">
                  <a16:creationId xmlns:a16="http://schemas.microsoft.com/office/drawing/2014/main" id="{813003F3-1906-4BE1-B321-391211951EE5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6" name="Shape 34213">
              <a:extLst>
                <a:ext uri="{FF2B5EF4-FFF2-40B4-BE49-F238E27FC236}">
                  <a16:creationId xmlns:a16="http://schemas.microsoft.com/office/drawing/2014/main" id="{705BA8CC-9DB8-4EEE-803C-5584FEF8DA66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7" name="Shape 34214">
              <a:extLst>
                <a:ext uri="{FF2B5EF4-FFF2-40B4-BE49-F238E27FC236}">
                  <a16:creationId xmlns:a16="http://schemas.microsoft.com/office/drawing/2014/main" id="{F73E10A1-09BB-4382-9807-86674549F2EF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8" name="Shape 34215">
              <a:extLst>
                <a:ext uri="{FF2B5EF4-FFF2-40B4-BE49-F238E27FC236}">
                  <a16:creationId xmlns:a16="http://schemas.microsoft.com/office/drawing/2014/main" id="{C7403A64-F206-4EFB-AC82-F990191C5DB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9" name="Shape 34216">
              <a:extLst>
                <a:ext uri="{FF2B5EF4-FFF2-40B4-BE49-F238E27FC236}">
                  <a16:creationId xmlns:a16="http://schemas.microsoft.com/office/drawing/2014/main" id="{D88BDF44-FEE4-455C-AAD3-62E2FB068989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0" name="Shape 34217">
              <a:extLst>
                <a:ext uri="{FF2B5EF4-FFF2-40B4-BE49-F238E27FC236}">
                  <a16:creationId xmlns:a16="http://schemas.microsoft.com/office/drawing/2014/main" id="{3DCB4754-CE12-46B7-B86D-0A5938FF2A8F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rgbClr val="00B0F0"/>
              </a:solidFill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1" name="Shape 34218">
              <a:extLst>
                <a:ext uri="{FF2B5EF4-FFF2-40B4-BE49-F238E27FC236}">
                  <a16:creationId xmlns:a16="http://schemas.microsoft.com/office/drawing/2014/main" id="{BC37F305-5646-434C-862F-6783D8F478A1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2" name="Shape 34219">
              <a:extLst>
                <a:ext uri="{FF2B5EF4-FFF2-40B4-BE49-F238E27FC236}">
                  <a16:creationId xmlns:a16="http://schemas.microsoft.com/office/drawing/2014/main" id="{922F1F8A-EC21-4CFE-94AA-B0C57664A87E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3" name="Shape 34220">
              <a:extLst>
                <a:ext uri="{FF2B5EF4-FFF2-40B4-BE49-F238E27FC236}">
                  <a16:creationId xmlns:a16="http://schemas.microsoft.com/office/drawing/2014/main" id="{C67FEBAC-4FDA-4888-A68E-EE1855533665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4" name="Shape 34221">
              <a:extLst>
                <a:ext uri="{FF2B5EF4-FFF2-40B4-BE49-F238E27FC236}">
                  <a16:creationId xmlns:a16="http://schemas.microsoft.com/office/drawing/2014/main" id="{3E7BA551-B06D-4FE4-97F8-7688D8648651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5" name="Shape 34222">
              <a:extLst>
                <a:ext uri="{FF2B5EF4-FFF2-40B4-BE49-F238E27FC236}">
                  <a16:creationId xmlns:a16="http://schemas.microsoft.com/office/drawing/2014/main" id="{D6D14C92-6CC7-48B7-A0E5-5801F672CBDF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6" name="Shape 34223">
              <a:extLst>
                <a:ext uri="{FF2B5EF4-FFF2-40B4-BE49-F238E27FC236}">
                  <a16:creationId xmlns:a16="http://schemas.microsoft.com/office/drawing/2014/main" id="{1A04EC51-D36E-4884-9F09-10AC368049F1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7" name="Shape 34224">
              <a:extLst>
                <a:ext uri="{FF2B5EF4-FFF2-40B4-BE49-F238E27FC236}">
                  <a16:creationId xmlns:a16="http://schemas.microsoft.com/office/drawing/2014/main" id="{1FF48417-26E8-4025-81A5-3900579BFBBB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8" name="Shape 34225">
              <a:extLst>
                <a:ext uri="{FF2B5EF4-FFF2-40B4-BE49-F238E27FC236}">
                  <a16:creationId xmlns:a16="http://schemas.microsoft.com/office/drawing/2014/main" id="{2F2CADE7-1EB8-4540-8168-345A18DC2482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9" name="Shape 34226">
              <a:extLst>
                <a:ext uri="{FF2B5EF4-FFF2-40B4-BE49-F238E27FC236}">
                  <a16:creationId xmlns:a16="http://schemas.microsoft.com/office/drawing/2014/main" id="{2626E289-3644-4D89-A632-9A06B07D991F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0" name="Shape 34227">
              <a:extLst>
                <a:ext uri="{FF2B5EF4-FFF2-40B4-BE49-F238E27FC236}">
                  <a16:creationId xmlns:a16="http://schemas.microsoft.com/office/drawing/2014/main" id="{DF3AE396-2033-4E23-B1B0-2CB074260361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1" name="Shape 34228">
              <a:extLst>
                <a:ext uri="{FF2B5EF4-FFF2-40B4-BE49-F238E27FC236}">
                  <a16:creationId xmlns:a16="http://schemas.microsoft.com/office/drawing/2014/main" id="{C31D1EDA-4B16-4A91-88B3-5D0C5BEBD26F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2" name="Shape 34229">
              <a:extLst>
                <a:ext uri="{FF2B5EF4-FFF2-40B4-BE49-F238E27FC236}">
                  <a16:creationId xmlns:a16="http://schemas.microsoft.com/office/drawing/2014/main" id="{69D257C2-090D-40ED-8AE6-C1A0794F3FF5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3" name="Shape 34230">
              <a:extLst>
                <a:ext uri="{FF2B5EF4-FFF2-40B4-BE49-F238E27FC236}">
                  <a16:creationId xmlns:a16="http://schemas.microsoft.com/office/drawing/2014/main" id="{6668CDD0-0005-4AFC-9032-C6544BF09D80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4" name="Shape 34231">
              <a:extLst>
                <a:ext uri="{FF2B5EF4-FFF2-40B4-BE49-F238E27FC236}">
                  <a16:creationId xmlns:a16="http://schemas.microsoft.com/office/drawing/2014/main" id="{B6EB95AD-2468-4AA4-9F51-2FC437664451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5" name="Shape 34232">
              <a:extLst>
                <a:ext uri="{FF2B5EF4-FFF2-40B4-BE49-F238E27FC236}">
                  <a16:creationId xmlns:a16="http://schemas.microsoft.com/office/drawing/2014/main" id="{32DCAC3A-6B36-419D-9893-889513F0ACBF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6" name="Shape 34233">
              <a:extLst>
                <a:ext uri="{FF2B5EF4-FFF2-40B4-BE49-F238E27FC236}">
                  <a16:creationId xmlns:a16="http://schemas.microsoft.com/office/drawing/2014/main" id="{8236CA81-388B-4908-9685-8D6BC8E70187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7" name="Shape 34234">
              <a:extLst>
                <a:ext uri="{FF2B5EF4-FFF2-40B4-BE49-F238E27FC236}">
                  <a16:creationId xmlns:a16="http://schemas.microsoft.com/office/drawing/2014/main" id="{3B7B2670-A08D-473B-89ED-542ECD1FDE80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8" name="Shape 34235">
              <a:extLst>
                <a:ext uri="{FF2B5EF4-FFF2-40B4-BE49-F238E27FC236}">
                  <a16:creationId xmlns:a16="http://schemas.microsoft.com/office/drawing/2014/main" id="{4BA7DD70-A383-473C-B36B-451C12022852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9" name="Shape 34236">
              <a:extLst>
                <a:ext uri="{FF2B5EF4-FFF2-40B4-BE49-F238E27FC236}">
                  <a16:creationId xmlns:a16="http://schemas.microsoft.com/office/drawing/2014/main" id="{7CE95E47-26B3-4B10-A35F-2AB76B3F6165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0" name="Shape 34237">
              <a:extLst>
                <a:ext uri="{FF2B5EF4-FFF2-40B4-BE49-F238E27FC236}">
                  <a16:creationId xmlns:a16="http://schemas.microsoft.com/office/drawing/2014/main" id="{8FAEF7C4-DB17-4314-80F9-A102E8ED182B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1" name="Shape 34238">
              <a:extLst>
                <a:ext uri="{FF2B5EF4-FFF2-40B4-BE49-F238E27FC236}">
                  <a16:creationId xmlns:a16="http://schemas.microsoft.com/office/drawing/2014/main" id="{640C6937-306B-447A-8DC0-B0D6D74C2BCA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2" name="Shape 34239">
              <a:extLst>
                <a:ext uri="{FF2B5EF4-FFF2-40B4-BE49-F238E27FC236}">
                  <a16:creationId xmlns:a16="http://schemas.microsoft.com/office/drawing/2014/main" id="{99CEE80A-7F00-4293-BBB6-2810E8A7DE26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3" name="Shape 34240">
              <a:extLst>
                <a:ext uri="{FF2B5EF4-FFF2-40B4-BE49-F238E27FC236}">
                  <a16:creationId xmlns:a16="http://schemas.microsoft.com/office/drawing/2014/main" id="{47BBC576-B99B-4896-9350-9E0032E033DB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4" name="Shape 34241">
              <a:extLst>
                <a:ext uri="{FF2B5EF4-FFF2-40B4-BE49-F238E27FC236}">
                  <a16:creationId xmlns:a16="http://schemas.microsoft.com/office/drawing/2014/main" id="{C6DE098D-CE5C-4690-81B9-34D96F672299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5" name="Shape 34242">
              <a:extLst>
                <a:ext uri="{FF2B5EF4-FFF2-40B4-BE49-F238E27FC236}">
                  <a16:creationId xmlns:a16="http://schemas.microsoft.com/office/drawing/2014/main" id="{7217F174-CAAA-43B8-8A42-D40B135E6E3C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6" name="Shape 34243">
              <a:extLst>
                <a:ext uri="{FF2B5EF4-FFF2-40B4-BE49-F238E27FC236}">
                  <a16:creationId xmlns:a16="http://schemas.microsoft.com/office/drawing/2014/main" id="{89A5EEC1-EBD9-4A73-B7EC-FF284BAE4498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7" name="Shape 34244">
              <a:extLst>
                <a:ext uri="{FF2B5EF4-FFF2-40B4-BE49-F238E27FC236}">
                  <a16:creationId xmlns:a16="http://schemas.microsoft.com/office/drawing/2014/main" id="{54A5EF33-7E56-41CA-B616-7F1B31064651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8" name="Shape 34245">
              <a:extLst>
                <a:ext uri="{FF2B5EF4-FFF2-40B4-BE49-F238E27FC236}">
                  <a16:creationId xmlns:a16="http://schemas.microsoft.com/office/drawing/2014/main" id="{75A900EB-E2B9-4767-958A-ABFAC1BE4FFB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9" name="Shape 34246">
              <a:extLst>
                <a:ext uri="{FF2B5EF4-FFF2-40B4-BE49-F238E27FC236}">
                  <a16:creationId xmlns:a16="http://schemas.microsoft.com/office/drawing/2014/main" id="{D0CA7D6C-1605-43BC-A5D7-30245A4E3E15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0" name="Shape 34247">
              <a:extLst>
                <a:ext uri="{FF2B5EF4-FFF2-40B4-BE49-F238E27FC236}">
                  <a16:creationId xmlns:a16="http://schemas.microsoft.com/office/drawing/2014/main" id="{F97FF99F-4D44-4A9A-9493-DBA96D29F4A6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1" name="Shape 34248">
              <a:extLst>
                <a:ext uri="{FF2B5EF4-FFF2-40B4-BE49-F238E27FC236}">
                  <a16:creationId xmlns:a16="http://schemas.microsoft.com/office/drawing/2014/main" id="{921D2600-46C5-4D4C-875E-7FAC4712F6B9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2" name="Shape 34249">
              <a:extLst>
                <a:ext uri="{FF2B5EF4-FFF2-40B4-BE49-F238E27FC236}">
                  <a16:creationId xmlns:a16="http://schemas.microsoft.com/office/drawing/2014/main" id="{2E297742-8436-4B1D-83F9-B322E470EDB3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3" name="Shape 34250">
              <a:extLst>
                <a:ext uri="{FF2B5EF4-FFF2-40B4-BE49-F238E27FC236}">
                  <a16:creationId xmlns:a16="http://schemas.microsoft.com/office/drawing/2014/main" id="{6A445B98-1EEC-41F4-B065-B41FB9F82629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4" name="Shape 34251">
              <a:extLst>
                <a:ext uri="{FF2B5EF4-FFF2-40B4-BE49-F238E27FC236}">
                  <a16:creationId xmlns:a16="http://schemas.microsoft.com/office/drawing/2014/main" id="{D9B75CBB-A660-45E9-A6E9-E7F886743FB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5" name="Shape 34252">
              <a:extLst>
                <a:ext uri="{FF2B5EF4-FFF2-40B4-BE49-F238E27FC236}">
                  <a16:creationId xmlns:a16="http://schemas.microsoft.com/office/drawing/2014/main" id="{EB3225E0-6AFE-461C-ABA8-9D4F5329F9F4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6" name="Shape 34253">
              <a:extLst>
                <a:ext uri="{FF2B5EF4-FFF2-40B4-BE49-F238E27FC236}">
                  <a16:creationId xmlns:a16="http://schemas.microsoft.com/office/drawing/2014/main" id="{A48F55E1-9CD4-4666-931D-DFEE4D6DD513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7" name="Shape 34254">
              <a:extLst>
                <a:ext uri="{FF2B5EF4-FFF2-40B4-BE49-F238E27FC236}">
                  <a16:creationId xmlns:a16="http://schemas.microsoft.com/office/drawing/2014/main" id="{9FF1B98D-EBFA-4074-9BEB-EC0303F621D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8" name="Shape 34255">
              <a:extLst>
                <a:ext uri="{FF2B5EF4-FFF2-40B4-BE49-F238E27FC236}">
                  <a16:creationId xmlns:a16="http://schemas.microsoft.com/office/drawing/2014/main" id="{D773A29D-861D-43FE-8FE4-BBB5F5905674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9" name="Shape 34256">
              <a:extLst>
                <a:ext uri="{FF2B5EF4-FFF2-40B4-BE49-F238E27FC236}">
                  <a16:creationId xmlns:a16="http://schemas.microsoft.com/office/drawing/2014/main" id="{D76959AE-132F-4981-BD16-EE589C36875C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0" name="Shape 34257">
              <a:extLst>
                <a:ext uri="{FF2B5EF4-FFF2-40B4-BE49-F238E27FC236}">
                  <a16:creationId xmlns:a16="http://schemas.microsoft.com/office/drawing/2014/main" id="{1914A737-B8BC-436C-9A54-50BADCB330BF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1" name="Shape 34258">
              <a:extLst>
                <a:ext uri="{FF2B5EF4-FFF2-40B4-BE49-F238E27FC236}">
                  <a16:creationId xmlns:a16="http://schemas.microsoft.com/office/drawing/2014/main" id="{15904CCB-F416-4933-9199-2F070BEA3087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2" name="Shape 34259">
              <a:extLst>
                <a:ext uri="{FF2B5EF4-FFF2-40B4-BE49-F238E27FC236}">
                  <a16:creationId xmlns:a16="http://schemas.microsoft.com/office/drawing/2014/main" id="{499C2926-2CC8-41B2-9F52-BC1725F5A17B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3" name="Shape 34260">
              <a:extLst>
                <a:ext uri="{FF2B5EF4-FFF2-40B4-BE49-F238E27FC236}">
                  <a16:creationId xmlns:a16="http://schemas.microsoft.com/office/drawing/2014/main" id="{AF681DAF-BC28-42F0-9D15-B39D1F3255CB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4" name="Shape 34261">
              <a:extLst>
                <a:ext uri="{FF2B5EF4-FFF2-40B4-BE49-F238E27FC236}">
                  <a16:creationId xmlns:a16="http://schemas.microsoft.com/office/drawing/2014/main" id="{0D4667A9-0E1F-4CF9-BF13-2339E272571F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5" name="Shape 34262">
              <a:extLst>
                <a:ext uri="{FF2B5EF4-FFF2-40B4-BE49-F238E27FC236}">
                  <a16:creationId xmlns:a16="http://schemas.microsoft.com/office/drawing/2014/main" id="{A7D50D99-4E6F-46B6-8F2A-EE8715A11793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6" name="Shape 34263">
              <a:extLst>
                <a:ext uri="{FF2B5EF4-FFF2-40B4-BE49-F238E27FC236}">
                  <a16:creationId xmlns:a16="http://schemas.microsoft.com/office/drawing/2014/main" id="{CC6CBBC0-A0AD-4F61-A966-5DCAE30ADA62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7" name="Shape 34264">
              <a:extLst>
                <a:ext uri="{FF2B5EF4-FFF2-40B4-BE49-F238E27FC236}">
                  <a16:creationId xmlns:a16="http://schemas.microsoft.com/office/drawing/2014/main" id="{108A8CEB-6669-4CA1-B5E8-CD388E3D8CB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8" name="Shape 34265">
              <a:extLst>
                <a:ext uri="{FF2B5EF4-FFF2-40B4-BE49-F238E27FC236}">
                  <a16:creationId xmlns:a16="http://schemas.microsoft.com/office/drawing/2014/main" id="{4050123F-E21A-418F-A53F-07F524E8194C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22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674E6988-9F81-9C4F-A395-617E099076A1}" vid="{7BA8343F-A308-F34A-AE1C-33F4B935B6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BA47EBC066B745A5CD7C315910EB78" ma:contentTypeVersion="3" ma:contentTypeDescription="Crée un document." ma:contentTypeScope="" ma:versionID="b311b5323907d863f9510970e841e24f">
  <xsd:schema xmlns:xsd="http://www.w3.org/2001/XMLSchema" xmlns:xs="http://www.w3.org/2001/XMLSchema" xmlns:p="http://schemas.microsoft.com/office/2006/metadata/properties" xmlns:ns2="abcda3d6-2d03-49e1-9293-8daf0cc773fd" targetNamespace="http://schemas.microsoft.com/office/2006/metadata/properties" ma:root="true" ma:fieldsID="c9731b60f146babbce85d7d615846029" ns2:_="">
    <xsd:import namespace="abcda3d6-2d03-49e1-9293-8daf0cc77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da3d6-2d03-49e1-9293-8daf0cc77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D9B5EA-CBD3-49A4-A80B-5DDDCBD9D69A}">
  <ds:schemaRefs>
    <ds:schemaRef ds:uri="http://schemas.microsoft.com/office/2006/metadata/properties"/>
    <ds:schemaRef ds:uri="http://schemas.microsoft.com/office/infopath/2007/PartnerControls"/>
    <ds:schemaRef ds:uri="5b446652-b7a6-491a-a629-08742e0ae113"/>
  </ds:schemaRefs>
</ds:datastoreItem>
</file>

<file path=customXml/itemProps2.xml><?xml version="1.0" encoding="utf-8"?>
<ds:datastoreItem xmlns:ds="http://schemas.openxmlformats.org/officeDocument/2006/customXml" ds:itemID="{1E1D71CD-440B-4662-930E-D0E4C8E665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6E5059-4D26-4B6D-833D-A54D93ACEDBD}"/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179</Words>
  <Application>Microsoft Office PowerPoint</Application>
  <PresentationFormat>Personnalisé</PresentationFormat>
  <Paragraphs>59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Lato Light</vt:lpstr>
      <vt:lpstr>Thème HEC</vt:lpstr>
      <vt:lpstr>OPER10500 Gestion des opérations</vt:lpstr>
      <vt:lpstr>Carte conceptuelle</vt:lpstr>
      <vt:lpstr>Carte conceptuelle</vt:lpstr>
      <vt:lpstr>Du plan global au plan directeur</vt:lpstr>
      <vt:lpstr>Plan directeur de production : Intrants</vt:lpstr>
      <vt:lpstr>Présentation PowerPoint</vt:lpstr>
      <vt:lpstr>Pour compléter le PDP final, il faut considérer la capacité de production en unités équivalentes</vt:lpstr>
      <vt:lpstr>Présentation PowerPoint</vt:lpstr>
      <vt:lpstr>Questions…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OPER10500 Gestion des opérations</dc:title>
  <dc:creator>veronique poirier</dc:creator>
  <cp:lastModifiedBy>Claire Poitras</cp:lastModifiedBy>
  <cp:revision>36</cp:revision>
  <dcterms:created xsi:type="dcterms:W3CDTF">2020-07-21T19:41:54Z</dcterms:created>
  <dcterms:modified xsi:type="dcterms:W3CDTF">2025-06-20T17:48:01Z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0x0101001CBA47EBC066B745A5CD7C315910EB78</vt:lpwstr>
  </property>
</Properties>
</file>