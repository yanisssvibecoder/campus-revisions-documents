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421" r:id="rId5"/>
    <p:sldId id="424" r:id="rId6"/>
    <p:sldId id="423" r:id="rId7"/>
    <p:sldId id="391" r:id="rId8"/>
    <p:sldId id="381" r:id="rId9"/>
    <p:sldId id="426" r:id="rId10"/>
    <p:sldId id="294" r:id="rId11"/>
    <p:sldId id="384" r:id="rId12"/>
    <p:sldId id="365" r:id="rId13"/>
    <p:sldId id="393" r:id="rId14"/>
    <p:sldId id="350" r:id="rId15"/>
    <p:sldId id="271" r:id="rId16"/>
    <p:sldId id="398" r:id="rId17"/>
    <p:sldId id="399" r:id="rId18"/>
    <p:sldId id="371" r:id="rId19"/>
    <p:sldId id="352" r:id="rId20"/>
    <p:sldId id="372" r:id="rId21"/>
    <p:sldId id="356" r:id="rId22"/>
    <p:sldId id="375" r:id="rId23"/>
    <p:sldId id="376" r:id="rId24"/>
    <p:sldId id="378" r:id="rId25"/>
    <p:sldId id="395" r:id="rId26"/>
  </p:sldIdLst>
  <p:sldSz cx="10160000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069" autoAdjust="0"/>
  </p:normalViewPr>
  <p:slideViewPr>
    <p:cSldViewPr snapToGrid="0" snapToObjects="1" showGuides="1">
      <p:cViewPr varScale="1">
        <p:scale>
          <a:sx n="121" d="100"/>
          <a:sy n="121" d="100"/>
        </p:scale>
        <p:origin x="90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ire Poitras" userId="e8718bf4-9404-4a5b-b757-f555a9335c73" providerId="ADAL" clId="{DAF418E4-3394-484E-95F2-AB213B1B5F91}"/>
    <pc:docChg chg="custSel modSld">
      <pc:chgData name="Claire Poitras" userId="e8718bf4-9404-4a5b-b757-f555a9335c73" providerId="ADAL" clId="{DAF418E4-3394-484E-95F2-AB213B1B5F91}" dt="2025-06-20T17:03:04.083" v="13" actId="20577"/>
      <pc:docMkLst>
        <pc:docMk/>
      </pc:docMkLst>
      <pc:sldChg chg="modSp mod">
        <pc:chgData name="Claire Poitras" userId="e8718bf4-9404-4a5b-b757-f555a9335c73" providerId="ADAL" clId="{DAF418E4-3394-484E-95F2-AB213B1B5F91}" dt="2025-06-20T17:02:47.691" v="7" actId="27636"/>
        <pc:sldMkLst>
          <pc:docMk/>
          <pc:sldMk cId="0" sldId="350"/>
        </pc:sldMkLst>
        <pc:spChg chg="mod">
          <ac:chgData name="Claire Poitras" userId="e8718bf4-9404-4a5b-b757-f555a9335c73" providerId="ADAL" clId="{DAF418E4-3394-484E-95F2-AB213B1B5F91}" dt="2025-06-20T17:02:47.691" v="7" actId="27636"/>
          <ac:spMkLst>
            <pc:docMk/>
            <pc:sldMk cId="0" sldId="350"/>
            <ac:spMk id="5" creationId="{00000000-0000-0000-0000-000000000000}"/>
          </ac:spMkLst>
        </pc:spChg>
      </pc:sldChg>
      <pc:sldChg chg="modSp mod">
        <pc:chgData name="Claire Poitras" userId="e8718bf4-9404-4a5b-b757-f555a9335c73" providerId="ADAL" clId="{DAF418E4-3394-484E-95F2-AB213B1B5F91}" dt="2025-06-20T17:02:52.851" v="9" actId="6549"/>
        <pc:sldMkLst>
          <pc:docMk/>
          <pc:sldMk cId="3582393872" sldId="352"/>
        </pc:sldMkLst>
        <pc:spChg chg="mod">
          <ac:chgData name="Claire Poitras" userId="e8718bf4-9404-4a5b-b757-f555a9335c73" providerId="ADAL" clId="{DAF418E4-3394-484E-95F2-AB213B1B5F91}" dt="2025-06-20T17:02:52.851" v="9" actId="6549"/>
          <ac:spMkLst>
            <pc:docMk/>
            <pc:sldMk cId="3582393872" sldId="352"/>
            <ac:spMk id="2" creationId="{EFE82900-9F0E-4F17-B7A0-F0F725CA0F24}"/>
          </ac:spMkLst>
        </pc:spChg>
      </pc:sldChg>
      <pc:sldChg chg="modSp mod">
        <pc:chgData name="Claire Poitras" userId="e8718bf4-9404-4a5b-b757-f555a9335c73" providerId="ADAL" clId="{DAF418E4-3394-484E-95F2-AB213B1B5F91}" dt="2025-06-20T17:02:44.738" v="3" actId="6549"/>
        <pc:sldMkLst>
          <pc:docMk/>
          <pc:sldMk cId="3250304531" sldId="393"/>
        </pc:sldMkLst>
        <pc:spChg chg="mod">
          <ac:chgData name="Claire Poitras" userId="e8718bf4-9404-4a5b-b757-f555a9335c73" providerId="ADAL" clId="{DAF418E4-3394-484E-95F2-AB213B1B5F91}" dt="2025-06-20T17:02:44.738" v="3" actId="6549"/>
          <ac:spMkLst>
            <pc:docMk/>
            <pc:sldMk cId="3250304531" sldId="393"/>
            <ac:spMk id="2" creationId="{00000000-0000-0000-0000-000000000000}"/>
          </ac:spMkLst>
        </pc:spChg>
      </pc:sldChg>
      <pc:sldChg chg="modSp mod">
        <pc:chgData name="Claire Poitras" userId="e8718bf4-9404-4a5b-b757-f555a9335c73" providerId="ADAL" clId="{DAF418E4-3394-484E-95F2-AB213B1B5F91}" dt="2025-06-20T17:03:04.083" v="13" actId="20577"/>
        <pc:sldMkLst>
          <pc:docMk/>
          <pc:sldMk cId="2058267904" sldId="421"/>
        </pc:sldMkLst>
        <pc:spChg chg="mod">
          <ac:chgData name="Claire Poitras" userId="e8718bf4-9404-4a5b-b757-f555a9335c73" providerId="ADAL" clId="{DAF418E4-3394-484E-95F2-AB213B1B5F91}" dt="2025-06-20T17:03:04.083" v="13" actId="20577"/>
          <ac:spMkLst>
            <pc:docMk/>
            <pc:sldMk cId="2058267904" sldId="421"/>
            <ac:spMk id="5" creationId="{00000000-0000-0000-0000-000000000000}"/>
          </ac:spMkLst>
        </pc:spChg>
      </pc:sldChg>
      <pc:sldChg chg="modSp mod">
        <pc:chgData name="Claire Poitras" userId="e8718bf4-9404-4a5b-b757-f555a9335c73" providerId="ADAL" clId="{DAF418E4-3394-484E-95F2-AB213B1B5F91}" dt="2025-06-20T17:02:37.855" v="1" actId="6549"/>
        <pc:sldMkLst>
          <pc:docMk/>
          <pc:sldMk cId="496355793" sldId="426"/>
        </pc:sldMkLst>
        <pc:spChg chg="mod">
          <ac:chgData name="Claire Poitras" userId="e8718bf4-9404-4a5b-b757-f555a9335c73" providerId="ADAL" clId="{DAF418E4-3394-484E-95F2-AB213B1B5F91}" dt="2025-06-20T17:02:37.855" v="1" actId="6549"/>
          <ac:spMkLst>
            <pc:docMk/>
            <pc:sldMk cId="496355793" sldId="426"/>
            <ac:spMk id="12" creationId="{A06D9DF0-8456-4F50-8AA6-7E088C5A76C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4E640-7D2A-42EF-BA39-2B32D5A16C68}" type="datetimeFigureOut">
              <a:rPr lang="fr-CA" smtClean="0"/>
              <a:pPr/>
              <a:t>2025-06-20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BC42A-5C03-431D-B855-CCCF13E3B37E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8547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24381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0966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4176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3902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endParaRPr lang="fr-CA" sz="16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CEF72-1D79-4AE6-854C-F087EFB8FEF4}" type="slidenum">
              <a:rPr lang="fr-CA" altLang="fr-FR" smtClean="0"/>
              <a:pPr/>
              <a:t>6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1050285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768E3D-EC63-4225-83CB-AB5E04BBE3B2}" type="slidenum">
              <a:rPr lang="fr-CA"/>
              <a:pPr/>
              <a:t>7</a:t>
            </a:fld>
            <a:endParaRPr lang="fr-CA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600" noProof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118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768E3D-EC63-4225-83CB-AB5E04BBE3B2}" type="slidenum">
              <a:rPr lang="fr-CA"/>
              <a:pPr/>
              <a:t>8</a:t>
            </a:fld>
            <a:endParaRPr lang="fr-CA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7788" y="349250"/>
            <a:ext cx="3286125" cy="1849438"/>
          </a:xfrm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197" y="2313709"/>
            <a:ext cx="5588914" cy="5620444"/>
          </a:xfrm>
        </p:spPr>
        <p:txBody>
          <a:bodyPr/>
          <a:lstStyle/>
          <a:p>
            <a:endParaRPr lang="fr-CA" noProof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84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39775" y="703263"/>
            <a:ext cx="5808663" cy="3268662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934721" y="4087091"/>
            <a:ext cx="5140960" cy="4744490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06420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39775" y="703263"/>
            <a:ext cx="5808663" cy="3268662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934721" y="4087091"/>
            <a:ext cx="5140960" cy="4744490"/>
          </a:xfrm>
        </p:spPr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32613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02DB84-7C6D-4A4F-845C-800292C37C45}" type="slidenum">
              <a:rPr lang="fr-CA"/>
              <a:pPr/>
              <a:t>11</a:t>
            </a:fld>
            <a:endParaRPr lang="fr-CA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82613" y="703263"/>
            <a:ext cx="4778375" cy="2689225"/>
          </a:xfrm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156" y="3392327"/>
            <a:ext cx="6548625" cy="5439255"/>
          </a:xfrm>
        </p:spPr>
        <p:txBody>
          <a:bodyPr/>
          <a:lstStyle/>
          <a:p>
            <a:r>
              <a:rPr lang="fr-CA" noProof="0" dirty="0">
                <a:latin typeface="Arial" pitchFamily="34" charset="0"/>
                <a:cs typeface="Arial" pitchFamily="34" charset="0"/>
              </a:rPr>
              <a:t>	</a:t>
            </a:r>
            <a:endParaRPr lang="fr-CA" sz="1600" noProof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6A0FA39-AB37-4293-94FA-7E81F6D8335A}"/>
              </a:ext>
            </a:extLst>
          </p:cNvPr>
          <p:cNvSpPr txBox="1"/>
          <p:nvPr/>
        </p:nvSpPr>
        <p:spPr>
          <a:xfrm>
            <a:off x="785446" y="3810000"/>
            <a:ext cx="45755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Politique et légal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Salaire avec pourboire, heures ouverture, permis d’alcool, machine pour fournir un reçu.</a:t>
            </a:r>
          </a:p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Économique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Valeur du dollar (tourisme), cycle de l’économie, concurrence</a:t>
            </a:r>
          </a:p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Social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Importance des restaurants dans la vie social, mode (ex. : tapas,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vegan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), préférence, etc.</a:t>
            </a:r>
          </a:p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Technologique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Mode de paiement, gestion des commandes clients (serveurs – cuisine), menu.</a:t>
            </a:r>
          </a:p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Écologique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Compostage, gestion des déchets.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545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06075E-03E2-4C01-A92C-06BE4329E24B}" type="slidenum">
              <a:rPr lang="fr-CA"/>
              <a:pPr/>
              <a:t>12</a:t>
            </a:fld>
            <a:endParaRPr lang="fr-CA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 cap="flat"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CH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3797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sz="1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96389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934721" y="4415791"/>
            <a:ext cx="5308036" cy="4183380"/>
          </a:xfrm>
        </p:spPr>
        <p:txBody>
          <a:bodyPr/>
          <a:lstStyle/>
          <a:p>
            <a:endParaRPr lang="fr-CH" sz="2000" b="1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96452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27382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B23B5E-25A9-4F42-92AA-41293AD5155A}" type="slidenum">
              <a:rPr lang="fr-CA"/>
              <a:pPr/>
              <a:t>16</a:t>
            </a:fld>
            <a:endParaRPr lang="fr-CA"/>
          </a:p>
        </p:txBody>
      </p:sp>
      <p:sp>
        <p:nvSpPr>
          <p:cNvPr id="217090" name="Rectangle 7"/>
          <p:cNvSpPr txBox="1">
            <a:spLocks noGrp="1" noChangeArrowheads="1"/>
          </p:cNvSpPr>
          <p:nvPr/>
        </p:nvSpPr>
        <p:spPr bwMode="auto">
          <a:xfrm>
            <a:off x="3972560" y="8831581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050" tIns="0" rIns="19050" bIns="0" anchor="b"/>
          <a:lstStyle/>
          <a:p>
            <a:pPr algn="r" defTabSz="913615" eaLnBrk="0" hangingPunct="0"/>
            <a:fld id="{1010A5C4-0D92-4AE8-9C2B-C4492F91E0D7}" type="slidenum">
              <a:rPr lang="fr-CA" sz="1000" i="1">
                <a:latin typeface="Times New Roman" pitchFamily="18" charset="0"/>
              </a:rPr>
              <a:pPr algn="r" defTabSz="913615" eaLnBrk="0" hangingPunct="0"/>
              <a:t>16</a:t>
            </a:fld>
            <a:endParaRPr lang="fr-CA" sz="1000" i="1">
              <a:latin typeface="Times New Roman" pitchFamily="18" charset="0"/>
            </a:endParaRPr>
          </a:p>
        </p:txBody>
      </p:sp>
      <p:sp>
        <p:nvSpPr>
          <p:cNvPr id="217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3788" cy="3473450"/>
          </a:xfrm>
          <a:ln/>
        </p:spPr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3" tIns="46037" rIns="92073" bIns="46037"/>
          <a:lstStyle/>
          <a:p>
            <a:endParaRPr lang="fr-FR" sz="1600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FB67656-0A18-4602-B965-95EF289CEEDD}"/>
              </a:ext>
            </a:extLst>
          </p:cNvPr>
          <p:cNvSpPr txBox="1"/>
          <p:nvPr/>
        </p:nvSpPr>
        <p:spPr>
          <a:xfrm>
            <a:off x="984738" y="4572000"/>
            <a:ext cx="488852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Décisions stratégiques : Localisation du restaurant, Nom du restaurant, Type de cuisine (italienne, indienne, japonaise, etc.), Capacité, etc.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Décisions tactiques : Choix des fournisseurs, gestion des achats et des stocks, heures d’ouverture, horaires de travail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Décisions opérationnelles : Spécial du jour, besoin d’heures supplémentaires, préparation des repas, attribution des serveurs aux sections du restaurant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29375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92DFBC-69E4-483D-BDC9-B83315157A7F}" type="slidenum">
              <a:rPr lang="fr-CA"/>
              <a:pPr/>
              <a:t>17</a:t>
            </a:fld>
            <a:endParaRPr lang="fr-CA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32029" indent="-232029">
              <a:lnSpc>
                <a:spcPct val="80000"/>
              </a:lnSpc>
            </a:pPr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4470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4D93E-3EEA-4831-AF93-258CBD329D39}" type="slidenum">
              <a:rPr lang="fr-CA" smtClean="0"/>
              <a:pPr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796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220205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918959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5C29C-4082-41B2-ACBE-34DEBDBE39AE}" type="slidenum">
              <a:rPr lang="fr-CA" smtClean="0"/>
              <a:pPr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28421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24195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5" y="1432838"/>
            <a:ext cx="9096771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2000" y="1429200"/>
            <a:ext cx="5860000" cy="14580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2000" y="2962656"/>
            <a:ext cx="5852000" cy="402336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5600"/>
            <a:ext cx="516000" cy="13680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lang="fr-CA" sz="67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3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5"/>
            <a:ext cx="2387999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25/06/20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2000" y="1577687"/>
            <a:ext cx="9096000" cy="3187989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E98D-278E-4B48-81DC-1D1D6F61A9AE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3" y="3453140"/>
            <a:ext cx="7336817" cy="1444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6489959" y="1404500"/>
            <a:ext cx="3138424" cy="197318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1429199"/>
            <a:ext cx="5860000" cy="14580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2962656"/>
            <a:ext cx="5852000" cy="402336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7279209-565D-4FE5-A4C8-60294C4337D1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 noProof="0" dirty="0"/>
          </a:p>
        </p:txBody>
      </p:sp>
      <p:pic>
        <p:nvPicPr>
          <p:cNvPr id="13" name="Image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1" r="1"/>
          <a:stretch/>
        </p:blipFill>
        <p:spPr>
          <a:xfrm>
            <a:off x="6479592" y="1432838"/>
            <a:ext cx="3148793" cy="194484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453139"/>
            <a:ext cx="1686613" cy="1454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12" name="Imag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23361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8000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4667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A514-E663-440D-A703-C1929B51DE22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8701"/>
            <a:ext cx="9096000" cy="8204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1511301"/>
            <a:ext cx="4489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8000" y="2044436"/>
            <a:ext cx="4489098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61141" y="1511301"/>
            <a:ext cx="4490861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61141" y="2044436"/>
            <a:ext cx="4490861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16E7-490B-4714-8F6A-CB8983A282D6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B762-E697-4018-87D8-E18EB218C2D2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0E55-1E82-4F9D-9A31-87D72CF5D459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7193"/>
            <a:ext cx="9096000" cy="822008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6000" y="1504401"/>
            <a:ext cx="5664000" cy="3261275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04401"/>
            <a:ext cx="3320000" cy="3261275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D5D3E-5FA6-4B80-B8ED-591F9019CE46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9727"/>
            <a:ext cx="9096000" cy="822950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2000" y="2065077"/>
            <a:ext cx="9088000" cy="2700598"/>
          </a:xfrm>
        </p:spPr>
        <p:txBody>
          <a:bodyPr>
            <a:normAutofit/>
          </a:bodyPr>
          <a:lstStyle>
            <a:lvl1pPr marL="0" indent="0">
              <a:buNone/>
              <a:defRPr sz="167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17877"/>
            <a:ext cx="9088000" cy="522000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B85D-2B3C-4B71-8CBC-BB628A84F8F8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F50AF-7441-4134-B26A-ECC8A96B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99" y="485192"/>
            <a:ext cx="8058197" cy="827486"/>
          </a:xfrm>
          <a:solidFill>
            <a:schemeClr val="accent6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44377D-FC82-4902-BD97-53EC4039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3FF39F-B286-4C16-8269-F7A81DA1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187C17-F2E3-4902-9E3A-65B783B4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D1CDB22-3B0B-4322-9BBB-9F2293122B4E}"/>
              </a:ext>
            </a:extLst>
          </p:cNvPr>
          <p:cNvGrpSpPr/>
          <p:nvPr userDrawn="1"/>
        </p:nvGrpSpPr>
        <p:grpSpPr>
          <a:xfrm>
            <a:off x="8688000" y="495353"/>
            <a:ext cx="940000" cy="847331"/>
            <a:chOff x="9122160" y="387054"/>
            <a:chExt cx="846000" cy="847331"/>
          </a:xfrm>
        </p:grpSpPr>
        <p:pic>
          <p:nvPicPr>
            <p:cNvPr id="7" name="Graphique 6" descr="Crayon">
              <a:extLst>
                <a:ext uri="{FF2B5EF4-FFF2-40B4-BE49-F238E27FC236}">
                  <a16:creationId xmlns:a16="http://schemas.microsoft.com/office/drawing/2014/main" id="{DDBF18FB-FE66-423A-A7D4-B79FBBBC4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1578" y="527500"/>
              <a:ext cx="566438" cy="566438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57AEEEB-351B-4025-8578-96B183CF9D99}"/>
                </a:ext>
              </a:extLst>
            </p:cNvPr>
            <p:cNvSpPr/>
            <p:nvPr/>
          </p:nvSpPr>
          <p:spPr>
            <a:xfrm>
              <a:off x="9122160" y="387054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800"/>
            </a:p>
          </p:txBody>
        </p:sp>
      </p:grpSp>
    </p:spTree>
    <p:extLst>
      <p:ext uri="{BB962C8B-B14F-4D97-AF65-F5344CB8AC3E}">
        <p14:creationId xmlns:p14="http://schemas.microsoft.com/office/powerpoint/2010/main" val="35846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5027F-A0D3-4AB9-84F3-FB2D4169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3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9717D0-6BE4-4CEC-B56A-8B457758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524FFF-475C-4BFE-954F-C687108D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87481D-310A-4B06-B0A3-60770912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38B7538-B649-4420-B53D-0893556BF313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7339A3EF-4528-46A0-8103-1D4A72CB1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28460B3C-4E63-4A6E-B367-A95CD1A637BD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1740170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4F1F0-0C83-423A-9627-7F4F21B4D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4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605483-8545-43AB-9D82-BECBE68A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9B70E9-B1BE-4B33-BD97-A5864404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A96B83-5363-4969-8925-62B9E6BD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152BD61-BE8A-45EF-9990-8B54915CF287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EB97E7FB-98CD-4166-9B66-C5C7DFC94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04B6938-F664-404B-A6FB-3ED61F28D7B0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294457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2000" y="485192"/>
            <a:ext cx="9096000" cy="82748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517877"/>
            <a:ext cx="9096000" cy="324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4000" y="5384996"/>
            <a:ext cx="2370667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">
                <a:solidFill>
                  <a:schemeClr val="accent2"/>
                </a:solidFill>
              </a:defRPr>
            </a:lvl1pPr>
          </a:lstStyle>
          <a:p>
            <a:fld id="{98FD3BE9-B61A-496B-9E53-6BE29CAA7F7D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71334" y="5384996"/>
            <a:ext cx="3217333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">
                <a:solidFill>
                  <a:schemeClr val="accent2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">
                <a:solidFill>
                  <a:schemeClr val="accent2"/>
                </a:solidFill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7" r:id="rId10"/>
    <p:sldLayoutId id="2147483668" r:id="rId11"/>
    <p:sldLayoutId id="2147483669" r:id="rId1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48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1pPr>
      <a:lvl2pPr marL="453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2pPr>
      <a:lvl3pPr marL="752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3pPr>
      <a:lvl4pPr marL="1047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4pPr>
      <a:lvl5pPr marL="1346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slide" Target="slide4.xml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ge.ca/brasserie-sportive-la-cag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OPER10500</a:t>
            </a:r>
            <a:br>
              <a:rPr lang="fr-CA" dirty="0"/>
            </a:br>
            <a:r>
              <a:rPr lang="fr-CA" dirty="0"/>
              <a:t>Gestion des opérations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Introduction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532000" y="5028295"/>
            <a:ext cx="5353729" cy="200055"/>
          </a:xfrm>
        </p:spPr>
        <p:txBody>
          <a:bodyPr/>
          <a:lstStyle/>
          <a:p>
            <a:r>
              <a:rPr lang="fr-CA" sz="1050" dirty="0"/>
              <a:t>© 2025 Département de gestion des opérations et de la logistique</a:t>
            </a:r>
          </a:p>
        </p:txBody>
      </p:sp>
    </p:spTree>
    <p:extLst>
      <p:ext uri="{BB962C8B-B14F-4D97-AF65-F5344CB8AC3E}">
        <p14:creationId xmlns:p14="http://schemas.microsoft.com/office/powerpoint/2010/main" val="2058267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002679-223C-4CAA-8997-9098614D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CA"/>
              <a:t>Approche pédagogique</a:t>
            </a:r>
            <a:endParaRPr lang="fr-CA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495448A-7C8C-4A43-A578-26FD9A8A4043}"/>
              </a:ext>
            </a:extLst>
          </p:cNvPr>
          <p:cNvGrpSpPr/>
          <p:nvPr/>
        </p:nvGrpSpPr>
        <p:grpSpPr>
          <a:xfrm>
            <a:off x="1396120" y="1320091"/>
            <a:ext cx="6973326" cy="1166176"/>
            <a:chOff x="888120" y="1320090"/>
            <a:chExt cx="6973326" cy="1166176"/>
          </a:xfrm>
        </p:grpSpPr>
        <p:sp>
          <p:nvSpPr>
            <p:cNvPr id="4" name="Forme libre : forme 3">
              <a:extLst>
                <a:ext uri="{FF2B5EF4-FFF2-40B4-BE49-F238E27FC236}">
                  <a16:creationId xmlns:a16="http://schemas.microsoft.com/office/drawing/2014/main" id="{B077D947-FE6E-4AF7-9B0D-1E8A4B925A76}"/>
                </a:ext>
              </a:extLst>
            </p:cNvPr>
            <p:cNvSpPr/>
            <p:nvPr/>
          </p:nvSpPr>
          <p:spPr>
            <a:xfrm>
              <a:off x="888120" y="1320090"/>
              <a:ext cx="1627346" cy="1141432"/>
            </a:xfrm>
            <a:custGeom>
              <a:avLst/>
              <a:gdLst>
                <a:gd name="connsiteX0" fmla="*/ 0 w 1627346"/>
                <a:gd name="connsiteY0" fmla="*/ 114143 h 1141432"/>
                <a:gd name="connsiteX1" fmla="*/ 114143 w 1627346"/>
                <a:gd name="connsiteY1" fmla="*/ 0 h 1141432"/>
                <a:gd name="connsiteX2" fmla="*/ 1513203 w 1627346"/>
                <a:gd name="connsiteY2" fmla="*/ 0 h 1141432"/>
                <a:gd name="connsiteX3" fmla="*/ 1627346 w 1627346"/>
                <a:gd name="connsiteY3" fmla="*/ 114143 h 1141432"/>
                <a:gd name="connsiteX4" fmla="*/ 1627346 w 1627346"/>
                <a:gd name="connsiteY4" fmla="*/ 1027289 h 1141432"/>
                <a:gd name="connsiteX5" fmla="*/ 1513203 w 1627346"/>
                <a:gd name="connsiteY5" fmla="*/ 1141432 h 1141432"/>
                <a:gd name="connsiteX6" fmla="*/ 114143 w 1627346"/>
                <a:gd name="connsiteY6" fmla="*/ 1141432 h 1141432"/>
                <a:gd name="connsiteX7" fmla="*/ 0 w 1627346"/>
                <a:gd name="connsiteY7" fmla="*/ 1027289 h 1141432"/>
                <a:gd name="connsiteX8" fmla="*/ 0 w 1627346"/>
                <a:gd name="connsiteY8" fmla="*/ 114143 h 114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7346" h="1141432">
                  <a:moveTo>
                    <a:pt x="0" y="114143"/>
                  </a:moveTo>
                  <a:cubicBezTo>
                    <a:pt x="0" y="51104"/>
                    <a:pt x="51104" y="0"/>
                    <a:pt x="114143" y="0"/>
                  </a:cubicBezTo>
                  <a:lnTo>
                    <a:pt x="1513203" y="0"/>
                  </a:lnTo>
                  <a:cubicBezTo>
                    <a:pt x="1576242" y="0"/>
                    <a:pt x="1627346" y="51104"/>
                    <a:pt x="1627346" y="114143"/>
                  </a:cubicBezTo>
                  <a:lnTo>
                    <a:pt x="1627346" y="1027289"/>
                  </a:lnTo>
                  <a:cubicBezTo>
                    <a:pt x="1627346" y="1090328"/>
                    <a:pt x="1576242" y="1141432"/>
                    <a:pt x="1513203" y="1141432"/>
                  </a:cubicBezTo>
                  <a:lnTo>
                    <a:pt x="114143" y="1141432"/>
                  </a:lnTo>
                  <a:cubicBezTo>
                    <a:pt x="51104" y="1141432"/>
                    <a:pt x="0" y="1090328"/>
                    <a:pt x="0" y="1027289"/>
                  </a:cubicBezTo>
                  <a:lnTo>
                    <a:pt x="0" y="11414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128" tIns="135128" rIns="135128" bIns="943486" numCol="1" spcCol="1270" anchor="t" anchorCtr="0">
              <a:noAutofit/>
            </a:bodyPr>
            <a:lstStyle/>
            <a:p>
              <a:pPr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CA" sz="1900"/>
                <a:t>Avant la séance</a:t>
              </a:r>
              <a:endParaRPr lang="fr-CA" sz="1900" dirty="0"/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9B39F903-FEA4-4308-808E-E63F442F635F}"/>
                </a:ext>
              </a:extLst>
            </p:cNvPr>
            <p:cNvSpPr/>
            <p:nvPr/>
          </p:nvSpPr>
          <p:spPr>
            <a:xfrm rot="21569616">
              <a:off x="2778088" y="1569871"/>
              <a:ext cx="555419" cy="405162"/>
            </a:xfrm>
            <a:custGeom>
              <a:avLst/>
              <a:gdLst>
                <a:gd name="connsiteX0" fmla="*/ 0 w 555419"/>
                <a:gd name="connsiteY0" fmla="*/ 81032 h 405162"/>
                <a:gd name="connsiteX1" fmla="*/ 352838 w 555419"/>
                <a:gd name="connsiteY1" fmla="*/ 81032 h 405162"/>
                <a:gd name="connsiteX2" fmla="*/ 352838 w 555419"/>
                <a:gd name="connsiteY2" fmla="*/ 0 h 405162"/>
                <a:gd name="connsiteX3" fmla="*/ 555419 w 555419"/>
                <a:gd name="connsiteY3" fmla="*/ 202581 h 405162"/>
                <a:gd name="connsiteX4" fmla="*/ 352838 w 555419"/>
                <a:gd name="connsiteY4" fmla="*/ 405162 h 405162"/>
                <a:gd name="connsiteX5" fmla="*/ 352838 w 555419"/>
                <a:gd name="connsiteY5" fmla="*/ 324130 h 405162"/>
                <a:gd name="connsiteX6" fmla="*/ 0 w 555419"/>
                <a:gd name="connsiteY6" fmla="*/ 324130 h 405162"/>
                <a:gd name="connsiteX7" fmla="*/ 0 w 555419"/>
                <a:gd name="connsiteY7" fmla="*/ 81032 h 405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5419" h="405162">
                  <a:moveTo>
                    <a:pt x="0" y="81032"/>
                  </a:moveTo>
                  <a:lnTo>
                    <a:pt x="352838" y="81032"/>
                  </a:lnTo>
                  <a:lnTo>
                    <a:pt x="352838" y="0"/>
                  </a:lnTo>
                  <a:lnTo>
                    <a:pt x="555419" y="202581"/>
                  </a:lnTo>
                  <a:lnTo>
                    <a:pt x="352838" y="405162"/>
                  </a:lnTo>
                  <a:lnTo>
                    <a:pt x="352838" y="324130"/>
                  </a:lnTo>
                  <a:lnTo>
                    <a:pt x="0" y="324130"/>
                  </a:lnTo>
                  <a:lnTo>
                    <a:pt x="0" y="8103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-1" tIns="81031" rIns="121549" bIns="81032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fr-CA" sz="900" dirty="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B6048638-C01C-4073-8165-689B8EC0994B}"/>
                </a:ext>
              </a:extLst>
            </p:cNvPr>
            <p:cNvSpPr/>
            <p:nvPr/>
          </p:nvSpPr>
          <p:spPr>
            <a:xfrm>
              <a:off x="3563387" y="1320090"/>
              <a:ext cx="1627346" cy="1141432"/>
            </a:xfrm>
            <a:custGeom>
              <a:avLst/>
              <a:gdLst>
                <a:gd name="connsiteX0" fmla="*/ 0 w 1627346"/>
                <a:gd name="connsiteY0" fmla="*/ 162735 h 1771200"/>
                <a:gd name="connsiteX1" fmla="*/ 162735 w 1627346"/>
                <a:gd name="connsiteY1" fmla="*/ 0 h 1771200"/>
                <a:gd name="connsiteX2" fmla="*/ 1464611 w 1627346"/>
                <a:gd name="connsiteY2" fmla="*/ 0 h 1771200"/>
                <a:gd name="connsiteX3" fmla="*/ 1627346 w 1627346"/>
                <a:gd name="connsiteY3" fmla="*/ 162735 h 1771200"/>
                <a:gd name="connsiteX4" fmla="*/ 1627346 w 1627346"/>
                <a:gd name="connsiteY4" fmla="*/ 1608465 h 1771200"/>
                <a:gd name="connsiteX5" fmla="*/ 1464611 w 1627346"/>
                <a:gd name="connsiteY5" fmla="*/ 1771200 h 1771200"/>
                <a:gd name="connsiteX6" fmla="*/ 162735 w 1627346"/>
                <a:gd name="connsiteY6" fmla="*/ 1771200 h 1771200"/>
                <a:gd name="connsiteX7" fmla="*/ 0 w 1627346"/>
                <a:gd name="connsiteY7" fmla="*/ 1608465 h 1771200"/>
                <a:gd name="connsiteX8" fmla="*/ 0 w 1627346"/>
                <a:gd name="connsiteY8" fmla="*/ 162735 h 177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7346" h="1771200">
                  <a:moveTo>
                    <a:pt x="0" y="162735"/>
                  </a:moveTo>
                  <a:cubicBezTo>
                    <a:pt x="0" y="72859"/>
                    <a:pt x="72859" y="0"/>
                    <a:pt x="162735" y="0"/>
                  </a:cubicBezTo>
                  <a:lnTo>
                    <a:pt x="1464611" y="0"/>
                  </a:lnTo>
                  <a:cubicBezTo>
                    <a:pt x="1554487" y="0"/>
                    <a:pt x="1627346" y="72859"/>
                    <a:pt x="1627346" y="162735"/>
                  </a:cubicBezTo>
                  <a:lnTo>
                    <a:pt x="1627346" y="1608465"/>
                  </a:lnTo>
                  <a:cubicBezTo>
                    <a:pt x="1627346" y="1698341"/>
                    <a:pt x="1554487" y="1771200"/>
                    <a:pt x="1464611" y="1771200"/>
                  </a:cubicBezTo>
                  <a:lnTo>
                    <a:pt x="162735" y="1771200"/>
                  </a:lnTo>
                  <a:cubicBezTo>
                    <a:pt x="72859" y="1771200"/>
                    <a:pt x="0" y="1698341"/>
                    <a:pt x="0" y="1608465"/>
                  </a:cubicBezTo>
                  <a:lnTo>
                    <a:pt x="0" y="16273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3550747"/>
                <a:satOff val="-6611"/>
                <a:lumOff val="11177"/>
                <a:alphaOff val="0"/>
              </a:schemeClr>
            </a:fillRef>
            <a:effectRef idx="0">
              <a:schemeClr val="accent2">
                <a:hueOff val="3550747"/>
                <a:satOff val="-6611"/>
                <a:lumOff val="1117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128" tIns="135128" rIns="135128" bIns="1192652" numCol="1" spcCol="1270" anchor="t" anchorCtr="0">
              <a:noAutofit/>
            </a:bodyPr>
            <a:lstStyle/>
            <a:p>
              <a:pPr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CA" sz="1900"/>
                <a:t>Durant la séance</a:t>
              </a:r>
              <a:endParaRPr lang="fr-CA" sz="1900" dirty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7F756F14-0EC0-4696-9309-5D0EBCB9A0D4}"/>
                </a:ext>
              </a:extLst>
            </p:cNvPr>
            <p:cNvSpPr/>
            <p:nvPr/>
          </p:nvSpPr>
          <p:spPr>
            <a:xfrm>
              <a:off x="5418833" y="1560305"/>
              <a:ext cx="552984" cy="405162"/>
            </a:xfrm>
            <a:custGeom>
              <a:avLst/>
              <a:gdLst>
                <a:gd name="connsiteX0" fmla="*/ 0 w 552984"/>
                <a:gd name="connsiteY0" fmla="*/ 81032 h 405162"/>
                <a:gd name="connsiteX1" fmla="*/ 350403 w 552984"/>
                <a:gd name="connsiteY1" fmla="*/ 81032 h 405162"/>
                <a:gd name="connsiteX2" fmla="*/ 350403 w 552984"/>
                <a:gd name="connsiteY2" fmla="*/ 0 h 405162"/>
                <a:gd name="connsiteX3" fmla="*/ 552984 w 552984"/>
                <a:gd name="connsiteY3" fmla="*/ 202581 h 405162"/>
                <a:gd name="connsiteX4" fmla="*/ 350403 w 552984"/>
                <a:gd name="connsiteY4" fmla="*/ 405162 h 405162"/>
                <a:gd name="connsiteX5" fmla="*/ 350403 w 552984"/>
                <a:gd name="connsiteY5" fmla="*/ 324130 h 405162"/>
                <a:gd name="connsiteX6" fmla="*/ 0 w 552984"/>
                <a:gd name="connsiteY6" fmla="*/ 324130 h 405162"/>
                <a:gd name="connsiteX7" fmla="*/ 0 w 552984"/>
                <a:gd name="connsiteY7" fmla="*/ 81032 h 405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2984" h="405162">
                  <a:moveTo>
                    <a:pt x="0" y="81032"/>
                  </a:moveTo>
                  <a:lnTo>
                    <a:pt x="350403" y="81032"/>
                  </a:lnTo>
                  <a:lnTo>
                    <a:pt x="350403" y="0"/>
                  </a:lnTo>
                  <a:lnTo>
                    <a:pt x="552984" y="202581"/>
                  </a:lnTo>
                  <a:lnTo>
                    <a:pt x="350403" y="405162"/>
                  </a:lnTo>
                  <a:lnTo>
                    <a:pt x="350403" y="324130"/>
                  </a:lnTo>
                  <a:lnTo>
                    <a:pt x="0" y="324130"/>
                  </a:lnTo>
                  <a:lnTo>
                    <a:pt x="0" y="8103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7101495"/>
                <a:satOff val="-13222"/>
                <a:lumOff val="22354"/>
                <a:alphaOff val="0"/>
              </a:schemeClr>
            </a:fillRef>
            <a:effectRef idx="0">
              <a:schemeClr val="accent2">
                <a:hueOff val="7101495"/>
                <a:satOff val="-13222"/>
                <a:lumOff val="2235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81032" rIns="121549" bIns="81032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fr-CA" sz="900" dirty="0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34C0F2F4-E43F-4225-8F1F-45825E5D41AB}"/>
                </a:ext>
              </a:extLst>
            </p:cNvPr>
            <p:cNvSpPr/>
            <p:nvPr/>
          </p:nvSpPr>
          <p:spPr>
            <a:xfrm>
              <a:off x="6234100" y="1345066"/>
              <a:ext cx="1627346" cy="1141200"/>
            </a:xfrm>
            <a:custGeom>
              <a:avLst/>
              <a:gdLst>
                <a:gd name="connsiteX0" fmla="*/ 0 w 1627346"/>
                <a:gd name="connsiteY0" fmla="*/ 162735 h 1771200"/>
                <a:gd name="connsiteX1" fmla="*/ 162735 w 1627346"/>
                <a:gd name="connsiteY1" fmla="*/ 0 h 1771200"/>
                <a:gd name="connsiteX2" fmla="*/ 1464611 w 1627346"/>
                <a:gd name="connsiteY2" fmla="*/ 0 h 1771200"/>
                <a:gd name="connsiteX3" fmla="*/ 1627346 w 1627346"/>
                <a:gd name="connsiteY3" fmla="*/ 162735 h 1771200"/>
                <a:gd name="connsiteX4" fmla="*/ 1627346 w 1627346"/>
                <a:gd name="connsiteY4" fmla="*/ 1608465 h 1771200"/>
                <a:gd name="connsiteX5" fmla="*/ 1464611 w 1627346"/>
                <a:gd name="connsiteY5" fmla="*/ 1771200 h 1771200"/>
                <a:gd name="connsiteX6" fmla="*/ 162735 w 1627346"/>
                <a:gd name="connsiteY6" fmla="*/ 1771200 h 1771200"/>
                <a:gd name="connsiteX7" fmla="*/ 0 w 1627346"/>
                <a:gd name="connsiteY7" fmla="*/ 1608465 h 1771200"/>
                <a:gd name="connsiteX8" fmla="*/ 0 w 1627346"/>
                <a:gd name="connsiteY8" fmla="*/ 162735 h 177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7346" h="1771200">
                  <a:moveTo>
                    <a:pt x="0" y="162735"/>
                  </a:moveTo>
                  <a:cubicBezTo>
                    <a:pt x="0" y="72859"/>
                    <a:pt x="72859" y="0"/>
                    <a:pt x="162735" y="0"/>
                  </a:cubicBezTo>
                  <a:lnTo>
                    <a:pt x="1464611" y="0"/>
                  </a:lnTo>
                  <a:cubicBezTo>
                    <a:pt x="1554487" y="0"/>
                    <a:pt x="1627346" y="72859"/>
                    <a:pt x="1627346" y="162735"/>
                  </a:cubicBezTo>
                  <a:lnTo>
                    <a:pt x="1627346" y="1608465"/>
                  </a:lnTo>
                  <a:cubicBezTo>
                    <a:pt x="1627346" y="1698341"/>
                    <a:pt x="1554487" y="1771200"/>
                    <a:pt x="1464611" y="1771200"/>
                  </a:cubicBezTo>
                  <a:lnTo>
                    <a:pt x="162735" y="1771200"/>
                  </a:lnTo>
                  <a:cubicBezTo>
                    <a:pt x="72859" y="1771200"/>
                    <a:pt x="0" y="1698341"/>
                    <a:pt x="0" y="1608465"/>
                  </a:cubicBezTo>
                  <a:lnTo>
                    <a:pt x="0" y="16273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7101495"/>
                <a:satOff val="-13222"/>
                <a:lumOff val="22354"/>
                <a:alphaOff val="0"/>
              </a:schemeClr>
            </a:fillRef>
            <a:effectRef idx="0">
              <a:schemeClr val="accent2">
                <a:hueOff val="7101495"/>
                <a:satOff val="-13222"/>
                <a:lumOff val="2235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128" tIns="135128" rIns="135128" bIns="1192652" numCol="1" spcCol="1270" anchor="t" anchorCtr="0">
              <a:noAutofit/>
            </a:bodyPr>
            <a:lstStyle/>
            <a:p>
              <a:pPr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CA" sz="1900"/>
                <a:t>Après la séance</a:t>
              </a:r>
              <a:endParaRPr lang="fr-CA" sz="1900" dirty="0"/>
            </a:p>
          </p:txBody>
        </p:sp>
      </p:grpSp>
      <p:pic>
        <p:nvPicPr>
          <p:cNvPr id="9" name="Graphique 8" descr="Présentation avec média">
            <a:extLst>
              <a:ext uri="{FF2B5EF4-FFF2-40B4-BE49-F238E27FC236}">
                <a16:creationId xmlns:a16="http://schemas.microsoft.com/office/drawing/2014/main" id="{0A02F684-D767-4811-9105-36FD793C2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1498" y="3874055"/>
            <a:ext cx="576123" cy="576123"/>
          </a:xfrm>
          <a:prstGeom prst="rect">
            <a:avLst/>
          </a:prstGeom>
        </p:spPr>
      </p:pic>
      <p:pic>
        <p:nvPicPr>
          <p:cNvPr id="11" name="Graphique 10" descr="Livre ouvert">
            <a:extLst>
              <a:ext uri="{FF2B5EF4-FFF2-40B4-BE49-F238E27FC236}">
                <a16:creationId xmlns:a16="http://schemas.microsoft.com/office/drawing/2014/main" id="{4DAD2BDC-0E43-4C00-8726-FA2F7835DB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00257" y="3874053"/>
            <a:ext cx="576720" cy="57672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C647A85-5780-4964-9CF8-C1071386BDDB}"/>
              </a:ext>
            </a:extLst>
          </p:cNvPr>
          <p:cNvSpPr txBox="1"/>
          <p:nvPr/>
        </p:nvSpPr>
        <p:spPr>
          <a:xfrm>
            <a:off x="1512889" y="4469730"/>
            <a:ext cx="1041746" cy="822960"/>
          </a:xfrm>
          <a:prstGeom prst="rect">
            <a:avLst/>
          </a:prstGeom>
        </p:spPr>
        <p:txBody>
          <a:bodyPr vert="horz" wrap="square" lIns="82296" tIns="41148" rIns="82296" bIns="41148" rtlCol="0">
            <a:norm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350">
                <a:solidFill>
                  <a:schemeClr val="bg2">
                    <a:lumMod val="10000"/>
                  </a:schemeClr>
                </a:solidFill>
              </a:rPr>
              <a:t>L’étudiant regarde les vidéos</a:t>
            </a:r>
            <a:endParaRPr lang="fr-CA" sz="13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4A7A02F-A3B4-4041-B8C1-5DC62E1E6FAB}"/>
              </a:ext>
            </a:extLst>
          </p:cNvPr>
          <p:cNvSpPr txBox="1"/>
          <p:nvPr/>
        </p:nvSpPr>
        <p:spPr>
          <a:xfrm>
            <a:off x="2467746" y="4470067"/>
            <a:ext cx="1166963" cy="1058789"/>
          </a:xfrm>
          <a:prstGeom prst="rect">
            <a:avLst/>
          </a:prstGeom>
        </p:spPr>
        <p:txBody>
          <a:bodyPr vert="horz" wrap="square" lIns="82296" tIns="41148" rIns="82296" bIns="41148" rtlCol="0">
            <a:norm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350">
                <a:solidFill>
                  <a:schemeClr val="bg2">
                    <a:lumMod val="10000"/>
                  </a:schemeClr>
                </a:solidFill>
              </a:rPr>
              <a:t>L’étudiant lit les chapitres du livre</a:t>
            </a:r>
          </a:p>
          <a:p>
            <a:pPr algn="ctr">
              <a:buClr>
                <a:schemeClr val="accent2"/>
              </a:buClr>
              <a:buSzPct val="125000"/>
            </a:pPr>
            <a:endParaRPr lang="fr-CA" sz="135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8" name="Graphique 17" descr="Présentation avec graphique à barres">
            <a:extLst>
              <a:ext uri="{FF2B5EF4-FFF2-40B4-BE49-F238E27FC236}">
                <a16:creationId xmlns:a16="http://schemas.microsoft.com/office/drawing/2014/main" id="{E2CB9D2E-2FDD-495B-B9DC-AF57FC666A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1587" y="3882013"/>
            <a:ext cx="576720" cy="576720"/>
          </a:xfrm>
          <a:prstGeom prst="rect">
            <a:avLst/>
          </a:prstGeom>
        </p:spPr>
      </p:pic>
      <p:pic>
        <p:nvPicPr>
          <p:cNvPr id="20" name="Graphique 19" descr="Avis des clients (droite à gauche)">
            <a:extLst>
              <a:ext uri="{FF2B5EF4-FFF2-40B4-BE49-F238E27FC236}">
                <a16:creationId xmlns:a16="http://schemas.microsoft.com/office/drawing/2014/main" id="{70CEC12B-B65B-465A-A1B7-ADAC5840D0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9198" y="3882013"/>
            <a:ext cx="576720" cy="576720"/>
          </a:xfrm>
          <a:prstGeom prst="rect">
            <a:avLst/>
          </a:prstGeom>
        </p:spPr>
      </p:pic>
      <p:pic>
        <p:nvPicPr>
          <p:cNvPr id="22" name="Graphique 21" descr="Présentation avec liste de vérification">
            <a:extLst>
              <a:ext uri="{FF2B5EF4-FFF2-40B4-BE49-F238E27FC236}">
                <a16:creationId xmlns:a16="http://schemas.microsoft.com/office/drawing/2014/main" id="{8E42B5E8-BECB-4542-B19E-D41CC4BAEC8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72261" y="3863056"/>
            <a:ext cx="576720" cy="57672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C0F751D-B158-4604-BFD4-876EA1AAE8FF}"/>
              </a:ext>
            </a:extLst>
          </p:cNvPr>
          <p:cNvSpPr txBox="1"/>
          <p:nvPr/>
        </p:nvSpPr>
        <p:spPr>
          <a:xfrm>
            <a:off x="3742129" y="4491846"/>
            <a:ext cx="1236987" cy="822960"/>
          </a:xfrm>
          <a:prstGeom prst="rect">
            <a:avLst/>
          </a:prstGeom>
        </p:spPr>
        <p:txBody>
          <a:bodyPr vert="horz" wrap="square" lIns="82296" tIns="41148" rIns="82296" bIns="41148" rtlCol="0">
            <a:no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350">
                <a:solidFill>
                  <a:schemeClr val="bg2">
                    <a:lumMod val="10000"/>
                  </a:schemeClr>
                </a:solidFill>
              </a:rPr>
              <a:t>L’enseignant démontre et explique</a:t>
            </a:r>
            <a:endParaRPr lang="fr-CA" sz="13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730EEEA-95FB-4A5C-8276-1DA176C7E7DA}"/>
              </a:ext>
            </a:extLst>
          </p:cNvPr>
          <p:cNvSpPr txBox="1"/>
          <p:nvPr/>
        </p:nvSpPr>
        <p:spPr>
          <a:xfrm>
            <a:off x="5779076" y="4479272"/>
            <a:ext cx="1041745" cy="695716"/>
          </a:xfrm>
          <a:prstGeom prst="rect">
            <a:avLst/>
          </a:prstGeom>
        </p:spPr>
        <p:txBody>
          <a:bodyPr vert="horz" wrap="square" lIns="82296" tIns="41148" rIns="82296" bIns="41148" rtlCol="0">
            <a:no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350">
                <a:solidFill>
                  <a:schemeClr val="bg2">
                    <a:lumMod val="10000"/>
                  </a:schemeClr>
                </a:solidFill>
              </a:rPr>
              <a:t>Les étudiants travaillent en équipe</a:t>
            </a:r>
            <a:endParaRPr lang="fr-CA" sz="13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ED6AC39-164A-477E-A9B7-5B510903C997}"/>
              </a:ext>
            </a:extLst>
          </p:cNvPr>
          <p:cNvSpPr txBox="1"/>
          <p:nvPr/>
        </p:nvSpPr>
        <p:spPr>
          <a:xfrm>
            <a:off x="4909014" y="4491846"/>
            <a:ext cx="988350" cy="875030"/>
          </a:xfrm>
          <a:prstGeom prst="rect">
            <a:avLst/>
          </a:prstGeom>
        </p:spPr>
        <p:txBody>
          <a:bodyPr vert="horz" wrap="square" lIns="82296" tIns="41148" rIns="82296" bIns="41148" rtlCol="0">
            <a:normAutofit lnSpcReduction="10000"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350">
                <a:solidFill>
                  <a:schemeClr val="bg2">
                    <a:lumMod val="10000"/>
                  </a:schemeClr>
                </a:solidFill>
              </a:rPr>
              <a:t>L’étudiant participe de façon active</a:t>
            </a:r>
            <a:endParaRPr lang="fr-CA" sz="135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27" name="Graphique 26" descr="Cible">
            <a:extLst>
              <a:ext uri="{FF2B5EF4-FFF2-40B4-BE49-F238E27FC236}">
                <a16:creationId xmlns:a16="http://schemas.microsoft.com/office/drawing/2014/main" id="{85CE9439-8AB0-4F77-9912-A2EB0EA056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62703" y="3872471"/>
            <a:ext cx="576720" cy="576720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59924805-9A5F-4D1F-B511-5A3A034ED8C9}"/>
              </a:ext>
            </a:extLst>
          </p:cNvPr>
          <p:cNvSpPr txBox="1"/>
          <p:nvPr/>
        </p:nvSpPr>
        <p:spPr>
          <a:xfrm>
            <a:off x="7848497" y="4493471"/>
            <a:ext cx="1041745" cy="722731"/>
          </a:xfrm>
          <a:prstGeom prst="rect">
            <a:avLst/>
          </a:prstGeom>
        </p:spPr>
        <p:txBody>
          <a:bodyPr vert="horz" wrap="square" lIns="82296" tIns="41148" rIns="82296" bIns="41148" rtlCol="0">
            <a:no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350">
                <a:solidFill>
                  <a:schemeClr val="bg2">
                    <a:lumMod val="10000"/>
                  </a:schemeClr>
                </a:solidFill>
              </a:rPr>
              <a:t>Exercices résolus du livre</a:t>
            </a:r>
            <a:endParaRPr lang="fr-CA" sz="135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026" name="Picture 2" descr="Desk, examination, man, school, student, study, writing ...">
            <a:extLst>
              <a:ext uri="{FF2B5EF4-FFF2-40B4-BE49-F238E27FC236}">
                <a16:creationId xmlns:a16="http://schemas.microsoft.com/office/drawing/2014/main" id="{2B87F0B7-CCBC-4B31-AADD-BBB603288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498" y="3893010"/>
            <a:ext cx="545180" cy="57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F3FBD00B-592B-4C7E-8C4F-B6AD0AC10E64}"/>
              </a:ext>
            </a:extLst>
          </p:cNvPr>
          <p:cNvSpPr txBox="1"/>
          <p:nvPr/>
        </p:nvSpPr>
        <p:spPr>
          <a:xfrm>
            <a:off x="6992811" y="4492499"/>
            <a:ext cx="1041745" cy="695716"/>
          </a:xfrm>
          <a:prstGeom prst="rect">
            <a:avLst/>
          </a:prstGeom>
        </p:spPr>
        <p:txBody>
          <a:bodyPr vert="horz" wrap="square" lIns="82296" tIns="41148" rIns="82296" bIns="41148" rtlCol="0">
            <a:no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350">
                <a:solidFill>
                  <a:schemeClr val="bg2">
                    <a:lumMod val="10000"/>
                  </a:schemeClr>
                </a:solidFill>
              </a:rPr>
              <a:t>L’étudiant pratique à la maison</a:t>
            </a:r>
            <a:endParaRPr lang="fr-CA" sz="13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EFA74710-8FD9-47B0-864A-F4B3D16EB7A6}"/>
              </a:ext>
            </a:extLst>
          </p:cNvPr>
          <p:cNvSpPr/>
          <p:nvPr/>
        </p:nvSpPr>
        <p:spPr>
          <a:xfrm>
            <a:off x="1610512" y="2259765"/>
            <a:ext cx="1933866" cy="1430361"/>
          </a:xfrm>
          <a:custGeom>
            <a:avLst/>
            <a:gdLst>
              <a:gd name="connsiteX0" fmla="*/ 0 w 1933866"/>
              <a:gd name="connsiteY0" fmla="*/ 122004 h 1220035"/>
              <a:gd name="connsiteX1" fmla="*/ 122004 w 1933866"/>
              <a:gd name="connsiteY1" fmla="*/ 0 h 1220035"/>
              <a:gd name="connsiteX2" fmla="*/ 1811863 w 1933866"/>
              <a:gd name="connsiteY2" fmla="*/ 0 h 1220035"/>
              <a:gd name="connsiteX3" fmla="*/ 1933867 w 1933866"/>
              <a:gd name="connsiteY3" fmla="*/ 122004 h 1220035"/>
              <a:gd name="connsiteX4" fmla="*/ 1933866 w 1933866"/>
              <a:gd name="connsiteY4" fmla="*/ 1098032 h 1220035"/>
              <a:gd name="connsiteX5" fmla="*/ 1811862 w 1933866"/>
              <a:gd name="connsiteY5" fmla="*/ 1220036 h 1220035"/>
              <a:gd name="connsiteX6" fmla="*/ 122004 w 1933866"/>
              <a:gd name="connsiteY6" fmla="*/ 1220035 h 1220035"/>
              <a:gd name="connsiteX7" fmla="*/ 0 w 1933866"/>
              <a:gd name="connsiteY7" fmla="*/ 1098031 h 1220035"/>
              <a:gd name="connsiteX8" fmla="*/ 0 w 1933866"/>
              <a:gd name="connsiteY8" fmla="*/ 122004 h 122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3866" h="1220035">
                <a:moveTo>
                  <a:pt x="0" y="122004"/>
                </a:moveTo>
                <a:cubicBezTo>
                  <a:pt x="0" y="54623"/>
                  <a:pt x="54623" y="0"/>
                  <a:pt x="122004" y="0"/>
                </a:cubicBezTo>
                <a:lnTo>
                  <a:pt x="1811863" y="0"/>
                </a:lnTo>
                <a:cubicBezTo>
                  <a:pt x="1879244" y="0"/>
                  <a:pt x="1933867" y="54623"/>
                  <a:pt x="1933867" y="122004"/>
                </a:cubicBezTo>
                <a:cubicBezTo>
                  <a:pt x="1933867" y="447347"/>
                  <a:pt x="1933866" y="772689"/>
                  <a:pt x="1933866" y="1098032"/>
                </a:cubicBezTo>
                <a:cubicBezTo>
                  <a:pt x="1933866" y="1165413"/>
                  <a:pt x="1879243" y="1220036"/>
                  <a:pt x="1811862" y="1220036"/>
                </a:cubicBezTo>
                <a:lnTo>
                  <a:pt x="122004" y="1220035"/>
                </a:lnTo>
                <a:cubicBezTo>
                  <a:pt x="54623" y="1220035"/>
                  <a:pt x="0" y="1165412"/>
                  <a:pt x="0" y="1098031"/>
                </a:cubicBezTo>
                <a:lnTo>
                  <a:pt x="0" y="122004"/>
                </a:lnTo>
                <a:close/>
              </a:path>
            </a:pathLst>
          </a:cu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26" tIns="149526" rIns="149526" bIns="149526" numCol="1" spcCol="1270" anchor="t" anchorCtr="0">
            <a:noAutofit/>
          </a:bodyPr>
          <a:lstStyle/>
          <a:p>
            <a:pPr marL="171450" lvl="1" indent="-171450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CA" sz="1600"/>
              <a:t>Maîtrise des concepts à la maison</a:t>
            </a:r>
            <a:endParaRPr lang="fr-CA" sz="1600" dirty="0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1C0DEDC0-6311-4A4D-9C33-1CEDBE9277B5}"/>
              </a:ext>
            </a:extLst>
          </p:cNvPr>
          <p:cNvSpPr/>
          <p:nvPr/>
        </p:nvSpPr>
        <p:spPr>
          <a:xfrm>
            <a:off x="4286551" y="2303473"/>
            <a:ext cx="1933866" cy="1429200"/>
          </a:xfrm>
          <a:custGeom>
            <a:avLst/>
            <a:gdLst>
              <a:gd name="connsiteX0" fmla="*/ 0 w 1933866"/>
              <a:gd name="connsiteY0" fmla="*/ 122004 h 1220035"/>
              <a:gd name="connsiteX1" fmla="*/ 122004 w 1933866"/>
              <a:gd name="connsiteY1" fmla="*/ 0 h 1220035"/>
              <a:gd name="connsiteX2" fmla="*/ 1811863 w 1933866"/>
              <a:gd name="connsiteY2" fmla="*/ 0 h 1220035"/>
              <a:gd name="connsiteX3" fmla="*/ 1933867 w 1933866"/>
              <a:gd name="connsiteY3" fmla="*/ 122004 h 1220035"/>
              <a:gd name="connsiteX4" fmla="*/ 1933866 w 1933866"/>
              <a:gd name="connsiteY4" fmla="*/ 1098032 h 1220035"/>
              <a:gd name="connsiteX5" fmla="*/ 1811862 w 1933866"/>
              <a:gd name="connsiteY5" fmla="*/ 1220036 h 1220035"/>
              <a:gd name="connsiteX6" fmla="*/ 122004 w 1933866"/>
              <a:gd name="connsiteY6" fmla="*/ 1220035 h 1220035"/>
              <a:gd name="connsiteX7" fmla="*/ 0 w 1933866"/>
              <a:gd name="connsiteY7" fmla="*/ 1098031 h 1220035"/>
              <a:gd name="connsiteX8" fmla="*/ 0 w 1933866"/>
              <a:gd name="connsiteY8" fmla="*/ 122004 h 122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3866" h="1220035">
                <a:moveTo>
                  <a:pt x="0" y="122004"/>
                </a:moveTo>
                <a:cubicBezTo>
                  <a:pt x="0" y="54623"/>
                  <a:pt x="54623" y="0"/>
                  <a:pt x="122004" y="0"/>
                </a:cubicBezTo>
                <a:lnTo>
                  <a:pt x="1811863" y="0"/>
                </a:lnTo>
                <a:cubicBezTo>
                  <a:pt x="1879244" y="0"/>
                  <a:pt x="1933867" y="54623"/>
                  <a:pt x="1933867" y="122004"/>
                </a:cubicBezTo>
                <a:cubicBezTo>
                  <a:pt x="1933867" y="447347"/>
                  <a:pt x="1933866" y="772689"/>
                  <a:pt x="1933866" y="1098032"/>
                </a:cubicBezTo>
                <a:cubicBezTo>
                  <a:pt x="1933866" y="1165413"/>
                  <a:pt x="1879243" y="1220036"/>
                  <a:pt x="1811862" y="1220036"/>
                </a:cubicBezTo>
                <a:lnTo>
                  <a:pt x="122004" y="1220035"/>
                </a:lnTo>
                <a:cubicBezTo>
                  <a:pt x="54623" y="1220035"/>
                  <a:pt x="0" y="1165412"/>
                  <a:pt x="0" y="1098031"/>
                </a:cubicBezTo>
                <a:lnTo>
                  <a:pt x="0" y="122004"/>
                </a:lnTo>
                <a:close/>
              </a:path>
            </a:pathLst>
          </a:custGeom>
        </p:spPr>
        <p:style>
          <a:lnRef idx="2">
            <a:schemeClr val="accent2">
              <a:hueOff val="3550747"/>
              <a:satOff val="-6611"/>
              <a:lumOff val="11177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26" tIns="149526" rIns="149526" bIns="149526" numCol="1" spcCol="1270" anchor="t" anchorCtr="0">
            <a:noAutofit/>
          </a:bodyPr>
          <a:lstStyle/>
          <a:p>
            <a:pPr marL="171450" lvl="1" indent="-171450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CA" sz="1600"/>
              <a:t>Consolidation des apprentissages</a:t>
            </a:r>
          </a:p>
          <a:p>
            <a:pPr marL="171450" lvl="1" indent="-171450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CA" sz="1600"/>
              <a:t>Analyse et exercices</a:t>
            </a:r>
            <a:endParaRPr lang="fr-CA" sz="1600" dirty="0"/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90FE487A-E437-4092-8750-ABEE8B37375E}"/>
              </a:ext>
            </a:extLst>
          </p:cNvPr>
          <p:cNvSpPr/>
          <p:nvPr/>
        </p:nvSpPr>
        <p:spPr>
          <a:xfrm>
            <a:off x="6962590" y="2308588"/>
            <a:ext cx="1933866" cy="1429200"/>
          </a:xfrm>
          <a:custGeom>
            <a:avLst/>
            <a:gdLst>
              <a:gd name="connsiteX0" fmla="*/ 0 w 1933866"/>
              <a:gd name="connsiteY0" fmla="*/ 122004 h 1220035"/>
              <a:gd name="connsiteX1" fmla="*/ 122004 w 1933866"/>
              <a:gd name="connsiteY1" fmla="*/ 0 h 1220035"/>
              <a:gd name="connsiteX2" fmla="*/ 1811863 w 1933866"/>
              <a:gd name="connsiteY2" fmla="*/ 0 h 1220035"/>
              <a:gd name="connsiteX3" fmla="*/ 1933867 w 1933866"/>
              <a:gd name="connsiteY3" fmla="*/ 122004 h 1220035"/>
              <a:gd name="connsiteX4" fmla="*/ 1933866 w 1933866"/>
              <a:gd name="connsiteY4" fmla="*/ 1098032 h 1220035"/>
              <a:gd name="connsiteX5" fmla="*/ 1811862 w 1933866"/>
              <a:gd name="connsiteY5" fmla="*/ 1220036 h 1220035"/>
              <a:gd name="connsiteX6" fmla="*/ 122004 w 1933866"/>
              <a:gd name="connsiteY6" fmla="*/ 1220035 h 1220035"/>
              <a:gd name="connsiteX7" fmla="*/ 0 w 1933866"/>
              <a:gd name="connsiteY7" fmla="*/ 1098031 h 1220035"/>
              <a:gd name="connsiteX8" fmla="*/ 0 w 1933866"/>
              <a:gd name="connsiteY8" fmla="*/ 122004 h 122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3866" h="1220035">
                <a:moveTo>
                  <a:pt x="0" y="122004"/>
                </a:moveTo>
                <a:cubicBezTo>
                  <a:pt x="0" y="54623"/>
                  <a:pt x="54623" y="0"/>
                  <a:pt x="122004" y="0"/>
                </a:cubicBezTo>
                <a:lnTo>
                  <a:pt x="1811863" y="0"/>
                </a:lnTo>
                <a:cubicBezTo>
                  <a:pt x="1879244" y="0"/>
                  <a:pt x="1933867" y="54623"/>
                  <a:pt x="1933867" y="122004"/>
                </a:cubicBezTo>
                <a:cubicBezTo>
                  <a:pt x="1933867" y="447347"/>
                  <a:pt x="1933866" y="772689"/>
                  <a:pt x="1933866" y="1098032"/>
                </a:cubicBezTo>
                <a:cubicBezTo>
                  <a:pt x="1933866" y="1165413"/>
                  <a:pt x="1879243" y="1220036"/>
                  <a:pt x="1811862" y="1220036"/>
                </a:cubicBezTo>
                <a:lnTo>
                  <a:pt x="122004" y="1220035"/>
                </a:lnTo>
                <a:cubicBezTo>
                  <a:pt x="54623" y="1220035"/>
                  <a:pt x="0" y="1165412"/>
                  <a:pt x="0" y="1098031"/>
                </a:cubicBezTo>
                <a:lnTo>
                  <a:pt x="0" y="122004"/>
                </a:lnTo>
                <a:close/>
              </a:path>
            </a:pathLst>
          </a:custGeom>
        </p:spPr>
        <p:style>
          <a:lnRef idx="2">
            <a:schemeClr val="accent2">
              <a:hueOff val="7101495"/>
              <a:satOff val="-13222"/>
              <a:lumOff val="22354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26" tIns="149526" rIns="149526" bIns="149526" numCol="1" spcCol="1270" anchor="t" anchorCtr="0">
            <a:noAutofit/>
          </a:bodyPr>
          <a:lstStyle/>
          <a:p>
            <a:pPr marL="171450" lvl="1" indent="-171450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CA" sz="1600"/>
              <a:t>Révision des concepts</a:t>
            </a:r>
            <a:endParaRPr lang="fr-CA" sz="1600" dirty="0"/>
          </a:p>
        </p:txBody>
      </p:sp>
    </p:spTree>
    <p:extLst>
      <p:ext uri="{BB962C8B-B14F-4D97-AF65-F5344CB8AC3E}">
        <p14:creationId xmlns:p14="http://schemas.microsoft.com/office/powerpoint/2010/main" val="312225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9" name="Image 8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8906C563-E5F2-4CC7-9AC3-305B64E40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623" y="1395839"/>
            <a:ext cx="6404372" cy="396122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Zoom de diapositive 3">
                <a:extLst>
                  <a:ext uri="{FF2B5EF4-FFF2-40B4-BE49-F238E27FC236}">
                    <a16:creationId xmlns:a16="http://schemas.microsoft.com/office/drawing/2014/main" id="{912B3932-F69C-4E30-81E1-45B1D52E0D2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65155" y="1608151"/>
              <a:ext cx="1311640" cy="819775"/>
            </p:xfrm>
            <a:graphic>
              <a:graphicData uri="http://schemas.microsoft.com/office/powerpoint/2016/slidezoom">
                <pslz:sldZm>
                  <pslz:sldZmObj sldId="391" cId="95464016">
                    <pslz:zmPr id="{3FEDD2DF-68A0-4010-9ACA-3F25DEB732F6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11640" cy="8197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Zoom de diapositive 3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912B3932-F69C-4E30-81E1-45B1D52E0D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65155" y="1608151"/>
                <a:ext cx="1311640" cy="8197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5332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429496729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" t="33095" r="2837" b="33382"/>
          <a:stretch/>
        </p:blipFill>
        <p:spPr>
          <a:xfrm>
            <a:off x="637881" y="1970150"/>
            <a:ext cx="8753693" cy="2404626"/>
          </a:xfrm>
        </p:spPr>
      </p:pic>
    </p:spTree>
    <p:extLst>
      <p:ext uri="{BB962C8B-B14F-4D97-AF65-F5344CB8AC3E}">
        <p14:creationId xmlns:p14="http://schemas.microsoft.com/office/powerpoint/2010/main" val="9546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attributs stratégiques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975" y="1479968"/>
            <a:ext cx="6090050" cy="342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6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A06D9DF0-8456-4F50-8AA6-7E088C5A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: La Cage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63997F-B991-4517-8B32-1942D768F6D5}"/>
              </a:ext>
            </a:extLst>
          </p:cNvPr>
          <p:cNvSpPr/>
          <p:nvPr/>
        </p:nvSpPr>
        <p:spPr>
          <a:xfrm>
            <a:off x="7583214" y="4910959"/>
            <a:ext cx="2144110" cy="5912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6E429-2705-482F-B778-865F6E497298}"/>
              </a:ext>
            </a:extLst>
          </p:cNvPr>
          <p:cNvSpPr/>
          <p:nvPr/>
        </p:nvSpPr>
        <p:spPr>
          <a:xfrm>
            <a:off x="532000" y="2674497"/>
            <a:ext cx="64968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2000" i="1" dirty="0">
                <a:hlinkClick r:id="rId3"/>
              </a:rPr>
              <a:t>https://www.cage.ca/brasserie-sportive-la-cage</a:t>
            </a:r>
            <a:r>
              <a:rPr lang="fr-CA" sz="2000" i="1" dirty="0"/>
              <a:t>	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0B161D2-FD0E-4C6C-87FA-849A9A538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279" y="3353946"/>
            <a:ext cx="3497722" cy="208708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66A2245-A8AE-4DC6-84A7-4229150BA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99" y="3507601"/>
            <a:ext cx="1915365" cy="1855974"/>
          </a:xfrm>
          <a:prstGeom prst="rect">
            <a:avLst/>
          </a:prstGeom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A66489C7-DB75-46DC-95AB-C495BD8B5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00" y="1590624"/>
            <a:ext cx="7921718" cy="616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Arial" charset="0"/>
              <a:buChar char="●"/>
              <a:defRPr sz="2400">
                <a:solidFill>
                  <a:srgbClr val="185FA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C98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185FAB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  <a:buSzPct val="100000"/>
            </a:pPr>
            <a:r>
              <a:rPr lang="fr-FR" sz="1670" kern="0" dirty="0"/>
              <a:t>Consultez le site de La Cage et analysez les 6 attributs stratégiques</a:t>
            </a:r>
          </a:p>
          <a:p>
            <a:pPr>
              <a:lnSpc>
                <a:spcPct val="80000"/>
              </a:lnSpc>
              <a:buSzPct val="100000"/>
            </a:pPr>
            <a:r>
              <a:rPr lang="fr-FR" sz="1670" kern="0" dirty="0"/>
              <a:t>Selon vous, quel est l’attribut stratégique principal de La Cage? </a:t>
            </a:r>
          </a:p>
          <a:p>
            <a:pPr>
              <a:lnSpc>
                <a:spcPct val="80000"/>
              </a:lnSpc>
              <a:buSzPct val="100000"/>
            </a:pPr>
            <a:r>
              <a:rPr lang="fr-FR" sz="1670" kern="0" dirty="0"/>
              <a:t>Votez à l’aide de </a:t>
            </a:r>
            <a:r>
              <a:rPr lang="fr-FR" sz="1670" b="1" kern="0" dirty="0">
                <a:solidFill>
                  <a:schemeClr val="accent3"/>
                </a:solidFill>
              </a:rPr>
              <a:t>Wooclap</a:t>
            </a:r>
            <a:endParaRPr lang="fr-FR" sz="1670" kern="0" dirty="0"/>
          </a:p>
        </p:txBody>
      </p:sp>
    </p:spTree>
    <p:extLst>
      <p:ext uri="{BB962C8B-B14F-4D97-AF65-F5344CB8AC3E}">
        <p14:creationId xmlns:p14="http://schemas.microsoft.com/office/powerpoint/2010/main" val="496355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Système opérationnel : Entreprises industrielles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355" y="1401113"/>
            <a:ext cx="7896123" cy="3087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Système opérationnel : Entreprises de services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355" y="1407281"/>
            <a:ext cx="7863431" cy="320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03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Caractéristiques d’un bien et d’un service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>
          <a:xfrm>
            <a:off x="1730965" y="1333744"/>
            <a:ext cx="3030141" cy="479822"/>
          </a:xfrm>
        </p:spPr>
        <p:txBody>
          <a:bodyPr/>
          <a:lstStyle/>
          <a:p>
            <a:r>
              <a:rPr lang="fr-CA" dirty="0"/>
              <a:t>Bien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>
          <a:xfrm>
            <a:off x="1685431" y="1813566"/>
            <a:ext cx="3030141" cy="2963466"/>
          </a:xfrm>
        </p:spPr>
        <p:txBody>
          <a:bodyPr/>
          <a:lstStyle/>
          <a:p>
            <a:pPr>
              <a:spcBef>
                <a:spcPts val="225"/>
              </a:spcBef>
              <a:buSzPct val="100000"/>
            </a:pPr>
            <a:r>
              <a:rPr lang="fr-CA" dirty="0">
                <a:latin typeface="Arial" pitchFamily="34" charset="0"/>
                <a:cs typeface="Arial" pitchFamily="34" charset="0"/>
              </a:rPr>
              <a:t>Bien tangible</a:t>
            </a:r>
          </a:p>
          <a:p>
            <a:pPr>
              <a:spcBef>
                <a:spcPts val="225"/>
              </a:spcBef>
              <a:buSzPct val="100000"/>
            </a:pPr>
            <a:r>
              <a:rPr lang="fr-CA" dirty="0">
                <a:latin typeface="Arial" pitchFamily="34" charset="0"/>
                <a:cs typeface="Arial" pitchFamily="34" charset="0"/>
              </a:rPr>
              <a:t>Spécifications concrètes et mesurables</a:t>
            </a:r>
          </a:p>
          <a:p>
            <a:pPr>
              <a:spcBef>
                <a:spcPts val="225"/>
              </a:spcBef>
              <a:buSzPct val="100000"/>
            </a:pPr>
            <a:r>
              <a:rPr lang="fr-CA" dirty="0">
                <a:latin typeface="Arial" pitchFamily="34" charset="0"/>
                <a:cs typeface="Arial" pitchFamily="34" charset="0"/>
              </a:rPr>
              <a:t>Production distincte de la consommation</a:t>
            </a:r>
          </a:p>
          <a:p>
            <a:pPr>
              <a:spcBef>
                <a:spcPts val="225"/>
              </a:spcBef>
              <a:buSzPct val="100000"/>
            </a:pPr>
            <a:r>
              <a:rPr lang="fr-CA" dirty="0">
                <a:latin typeface="Arial" pitchFamily="34" charset="0"/>
                <a:cs typeface="Arial" pitchFamily="34" charset="0"/>
              </a:rPr>
              <a:t>Bien stockable</a:t>
            </a:r>
          </a:p>
          <a:p>
            <a:pPr>
              <a:spcBef>
                <a:spcPts val="225"/>
              </a:spcBef>
              <a:buSzPct val="100000"/>
            </a:pPr>
            <a:r>
              <a:rPr lang="fr-CA" dirty="0">
                <a:latin typeface="Arial" pitchFamily="34" charset="0"/>
                <a:cs typeface="Arial" pitchFamily="34" charset="0"/>
              </a:rPr>
              <a:t>Peu d’interaction avec les clients</a:t>
            </a:r>
          </a:p>
          <a:p>
            <a:endParaRPr lang="fr-CA" dirty="0"/>
          </a:p>
          <a:p>
            <a:endParaRPr lang="fr-CA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>
          <a:xfrm>
            <a:off x="5634342" y="1333744"/>
            <a:ext cx="3031331" cy="479822"/>
          </a:xfrm>
        </p:spPr>
        <p:txBody>
          <a:bodyPr/>
          <a:lstStyle/>
          <a:p>
            <a:r>
              <a:rPr lang="fr-CA" dirty="0"/>
              <a:t>Service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4"/>
          </p:nvPr>
        </p:nvSpPr>
        <p:spPr>
          <a:xfrm>
            <a:off x="5530176" y="1813566"/>
            <a:ext cx="3031331" cy="2963466"/>
          </a:xfrm>
        </p:spPr>
        <p:txBody>
          <a:bodyPr/>
          <a:lstStyle/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fr-CA" dirty="0">
                <a:latin typeface="Arial" pitchFamily="34" charset="0"/>
                <a:cs typeface="Arial" pitchFamily="34" charset="0"/>
              </a:rPr>
              <a:t>Intangibilité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fr-CA" dirty="0">
                <a:latin typeface="Arial" pitchFamily="34" charset="0"/>
                <a:cs typeface="Arial" pitchFamily="34" charset="0"/>
              </a:rPr>
              <a:t>Hétérogénéité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fr-CA" dirty="0">
                <a:latin typeface="Arial" pitchFamily="34" charset="0"/>
                <a:cs typeface="Arial" pitchFamily="34" charset="0"/>
              </a:rPr>
              <a:t>Impossibilité de stocker le service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fr-CA" dirty="0">
                <a:latin typeface="Arial" pitchFamily="34" charset="0"/>
                <a:cs typeface="Arial" pitchFamily="34" charset="0"/>
              </a:rPr>
              <a:t>Caractère «en direct » de la production du service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fr-CA" dirty="0">
                <a:latin typeface="Arial" pitchFamily="34" charset="0"/>
                <a:cs typeface="Arial" pitchFamily="34" charset="0"/>
              </a:rPr>
              <a:t>Participation possible du client à la prestation de service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09428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La Cage</a:t>
            </a:r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3D6D30EE-0878-4A86-B6FC-78128581A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00" y="1567223"/>
            <a:ext cx="8704364" cy="3809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Arial" charset="0"/>
              <a:buChar char="●"/>
              <a:defRPr sz="2400">
                <a:solidFill>
                  <a:srgbClr val="185FA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C98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185FAB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  <a:buSzPct val="100000"/>
            </a:pPr>
            <a:r>
              <a:rPr lang="fr-FR" sz="1670" kern="0" dirty="0"/>
              <a:t>Système opérationnel : </a:t>
            </a:r>
          </a:p>
          <a:p>
            <a:pPr>
              <a:lnSpc>
                <a:spcPct val="80000"/>
              </a:lnSpc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r>
              <a:rPr lang="fr-FR" sz="1670" kern="0" dirty="0"/>
              <a:t>Intrants : </a:t>
            </a:r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r>
              <a:rPr lang="fr-FR" sz="1670" kern="0" dirty="0"/>
              <a:t>Transformation : </a:t>
            </a:r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endParaRPr lang="fr-FR" sz="1670" kern="0" noProof="1"/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r>
              <a:rPr lang="fr-FR" sz="1670" kern="0" noProof="1"/>
              <a:t>Extrants</a:t>
            </a:r>
            <a:r>
              <a:rPr lang="fr-FR" sz="1670" kern="0" dirty="0"/>
              <a:t> : </a:t>
            </a:r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r>
              <a:rPr lang="fr-FR" sz="1670" kern="0" dirty="0"/>
              <a:t>Biens en support au service :</a:t>
            </a:r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r>
              <a:rPr lang="fr-FR" sz="1670" kern="0" dirty="0"/>
              <a:t>Ressources : </a:t>
            </a:r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spcBef>
                <a:spcPts val="450"/>
              </a:spcBef>
              <a:buSzPct val="100000"/>
            </a:pPr>
            <a:r>
              <a:rPr lang="fr-FR" sz="1670" kern="0" dirty="0"/>
              <a:t>Rétroaction :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12658B3-FF9C-4979-9D98-874131DE8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736" y="3911012"/>
            <a:ext cx="989264" cy="95858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045C602-7409-41BC-BEDC-FBE93F291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278" y="1571425"/>
            <a:ext cx="3497722" cy="208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0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Environnement externe : PESTEL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8C463475-AD24-4BEE-9D5E-B53566FB2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00" y="1490702"/>
            <a:ext cx="4465665" cy="3888122"/>
          </a:xfrm>
          <a:prstGeom prst="rect">
            <a:avLst/>
          </a:prstGeom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Arial" charset="0"/>
              <a:buChar char="●"/>
              <a:defRPr sz="2400">
                <a:solidFill>
                  <a:srgbClr val="185FA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C98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185FAB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r>
              <a:rPr lang="fr-FR" sz="1670" kern="0" dirty="0"/>
              <a:t>Politique et législatif :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r>
              <a:rPr lang="fr-FR" sz="1670" kern="0" dirty="0"/>
              <a:t>Économique :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r>
              <a:rPr lang="fr-FR" sz="1670" kern="0" dirty="0"/>
              <a:t>Social :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r>
              <a:rPr lang="fr-FR" sz="1670" kern="0" dirty="0"/>
              <a:t>Technologique :</a:t>
            </a:r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endParaRPr lang="fr-FR" sz="1670" kern="0" dirty="0"/>
          </a:p>
          <a:p>
            <a:pPr>
              <a:lnSpc>
                <a:spcPct val="80000"/>
              </a:lnSpc>
              <a:buClr>
                <a:schemeClr val="accent2"/>
              </a:buClr>
              <a:buSzPct val="100000"/>
            </a:pPr>
            <a:r>
              <a:rPr lang="fr-FR" sz="1670" kern="0" dirty="0"/>
              <a:t>Écologique :</a:t>
            </a: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915" y="1490702"/>
            <a:ext cx="2674723" cy="2721240"/>
          </a:xfrm>
          <a:prstGeom prst="rect">
            <a:avLst/>
          </a:prstGeom>
          <a:noFill/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6E223D7-78CA-4478-9304-7D0355998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100" y="3911012"/>
            <a:ext cx="989264" cy="9585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Décisions en GOL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990C1AF-C691-488E-98D2-AC2572B7BC45}"/>
              </a:ext>
            </a:extLst>
          </p:cNvPr>
          <p:cNvSpPr/>
          <p:nvPr/>
        </p:nvSpPr>
        <p:spPr>
          <a:xfrm>
            <a:off x="2706130" y="1852742"/>
            <a:ext cx="5090984" cy="8197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107950" dist="12700" dir="5400000" algn="ctr">
              <a:srgbClr val="000000"/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Niveau stratégique :</a:t>
            </a:r>
          </a:p>
          <a:p>
            <a:pPr algn="ctr"/>
            <a:r>
              <a:rPr lang="fr-CA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 terme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7B6C140-FE81-4223-BF75-C4330D180A06}"/>
              </a:ext>
            </a:extLst>
          </p:cNvPr>
          <p:cNvSpPr/>
          <p:nvPr/>
        </p:nvSpPr>
        <p:spPr>
          <a:xfrm>
            <a:off x="2706130" y="2875314"/>
            <a:ext cx="5090984" cy="819775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107950" dist="12700" dir="5400000" algn="ctr">
              <a:srgbClr val="000000"/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Niveau tactique :</a:t>
            </a:r>
          </a:p>
          <a:p>
            <a:pPr algn="ctr"/>
            <a:r>
              <a:rPr lang="fr-CA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Moyen terme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9000A1C-F488-473E-9E2B-93B2F70A5BAB}"/>
              </a:ext>
            </a:extLst>
          </p:cNvPr>
          <p:cNvSpPr/>
          <p:nvPr/>
        </p:nvSpPr>
        <p:spPr>
          <a:xfrm>
            <a:off x="2706130" y="3904639"/>
            <a:ext cx="5090984" cy="819775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107950" dist="12700" dir="5400000" algn="ctr">
              <a:srgbClr val="000000"/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Niveau opérationnel :</a:t>
            </a:r>
          </a:p>
          <a:p>
            <a:pPr algn="ctr"/>
            <a:r>
              <a:rPr lang="fr-CA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Court terme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169EE8-EBFD-48C8-9324-94F0CA8C6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Niveau stratégique : </a:t>
            </a:r>
            <a:br>
              <a:rPr lang="fr-CA" dirty="0"/>
            </a:br>
            <a:r>
              <a:rPr lang="fr-CA" dirty="0"/>
              <a:t>La conception du système GOL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561D0AF2-9B1D-4EAD-95F5-0DF6377AE113}"/>
              </a:ext>
            </a:extLst>
          </p:cNvPr>
          <p:cNvGrpSpPr/>
          <p:nvPr/>
        </p:nvGrpSpPr>
        <p:grpSpPr>
          <a:xfrm>
            <a:off x="1310879" y="1395414"/>
            <a:ext cx="7538243" cy="4203700"/>
            <a:chOff x="-60960" y="676275"/>
            <a:chExt cx="9045891" cy="5044440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283CB269-0395-4D34-81CF-2622A064EC53}"/>
                </a:ext>
              </a:extLst>
            </p:cNvPr>
            <p:cNvGrpSpPr/>
            <p:nvPr/>
          </p:nvGrpSpPr>
          <p:grpSpPr>
            <a:xfrm>
              <a:off x="-60960" y="676275"/>
              <a:ext cx="9045891" cy="5044440"/>
              <a:chOff x="-60960" y="676275"/>
              <a:chExt cx="9045891" cy="5044440"/>
            </a:xfrm>
          </p:grpSpPr>
          <p:grpSp>
            <p:nvGrpSpPr>
              <p:cNvPr id="33" name="Groupe 32">
                <a:extLst>
                  <a:ext uri="{FF2B5EF4-FFF2-40B4-BE49-F238E27FC236}">
                    <a16:creationId xmlns:a16="http://schemas.microsoft.com/office/drawing/2014/main" id="{0A9BA0BE-97C7-4E3C-AF5D-2B12452CB1E9}"/>
                  </a:ext>
                </a:extLst>
              </p:cNvPr>
              <p:cNvGrpSpPr/>
              <p:nvPr/>
            </p:nvGrpSpPr>
            <p:grpSpPr>
              <a:xfrm>
                <a:off x="-60960" y="676275"/>
                <a:ext cx="9045891" cy="5044440"/>
                <a:chOff x="-60960" y="676275"/>
                <a:chExt cx="9045891" cy="5044440"/>
              </a:xfrm>
            </p:grpSpPr>
            <p:sp>
              <p:nvSpPr>
                <p:cNvPr id="35" name="Rectangle à coins arrondis 1">
                  <a:extLst>
                    <a:ext uri="{FF2B5EF4-FFF2-40B4-BE49-F238E27FC236}">
                      <a16:creationId xmlns:a16="http://schemas.microsoft.com/office/drawing/2014/main" id="{73BEF4E9-3474-4410-B574-87F949060F7F}"/>
                    </a:ext>
                  </a:extLst>
                </p:cNvPr>
                <p:cNvSpPr/>
                <p:nvPr/>
              </p:nvSpPr>
              <p:spPr>
                <a:xfrm>
                  <a:off x="-60960" y="676275"/>
                  <a:ext cx="9045891" cy="5044440"/>
                </a:xfrm>
                <a:prstGeom prst="roundRect">
                  <a:avLst/>
                </a:prstGeom>
                <a:solidFill>
                  <a:srgbClr val="6BB1C9">
                    <a:lumMod val="20000"/>
                    <a:lumOff val="80000"/>
                  </a:srgbClr>
                </a:solidFill>
                <a:ln w="25400" cap="flat" cmpd="sng" algn="ctr">
                  <a:noFill/>
                  <a:prstDash val="soli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rtlCol="0" anchor="ctr"/>
                <a:lstStyle/>
                <a:p>
                  <a:pPr algn="ctr" defTabSz="761970">
                    <a:defRPr/>
                  </a:pPr>
                  <a:endParaRPr lang="fr-CA" sz="15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6" name="Rectangle à coins arrondis 2">
                  <a:extLst>
                    <a:ext uri="{FF2B5EF4-FFF2-40B4-BE49-F238E27FC236}">
                      <a16:creationId xmlns:a16="http://schemas.microsoft.com/office/drawing/2014/main" id="{B1437432-11A1-4AF1-8208-9FB8BA9D1845}"/>
                    </a:ext>
                  </a:extLst>
                </p:cNvPr>
                <p:cNvSpPr/>
                <p:nvPr/>
              </p:nvSpPr>
              <p:spPr>
                <a:xfrm>
                  <a:off x="98109" y="2914650"/>
                  <a:ext cx="1560956" cy="1169670"/>
                </a:xfrm>
                <a:prstGeom prst="roundRect">
                  <a:avLst/>
                </a:prstGeom>
                <a:solidFill>
                  <a:srgbClr val="365BB0"/>
                </a:solidFill>
                <a:ln w="25400" cap="flat" cmpd="sng" algn="ctr">
                  <a:noFill/>
                  <a:prstDash val="soli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rtlCol="0" anchor="ctr"/>
                <a:lstStyle/>
                <a:p>
                  <a:pPr algn="ctr" defTabSz="761970">
                    <a:defRPr/>
                  </a:pPr>
                  <a:r>
                    <a:rPr lang="fr-CA" sz="1667" b="1" kern="0" dirty="0">
                      <a:solidFill>
                        <a:prstClr val="white"/>
                      </a:solidFill>
                      <a:latin typeface="Calibri"/>
                    </a:rPr>
                    <a:t>Conception du produit ou service</a:t>
                  </a:r>
                </a:p>
              </p:txBody>
            </p:sp>
            <p:sp>
              <p:nvSpPr>
                <p:cNvPr id="37" name="Rectangle à coins arrondis 3">
                  <a:extLst>
                    <a:ext uri="{FF2B5EF4-FFF2-40B4-BE49-F238E27FC236}">
                      <a16:creationId xmlns:a16="http://schemas.microsoft.com/office/drawing/2014/main" id="{956614F7-DED5-47FB-AF41-736685ABB750}"/>
                    </a:ext>
                  </a:extLst>
                </p:cNvPr>
                <p:cNvSpPr/>
                <p:nvPr/>
              </p:nvSpPr>
              <p:spPr>
                <a:xfrm>
                  <a:off x="3995261" y="3499484"/>
                  <a:ext cx="1490186" cy="939158"/>
                </a:xfrm>
                <a:prstGeom prst="roundRect">
                  <a:avLst/>
                </a:prstGeom>
                <a:solidFill>
                  <a:srgbClr val="6585CF"/>
                </a:solidFill>
                <a:ln w="25400" cap="flat" cmpd="sng" algn="ctr">
                  <a:noFill/>
                  <a:prstDash val="soli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rtlCol="0" anchor="ctr"/>
                <a:lstStyle/>
                <a:p>
                  <a:pPr algn="ctr"/>
                  <a:r>
                    <a:rPr lang="fr-CA" sz="1667" b="1" kern="0" dirty="0">
                      <a:solidFill>
                        <a:prstClr val="white"/>
                      </a:solidFill>
                      <a:latin typeface="Calibri"/>
                    </a:rPr>
                    <a:t>Conception du processus</a:t>
                  </a:r>
                </a:p>
              </p:txBody>
            </p:sp>
            <p:sp>
              <p:nvSpPr>
                <p:cNvPr id="38" name="Rectangle à coins arrondis 4">
                  <a:extLst>
                    <a:ext uri="{FF2B5EF4-FFF2-40B4-BE49-F238E27FC236}">
                      <a16:creationId xmlns:a16="http://schemas.microsoft.com/office/drawing/2014/main" id="{3AC6C2F5-7E65-4D7E-AC1D-B602ADCF2F32}"/>
                    </a:ext>
                  </a:extLst>
                </p:cNvPr>
                <p:cNvSpPr/>
                <p:nvPr/>
              </p:nvSpPr>
              <p:spPr>
                <a:xfrm>
                  <a:off x="3017520" y="2447925"/>
                  <a:ext cx="1386840" cy="624840"/>
                </a:xfrm>
                <a:prstGeom prst="roundRect">
                  <a:avLst/>
                </a:prstGeom>
                <a:solidFill>
                  <a:srgbClr val="6BB1C9"/>
                </a:solidFill>
                <a:ln w="25400" cap="flat" cmpd="sng" algn="ctr">
                  <a:noFill/>
                  <a:prstDash val="soli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rtlCol="0" anchor="ctr"/>
                <a:lstStyle/>
                <a:p>
                  <a:pPr algn="ctr" defTabSz="761970">
                    <a:defRPr/>
                  </a:pPr>
                  <a:r>
                    <a:rPr lang="fr-CA" sz="1667" b="1" kern="0" dirty="0">
                      <a:solidFill>
                        <a:prstClr val="white"/>
                      </a:solidFill>
                      <a:latin typeface="Calibri"/>
                    </a:rPr>
                    <a:t>Procédés/Méthodes</a:t>
                  </a:r>
                </a:p>
              </p:txBody>
            </p:sp>
            <p:sp>
              <p:nvSpPr>
                <p:cNvPr id="39" name="Rectangle à coins arrondis 5">
                  <a:extLst>
                    <a:ext uri="{FF2B5EF4-FFF2-40B4-BE49-F238E27FC236}">
                      <a16:creationId xmlns:a16="http://schemas.microsoft.com/office/drawing/2014/main" id="{38EDA6DD-438F-49AC-9660-55FCCA92BE91}"/>
                    </a:ext>
                  </a:extLst>
                </p:cNvPr>
                <p:cNvSpPr/>
                <p:nvPr/>
              </p:nvSpPr>
              <p:spPr>
                <a:xfrm>
                  <a:off x="5109210" y="2501265"/>
                  <a:ext cx="1630680" cy="518160"/>
                </a:xfrm>
                <a:prstGeom prst="roundRect">
                  <a:avLst/>
                </a:prstGeom>
                <a:solidFill>
                  <a:srgbClr val="6BB1C9"/>
                </a:solidFill>
                <a:ln w="25400" cap="flat" cmpd="sng" algn="ctr">
                  <a:noFill/>
                  <a:prstDash val="soli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rtlCol="0" anchor="ctr"/>
                <a:lstStyle/>
                <a:p>
                  <a:pPr algn="ctr" defTabSz="761970">
                    <a:defRPr/>
                  </a:pPr>
                  <a:r>
                    <a:rPr lang="fr-CA" sz="1667" b="1" kern="0" dirty="0">
                      <a:solidFill>
                        <a:prstClr val="white"/>
                      </a:solidFill>
                      <a:latin typeface="Calibri"/>
                    </a:rPr>
                    <a:t>Technologies</a:t>
                  </a:r>
                </a:p>
              </p:txBody>
            </p:sp>
            <p:sp>
              <p:nvSpPr>
                <p:cNvPr id="40" name="Rectangle à coins arrondis 6">
                  <a:extLst>
                    <a:ext uri="{FF2B5EF4-FFF2-40B4-BE49-F238E27FC236}">
                      <a16:creationId xmlns:a16="http://schemas.microsoft.com/office/drawing/2014/main" id="{C4D8090C-9F3E-43DC-8B7B-DDBFD9FEA8C5}"/>
                    </a:ext>
                  </a:extLst>
                </p:cNvPr>
                <p:cNvSpPr/>
                <p:nvPr/>
              </p:nvSpPr>
              <p:spPr>
                <a:xfrm>
                  <a:off x="3828097" y="4876800"/>
                  <a:ext cx="1927860" cy="518160"/>
                </a:xfrm>
                <a:prstGeom prst="roundRect">
                  <a:avLst/>
                </a:prstGeom>
                <a:solidFill>
                  <a:srgbClr val="6585CF"/>
                </a:solidFill>
                <a:ln w="25400" cap="flat" cmpd="sng" algn="ctr">
                  <a:noFill/>
                  <a:prstDash val="soli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rtlCol="0" anchor="ctr"/>
                <a:lstStyle/>
                <a:p>
                  <a:pPr algn="ctr" defTabSz="761970">
                    <a:defRPr/>
                  </a:pPr>
                  <a:r>
                    <a:rPr lang="fr-CA" sz="1667" b="1" kern="0" dirty="0">
                      <a:solidFill>
                        <a:prstClr val="white"/>
                      </a:solidFill>
                      <a:latin typeface="Calibri"/>
                    </a:rPr>
                    <a:t>Aménagement</a:t>
                  </a:r>
                </a:p>
              </p:txBody>
            </p:sp>
            <p:sp>
              <p:nvSpPr>
                <p:cNvPr id="41" name="Rectangle à coins arrondis 7">
                  <a:extLst>
                    <a:ext uri="{FF2B5EF4-FFF2-40B4-BE49-F238E27FC236}">
                      <a16:creationId xmlns:a16="http://schemas.microsoft.com/office/drawing/2014/main" id="{850E8D45-CC9A-4F50-8F0E-9B6472BAEA22}"/>
                    </a:ext>
                  </a:extLst>
                </p:cNvPr>
                <p:cNvSpPr/>
                <p:nvPr/>
              </p:nvSpPr>
              <p:spPr>
                <a:xfrm>
                  <a:off x="7147560" y="3493770"/>
                  <a:ext cx="1386840" cy="518160"/>
                </a:xfrm>
                <a:prstGeom prst="roundRect">
                  <a:avLst/>
                </a:prstGeom>
                <a:solidFill>
                  <a:srgbClr val="9CB084"/>
                </a:solidFill>
                <a:ln w="25400" cap="flat" cmpd="sng" algn="ctr">
                  <a:noFill/>
                  <a:prstDash val="soli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rtlCol="0" anchor="ctr"/>
                <a:lstStyle/>
                <a:p>
                  <a:pPr algn="ctr" defTabSz="761970">
                    <a:defRPr/>
                  </a:pPr>
                  <a:r>
                    <a:rPr lang="fr-CA" sz="1667" b="1" kern="0" dirty="0">
                      <a:solidFill>
                        <a:prstClr val="white"/>
                      </a:solidFill>
                      <a:latin typeface="Calibri"/>
                    </a:rPr>
                    <a:t>Capacité</a:t>
                  </a:r>
                </a:p>
              </p:txBody>
            </p:sp>
            <p:sp>
              <p:nvSpPr>
                <p:cNvPr id="42" name="Rectangle à coins arrondis 8">
                  <a:extLst>
                    <a:ext uri="{FF2B5EF4-FFF2-40B4-BE49-F238E27FC236}">
                      <a16:creationId xmlns:a16="http://schemas.microsoft.com/office/drawing/2014/main" id="{EEA7F460-B59E-443F-B3BC-2FADF6FE6C62}"/>
                    </a:ext>
                  </a:extLst>
                </p:cNvPr>
                <p:cNvSpPr/>
                <p:nvPr/>
              </p:nvSpPr>
              <p:spPr>
                <a:xfrm>
                  <a:off x="7195659" y="1045846"/>
                  <a:ext cx="1539702" cy="621030"/>
                </a:xfrm>
                <a:prstGeom prst="roundRect">
                  <a:avLst/>
                </a:prstGeom>
                <a:solidFill>
                  <a:srgbClr val="9CB084"/>
                </a:solidFill>
                <a:ln w="25400" cap="flat" cmpd="sng" algn="ctr">
                  <a:noFill/>
                  <a:prstDash val="soli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rtlCol="0" anchor="ctr"/>
                <a:lstStyle/>
                <a:p>
                  <a:pPr algn="ctr" defTabSz="761970">
                    <a:defRPr/>
                  </a:pPr>
                  <a:r>
                    <a:rPr lang="fr-CA" sz="1500" b="1" kern="0" dirty="0">
                      <a:solidFill>
                        <a:prstClr val="white"/>
                      </a:solidFill>
                      <a:latin typeface="Calibri"/>
                    </a:rPr>
                    <a:t>Organisation du travail</a:t>
                  </a:r>
                </a:p>
              </p:txBody>
            </p:sp>
            <p:sp>
              <p:nvSpPr>
                <p:cNvPr id="43" name="Rectangle à coins arrondis 9">
                  <a:extLst>
                    <a:ext uri="{FF2B5EF4-FFF2-40B4-BE49-F238E27FC236}">
                      <a16:creationId xmlns:a16="http://schemas.microsoft.com/office/drawing/2014/main" id="{AA458DE6-6506-49C9-B98C-31B045404D12}"/>
                    </a:ext>
                  </a:extLst>
                </p:cNvPr>
                <p:cNvSpPr/>
                <p:nvPr/>
              </p:nvSpPr>
              <p:spPr>
                <a:xfrm>
                  <a:off x="188596" y="1540386"/>
                  <a:ext cx="1386840" cy="701040"/>
                </a:xfrm>
                <a:prstGeom prst="roundRect">
                  <a:avLst/>
                </a:prstGeom>
                <a:solidFill>
                  <a:srgbClr val="7E6BC9"/>
                </a:solidFill>
                <a:ln w="25400" cap="flat" cmpd="sng" algn="ctr">
                  <a:noFill/>
                  <a:prstDash val="solid"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 rtlCol="0" anchor="ctr"/>
                <a:lstStyle/>
                <a:p>
                  <a:pPr algn="ctr" defTabSz="761970">
                    <a:defRPr/>
                  </a:pPr>
                  <a:r>
                    <a:rPr lang="fr-CA" sz="1500" b="1" kern="0" dirty="0">
                      <a:solidFill>
                        <a:prstClr val="white"/>
                      </a:solidFill>
                      <a:latin typeface="Calibri"/>
                    </a:rPr>
                    <a:t>Gestion de la qualité</a:t>
                  </a:r>
                </a:p>
              </p:txBody>
            </p:sp>
            <p:cxnSp>
              <p:nvCxnSpPr>
                <p:cNvPr id="44" name="Connecteur droit avec flèche 43">
                  <a:extLst>
                    <a:ext uri="{FF2B5EF4-FFF2-40B4-BE49-F238E27FC236}">
                      <a16:creationId xmlns:a16="http://schemas.microsoft.com/office/drawing/2014/main" id="{1521EEC1-6B9D-4E78-B623-AC2E0281ABDD}"/>
                    </a:ext>
                  </a:extLst>
                </p:cNvPr>
                <p:cNvCxnSpPr>
                  <a:stCxn id="38" idx="3"/>
                  <a:endCxn id="39" idx="1"/>
                </p:cNvCxnSpPr>
                <p:nvPr/>
              </p:nvCxnSpPr>
              <p:spPr>
                <a:xfrm>
                  <a:off x="4404360" y="2760345"/>
                  <a:ext cx="704850" cy="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6BB1C9"/>
                  </a:solidFill>
                  <a:prstDash val="solid"/>
                  <a:headEnd type="arrow"/>
                  <a:tailEnd type="arrow"/>
                </a:ln>
                <a:effectLst/>
              </p:spPr>
            </p:cxnSp>
            <p:cxnSp>
              <p:nvCxnSpPr>
                <p:cNvPr id="45" name="Connecteur droit avec flèche 44">
                  <a:extLst>
                    <a:ext uri="{FF2B5EF4-FFF2-40B4-BE49-F238E27FC236}">
                      <a16:creationId xmlns:a16="http://schemas.microsoft.com/office/drawing/2014/main" id="{26DF7158-73CD-42E3-9D9D-37137D75BD91}"/>
                    </a:ext>
                  </a:extLst>
                </p:cNvPr>
                <p:cNvCxnSpPr>
                  <a:cxnSpLocks/>
                  <a:stCxn id="37" idx="3"/>
                  <a:endCxn id="39" idx="2"/>
                </p:cNvCxnSpPr>
                <p:nvPr/>
              </p:nvCxnSpPr>
              <p:spPr>
                <a:xfrm flipV="1">
                  <a:off x="5485447" y="3019425"/>
                  <a:ext cx="439103" cy="949638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6BB1C9"/>
                  </a:solidFill>
                  <a:prstDash val="solid"/>
                  <a:headEnd type="arrow"/>
                  <a:tailEnd type="arrow"/>
                </a:ln>
                <a:effectLst/>
              </p:spPr>
            </p:cxnSp>
            <p:cxnSp>
              <p:nvCxnSpPr>
                <p:cNvPr id="46" name="Connecteur droit avec flèche 45">
                  <a:extLst>
                    <a:ext uri="{FF2B5EF4-FFF2-40B4-BE49-F238E27FC236}">
                      <a16:creationId xmlns:a16="http://schemas.microsoft.com/office/drawing/2014/main" id="{1C6E522C-9EA3-408F-AB74-25E099C228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4265" y="3072765"/>
                  <a:ext cx="350996" cy="848675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6BB1C9"/>
                  </a:solidFill>
                  <a:prstDash val="solid"/>
                  <a:headEnd type="arrow"/>
                  <a:tailEnd type="arrow"/>
                </a:ln>
                <a:effectLst/>
              </p:spPr>
            </p:cxnSp>
            <p:cxnSp>
              <p:nvCxnSpPr>
                <p:cNvPr id="47" name="Connecteur droit avec flèche 46">
                  <a:extLst>
                    <a:ext uri="{FF2B5EF4-FFF2-40B4-BE49-F238E27FC236}">
                      <a16:creationId xmlns:a16="http://schemas.microsoft.com/office/drawing/2014/main" id="{2103DF9F-EAA7-421C-B2CB-2C4042A3E170}"/>
                    </a:ext>
                  </a:extLst>
                </p:cNvPr>
                <p:cNvCxnSpPr/>
                <p:nvPr/>
              </p:nvCxnSpPr>
              <p:spPr>
                <a:xfrm flipV="1">
                  <a:off x="3710940" y="1333887"/>
                  <a:ext cx="3436620" cy="1114038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6BB1C9"/>
                  </a:solidFill>
                  <a:prstDash val="solid"/>
                  <a:tailEnd type="arrow"/>
                </a:ln>
                <a:effectLst/>
              </p:spPr>
            </p:cxnSp>
            <p:cxnSp>
              <p:nvCxnSpPr>
                <p:cNvPr id="48" name="Connecteur droit avec flèche 47">
                  <a:extLst>
                    <a:ext uri="{FF2B5EF4-FFF2-40B4-BE49-F238E27FC236}">
                      <a16:creationId xmlns:a16="http://schemas.microsoft.com/office/drawing/2014/main" id="{BA0E3707-42E8-42E3-8254-11E2A93E1DD8}"/>
                    </a:ext>
                  </a:extLst>
                </p:cNvPr>
                <p:cNvCxnSpPr>
                  <a:stCxn id="39" idx="0"/>
                </p:cNvCxnSpPr>
                <p:nvPr/>
              </p:nvCxnSpPr>
              <p:spPr>
                <a:xfrm flipV="1">
                  <a:off x="5924550" y="1381690"/>
                  <a:ext cx="1223010" cy="1119575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6BB1C9"/>
                  </a:solidFill>
                  <a:prstDash val="solid"/>
                  <a:tailEnd type="arrow"/>
                </a:ln>
                <a:effectLst/>
              </p:spPr>
            </p:cxnSp>
            <p:cxnSp>
              <p:nvCxnSpPr>
                <p:cNvPr id="49" name="Connecteur droit avec flèche 48">
                  <a:extLst>
                    <a:ext uri="{FF2B5EF4-FFF2-40B4-BE49-F238E27FC236}">
                      <a16:creationId xmlns:a16="http://schemas.microsoft.com/office/drawing/2014/main" id="{3757369A-1AF9-447A-8515-F6418D5D1C80}"/>
                    </a:ext>
                  </a:extLst>
                </p:cNvPr>
                <p:cNvCxnSpPr>
                  <a:endCxn id="41" idx="0"/>
                </p:cNvCxnSpPr>
                <p:nvPr/>
              </p:nvCxnSpPr>
              <p:spPr>
                <a:xfrm>
                  <a:off x="7840980" y="1687830"/>
                  <a:ext cx="0" cy="180594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9CB084"/>
                  </a:solidFill>
                  <a:prstDash val="solid"/>
                  <a:tailEnd type="arrow"/>
                </a:ln>
                <a:effectLst/>
              </p:spPr>
            </p:cxnSp>
            <p:cxnSp>
              <p:nvCxnSpPr>
                <p:cNvPr id="50" name="Connecteur droit avec flèche 49">
                  <a:extLst>
                    <a:ext uri="{FF2B5EF4-FFF2-40B4-BE49-F238E27FC236}">
                      <a16:creationId xmlns:a16="http://schemas.microsoft.com/office/drawing/2014/main" id="{504D2023-B910-4C79-8F79-50C150E2CAC3}"/>
                    </a:ext>
                  </a:extLst>
                </p:cNvPr>
                <p:cNvCxnSpPr>
                  <a:cxnSpLocks/>
                  <a:stCxn id="37" idx="2"/>
                </p:cNvCxnSpPr>
                <p:nvPr/>
              </p:nvCxnSpPr>
              <p:spPr>
                <a:xfrm>
                  <a:off x="4740354" y="4438642"/>
                  <a:ext cx="69294" cy="447683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6585CF"/>
                  </a:solidFill>
                  <a:prstDash val="solid"/>
                  <a:headEnd type="arrow"/>
                  <a:tailEnd type="arrow"/>
                </a:ln>
                <a:effectLst/>
              </p:spPr>
            </p:cxnSp>
            <p:cxnSp>
              <p:nvCxnSpPr>
                <p:cNvPr id="51" name="Connecteur droit avec flèche 50">
                  <a:extLst>
                    <a:ext uri="{FF2B5EF4-FFF2-40B4-BE49-F238E27FC236}">
                      <a16:creationId xmlns:a16="http://schemas.microsoft.com/office/drawing/2014/main" id="{4BDE91AF-9A9B-4990-9CC5-DECEF8A871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85447" y="3846197"/>
                  <a:ext cx="1662113" cy="16859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9CB084"/>
                  </a:solidFill>
                  <a:prstDash val="solid"/>
                  <a:tailEnd type="arrow"/>
                </a:ln>
                <a:effectLst/>
              </p:spPr>
            </p:cxnSp>
            <p:cxnSp>
              <p:nvCxnSpPr>
                <p:cNvPr id="52" name="Connecteur droit avec flèche 51">
                  <a:extLst>
                    <a:ext uri="{FF2B5EF4-FFF2-40B4-BE49-F238E27FC236}">
                      <a16:creationId xmlns:a16="http://schemas.microsoft.com/office/drawing/2014/main" id="{6BB82D75-2327-4796-B5DC-00D76C0098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58575" y="4084321"/>
                  <a:ext cx="2085023" cy="1118236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9CB084"/>
                  </a:solidFill>
                  <a:prstDash val="solid"/>
                  <a:tailEnd type="arrow"/>
                </a:ln>
                <a:effectLst/>
              </p:spPr>
            </p:cxnSp>
            <p:cxnSp>
              <p:nvCxnSpPr>
                <p:cNvPr id="53" name="Connecteur droit avec flèche 52">
                  <a:extLst>
                    <a:ext uri="{FF2B5EF4-FFF2-40B4-BE49-F238E27FC236}">
                      <a16:creationId xmlns:a16="http://schemas.microsoft.com/office/drawing/2014/main" id="{934B17D5-F77D-4FC9-A233-1A8B0AFDAE14}"/>
                    </a:ext>
                  </a:extLst>
                </p:cNvPr>
                <p:cNvCxnSpPr>
                  <a:stCxn id="36" idx="3"/>
                  <a:endCxn id="38" idx="1"/>
                </p:cNvCxnSpPr>
                <p:nvPr/>
              </p:nvCxnSpPr>
              <p:spPr>
                <a:xfrm flipV="1">
                  <a:off x="1659065" y="2760345"/>
                  <a:ext cx="1358455" cy="73914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365BB0"/>
                  </a:solidFill>
                  <a:prstDash val="solid"/>
                  <a:headEnd type="arrow" w="med" len="med"/>
                  <a:tailEnd type="arrow" w="med" len="med"/>
                </a:ln>
                <a:effectLst/>
              </p:spPr>
            </p:cxnSp>
            <p:cxnSp>
              <p:nvCxnSpPr>
                <p:cNvPr id="54" name="Connecteur droit avec flèche 53">
                  <a:extLst>
                    <a:ext uri="{FF2B5EF4-FFF2-40B4-BE49-F238E27FC236}">
                      <a16:creationId xmlns:a16="http://schemas.microsoft.com/office/drawing/2014/main" id="{BEB1DB52-4676-4DBB-9F67-B245B1FF8B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59065" y="3499485"/>
                  <a:ext cx="2336196" cy="442719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365BB0"/>
                  </a:solidFill>
                  <a:prstDash val="solid"/>
                  <a:headEnd type="arrow" w="med" len="med"/>
                  <a:tailEnd type="arrow" w="med" len="med"/>
                </a:ln>
                <a:effectLst/>
              </p:spPr>
            </p:cxnSp>
            <p:cxnSp>
              <p:nvCxnSpPr>
                <p:cNvPr id="55" name="Connecteur droit avec flèche 54">
                  <a:extLst>
                    <a:ext uri="{FF2B5EF4-FFF2-40B4-BE49-F238E27FC236}">
                      <a16:creationId xmlns:a16="http://schemas.microsoft.com/office/drawing/2014/main" id="{A8E30564-7A47-4C83-AF27-85079E3FB27E}"/>
                    </a:ext>
                  </a:extLst>
                </p:cNvPr>
                <p:cNvCxnSpPr>
                  <a:stCxn id="36" idx="0"/>
                  <a:endCxn id="43" idx="2"/>
                </p:cNvCxnSpPr>
                <p:nvPr/>
              </p:nvCxnSpPr>
              <p:spPr>
                <a:xfrm flipV="1">
                  <a:off x="878587" y="2241426"/>
                  <a:ext cx="3429" cy="673224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365BB0"/>
                  </a:solidFill>
                  <a:prstDash val="solid"/>
                  <a:headEnd type="arrow"/>
                  <a:tailEnd type="arrow"/>
                </a:ln>
                <a:effectLst/>
              </p:spPr>
            </p:cxnSp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6795CB41-56DB-443F-949D-996A8AD57014}"/>
                    </a:ext>
                  </a:extLst>
                </p:cNvPr>
                <p:cNvSpPr txBox="1"/>
                <p:nvPr/>
              </p:nvSpPr>
              <p:spPr>
                <a:xfrm>
                  <a:off x="730766" y="815012"/>
                  <a:ext cx="2183675" cy="54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761970">
                    <a:defRPr/>
                  </a:pPr>
                  <a:r>
                    <a:rPr lang="fr-CA" sz="2333" b="1" kern="0" dirty="0">
                      <a:solidFill>
                        <a:srgbClr val="6BB1C9">
                          <a:lumMod val="75000"/>
                        </a:srgbClr>
                      </a:solidFill>
                      <a:latin typeface="Calibri"/>
                    </a:rPr>
                    <a:t>Amélioration</a:t>
                  </a:r>
                </a:p>
              </p:txBody>
            </p:sp>
          </p:grpSp>
          <p:cxnSp>
            <p:nvCxnSpPr>
              <p:cNvPr id="34" name="Connecteur droit avec flèche 33">
                <a:extLst>
                  <a:ext uri="{FF2B5EF4-FFF2-40B4-BE49-F238E27FC236}">
                    <a16:creationId xmlns:a16="http://schemas.microsoft.com/office/drawing/2014/main" id="{C6DFB650-EF46-44B9-B164-D5D570A61A89}"/>
                  </a:ext>
                </a:extLst>
              </p:cNvPr>
              <p:cNvCxnSpPr>
                <a:endCxn id="40" idx="1"/>
              </p:cNvCxnSpPr>
              <p:nvPr/>
            </p:nvCxnSpPr>
            <p:spPr>
              <a:xfrm>
                <a:off x="1659065" y="3499485"/>
                <a:ext cx="2169032" cy="1636395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365BB0"/>
                </a:solidFill>
                <a:prstDash val="solid"/>
                <a:headEnd type="arrow" w="med" len="med"/>
                <a:tailEnd type="arrow" w="med" len="med"/>
              </a:ln>
              <a:effectLst/>
            </p:spPr>
          </p:cxnSp>
        </p:grp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A1EA6C8B-30A9-4688-AE7F-AFCF813FE05B}"/>
                </a:ext>
              </a:extLst>
            </p:cNvPr>
            <p:cNvCxnSpPr>
              <a:stCxn id="38" idx="1"/>
            </p:cNvCxnSpPr>
            <p:nvPr/>
          </p:nvCxnSpPr>
          <p:spPr>
            <a:xfrm flipH="1" flipV="1">
              <a:off x="1575436" y="1890906"/>
              <a:ext cx="1442084" cy="869439"/>
            </a:xfrm>
            <a:prstGeom prst="straightConnector1">
              <a:avLst/>
            </a:prstGeom>
            <a:noFill/>
            <a:ln w="38100" cap="flat" cmpd="sng" algn="ctr">
              <a:solidFill>
                <a:srgbClr val="7E6BC9"/>
              </a:solidFill>
              <a:prstDash val="solid"/>
              <a:headEnd type="arrow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149195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169EE8-EBFD-48C8-9324-94F0CA8C6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Niveau tactique : </a:t>
            </a:r>
            <a:br>
              <a:rPr lang="fr-CA" dirty="0"/>
            </a:br>
            <a:r>
              <a:rPr lang="fr-CA" dirty="0"/>
              <a:t>La planification du système GOL</a:t>
            </a:r>
          </a:p>
        </p:txBody>
      </p: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A29D9DB7-D4A4-45AD-A4B2-67AE68A64698}"/>
              </a:ext>
            </a:extLst>
          </p:cNvPr>
          <p:cNvGrpSpPr/>
          <p:nvPr/>
        </p:nvGrpSpPr>
        <p:grpSpPr>
          <a:xfrm>
            <a:off x="1586072" y="1462722"/>
            <a:ext cx="6830677" cy="3476626"/>
            <a:chOff x="644237" y="1522279"/>
            <a:chExt cx="8202879" cy="4311020"/>
          </a:xfrm>
        </p:grpSpPr>
        <p:sp>
          <p:nvSpPr>
            <p:cNvPr id="67" name="Rectangle à coins arrondis 2">
              <a:extLst>
                <a:ext uri="{FF2B5EF4-FFF2-40B4-BE49-F238E27FC236}">
                  <a16:creationId xmlns:a16="http://schemas.microsoft.com/office/drawing/2014/main" id="{5617D8F9-2731-4097-8F15-8D09427D60D2}"/>
                </a:ext>
              </a:extLst>
            </p:cNvPr>
            <p:cNvSpPr/>
            <p:nvPr/>
          </p:nvSpPr>
          <p:spPr>
            <a:xfrm>
              <a:off x="653143" y="1522279"/>
              <a:ext cx="2600696" cy="4311020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r>
                <a:rPr lang="fr-CA" sz="2000" b="1" kern="0" dirty="0">
                  <a:solidFill>
                    <a:prstClr val="black"/>
                  </a:solidFill>
                  <a:latin typeface="Calibri"/>
                </a:rPr>
                <a:t>Gestion</a:t>
              </a: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5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8" name="Rectangle à coins arrondis 3">
              <a:extLst>
                <a:ext uri="{FF2B5EF4-FFF2-40B4-BE49-F238E27FC236}">
                  <a16:creationId xmlns:a16="http://schemas.microsoft.com/office/drawing/2014/main" id="{5F262FF1-4613-472C-B599-E0B24E6D5281}"/>
                </a:ext>
              </a:extLst>
            </p:cNvPr>
            <p:cNvSpPr/>
            <p:nvPr/>
          </p:nvSpPr>
          <p:spPr>
            <a:xfrm>
              <a:off x="3447308" y="1522279"/>
              <a:ext cx="2607623" cy="4311020"/>
            </a:xfrm>
            <a:prstGeom prst="roundRect">
              <a:avLst/>
            </a:prstGeom>
            <a:solidFill>
              <a:srgbClr val="9CB084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r>
                <a:rPr lang="fr-CA" sz="2000" b="1" kern="0" dirty="0">
                  <a:solidFill>
                    <a:prstClr val="black"/>
                  </a:solidFill>
                  <a:latin typeface="Calibri"/>
                </a:rPr>
                <a:t>Planification</a:t>
              </a: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Rectangle à coins arrondis 4">
              <a:extLst>
                <a:ext uri="{FF2B5EF4-FFF2-40B4-BE49-F238E27FC236}">
                  <a16:creationId xmlns:a16="http://schemas.microsoft.com/office/drawing/2014/main" id="{ABE38385-BDCF-4428-B9D7-2626EF5E0539}"/>
                </a:ext>
              </a:extLst>
            </p:cNvPr>
            <p:cNvSpPr/>
            <p:nvPr/>
          </p:nvSpPr>
          <p:spPr>
            <a:xfrm>
              <a:off x="6248399" y="1522279"/>
              <a:ext cx="2598717" cy="43110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b="1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r>
                <a:rPr lang="fr-CA" sz="2000" b="1" kern="0" dirty="0">
                  <a:solidFill>
                    <a:prstClr val="black"/>
                  </a:solidFill>
                  <a:latin typeface="Calibri"/>
                </a:rPr>
                <a:t>Contrôle</a:t>
              </a: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  <a:p>
              <a:pPr algn="ctr" defTabSz="761970">
                <a:defRPr/>
              </a:pPr>
              <a:endParaRPr lang="fr-CA" sz="1667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Rectangle à coins arrondis 5">
              <a:extLst>
                <a:ext uri="{FF2B5EF4-FFF2-40B4-BE49-F238E27FC236}">
                  <a16:creationId xmlns:a16="http://schemas.microsoft.com/office/drawing/2014/main" id="{B1BFE32B-E325-4187-A4B4-7D0A5BA52C55}"/>
                </a:ext>
              </a:extLst>
            </p:cNvPr>
            <p:cNvSpPr/>
            <p:nvPr/>
          </p:nvSpPr>
          <p:spPr>
            <a:xfrm>
              <a:off x="644237" y="2782795"/>
              <a:ext cx="2600696" cy="750113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>
                <a:defRPr/>
              </a:pPr>
              <a:r>
                <a:rPr lang="fr-CA" sz="1667" b="1" kern="0" dirty="0">
                  <a:solidFill>
                    <a:srgbClr val="9CB084">
                      <a:lumMod val="50000"/>
                    </a:srgbClr>
                  </a:solidFill>
                  <a:latin typeface="Calibri"/>
                </a:rPr>
                <a:t>Gestion des stocks</a:t>
              </a:r>
            </a:p>
          </p:txBody>
        </p:sp>
        <p:sp>
          <p:nvSpPr>
            <p:cNvPr id="71" name="Rectangle à coins arrondis 6">
              <a:extLst>
                <a:ext uri="{FF2B5EF4-FFF2-40B4-BE49-F238E27FC236}">
                  <a16:creationId xmlns:a16="http://schemas.microsoft.com/office/drawing/2014/main" id="{503A5E11-33F3-4B1C-990B-1CD853170F0F}"/>
                </a:ext>
              </a:extLst>
            </p:cNvPr>
            <p:cNvSpPr/>
            <p:nvPr/>
          </p:nvSpPr>
          <p:spPr>
            <a:xfrm>
              <a:off x="3438401" y="3510490"/>
              <a:ext cx="2600697" cy="750113"/>
            </a:xfrm>
            <a:prstGeom prst="roundRect">
              <a:avLst/>
            </a:prstGeom>
            <a:solidFill>
              <a:srgbClr val="9CB084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761970">
                <a:defRPr/>
              </a:pPr>
              <a:r>
                <a:rPr lang="fr-CA" sz="1667" b="1" kern="0" dirty="0">
                  <a:solidFill>
                    <a:srgbClr val="9CB084">
                      <a:lumMod val="50000"/>
                    </a:srgbClr>
                  </a:solidFill>
                  <a:latin typeface="Calibri"/>
                </a:rPr>
                <a:t>Planification détaillée</a:t>
              </a:r>
            </a:p>
          </p:txBody>
        </p:sp>
        <p:sp>
          <p:nvSpPr>
            <p:cNvPr id="72" name="Rectangle à coins arrondis 7">
              <a:extLst>
                <a:ext uri="{FF2B5EF4-FFF2-40B4-BE49-F238E27FC236}">
                  <a16:creationId xmlns:a16="http://schemas.microsoft.com/office/drawing/2014/main" id="{B2C9B0C4-EA47-41DF-9E71-5CDDD33D1C03}"/>
                </a:ext>
              </a:extLst>
            </p:cNvPr>
            <p:cNvSpPr/>
            <p:nvPr/>
          </p:nvSpPr>
          <p:spPr>
            <a:xfrm>
              <a:off x="3454233" y="4584954"/>
              <a:ext cx="2600698" cy="750113"/>
            </a:xfrm>
            <a:prstGeom prst="roundRect">
              <a:avLst/>
            </a:prstGeom>
            <a:solidFill>
              <a:srgbClr val="9CB084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algn="ctr" defTabSz="761970">
                <a:defRPr/>
              </a:pPr>
              <a:r>
                <a:rPr lang="fr-CA" sz="1667" b="1" kern="0" dirty="0">
                  <a:solidFill>
                    <a:srgbClr val="9CB084">
                      <a:lumMod val="50000"/>
                    </a:srgbClr>
                  </a:solidFill>
                  <a:latin typeface="Calibri"/>
                </a:rPr>
                <a:t>Planification des besoins matières</a:t>
              </a:r>
            </a:p>
          </p:txBody>
        </p:sp>
      </p:grpSp>
      <p:sp>
        <p:nvSpPr>
          <p:cNvPr id="75" name="Rectangle à coins arrondis 7">
            <a:extLst>
              <a:ext uri="{FF2B5EF4-FFF2-40B4-BE49-F238E27FC236}">
                <a16:creationId xmlns:a16="http://schemas.microsoft.com/office/drawing/2014/main" id="{8C53D20F-BDFD-4CE4-9A6F-4768C0DBB2AE}"/>
              </a:ext>
            </a:extLst>
          </p:cNvPr>
          <p:cNvSpPr/>
          <p:nvPr/>
        </p:nvSpPr>
        <p:spPr>
          <a:xfrm>
            <a:off x="3920236" y="2199615"/>
            <a:ext cx="2165645" cy="604929"/>
          </a:xfrm>
          <a:prstGeom prst="roundRect">
            <a:avLst/>
          </a:prstGeom>
          <a:solidFill>
            <a:srgbClr val="9CB084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/>
          <a:p>
            <a:pPr algn="ctr" defTabSz="761970">
              <a:defRPr/>
            </a:pPr>
            <a:r>
              <a:rPr lang="fr-CA" sz="1667" b="1" kern="0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Planification globale</a:t>
            </a:r>
          </a:p>
        </p:txBody>
      </p:sp>
      <p:sp>
        <p:nvSpPr>
          <p:cNvPr id="76" name="Rectangle à coins arrondis 7">
            <a:extLst>
              <a:ext uri="{FF2B5EF4-FFF2-40B4-BE49-F238E27FC236}">
                <a16:creationId xmlns:a16="http://schemas.microsoft.com/office/drawing/2014/main" id="{ED8C8ADA-9447-4FC6-BE6D-9DE55907DA0A}"/>
              </a:ext>
            </a:extLst>
          </p:cNvPr>
          <p:cNvSpPr/>
          <p:nvPr/>
        </p:nvSpPr>
        <p:spPr>
          <a:xfrm>
            <a:off x="1591839" y="3281391"/>
            <a:ext cx="2165645" cy="1302457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970">
              <a:defRPr/>
            </a:pPr>
            <a:r>
              <a:rPr lang="fr-CA" sz="1667" b="1" kern="0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Gestion des approvisionnements et de la logistique</a:t>
            </a:r>
          </a:p>
        </p:txBody>
      </p:sp>
      <p:sp>
        <p:nvSpPr>
          <p:cNvPr id="77" name="Rectangle à coins arrondis 7">
            <a:extLst>
              <a:ext uri="{FF2B5EF4-FFF2-40B4-BE49-F238E27FC236}">
                <a16:creationId xmlns:a16="http://schemas.microsoft.com/office/drawing/2014/main" id="{87FC1282-8444-44B2-8A20-844A9425078C}"/>
              </a:ext>
            </a:extLst>
          </p:cNvPr>
          <p:cNvSpPr/>
          <p:nvPr/>
        </p:nvSpPr>
        <p:spPr>
          <a:xfrm>
            <a:off x="6239568" y="2898571"/>
            <a:ext cx="2165645" cy="604929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/>
          <a:p>
            <a:pPr algn="ctr" defTabSz="761970">
              <a:defRPr/>
            </a:pPr>
            <a:r>
              <a:rPr lang="fr-CA" sz="1667" b="1" kern="0" dirty="0">
                <a:solidFill>
                  <a:srgbClr val="9CB084">
                    <a:lumMod val="50000"/>
                  </a:srgbClr>
                </a:solidFill>
                <a:latin typeface="Calibri"/>
              </a:rPr>
              <a:t>Contrôle de la qualité</a:t>
            </a:r>
          </a:p>
        </p:txBody>
      </p:sp>
    </p:spTree>
    <p:extLst>
      <p:ext uri="{BB962C8B-B14F-4D97-AF65-F5344CB8AC3E}">
        <p14:creationId xmlns:p14="http://schemas.microsoft.com/office/powerpoint/2010/main" val="1647762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Niveau opérationnel :</a:t>
            </a:r>
            <a:br>
              <a:rPr lang="fr-CA" dirty="0"/>
            </a:br>
            <a:r>
              <a:rPr lang="fr-CA" dirty="0"/>
              <a:t>L’exécution du système GOL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1800" dirty="0"/>
              <a:t>Assurer le fonctionnement de l’organisation au quotidien : </a:t>
            </a:r>
          </a:p>
          <a:p>
            <a:pPr marL="0" indent="0">
              <a:buNone/>
            </a:pPr>
            <a:endParaRPr lang="fr-CA" sz="1800" dirty="0"/>
          </a:p>
          <a:p>
            <a:pPr marL="538163" lvl="1" indent="-177800"/>
            <a:r>
              <a:rPr lang="fr-CA" sz="1800" dirty="0"/>
              <a:t>Mise en œuvre des plans</a:t>
            </a:r>
          </a:p>
          <a:p>
            <a:pPr marL="538163" lvl="1" indent="-177800"/>
            <a:r>
              <a:rPr lang="fr-CA" sz="1800" dirty="0"/>
              <a:t>Affectation des tâches aux ressources</a:t>
            </a:r>
          </a:p>
          <a:p>
            <a:pPr marL="538163" lvl="1" indent="-177800"/>
            <a:r>
              <a:rPr lang="fr-CA" sz="1800" dirty="0"/>
              <a:t>Exécution et contrôle des tâches</a:t>
            </a:r>
          </a:p>
          <a:p>
            <a:pPr marL="538163" lvl="1" indent="-177800"/>
            <a:r>
              <a:rPr lang="fr-CA" sz="1800" dirty="0"/>
              <a:t>Gestion des imprévus</a:t>
            </a:r>
          </a:p>
        </p:txBody>
      </p:sp>
    </p:spTree>
    <p:extLst>
      <p:ext uri="{BB962C8B-B14F-4D97-AF65-F5344CB8AC3E}">
        <p14:creationId xmlns:p14="http://schemas.microsoft.com/office/powerpoint/2010/main" val="3313692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82900-9F0E-4F17-B7A0-F0F725CA0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Décisions en GOL</a:t>
            </a:r>
            <a:endParaRPr lang="fr-CA" dirty="0"/>
          </a:p>
        </p:txBody>
      </p:sp>
      <p:sp>
        <p:nvSpPr>
          <p:cNvPr id="147465" name="Rectangle 9"/>
          <p:cNvSpPr>
            <a:spLocks noGrp="1" noChangeArrowheads="1"/>
          </p:cNvSpPr>
          <p:nvPr>
            <p:ph idx="4294967295"/>
          </p:nvPr>
        </p:nvSpPr>
        <p:spPr>
          <a:xfrm>
            <a:off x="532001" y="1577975"/>
            <a:ext cx="8161150" cy="3187700"/>
          </a:xfrm>
          <a:noFill/>
        </p:spPr>
        <p:txBody>
          <a:bodyPr/>
          <a:lstStyle/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r>
              <a:rPr lang="fr-FR" kern="0" dirty="0">
                <a:solidFill>
                  <a:srgbClr val="185FAB"/>
                </a:solidFill>
              </a:rPr>
              <a:t>Décisions stratégiques : </a:t>
            </a:r>
          </a:p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endParaRPr lang="fr-FR" kern="0" dirty="0">
              <a:solidFill>
                <a:srgbClr val="185FAB"/>
              </a:solidFill>
            </a:endParaRPr>
          </a:p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endParaRPr lang="fr-FR" kern="0" dirty="0">
              <a:solidFill>
                <a:srgbClr val="185FAB"/>
              </a:solidFill>
            </a:endParaRPr>
          </a:p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endParaRPr lang="fr-FR" kern="0" dirty="0">
              <a:solidFill>
                <a:srgbClr val="185FAB"/>
              </a:solidFill>
            </a:endParaRPr>
          </a:p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endParaRPr lang="fr-FR" kern="0" dirty="0">
              <a:solidFill>
                <a:srgbClr val="185FAB"/>
              </a:solidFill>
            </a:endParaRPr>
          </a:p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r>
              <a:rPr lang="fr-FR" kern="0" dirty="0">
                <a:solidFill>
                  <a:srgbClr val="185FAB"/>
                </a:solidFill>
              </a:rPr>
              <a:t>Décisions tactiques : </a:t>
            </a:r>
          </a:p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endParaRPr lang="fr-FR" kern="0" dirty="0">
              <a:solidFill>
                <a:srgbClr val="185FAB"/>
              </a:solidFill>
            </a:endParaRPr>
          </a:p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endParaRPr lang="fr-FR" kern="0" dirty="0">
              <a:solidFill>
                <a:srgbClr val="185FAB"/>
              </a:solidFill>
            </a:endParaRPr>
          </a:p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endParaRPr lang="fr-FR" kern="0" dirty="0">
              <a:solidFill>
                <a:srgbClr val="185FAB"/>
              </a:solidFill>
            </a:endParaRPr>
          </a:p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endParaRPr lang="fr-FR" kern="0" dirty="0">
              <a:solidFill>
                <a:srgbClr val="185FAB"/>
              </a:solidFill>
            </a:endParaRPr>
          </a:p>
          <a:p>
            <a:pPr marL="342900" indent="-342900" fontAlgn="base">
              <a:lnSpc>
                <a:spcPct val="80000"/>
              </a:lnSpc>
              <a:spcAft>
                <a:spcPct val="0"/>
              </a:spcAft>
              <a:buSzPct val="100000"/>
              <a:buFont typeface="Arial" charset="0"/>
              <a:buChar char="●"/>
            </a:pPr>
            <a:r>
              <a:rPr lang="fr-FR" kern="0" dirty="0">
                <a:solidFill>
                  <a:srgbClr val="185FAB"/>
                </a:solidFill>
              </a:rPr>
              <a:t>Décisions opérationnelles </a:t>
            </a:r>
            <a:r>
              <a:rPr lang="fr-FR" dirty="0"/>
              <a:t>: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D3D536D-F3E9-40FE-901F-64D8F7984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00" y="3911012"/>
            <a:ext cx="989264" cy="9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93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tendances actuelles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B46B7BF5-0833-496F-B01D-DAE82B8D1119}"/>
              </a:ext>
            </a:extLst>
          </p:cNvPr>
          <p:cNvGrpSpPr/>
          <p:nvPr/>
        </p:nvGrpSpPr>
        <p:grpSpPr>
          <a:xfrm>
            <a:off x="2020881" y="1875318"/>
            <a:ext cx="1231200" cy="1231900"/>
            <a:chOff x="4228911" y="1448761"/>
            <a:chExt cx="1231200" cy="12319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E588CAE-0D31-4947-9562-6A76B4639B12}"/>
                </a:ext>
              </a:extLst>
            </p:cNvPr>
            <p:cNvSpPr>
              <a:spLocks/>
            </p:cNvSpPr>
            <p:nvPr/>
          </p:nvSpPr>
          <p:spPr>
            <a:xfrm>
              <a:off x="4228911" y="1448761"/>
              <a:ext cx="1231200" cy="12319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6" name="Graphique 5" descr="Lien">
              <a:extLst>
                <a:ext uri="{FF2B5EF4-FFF2-40B4-BE49-F238E27FC236}">
                  <a16:creationId xmlns:a16="http://schemas.microsoft.com/office/drawing/2014/main" id="{D285A853-7B10-4F14-B524-C3DADE0DB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89127" y="1590415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28CA81A7-766B-4C7E-9B10-EBF100A18BC1}"/>
              </a:ext>
            </a:extLst>
          </p:cNvPr>
          <p:cNvGrpSpPr/>
          <p:nvPr/>
        </p:nvGrpSpPr>
        <p:grpSpPr>
          <a:xfrm>
            <a:off x="4611789" y="1939780"/>
            <a:ext cx="1231200" cy="1231900"/>
            <a:chOff x="5831455" y="1967433"/>
            <a:chExt cx="1231200" cy="1231900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5614749C-612E-41FA-844E-28983B2C36A0}"/>
                </a:ext>
              </a:extLst>
            </p:cNvPr>
            <p:cNvSpPr>
              <a:spLocks/>
            </p:cNvSpPr>
            <p:nvPr/>
          </p:nvSpPr>
          <p:spPr>
            <a:xfrm>
              <a:off x="5831455" y="1967433"/>
              <a:ext cx="1231200" cy="12319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8" name="Graphique 7" descr="Durabilité">
              <a:extLst>
                <a:ext uri="{FF2B5EF4-FFF2-40B4-BE49-F238E27FC236}">
                  <a16:creationId xmlns:a16="http://schemas.microsoft.com/office/drawing/2014/main" id="{2B4E3930-0DD1-4C7D-8750-BEF871465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81898" y="2094923"/>
              <a:ext cx="914400" cy="914400"/>
            </a:xfrm>
            <a:prstGeom prst="rect">
              <a:avLst/>
            </a:prstGeom>
          </p:spPr>
        </p:pic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FD3AFF90-0D4A-48DB-B466-FEC690912DD3}"/>
              </a:ext>
            </a:extLst>
          </p:cNvPr>
          <p:cNvGrpSpPr/>
          <p:nvPr/>
        </p:nvGrpSpPr>
        <p:grpSpPr>
          <a:xfrm>
            <a:off x="7202697" y="1923057"/>
            <a:ext cx="1231200" cy="1231900"/>
            <a:chOff x="6971322" y="1923057"/>
            <a:chExt cx="1231200" cy="1231900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315A1F1-F724-4D64-88A7-2A860720D2C2}"/>
                </a:ext>
              </a:extLst>
            </p:cNvPr>
            <p:cNvSpPr>
              <a:spLocks/>
            </p:cNvSpPr>
            <p:nvPr/>
          </p:nvSpPr>
          <p:spPr>
            <a:xfrm>
              <a:off x="6971322" y="1923057"/>
              <a:ext cx="1231200" cy="12319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1" name="Graphique 10" descr="Livre de jeu">
              <a:extLst>
                <a:ext uri="{FF2B5EF4-FFF2-40B4-BE49-F238E27FC236}">
                  <a16:creationId xmlns:a16="http://schemas.microsoft.com/office/drawing/2014/main" id="{687D848C-773A-4CF6-9BEB-2E5B8FD98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15907" y="2064711"/>
              <a:ext cx="914400" cy="914400"/>
            </a:xfrm>
            <a:prstGeom prst="rect">
              <a:avLst/>
            </a:prstGeom>
          </p:spPr>
        </p:pic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0028A91D-04B1-4DB5-B88A-8B153DE47526}"/>
              </a:ext>
            </a:extLst>
          </p:cNvPr>
          <p:cNvSpPr txBox="1"/>
          <p:nvPr/>
        </p:nvSpPr>
        <p:spPr>
          <a:xfrm>
            <a:off x="1679819" y="3262766"/>
            <a:ext cx="1913325" cy="116797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670" dirty="0"/>
              <a:t>Intégration de la chaîne logistique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BF43150-4A95-4642-9788-54970D1059E8}"/>
              </a:ext>
            </a:extLst>
          </p:cNvPr>
          <p:cNvSpPr txBox="1"/>
          <p:nvPr/>
        </p:nvSpPr>
        <p:spPr>
          <a:xfrm>
            <a:off x="4270727" y="3310309"/>
            <a:ext cx="1913325" cy="116797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670" dirty="0"/>
              <a:t>Développement durable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F227877-9333-4F5D-8158-D4EEF3E25C29}"/>
              </a:ext>
            </a:extLst>
          </p:cNvPr>
          <p:cNvSpPr txBox="1"/>
          <p:nvPr/>
        </p:nvSpPr>
        <p:spPr>
          <a:xfrm>
            <a:off x="6861635" y="3313764"/>
            <a:ext cx="1913325" cy="116797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670" dirty="0"/>
              <a:t>Lean</a:t>
            </a:r>
          </a:p>
        </p:txBody>
      </p:sp>
    </p:spTree>
    <p:extLst>
      <p:ext uri="{BB962C8B-B14F-4D97-AF65-F5344CB8AC3E}">
        <p14:creationId xmlns:p14="http://schemas.microsoft.com/office/powerpoint/2010/main" val="252306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Rectangle 7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chaîne logistique</a:t>
            </a: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90" y="1516868"/>
            <a:ext cx="5978632" cy="3458229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 rot="5400000">
            <a:off x="6580661" y="3012378"/>
            <a:ext cx="928952" cy="253916"/>
          </a:xfrm>
          <a:prstGeom prst="rect">
            <a:avLst/>
          </a:prstGeom>
          <a:solidFill>
            <a:srgbClr val="FFCC00"/>
          </a:solidFill>
        </p:spPr>
        <p:txBody>
          <a:bodyPr wrap="square" rtlCol="0">
            <a:spAutoFit/>
          </a:bodyPr>
          <a:lstStyle/>
          <a:p>
            <a:r>
              <a:rPr lang="fr-CA" sz="1050" b="1" dirty="0"/>
              <a:t>logistique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8CA04F8-3C9C-454B-9F19-B65E09F1B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521" y="2984517"/>
            <a:ext cx="1935882" cy="1865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Arial" charset="0"/>
              <a:buChar char="●"/>
              <a:defRPr sz="2400">
                <a:solidFill>
                  <a:srgbClr val="185FA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C98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185FAB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SzPct val="100000"/>
              <a:buNone/>
            </a:pPr>
            <a:r>
              <a:rPr lang="fr-CA" sz="1800" b="1" kern="0" dirty="0">
                <a:latin typeface="Arial" pitchFamily="34" charset="0"/>
                <a:cs typeface="Arial" pitchFamily="34" charset="0"/>
              </a:rPr>
              <a:t>Intégration =</a:t>
            </a:r>
          </a:p>
          <a:p>
            <a:pPr marL="0" indent="0">
              <a:buSzPct val="100000"/>
              <a:buNone/>
            </a:pPr>
            <a:r>
              <a:rPr lang="fr-CA" sz="1800" kern="0" dirty="0">
                <a:latin typeface="Arial" pitchFamily="34" charset="0"/>
                <a:cs typeface="Arial" pitchFamily="34" charset="0"/>
              </a:rPr>
              <a:t>Flux efficace : 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fr-CA" sz="1800" kern="0" dirty="0">
                <a:latin typeface="Arial" pitchFamily="34" charset="0"/>
                <a:cs typeface="Arial" pitchFamily="34" charset="0"/>
              </a:rPr>
              <a:t>d’information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fr-CA" sz="1800" kern="0" dirty="0">
                <a:latin typeface="Arial" pitchFamily="34" charset="0"/>
                <a:cs typeface="Arial" pitchFamily="34" charset="0"/>
              </a:rPr>
              <a:t>de matières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fr-CA" sz="1800" kern="0" dirty="0">
                <a:latin typeface="Arial" pitchFamily="34" charset="0"/>
                <a:cs typeface="Arial" pitchFamily="34" charset="0"/>
              </a:rPr>
              <a:t>d’$</a:t>
            </a:r>
            <a:endParaRPr lang="fr-CA" sz="2100" kern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37DD5B54-4393-4317-B455-AE72554A25D4}"/>
              </a:ext>
            </a:extLst>
          </p:cNvPr>
          <p:cNvGrpSpPr/>
          <p:nvPr/>
        </p:nvGrpSpPr>
        <p:grpSpPr>
          <a:xfrm>
            <a:off x="7753170" y="1498583"/>
            <a:ext cx="1231200" cy="1231900"/>
            <a:chOff x="4228911" y="1448761"/>
            <a:chExt cx="1231200" cy="1231900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B860E33-77C3-4C61-B14E-C40B26A7E967}"/>
                </a:ext>
              </a:extLst>
            </p:cNvPr>
            <p:cNvSpPr>
              <a:spLocks/>
            </p:cNvSpPr>
            <p:nvPr/>
          </p:nvSpPr>
          <p:spPr>
            <a:xfrm>
              <a:off x="4228911" y="1448761"/>
              <a:ext cx="1231200" cy="12319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8" name="Graphique 7" descr="Lien">
              <a:extLst>
                <a:ext uri="{FF2B5EF4-FFF2-40B4-BE49-F238E27FC236}">
                  <a16:creationId xmlns:a16="http://schemas.microsoft.com/office/drawing/2014/main" id="{153C883B-9CD5-41E2-A29A-8161CCB3D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89127" y="1590415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Développement durable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6568" y="1577687"/>
            <a:ext cx="5906632" cy="3187989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La gestion des opérations est au cœur de la gestion environnementale dans les entreprises :</a:t>
            </a:r>
          </a:p>
          <a:p>
            <a:pPr marL="298800" lvl="1" indent="0">
              <a:buNone/>
            </a:pPr>
            <a:r>
              <a:rPr lang="fr-CA" b="1" dirty="0"/>
              <a:t>Conception de produit :</a:t>
            </a:r>
          </a:p>
          <a:p>
            <a:pPr lvl="2"/>
            <a:r>
              <a:rPr lang="fr-CA" dirty="0"/>
              <a:t>Écoconception</a:t>
            </a:r>
          </a:p>
          <a:p>
            <a:pPr lvl="2"/>
            <a:r>
              <a:rPr lang="fr-CA" dirty="0"/>
              <a:t>Analyse du cycle de vie</a:t>
            </a:r>
          </a:p>
          <a:p>
            <a:pPr marL="298800" lvl="1" indent="0">
              <a:buNone/>
            </a:pPr>
            <a:r>
              <a:rPr lang="fr-CA" b="1" dirty="0"/>
              <a:t>Conception du processus :</a:t>
            </a:r>
          </a:p>
          <a:p>
            <a:pPr lvl="2"/>
            <a:r>
              <a:rPr lang="fr-CA" dirty="0"/>
              <a:t>Changements de bout-de-chaîne ou changement fondamental du processus</a:t>
            </a:r>
          </a:p>
          <a:p>
            <a:pPr lvl="2"/>
            <a:r>
              <a:rPr lang="fr-CA" dirty="0"/>
              <a:t>Gestion des matières résiduelles</a:t>
            </a:r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05A22981-58D5-4BC0-8727-B719CC8669DA}"/>
              </a:ext>
            </a:extLst>
          </p:cNvPr>
          <p:cNvGrpSpPr/>
          <p:nvPr/>
        </p:nvGrpSpPr>
        <p:grpSpPr>
          <a:xfrm>
            <a:off x="1276918" y="2708184"/>
            <a:ext cx="1231200" cy="1231900"/>
            <a:chOff x="5831455" y="1967433"/>
            <a:chExt cx="1231200" cy="12319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CB8DC10C-48B7-4872-938B-ADB55BB0027A}"/>
                </a:ext>
              </a:extLst>
            </p:cNvPr>
            <p:cNvSpPr>
              <a:spLocks/>
            </p:cNvSpPr>
            <p:nvPr/>
          </p:nvSpPr>
          <p:spPr>
            <a:xfrm>
              <a:off x="5831455" y="1967433"/>
              <a:ext cx="1231200" cy="12319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7" name="Graphique 6" descr="Durabilité">
              <a:extLst>
                <a:ext uri="{FF2B5EF4-FFF2-40B4-BE49-F238E27FC236}">
                  <a16:creationId xmlns:a16="http://schemas.microsoft.com/office/drawing/2014/main" id="{D886B7E5-D1BE-4427-AEC3-1A480EFA3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81898" y="209492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3879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Développement durable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9724" y="1593055"/>
            <a:ext cx="5983476" cy="38318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b="1" dirty="0"/>
              <a:t>Logistique :</a:t>
            </a:r>
          </a:p>
          <a:p>
            <a:pPr lvl="1"/>
            <a:r>
              <a:rPr lang="fr-CA" sz="1600" dirty="0"/>
              <a:t>Gestion écologique du transport;</a:t>
            </a:r>
          </a:p>
          <a:p>
            <a:pPr lvl="1"/>
            <a:r>
              <a:rPr lang="fr-CA" sz="1600" dirty="0"/>
              <a:t>Optimisation des réseaux;</a:t>
            </a:r>
          </a:p>
          <a:p>
            <a:pPr lvl="1"/>
            <a:r>
              <a:rPr lang="fr-CA" sz="1600" dirty="0"/>
              <a:t>Logistique à rebours.</a:t>
            </a:r>
          </a:p>
          <a:p>
            <a:pPr marL="0" indent="0">
              <a:buNone/>
            </a:pPr>
            <a:r>
              <a:rPr lang="fr-CA" b="1" dirty="0"/>
              <a:t>Gestion des approvisionnements :</a:t>
            </a:r>
          </a:p>
          <a:p>
            <a:pPr lvl="1"/>
            <a:r>
              <a:rPr lang="fr-CA" sz="1600" dirty="0"/>
              <a:t>Critères environnementaux et sociaux lors de la sélection des produits et des fournisseurs; </a:t>
            </a:r>
          </a:p>
          <a:p>
            <a:pPr lvl="1"/>
            <a:r>
              <a:rPr lang="fr-CA" sz="1600" dirty="0"/>
              <a:t>Gestion des matières résiduelles.</a:t>
            </a:r>
          </a:p>
          <a:p>
            <a:pPr marL="0" indent="0">
              <a:buNone/>
            </a:pPr>
            <a:r>
              <a:rPr lang="fr-CA" b="1" dirty="0"/>
              <a:t>Gestion de la qualité :</a:t>
            </a:r>
          </a:p>
          <a:p>
            <a:pPr lvl="1"/>
            <a:r>
              <a:rPr lang="fr-CA" sz="1600" dirty="0"/>
              <a:t>Réduire les rejets (mauvaise qualité) équivaut à une meilleure utilisation des ressources (moins de pollution);</a:t>
            </a:r>
          </a:p>
          <a:p>
            <a:pPr lvl="1"/>
            <a:r>
              <a:rPr lang="fr-CA" sz="1600" dirty="0"/>
              <a:t>ISO 9001.</a:t>
            </a:r>
          </a:p>
          <a:p>
            <a:pPr lvl="1"/>
            <a:endParaRPr lang="fr-CA" dirty="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CF1B6DE8-387F-4FD4-9398-F74C80436352}"/>
              </a:ext>
            </a:extLst>
          </p:cNvPr>
          <p:cNvGrpSpPr/>
          <p:nvPr/>
        </p:nvGrpSpPr>
        <p:grpSpPr>
          <a:xfrm>
            <a:off x="1276918" y="2708184"/>
            <a:ext cx="1231200" cy="1231900"/>
            <a:chOff x="5831455" y="1967433"/>
            <a:chExt cx="1231200" cy="1231900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F486B602-D7C5-4361-B1C7-654725FE5BF0}"/>
                </a:ext>
              </a:extLst>
            </p:cNvPr>
            <p:cNvSpPr>
              <a:spLocks/>
            </p:cNvSpPr>
            <p:nvPr/>
          </p:nvSpPr>
          <p:spPr>
            <a:xfrm>
              <a:off x="5831455" y="1967433"/>
              <a:ext cx="1231200" cy="12319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0" name="Graphique 9" descr="Durabilité">
              <a:extLst>
                <a:ext uri="{FF2B5EF4-FFF2-40B4-BE49-F238E27FC236}">
                  <a16:creationId xmlns:a16="http://schemas.microsoft.com/office/drawing/2014/main" id="{1368F1B3-D908-4867-9C04-FC066BD43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81898" y="209492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176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sz="half" idx="1"/>
          </p:nvPr>
        </p:nvSpPr>
        <p:spPr>
          <a:xfrm>
            <a:off x="3035682" y="1549793"/>
            <a:ext cx="2886839" cy="3705658"/>
          </a:xfrm>
        </p:spPr>
        <p:txBody>
          <a:bodyPr/>
          <a:lstStyle/>
          <a:p>
            <a:pPr marL="0" indent="0">
              <a:buNone/>
            </a:pPr>
            <a:r>
              <a:rPr lang="fr-CA" sz="1800" b="1" dirty="0"/>
              <a:t>Amélioration continue</a:t>
            </a:r>
          </a:p>
          <a:p>
            <a:endParaRPr lang="fr-CA" dirty="0"/>
          </a:p>
          <a:p>
            <a:pPr marL="452438" lvl="1" indent="-276225"/>
            <a:r>
              <a:rPr lang="fr-CA" dirty="0"/>
              <a:t>Production «Lean»</a:t>
            </a:r>
          </a:p>
          <a:p>
            <a:pPr marL="452438" lvl="1" indent="-276225"/>
            <a:r>
              <a:rPr lang="fr-CA" dirty="0"/>
              <a:t>Orientation Client</a:t>
            </a:r>
          </a:p>
          <a:p>
            <a:pPr marL="452438" lvl="1" indent="-276225"/>
            <a:r>
              <a:rPr lang="fr-CA" dirty="0"/>
              <a:t>Élimination du gaspillage	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sz="half" idx="2"/>
          </p:nvPr>
        </p:nvSpPr>
        <p:spPr>
          <a:xfrm>
            <a:off x="6060068" y="1542903"/>
            <a:ext cx="3113133" cy="3705658"/>
          </a:xfrm>
        </p:spPr>
        <p:txBody>
          <a:bodyPr/>
          <a:lstStyle/>
          <a:p>
            <a:pPr marL="0" indent="0">
              <a:buNone/>
            </a:pPr>
            <a:r>
              <a:rPr lang="fr-CA" sz="1800" b="1" dirty="0"/>
              <a:t>Respect des gens</a:t>
            </a:r>
          </a:p>
          <a:p>
            <a:endParaRPr lang="fr-CA" dirty="0"/>
          </a:p>
          <a:p>
            <a:pPr marL="452438" lvl="1" indent="-276225"/>
            <a:r>
              <a:rPr lang="fr-CA" dirty="0"/>
              <a:t>Employeur = Employés</a:t>
            </a:r>
          </a:p>
          <a:p>
            <a:pPr marL="452438" lvl="1" indent="-276225"/>
            <a:r>
              <a:rPr lang="fr-CA" dirty="0"/>
              <a:t>Porteurs de solutions</a:t>
            </a:r>
          </a:p>
          <a:p>
            <a:pPr marL="452438" lvl="1" indent="-276225"/>
            <a:r>
              <a:rPr lang="fr-CA" dirty="0"/>
              <a:t>Formation</a:t>
            </a:r>
          </a:p>
          <a:p>
            <a:pPr marL="452438" lvl="1" indent="-276225"/>
            <a:r>
              <a:rPr lang="fr-CA" dirty="0"/>
              <a:t>Polyvalence</a:t>
            </a:r>
          </a:p>
          <a:p>
            <a:pPr marL="452438" lvl="1" indent="-276225"/>
            <a:r>
              <a:rPr lang="fr-CA" dirty="0"/>
              <a:t>Liens avec les clients</a:t>
            </a: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Lean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19D88569-0C3F-4A84-BA5C-A36E2CCE1BA8}"/>
              </a:ext>
            </a:extLst>
          </p:cNvPr>
          <p:cNvGrpSpPr/>
          <p:nvPr/>
        </p:nvGrpSpPr>
        <p:grpSpPr>
          <a:xfrm>
            <a:off x="1276918" y="2676924"/>
            <a:ext cx="1231200" cy="1231900"/>
            <a:chOff x="6971322" y="1923057"/>
            <a:chExt cx="1231200" cy="1231900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882967EA-0AA9-4FFA-8BB6-72DEBD830204}"/>
                </a:ext>
              </a:extLst>
            </p:cNvPr>
            <p:cNvSpPr>
              <a:spLocks/>
            </p:cNvSpPr>
            <p:nvPr/>
          </p:nvSpPr>
          <p:spPr>
            <a:xfrm>
              <a:off x="6971322" y="1923057"/>
              <a:ext cx="1231200" cy="12319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3" name="Graphique 12" descr="Livre de jeu">
              <a:extLst>
                <a:ext uri="{FF2B5EF4-FFF2-40B4-BE49-F238E27FC236}">
                  <a16:creationId xmlns:a16="http://schemas.microsoft.com/office/drawing/2014/main" id="{B6285A95-30CA-485E-AE52-775BE70F6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15907" y="2064711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9797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71BBC-F5ED-4112-A171-F72B495A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Questions…</a:t>
            </a:r>
          </a:p>
        </p:txBody>
      </p:sp>
      <p:grpSp>
        <p:nvGrpSpPr>
          <p:cNvPr id="5" name="Group 138">
            <a:extLst>
              <a:ext uri="{FF2B5EF4-FFF2-40B4-BE49-F238E27FC236}">
                <a16:creationId xmlns:a16="http://schemas.microsoft.com/office/drawing/2014/main" id="{58B95182-4054-43D5-805D-EA019D19B037}"/>
              </a:ext>
            </a:extLst>
          </p:cNvPr>
          <p:cNvGrpSpPr/>
          <p:nvPr/>
        </p:nvGrpSpPr>
        <p:grpSpPr>
          <a:xfrm>
            <a:off x="4374561" y="1844623"/>
            <a:ext cx="1977212" cy="2921741"/>
            <a:chOff x="8704441" y="2571694"/>
            <a:chExt cx="7028256" cy="10385705"/>
          </a:xfrm>
        </p:grpSpPr>
        <p:sp>
          <p:nvSpPr>
            <p:cNvPr id="6" name="Shape 34173">
              <a:extLst>
                <a:ext uri="{FF2B5EF4-FFF2-40B4-BE49-F238E27FC236}">
                  <a16:creationId xmlns:a16="http://schemas.microsoft.com/office/drawing/2014/main" id="{54F8AFD0-226B-45AF-A0F9-4E5B60DD3D2D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" name="Shape 34174">
              <a:extLst>
                <a:ext uri="{FF2B5EF4-FFF2-40B4-BE49-F238E27FC236}">
                  <a16:creationId xmlns:a16="http://schemas.microsoft.com/office/drawing/2014/main" id="{68128151-2760-45B8-97EA-5230D64C08CC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" name="Shape 34175">
              <a:extLst>
                <a:ext uri="{FF2B5EF4-FFF2-40B4-BE49-F238E27FC236}">
                  <a16:creationId xmlns:a16="http://schemas.microsoft.com/office/drawing/2014/main" id="{1D7F4211-594B-47C9-8DCD-A4BCD12E586A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" name="Shape 34176">
              <a:extLst>
                <a:ext uri="{FF2B5EF4-FFF2-40B4-BE49-F238E27FC236}">
                  <a16:creationId xmlns:a16="http://schemas.microsoft.com/office/drawing/2014/main" id="{E160DC46-78C8-4C98-9610-BC7760A49598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0" name="Shape 34177">
              <a:extLst>
                <a:ext uri="{FF2B5EF4-FFF2-40B4-BE49-F238E27FC236}">
                  <a16:creationId xmlns:a16="http://schemas.microsoft.com/office/drawing/2014/main" id="{78E9A327-153C-4224-85C0-1ACC89739B8D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1" name="Shape 34178">
              <a:extLst>
                <a:ext uri="{FF2B5EF4-FFF2-40B4-BE49-F238E27FC236}">
                  <a16:creationId xmlns:a16="http://schemas.microsoft.com/office/drawing/2014/main" id="{4F678B15-F002-4E8B-9DFF-E999A7B29C8E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2" name="Shape 34179">
              <a:extLst>
                <a:ext uri="{FF2B5EF4-FFF2-40B4-BE49-F238E27FC236}">
                  <a16:creationId xmlns:a16="http://schemas.microsoft.com/office/drawing/2014/main" id="{B640C1FD-64C6-481E-8CA6-1F579DB7BF97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3" name="Shape 34180">
              <a:extLst>
                <a:ext uri="{FF2B5EF4-FFF2-40B4-BE49-F238E27FC236}">
                  <a16:creationId xmlns:a16="http://schemas.microsoft.com/office/drawing/2014/main" id="{FC0527D6-D884-408F-BA36-9B4D6D2454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4" name="Shape 34181">
              <a:extLst>
                <a:ext uri="{FF2B5EF4-FFF2-40B4-BE49-F238E27FC236}">
                  <a16:creationId xmlns:a16="http://schemas.microsoft.com/office/drawing/2014/main" id="{D20E22D0-E6B4-4E74-BCC9-D24F167314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5" name="Shape 34182">
              <a:extLst>
                <a:ext uri="{FF2B5EF4-FFF2-40B4-BE49-F238E27FC236}">
                  <a16:creationId xmlns:a16="http://schemas.microsoft.com/office/drawing/2014/main" id="{32FA501B-5962-4484-8A0B-34C400BFD48A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6" name="Shape 34183">
              <a:extLst>
                <a:ext uri="{FF2B5EF4-FFF2-40B4-BE49-F238E27FC236}">
                  <a16:creationId xmlns:a16="http://schemas.microsoft.com/office/drawing/2014/main" id="{742CAAEB-DCDA-49D9-BEDF-A0DEC236B988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7" name="Shape 34184">
              <a:extLst>
                <a:ext uri="{FF2B5EF4-FFF2-40B4-BE49-F238E27FC236}">
                  <a16:creationId xmlns:a16="http://schemas.microsoft.com/office/drawing/2014/main" id="{E69921C6-AB16-4677-B9C6-0FA4349CB779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8" name="Shape 34185">
              <a:extLst>
                <a:ext uri="{FF2B5EF4-FFF2-40B4-BE49-F238E27FC236}">
                  <a16:creationId xmlns:a16="http://schemas.microsoft.com/office/drawing/2014/main" id="{915AC7A9-5EEC-49B9-8FB0-0DE814528FC9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9" name="Shape 34186">
              <a:extLst>
                <a:ext uri="{FF2B5EF4-FFF2-40B4-BE49-F238E27FC236}">
                  <a16:creationId xmlns:a16="http://schemas.microsoft.com/office/drawing/2014/main" id="{01F8225B-CB5F-44AD-8D3C-936834D1EE0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0" name="Shape 34187">
              <a:extLst>
                <a:ext uri="{FF2B5EF4-FFF2-40B4-BE49-F238E27FC236}">
                  <a16:creationId xmlns:a16="http://schemas.microsoft.com/office/drawing/2014/main" id="{508E7D9F-4C55-4457-9A82-9323CFD93CC4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1" name="Shape 34188">
              <a:extLst>
                <a:ext uri="{FF2B5EF4-FFF2-40B4-BE49-F238E27FC236}">
                  <a16:creationId xmlns:a16="http://schemas.microsoft.com/office/drawing/2014/main" id="{AF834B20-31C8-4541-8AFF-BE903C61AFB9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2" name="Shape 34189">
              <a:extLst>
                <a:ext uri="{FF2B5EF4-FFF2-40B4-BE49-F238E27FC236}">
                  <a16:creationId xmlns:a16="http://schemas.microsoft.com/office/drawing/2014/main" id="{5949C4E4-0034-4793-B722-E118F56CE1EB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hape 34190">
              <a:extLst>
                <a:ext uri="{FF2B5EF4-FFF2-40B4-BE49-F238E27FC236}">
                  <a16:creationId xmlns:a16="http://schemas.microsoft.com/office/drawing/2014/main" id="{FD9E14DF-FF37-4D75-8894-9782E6DCA385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4" name="Shape 34191">
              <a:extLst>
                <a:ext uri="{FF2B5EF4-FFF2-40B4-BE49-F238E27FC236}">
                  <a16:creationId xmlns:a16="http://schemas.microsoft.com/office/drawing/2014/main" id="{F4942482-7233-443A-AAB6-CA040D8409AD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5" name="Shape 34192">
              <a:extLst>
                <a:ext uri="{FF2B5EF4-FFF2-40B4-BE49-F238E27FC236}">
                  <a16:creationId xmlns:a16="http://schemas.microsoft.com/office/drawing/2014/main" id="{07714D24-2224-4987-B8A2-EC92E8A8742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6" name="Shape 34193">
              <a:extLst>
                <a:ext uri="{FF2B5EF4-FFF2-40B4-BE49-F238E27FC236}">
                  <a16:creationId xmlns:a16="http://schemas.microsoft.com/office/drawing/2014/main" id="{DDF36766-BCCB-459F-B724-146EF781845E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7" name="Shape 34194">
              <a:extLst>
                <a:ext uri="{FF2B5EF4-FFF2-40B4-BE49-F238E27FC236}">
                  <a16:creationId xmlns:a16="http://schemas.microsoft.com/office/drawing/2014/main" id="{C5400AA8-A391-44FC-8823-49C108D41F3D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8" name="Shape 34195">
              <a:extLst>
                <a:ext uri="{FF2B5EF4-FFF2-40B4-BE49-F238E27FC236}">
                  <a16:creationId xmlns:a16="http://schemas.microsoft.com/office/drawing/2014/main" id="{89493208-37CF-4438-8A6C-1355E00BDC30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9" name="Shape 34196">
              <a:extLst>
                <a:ext uri="{FF2B5EF4-FFF2-40B4-BE49-F238E27FC236}">
                  <a16:creationId xmlns:a16="http://schemas.microsoft.com/office/drawing/2014/main" id="{ADE7D283-5173-4665-AF59-5196E59E95AE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0" name="Shape 34197">
              <a:extLst>
                <a:ext uri="{FF2B5EF4-FFF2-40B4-BE49-F238E27FC236}">
                  <a16:creationId xmlns:a16="http://schemas.microsoft.com/office/drawing/2014/main" id="{23CCC0A9-B271-4803-AC68-EABB90218338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1" name="Shape 34198">
              <a:extLst>
                <a:ext uri="{FF2B5EF4-FFF2-40B4-BE49-F238E27FC236}">
                  <a16:creationId xmlns:a16="http://schemas.microsoft.com/office/drawing/2014/main" id="{9C7DEE4C-4587-42CB-AB87-BB05A9F7F65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2" name="Shape 34199">
              <a:extLst>
                <a:ext uri="{FF2B5EF4-FFF2-40B4-BE49-F238E27FC236}">
                  <a16:creationId xmlns:a16="http://schemas.microsoft.com/office/drawing/2014/main" id="{9A6BA983-5334-41C3-8D36-D4793119FC43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3" name="Shape 34200">
              <a:extLst>
                <a:ext uri="{FF2B5EF4-FFF2-40B4-BE49-F238E27FC236}">
                  <a16:creationId xmlns:a16="http://schemas.microsoft.com/office/drawing/2014/main" id="{443ECE95-13D9-4034-8245-4A83768A0116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34201">
              <a:extLst>
                <a:ext uri="{FF2B5EF4-FFF2-40B4-BE49-F238E27FC236}">
                  <a16:creationId xmlns:a16="http://schemas.microsoft.com/office/drawing/2014/main" id="{FF4B6CEF-AE43-490A-BE31-6AF6D492B235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34202">
              <a:extLst>
                <a:ext uri="{FF2B5EF4-FFF2-40B4-BE49-F238E27FC236}">
                  <a16:creationId xmlns:a16="http://schemas.microsoft.com/office/drawing/2014/main" id="{0A6FDF2A-C25B-4F2A-B306-406E04B24058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6" name="Shape 34203">
              <a:extLst>
                <a:ext uri="{FF2B5EF4-FFF2-40B4-BE49-F238E27FC236}">
                  <a16:creationId xmlns:a16="http://schemas.microsoft.com/office/drawing/2014/main" id="{431603F6-8459-4931-A432-DD60F1AF30A1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7" name="Shape 34204">
              <a:extLst>
                <a:ext uri="{FF2B5EF4-FFF2-40B4-BE49-F238E27FC236}">
                  <a16:creationId xmlns:a16="http://schemas.microsoft.com/office/drawing/2014/main" id="{9665CD0A-DDE4-46A5-B551-E7F148138D88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hape 34205">
              <a:extLst>
                <a:ext uri="{FF2B5EF4-FFF2-40B4-BE49-F238E27FC236}">
                  <a16:creationId xmlns:a16="http://schemas.microsoft.com/office/drawing/2014/main" id="{CC09C2DA-6F17-41BE-9A24-0BF1A400F0D4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34206">
              <a:extLst>
                <a:ext uri="{FF2B5EF4-FFF2-40B4-BE49-F238E27FC236}">
                  <a16:creationId xmlns:a16="http://schemas.microsoft.com/office/drawing/2014/main" id="{D54A38B7-B7A3-4D26-B18D-D2F9E1DEF86E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0" name="Shape 34207">
              <a:extLst>
                <a:ext uri="{FF2B5EF4-FFF2-40B4-BE49-F238E27FC236}">
                  <a16:creationId xmlns:a16="http://schemas.microsoft.com/office/drawing/2014/main" id="{900B87C9-6CD9-41B0-A616-57EC0EC0FAB9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1" name="Shape 34208">
              <a:extLst>
                <a:ext uri="{FF2B5EF4-FFF2-40B4-BE49-F238E27FC236}">
                  <a16:creationId xmlns:a16="http://schemas.microsoft.com/office/drawing/2014/main" id="{FF9E974C-3C6B-48EE-9765-B1BD62EDEBBB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2" name="Shape 34209">
              <a:extLst>
                <a:ext uri="{FF2B5EF4-FFF2-40B4-BE49-F238E27FC236}">
                  <a16:creationId xmlns:a16="http://schemas.microsoft.com/office/drawing/2014/main" id="{195891F6-456F-487D-9A31-3205CFC000A0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3" name="Shape 34210">
              <a:extLst>
                <a:ext uri="{FF2B5EF4-FFF2-40B4-BE49-F238E27FC236}">
                  <a16:creationId xmlns:a16="http://schemas.microsoft.com/office/drawing/2014/main" id="{CFD870BB-6E85-41C6-B8B8-07CBF8452CDC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4" name="Shape 34211">
              <a:extLst>
                <a:ext uri="{FF2B5EF4-FFF2-40B4-BE49-F238E27FC236}">
                  <a16:creationId xmlns:a16="http://schemas.microsoft.com/office/drawing/2014/main" id="{2D449E41-EBF7-496F-9601-C0F4A60948A8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5" name="Shape 34212">
              <a:extLst>
                <a:ext uri="{FF2B5EF4-FFF2-40B4-BE49-F238E27FC236}">
                  <a16:creationId xmlns:a16="http://schemas.microsoft.com/office/drawing/2014/main" id="{813003F3-1906-4BE1-B321-391211951EE5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6" name="Shape 34213">
              <a:extLst>
                <a:ext uri="{FF2B5EF4-FFF2-40B4-BE49-F238E27FC236}">
                  <a16:creationId xmlns:a16="http://schemas.microsoft.com/office/drawing/2014/main" id="{705BA8CC-9DB8-4EEE-803C-5584FEF8DA66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7" name="Shape 34214">
              <a:extLst>
                <a:ext uri="{FF2B5EF4-FFF2-40B4-BE49-F238E27FC236}">
                  <a16:creationId xmlns:a16="http://schemas.microsoft.com/office/drawing/2014/main" id="{F73E10A1-09BB-4382-9807-86674549F2EF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8" name="Shape 34215">
              <a:extLst>
                <a:ext uri="{FF2B5EF4-FFF2-40B4-BE49-F238E27FC236}">
                  <a16:creationId xmlns:a16="http://schemas.microsoft.com/office/drawing/2014/main" id="{C7403A64-F206-4EFB-AC82-F990191C5DB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9" name="Shape 34216">
              <a:extLst>
                <a:ext uri="{FF2B5EF4-FFF2-40B4-BE49-F238E27FC236}">
                  <a16:creationId xmlns:a16="http://schemas.microsoft.com/office/drawing/2014/main" id="{D88BDF44-FEE4-455C-AAD3-62E2FB068989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0" name="Shape 34217">
              <a:extLst>
                <a:ext uri="{FF2B5EF4-FFF2-40B4-BE49-F238E27FC236}">
                  <a16:creationId xmlns:a16="http://schemas.microsoft.com/office/drawing/2014/main" id="{3DCB4754-CE12-46B7-B86D-0A5938FF2A8F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rgbClr val="00B0F0"/>
              </a:solidFill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1" name="Shape 34218">
              <a:extLst>
                <a:ext uri="{FF2B5EF4-FFF2-40B4-BE49-F238E27FC236}">
                  <a16:creationId xmlns:a16="http://schemas.microsoft.com/office/drawing/2014/main" id="{BC37F305-5646-434C-862F-6783D8F478A1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2" name="Shape 34219">
              <a:extLst>
                <a:ext uri="{FF2B5EF4-FFF2-40B4-BE49-F238E27FC236}">
                  <a16:creationId xmlns:a16="http://schemas.microsoft.com/office/drawing/2014/main" id="{922F1F8A-EC21-4CFE-94AA-B0C57664A87E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3" name="Shape 34220">
              <a:extLst>
                <a:ext uri="{FF2B5EF4-FFF2-40B4-BE49-F238E27FC236}">
                  <a16:creationId xmlns:a16="http://schemas.microsoft.com/office/drawing/2014/main" id="{C67FEBAC-4FDA-4888-A68E-EE1855533665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4" name="Shape 34221">
              <a:extLst>
                <a:ext uri="{FF2B5EF4-FFF2-40B4-BE49-F238E27FC236}">
                  <a16:creationId xmlns:a16="http://schemas.microsoft.com/office/drawing/2014/main" id="{3E7BA551-B06D-4FE4-97F8-7688D8648651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5" name="Shape 34222">
              <a:extLst>
                <a:ext uri="{FF2B5EF4-FFF2-40B4-BE49-F238E27FC236}">
                  <a16:creationId xmlns:a16="http://schemas.microsoft.com/office/drawing/2014/main" id="{D6D14C92-6CC7-48B7-A0E5-5801F672CBDF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6" name="Shape 34223">
              <a:extLst>
                <a:ext uri="{FF2B5EF4-FFF2-40B4-BE49-F238E27FC236}">
                  <a16:creationId xmlns:a16="http://schemas.microsoft.com/office/drawing/2014/main" id="{1A04EC51-D36E-4884-9F09-10AC368049F1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7" name="Shape 34224">
              <a:extLst>
                <a:ext uri="{FF2B5EF4-FFF2-40B4-BE49-F238E27FC236}">
                  <a16:creationId xmlns:a16="http://schemas.microsoft.com/office/drawing/2014/main" id="{1FF48417-26E8-4025-81A5-3900579BFBBB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8" name="Shape 34225">
              <a:extLst>
                <a:ext uri="{FF2B5EF4-FFF2-40B4-BE49-F238E27FC236}">
                  <a16:creationId xmlns:a16="http://schemas.microsoft.com/office/drawing/2014/main" id="{2F2CADE7-1EB8-4540-8168-345A18DC2482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9" name="Shape 34226">
              <a:extLst>
                <a:ext uri="{FF2B5EF4-FFF2-40B4-BE49-F238E27FC236}">
                  <a16:creationId xmlns:a16="http://schemas.microsoft.com/office/drawing/2014/main" id="{2626E289-3644-4D89-A632-9A06B07D991F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0" name="Shape 34227">
              <a:extLst>
                <a:ext uri="{FF2B5EF4-FFF2-40B4-BE49-F238E27FC236}">
                  <a16:creationId xmlns:a16="http://schemas.microsoft.com/office/drawing/2014/main" id="{DF3AE396-2033-4E23-B1B0-2CB074260361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1" name="Shape 34228">
              <a:extLst>
                <a:ext uri="{FF2B5EF4-FFF2-40B4-BE49-F238E27FC236}">
                  <a16:creationId xmlns:a16="http://schemas.microsoft.com/office/drawing/2014/main" id="{C31D1EDA-4B16-4A91-88B3-5D0C5BEBD26F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2" name="Shape 34229">
              <a:extLst>
                <a:ext uri="{FF2B5EF4-FFF2-40B4-BE49-F238E27FC236}">
                  <a16:creationId xmlns:a16="http://schemas.microsoft.com/office/drawing/2014/main" id="{69D257C2-090D-40ED-8AE6-C1A0794F3FF5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3" name="Shape 34230">
              <a:extLst>
                <a:ext uri="{FF2B5EF4-FFF2-40B4-BE49-F238E27FC236}">
                  <a16:creationId xmlns:a16="http://schemas.microsoft.com/office/drawing/2014/main" id="{6668CDD0-0005-4AFC-9032-C6544BF09D80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4" name="Shape 34231">
              <a:extLst>
                <a:ext uri="{FF2B5EF4-FFF2-40B4-BE49-F238E27FC236}">
                  <a16:creationId xmlns:a16="http://schemas.microsoft.com/office/drawing/2014/main" id="{B6EB95AD-2468-4AA4-9F51-2FC437664451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5" name="Shape 34232">
              <a:extLst>
                <a:ext uri="{FF2B5EF4-FFF2-40B4-BE49-F238E27FC236}">
                  <a16:creationId xmlns:a16="http://schemas.microsoft.com/office/drawing/2014/main" id="{32DCAC3A-6B36-419D-9893-889513F0ACBF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6" name="Shape 34233">
              <a:extLst>
                <a:ext uri="{FF2B5EF4-FFF2-40B4-BE49-F238E27FC236}">
                  <a16:creationId xmlns:a16="http://schemas.microsoft.com/office/drawing/2014/main" id="{8236CA81-388B-4908-9685-8D6BC8E70187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7" name="Shape 34234">
              <a:extLst>
                <a:ext uri="{FF2B5EF4-FFF2-40B4-BE49-F238E27FC236}">
                  <a16:creationId xmlns:a16="http://schemas.microsoft.com/office/drawing/2014/main" id="{3B7B2670-A08D-473B-89ED-542ECD1FDE80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8" name="Shape 34235">
              <a:extLst>
                <a:ext uri="{FF2B5EF4-FFF2-40B4-BE49-F238E27FC236}">
                  <a16:creationId xmlns:a16="http://schemas.microsoft.com/office/drawing/2014/main" id="{4BA7DD70-A383-473C-B36B-451C12022852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9" name="Shape 34236">
              <a:extLst>
                <a:ext uri="{FF2B5EF4-FFF2-40B4-BE49-F238E27FC236}">
                  <a16:creationId xmlns:a16="http://schemas.microsoft.com/office/drawing/2014/main" id="{7CE95E47-26B3-4B10-A35F-2AB76B3F6165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0" name="Shape 34237">
              <a:extLst>
                <a:ext uri="{FF2B5EF4-FFF2-40B4-BE49-F238E27FC236}">
                  <a16:creationId xmlns:a16="http://schemas.microsoft.com/office/drawing/2014/main" id="{8FAEF7C4-DB17-4314-80F9-A102E8ED182B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1" name="Shape 34238">
              <a:extLst>
                <a:ext uri="{FF2B5EF4-FFF2-40B4-BE49-F238E27FC236}">
                  <a16:creationId xmlns:a16="http://schemas.microsoft.com/office/drawing/2014/main" id="{640C6937-306B-447A-8DC0-B0D6D74C2BCA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2" name="Shape 34239">
              <a:extLst>
                <a:ext uri="{FF2B5EF4-FFF2-40B4-BE49-F238E27FC236}">
                  <a16:creationId xmlns:a16="http://schemas.microsoft.com/office/drawing/2014/main" id="{99CEE80A-7F00-4293-BBB6-2810E8A7DE26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3" name="Shape 34240">
              <a:extLst>
                <a:ext uri="{FF2B5EF4-FFF2-40B4-BE49-F238E27FC236}">
                  <a16:creationId xmlns:a16="http://schemas.microsoft.com/office/drawing/2014/main" id="{47BBC576-B99B-4896-9350-9E0032E033DB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4" name="Shape 34241">
              <a:extLst>
                <a:ext uri="{FF2B5EF4-FFF2-40B4-BE49-F238E27FC236}">
                  <a16:creationId xmlns:a16="http://schemas.microsoft.com/office/drawing/2014/main" id="{C6DE098D-CE5C-4690-81B9-34D96F672299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5" name="Shape 34242">
              <a:extLst>
                <a:ext uri="{FF2B5EF4-FFF2-40B4-BE49-F238E27FC236}">
                  <a16:creationId xmlns:a16="http://schemas.microsoft.com/office/drawing/2014/main" id="{7217F174-CAAA-43B8-8A42-D40B135E6E3C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6" name="Shape 34243">
              <a:extLst>
                <a:ext uri="{FF2B5EF4-FFF2-40B4-BE49-F238E27FC236}">
                  <a16:creationId xmlns:a16="http://schemas.microsoft.com/office/drawing/2014/main" id="{89A5EEC1-EBD9-4A73-B7EC-FF284BAE4498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7" name="Shape 34244">
              <a:extLst>
                <a:ext uri="{FF2B5EF4-FFF2-40B4-BE49-F238E27FC236}">
                  <a16:creationId xmlns:a16="http://schemas.microsoft.com/office/drawing/2014/main" id="{54A5EF33-7E56-41CA-B616-7F1B31064651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8" name="Shape 34245">
              <a:extLst>
                <a:ext uri="{FF2B5EF4-FFF2-40B4-BE49-F238E27FC236}">
                  <a16:creationId xmlns:a16="http://schemas.microsoft.com/office/drawing/2014/main" id="{75A900EB-E2B9-4767-958A-ABFAC1BE4FFB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9" name="Shape 34246">
              <a:extLst>
                <a:ext uri="{FF2B5EF4-FFF2-40B4-BE49-F238E27FC236}">
                  <a16:creationId xmlns:a16="http://schemas.microsoft.com/office/drawing/2014/main" id="{D0CA7D6C-1605-43BC-A5D7-30245A4E3E15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0" name="Shape 34247">
              <a:extLst>
                <a:ext uri="{FF2B5EF4-FFF2-40B4-BE49-F238E27FC236}">
                  <a16:creationId xmlns:a16="http://schemas.microsoft.com/office/drawing/2014/main" id="{F97FF99F-4D44-4A9A-9493-DBA96D29F4A6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1" name="Shape 34248">
              <a:extLst>
                <a:ext uri="{FF2B5EF4-FFF2-40B4-BE49-F238E27FC236}">
                  <a16:creationId xmlns:a16="http://schemas.microsoft.com/office/drawing/2014/main" id="{921D2600-46C5-4D4C-875E-7FAC4712F6B9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2" name="Shape 34249">
              <a:extLst>
                <a:ext uri="{FF2B5EF4-FFF2-40B4-BE49-F238E27FC236}">
                  <a16:creationId xmlns:a16="http://schemas.microsoft.com/office/drawing/2014/main" id="{2E297742-8436-4B1D-83F9-B322E470EDB3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3" name="Shape 34250">
              <a:extLst>
                <a:ext uri="{FF2B5EF4-FFF2-40B4-BE49-F238E27FC236}">
                  <a16:creationId xmlns:a16="http://schemas.microsoft.com/office/drawing/2014/main" id="{6A445B98-1EEC-41F4-B065-B41FB9F82629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4" name="Shape 34251">
              <a:extLst>
                <a:ext uri="{FF2B5EF4-FFF2-40B4-BE49-F238E27FC236}">
                  <a16:creationId xmlns:a16="http://schemas.microsoft.com/office/drawing/2014/main" id="{D9B75CBB-A660-45E9-A6E9-E7F886743FB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5" name="Shape 34252">
              <a:extLst>
                <a:ext uri="{FF2B5EF4-FFF2-40B4-BE49-F238E27FC236}">
                  <a16:creationId xmlns:a16="http://schemas.microsoft.com/office/drawing/2014/main" id="{EB3225E0-6AFE-461C-ABA8-9D4F5329F9F4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6" name="Shape 34253">
              <a:extLst>
                <a:ext uri="{FF2B5EF4-FFF2-40B4-BE49-F238E27FC236}">
                  <a16:creationId xmlns:a16="http://schemas.microsoft.com/office/drawing/2014/main" id="{A48F55E1-9CD4-4666-931D-DFEE4D6DD513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7" name="Shape 34254">
              <a:extLst>
                <a:ext uri="{FF2B5EF4-FFF2-40B4-BE49-F238E27FC236}">
                  <a16:creationId xmlns:a16="http://schemas.microsoft.com/office/drawing/2014/main" id="{9FF1B98D-EBFA-4074-9BEB-EC0303F621D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8" name="Shape 34255">
              <a:extLst>
                <a:ext uri="{FF2B5EF4-FFF2-40B4-BE49-F238E27FC236}">
                  <a16:creationId xmlns:a16="http://schemas.microsoft.com/office/drawing/2014/main" id="{D773A29D-861D-43FE-8FE4-BBB5F5905674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9" name="Shape 34256">
              <a:extLst>
                <a:ext uri="{FF2B5EF4-FFF2-40B4-BE49-F238E27FC236}">
                  <a16:creationId xmlns:a16="http://schemas.microsoft.com/office/drawing/2014/main" id="{D76959AE-132F-4981-BD16-EE589C36875C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0" name="Shape 34257">
              <a:extLst>
                <a:ext uri="{FF2B5EF4-FFF2-40B4-BE49-F238E27FC236}">
                  <a16:creationId xmlns:a16="http://schemas.microsoft.com/office/drawing/2014/main" id="{1914A737-B8BC-436C-9A54-50BADCB330BF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1" name="Shape 34258">
              <a:extLst>
                <a:ext uri="{FF2B5EF4-FFF2-40B4-BE49-F238E27FC236}">
                  <a16:creationId xmlns:a16="http://schemas.microsoft.com/office/drawing/2014/main" id="{15904CCB-F416-4933-9199-2F070BEA3087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2" name="Shape 34259">
              <a:extLst>
                <a:ext uri="{FF2B5EF4-FFF2-40B4-BE49-F238E27FC236}">
                  <a16:creationId xmlns:a16="http://schemas.microsoft.com/office/drawing/2014/main" id="{499C2926-2CC8-41B2-9F52-BC1725F5A17B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3" name="Shape 34260">
              <a:extLst>
                <a:ext uri="{FF2B5EF4-FFF2-40B4-BE49-F238E27FC236}">
                  <a16:creationId xmlns:a16="http://schemas.microsoft.com/office/drawing/2014/main" id="{AF681DAF-BC28-42F0-9D15-B39D1F3255CB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4" name="Shape 34261">
              <a:extLst>
                <a:ext uri="{FF2B5EF4-FFF2-40B4-BE49-F238E27FC236}">
                  <a16:creationId xmlns:a16="http://schemas.microsoft.com/office/drawing/2014/main" id="{0D4667A9-0E1F-4CF9-BF13-2339E272571F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5" name="Shape 34262">
              <a:extLst>
                <a:ext uri="{FF2B5EF4-FFF2-40B4-BE49-F238E27FC236}">
                  <a16:creationId xmlns:a16="http://schemas.microsoft.com/office/drawing/2014/main" id="{A7D50D99-4E6F-46B6-8F2A-EE8715A11793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6" name="Shape 34263">
              <a:extLst>
                <a:ext uri="{FF2B5EF4-FFF2-40B4-BE49-F238E27FC236}">
                  <a16:creationId xmlns:a16="http://schemas.microsoft.com/office/drawing/2014/main" id="{CC6CBBC0-A0AD-4F61-A966-5DCAE30ADA62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7" name="Shape 34264">
              <a:extLst>
                <a:ext uri="{FF2B5EF4-FFF2-40B4-BE49-F238E27FC236}">
                  <a16:creationId xmlns:a16="http://schemas.microsoft.com/office/drawing/2014/main" id="{108A8CEB-6669-4CA1-B5E8-CD388E3D8CB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8" name="Shape 34265">
              <a:extLst>
                <a:ext uri="{FF2B5EF4-FFF2-40B4-BE49-F238E27FC236}">
                  <a16:creationId xmlns:a16="http://schemas.microsoft.com/office/drawing/2014/main" id="{4050123F-E21A-418F-A53F-07F524E8194C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22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674E6988-9F81-9C4F-A395-617E099076A1}" vid="{7BA8343F-A308-F34A-AE1C-33F4B935B6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BA47EBC066B745A5CD7C315910EB78" ma:contentTypeVersion="3" ma:contentTypeDescription="Crée un document." ma:contentTypeScope="" ma:versionID="b311b5323907d863f9510970e841e24f">
  <xsd:schema xmlns:xsd="http://www.w3.org/2001/XMLSchema" xmlns:xs="http://www.w3.org/2001/XMLSchema" xmlns:p="http://schemas.microsoft.com/office/2006/metadata/properties" xmlns:ns2="abcda3d6-2d03-49e1-9293-8daf0cc773fd" targetNamespace="http://schemas.microsoft.com/office/2006/metadata/properties" ma:root="true" ma:fieldsID="c9731b60f146babbce85d7d615846029" ns2:_="">
    <xsd:import namespace="abcda3d6-2d03-49e1-9293-8daf0cc77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da3d6-2d03-49e1-9293-8daf0cc77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70F3E6C-A4E5-4219-8110-43EDCAB515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BA2C5E-6B9F-41C5-A317-E2865667EBC1}"/>
</file>

<file path=customXml/itemProps3.xml><?xml version="1.0" encoding="utf-8"?>
<ds:datastoreItem xmlns:ds="http://schemas.openxmlformats.org/officeDocument/2006/customXml" ds:itemID="{48CAAD2A-A43E-4FFE-AA45-CB07733E44CE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elements/1.1/"/>
    <ds:schemaRef ds:uri="5b446652-b7a6-491a-a629-08742e0ae113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3527</TotalTime>
  <Words>694</Words>
  <Application>Microsoft Office PowerPoint</Application>
  <PresentationFormat>Personnalisé</PresentationFormat>
  <Paragraphs>250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Arial</vt:lpstr>
      <vt:lpstr>Calibri</vt:lpstr>
      <vt:lpstr>Lato Light</vt:lpstr>
      <vt:lpstr>Times New Roman</vt:lpstr>
      <vt:lpstr>Thème HEC</vt:lpstr>
      <vt:lpstr>OPER10500 Gestion des opérations</vt:lpstr>
      <vt:lpstr>Approche pédagogique</vt:lpstr>
      <vt:lpstr>Carte conceptuelle</vt:lpstr>
      <vt:lpstr>Carte conceptuelle</vt:lpstr>
      <vt:lpstr>Les attributs stratégiques</vt:lpstr>
      <vt:lpstr>Exemple : La Cage</vt:lpstr>
      <vt:lpstr>Système opérationnel : Entreprises industrielles</vt:lpstr>
      <vt:lpstr>Système opérationnel : Entreprises de services</vt:lpstr>
      <vt:lpstr>Caractéristiques d’un bien et d’un service</vt:lpstr>
      <vt:lpstr>La Cage</vt:lpstr>
      <vt:lpstr>Environnement externe : PESTEL</vt:lpstr>
      <vt:lpstr>Décisions en GOL</vt:lpstr>
      <vt:lpstr>Niveau stratégique :  La conception du système GOL</vt:lpstr>
      <vt:lpstr>Niveau tactique :  La planification du système GOL</vt:lpstr>
      <vt:lpstr>Niveau opérationnel : L’exécution du système GOL</vt:lpstr>
      <vt:lpstr>Décisions en GOL</vt:lpstr>
      <vt:lpstr>Les tendances actuelles</vt:lpstr>
      <vt:lpstr>La chaîne logistique</vt:lpstr>
      <vt:lpstr>Développement durable</vt:lpstr>
      <vt:lpstr>Développement durable</vt:lpstr>
      <vt:lpstr>Lean</vt:lpstr>
      <vt:lpstr>Questions…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OPER10500 Gestion des opérations</dc:title>
  <dc:creator>veronique poirier</dc:creator>
  <cp:lastModifiedBy>Claire Poitras</cp:lastModifiedBy>
  <cp:revision>64</cp:revision>
  <dcterms:created xsi:type="dcterms:W3CDTF">2020-08-03T14:18:46Z</dcterms:created>
  <dcterms:modified xsi:type="dcterms:W3CDTF">2025-06-20T17:03:05Z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0x0101001CBA47EBC066B745A5CD7C315910EB78</vt:lpwstr>
  </property>
</Properties>
</file>