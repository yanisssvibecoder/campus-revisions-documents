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77" r:id="rId3"/>
    <p:sldId id="278" r:id="rId4"/>
    <p:sldId id="279" r:id="rId5"/>
    <p:sldId id="280" r:id="rId6"/>
    <p:sldId id="285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C02BB-48D3-4F21-A0D3-513AFA63CB69}" type="datetime1">
              <a:rPr lang="fr-CA" smtClean="0"/>
              <a:t>2020-11-04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288067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6933" cy="12700"/>
          </a:xfrm>
          <a:prstGeom prst="octagon">
            <a:avLst/>
          </a:prstGeom>
          <a:noFill/>
          <a:ln w="11429" cap="flat" cmpd="sng" algn="ctr">
            <a:noFill/>
            <a:prstDash val="sysDash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1429" cap="flat" cmpd="sng" algn="ctr">
                <a:solidFill>
                  <a:schemeClr val="accent1">
                    <a:shade val="50000"/>
                  </a:schemeClr>
                </a:solidFill>
                <a:prstDash val="sysDash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4F2CC-8D07-408E-AADF-87D9439EF0CB}" type="datetime1">
              <a:rPr lang="fr-CA" smtClean="0"/>
              <a:t>2020-11-04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62628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63682-762E-4DA8-8F52-3BD7D1051F56}" type="datetime1">
              <a:rPr lang="fr-CA" smtClean="0"/>
              <a:t>2020-11-04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6179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0BB4E000-2288-4C76-B53B-81DE9B2B4F88}" type="datetime1">
              <a:rPr lang="fr-CA" smtClean="0"/>
              <a:t>2020-11-04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87276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C6A98-4408-4914-8310-766C3C158E4B}" type="datetime1">
              <a:rPr lang="fr-CA" smtClean="0"/>
              <a:t>2020-11-04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7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18875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E41FB-331D-40BE-937F-C786EC402485}" type="datetime1">
              <a:rPr lang="fr-CA" smtClean="0"/>
              <a:t>2020-11-04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1"/>
            <a:ext cx="609600" cy="441325"/>
          </a:xfrm>
        </p:spPr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64425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5E-6E33-4E0F-8296-03A93EA222D3}" type="datetime1">
              <a:rPr lang="fr-CA" smtClean="0"/>
              <a:t>2020-11-04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444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69C07-A1E8-45C8-8C68-959C8AF7E59A}" type="datetime1">
              <a:rPr lang="fr-CA" smtClean="0"/>
              <a:t>2020-11-04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7644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39"/>
            <a:ext cx="609600" cy="441325"/>
          </a:xfrm>
        </p:spPr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0C44C3BD-43FA-431E-9B5F-D75B67EB0F13}" type="datetime1">
              <a:rPr lang="fr-CA" smtClean="0"/>
              <a:t>2020-11-04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1478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E119-BF85-4B09-B2D1-E6EAEB00AFF7}" type="datetime1">
              <a:rPr lang="fr-CA" smtClean="0"/>
              <a:t>2020-11-04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74405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2"/>
            <a:ext cx="609600" cy="441325"/>
          </a:xfrm>
        </p:spPr>
        <p:txBody>
          <a:bodyPr/>
          <a:lstStyle/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2828-573F-4BC9-9B97-046C9F297720}" type="datetime1">
              <a:rPr lang="fr-CA" smtClean="0"/>
              <a:t>2020-11-04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59086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C145F78A-7524-4673-8989-84B54511C846}" type="datetime1">
              <a:rPr lang="fr-CA" smtClean="0"/>
              <a:t>2020-11-04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3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D047E8-7C23-4433-B3CA-024131A1A330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6998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CMPC – Exemple 2 – Ernesto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Fait référence au document Word ‘Exercice – Ernesto </a:t>
            </a:r>
            <a:r>
              <a:rPr lang="fr-CA" dirty="0" err="1"/>
              <a:t>Inc</a:t>
            </a:r>
            <a:r>
              <a:rPr lang="fr-CA" dirty="0"/>
              <a:t>’ sur </a:t>
            </a:r>
            <a:r>
              <a:rPr lang="fr-CA" dirty="0" err="1"/>
              <a:t>ZoneCours</a:t>
            </a:r>
            <a:r>
              <a:rPr lang="fr-CA" dirty="0"/>
              <a:t>, séance 10.</a:t>
            </a:r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Solution:</a:t>
            </a:r>
          </a:p>
          <a:p>
            <a:pPr marL="0" indent="0">
              <a:buNone/>
            </a:pPr>
            <a:endParaRPr lang="fr-CA" dirty="0"/>
          </a:p>
          <a:p>
            <a:pPr marL="0" lvl="1" indent="0">
              <a:buClr>
                <a:schemeClr val="accent1"/>
              </a:buClr>
              <a:buSzPct val="85000"/>
              <a:buNone/>
            </a:pPr>
            <a:r>
              <a:rPr lang="fr-CA" sz="2700" dirty="0">
                <a:solidFill>
                  <a:schemeClr val="tx1"/>
                </a:solidFill>
              </a:rPr>
              <a:t>1) À partir des informations que vous détenez, déterminez le coût moyen pondéré du capital (CMPC) de l’entreprise Ernesto </a:t>
            </a:r>
            <a:r>
              <a:rPr lang="fr-CA" sz="2700" dirty="0" err="1">
                <a:solidFill>
                  <a:schemeClr val="tx1"/>
                </a:solidFill>
              </a:rPr>
              <a:t>inc.</a:t>
            </a:r>
            <a:endParaRPr lang="en-CA" sz="2700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D047E8-7C23-4433-B3CA-024131A1A330}" type="slidenum">
              <a:rPr kumimoji="0" lang="fr-CA" sz="160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A" sz="1600" b="0" i="0" u="none" strike="noStrike" kern="1200" cap="none" spc="0" normalizeH="0" baseline="0" noProof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6" name="Audio Recording Nov 4, 2020 at 4:09:24 PM" descr="Audio Recording Nov 4, 2020 at 4:09:24 PM">
            <a:hlinkClick r:id="" action="ppaction://media"/>
            <a:extLst>
              <a:ext uri="{FF2B5EF4-FFF2-40B4-BE49-F238E27FC236}">
                <a16:creationId xmlns:a16="http://schemas.microsoft.com/office/drawing/2014/main" id="{6B6225C6-C067-A940-9003-3E28D87032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04375" y="27817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80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7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3E7E56-A641-4AE9-848F-1790C82F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6CF9F49-90C4-4139-AFB5-47838EDA7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2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DE90F48-65AC-4D12-A8FE-D1A5A32215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fr-CA" dirty="0"/>
              <a:t>Actions ordinaires: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Picture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E192E906-8D33-A444-A8A9-9DC8F7DBE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196" y="2281263"/>
            <a:ext cx="6488684" cy="3825120"/>
          </a:xfrm>
          <a:prstGeom prst="rect">
            <a:avLst/>
          </a:prstGeom>
        </p:spPr>
      </p:pic>
      <p:pic>
        <p:nvPicPr>
          <p:cNvPr id="9" name="Audio Recording Nov 4, 2020 at 4:15:33 PM" descr="Audio Recording Nov 4, 2020 at 4:15:33 PM">
            <a:hlinkClick r:id="" action="ppaction://media"/>
            <a:extLst>
              <a:ext uri="{FF2B5EF4-FFF2-40B4-BE49-F238E27FC236}">
                <a16:creationId xmlns:a16="http://schemas.microsoft.com/office/drawing/2014/main" id="{657AF2D3-3C6E-C544-8787-388BEDB83D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132887" y="3525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96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9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3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E9FA03-4517-40BB-8379-8ACB61355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fr-CA" dirty="0"/>
              <a:t>Valeur au marché= 300 000 * 17,50 =  5 250 000$</a:t>
            </a:r>
          </a:p>
          <a:p>
            <a:pPr lvl="1"/>
            <a:r>
              <a:rPr lang="fr-CA" dirty="0"/>
              <a:t>R = 12 %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0" indent="0">
              <a:buNone/>
            </a:pPr>
            <a:r>
              <a:rPr lang="fr-FR" dirty="0"/>
              <a:t>2) Comptes fournisseurs:</a:t>
            </a:r>
          </a:p>
          <a:p>
            <a:pPr lvl="1"/>
            <a:r>
              <a:rPr lang="fr-CA" dirty="0"/>
              <a:t>Nous n’incluons pas les comptes fournisseurs dans le calcul du CMPC puisque c’est considéré du financement à court-terme. </a:t>
            </a:r>
          </a:p>
          <a:p>
            <a:pPr marL="274320" lvl="1" indent="0">
              <a:buNone/>
            </a:pPr>
            <a:endParaRPr lang="fr-CA" dirty="0"/>
          </a:p>
        </p:txBody>
      </p:sp>
      <p:pic>
        <p:nvPicPr>
          <p:cNvPr id="6" name="Audio Recording Nov 4, 2020 at 4:17:35 PM" descr="Audio Recording Nov 4, 2020 at 4:17:35 PM">
            <a:hlinkClick r:id="" action="ppaction://media"/>
            <a:extLst>
              <a:ext uri="{FF2B5EF4-FFF2-40B4-BE49-F238E27FC236}">
                <a16:creationId xmlns:a16="http://schemas.microsoft.com/office/drawing/2014/main" id="{F9F8223B-5AFC-504C-88E4-A17E74AA90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90050" y="278173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26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4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E9FA03-4517-40BB-8379-8ACB61355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3) Obligations particulières: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	TRE = 7 % / 2 = 3.5 %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D992FE-FB26-4125-8065-E488FEDA0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940" y="2211682"/>
            <a:ext cx="6759231" cy="2035198"/>
          </a:xfrm>
          <a:prstGeom prst="rect">
            <a:avLst/>
          </a:prstGeom>
        </p:spPr>
      </p:pic>
      <p:pic>
        <p:nvPicPr>
          <p:cNvPr id="5" name="Audio Recording Nov 4, 2020 at 4:19:39 PM" descr="Audio Recording Nov 4, 2020 at 4:19:39 PM">
            <a:hlinkClick r:id="" action="ppaction://media"/>
            <a:extLst>
              <a:ext uri="{FF2B5EF4-FFF2-40B4-BE49-F238E27FC236}">
                <a16:creationId xmlns:a16="http://schemas.microsoft.com/office/drawing/2014/main" id="{449A3DEA-1739-D549-9EEE-6606797F6D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061450" y="4445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5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2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5</a:t>
            </a:fld>
            <a:endParaRPr lang="fr-CA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E5A25E-1D59-AC40-A04F-B53EE17024B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215" y="1527175"/>
            <a:ext cx="8518357" cy="4572000"/>
          </a:xfrm>
        </p:spPr>
      </p:pic>
      <p:pic>
        <p:nvPicPr>
          <p:cNvPr id="10" name="Audio Recording Nov 4, 2020 at 4:24:34 PM" descr="Audio Recording Nov 4, 2020 at 4:24:34 PM">
            <a:hlinkClick r:id="" action="ppaction://media"/>
            <a:extLst>
              <a:ext uri="{FF2B5EF4-FFF2-40B4-BE49-F238E27FC236}">
                <a16:creationId xmlns:a16="http://schemas.microsoft.com/office/drawing/2014/main" id="{C290C82A-1D79-3448-AB31-418D6FF2FB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32912" y="278237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8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76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7E4E34-D283-4ABA-A081-8F5A3BFAF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DE636A1-2EFB-4EFD-8503-5E9ACE32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6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E9B12A-354D-4368-BFF6-99C61917D9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fr-CA" dirty="0"/>
          </a:p>
          <a:p>
            <a:pPr lvl="1"/>
            <a:r>
              <a:rPr lang="fr-CA" dirty="0"/>
              <a:t>Valeur au marché = 1,000 * 946,31 = 946 310$</a:t>
            </a:r>
          </a:p>
          <a:p>
            <a:pPr lvl="1"/>
            <a:r>
              <a:rPr lang="fr-CA" dirty="0"/>
              <a:t>Coût = ( (1+3,5 %)^2 – 1) * (1-30%) = 4,99 %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Audio Recording Nov 4, 2020 at 4:27:04 PM" descr="Audio Recording Nov 4, 2020 at 4:27:04 PM">
            <a:hlinkClick r:id="" action="ppaction://media"/>
            <a:extLst>
              <a:ext uri="{FF2B5EF4-FFF2-40B4-BE49-F238E27FC236}">
                <a16:creationId xmlns:a16="http://schemas.microsoft.com/office/drawing/2014/main" id="{1109BCF6-71F0-8942-B35F-745FEA2A36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90050" y="3525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1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31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7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E9FA03-4517-40BB-8379-8ACB61355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4) Obligations conventionnelles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868680" lvl="3" indent="0">
              <a:buNone/>
            </a:pPr>
            <a:r>
              <a:rPr lang="fr-CA" dirty="0"/>
              <a:t>	TRE (semestriel) = 2.64 %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Valeur marchande = 500 * 982 = 491 000$</a:t>
            </a:r>
          </a:p>
          <a:p>
            <a:pPr lvl="1"/>
            <a:r>
              <a:rPr lang="fr-CA" dirty="0"/>
              <a:t>Coût = ( (1+2,64%)^2 – 1) * (1-30%) = 3.74 %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D1865E9-66C4-4908-9206-B5A16E1DA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893" y="2439981"/>
            <a:ext cx="7416352" cy="1139838"/>
          </a:xfrm>
          <a:prstGeom prst="rect">
            <a:avLst/>
          </a:prstGeom>
        </p:spPr>
      </p:pic>
      <p:pic>
        <p:nvPicPr>
          <p:cNvPr id="6" name="Audio Recording Nov 4, 2020 at 4:30:04 PM" descr="Audio Recording Nov 4, 2020 at 4:30:04 PM">
            <a:hlinkClick r:id="" action="ppaction://media"/>
            <a:extLst>
              <a:ext uri="{FF2B5EF4-FFF2-40B4-BE49-F238E27FC236}">
                <a16:creationId xmlns:a16="http://schemas.microsoft.com/office/drawing/2014/main" id="{9B727B13-57BB-E649-B5AF-FB51209A06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590087" y="3525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6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5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8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E9FA03-4517-40BB-8379-8ACB61355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5) CMPC: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C17ED40C-90AA-8343-A0EF-FD4E20466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975" y="2313727"/>
            <a:ext cx="8864600" cy="3517900"/>
          </a:xfrm>
          <a:prstGeom prst="rect">
            <a:avLst/>
          </a:prstGeom>
        </p:spPr>
      </p:pic>
      <p:pic>
        <p:nvPicPr>
          <p:cNvPr id="9" name="Audio Recording Nov 4, 2020 at 4:31:54 PM" descr="Audio Recording Nov 4, 2020 at 4:31:54 PM">
            <a:hlinkClick r:id="" action="ppaction://media"/>
            <a:extLst>
              <a:ext uri="{FF2B5EF4-FFF2-40B4-BE49-F238E27FC236}">
                <a16:creationId xmlns:a16="http://schemas.microsoft.com/office/drawing/2014/main" id="{2092C720-54D3-E745-B755-915A404BBB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332912" y="32090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3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02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5C2815-46C0-4DCE-A45A-9EBE466C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CMPC – Exemple 2 - Ernesto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8D4D3-0FAC-4476-93BF-3EF7E9D3C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047E8-7C23-4433-B3CA-024131A1A330}" type="slidenum">
              <a:rPr lang="fr-CA" smtClean="0"/>
              <a:t>9</a:t>
            </a:fld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E9FA03-4517-40BB-8379-8ACB6135598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2 ) Déterminez, selon les critères de la direction de l’entreprise, si elle devrait ou non entreprendre le projet.</a:t>
            </a:r>
          </a:p>
          <a:p>
            <a:pPr marL="0" indent="0">
              <a:buNone/>
            </a:pPr>
            <a:endParaRPr lang="fr-FR" dirty="0"/>
          </a:p>
          <a:p>
            <a:pPr lvl="1"/>
            <a:r>
              <a:rPr lang="fr-FR" dirty="0"/>
              <a:t>Rendement requis pour ce projet = CMPC + 3 % = 10.40 % + 3 % = 13.40 %</a:t>
            </a:r>
          </a:p>
          <a:p>
            <a:pPr marL="274320" lvl="1" indent="0">
              <a:buNone/>
            </a:pPr>
            <a:endParaRPr lang="fr-FR" dirty="0"/>
          </a:p>
          <a:p>
            <a:pPr lvl="1"/>
            <a:r>
              <a:rPr lang="fr-FR" dirty="0"/>
              <a:t>TRI = 16.5 %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Puisque le TRI est supérieur au rendement requis, on devrait entreprendre le projet.</a:t>
            </a:r>
          </a:p>
        </p:txBody>
      </p:sp>
      <p:pic>
        <p:nvPicPr>
          <p:cNvPr id="5" name="Audio Recording Nov 4, 2020 at 4:35:35 PM" descr="Audio Recording Nov 4, 2020 at 4:35:35 PM">
            <a:hlinkClick r:id="" action="ppaction://media"/>
            <a:extLst>
              <a:ext uri="{FF2B5EF4-FFF2-40B4-BE49-F238E27FC236}">
                <a16:creationId xmlns:a16="http://schemas.microsoft.com/office/drawing/2014/main" id="{9B6AE441-F84A-3F4F-A39F-FBC77786A3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18700" y="352552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8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6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297</Words>
  <Application>Microsoft Macintosh PowerPoint</Application>
  <PresentationFormat>Widescreen</PresentationFormat>
  <Paragraphs>58</Paragraphs>
  <Slides>9</Slides>
  <Notes>0</Notes>
  <HiddenSlides>0</HiddenSlides>
  <MMClips>9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Georgia</vt:lpstr>
      <vt:lpstr>Wingdings</vt:lpstr>
      <vt:lpstr>Wingdings 2</vt:lpstr>
      <vt:lpstr>Civil</vt:lpstr>
      <vt:lpstr>CMPC – Exemple 2 – Ernesto</vt:lpstr>
      <vt:lpstr>CMPC – Exemple 2 - Ernesto</vt:lpstr>
      <vt:lpstr>CMPC – Exemple 2 - Ernesto</vt:lpstr>
      <vt:lpstr>CMPC – Exemple 2 - Ernesto</vt:lpstr>
      <vt:lpstr>CMPC – Exemple 2 - Ernesto</vt:lpstr>
      <vt:lpstr>CMPC – Exemple 2 - Ernesto</vt:lpstr>
      <vt:lpstr>CMPC – Exemple 2 - Ernesto</vt:lpstr>
      <vt:lpstr>CMPC – Exemple 2 - Ernesto</vt:lpstr>
      <vt:lpstr>CMPC – Exemple 2 - Ernesto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WACC – Example 2 – Ernesto</dc:title>
  <dc:creator>marie-helene allard</dc:creator>
  <cp:lastModifiedBy>alexandre cyr</cp:lastModifiedBy>
  <cp:revision>18</cp:revision>
  <dcterms:created xsi:type="dcterms:W3CDTF">2020-03-24T13:03:59Z</dcterms:created>
  <dcterms:modified xsi:type="dcterms:W3CDTF">2020-11-04T21:36:06Z</dcterms:modified>
</cp:coreProperties>
</file>